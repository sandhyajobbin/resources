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42_35FD4590.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comments/modernComment_14D_E7C9E767.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00_0.xml" ContentType="application/vnd.ms-powerpoint.comments+xml"/>
  <Override PartName="/ppt/notesSlides/notesSlide12.xml" ContentType="application/vnd.openxmlformats-officedocument.presentationml.notesSlide+xml"/>
  <Override PartName="/ppt/comments/modernComment_147_E527940B.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comments/modernComment_148_ECB4536C.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 id="2147483660" r:id="rId5"/>
    <p:sldMasterId id="2147483672" r:id="rId6"/>
  </p:sldMasterIdLst>
  <p:notesMasterIdLst>
    <p:notesMasterId r:id="rId38"/>
  </p:notesMasterIdLst>
  <p:sldIdLst>
    <p:sldId id="367" r:id="rId7"/>
    <p:sldId id="368" r:id="rId8"/>
    <p:sldId id="319" r:id="rId9"/>
    <p:sldId id="259" r:id="rId10"/>
    <p:sldId id="265" r:id="rId11"/>
    <p:sldId id="334" r:id="rId12"/>
    <p:sldId id="335" r:id="rId13"/>
    <p:sldId id="321" r:id="rId14"/>
    <p:sldId id="336" r:id="rId15"/>
    <p:sldId id="322" r:id="rId16"/>
    <p:sldId id="266" r:id="rId17"/>
    <p:sldId id="333" r:id="rId18"/>
    <p:sldId id="337" r:id="rId19"/>
    <p:sldId id="338" r:id="rId20"/>
    <p:sldId id="256" r:id="rId21"/>
    <p:sldId id="271" r:id="rId22"/>
    <p:sldId id="257" r:id="rId23"/>
    <p:sldId id="327" r:id="rId24"/>
    <p:sldId id="328" r:id="rId25"/>
    <p:sldId id="360" r:id="rId26"/>
    <p:sldId id="258" r:id="rId27"/>
    <p:sldId id="329" r:id="rId28"/>
    <p:sldId id="278" r:id="rId29"/>
    <p:sldId id="362" r:id="rId30"/>
    <p:sldId id="300" r:id="rId31"/>
    <p:sldId id="361" r:id="rId32"/>
    <p:sldId id="267" r:id="rId33"/>
    <p:sldId id="363" r:id="rId34"/>
    <p:sldId id="364" r:id="rId35"/>
    <p:sldId id="365" r:id="rId36"/>
    <p:sldId id="366" r:id="rId37"/>
  </p:sldIdLst>
  <p:sldSz cx="18288000" cy="10287000"/>
  <p:notesSz cx="6858000" cy="9144000"/>
  <p:embeddedFontLst>
    <p:embeddedFont>
      <p:font typeface="Poppins" panose="00000500000000000000" pitchFamily="2" charset="0"/>
      <p:regular r:id="rId39"/>
      <p:bold r:id="rId40"/>
      <p:italic r:id="rId41"/>
      <p:boldItalic r:id="rId42"/>
    </p:embeddedFont>
    <p:embeddedFont>
      <p:font typeface="Poppins Black" panose="00000A00000000000000" pitchFamily="2" charset="0"/>
      <p:bold r:id="rId43"/>
      <p:boldItalic r:id="rId44"/>
    </p:embeddedFont>
    <p:embeddedFont>
      <p:font typeface="Poppins Bold" panose="00000800000000000000" charset="0"/>
      <p:regular r:id="rId45"/>
      <p:bold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AE53-A5C0-7019-264B-F90CA0F09934}" name="Harikrishnan B" initials="HB" userId="Harikrishnan B" providerId="None"/>
  <p188:author id="{601739CD-6BD1-BAA4-2804-D2A8DA1BC46A}" name="Anupama Chatti" initials="AC" userId="S::chaanupa@sutherlandglobal.com::8d317b31-7766-4d69-bc0a-0192281c33af" providerId="AD"/>
  <p188:author id="{A62EB9F7-5DA3-8116-45FB-F3A788FDA335}" name="Blessy S" initials="BS" userId="S::sbless2@sutherlandglobal.com::15b3e473-e26c-4018-a39b-85200c5350c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EEBE"/>
    <a:srgbClr val="FF0000"/>
    <a:srgbClr val="C4A646"/>
    <a:srgbClr val="91C84E"/>
    <a:srgbClr val="C197FF"/>
    <a:srgbClr val="FB5184"/>
    <a:srgbClr val="F15F47"/>
    <a:srgbClr val="FFC000"/>
    <a:srgbClr val="4C94D8"/>
    <a:srgbClr val="E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3447" autoAdjust="0"/>
  </p:normalViewPr>
  <p:slideViewPr>
    <p:cSldViewPr>
      <p:cViewPr varScale="1">
        <p:scale>
          <a:sx n="52" d="100"/>
          <a:sy n="52" d="100"/>
        </p:scale>
        <p:origin x="168" y="53"/>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1.fntdata"/><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font" Target="fonts/font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font" Target="fonts/font5.fntdata"/><Relationship Id="rId48" Type="http://schemas.openxmlformats.org/officeDocument/2006/relationships/viewProps" Target="viewProps.xml"/><Relationship Id="rId8" Type="http://schemas.openxmlformats.org/officeDocument/2006/relationships/slide" Target="slides/slide2.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4.xml"/><Relationship Id="rId41"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Master" Target="slideMasters/slideMaster3.xml"/></Relationships>
</file>

<file path=ppt/comments/modernComment_14D_E7C9E767.xml><?xml version="1.0" encoding="utf-8"?>
<p188:cmLst xmlns:a="http://schemas.openxmlformats.org/drawingml/2006/main" xmlns:r="http://schemas.openxmlformats.org/officeDocument/2006/relationships" xmlns:p188="http://schemas.microsoft.com/office/powerpoint/2018/8/main">
  <p188:cm id="{53C90373-2FA8-4C24-9064-F20068A19819}" authorId="{601739CD-6BD1-BAA4-2804-D2A8DA1BC46A}" created="2026-08-21T16:57:37.547">
    <ac:txMkLst xmlns:ac="http://schemas.microsoft.com/office/drawing/2013/main/command">
      <pc:docMk xmlns:pc="http://schemas.microsoft.com/office/powerpoint/2013/main/command"/>
      <pc:sldMk xmlns:pc="http://schemas.microsoft.com/office/powerpoint/2013/main/command" cId="3888768871" sldId="333"/>
      <ac:spMk id="52" creationId="{D1CA51EB-FA50-635D-26DF-50249F8181E1}"/>
      <ac:txMk cp="0" len="13">
        <ac:context len="20" hash="3310975020"/>
      </ac:txMk>
    </ac:txMkLst>
    <p188:pos x="5670395" y="612138"/>
    <p188:txBody>
      <a:bodyPr/>
      <a:lstStyle/>
      <a:p>
        <a:r>
          <a:rPr lang="en-US"/>
          <a:t>Add relevant image or screenshot</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2CD75A78-3BA4-42AB-BC85-84F6C8F14321}" authorId="{601739CD-6BD1-BAA4-2804-D2A8DA1BC46A}" created="2026-08-24T14:12:27.546">
    <ac:txMkLst xmlns:ac="http://schemas.microsoft.com/office/drawing/2013/main/command">
      <pc:docMk xmlns:pc="http://schemas.microsoft.com/office/powerpoint/2013/main/command"/>
      <pc:sldMk xmlns:pc="http://schemas.microsoft.com/office/powerpoint/2013/main/command" cId="0" sldId="256"/>
      <ac:spMk id="58" creationId="{00000000-0000-0000-0000-000000000000}"/>
      <ac:txMk cp="136" len="2">
        <ac:context len="208" hash="204542617"/>
      </ac:txMk>
    </ac:txMkLst>
    <p188:pos x="3471339" y="1150165"/>
    <p188:replyLst>
      <p188:reply id="{02F55695-8046-44EC-AB93-044819366848}" authorId="{A62EB9F7-5DA3-8116-45FB-F3A788FDA335}" created="2026-08-25T09:05:24.325">
        <p188:txBody>
          <a:bodyPr/>
          <a:lstStyle/>
          <a:p>
            <a:r>
              <a:rPr lang="en-US"/>
              <a:t>Since this is internal note example, it is fine</a:t>
            </a:r>
          </a:p>
        </p188:txBody>
      </p188:reply>
    </p188:replyLst>
    <p188:txBody>
      <a:bodyPr/>
      <a:lstStyle/>
      <a:p>
        <a:r>
          <a:rPr lang="en-US"/>
          <a:t>Full form</a:t>
        </a:r>
      </a:p>
    </p188:txBody>
  </p188:cm>
</p188:cmLst>
</file>

<file path=ppt/comments/modernComment_142_35FD4590.xml><?xml version="1.0" encoding="utf-8"?>
<p188:cmLst xmlns:a="http://schemas.openxmlformats.org/drawingml/2006/main" xmlns:r="http://schemas.openxmlformats.org/officeDocument/2006/relationships" xmlns:p188="http://schemas.microsoft.com/office/powerpoint/2018/8/main">
  <p188:cm id="{DD713769-B805-418E-B5AA-37A87D3624D1}" authorId="{601739CD-6BD1-BAA4-2804-D2A8DA1BC46A}" created="2026-08-24T14:04:24.759">
    <ac:txMkLst xmlns:ac="http://schemas.microsoft.com/office/drawing/2013/main/command">
      <pc:docMk xmlns:pc="http://schemas.microsoft.com/office/powerpoint/2013/main/command"/>
      <pc:sldMk xmlns:pc="http://schemas.microsoft.com/office/powerpoint/2013/main/command" cId="905790864" sldId="322"/>
      <ac:spMk id="52" creationId="{30895D7E-325F-107C-DBCB-29B838704189}"/>
      <ac:txMk cp="0" len="6">
        <ac:context len="26" hash="4199589009"/>
      </ac:txMk>
    </ac:txMkLst>
    <p188:pos x="2164361" y="624508"/>
    <p188:replyLst>
      <p188:reply id="{AA0AB3E7-ADC4-4D15-BCEF-2FEAE3A6AA6D}" authorId="{A62EB9F7-5DA3-8116-45FB-F3A788FDA335}" created="2026-08-25T09:04:10.643">
        <p188:txBody>
          <a:bodyPr/>
          <a:lstStyle/>
          <a:p>
            <a:r>
              <a:rPr lang="en-US"/>
              <a:t>Done</a:t>
            </a:r>
          </a:p>
        </p188:txBody>
      </p188:reply>
    </p188:replyLst>
    <p188:txBody>
      <a:bodyPr/>
      <a:lstStyle/>
      <a:p>
        <a:r>
          <a:rPr lang="en-US"/>
          <a:t>Add color coding</a:t>
        </a:r>
      </a:p>
    </p188:txBody>
  </p188:cm>
</p188:cmLst>
</file>

<file path=ppt/comments/modernComment_147_E527940B.xml><?xml version="1.0" encoding="utf-8"?>
<p188:cmLst xmlns:a="http://schemas.openxmlformats.org/drawingml/2006/main" xmlns:r="http://schemas.openxmlformats.org/officeDocument/2006/relationships" xmlns:p188="http://schemas.microsoft.com/office/powerpoint/2018/8/main">
  <p188:cm id="{858FEB16-37E7-4494-863C-3A54F3B2D8DF}" authorId="{601739CD-6BD1-BAA4-2804-D2A8DA1BC46A}" created="2026-08-24T14:23:13.808">
    <ac:txMkLst xmlns:ac="http://schemas.microsoft.com/office/drawing/2013/main/command">
      <pc:docMk xmlns:pc="http://schemas.microsoft.com/office/powerpoint/2013/main/command"/>
      <pc:sldMk xmlns:pc="http://schemas.microsoft.com/office/powerpoint/2013/main/command" cId="3844576267" sldId="327"/>
      <ac:spMk id="15" creationId="{C2748C3D-3B95-B61F-FC8B-DA0708926DB9}"/>
      <ac:txMk cp="37" len="15">
        <ac:context len="119" hash="1094488788"/>
      </ac:txMk>
    </ac:txMkLst>
    <p188:pos x="7657011" y="563247"/>
    <p188:replyLst>
      <p188:reply id="{286C98CC-5277-4BE7-B9EB-217C525EC94B}" authorId="{A62EB9F7-5DA3-8116-45FB-F3A788FDA335}" created="2026-08-25T09:07:23.245">
        <p188:txBody>
          <a:bodyPr/>
          <a:lstStyle/>
          <a:p>
            <a:r>
              <a:rPr lang="en-US"/>
              <a:t>Checked. It is correct</a:t>
            </a:r>
          </a:p>
        </p188:txBody>
      </p188:reply>
    </p188:replyLst>
    <p188:txBody>
      <a:bodyPr/>
      <a:lstStyle/>
      <a:p>
        <a:r>
          <a:rPr lang="en-US"/>
          <a:t>check</a:t>
        </a:r>
      </a:p>
    </p188:txBody>
  </p188:cm>
</p188:cmLst>
</file>

<file path=ppt/comments/modernComment_148_ECB4536C.xml><?xml version="1.0" encoding="utf-8"?>
<p188:cmLst xmlns:a="http://schemas.openxmlformats.org/drawingml/2006/main" xmlns:r="http://schemas.openxmlformats.org/officeDocument/2006/relationships" xmlns:p188="http://schemas.microsoft.com/office/powerpoint/2018/8/main">
  <p188:cm id="{9BC77BC9-3954-4542-A9A0-3509747F1F76}" authorId="{601739CD-6BD1-BAA4-2804-D2A8DA1BC46A}" created="2026-08-24T14:25:37.875">
    <ac:txMkLst xmlns:ac="http://schemas.microsoft.com/office/drawing/2013/main/command">
      <pc:docMk xmlns:pc="http://schemas.microsoft.com/office/powerpoint/2013/main/command"/>
      <pc:sldMk xmlns:pc="http://schemas.microsoft.com/office/powerpoint/2013/main/command" cId="3971240812" sldId="328"/>
      <ac:spMk id="52" creationId="{F37C4548-6D06-0AEB-41D3-F8A1578DC223}"/>
      <ac:txMk cp="0" len="7">
        <ac:context len="16" hash="23853389"/>
      </ac:txMk>
    </ac:txMkLst>
    <p188:pos x="2925628" y="589761"/>
    <p188:txBody>
      <a:bodyPr/>
      <a:lstStyle/>
      <a:p>
        <a:r>
          <a:rPr lang="en-US"/>
          <a:t>Check design</a:t>
        </a:r>
      </a:p>
    </p188:txBody>
  </p188:cm>
</p188:cmLst>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CD3221-8849-4043-851A-63A55ECA3C42}" type="doc">
      <dgm:prSet loTypeId="urn:microsoft.com/office/officeart/2024/layout/BulletTimeline#1" loCatId="timeline" qsTypeId="urn:microsoft.com/office/officeart/2005/8/quickstyle/simple1#1" qsCatId="simple" csTypeId="urn:microsoft.com/office/officeart/2005/8/colors/colorful1#1" csCatId="colorful" phldr="1"/>
      <dgm:spPr/>
      <dgm:t>
        <a:bodyPr/>
        <a:lstStyle/>
        <a:p>
          <a:endParaRPr lang="en-US"/>
        </a:p>
      </dgm:t>
    </dgm:pt>
    <dgm:pt modelId="{F471C1ED-63E9-46AA-B224-9329CB6F09B0}">
      <dgm:prSet phldrT="Add an event" phldr="0" custT="1"/>
      <dgm:spPr/>
      <dgm:t>
        <a:bodyPr/>
        <a:lstStyle/>
        <a:p>
          <a:pPr>
            <a:defRPr b="1"/>
          </a:pPr>
          <a:r>
            <a:rPr lang="en-US" sz="2200">
              <a:solidFill>
                <a:srgbClr val="002B11"/>
              </a:solidFill>
              <a:latin typeface="Poppins" panose="00000500000000000000" pitchFamily="2" charset="0"/>
              <a:cs typeface="Poppins" panose="00000500000000000000" pitchFamily="2" charset="0"/>
            </a:rPr>
            <a:t>New</a:t>
          </a:r>
          <a:endParaRPr lang="en-US" sz="2200" dirty="0">
            <a:solidFill>
              <a:srgbClr val="002B11"/>
            </a:solidFill>
            <a:latin typeface="Poppins" panose="00000500000000000000" pitchFamily="2" charset="0"/>
            <a:cs typeface="Poppins" panose="00000500000000000000" pitchFamily="2" charset="0"/>
          </a:endParaRPr>
        </a:p>
      </dgm:t>
    </dgm:pt>
    <dgm:pt modelId="{32C8DC3E-9A2B-4A46-804D-AA6E225F29E6}" type="parTrans" cxnId="{84DAECE0-586C-4CB4-96D5-5E567E391D0E}">
      <dgm:prSet/>
      <dgm:spPr/>
      <dgm:t>
        <a:bodyPr/>
        <a:lstStyle/>
        <a:p>
          <a:endParaRPr lang="en-US" sz="2200">
            <a:latin typeface="Poppins" panose="00000500000000000000" pitchFamily="2" charset="0"/>
            <a:cs typeface="Poppins" panose="00000500000000000000" pitchFamily="2" charset="0"/>
          </a:endParaRPr>
        </a:p>
      </dgm:t>
    </dgm:pt>
    <dgm:pt modelId="{C24D3114-FCB0-43A3-9AFA-1C6923B02B6E}" type="sibTrans" cxnId="{84DAECE0-586C-4CB4-96D5-5E567E391D0E}">
      <dgm:prSet/>
      <dgm:spPr/>
      <dgm:t>
        <a:bodyPr/>
        <a:lstStyle/>
        <a:p>
          <a:endParaRPr lang="en-US" sz="2200">
            <a:latin typeface="Poppins" panose="00000500000000000000" pitchFamily="2" charset="0"/>
            <a:cs typeface="Poppins" panose="00000500000000000000" pitchFamily="2" charset="0"/>
          </a:endParaRPr>
        </a:p>
      </dgm:t>
    </dgm:pt>
    <dgm:pt modelId="{1540D23C-EA08-4C65-A051-E977BA9D9CFF}">
      <dgm:prSet phldrT="Write a description of the significance of this event" custT="1"/>
      <dgm:spPr/>
      <dgm:t>
        <a:bodyPr/>
        <a:lstStyle/>
        <a:p>
          <a:r>
            <a:rPr lang="en-US" sz="2200">
              <a:solidFill>
                <a:srgbClr val="002B11"/>
              </a:solidFill>
              <a:latin typeface="Poppins" panose="00000500000000000000" pitchFamily="2" charset="0"/>
              <a:cs typeface="Poppins" panose="00000500000000000000" pitchFamily="2" charset="0"/>
            </a:rPr>
            <a:t>Fresh unassigned ticket awaiting triage</a:t>
          </a:r>
          <a:endParaRPr lang="en-US" sz="2200" dirty="0">
            <a:solidFill>
              <a:srgbClr val="002B11"/>
            </a:solidFill>
            <a:latin typeface="Poppins" panose="00000500000000000000" pitchFamily="2" charset="0"/>
            <a:cs typeface="Poppins" panose="00000500000000000000" pitchFamily="2" charset="0"/>
          </a:endParaRPr>
        </a:p>
      </dgm:t>
    </dgm:pt>
    <dgm:pt modelId="{54601BF9-82BA-4219-B8BF-0406D4C613B3}" type="parTrans" cxnId="{B685C982-E8FF-47C3-B1AA-F334F941B4EB}">
      <dgm:prSet/>
      <dgm:spPr/>
      <dgm:t>
        <a:bodyPr/>
        <a:lstStyle/>
        <a:p>
          <a:endParaRPr lang="en-US" sz="2200">
            <a:latin typeface="Poppins" panose="00000500000000000000" pitchFamily="2" charset="0"/>
            <a:cs typeface="Poppins" panose="00000500000000000000" pitchFamily="2" charset="0"/>
          </a:endParaRPr>
        </a:p>
      </dgm:t>
    </dgm:pt>
    <dgm:pt modelId="{AB74A05B-AFED-42B1-9784-AAB17A1DFAF9}" type="sibTrans" cxnId="{B685C982-E8FF-47C3-B1AA-F334F941B4EB}">
      <dgm:prSet/>
      <dgm:spPr/>
      <dgm:t>
        <a:bodyPr/>
        <a:lstStyle/>
        <a:p>
          <a:endParaRPr lang="en-US" sz="2200">
            <a:latin typeface="Poppins" panose="00000500000000000000" pitchFamily="2" charset="0"/>
            <a:cs typeface="Poppins" panose="00000500000000000000" pitchFamily="2" charset="0"/>
          </a:endParaRPr>
        </a:p>
      </dgm:t>
    </dgm:pt>
    <dgm:pt modelId="{B289A9E9-83F1-4891-8FD0-9A82EC7EA0D9}">
      <dgm:prSet phldrT="Add an event" phldr="0" custT="1"/>
      <dgm:spPr/>
      <dgm:t>
        <a:bodyPr/>
        <a:lstStyle/>
        <a:p>
          <a:pPr>
            <a:defRPr b="1"/>
          </a:pPr>
          <a:r>
            <a:rPr lang="en-US" sz="2200" dirty="0">
              <a:latin typeface="Poppins" panose="00000500000000000000" pitchFamily="2" charset="0"/>
              <a:cs typeface="Poppins" panose="00000500000000000000" pitchFamily="2" charset="0"/>
            </a:rPr>
            <a:t>Open</a:t>
          </a:r>
        </a:p>
      </dgm:t>
    </dgm:pt>
    <dgm:pt modelId="{4C0228FE-3BF1-44B9-B1B6-2A356EC4FD22}" type="parTrans" cxnId="{C301BBCD-E296-4A3A-B152-0A90E5C57AFD}">
      <dgm:prSet/>
      <dgm:spPr/>
      <dgm:t>
        <a:bodyPr/>
        <a:lstStyle/>
        <a:p>
          <a:endParaRPr lang="en-US" sz="2200">
            <a:latin typeface="Poppins" panose="00000500000000000000" pitchFamily="2" charset="0"/>
            <a:cs typeface="Poppins" panose="00000500000000000000" pitchFamily="2" charset="0"/>
          </a:endParaRPr>
        </a:p>
      </dgm:t>
    </dgm:pt>
    <dgm:pt modelId="{6EB22E1C-3102-432D-BD37-C725B96586BB}" type="sibTrans" cxnId="{C301BBCD-E296-4A3A-B152-0A90E5C57AFD}">
      <dgm:prSet/>
      <dgm:spPr/>
      <dgm:t>
        <a:bodyPr/>
        <a:lstStyle/>
        <a:p>
          <a:endParaRPr lang="en-US" sz="2200">
            <a:latin typeface="Poppins" panose="00000500000000000000" pitchFamily="2" charset="0"/>
            <a:cs typeface="Poppins" panose="00000500000000000000" pitchFamily="2" charset="0"/>
          </a:endParaRPr>
        </a:p>
      </dgm:t>
    </dgm:pt>
    <dgm:pt modelId="{F94D80C4-CA47-425A-90C1-01C6262F6F2F}">
      <dgm:prSet phldrT="Write a description of the significance of this event" custT="1"/>
      <dgm:spPr/>
      <dgm:t>
        <a:bodyPr/>
        <a:lstStyle/>
        <a:p>
          <a:r>
            <a:rPr lang="en-US" sz="2200" dirty="0">
              <a:latin typeface="Poppins" panose="00000500000000000000" pitchFamily="2" charset="0"/>
              <a:cs typeface="Poppins" panose="00000500000000000000" pitchFamily="2" charset="0"/>
            </a:rPr>
            <a:t>Assigned to agent; team action required</a:t>
          </a:r>
        </a:p>
      </dgm:t>
    </dgm:pt>
    <dgm:pt modelId="{E68DE82B-ACA6-4B5C-9015-5378400F274D}" type="parTrans" cxnId="{8813DC90-AF14-416E-91D4-A0EF9CC1078E}">
      <dgm:prSet/>
      <dgm:spPr/>
      <dgm:t>
        <a:bodyPr/>
        <a:lstStyle/>
        <a:p>
          <a:endParaRPr lang="en-US" sz="2200">
            <a:latin typeface="Poppins" panose="00000500000000000000" pitchFamily="2" charset="0"/>
            <a:cs typeface="Poppins" panose="00000500000000000000" pitchFamily="2" charset="0"/>
          </a:endParaRPr>
        </a:p>
      </dgm:t>
    </dgm:pt>
    <dgm:pt modelId="{3B5FA0D2-CF75-4E3D-9581-B29C6DBC60F1}" type="sibTrans" cxnId="{8813DC90-AF14-416E-91D4-A0EF9CC1078E}">
      <dgm:prSet/>
      <dgm:spPr/>
      <dgm:t>
        <a:bodyPr/>
        <a:lstStyle/>
        <a:p>
          <a:endParaRPr lang="en-US" sz="2200">
            <a:latin typeface="Poppins" panose="00000500000000000000" pitchFamily="2" charset="0"/>
            <a:cs typeface="Poppins" panose="00000500000000000000" pitchFamily="2" charset="0"/>
          </a:endParaRPr>
        </a:p>
      </dgm:t>
    </dgm:pt>
    <dgm:pt modelId="{CF605603-C24C-4DDB-9067-47CD273551F6}">
      <dgm:prSet phldrT="Add an event" phldr="0" custT="1"/>
      <dgm:spPr/>
      <dgm:t>
        <a:bodyPr/>
        <a:lstStyle/>
        <a:p>
          <a:pPr>
            <a:defRPr b="1"/>
          </a:pPr>
          <a:r>
            <a:rPr lang="en-US" sz="2200" dirty="0">
              <a:latin typeface="Poppins" panose="00000500000000000000" pitchFamily="2" charset="0"/>
              <a:cs typeface="Poppins" panose="00000500000000000000" pitchFamily="2" charset="0"/>
            </a:rPr>
            <a:t>Pending</a:t>
          </a:r>
        </a:p>
      </dgm:t>
    </dgm:pt>
    <dgm:pt modelId="{0FB28C56-55E4-4D5C-A49D-420A514BB064}" type="parTrans" cxnId="{A3AE2A24-F502-49CB-94A6-6DB3B9A217CF}">
      <dgm:prSet/>
      <dgm:spPr/>
      <dgm:t>
        <a:bodyPr/>
        <a:lstStyle/>
        <a:p>
          <a:endParaRPr lang="en-US" sz="2200">
            <a:latin typeface="Poppins" panose="00000500000000000000" pitchFamily="2" charset="0"/>
            <a:cs typeface="Poppins" panose="00000500000000000000" pitchFamily="2" charset="0"/>
          </a:endParaRPr>
        </a:p>
      </dgm:t>
    </dgm:pt>
    <dgm:pt modelId="{E9E2DE77-93F3-440D-A377-0D9EEC162C59}" type="sibTrans" cxnId="{A3AE2A24-F502-49CB-94A6-6DB3B9A217CF}">
      <dgm:prSet/>
      <dgm:spPr/>
      <dgm:t>
        <a:bodyPr/>
        <a:lstStyle/>
        <a:p>
          <a:endParaRPr lang="en-US" sz="2200">
            <a:latin typeface="Poppins" panose="00000500000000000000" pitchFamily="2" charset="0"/>
            <a:cs typeface="Poppins" panose="00000500000000000000" pitchFamily="2" charset="0"/>
          </a:endParaRPr>
        </a:p>
      </dgm:t>
    </dgm:pt>
    <dgm:pt modelId="{5CF792E4-72E4-4D3B-B326-126CBA18B10A}">
      <dgm:prSet phldrT="Write a description of the significance of this event" custT="1"/>
      <dgm:spPr/>
      <dgm:t>
        <a:bodyPr/>
        <a:lstStyle/>
        <a:p>
          <a:r>
            <a:rPr lang="en-US" sz="2200" dirty="0">
              <a:latin typeface="Poppins" panose="00000500000000000000" pitchFamily="2" charset="0"/>
              <a:cs typeface="Poppins" panose="00000500000000000000" pitchFamily="2" charset="0"/>
            </a:rPr>
            <a:t>Awaiting vital details from requester</a:t>
          </a:r>
        </a:p>
      </dgm:t>
    </dgm:pt>
    <dgm:pt modelId="{165AB967-19BD-4531-94E4-CC5E67181BA8}" type="parTrans" cxnId="{791487CC-798E-4741-BF70-8F39D6CF8CBD}">
      <dgm:prSet/>
      <dgm:spPr/>
      <dgm:t>
        <a:bodyPr/>
        <a:lstStyle/>
        <a:p>
          <a:endParaRPr lang="en-US" sz="2200">
            <a:latin typeface="Poppins" panose="00000500000000000000" pitchFamily="2" charset="0"/>
            <a:cs typeface="Poppins" panose="00000500000000000000" pitchFamily="2" charset="0"/>
          </a:endParaRPr>
        </a:p>
      </dgm:t>
    </dgm:pt>
    <dgm:pt modelId="{92D3FD2C-9E07-4607-89A6-4271D97EE09E}" type="sibTrans" cxnId="{791487CC-798E-4741-BF70-8F39D6CF8CBD}">
      <dgm:prSet/>
      <dgm:spPr/>
      <dgm:t>
        <a:bodyPr/>
        <a:lstStyle/>
        <a:p>
          <a:endParaRPr lang="en-US" sz="2200">
            <a:latin typeface="Poppins" panose="00000500000000000000" pitchFamily="2" charset="0"/>
            <a:cs typeface="Poppins" panose="00000500000000000000" pitchFamily="2" charset="0"/>
          </a:endParaRPr>
        </a:p>
      </dgm:t>
    </dgm:pt>
    <dgm:pt modelId="{3D7D0BFB-055B-427C-8276-9CEDBDB4ACCB}">
      <dgm:prSet phldrT="Add an event" phldr="0" custT="1"/>
      <dgm:spPr/>
      <dgm:t>
        <a:bodyPr/>
        <a:lstStyle/>
        <a:p>
          <a:pPr>
            <a:defRPr b="1"/>
          </a:pPr>
          <a:r>
            <a:rPr lang="en-US" sz="2200" dirty="0">
              <a:latin typeface="Poppins" panose="00000500000000000000" pitchFamily="2" charset="0"/>
              <a:cs typeface="Poppins" panose="00000500000000000000" pitchFamily="2" charset="0"/>
            </a:rPr>
            <a:t>On Hold</a:t>
          </a:r>
        </a:p>
      </dgm:t>
    </dgm:pt>
    <dgm:pt modelId="{21A4C939-1F3C-4FDC-8C31-E7DB17E0BEBF}" type="parTrans" cxnId="{5879AE2A-0C9A-4B58-832D-F2E25D9106BC}">
      <dgm:prSet/>
      <dgm:spPr/>
      <dgm:t>
        <a:bodyPr/>
        <a:lstStyle/>
        <a:p>
          <a:endParaRPr lang="en-US" sz="2200">
            <a:latin typeface="Poppins" panose="00000500000000000000" pitchFamily="2" charset="0"/>
            <a:cs typeface="Poppins" panose="00000500000000000000" pitchFamily="2" charset="0"/>
          </a:endParaRPr>
        </a:p>
      </dgm:t>
    </dgm:pt>
    <dgm:pt modelId="{F0CD0E68-6A5B-4A95-B4C8-1D684D30D464}" type="sibTrans" cxnId="{5879AE2A-0C9A-4B58-832D-F2E25D9106BC}">
      <dgm:prSet/>
      <dgm:spPr/>
      <dgm:t>
        <a:bodyPr/>
        <a:lstStyle/>
        <a:p>
          <a:endParaRPr lang="en-US" sz="2200">
            <a:latin typeface="Poppins" panose="00000500000000000000" pitchFamily="2" charset="0"/>
            <a:cs typeface="Poppins" panose="00000500000000000000" pitchFamily="2" charset="0"/>
          </a:endParaRPr>
        </a:p>
      </dgm:t>
    </dgm:pt>
    <dgm:pt modelId="{4B6A4A92-3450-486D-9B5F-A781D0A66348}">
      <dgm:prSet phldrT="Write a description of the significance of this event" custT="1"/>
      <dgm:spPr/>
      <dgm:t>
        <a:bodyPr/>
        <a:lstStyle/>
        <a:p>
          <a:r>
            <a:rPr lang="en-US" sz="2200" dirty="0">
              <a:latin typeface="Poppins" panose="00000500000000000000" pitchFamily="2" charset="0"/>
              <a:cs typeface="Poppins" panose="00000500000000000000" pitchFamily="2" charset="0"/>
            </a:rPr>
            <a:t>Paused for internal research/3rd-party review</a:t>
          </a:r>
        </a:p>
      </dgm:t>
    </dgm:pt>
    <dgm:pt modelId="{E3B7D6C2-FA9A-4EA9-BF7D-EFA668F4B829}" type="parTrans" cxnId="{81EA52A4-D1C3-4874-93E1-8C14E892FF7F}">
      <dgm:prSet/>
      <dgm:spPr/>
      <dgm:t>
        <a:bodyPr/>
        <a:lstStyle/>
        <a:p>
          <a:endParaRPr lang="en-US" sz="2200">
            <a:latin typeface="Poppins" panose="00000500000000000000" pitchFamily="2" charset="0"/>
            <a:cs typeface="Poppins" panose="00000500000000000000" pitchFamily="2" charset="0"/>
          </a:endParaRPr>
        </a:p>
      </dgm:t>
    </dgm:pt>
    <dgm:pt modelId="{CD1084A1-47E7-4619-8F1E-B9BDFA8F8A28}" type="sibTrans" cxnId="{81EA52A4-D1C3-4874-93E1-8C14E892FF7F}">
      <dgm:prSet/>
      <dgm:spPr/>
      <dgm:t>
        <a:bodyPr/>
        <a:lstStyle/>
        <a:p>
          <a:endParaRPr lang="en-US" sz="2200">
            <a:latin typeface="Poppins" panose="00000500000000000000" pitchFamily="2" charset="0"/>
            <a:cs typeface="Poppins" panose="00000500000000000000" pitchFamily="2" charset="0"/>
          </a:endParaRPr>
        </a:p>
      </dgm:t>
    </dgm:pt>
    <dgm:pt modelId="{123FEC6C-746B-4FCD-BC45-1CC8BF615515}">
      <dgm:prSet phldrT="Add an event" phldr="0" custT="1"/>
      <dgm:spPr/>
      <dgm:t>
        <a:bodyPr/>
        <a:lstStyle/>
        <a:p>
          <a:pPr>
            <a:defRPr b="1"/>
          </a:pPr>
          <a:r>
            <a:rPr lang="en-US" sz="2200" dirty="0">
              <a:latin typeface="Poppins" panose="00000500000000000000" pitchFamily="2" charset="0"/>
              <a:cs typeface="Poppins" panose="00000500000000000000" pitchFamily="2" charset="0"/>
            </a:rPr>
            <a:t>Solved</a:t>
          </a:r>
        </a:p>
      </dgm:t>
    </dgm:pt>
    <dgm:pt modelId="{CD6C4C9B-2E61-4A14-B14C-BE72FDBF1C33}" type="parTrans" cxnId="{F9F9AEF5-C433-4C13-BE38-83DEB7EC5B1E}">
      <dgm:prSet/>
      <dgm:spPr/>
      <dgm:t>
        <a:bodyPr/>
        <a:lstStyle/>
        <a:p>
          <a:endParaRPr lang="en-US" sz="2200">
            <a:latin typeface="Poppins" panose="00000500000000000000" pitchFamily="2" charset="0"/>
            <a:cs typeface="Poppins" panose="00000500000000000000" pitchFamily="2" charset="0"/>
          </a:endParaRPr>
        </a:p>
      </dgm:t>
    </dgm:pt>
    <dgm:pt modelId="{2D615CAC-2A14-4B1E-AF72-9CBFB9B67B3C}" type="sibTrans" cxnId="{F9F9AEF5-C433-4C13-BE38-83DEB7EC5B1E}">
      <dgm:prSet/>
      <dgm:spPr/>
      <dgm:t>
        <a:bodyPr/>
        <a:lstStyle/>
        <a:p>
          <a:endParaRPr lang="en-US" sz="2200">
            <a:latin typeface="Poppins" panose="00000500000000000000" pitchFamily="2" charset="0"/>
            <a:cs typeface="Poppins" panose="00000500000000000000" pitchFamily="2" charset="0"/>
          </a:endParaRPr>
        </a:p>
      </dgm:t>
    </dgm:pt>
    <dgm:pt modelId="{350C9BEC-210B-4E94-82BE-8FA57BC838EE}">
      <dgm:prSet phldrT="Write a description of the significance of this event" custT="1"/>
      <dgm:spPr/>
      <dgm:t>
        <a:bodyPr/>
        <a:lstStyle/>
        <a:p>
          <a:r>
            <a:rPr lang="en-US" sz="2200" dirty="0">
              <a:latin typeface="Poppins" panose="00000500000000000000" pitchFamily="2" charset="0"/>
              <a:cs typeface="Poppins" panose="00000500000000000000" pitchFamily="2" charset="0"/>
            </a:rPr>
            <a:t>Resolution provided to the user</a:t>
          </a:r>
        </a:p>
      </dgm:t>
    </dgm:pt>
    <dgm:pt modelId="{DBDCA499-9662-4CE0-AE91-7A13D6753487}" type="parTrans" cxnId="{47F54C0A-2C20-4298-BE54-2D315BCAEFEE}">
      <dgm:prSet/>
      <dgm:spPr/>
      <dgm:t>
        <a:bodyPr/>
        <a:lstStyle/>
        <a:p>
          <a:endParaRPr lang="en-US" sz="2200">
            <a:latin typeface="Poppins" panose="00000500000000000000" pitchFamily="2" charset="0"/>
            <a:cs typeface="Poppins" panose="00000500000000000000" pitchFamily="2" charset="0"/>
          </a:endParaRPr>
        </a:p>
      </dgm:t>
    </dgm:pt>
    <dgm:pt modelId="{57CDD898-2ADF-4FEF-A193-12891F99094F}" type="sibTrans" cxnId="{47F54C0A-2C20-4298-BE54-2D315BCAEFEE}">
      <dgm:prSet/>
      <dgm:spPr/>
      <dgm:t>
        <a:bodyPr/>
        <a:lstStyle/>
        <a:p>
          <a:endParaRPr lang="en-US" sz="2200">
            <a:latin typeface="Poppins" panose="00000500000000000000" pitchFamily="2" charset="0"/>
            <a:cs typeface="Poppins" panose="00000500000000000000" pitchFamily="2" charset="0"/>
          </a:endParaRPr>
        </a:p>
      </dgm:t>
    </dgm:pt>
    <dgm:pt modelId="{4B32EC5B-4B9A-41DB-A97C-319F758004C3}">
      <dgm:prSet phldrT="Add an event" phldr="0" custT="1"/>
      <dgm:spPr/>
      <dgm:t>
        <a:bodyPr/>
        <a:lstStyle/>
        <a:p>
          <a:pPr>
            <a:defRPr b="1"/>
          </a:pPr>
          <a:r>
            <a:rPr lang="en-US" sz="2200" dirty="0">
              <a:latin typeface="Poppins" panose="00000500000000000000" pitchFamily="2" charset="0"/>
              <a:cs typeface="Poppins" panose="00000500000000000000" pitchFamily="2" charset="0"/>
            </a:rPr>
            <a:t>Closed</a:t>
          </a:r>
        </a:p>
      </dgm:t>
    </dgm:pt>
    <dgm:pt modelId="{FDAE8F7F-1D81-4698-85BB-9D0065C3DE90}" type="parTrans" cxnId="{77920432-46F6-4E13-8AF0-04B1FD46B9D2}">
      <dgm:prSet/>
      <dgm:spPr/>
      <dgm:t>
        <a:bodyPr/>
        <a:lstStyle/>
        <a:p>
          <a:endParaRPr lang="en-US" sz="2200">
            <a:latin typeface="Poppins" panose="00000500000000000000" pitchFamily="2" charset="0"/>
            <a:cs typeface="Poppins" panose="00000500000000000000" pitchFamily="2" charset="0"/>
          </a:endParaRPr>
        </a:p>
      </dgm:t>
    </dgm:pt>
    <dgm:pt modelId="{BFEAEA56-0074-411E-86EB-1DBAE2148618}" type="sibTrans" cxnId="{77920432-46F6-4E13-8AF0-04B1FD46B9D2}">
      <dgm:prSet/>
      <dgm:spPr/>
      <dgm:t>
        <a:bodyPr/>
        <a:lstStyle/>
        <a:p>
          <a:endParaRPr lang="en-US" sz="2200">
            <a:latin typeface="Poppins" panose="00000500000000000000" pitchFamily="2" charset="0"/>
            <a:cs typeface="Poppins" panose="00000500000000000000" pitchFamily="2" charset="0"/>
          </a:endParaRPr>
        </a:p>
      </dgm:t>
    </dgm:pt>
    <dgm:pt modelId="{4DA91356-1F8E-4539-B24C-8EF7F8B2CF5B}">
      <dgm:prSet phldrT="Write a description of the significance of this event" phldr="0" custT="1"/>
      <dgm:spPr/>
      <dgm:t>
        <a:bodyPr/>
        <a:lstStyle/>
        <a:p>
          <a:r>
            <a:rPr lang="en-US" sz="2200" dirty="0">
              <a:latin typeface="Poppins" panose="00000500000000000000" pitchFamily="2" charset="0"/>
              <a:cs typeface="Poppins" panose="00000500000000000000" pitchFamily="2" charset="0"/>
            </a:rPr>
            <a:t>Automatically closed due to inactivity</a:t>
          </a:r>
        </a:p>
      </dgm:t>
    </dgm:pt>
    <dgm:pt modelId="{9F47DB56-5FE3-419E-A397-9F6D03B80D5D}" type="parTrans" cxnId="{41732621-0DDE-4DE5-AF9D-825159303139}">
      <dgm:prSet/>
      <dgm:spPr/>
      <dgm:t>
        <a:bodyPr/>
        <a:lstStyle/>
        <a:p>
          <a:endParaRPr lang="en-US" sz="2200">
            <a:latin typeface="Poppins" panose="00000500000000000000" pitchFamily="2" charset="0"/>
            <a:cs typeface="Poppins" panose="00000500000000000000" pitchFamily="2" charset="0"/>
          </a:endParaRPr>
        </a:p>
      </dgm:t>
    </dgm:pt>
    <dgm:pt modelId="{8C9E3663-DD33-4731-9233-A27F663EFA9C}" type="sibTrans" cxnId="{41732621-0DDE-4DE5-AF9D-825159303139}">
      <dgm:prSet/>
      <dgm:spPr/>
      <dgm:t>
        <a:bodyPr/>
        <a:lstStyle/>
        <a:p>
          <a:endParaRPr lang="en-US" sz="2200">
            <a:latin typeface="Poppins" panose="00000500000000000000" pitchFamily="2" charset="0"/>
            <a:cs typeface="Poppins" panose="00000500000000000000" pitchFamily="2" charset="0"/>
          </a:endParaRPr>
        </a:p>
      </dgm:t>
    </dgm:pt>
    <dgm:pt modelId="{C57EA996-72D9-4FEF-AE9D-1CDA33308B5C}" type="pres">
      <dgm:prSet presAssocID="{98CD3221-8849-4043-851A-63A55ECA3C42}" presName="root" presStyleCnt="0">
        <dgm:presLayoutVars>
          <dgm:dir/>
          <dgm:animLvl val="lvl"/>
        </dgm:presLayoutVars>
      </dgm:prSet>
      <dgm:spPr/>
    </dgm:pt>
    <dgm:pt modelId="{75C3B746-F00C-4E8C-82F0-98C32862C858}" type="pres">
      <dgm:prSet presAssocID="{98CD3221-8849-4043-851A-63A55ECA3C42}" presName="divider" presStyleCnt="0"/>
      <dgm:spPr/>
    </dgm:pt>
    <dgm:pt modelId="{0604BAB4-0BCC-49B1-858B-912C4587131C}" type="pres">
      <dgm:prSet presAssocID="{98CD3221-8849-4043-851A-63A55ECA3C42}" presName="rectBar" presStyleLbl="dkBgShp" presStyleIdx="0" presStyleCnt="8"/>
      <dgm:spPr>
        <a:solidFill>
          <a:srgbClr val="00EB5B"/>
        </a:solidFill>
        <a:ln>
          <a:noFill/>
        </a:ln>
        <a:effectLst>
          <a:outerShdw blurRad="50800" dist="38100" dir="5400000" algn="t" rotWithShape="0">
            <a:prstClr val="black">
              <a:alpha val="40000"/>
            </a:prstClr>
          </a:outerShdw>
        </a:effectLst>
      </dgm:spPr>
    </dgm:pt>
    <dgm:pt modelId="{98499E1C-9371-4C8C-9F38-C594D5A3BEC4}" type="pres">
      <dgm:prSet presAssocID="{98CD3221-8849-4043-851A-63A55ECA3C42}" presName="chevronArrow" presStyleLbl="dkBgShp" presStyleIdx="1" presStyleCnt="8"/>
      <dgm:spPr>
        <a:solidFill>
          <a:srgbClr val="00EB5B"/>
        </a:solidFill>
        <a:ln>
          <a:noFill/>
        </a:ln>
        <a:effectLst>
          <a:outerShdw blurRad="50800" dist="38100" dir="5400000" algn="t" rotWithShape="0">
            <a:prstClr val="black">
              <a:alpha val="40000"/>
            </a:prstClr>
          </a:outerShdw>
        </a:effectLst>
      </dgm:spPr>
    </dgm:pt>
    <dgm:pt modelId="{10C9AC2D-342B-4C5A-A577-D7C4139B78BB}" type="pres">
      <dgm:prSet presAssocID="{98CD3221-8849-4043-851A-63A55ECA3C42}" presName="nodes" presStyleCnt="0">
        <dgm:presLayoutVars>
          <dgm:chMax/>
          <dgm:chPref/>
          <dgm:animLvl val="lvl"/>
        </dgm:presLayoutVars>
      </dgm:prSet>
      <dgm:spPr/>
    </dgm:pt>
    <dgm:pt modelId="{EB856E78-C6A6-4C85-9B1F-042021C793D3}" type="pres">
      <dgm:prSet presAssocID="{F471C1ED-63E9-46AA-B224-9329CB6F09B0}" presName="composite" presStyleCnt="0"/>
      <dgm:spPr/>
    </dgm:pt>
    <dgm:pt modelId="{2AE928C6-D8D5-4AD3-8D34-CF9AD3B6F995}" type="pres">
      <dgm:prSet presAssocID="{F471C1ED-63E9-46AA-B224-9329CB6F09B0}" presName="DropPinPlaceHolder" presStyleCnt="0"/>
      <dgm:spPr/>
    </dgm:pt>
    <dgm:pt modelId="{E6CF2A15-642B-4461-A2BB-BE977F75A3AD}" type="pres">
      <dgm:prSet presAssocID="{F471C1ED-63E9-46AA-B224-9329CB6F09B0}" presName="DropPin" presStyleLbl="alignNode1" presStyleIdx="0" presStyleCnt="6"/>
      <dgm:spPr/>
    </dgm:pt>
    <dgm:pt modelId="{24DC0CD5-E38B-4FD1-9A83-F49443C8966B}" type="pres">
      <dgm:prSet presAssocID="{F471C1ED-63E9-46AA-B224-9329CB6F09B0}" presName="Ellipse" presStyleLbl="fgAcc1" presStyleIdx="0" presStyleCnt="6"/>
      <dgm:spPr/>
    </dgm:pt>
    <dgm:pt modelId="{6F4AE6F3-BED9-4528-A95D-F31425E1D690}" type="pres">
      <dgm:prSet presAssocID="{F471C1ED-63E9-46AA-B224-9329CB6F09B0}" presName="L2TextContainer" presStyleLbl="revTx" presStyleIdx="0" presStyleCnt="12">
        <dgm:presLayoutVars>
          <dgm:bulletEnabled val="1"/>
        </dgm:presLayoutVars>
      </dgm:prSet>
      <dgm:spPr/>
    </dgm:pt>
    <dgm:pt modelId="{94691635-B8FD-4B36-AC48-ABE43602DD1D}" type="pres">
      <dgm:prSet presAssocID="{F471C1ED-63E9-46AA-B224-9329CB6F09B0}" presName="L1TextContainer" presStyleLbl="revTx" presStyleIdx="1" presStyleCnt="12">
        <dgm:presLayoutVars>
          <dgm:chMax val="1"/>
          <dgm:chPref val="1"/>
          <dgm:bulletEnabled val="1"/>
        </dgm:presLayoutVars>
      </dgm:prSet>
      <dgm:spPr/>
    </dgm:pt>
    <dgm:pt modelId="{5E4817C7-6B3A-44A6-90BC-A34B504A9F35}" type="pres">
      <dgm:prSet presAssocID="{F471C1ED-63E9-46AA-B224-9329CB6F09B0}" presName="ConnectLine" presStyleLbl="dkBgShp" presStyleIdx="2" presStyleCnt="8"/>
      <dgm:spPr>
        <a:solidFill>
          <a:srgbClr val="00EB5B"/>
        </a:solidFill>
        <a:effectLst>
          <a:outerShdw blurRad="50800" dist="38100" dir="5400000" algn="t" rotWithShape="0">
            <a:prstClr val="black">
              <a:alpha val="40000"/>
            </a:prstClr>
          </a:outerShdw>
        </a:effectLst>
      </dgm:spPr>
    </dgm:pt>
    <dgm:pt modelId="{07507B05-B2DC-4CE5-B5A8-28998ECE4430}" type="pres">
      <dgm:prSet presAssocID="{F471C1ED-63E9-46AA-B224-9329CB6F09B0}" presName="ConnectorPoint" presStyleCnt="0"/>
      <dgm:spPr/>
    </dgm:pt>
    <dgm:pt modelId="{D25D1F5B-B5FD-4EAE-A6FD-D24E55B796F1}" type="pres">
      <dgm:prSet presAssocID="{F471C1ED-63E9-46AA-B224-9329CB6F09B0}" presName="Bullet" presStyleLbl="lnNode1" presStyleIdx="0" presStyleCnt="6"/>
      <dgm:spPr>
        <a:xfrm>
          <a:off x="250896" y="2826292"/>
          <a:ext cx="239983" cy="239983"/>
        </a:xfrm>
        <a:prstGeom prst="ellipse">
          <a:avLst/>
        </a:prstGeom>
        <a:solidFill>
          <a:srgbClr val="FFC000"/>
        </a:solidFill>
        <a:ln w="12700" cap="flat">
          <a:solidFill>
            <a:srgbClr val="FFFFFF"/>
          </a:solidFill>
          <a:prstDash val="solid"/>
          <a:miter/>
        </a:ln>
        <a:effectLst>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dgm:spPr>
    </dgm:pt>
    <dgm:pt modelId="{4381575F-6BAE-42F1-8FAD-01794DF3E5F1}" type="pres">
      <dgm:prSet presAssocID="{F471C1ED-63E9-46AA-B224-9329CB6F09B0}" presName="EmptyPlaceHolder" presStyleCnt="0"/>
      <dgm:spPr/>
    </dgm:pt>
    <dgm:pt modelId="{21C0960A-9377-4CED-B704-6F49C908C303}" type="pres">
      <dgm:prSet presAssocID="{C24D3114-FCB0-43A3-9AFA-1C6923B02B6E}" presName="spaceBetweenRectangles" presStyleCnt="0"/>
      <dgm:spPr/>
    </dgm:pt>
    <dgm:pt modelId="{E8DEAA28-E739-4F9F-908B-C3CEDE5DF640}" type="pres">
      <dgm:prSet presAssocID="{B289A9E9-83F1-4891-8FD0-9A82EC7EA0D9}" presName="composite" presStyleCnt="0"/>
      <dgm:spPr/>
    </dgm:pt>
    <dgm:pt modelId="{D9EBF083-8E89-4D6B-998B-E06DB3748AAF}" type="pres">
      <dgm:prSet presAssocID="{B289A9E9-83F1-4891-8FD0-9A82EC7EA0D9}" presName="DropPinPlaceHolder" presStyleCnt="0"/>
      <dgm:spPr/>
    </dgm:pt>
    <dgm:pt modelId="{B6E0A382-DAAA-4155-BCFC-30FA6645C373}" type="pres">
      <dgm:prSet presAssocID="{B289A9E9-83F1-4891-8FD0-9A82EC7EA0D9}" presName="DropPin" presStyleLbl="alignNode1" presStyleIdx="1" presStyleCnt="6"/>
      <dgm:spPr/>
    </dgm:pt>
    <dgm:pt modelId="{8F9FC51A-1090-4BC4-9856-DEAAB51A0D20}" type="pres">
      <dgm:prSet presAssocID="{B289A9E9-83F1-4891-8FD0-9A82EC7EA0D9}" presName="Ellipse" presStyleLbl="fgAcc1" presStyleIdx="1" presStyleCnt="6"/>
      <dgm:spPr/>
    </dgm:pt>
    <dgm:pt modelId="{9D334FEB-20C3-45F1-9A02-BD3863F10364}" type="pres">
      <dgm:prSet presAssocID="{B289A9E9-83F1-4891-8FD0-9A82EC7EA0D9}" presName="L2TextContainer" presStyleLbl="revTx" presStyleIdx="2" presStyleCnt="12">
        <dgm:presLayoutVars>
          <dgm:bulletEnabled val="1"/>
        </dgm:presLayoutVars>
      </dgm:prSet>
      <dgm:spPr/>
    </dgm:pt>
    <dgm:pt modelId="{EC2B466A-092B-491A-BF51-E4984D3618CE}" type="pres">
      <dgm:prSet presAssocID="{B289A9E9-83F1-4891-8FD0-9A82EC7EA0D9}" presName="L1TextContainer" presStyleLbl="revTx" presStyleIdx="3" presStyleCnt="12">
        <dgm:presLayoutVars>
          <dgm:chMax val="1"/>
          <dgm:chPref val="1"/>
          <dgm:bulletEnabled val="1"/>
        </dgm:presLayoutVars>
      </dgm:prSet>
      <dgm:spPr/>
    </dgm:pt>
    <dgm:pt modelId="{7653544D-2C26-4DC0-963A-571B18D8E4AB}" type="pres">
      <dgm:prSet presAssocID="{B289A9E9-83F1-4891-8FD0-9A82EC7EA0D9}" presName="ConnectLine" presStyleLbl="dkBgShp" presStyleIdx="3" presStyleCnt="8"/>
      <dgm:spPr>
        <a:solidFill>
          <a:srgbClr val="00EB5B"/>
        </a:solidFill>
        <a:effectLst>
          <a:outerShdw blurRad="50800" dist="38100" dir="5400000" algn="t" rotWithShape="0">
            <a:prstClr val="black">
              <a:alpha val="40000"/>
            </a:prstClr>
          </a:outerShdw>
        </a:effectLst>
      </dgm:spPr>
    </dgm:pt>
    <dgm:pt modelId="{3A6EE836-CB4C-4606-9DDC-293A2C444216}" type="pres">
      <dgm:prSet presAssocID="{B289A9E9-83F1-4891-8FD0-9A82EC7EA0D9}" presName="ConnectorPoint" presStyleCnt="0"/>
      <dgm:spPr/>
    </dgm:pt>
    <dgm:pt modelId="{FD3EF933-6F09-4084-875A-0830223688AC}" type="pres">
      <dgm:prSet presAssocID="{B289A9E9-83F1-4891-8FD0-9A82EC7EA0D9}" presName="Bullet" presStyleLbl="lnNode1" presStyleIdx="1" presStyleCnt="6"/>
      <dgm:spPr>
        <a:xfrm>
          <a:off x="2220730" y="2826292"/>
          <a:ext cx="239983" cy="239983"/>
        </a:xfrm>
        <a:prstGeom prst="ellipse">
          <a:avLst/>
        </a:prstGeom>
        <a:solidFill>
          <a:srgbClr val="EE0000"/>
        </a:solidFill>
        <a:ln w="12700" cap="flat">
          <a:solidFill>
            <a:srgbClr val="FFFFFF"/>
          </a:solidFill>
          <a:prstDash val="solid"/>
          <a:miter/>
        </a:ln>
        <a:effectLst>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dgm:spPr>
    </dgm:pt>
    <dgm:pt modelId="{22349CD0-4577-4B17-B01F-9CA47E86D560}" type="pres">
      <dgm:prSet presAssocID="{B289A9E9-83F1-4891-8FD0-9A82EC7EA0D9}" presName="EmptyPlaceHolder" presStyleCnt="0"/>
      <dgm:spPr/>
    </dgm:pt>
    <dgm:pt modelId="{740816BC-9EC7-4370-B59F-E39ECD4F4D18}" type="pres">
      <dgm:prSet presAssocID="{6EB22E1C-3102-432D-BD37-C725B96586BB}" presName="spaceBetweenRectangles" presStyleCnt="0"/>
      <dgm:spPr/>
    </dgm:pt>
    <dgm:pt modelId="{BAB9BD65-F319-4DD9-8D41-D160ABD4AED1}" type="pres">
      <dgm:prSet presAssocID="{CF605603-C24C-4DDB-9067-47CD273551F6}" presName="composite" presStyleCnt="0"/>
      <dgm:spPr/>
    </dgm:pt>
    <dgm:pt modelId="{DE8B346E-1730-4E93-9F38-74067D4C2DC5}" type="pres">
      <dgm:prSet presAssocID="{CF605603-C24C-4DDB-9067-47CD273551F6}" presName="DropPinPlaceHolder" presStyleCnt="0"/>
      <dgm:spPr/>
    </dgm:pt>
    <dgm:pt modelId="{4C03B16B-A4A8-462B-8F6E-5C97F8D6AEC4}" type="pres">
      <dgm:prSet presAssocID="{CF605603-C24C-4DDB-9067-47CD273551F6}" presName="DropPin" presStyleLbl="alignNode1" presStyleIdx="2" presStyleCnt="6"/>
      <dgm:spPr/>
    </dgm:pt>
    <dgm:pt modelId="{383C318F-0A0C-474C-BB66-AFFEB44401F7}" type="pres">
      <dgm:prSet presAssocID="{CF605603-C24C-4DDB-9067-47CD273551F6}" presName="Ellipse" presStyleLbl="fgAcc1" presStyleIdx="2" presStyleCnt="6"/>
      <dgm:spPr/>
    </dgm:pt>
    <dgm:pt modelId="{067C0BB0-095E-46D5-9960-758C5C718D58}" type="pres">
      <dgm:prSet presAssocID="{CF605603-C24C-4DDB-9067-47CD273551F6}" presName="L2TextContainer" presStyleLbl="revTx" presStyleIdx="4" presStyleCnt="12">
        <dgm:presLayoutVars>
          <dgm:bulletEnabled val="1"/>
        </dgm:presLayoutVars>
      </dgm:prSet>
      <dgm:spPr/>
    </dgm:pt>
    <dgm:pt modelId="{4150BF80-B8AF-4F9A-ABFA-2385390D8012}" type="pres">
      <dgm:prSet presAssocID="{CF605603-C24C-4DDB-9067-47CD273551F6}" presName="L1TextContainer" presStyleLbl="revTx" presStyleIdx="5" presStyleCnt="12">
        <dgm:presLayoutVars>
          <dgm:chMax val="1"/>
          <dgm:chPref val="1"/>
          <dgm:bulletEnabled val="1"/>
        </dgm:presLayoutVars>
      </dgm:prSet>
      <dgm:spPr/>
    </dgm:pt>
    <dgm:pt modelId="{5A80A86A-5EE6-486A-934B-4C25B6C727BE}" type="pres">
      <dgm:prSet presAssocID="{CF605603-C24C-4DDB-9067-47CD273551F6}" presName="ConnectLine" presStyleLbl="dkBgShp" presStyleIdx="4" presStyleCnt="8"/>
      <dgm:spPr>
        <a:solidFill>
          <a:srgbClr val="00EB5B"/>
        </a:solidFill>
        <a:effectLst>
          <a:outerShdw blurRad="50800" dist="38100" dir="5400000" algn="t" rotWithShape="0">
            <a:prstClr val="black">
              <a:alpha val="40000"/>
            </a:prstClr>
          </a:outerShdw>
        </a:effectLst>
      </dgm:spPr>
    </dgm:pt>
    <dgm:pt modelId="{8343E90A-944E-42FF-BA22-63D28FC902B8}" type="pres">
      <dgm:prSet presAssocID="{CF605603-C24C-4DDB-9067-47CD273551F6}" presName="ConnectorPoint" presStyleCnt="0"/>
      <dgm:spPr/>
    </dgm:pt>
    <dgm:pt modelId="{703FA083-3954-4C68-8678-AE60F93CD6A6}" type="pres">
      <dgm:prSet presAssocID="{CF605603-C24C-4DDB-9067-47CD273551F6}" presName="Bullet" presStyleLbl="lnNode1" presStyleIdx="2" presStyleCnt="6"/>
      <dgm:spPr>
        <a:xfrm>
          <a:off x="4190563" y="2826292"/>
          <a:ext cx="239983" cy="239983"/>
        </a:xfrm>
        <a:prstGeom prst="ellipse">
          <a:avLst/>
        </a:prstGeom>
        <a:solidFill>
          <a:srgbClr val="4C94D8"/>
        </a:solidFill>
        <a:ln w="19050" cap="flat">
          <a:solidFill>
            <a:schemeClr val="bg1"/>
          </a:solidFill>
          <a:prstDash val="solid"/>
          <a:miter/>
        </a:ln>
        <a:effectLst>
          <a:outerShdw blurRad="50800" dist="38100" dir="5400000" algn="t" rotWithShape="0">
            <a:prstClr val="black">
              <a:alpha val="40000"/>
            </a:prstClr>
          </a:outerShdw>
        </a:effectLst>
      </dgm:spPr>
    </dgm:pt>
    <dgm:pt modelId="{016CDF93-4C3B-450F-B65B-99140ED7DF1F}" type="pres">
      <dgm:prSet presAssocID="{CF605603-C24C-4DDB-9067-47CD273551F6}" presName="EmptyPlaceHolder" presStyleCnt="0"/>
      <dgm:spPr/>
    </dgm:pt>
    <dgm:pt modelId="{DD64F4D4-6679-4C2B-B2AD-62BC5D9FD5B1}" type="pres">
      <dgm:prSet presAssocID="{E9E2DE77-93F3-440D-A377-0D9EEC162C59}" presName="spaceBetweenRectangles" presStyleCnt="0"/>
      <dgm:spPr/>
    </dgm:pt>
    <dgm:pt modelId="{FC327C3F-009D-44F2-9408-281044F1170C}" type="pres">
      <dgm:prSet presAssocID="{3D7D0BFB-055B-427C-8276-9CEDBDB4ACCB}" presName="composite" presStyleCnt="0"/>
      <dgm:spPr/>
    </dgm:pt>
    <dgm:pt modelId="{49A4B3DD-D780-4DBD-BF35-AF24F61E9FB4}" type="pres">
      <dgm:prSet presAssocID="{3D7D0BFB-055B-427C-8276-9CEDBDB4ACCB}" presName="DropPinPlaceHolder" presStyleCnt="0"/>
      <dgm:spPr/>
    </dgm:pt>
    <dgm:pt modelId="{1F8C0DB9-19CB-415D-BC82-627D20C44862}" type="pres">
      <dgm:prSet presAssocID="{3D7D0BFB-055B-427C-8276-9CEDBDB4ACCB}" presName="DropPin" presStyleLbl="alignNode1" presStyleIdx="3" presStyleCnt="6"/>
      <dgm:spPr/>
    </dgm:pt>
    <dgm:pt modelId="{84CF4E86-6D8F-425C-8C3E-42DA57EC4055}" type="pres">
      <dgm:prSet presAssocID="{3D7D0BFB-055B-427C-8276-9CEDBDB4ACCB}" presName="Ellipse" presStyleLbl="fgAcc1" presStyleIdx="3" presStyleCnt="6"/>
      <dgm:spPr/>
    </dgm:pt>
    <dgm:pt modelId="{182720B0-2D5E-4362-BC55-FA84B88F33E1}" type="pres">
      <dgm:prSet presAssocID="{3D7D0BFB-055B-427C-8276-9CEDBDB4ACCB}" presName="L2TextContainer" presStyleLbl="revTx" presStyleIdx="6" presStyleCnt="12">
        <dgm:presLayoutVars>
          <dgm:bulletEnabled val="1"/>
        </dgm:presLayoutVars>
      </dgm:prSet>
      <dgm:spPr/>
    </dgm:pt>
    <dgm:pt modelId="{8AACB215-BB0B-445D-AB92-E5C0F8C9A6EE}" type="pres">
      <dgm:prSet presAssocID="{3D7D0BFB-055B-427C-8276-9CEDBDB4ACCB}" presName="L1TextContainer" presStyleLbl="revTx" presStyleIdx="7" presStyleCnt="12">
        <dgm:presLayoutVars>
          <dgm:chMax val="1"/>
          <dgm:chPref val="1"/>
          <dgm:bulletEnabled val="1"/>
        </dgm:presLayoutVars>
      </dgm:prSet>
      <dgm:spPr/>
    </dgm:pt>
    <dgm:pt modelId="{FC67AE95-2CC9-44AA-B09F-0388715E0683}" type="pres">
      <dgm:prSet presAssocID="{3D7D0BFB-055B-427C-8276-9CEDBDB4ACCB}" presName="ConnectLine" presStyleLbl="dkBgShp" presStyleIdx="5" presStyleCnt="8"/>
      <dgm:spPr>
        <a:solidFill>
          <a:srgbClr val="00EB5B"/>
        </a:solidFill>
        <a:effectLst>
          <a:outerShdw blurRad="50800" dist="38100" dir="5400000" algn="t" rotWithShape="0">
            <a:prstClr val="black">
              <a:alpha val="40000"/>
            </a:prstClr>
          </a:outerShdw>
        </a:effectLst>
      </dgm:spPr>
    </dgm:pt>
    <dgm:pt modelId="{0A52F4AB-03EC-4DF0-B497-9267E80712B0}" type="pres">
      <dgm:prSet presAssocID="{3D7D0BFB-055B-427C-8276-9CEDBDB4ACCB}" presName="ConnectorPoint" presStyleCnt="0"/>
      <dgm:spPr/>
    </dgm:pt>
    <dgm:pt modelId="{764F49C7-8190-429A-8D12-9D20EE75D95E}" type="pres">
      <dgm:prSet presAssocID="{3D7D0BFB-055B-427C-8276-9CEDBDB4ACCB}" presName="Bullet" presStyleLbl="lnNode1" presStyleIdx="3" presStyleCnt="6"/>
      <dgm:spPr>
        <a:xfrm>
          <a:off x="6160396" y="2826292"/>
          <a:ext cx="239983" cy="239983"/>
        </a:xfrm>
        <a:prstGeom prst="ellipse">
          <a:avLst/>
        </a:prstGeom>
        <a:solidFill>
          <a:srgbClr val="000000"/>
        </a:solidFill>
        <a:ln w="12700" cap="flat">
          <a:solidFill>
            <a:srgbClr val="FFFFFF"/>
          </a:solidFill>
          <a:prstDash val="solid"/>
          <a:miter/>
        </a:ln>
        <a:effectLst>
          <a:outerShdw blurRad="50800" dist="38100" dir="5400000" algn="t" rotWithShape="0">
            <a:prstClr val="black">
              <a:alpha val="40000"/>
            </a:prstClr>
          </a:outerShdw>
        </a:effectLst>
      </dgm:spPr>
    </dgm:pt>
    <dgm:pt modelId="{22ED8CAB-F91F-4C80-B0E5-31D6FBC88BFD}" type="pres">
      <dgm:prSet presAssocID="{3D7D0BFB-055B-427C-8276-9CEDBDB4ACCB}" presName="EmptyPlaceHolder" presStyleCnt="0"/>
      <dgm:spPr/>
    </dgm:pt>
    <dgm:pt modelId="{76775AF3-5EC0-44C9-96AD-CA3664A24289}" type="pres">
      <dgm:prSet presAssocID="{F0CD0E68-6A5B-4A95-B4C8-1D684D30D464}" presName="spaceBetweenRectangles" presStyleCnt="0"/>
      <dgm:spPr/>
    </dgm:pt>
    <dgm:pt modelId="{8ADCA4E6-C8EF-4EA5-980A-F264820BD6C1}" type="pres">
      <dgm:prSet presAssocID="{123FEC6C-746B-4FCD-BC45-1CC8BF615515}" presName="composite" presStyleCnt="0"/>
      <dgm:spPr/>
    </dgm:pt>
    <dgm:pt modelId="{5199513B-744E-4EEB-9A19-AB651A90BC1D}" type="pres">
      <dgm:prSet presAssocID="{123FEC6C-746B-4FCD-BC45-1CC8BF615515}" presName="DropPinPlaceHolder" presStyleCnt="0"/>
      <dgm:spPr/>
    </dgm:pt>
    <dgm:pt modelId="{ABD2B115-23CE-4267-98E4-9E2248792DD4}" type="pres">
      <dgm:prSet presAssocID="{123FEC6C-746B-4FCD-BC45-1CC8BF615515}" presName="DropPin" presStyleLbl="alignNode1" presStyleIdx="4" presStyleCnt="6"/>
      <dgm:spPr/>
    </dgm:pt>
    <dgm:pt modelId="{E57228FA-00B8-4205-8760-288B612400BA}" type="pres">
      <dgm:prSet presAssocID="{123FEC6C-746B-4FCD-BC45-1CC8BF615515}" presName="Ellipse" presStyleLbl="fgAcc1" presStyleIdx="4" presStyleCnt="6"/>
      <dgm:spPr/>
    </dgm:pt>
    <dgm:pt modelId="{B6B3EF20-751C-4E13-8E5E-BBD14367DE58}" type="pres">
      <dgm:prSet presAssocID="{123FEC6C-746B-4FCD-BC45-1CC8BF615515}" presName="L2TextContainer" presStyleLbl="revTx" presStyleIdx="8" presStyleCnt="12">
        <dgm:presLayoutVars>
          <dgm:bulletEnabled val="1"/>
        </dgm:presLayoutVars>
      </dgm:prSet>
      <dgm:spPr/>
    </dgm:pt>
    <dgm:pt modelId="{B80338E4-08E5-46FA-9778-2F392E77DD7C}" type="pres">
      <dgm:prSet presAssocID="{123FEC6C-746B-4FCD-BC45-1CC8BF615515}" presName="L1TextContainer" presStyleLbl="revTx" presStyleIdx="9" presStyleCnt="12">
        <dgm:presLayoutVars>
          <dgm:chMax val="1"/>
          <dgm:chPref val="1"/>
          <dgm:bulletEnabled val="1"/>
        </dgm:presLayoutVars>
      </dgm:prSet>
      <dgm:spPr/>
    </dgm:pt>
    <dgm:pt modelId="{2A44B911-AA29-4C20-9180-05BD50594E29}" type="pres">
      <dgm:prSet presAssocID="{123FEC6C-746B-4FCD-BC45-1CC8BF615515}" presName="ConnectLine" presStyleLbl="dkBgShp" presStyleIdx="6" presStyleCnt="8"/>
      <dgm:spPr>
        <a:solidFill>
          <a:srgbClr val="00EB5B"/>
        </a:solidFill>
        <a:effectLst>
          <a:outerShdw blurRad="50800" dist="38100" dir="5400000" algn="t" rotWithShape="0">
            <a:prstClr val="black">
              <a:alpha val="40000"/>
            </a:prstClr>
          </a:outerShdw>
        </a:effectLst>
      </dgm:spPr>
    </dgm:pt>
    <dgm:pt modelId="{50655637-5797-4A09-B3EE-55A60795BA6A}" type="pres">
      <dgm:prSet presAssocID="{123FEC6C-746B-4FCD-BC45-1CC8BF615515}" presName="ConnectorPoint" presStyleCnt="0"/>
      <dgm:spPr/>
    </dgm:pt>
    <dgm:pt modelId="{8A6A90FD-E280-43D1-BA55-E5435C421596}" type="pres">
      <dgm:prSet presAssocID="{123FEC6C-746B-4FCD-BC45-1CC8BF615515}" presName="Bullet" presStyleLbl="lnNode1" presStyleIdx="4" presStyleCnt="6"/>
      <dgm:spPr>
        <a:xfrm>
          <a:off x="8130229" y="2826292"/>
          <a:ext cx="239983" cy="239983"/>
        </a:xfrm>
        <a:prstGeom prst="ellipse">
          <a:avLst/>
        </a:prstGeom>
        <a:solidFill>
          <a:srgbClr val="747474"/>
        </a:solidFill>
        <a:ln w="9525" cap="flat">
          <a:solidFill>
            <a:schemeClr val="bg1"/>
          </a:solidFill>
          <a:prstDash val="solid"/>
          <a:miter/>
        </a:ln>
        <a:effectLst>
          <a:outerShdw blurRad="50800" dist="38100" dir="5400000" algn="t" rotWithShape="0">
            <a:prstClr val="black">
              <a:alpha val="40000"/>
            </a:prstClr>
          </a:outerShdw>
        </a:effectLst>
      </dgm:spPr>
    </dgm:pt>
    <dgm:pt modelId="{676A4EDF-4173-41E4-84FC-983CF7508F85}" type="pres">
      <dgm:prSet presAssocID="{123FEC6C-746B-4FCD-BC45-1CC8BF615515}" presName="EmptyPlaceHolder" presStyleCnt="0"/>
      <dgm:spPr/>
    </dgm:pt>
    <dgm:pt modelId="{471B7EC8-806F-4173-BE3C-0817BF0244EB}" type="pres">
      <dgm:prSet presAssocID="{2D615CAC-2A14-4B1E-AF72-9CBFB9B67B3C}" presName="spaceBetweenRectangles" presStyleCnt="0"/>
      <dgm:spPr/>
    </dgm:pt>
    <dgm:pt modelId="{BCF9CBA8-B79A-4FBE-97F6-D0E52BC8EFF9}" type="pres">
      <dgm:prSet presAssocID="{4B32EC5B-4B9A-41DB-A97C-319F758004C3}" presName="composite" presStyleCnt="0"/>
      <dgm:spPr/>
    </dgm:pt>
    <dgm:pt modelId="{01E959AD-F634-44ED-BBDF-67ED0379485A}" type="pres">
      <dgm:prSet presAssocID="{4B32EC5B-4B9A-41DB-A97C-319F758004C3}" presName="DropPinPlaceHolder" presStyleCnt="0"/>
      <dgm:spPr/>
    </dgm:pt>
    <dgm:pt modelId="{299A84EE-A36C-4D33-9A19-D701E357CD65}" type="pres">
      <dgm:prSet presAssocID="{4B32EC5B-4B9A-41DB-A97C-319F758004C3}" presName="DropPin" presStyleLbl="alignNode1" presStyleIdx="5" presStyleCnt="6"/>
      <dgm:spPr/>
    </dgm:pt>
    <dgm:pt modelId="{5FC50AF7-5117-4ABF-9D80-9DE6AB23590D}" type="pres">
      <dgm:prSet presAssocID="{4B32EC5B-4B9A-41DB-A97C-319F758004C3}" presName="Ellipse" presStyleLbl="fgAcc1" presStyleIdx="5" presStyleCnt="6"/>
      <dgm:spPr/>
    </dgm:pt>
    <dgm:pt modelId="{C65569AA-CA37-43AA-817D-EF4455E8D26F}" type="pres">
      <dgm:prSet presAssocID="{4B32EC5B-4B9A-41DB-A97C-319F758004C3}" presName="L2TextContainer" presStyleLbl="revTx" presStyleIdx="10" presStyleCnt="12">
        <dgm:presLayoutVars>
          <dgm:bulletEnabled val="1"/>
        </dgm:presLayoutVars>
      </dgm:prSet>
      <dgm:spPr/>
    </dgm:pt>
    <dgm:pt modelId="{79286546-2118-4D89-BB16-C6CB545028A2}" type="pres">
      <dgm:prSet presAssocID="{4B32EC5B-4B9A-41DB-A97C-319F758004C3}" presName="L1TextContainer" presStyleLbl="revTx" presStyleIdx="11" presStyleCnt="12">
        <dgm:presLayoutVars>
          <dgm:chMax val="1"/>
          <dgm:chPref val="1"/>
          <dgm:bulletEnabled val="1"/>
        </dgm:presLayoutVars>
      </dgm:prSet>
      <dgm:spPr/>
    </dgm:pt>
    <dgm:pt modelId="{EEAAC970-B548-4C39-B278-FC637FAED3DB}" type="pres">
      <dgm:prSet presAssocID="{4B32EC5B-4B9A-41DB-A97C-319F758004C3}" presName="ConnectLine" presStyleLbl="dkBgShp" presStyleIdx="7" presStyleCnt="8"/>
      <dgm:spPr>
        <a:solidFill>
          <a:srgbClr val="00EB5B"/>
        </a:solidFill>
        <a:effectLst>
          <a:outerShdw blurRad="50800" dist="38100" dir="5400000" algn="t" rotWithShape="0">
            <a:prstClr val="black">
              <a:alpha val="40000"/>
            </a:prstClr>
          </a:outerShdw>
        </a:effectLst>
      </dgm:spPr>
    </dgm:pt>
    <dgm:pt modelId="{22693928-D39F-4580-9900-54353E6392A5}" type="pres">
      <dgm:prSet presAssocID="{4B32EC5B-4B9A-41DB-A97C-319F758004C3}" presName="ConnectorPoint" presStyleCnt="0"/>
      <dgm:spPr/>
    </dgm:pt>
    <dgm:pt modelId="{2410B3EB-79E3-40D8-9BC9-F81203ABDE9C}" type="pres">
      <dgm:prSet presAssocID="{4B32EC5B-4B9A-41DB-A97C-319F758004C3}" presName="Bullet" presStyleLbl="lnNode1" presStyleIdx="5" presStyleCnt="6"/>
      <dgm:spPr>
        <a:solidFill>
          <a:srgbClr val="00EB5B"/>
        </a:solidFill>
        <a:effectLst>
          <a:outerShdw blurRad="50800" dist="38100" dir="5400000" algn="t" rotWithShape="0">
            <a:prstClr val="black">
              <a:alpha val="40000"/>
            </a:prstClr>
          </a:outerShdw>
        </a:effectLst>
      </dgm:spPr>
    </dgm:pt>
    <dgm:pt modelId="{60180BC3-F643-417E-8DFA-838CD92F7D55}" type="pres">
      <dgm:prSet presAssocID="{4B32EC5B-4B9A-41DB-A97C-319F758004C3}" presName="EmptyPlaceHolder" presStyleCnt="0"/>
      <dgm:spPr/>
    </dgm:pt>
  </dgm:ptLst>
  <dgm:cxnLst>
    <dgm:cxn modelId="{0C7CB704-3C12-434C-94C3-9F841CE285B3}" type="presOf" srcId="{CF605603-C24C-4DDB-9067-47CD273551F6}" destId="{4150BF80-B8AF-4F9A-ABFA-2385390D8012}" srcOrd="0" destOrd="0" presId="urn:microsoft.com/office/officeart/2024/layout/BulletTimeline#1"/>
    <dgm:cxn modelId="{47F54C0A-2C20-4298-BE54-2D315BCAEFEE}" srcId="{123FEC6C-746B-4FCD-BC45-1CC8BF615515}" destId="{350C9BEC-210B-4E94-82BE-8FA57BC838EE}" srcOrd="0" destOrd="0" parTransId="{DBDCA499-9662-4CE0-AE91-7A13D6753487}" sibTransId="{57CDD898-2ADF-4FEF-A193-12891F99094F}"/>
    <dgm:cxn modelId="{11A9F917-A38E-4CA9-B55C-0F8AF81CAACE}" type="presOf" srcId="{98CD3221-8849-4043-851A-63A55ECA3C42}" destId="{C57EA996-72D9-4FEF-AE9D-1CDA33308B5C}" srcOrd="0" destOrd="0" presId="urn:microsoft.com/office/officeart/2024/layout/BulletTimeline#1"/>
    <dgm:cxn modelId="{41732621-0DDE-4DE5-AF9D-825159303139}" srcId="{4B32EC5B-4B9A-41DB-A97C-319F758004C3}" destId="{4DA91356-1F8E-4539-B24C-8EF7F8B2CF5B}" srcOrd="0" destOrd="0" parTransId="{9F47DB56-5FE3-419E-A397-9F6D03B80D5D}" sibTransId="{8C9E3663-DD33-4731-9233-A27F663EFA9C}"/>
    <dgm:cxn modelId="{A3AE2A24-F502-49CB-94A6-6DB3B9A217CF}" srcId="{98CD3221-8849-4043-851A-63A55ECA3C42}" destId="{CF605603-C24C-4DDB-9067-47CD273551F6}" srcOrd="2" destOrd="0" parTransId="{0FB28C56-55E4-4D5C-A49D-420A514BB064}" sibTransId="{E9E2DE77-93F3-440D-A377-0D9EEC162C59}"/>
    <dgm:cxn modelId="{5879AE2A-0C9A-4B58-832D-F2E25D9106BC}" srcId="{98CD3221-8849-4043-851A-63A55ECA3C42}" destId="{3D7D0BFB-055B-427C-8276-9CEDBDB4ACCB}" srcOrd="3" destOrd="0" parTransId="{21A4C939-1F3C-4FDC-8C31-E7DB17E0BEBF}" sibTransId="{F0CD0E68-6A5B-4A95-B4C8-1D684D30D464}"/>
    <dgm:cxn modelId="{77920432-46F6-4E13-8AF0-04B1FD46B9D2}" srcId="{98CD3221-8849-4043-851A-63A55ECA3C42}" destId="{4B32EC5B-4B9A-41DB-A97C-319F758004C3}" srcOrd="5" destOrd="0" parTransId="{FDAE8F7F-1D81-4698-85BB-9D0065C3DE90}" sibTransId="{BFEAEA56-0074-411E-86EB-1DBAE2148618}"/>
    <dgm:cxn modelId="{CAAA8973-D0FB-43F9-8BBB-BCCBED68E5BF}" type="presOf" srcId="{F471C1ED-63E9-46AA-B224-9329CB6F09B0}" destId="{94691635-B8FD-4B36-AC48-ABE43602DD1D}" srcOrd="0" destOrd="0" presId="urn:microsoft.com/office/officeart/2024/layout/BulletTimeline#1"/>
    <dgm:cxn modelId="{1F3B9F53-B57B-49E5-8036-EDDC06010FD2}" type="presOf" srcId="{1540D23C-EA08-4C65-A051-E977BA9D9CFF}" destId="{6F4AE6F3-BED9-4528-A95D-F31425E1D690}" srcOrd="0" destOrd="0" presId="urn:microsoft.com/office/officeart/2024/layout/BulletTimeline#1"/>
    <dgm:cxn modelId="{51288954-CF42-4DAD-B1BC-48CABAE011A8}" type="presOf" srcId="{B289A9E9-83F1-4891-8FD0-9A82EC7EA0D9}" destId="{EC2B466A-092B-491A-BF51-E4984D3618CE}" srcOrd="0" destOrd="0" presId="urn:microsoft.com/office/officeart/2024/layout/BulletTimeline#1"/>
    <dgm:cxn modelId="{D2C46579-1CF1-4245-AE6D-A3FC1D9EF0BC}" type="presOf" srcId="{4B6A4A92-3450-486D-9B5F-A781D0A66348}" destId="{182720B0-2D5E-4362-BC55-FA84B88F33E1}" srcOrd="0" destOrd="0" presId="urn:microsoft.com/office/officeart/2024/layout/BulletTimeline#1"/>
    <dgm:cxn modelId="{B685C982-E8FF-47C3-B1AA-F334F941B4EB}" srcId="{F471C1ED-63E9-46AA-B224-9329CB6F09B0}" destId="{1540D23C-EA08-4C65-A051-E977BA9D9CFF}" srcOrd="0" destOrd="0" parTransId="{54601BF9-82BA-4219-B8BF-0406D4C613B3}" sibTransId="{AB74A05B-AFED-42B1-9784-AAB17A1DFAF9}"/>
    <dgm:cxn modelId="{8813DC90-AF14-416E-91D4-A0EF9CC1078E}" srcId="{B289A9E9-83F1-4891-8FD0-9A82EC7EA0D9}" destId="{F94D80C4-CA47-425A-90C1-01C6262F6F2F}" srcOrd="0" destOrd="0" parTransId="{E68DE82B-ACA6-4B5C-9015-5378400F274D}" sibTransId="{3B5FA0D2-CF75-4E3D-9581-B29C6DBC60F1}"/>
    <dgm:cxn modelId="{81EA52A4-D1C3-4874-93E1-8C14E892FF7F}" srcId="{3D7D0BFB-055B-427C-8276-9CEDBDB4ACCB}" destId="{4B6A4A92-3450-486D-9B5F-A781D0A66348}" srcOrd="0" destOrd="0" parTransId="{E3B7D6C2-FA9A-4EA9-BF7D-EFA668F4B829}" sibTransId="{CD1084A1-47E7-4619-8F1E-B9BDFA8F8A28}"/>
    <dgm:cxn modelId="{155DDCAE-8E23-4C77-9A1E-6F53B3720D12}" type="presOf" srcId="{3D7D0BFB-055B-427C-8276-9CEDBDB4ACCB}" destId="{8AACB215-BB0B-445D-AB92-E5C0F8C9A6EE}" srcOrd="0" destOrd="0" presId="urn:microsoft.com/office/officeart/2024/layout/BulletTimeline#1"/>
    <dgm:cxn modelId="{24C0D1B0-2836-45AE-95A6-04608BF19D96}" type="presOf" srcId="{5CF792E4-72E4-4D3B-B326-126CBA18B10A}" destId="{067C0BB0-095E-46D5-9960-758C5C718D58}" srcOrd="0" destOrd="0" presId="urn:microsoft.com/office/officeart/2024/layout/BulletTimeline#1"/>
    <dgm:cxn modelId="{523120B9-AB30-4912-973E-6022659D32B2}" type="presOf" srcId="{350C9BEC-210B-4E94-82BE-8FA57BC838EE}" destId="{B6B3EF20-751C-4E13-8E5E-BBD14367DE58}" srcOrd="0" destOrd="0" presId="urn:microsoft.com/office/officeart/2024/layout/BulletTimeline#1"/>
    <dgm:cxn modelId="{22745BBE-72C8-4426-BC65-A42BFCDD749B}" type="presOf" srcId="{123FEC6C-746B-4FCD-BC45-1CC8BF615515}" destId="{B80338E4-08E5-46FA-9778-2F392E77DD7C}" srcOrd="0" destOrd="0" presId="urn:microsoft.com/office/officeart/2024/layout/BulletTimeline#1"/>
    <dgm:cxn modelId="{616458C7-588F-4D9E-9381-6CA7DDC25E0B}" type="presOf" srcId="{4B32EC5B-4B9A-41DB-A97C-319F758004C3}" destId="{79286546-2118-4D89-BB16-C6CB545028A2}" srcOrd="0" destOrd="0" presId="urn:microsoft.com/office/officeart/2024/layout/BulletTimeline#1"/>
    <dgm:cxn modelId="{15D377CC-EA52-490A-B3CF-EC87D1698120}" type="presOf" srcId="{4DA91356-1F8E-4539-B24C-8EF7F8B2CF5B}" destId="{C65569AA-CA37-43AA-817D-EF4455E8D26F}" srcOrd="0" destOrd="0" presId="urn:microsoft.com/office/officeart/2024/layout/BulletTimeline#1"/>
    <dgm:cxn modelId="{791487CC-798E-4741-BF70-8F39D6CF8CBD}" srcId="{CF605603-C24C-4DDB-9067-47CD273551F6}" destId="{5CF792E4-72E4-4D3B-B326-126CBA18B10A}" srcOrd="0" destOrd="0" parTransId="{165AB967-19BD-4531-94E4-CC5E67181BA8}" sibTransId="{92D3FD2C-9E07-4607-89A6-4271D97EE09E}"/>
    <dgm:cxn modelId="{C301BBCD-E296-4A3A-B152-0A90E5C57AFD}" srcId="{98CD3221-8849-4043-851A-63A55ECA3C42}" destId="{B289A9E9-83F1-4891-8FD0-9A82EC7EA0D9}" srcOrd="1" destOrd="0" parTransId="{4C0228FE-3BF1-44B9-B1B6-2A356EC4FD22}" sibTransId="{6EB22E1C-3102-432D-BD37-C725B96586BB}"/>
    <dgm:cxn modelId="{84DAECE0-586C-4CB4-96D5-5E567E391D0E}" srcId="{98CD3221-8849-4043-851A-63A55ECA3C42}" destId="{F471C1ED-63E9-46AA-B224-9329CB6F09B0}" srcOrd="0" destOrd="0" parTransId="{32C8DC3E-9A2B-4A46-804D-AA6E225F29E6}" sibTransId="{C24D3114-FCB0-43A3-9AFA-1C6923B02B6E}"/>
    <dgm:cxn modelId="{951AE9EA-9690-4805-AADD-6C425309950B}" type="presOf" srcId="{F94D80C4-CA47-425A-90C1-01C6262F6F2F}" destId="{9D334FEB-20C3-45F1-9A02-BD3863F10364}" srcOrd="0" destOrd="0" presId="urn:microsoft.com/office/officeart/2024/layout/BulletTimeline#1"/>
    <dgm:cxn modelId="{F9F9AEF5-C433-4C13-BE38-83DEB7EC5B1E}" srcId="{98CD3221-8849-4043-851A-63A55ECA3C42}" destId="{123FEC6C-746B-4FCD-BC45-1CC8BF615515}" srcOrd="4" destOrd="0" parTransId="{CD6C4C9B-2E61-4A14-B14C-BE72FDBF1C33}" sibTransId="{2D615CAC-2A14-4B1E-AF72-9CBFB9B67B3C}"/>
    <dgm:cxn modelId="{138C6A48-A7E4-4812-BD10-11DA6C477C04}" type="presParOf" srcId="{C57EA996-72D9-4FEF-AE9D-1CDA33308B5C}" destId="{75C3B746-F00C-4E8C-82F0-98C32862C858}" srcOrd="0" destOrd="0" presId="urn:microsoft.com/office/officeart/2024/layout/BulletTimeline#1"/>
    <dgm:cxn modelId="{18426661-22B5-4A48-B205-5912D1EF1DC0}" type="presParOf" srcId="{75C3B746-F00C-4E8C-82F0-98C32862C858}" destId="{0604BAB4-0BCC-49B1-858B-912C4587131C}" srcOrd="0" destOrd="0" presId="urn:microsoft.com/office/officeart/2024/layout/BulletTimeline#1"/>
    <dgm:cxn modelId="{BFF07410-7297-4D2A-A6CA-B13F7FCB7860}" type="presParOf" srcId="{75C3B746-F00C-4E8C-82F0-98C32862C858}" destId="{98499E1C-9371-4C8C-9F38-C594D5A3BEC4}" srcOrd="1" destOrd="0" presId="urn:microsoft.com/office/officeart/2024/layout/BulletTimeline#1"/>
    <dgm:cxn modelId="{6889156E-AA35-4F44-9F1A-12D188CBDEAD}" type="presParOf" srcId="{C57EA996-72D9-4FEF-AE9D-1CDA33308B5C}" destId="{10C9AC2D-342B-4C5A-A577-D7C4139B78BB}" srcOrd="1" destOrd="0" presId="urn:microsoft.com/office/officeart/2024/layout/BulletTimeline#1"/>
    <dgm:cxn modelId="{3DA63ACC-6B81-4B4D-97F6-BBCD7BCA7E2A}" type="presParOf" srcId="{10C9AC2D-342B-4C5A-A577-D7C4139B78BB}" destId="{EB856E78-C6A6-4C85-9B1F-042021C793D3}" srcOrd="0" destOrd="0" presId="urn:microsoft.com/office/officeart/2024/layout/BulletTimeline#1"/>
    <dgm:cxn modelId="{201D368A-143E-4ABF-BB30-2E4466B98306}" type="presParOf" srcId="{EB856E78-C6A6-4C85-9B1F-042021C793D3}" destId="{2AE928C6-D8D5-4AD3-8D34-CF9AD3B6F995}" srcOrd="0" destOrd="0" presId="urn:microsoft.com/office/officeart/2024/layout/BulletTimeline#1"/>
    <dgm:cxn modelId="{BFF63260-632B-4B66-A8E1-DA0A0EAABE69}" type="presParOf" srcId="{2AE928C6-D8D5-4AD3-8D34-CF9AD3B6F995}" destId="{E6CF2A15-642B-4461-A2BB-BE977F75A3AD}" srcOrd="0" destOrd="0" presId="urn:microsoft.com/office/officeart/2024/layout/BulletTimeline#1"/>
    <dgm:cxn modelId="{38D80873-D0C0-48FF-8219-099F4FA15F0F}" type="presParOf" srcId="{2AE928C6-D8D5-4AD3-8D34-CF9AD3B6F995}" destId="{24DC0CD5-E38B-4FD1-9A83-F49443C8966B}" srcOrd="1" destOrd="0" presId="urn:microsoft.com/office/officeart/2024/layout/BulletTimeline#1"/>
    <dgm:cxn modelId="{0EC6E835-28D6-47B9-8430-0FB7404FCCA4}" type="presParOf" srcId="{EB856E78-C6A6-4C85-9B1F-042021C793D3}" destId="{6F4AE6F3-BED9-4528-A95D-F31425E1D690}" srcOrd="1" destOrd="0" presId="urn:microsoft.com/office/officeart/2024/layout/BulletTimeline#1"/>
    <dgm:cxn modelId="{65E6127E-BCAF-46D1-892E-EB721A098570}" type="presParOf" srcId="{EB856E78-C6A6-4C85-9B1F-042021C793D3}" destId="{94691635-B8FD-4B36-AC48-ABE43602DD1D}" srcOrd="2" destOrd="0" presId="urn:microsoft.com/office/officeart/2024/layout/BulletTimeline#1"/>
    <dgm:cxn modelId="{DC1679BD-B1BA-4D8A-A02C-ADEF72EEC7D4}" type="presParOf" srcId="{EB856E78-C6A6-4C85-9B1F-042021C793D3}" destId="{5E4817C7-6B3A-44A6-90BC-A34B504A9F35}" srcOrd="3" destOrd="0" presId="urn:microsoft.com/office/officeart/2024/layout/BulletTimeline#1"/>
    <dgm:cxn modelId="{54865E58-29A8-4D44-A5E4-9FDEEE527956}" type="presParOf" srcId="{EB856E78-C6A6-4C85-9B1F-042021C793D3}" destId="{07507B05-B2DC-4CE5-B5A8-28998ECE4430}" srcOrd="4" destOrd="0" presId="urn:microsoft.com/office/officeart/2024/layout/BulletTimeline#1"/>
    <dgm:cxn modelId="{9A37E20F-1BB7-410F-94EB-58659A46D39D}" type="presParOf" srcId="{07507B05-B2DC-4CE5-B5A8-28998ECE4430}" destId="{D25D1F5B-B5FD-4EAE-A6FD-D24E55B796F1}" srcOrd="0" destOrd="0" presId="urn:microsoft.com/office/officeart/2024/layout/BulletTimeline#1"/>
    <dgm:cxn modelId="{FD819912-9285-440E-9BCF-B571201CFD9F}" type="presParOf" srcId="{EB856E78-C6A6-4C85-9B1F-042021C793D3}" destId="{4381575F-6BAE-42F1-8FAD-01794DF3E5F1}" srcOrd="5" destOrd="0" presId="urn:microsoft.com/office/officeart/2024/layout/BulletTimeline#1"/>
    <dgm:cxn modelId="{7C27B035-90FA-42AE-8B19-5C3CDA3DEDDC}" type="presParOf" srcId="{10C9AC2D-342B-4C5A-A577-D7C4139B78BB}" destId="{21C0960A-9377-4CED-B704-6F49C908C303}" srcOrd="1" destOrd="0" presId="urn:microsoft.com/office/officeart/2024/layout/BulletTimeline#1"/>
    <dgm:cxn modelId="{84DDC4AD-5A3C-4EC3-A00E-C5717AC152E9}" type="presParOf" srcId="{10C9AC2D-342B-4C5A-A577-D7C4139B78BB}" destId="{E8DEAA28-E739-4F9F-908B-C3CEDE5DF640}" srcOrd="2" destOrd="0" presId="urn:microsoft.com/office/officeart/2024/layout/BulletTimeline#1"/>
    <dgm:cxn modelId="{986A8C10-D3BF-4B37-8339-3E20DEE426C2}" type="presParOf" srcId="{E8DEAA28-E739-4F9F-908B-C3CEDE5DF640}" destId="{D9EBF083-8E89-4D6B-998B-E06DB3748AAF}" srcOrd="0" destOrd="0" presId="urn:microsoft.com/office/officeart/2024/layout/BulletTimeline#1"/>
    <dgm:cxn modelId="{BBA98832-26B3-4503-A2DC-9F970988941E}" type="presParOf" srcId="{D9EBF083-8E89-4D6B-998B-E06DB3748AAF}" destId="{B6E0A382-DAAA-4155-BCFC-30FA6645C373}" srcOrd="0" destOrd="0" presId="urn:microsoft.com/office/officeart/2024/layout/BulletTimeline#1"/>
    <dgm:cxn modelId="{4BD44B6A-81D5-4153-8339-EB214583B45A}" type="presParOf" srcId="{D9EBF083-8E89-4D6B-998B-E06DB3748AAF}" destId="{8F9FC51A-1090-4BC4-9856-DEAAB51A0D20}" srcOrd="1" destOrd="0" presId="urn:microsoft.com/office/officeart/2024/layout/BulletTimeline#1"/>
    <dgm:cxn modelId="{D2FEAB36-D449-4EAC-BBE4-08E67FB161E2}" type="presParOf" srcId="{E8DEAA28-E739-4F9F-908B-C3CEDE5DF640}" destId="{9D334FEB-20C3-45F1-9A02-BD3863F10364}" srcOrd="1" destOrd="0" presId="urn:microsoft.com/office/officeart/2024/layout/BulletTimeline#1"/>
    <dgm:cxn modelId="{12A77BDD-7A6B-48B0-B714-BA1A302D29D9}" type="presParOf" srcId="{E8DEAA28-E739-4F9F-908B-C3CEDE5DF640}" destId="{EC2B466A-092B-491A-BF51-E4984D3618CE}" srcOrd="2" destOrd="0" presId="urn:microsoft.com/office/officeart/2024/layout/BulletTimeline#1"/>
    <dgm:cxn modelId="{3C853396-1931-40CD-89F8-10A2B1DBADE7}" type="presParOf" srcId="{E8DEAA28-E739-4F9F-908B-C3CEDE5DF640}" destId="{7653544D-2C26-4DC0-963A-571B18D8E4AB}" srcOrd="3" destOrd="0" presId="urn:microsoft.com/office/officeart/2024/layout/BulletTimeline#1"/>
    <dgm:cxn modelId="{792C2A19-DDBE-4A73-BAB8-5AE8085B45AB}" type="presParOf" srcId="{E8DEAA28-E739-4F9F-908B-C3CEDE5DF640}" destId="{3A6EE836-CB4C-4606-9DDC-293A2C444216}" srcOrd="4" destOrd="0" presId="urn:microsoft.com/office/officeart/2024/layout/BulletTimeline#1"/>
    <dgm:cxn modelId="{BCE4D89A-32E9-4CEC-8B95-61643AE2C47B}" type="presParOf" srcId="{3A6EE836-CB4C-4606-9DDC-293A2C444216}" destId="{FD3EF933-6F09-4084-875A-0830223688AC}" srcOrd="0" destOrd="0" presId="urn:microsoft.com/office/officeart/2024/layout/BulletTimeline#1"/>
    <dgm:cxn modelId="{2D4457B6-C02E-4078-9EB0-07BB35BB90EE}" type="presParOf" srcId="{E8DEAA28-E739-4F9F-908B-C3CEDE5DF640}" destId="{22349CD0-4577-4B17-B01F-9CA47E86D560}" srcOrd="5" destOrd="0" presId="urn:microsoft.com/office/officeart/2024/layout/BulletTimeline#1"/>
    <dgm:cxn modelId="{3079DFE6-8B1A-40D1-8E17-0B0644ADBD39}" type="presParOf" srcId="{10C9AC2D-342B-4C5A-A577-D7C4139B78BB}" destId="{740816BC-9EC7-4370-B59F-E39ECD4F4D18}" srcOrd="3" destOrd="0" presId="urn:microsoft.com/office/officeart/2024/layout/BulletTimeline#1"/>
    <dgm:cxn modelId="{C7EAA991-1881-4798-ADC0-D3DD8D3F33DB}" type="presParOf" srcId="{10C9AC2D-342B-4C5A-A577-D7C4139B78BB}" destId="{BAB9BD65-F319-4DD9-8D41-D160ABD4AED1}" srcOrd="4" destOrd="0" presId="urn:microsoft.com/office/officeart/2024/layout/BulletTimeline#1"/>
    <dgm:cxn modelId="{A00F570D-81E8-45E5-B7B4-A8AD89D6770F}" type="presParOf" srcId="{BAB9BD65-F319-4DD9-8D41-D160ABD4AED1}" destId="{DE8B346E-1730-4E93-9F38-74067D4C2DC5}" srcOrd="0" destOrd="0" presId="urn:microsoft.com/office/officeart/2024/layout/BulletTimeline#1"/>
    <dgm:cxn modelId="{73862665-F792-4FE5-8D1B-65A1A2D3EC31}" type="presParOf" srcId="{DE8B346E-1730-4E93-9F38-74067D4C2DC5}" destId="{4C03B16B-A4A8-462B-8F6E-5C97F8D6AEC4}" srcOrd="0" destOrd="0" presId="urn:microsoft.com/office/officeart/2024/layout/BulletTimeline#1"/>
    <dgm:cxn modelId="{DAB3385C-7920-4BC2-B759-6C7B4C869A24}" type="presParOf" srcId="{DE8B346E-1730-4E93-9F38-74067D4C2DC5}" destId="{383C318F-0A0C-474C-BB66-AFFEB44401F7}" srcOrd="1" destOrd="0" presId="urn:microsoft.com/office/officeart/2024/layout/BulletTimeline#1"/>
    <dgm:cxn modelId="{EA7F127F-38E9-460B-9DA9-821AD378B176}" type="presParOf" srcId="{BAB9BD65-F319-4DD9-8D41-D160ABD4AED1}" destId="{067C0BB0-095E-46D5-9960-758C5C718D58}" srcOrd="1" destOrd="0" presId="urn:microsoft.com/office/officeart/2024/layout/BulletTimeline#1"/>
    <dgm:cxn modelId="{35693328-71A0-4027-9614-256918501C83}" type="presParOf" srcId="{BAB9BD65-F319-4DD9-8D41-D160ABD4AED1}" destId="{4150BF80-B8AF-4F9A-ABFA-2385390D8012}" srcOrd="2" destOrd="0" presId="urn:microsoft.com/office/officeart/2024/layout/BulletTimeline#1"/>
    <dgm:cxn modelId="{11D9E048-CDCA-4604-B480-408220D61113}" type="presParOf" srcId="{BAB9BD65-F319-4DD9-8D41-D160ABD4AED1}" destId="{5A80A86A-5EE6-486A-934B-4C25B6C727BE}" srcOrd="3" destOrd="0" presId="urn:microsoft.com/office/officeart/2024/layout/BulletTimeline#1"/>
    <dgm:cxn modelId="{BF8DCD61-0A0B-46A3-8B2A-1C512C3AD5A1}" type="presParOf" srcId="{BAB9BD65-F319-4DD9-8D41-D160ABD4AED1}" destId="{8343E90A-944E-42FF-BA22-63D28FC902B8}" srcOrd="4" destOrd="0" presId="urn:microsoft.com/office/officeart/2024/layout/BulletTimeline#1"/>
    <dgm:cxn modelId="{E1731673-EA06-41F7-BB99-1805B881A1F7}" type="presParOf" srcId="{8343E90A-944E-42FF-BA22-63D28FC902B8}" destId="{703FA083-3954-4C68-8678-AE60F93CD6A6}" srcOrd="0" destOrd="0" presId="urn:microsoft.com/office/officeart/2024/layout/BulletTimeline#1"/>
    <dgm:cxn modelId="{50DDDDD3-0066-4B4B-8435-4BFE62577C4B}" type="presParOf" srcId="{BAB9BD65-F319-4DD9-8D41-D160ABD4AED1}" destId="{016CDF93-4C3B-450F-B65B-99140ED7DF1F}" srcOrd="5" destOrd="0" presId="urn:microsoft.com/office/officeart/2024/layout/BulletTimeline#1"/>
    <dgm:cxn modelId="{4C5B104D-2282-42CC-A43C-11E0AAE1E52F}" type="presParOf" srcId="{10C9AC2D-342B-4C5A-A577-D7C4139B78BB}" destId="{DD64F4D4-6679-4C2B-B2AD-62BC5D9FD5B1}" srcOrd="5" destOrd="0" presId="urn:microsoft.com/office/officeart/2024/layout/BulletTimeline#1"/>
    <dgm:cxn modelId="{E0E520DC-B365-441E-8F19-463C1108F630}" type="presParOf" srcId="{10C9AC2D-342B-4C5A-A577-D7C4139B78BB}" destId="{FC327C3F-009D-44F2-9408-281044F1170C}" srcOrd="6" destOrd="0" presId="urn:microsoft.com/office/officeart/2024/layout/BulletTimeline#1"/>
    <dgm:cxn modelId="{52F5029D-7011-4F05-8C80-192A7038E0E7}" type="presParOf" srcId="{FC327C3F-009D-44F2-9408-281044F1170C}" destId="{49A4B3DD-D780-4DBD-BF35-AF24F61E9FB4}" srcOrd="0" destOrd="0" presId="urn:microsoft.com/office/officeart/2024/layout/BulletTimeline#1"/>
    <dgm:cxn modelId="{920C90E8-6860-4071-AEC9-E75F94C73499}" type="presParOf" srcId="{49A4B3DD-D780-4DBD-BF35-AF24F61E9FB4}" destId="{1F8C0DB9-19CB-415D-BC82-627D20C44862}" srcOrd="0" destOrd="0" presId="urn:microsoft.com/office/officeart/2024/layout/BulletTimeline#1"/>
    <dgm:cxn modelId="{51856A19-2E80-43AF-ADDA-AD2F5504F62F}" type="presParOf" srcId="{49A4B3DD-D780-4DBD-BF35-AF24F61E9FB4}" destId="{84CF4E86-6D8F-425C-8C3E-42DA57EC4055}" srcOrd="1" destOrd="0" presId="urn:microsoft.com/office/officeart/2024/layout/BulletTimeline#1"/>
    <dgm:cxn modelId="{F1C2087D-54CB-4701-A995-35BA2929A72D}" type="presParOf" srcId="{FC327C3F-009D-44F2-9408-281044F1170C}" destId="{182720B0-2D5E-4362-BC55-FA84B88F33E1}" srcOrd="1" destOrd="0" presId="urn:microsoft.com/office/officeart/2024/layout/BulletTimeline#1"/>
    <dgm:cxn modelId="{5456DF12-322A-46C8-B3F8-D1657BDA13C8}" type="presParOf" srcId="{FC327C3F-009D-44F2-9408-281044F1170C}" destId="{8AACB215-BB0B-445D-AB92-E5C0F8C9A6EE}" srcOrd="2" destOrd="0" presId="urn:microsoft.com/office/officeart/2024/layout/BulletTimeline#1"/>
    <dgm:cxn modelId="{2649F2E9-395D-4476-A048-690BF7D1A643}" type="presParOf" srcId="{FC327C3F-009D-44F2-9408-281044F1170C}" destId="{FC67AE95-2CC9-44AA-B09F-0388715E0683}" srcOrd="3" destOrd="0" presId="urn:microsoft.com/office/officeart/2024/layout/BulletTimeline#1"/>
    <dgm:cxn modelId="{76AD1C1D-AABF-4B72-9CD1-0464CC18B07D}" type="presParOf" srcId="{FC327C3F-009D-44F2-9408-281044F1170C}" destId="{0A52F4AB-03EC-4DF0-B497-9267E80712B0}" srcOrd="4" destOrd="0" presId="urn:microsoft.com/office/officeart/2024/layout/BulletTimeline#1"/>
    <dgm:cxn modelId="{8AFE27C3-BFAE-49B3-8E9E-6D7A663B4AD1}" type="presParOf" srcId="{0A52F4AB-03EC-4DF0-B497-9267E80712B0}" destId="{764F49C7-8190-429A-8D12-9D20EE75D95E}" srcOrd="0" destOrd="0" presId="urn:microsoft.com/office/officeart/2024/layout/BulletTimeline#1"/>
    <dgm:cxn modelId="{205E2189-7D0A-4726-AB60-70670801AFD3}" type="presParOf" srcId="{FC327C3F-009D-44F2-9408-281044F1170C}" destId="{22ED8CAB-F91F-4C80-B0E5-31D6FBC88BFD}" srcOrd="5" destOrd="0" presId="urn:microsoft.com/office/officeart/2024/layout/BulletTimeline#1"/>
    <dgm:cxn modelId="{290E7BA1-E4E1-41E0-A42A-482A19D294B2}" type="presParOf" srcId="{10C9AC2D-342B-4C5A-A577-D7C4139B78BB}" destId="{76775AF3-5EC0-44C9-96AD-CA3664A24289}" srcOrd="7" destOrd="0" presId="urn:microsoft.com/office/officeart/2024/layout/BulletTimeline#1"/>
    <dgm:cxn modelId="{6C5DE7DF-08C0-46AD-A142-EE723FA6DA7A}" type="presParOf" srcId="{10C9AC2D-342B-4C5A-A577-D7C4139B78BB}" destId="{8ADCA4E6-C8EF-4EA5-980A-F264820BD6C1}" srcOrd="8" destOrd="0" presId="urn:microsoft.com/office/officeart/2024/layout/BulletTimeline#1"/>
    <dgm:cxn modelId="{D46915D4-B800-445C-898D-1E01A8C4F138}" type="presParOf" srcId="{8ADCA4E6-C8EF-4EA5-980A-F264820BD6C1}" destId="{5199513B-744E-4EEB-9A19-AB651A90BC1D}" srcOrd="0" destOrd="0" presId="urn:microsoft.com/office/officeart/2024/layout/BulletTimeline#1"/>
    <dgm:cxn modelId="{AEBD7CB6-F525-4DAC-8D8B-FDE577F7BE13}" type="presParOf" srcId="{5199513B-744E-4EEB-9A19-AB651A90BC1D}" destId="{ABD2B115-23CE-4267-98E4-9E2248792DD4}" srcOrd="0" destOrd="0" presId="urn:microsoft.com/office/officeart/2024/layout/BulletTimeline#1"/>
    <dgm:cxn modelId="{4808CEFC-276C-4E72-B5F6-9D41263B0A9A}" type="presParOf" srcId="{5199513B-744E-4EEB-9A19-AB651A90BC1D}" destId="{E57228FA-00B8-4205-8760-288B612400BA}" srcOrd="1" destOrd="0" presId="urn:microsoft.com/office/officeart/2024/layout/BulletTimeline#1"/>
    <dgm:cxn modelId="{29888E92-D632-475F-B94F-CBFF49FD0BD0}" type="presParOf" srcId="{8ADCA4E6-C8EF-4EA5-980A-F264820BD6C1}" destId="{B6B3EF20-751C-4E13-8E5E-BBD14367DE58}" srcOrd="1" destOrd="0" presId="urn:microsoft.com/office/officeart/2024/layout/BulletTimeline#1"/>
    <dgm:cxn modelId="{51D784F1-B638-4904-81A8-10B3D19616E2}" type="presParOf" srcId="{8ADCA4E6-C8EF-4EA5-980A-F264820BD6C1}" destId="{B80338E4-08E5-46FA-9778-2F392E77DD7C}" srcOrd="2" destOrd="0" presId="urn:microsoft.com/office/officeart/2024/layout/BulletTimeline#1"/>
    <dgm:cxn modelId="{5BE36264-F26E-4E43-A8EB-C86F75F38DA5}" type="presParOf" srcId="{8ADCA4E6-C8EF-4EA5-980A-F264820BD6C1}" destId="{2A44B911-AA29-4C20-9180-05BD50594E29}" srcOrd="3" destOrd="0" presId="urn:microsoft.com/office/officeart/2024/layout/BulletTimeline#1"/>
    <dgm:cxn modelId="{DBF9C0AE-FDF5-4522-94D7-892F8203D635}" type="presParOf" srcId="{8ADCA4E6-C8EF-4EA5-980A-F264820BD6C1}" destId="{50655637-5797-4A09-B3EE-55A60795BA6A}" srcOrd="4" destOrd="0" presId="urn:microsoft.com/office/officeart/2024/layout/BulletTimeline#1"/>
    <dgm:cxn modelId="{AC3F1FFB-BC84-4996-81BB-C647CD3D6571}" type="presParOf" srcId="{50655637-5797-4A09-B3EE-55A60795BA6A}" destId="{8A6A90FD-E280-43D1-BA55-E5435C421596}" srcOrd="0" destOrd="0" presId="urn:microsoft.com/office/officeart/2024/layout/BulletTimeline#1"/>
    <dgm:cxn modelId="{5E3C2E74-2468-4151-92B3-921F5622E148}" type="presParOf" srcId="{8ADCA4E6-C8EF-4EA5-980A-F264820BD6C1}" destId="{676A4EDF-4173-41E4-84FC-983CF7508F85}" srcOrd="5" destOrd="0" presId="urn:microsoft.com/office/officeart/2024/layout/BulletTimeline#1"/>
    <dgm:cxn modelId="{0D1B3D19-C031-4F7D-A1D2-123246116FF9}" type="presParOf" srcId="{10C9AC2D-342B-4C5A-A577-D7C4139B78BB}" destId="{471B7EC8-806F-4173-BE3C-0817BF0244EB}" srcOrd="9" destOrd="0" presId="urn:microsoft.com/office/officeart/2024/layout/BulletTimeline#1"/>
    <dgm:cxn modelId="{2F4CF1D0-5333-46E0-8D26-B86B9A00AB4A}" type="presParOf" srcId="{10C9AC2D-342B-4C5A-A577-D7C4139B78BB}" destId="{BCF9CBA8-B79A-4FBE-97F6-D0E52BC8EFF9}" srcOrd="10" destOrd="0" presId="urn:microsoft.com/office/officeart/2024/layout/BulletTimeline#1"/>
    <dgm:cxn modelId="{734E081E-7A2A-4C9C-904F-F032D2B25339}" type="presParOf" srcId="{BCF9CBA8-B79A-4FBE-97F6-D0E52BC8EFF9}" destId="{01E959AD-F634-44ED-BBDF-67ED0379485A}" srcOrd="0" destOrd="0" presId="urn:microsoft.com/office/officeart/2024/layout/BulletTimeline#1"/>
    <dgm:cxn modelId="{69671345-9278-4736-BC8D-95AD38B556D0}" type="presParOf" srcId="{01E959AD-F634-44ED-BBDF-67ED0379485A}" destId="{299A84EE-A36C-4D33-9A19-D701E357CD65}" srcOrd="0" destOrd="0" presId="urn:microsoft.com/office/officeart/2024/layout/BulletTimeline#1"/>
    <dgm:cxn modelId="{9A446722-15AB-4D68-9AB7-BBA1C637E666}" type="presParOf" srcId="{01E959AD-F634-44ED-BBDF-67ED0379485A}" destId="{5FC50AF7-5117-4ABF-9D80-9DE6AB23590D}" srcOrd="1" destOrd="0" presId="urn:microsoft.com/office/officeart/2024/layout/BulletTimeline#1"/>
    <dgm:cxn modelId="{71DF58C6-2741-4DD1-8510-57CA0C043AA2}" type="presParOf" srcId="{BCF9CBA8-B79A-4FBE-97F6-D0E52BC8EFF9}" destId="{C65569AA-CA37-43AA-817D-EF4455E8D26F}" srcOrd="1" destOrd="0" presId="urn:microsoft.com/office/officeart/2024/layout/BulletTimeline#1"/>
    <dgm:cxn modelId="{D40D2D5A-8ACE-40DF-920B-ABA2717B4554}" type="presParOf" srcId="{BCF9CBA8-B79A-4FBE-97F6-D0E52BC8EFF9}" destId="{79286546-2118-4D89-BB16-C6CB545028A2}" srcOrd="2" destOrd="0" presId="urn:microsoft.com/office/officeart/2024/layout/BulletTimeline#1"/>
    <dgm:cxn modelId="{9CBA18E5-0D92-4285-AAD7-A0D8DBE9F179}" type="presParOf" srcId="{BCF9CBA8-B79A-4FBE-97F6-D0E52BC8EFF9}" destId="{EEAAC970-B548-4C39-B278-FC637FAED3DB}" srcOrd="3" destOrd="0" presId="urn:microsoft.com/office/officeart/2024/layout/BulletTimeline#1"/>
    <dgm:cxn modelId="{69320278-9DA0-4BB3-A164-E833B63391C8}" type="presParOf" srcId="{BCF9CBA8-B79A-4FBE-97F6-D0E52BC8EFF9}" destId="{22693928-D39F-4580-9900-54353E6392A5}" srcOrd="4" destOrd="0" presId="urn:microsoft.com/office/officeart/2024/layout/BulletTimeline#1"/>
    <dgm:cxn modelId="{EDDB7A36-E9BD-41BD-87AE-5C32BE3CF7C5}" type="presParOf" srcId="{22693928-D39F-4580-9900-54353E6392A5}" destId="{2410B3EB-79E3-40D8-9BC9-F81203ABDE9C}" srcOrd="0" destOrd="0" presId="urn:microsoft.com/office/officeart/2024/layout/BulletTimeline#1"/>
    <dgm:cxn modelId="{6C98BAFC-2957-41EC-8876-264FC4EE2B6E}" type="presParOf" srcId="{BCF9CBA8-B79A-4FBE-97F6-D0E52BC8EFF9}" destId="{60180BC3-F643-417E-8DFA-838CD92F7D55}" srcOrd="5" destOrd="0" presId="urn:microsoft.com/office/officeart/2024/layout/BulletTimeline#1"/>
  </dgm:cxnLst>
  <dgm:bg>
    <a:effectLst>
      <a:outerShdw blurRad="50800" dist="38100" dir="5400000" algn="t" rotWithShape="0">
        <a:prstClr val="black">
          <a:alpha val="40000"/>
        </a:prstClr>
      </a:outerShdw>
    </a:effect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91FDB7-D318-4B4E-94AF-9A08CFEFABA7}" type="doc">
      <dgm:prSet loTypeId="urn:microsoft.com/office/officeart/2005/8/layout/process1" loCatId="process" qsTypeId="urn:microsoft.com/office/officeart/2005/8/quickstyle/simple3#1" qsCatId="simple" csTypeId="urn:microsoft.com/office/officeart/2005/8/colors/colorful5#1" csCatId="colorful" phldr="1"/>
      <dgm:spPr/>
      <dgm:t>
        <a:bodyPr/>
        <a:lstStyle/>
        <a:p>
          <a:endParaRPr lang="en-US"/>
        </a:p>
      </dgm:t>
    </dgm:pt>
    <dgm:pt modelId="{7BF5F152-45C1-4990-8970-5889B91D1E35}">
      <dgm:prSet phldrT="[Text]" custT="1"/>
      <dgm:spPr/>
      <dgm:t>
        <a:bodyPr/>
        <a:lstStyle/>
        <a:p>
          <a:pPr>
            <a:buNone/>
          </a:pPr>
          <a:r>
            <a:rPr lang="en-US" sz="2800" b="0" i="0" dirty="0">
              <a:latin typeface="Poppins" panose="00000500000000000000" pitchFamily="2" charset="0"/>
              <a:cs typeface="Poppins" panose="00000500000000000000" pitchFamily="2" charset="0"/>
            </a:rPr>
            <a:t>Assign the ticket to yourself by clicking</a:t>
          </a:r>
        </a:p>
        <a:p>
          <a:pPr>
            <a:buNone/>
          </a:pPr>
          <a:r>
            <a:rPr lang="en-US" sz="2800" b="0" i="1" dirty="0">
              <a:latin typeface="Poppins" panose="00000500000000000000" pitchFamily="2" charset="0"/>
              <a:cs typeface="Poppins" panose="00000500000000000000" pitchFamily="2" charset="0"/>
            </a:rPr>
            <a:t>"</a:t>
          </a:r>
          <a:r>
            <a:rPr lang="en-US" sz="2800" b="1" i="1" dirty="0">
              <a:latin typeface="Poppins" panose="00000500000000000000" pitchFamily="2" charset="0"/>
              <a:cs typeface="Poppins" panose="00000500000000000000" pitchFamily="2" charset="0"/>
            </a:rPr>
            <a:t>take</a:t>
          </a:r>
          <a:r>
            <a:rPr lang="en-US" sz="2800" b="0" i="1" dirty="0">
              <a:latin typeface="Poppins" panose="00000500000000000000" pitchFamily="2" charset="0"/>
              <a:cs typeface="Poppins" panose="00000500000000000000" pitchFamily="2" charset="0"/>
            </a:rPr>
            <a:t> </a:t>
          </a:r>
          <a:r>
            <a:rPr lang="en-US" sz="2800" b="1" i="1" dirty="0">
              <a:latin typeface="Poppins" panose="00000500000000000000" pitchFamily="2" charset="0"/>
              <a:cs typeface="Poppins" panose="00000500000000000000" pitchFamily="2" charset="0"/>
            </a:rPr>
            <a:t>it</a:t>
          </a:r>
          <a:r>
            <a:rPr lang="en-US" sz="2800" b="0" i="1" dirty="0">
              <a:latin typeface="Poppins" panose="00000500000000000000" pitchFamily="2" charset="0"/>
              <a:cs typeface="Poppins" panose="00000500000000000000" pitchFamily="2" charset="0"/>
            </a:rPr>
            <a:t>"</a:t>
          </a:r>
          <a:r>
            <a:rPr lang="en-US" sz="2800" b="0" i="0" dirty="0">
              <a:latin typeface="Poppins" panose="00000500000000000000" pitchFamily="2" charset="0"/>
              <a:cs typeface="Poppins" panose="00000500000000000000" pitchFamily="2" charset="0"/>
            </a:rPr>
            <a:t>.</a:t>
          </a:r>
          <a:endParaRPr lang="en-US" sz="2800" dirty="0">
            <a:latin typeface="Poppins" panose="00000500000000000000" pitchFamily="2" charset="0"/>
            <a:cs typeface="Poppins" panose="00000500000000000000" pitchFamily="2" charset="0"/>
          </a:endParaRPr>
        </a:p>
      </dgm:t>
    </dgm:pt>
    <dgm:pt modelId="{7D931469-980B-479D-A37E-B926365D6CFA}" type="parTrans" cxnId="{42098011-2015-4E41-A481-EFE305CC51D9}">
      <dgm:prSet/>
      <dgm:spPr/>
      <dgm:t>
        <a:bodyPr/>
        <a:lstStyle/>
        <a:p>
          <a:endParaRPr lang="en-US" sz="2800">
            <a:latin typeface="Poppins" panose="00000500000000000000" pitchFamily="2" charset="0"/>
            <a:cs typeface="Poppins" panose="00000500000000000000" pitchFamily="2" charset="0"/>
          </a:endParaRPr>
        </a:p>
      </dgm:t>
    </dgm:pt>
    <dgm:pt modelId="{D4C9A59E-B9CE-473F-8BE9-80D9EF93EF24}" type="sibTrans" cxnId="{42098011-2015-4E41-A481-EFE305CC51D9}">
      <dgm:prSet custT="1"/>
      <dgm:spPr/>
      <dgm:t>
        <a:bodyPr/>
        <a:lstStyle/>
        <a:p>
          <a:endParaRPr lang="en-US" sz="2800">
            <a:latin typeface="Poppins" panose="00000500000000000000" pitchFamily="2" charset="0"/>
            <a:cs typeface="Poppins" panose="00000500000000000000" pitchFamily="2" charset="0"/>
          </a:endParaRPr>
        </a:p>
      </dgm:t>
    </dgm:pt>
    <dgm:pt modelId="{7FE36725-0302-4DAF-8E1D-28C793C3278A}">
      <dgm:prSet phldrT="[Text]" custT="1"/>
      <dgm:spPr/>
      <dgm:t>
        <a:bodyPr spcFirstLastPara="0" vert="horz" wrap="square" lIns="106680" tIns="106680" rIns="106680" bIns="106680" numCol="1" spcCol="1270" anchor="ctr" anchorCtr="0"/>
        <a:lstStyle/>
        <a:p>
          <a:pPr marL="0" lvl="0" algn="ctr" defTabSz="1244600">
            <a:lnSpc>
              <a:spcPct val="90000"/>
            </a:lnSpc>
            <a:spcBef>
              <a:spcPct val="0"/>
            </a:spcBef>
            <a:spcAft>
              <a:spcPct val="35000"/>
            </a:spcAft>
            <a:buNone/>
          </a:pPr>
          <a:r>
            <a:rPr lang="en-US" sz="2800" b="0" i="0" kern="1200">
              <a:latin typeface="Poppins" panose="00000500000000000000" pitchFamily="2" charset="0"/>
              <a:ea typeface="+mn-ea"/>
              <a:cs typeface="Poppins" panose="00000500000000000000" pitchFamily="2" charset="0"/>
            </a:rPr>
            <a:t>Ensure "Ticket" is selected as the Form.</a:t>
          </a:r>
          <a:endParaRPr lang="en-US" sz="2800" b="0" i="0" kern="1200" dirty="0">
            <a:latin typeface="Poppins" panose="00000500000000000000" pitchFamily="2" charset="0"/>
            <a:ea typeface="+mn-ea"/>
            <a:cs typeface="Poppins" panose="00000500000000000000" pitchFamily="2" charset="0"/>
          </a:endParaRPr>
        </a:p>
      </dgm:t>
    </dgm:pt>
    <dgm:pt modelId="{A6CDAEF0-BA41-4051-87AF-614B4BAFAB8B}" type="parTrans" cxnId="{F110DC2C-7727-448E-8BB0-1A046C4F3A8C}">
      <dgm:prSet/>
      <dgm:spPr/>
      <dgm:t>
        <a:bodyPr/>
        <a:lstStyle/>
        <a:p>
          <a:endParaRPr lang="en-US" sz="2800">
            <a:latin typeface="Poppins" panose="00000500000000000000" pitchFamily="2" charset="0"/>
            <a:cs typeface="Poppins" panose="00000500000000000000" pitchFamily="2" charset="0"/>
          </a:endParaRPr>
        </a:p>
      </dgm:t>
    </dgm:pt>
    <dgm:pt modelId="{972E0850-B007-4138-A7EE-D666E198093A}" type="sibTrans" cxnId="{F110DC2C-7727-448E-8BB0-1A046C4F3A8C}">
      <dgm:prSet custT="1"/>
      <dgm:spPr/>
      <dgm:t>
        <a:bodyPr spcFirstLastPara="0" vert="horz" wrap="square" lIns="0" tIns="0" rIns="0" bIns="0" numCol="1" spcCol="1270" anchor="ctr" anchorCtr="0"/>
        <a:lstStyle/>
        <a:p>
          <a:pPr marL="0" lvl="0" indent="0" algn="ctr" defTabSz="1244600">
            <a:lnSpc>
              <a:spcPct val="90000"/>
            </a:lnSpc>
            <a:spcBef>
              <a:spcPct val="0"/>
            </a:spcBef>
            <a:spcAft>
              <a:spcPct val="35000"/>
            </a:spcAft>
            <a:buNone/>
          </a:pPr>
          <a:endParaRPr lang="en-US" sz="2800" kern="1200">
            <a:solidFill>
              <a:prstClr val="white"/>
            </a:solidFill>
            <a:latin typeface="Poppins" panose="00000500000000000000" pitchFamily="2" charset="0"/>
            <a:ea typeface="+mn-ea"/>
            <a:cs typeface="Poppins" panose="00000500000000000000" pitchFamily="2" charset="0"/>
          </a:endParaRPr>
        </a:p>
      </dgm:t>
    </dgm:pt>
    <dgm:pt modelId="{231F6DD5-C74D-48D2-A12B-687BBB38CB2F}">
      <dgm:prSet phldrT="[Text]" custT="1"/>
      <dgm:spPr/>
      <dgm:t>
        <a:bodyPr spcFirstLastPara="0" vert="horz" wrap="square" lIns="106680" tIns="106680" rIns="106680" bIns="106680" numCol="1" spcCol="1270" anchor="ctr" anchorCtr="0"/>
        <a:lstStyle/>
        <a:p>
          <a:pPr marL="0" lvl="0" algn="ctr" defTabSz="1244600">
            <a:lnSpc>
              <a:spcPct val="90000"/>
            </a:lnSpc>
            <a:spcBef>
              <a:spcPct val="0"/>
            </a:spcBef>
            <a:spcAft>
              <a:spcPct val="35000"/>
            </a:spcAft>
            <a:buNone/>
          </a:pPr>
          <a:r>
            <a:rPr lang="en-US" sz="2800" b="0" i="0" kern="1200">
              <a:latin typeface="Poppins" panose="00000500000000000000" pitchFamily="2" charset="0"/>
              <a:ea typeface="+mn-ea"/>
              <a:cs typeface="Poppins" panose="00000500000000000000" pitchFamily="2" charset="0"/>
            </a:rPr>
            <a:t>Enter Location ID and Review IDs. </a:t>
          </a:r>
          <a:endParaRPr lang="en-US" sz="2800" b="0" i="0" kern="1200" dirty="0">
            <a:latin typeface="Poppins" panose="00000500000000000000" pitchFamily="2" charset="0"/>
            <a:ea typeface="+mn-ea"/>
            <a:cs typeface="Poppins" panose="00000500000000000000" pitchFamily="2" charset="0"/>
          </a:endParaRPr>
        </a:p>
      </dgm:t>
    </dgm:pt>
    <dgm:pt modelId="{E1EF5C57-2A1A-4DCA-8544-D577AB94DD0F}" type="parTrans" cxnId="{C94E1E5E-6CFD-4683-B778-FF79CB2A4362}">
      <dgm:prSet/>
      <dgm:spPr/>
      <dgm:t>
        <a:bodyPr/>
        <a:lstStyle/>
        <a:p>
          <a:endParaRPr lang="en-US" sz="2800">
            <a:latin typeface="Poppins" panose="00000500000000000000" pitchFamily="2" charset="0"/>
            <a:cs typeface="Poppins" panose="00000500000000000000" pitchFamily="2" charset="0"/>
          </a:endParaRPr>
        </a:p>
      </dgm:t>
    </dgm:pt>
    <dgm:pt modelId="{E00503BF-B752-4CC4-97BD-AED10BD2EB35}" type="sibTrans" cxnId="{C94E1E5E-6CFD-4683-B778-FF79CB2A4362}">
      <dgm:prSet custT="1"/>
      <dgm:spPr/>
      <dgm:t>
        <a:bodyPr spcFirstLastPara="0" vert="horz" wrap="square" lIns="0" tIns="0" rIns="0" bIns="0" numCol="1" spcCol="1270" anchor="ctr" anchorCtr="0"/>
        <a:lstStyle/>
        <a:p>
          <a:pPr marL="0" lvl="0" indent="0" algn="ctr" defTabSz="1244600">
            <a:lnSpc>
              <a:spcPct val="90000"/>
            </a:lnSpc>
            <a:spcBef>
              <a:spcPct val="0"/>
            </a:spcBef>
            <a:spcAft>
              <a:spcPct val="35000"/>
            </a:spcAft>
            <a:buNone/>
          </a:pPr>
          <a:endParaRPr lang="en-US" sz="2800" kern="1200">
            <a:solidFill>
              <a:prstClr val="white"/>
            </a:solidFill>
            <a:latin typeface="Poppins" panose="00000500000000000000" pitchFamily="2" charset="0"/>
            <a:ea typeface="+mn-ea"/>
            <a:cs typeface="Poppins" panose="00000500000000000000" pitchFamily="2" charset="0"/>
          </a:endParaRPr>
        </a:p>
      </dgm:t>
    </dgm:pt>
    <dgm:pt modelId="{3B006919-A2B8-4AE0-AD2A-62B41D4178C1}">
      <dgm:prSet phldrT="[Text]" custT="1"/>
      <dgm:spPr/>
      <dgm:t>
        <a:bodyPr spcFirstLastPara="0" vert="horz" wrap="square" lIns="106680" tIns="106680" rIns="106680" bIns="106680" numCol="1" spcCol="1270" anchor="ctr" anchorCtr="0"/>
        <a:lstStyle/>
        <a:p>
          <a:pPr marL="0" lvl="0" indent="0" algn="ctr" defTabSz="1244600">
            <a:lnSpc>
              <a:spcPct val="90000"/>
            </a:lnSpc>
            <a:spcBef>
              <a:spcPct val="0"/>
            </a:spcBef>
            <a:spcAft>
              <a:spcPct val="35000"/>
            </a:spcAft>
            <a:buNone/>
          </a:pPr>
          <a:r>
            <a:rPr lang="en-US" sz="2800" b="0" i="0" kern="1200" dirty="0">
              <a:latin typeface="Poppins" panose="00000500000000000000" pitchFamily="2" charset="0"/>
              <a:ea typeface="+mn-ea"/>
              <a:cs typeface="Poppins" panose="00000500000000000000" pitchFamily="2" charset="0"/>
            </a:rPr>
            <a:t>Select the correct </a:t>
          </a:r>
          <a:br>
            <a:rPr lang="en-US" sz="2800" b="0" i="0" kern="1200" dirty="0">
              <a:latin typeface="Poppins" panose="00000500000000000000" pitchFamily="2" charset="0"/>
              <a:ea typeface="+mn-ea"/>
              <a:cs typeface="Poppins" panose="00000500000000000000" pitchFamily="2" charset="0"/>
            </a:rPr>
          </a:br>
          <a:r>
            <a:rPr lang="en-US" sz="2800" b="0" i="0" kern="1200" dirty="0">
              <a:latin typeface="Poppins" panose="00000500000000000000" pitchFamily="2" charset="0"/>
              <a:ea typeface="+mn-ea"/>
              <a:cs typeface="Poppins" panose="00000500000000000000" pitchFamily="2" charset="0"/>
            </a:rPr>
            <a:t>Ticket Reason.</a:t>
          </a:r>
        </a:p>
      </dgm:t>
    </dgm:pt>
    <dgm:pt modelId="{4198C8BB-EC19-45D7-9D45-3017D08DE728}" type="parTrans" cxnId="{D52B48F7-9036-478A-B6E6-016B90696967}">
      <dgm:prSet/>
      <dgm:spPr/>
      <dgm:t>
        <a:bodyPr/>
        <a:lstStyle/>
        <a:p>
          <a:endParaRPr lang="en-US" sz="2800">
            <a:latin typeface="Poppins" panose="00000500000000000000" pitchFamily="2" charset="0"/>
            <a:cs typeface="Poppins" panose="00000500000000000000" pitchFamily="2" charset="0"/>
          </a:endParaRPr>
        </a:p>
      </dgm:t>
    </dgm:pt>
    <dgm:pt modelId="{C44211B7-3CC8-4353-A8C4-D8E3700EC4D5}" type="sibTrans" cxnId="{D52B48F7-9036-478A-B6E6-016B90696967}">
      <dgm:prSet custT="1"/>
      <dgm:spPr/>
      <dgm:t>
        <a:bodyPr spcFirstLastPara="0" vert="horz" wrap="square" lIns="0" tIns="0" rIns="0" bIns="0" numCol="1" spcCol="1270" anchor="ctr" anchorCtr="0"/>
        <a:lstStyle/>
        <a:p>
          <a:pPr marL="0" lvl="0" indent="0" algn="ctr" defTabSz="1244600">
            <a:lnSpc>
              <a:spcPct val="90000"/>
            </a:lnSpc>
            <a:spcBef>
              <a:spcPct val="0"/>
            </a:spcBef>
            <a:spcAft>
              <a:spcPct val="35000"/>
            </a:spcAft>
            <a:buNone/>
          </a:pPr>
          <a:endParaRPr lang="en-US" sz="2800" kern="1200">
            <a:solidFill>
              <a:prstClr val="white"/>
            </a:solidFill>
            <a:latin typeface="Poppins" panose="00000500000000000000" pitchFamily="2" charset="0"/>
            <a:ea typeface="+mn-ea"/>
            <a:cs typeface="Poppins" panose="00000500000000000000" pitchFamily="2" charset="0"/>
          </a:endParaRPr>
        </a:p>
      </dgm:t>
    </dgm:pt>
    <dgm:pt modelId="{9B1F323F-FE62-4431-8E5E-52283B886981}">
      <dgm:prSet phldrT="[Text]" custT="1"/>
      <dgm:spPr/>
      <dgm:t>
        <a:bodyPr spcFirstLastPara="0" vert="horz" wrap="square" lIns="106680" tIns="106680" rIns="106680" bIns="106680" numCol="1" spcCol="1270" anchor="ctr" anchorCtr="0"/>
        <a:lstStyle/>
        <a:p>
          <a:pPr marL="0" lvl="0" indent="0" algn="ctr" defTabSz="1244600">
            <a:lnSpc>
              <a:spcPct val="90000"/>
            </a:lnSpc>
            <a:spcBef>
              <a:spcPct val="0"/>
            </a:spcBef>
            <a:spcAft>
              <a:spcPct val="35000"/>
            </a:spcAft>
            <a:buNone/>
          </a:pPr>
          <a:r>
            <a:rPr lang="en-US" sz="2800" b="0" i="0" kern="1200">
              <a:latin typeface="Poppins" panose="00000500000000000000" pitchFamily="2" charset="0"/>
              <a:ea typeface="+mn-ea"/>
              <a:cs typeface="Poppins" panose="00000500000000000000" pitchFamily="2" charset="0"/>
            </a:rPr>
            <a:t>Submit the ticket as "Open" to save changes. </a:t>
          </a:r>
          <a:endParaRPr lang="en-US" sz="2800" b="0" i="0" kern="1200" dirty="0">
            <a:latin typeface="Poppins" panose="00000500000000000000" pitchFamily="2" charset="0"/>
            <a:ea typeface="+mn-ea"/>
            <a:cs typeface="Poppins" panose="00000500000000000000" pitchFamily="2" charset="0"/>
          </a:endParaRPr>
        </a:p>
      </dgm:t>
    </dgm:pt>
    <dgm:pt modelId="{AABC894E-5831-45D4-824E-25FEEC81F45B}" type="parTrans" cxnId="{31F10B92-BE7E-4C02-90CD-9C8FE4FEACD3}">
      <dgm:prSet/>
      <dgm:spPr/>
      <dgm:t>
        <a:bodyPr/>
        <a:lstStyle/>
        <a:p>
          <a:endParaRPr lang="en-US" sz="2800">
            <a:latin typeface="Poppins" panose="00000500000000000000" pitchFamily="2" charset="0"/>
            <a:cs typeface="Poppins" panose="00000500000000000000" pitchFamily="2" charset="0"/>
          </a:endParaRPr>
        </a:p>
      </dgm:t>
    </dgm:pt>
    <dgm:pt modelId="{7CC5CDC8-FFD0-41C1-B12C-E0A0855373EB}" type="sibTrans" cxnId="{31F10B92-BE7E-4C02-90CD-9C8FE4FEACD3}">
      <dgm:prSet/>
      <dgm:spPr/>
      <dgm:t>
        <a:bodyPr/>
        <a:lstStyle/>
        <a:p>
          <a:endParaRPr lang="en-US" sz="2800">
            <a:latin typeface="Poppins" panose="00000500000000000000" pitchFamily="2" charset="0"/>
            <a:cs typeface="Poppins" panose="00000500000000000000" pitchFamily="2" charset="0"/>
          </a:endParaRPr>
        </a:p>
      </dgm:t>
    </dgm:pt>
    <dgm:pt modelId="{63DF2FC3-EF0D-4978-B1C6-789C3B333225}" type="pres">
      <dgm:prSet presAssocID="{CD91FDB7-D318-4B4E-94AF-9A08CFEFABA7}" presName="Name0" presStyleCnt="0">
        <dgm:presLayoutVars>
          <dgm:dir/>
          <dgm:resizeHandles val="exact"/>
        </dgm:presLayoutVars>
      </dgm:prSet>
      <dgm:spPr/>
    </dgm:pt>
    <dgm:pt modelId="{A126654C-9495-43C7-B17D-0DCB84BC0883}" type="pres">
      <dgm:prSet presAssocID="{7BF5F152-45C1-4990-8970-5889B91D1E35}" presName="node" presStyleLbl="node1" presStyleIdx="0" presStyleCnt="5">
        <dgm:presLayoutVars>
          <dgm:bulletEnabled val="1"/>
        </dgm:presLayoutVars>
      </dgm:prSet>
      <dgm:spPr/>
    </dgm:pt>
    <dgm:pt modelId="{91C2E523-7DF9-475C-AECD-9215512AAEA3}" type="pres">
      <dgm:prSet presAssocID="{D4C9A59E-B9CE-473F-8BE9-80D9EF93EF24}" presName="sibTrans" presStyleLbl="sibTrans2D1" presStyleIdx="0" presStyleCnt="4"/>
      <dgm:spPr/>
    </dgm:pt>
    <dgm:pt modelId="{234EF294-8FAA-418F-9A10-D8455898768C}" type="pres">
      <dgm:prSet presAssocID="{D4C9A59E-B9CE-473F-8BE9-80D9EF93EF24}" presName="connectorText" presStyleLbl="sibTrans2D1" presStyleIdx="0" presStyleCnt="4"/>
      <dgm:spPr/>
    </dgm:pt>
    <dgm:pt modelId="{C367346E-7156-4CF0-9AA7-67460CEBFC1D}" type="pres">
      <dgm:prSet presAssocID="{7FE36725-0302-4DAF-8E1D-28C793C3278A}" presName="node" presStyleLbl="node1" presStyleIdx="1" presStyleCnt="5">
        <dgm:presLayoutVars>
          <dgm:bulletEnabled val="1"/>
        </dgm:presLayoutVars>
      </dgm:prSet>
      <dgm:spPr>
        <a:xfrm>
          <a:off x="3540879" y="2565245"/>
          <a:ext cx="2517592" cy="2997508"/>
        </a:xfrm>
        <a:prstGeom prst="roundRect">
          <a:avLst>
            <a:gd name="adj" fmla="val 10000"/>
          </a:avLst>
        </a:prstGeom>
      </dgm:spPr>
    </dgm:pt>
    <dgm:pt modelId="{8591DEBA-283B-450B-B653-AFACFB363A4C}" type="pres">
      <dgm:prSet presAssocID="{972E0850-B007-4138-A7EE-D666E198093A}" presName="sibTrans" presStyleLbl="sibTrans2D1" presStyleIdx="1" presStyleCnt="4"/>
      <dgm:spPr>
        <a:xfrm>
          <a:off x="6310230" y="3751818"/>
          <a:ext cx="533729" cy="624362"/>
        </a:xfrm>
        <a:prstGeom prst="rightArrow">
          <a:avLst>
            <a:gd name="adj1" fmla="val 60000"/>
            <a:gd name="adj2" fmla="val 50000"/>
          </a:avLst>
        </a:prstGeom>
      </dgm:spPr>
    </dgm:pt>
    <dgm:pt modelId="{17474260-F893-415D-8286-57F1F29E7C8E}" type="pres">
      <dgm:prSet presAssocID="{972E0850-B007-4138-A7EE-D666E198093A}" presName="connectorText" presStyleLbl="sibTrans2D1" presStyleIdx="1" presStyleCnt="4"/>
      <dgm:spPr/>
    </dgm:pt>
    <dgm:pt modelId="{B7E549EE-E123-489C-8AEC-5DE42E70B858}" type="pres">
      <dgm:prSet presAssocID="{231F6DD5-C74D-48D2-A12B-687BBB38CB2F}" presName="node" presStyleLbl="node1" presStyleIdx="2" presStyleCnt="5">
        <dgm:presLayoutVars>
          <dgm:bulletEnabled val="1"/>
        </dgm:presLayoutVars>
      </dgm:prSet>
      <dgm:spPr>
        <a:xfrm>
          <a:off x="7065508" y="2565245"/>
          <a:ext cx="2517592" cy="2997508"/>
        </a:xfrm>
        <a:prstGeom prst="roundRect">
          <a:avLst>
            <a:gd name="adj" fmla="val 10000"/>
          </a:avLst>
        </a:prstGeom>
      </dgm:spPr>
    </dgm:pt>
    <dgm:pt modelId="{2CE1B014-7B4E-497D-A073-4A0641C20763}" type="pres">
      <dgm:prSet presAssocID="{E00503BF-B752-4CC4-97BD-AED10BD2EB35}" presName="sibTrans" presStyleLbl="sibTrans2D1" presStyleIdx="2" presStyleCnt="4"/>
      <dgm:spPr>
        <a:xfrm>
          <a:off x="9834859" y="3751818"/>
          <a:ext cx="533729" cy="624362"/>
        </a:xfrm>
        <a:prstGeom prst="rightArrow">
          <a:avLst>
            <a:gd name="adj1" fmla="val 60000"/>
            <a:gd name="adj2" fmla="val 50000"/>
          </a:avLst>
        </a:prstGeom>
      </dgm:spPr>
    </dgm:pt>
    <dgm:pt modelId="{E2CB2D94-3370-44A1-A5AB-4B3F862AB39F}" type="pres">
      <dgm:prSet presAssocID="{E00503BF-B752-4CC4-97BD-AED10BD2EB35}" presName="connectorText" presStyleLbl="sibTrans2D1" presStyleIdx="2" presStyleCnt="4"/>
      <dgm:spPr/>
    </dgm:pt>
    <dgm:pt modelId="{BDC78F72-DAE1-483C-B0D6-94BB7B92DCC5}" type="pres">
      <dgm:prSet presAssocID="{3B006919-A2B8-4AE0-AD2A-62B41D4178C1}" presName="node" presStyleLbl="node1" presStyleIdx="3" presStyleCnt="5">
        <dgm:presLayoutVars>
          <dgm:bulletEnabled val="1"/>
        </dgm:presLayoutVars>
      </dgm:prSet>
      <dgm:spPr>
        <a:xfrm>
          <a:off x="10590137" y="2565245"/>
          <a:ext cx="2517592" cy="2997508"/>
        </a:xfrm>
        <a:prstGeom prst="roundRect">
          <a:avLst>
            <a:gd name="adj" fmla="val 10000"/>
          </a:avLst>
        </a:prstGeom>
      </dgm:spPr>
    </dgm:pt>
    <dgm:pt modelId="{C203A7DB-5121-4D76-A32E-190374F2F853}" type="pres">
      <dgm:prSet presAssocID="{C44211B7-3CC8-4353-A8C4-D8E3700EC4D5}" presName="sibTrans" presStyleLbl="sibTrans2D1" presStyleIdx="3" presStyleCnt="4"/>
      <dgm:spPr>
        <a:xfrm>
          <a:off x="13359488" y="3751818"/>
          <a:ext cx="533729" cy="624362"/>
        </a:xfrm>
        <a:prstGeom prst="rightArrow">
          <a:avLst>
            <a:gd name="adj1" fmla="val 60000"/>
            <a:gd name="adj2" fmla="val 50000"/>
          </a:avLst>
        </a:prstGeom>
      </dgm:spPr>
    </dgm:pt>
    <dgm:pt modelId="{C43DA1AA-40AA-452F-A199-B80B6BE8C242}" type="pres">
      <dgm:prSet presAssocID="{C44211B7-3CC8-4353-A8C4-D8E3700EC4D5}" presName="connectorText" presStyleLbl="sibTrans2D1" presStyleIdx="3" presStyleCnt="4"/>
      <dgm:spPr/>
    </dgm:pt>
    <dgm:pt modelId="{0D9C8A1C-4A87-4588-8731-0BBCD4D08539}" type="pres">
      <dgm:prSet presAssocID="{9B1F323F-FE62-4431-8E5E-52283B886981}" presName="node" presStyleLbl="node1" presStyleIdx="4" presStyleCnt="5">
        <dgm:presLayoutVars>
          <dgm:bulletEnabled val="1"/>
        </dgm:presLayoutVars>
      </dgm:prSet>
      <dgm:spPr>
        <a:xfrm>
          <a:off x="14114766" y="2565245"/>
          <a:ext cx="2517592" cy="2997508"/>
        </a:xfrm>
        <a:prstGeom prst="roundRect">
          <a:avLst>
            <a:gd name="adj" fmla="val 10000"/>
          </a:avLst>
        </a:prstGeom>
      </dgm:spPr>
    </dgm:pt>
  </dgm:ptLst>
  <dgm:cxnLst>
    <dgm:cxn modelId="{A9036C01-722C-4CDB-BCC3-AC5F8D803B5B}" type="presOf" srcId="{E00503BF-B752-4CC4-97BD-AED10BD2EB35}" destId="{E2CB2D94-3370-44A1-A5AB-4B3F862AB39F}" srcOrd="1" destOrd="0" presId="urn:microsoft.com/office/officeart/2005/8/layout/process1"/>
    <dgm:cxn modelId="{4BC6F204-4605-4BB2-AA6C-441A314FC02F}" type="presOf" srcId="{D4C9A59E-B9CE-473F-8BE9-80D9EF93EF24}" destId="{234EF294-8FAA-418F-9A10-D8455898768C}" srcOrd="1" destOrd="0" presId="urn:microsoft.com/office/officeart/2005/8/layout/process1"/>
    <dgm:cxn modelId="{1CB96105-487E-4774-8C55-518CADA4D33E}" type="presOf" srcId="{C44211B7-3CC8-4353-A8C4-D8E3700EC4D5}" destId="{C203A7DB-5121-4D76-A32E-190374F2F853}" srcOrd="0" destOrd="0" presId="urn:microsoft.com/office/officeart/2005/8/layout/process1"/>
    <dgm:cxn modelId="{42098011-2015-4E41-A481-EFE305CC51D9}" srcId="{CD91FDB7-D318-4B4E-94AF-9A08CFEFABA7}" destId="{7BF5F152-45C1-4990-8970-5889B91D1E35}" srcOrd="0" destOrd="0" parTransId="{7D931469-980B-479D-A37E-B926365D6CFA}" sibTransId="{D4C9A59E-B9CE-473F-8BE9-80D9EF93EF24}"/>
    <dgm:cxn modelId="{B1ADD624-5788-423B-BF1B-0510B7A11C0E}" type="presOf" srcId="{E00503BF-B752-4CC4-97BD-AED10BD2EB35}" destId="{2CE1B014-7B4E-497D-A073-4A0641C20763}" srcOrd="0" destOrd="0" presId="urn:microsoft.com/office/officeart/2005/8/layout/process1"/>
    <dgm:cxn modelId="{F110DC2C-7727-448E-8BB0-1A046C4F3A8C}" srcId="{CD91FDB7-D318-4B4E-94AF-9A08CFEFABA7}" destId="{7FE36725-0302-4DAF-8E1D-28C793C3278A}" srcOrd="1" destOrd="0" parTransId="{A6CDAEF0-BA41-4051-87AF-614B4BAFAB8B}" sibTransId="{972E0850-B007-4138-A7EE-D666E198093A}"/>
    <dgm:cxn modelId="{E1FC732F-B643-49EB-9B84-5C425C7CC1F4}" type="presOf" srcId="{CD91FDB7-D318-4B4E-94AF-9A08CFEFABA7}" destId="{63DF2FC3-EF0D-4978-B1C6-789C3B333225}" srcOrd="0" destOrd="0" presId="urn:microsoft.com/office/officeart/2005/8/layout/process1"/>
    <dgm:cxn modelId="{C94E1E5E-6CFD-4683-B778-FF79CB2A4362}" srcId="{CD91FDB7-D318-4B4E-94AF-9A08CFEFABA7}" destId="{231F6DD5-C74D-48D2-A12B-687BBB38CB2F}" srcOrd="2" destOrd="0" parTransId="{E1EF5C57-2A1A-4DCA-8544-D577AB94DD0F}" sibTransId="{E00503BF-B752-4CC4-97BD-AED10BD2EB35}"/>
    <dgm:cxn modelId="{627C825E-C0D9-404B-A53F-FAA8A37BCD79}" type="presOf" srcId="{C44211B7-3CC8-4353-A8C4-D8E3700EC4D5}" destId="{C43DA1AA-40AA-452F-A199-B80B6BE8C242}" srcOrd="1" destOrd="0" presId="urn:microsoft.com/office/officeart/2005/8/layout/process1"/>
    <dgm:cxn modelId="{25B70468-2FE9-48A1-B8C8-0B4797E9772C}" type="presOf" srcId="{7FE36725-0302-4DAF-8E1D-28C793C3278A}" destId="{C367346E-7156-4CF0-9AA7-67460CEBFC1D}" srcOrd="0" destOrd="0" presId="urn:microsoft.com/office/officeart/2005/8/layout/process1"/>
    <dgm:cxn modelId="{99BA8648-C656-4AA7-89BA-B81C41B02404}" type="presOf" srcId="{972E0850-B007-4138-A7EE-D666E198093A}" destId="{8591DEBA-283B-450B-B653-AFACFB363A4C}" srcOrd="0" destOrd="0" presId="urn:microsoft.com/office/officeart/2005/8/layout/process1"/>
    <dgm:cxn modelId="{1D952F80-8256-49E7-9C6D-2D3866E75014}" type="presOf" srcId="{231F6DD5-C74D-48D2-A12B-687BBB38CB2F}" destId="{B7E549EE-E123-489C-8AEC-5DE42E70B858}" srcOrd="0" destOrd="0" presId="urn:microsoft.com/office/officeart/2005/8/layout/process1"/>
    <dgm:cxn modelId="{46421085-9F34-48F5-BB00-04396B2036BF}" type="presOf" srcId="{9B1F323F-FE62-4431-8E5E-52283B886981}" destId="{0D9C8A1C-4A87-4588-8731-0BBCD4D08539}" srcOrd="0" destOrd="0" presId="urn:microsoft.com/office/officeart/2005/8/layout/process1"/>
    <dgm:cxn modelId="{31F10B92-BE7E-4C02-90CD-9C8FE4FEACD3}" srcId="{CD91FDB7-D318-4B4E-94AF-9A08CFEFABA7}" destId="{9B1F323F-FE62-4431-8E5E-52283B886981}" srcOrd="4" destOrd="0" parTransId="{AABC894E-5831-45D4-824E-25FEEC81F45B}" sibTransId="{7CC5CDC8-FFD0-41C1-B12C-E0A0855373EB}"/>
    <dgm:cxn modelId="{AD88C6B6-EF7F-49B8-B9C9-8B602E24A770}" type="presOf" srcId="{D4C9A59E-B9CE-473F-8BE9-80D9EF93EF24}" destId="{91C2E523-7DF9-475C-AECD-9215512AAEA3}" srcOrd="0" destOrd="0" presId="urn:microsoft.com/office/officeart/2005/8/layout/process1"/>
    <dgm:cxn modelId="{D8A51FB7-C83C-4B27-9089-4A6983F7EC3E}" type="presOf" srcId="{972E0850-B007-4138-A7EE-D666E198093A}" destId="{17474260-F893-415D-8286-57F1F29E7C8E}" srcOrd="1" destOrd="0" presId="urn:microsoft.com/office/officeart/2005/8/layout/process1"/>
    <dgm:cxn modelId="{C2A7CBD7-22C1-4451-96EC-84B135D05962}" type="presOf" srcId="{3B006919-A2B8-4AE0-AD2A-62B41D4178C1}" destId="{BDC78F72-DAE1-483C-B0D6-94BB7B92DCC5}" srcOrd="0" destOrd="0" presId="urn:microsoft.com/office/officeart/2005/8/layout/process1"/>
    <dgm:cxn modelId="{E04403DF-1C10-4FDB-93BF-B683236A7B0A}" type="presOf" srcId="{7BF5F152-45C1-4990-8970-5889B91D1E35}" destId="{A126654C-9495-43C7-B17D-0DCB84BC0883}" srcOrd="0" destOrd="0" presId="urn:microsoft.com/office/officeart/2005/8/layout/process1"/>
    <dgm:cxn modelId="{D52B48F7-9036-478A-B6E6-016B90696967}" srcId="{CD91FDB7-D318-4B4E-94AF-9A08CFEFABA7}" destId="{3B006919-A2B8-4AE0-AD2A-62B41D4178C1}" srcOrd="3" destOrd="0" parTransId="{4198C8BB-EC19-45D7-9D45-3017D08DE728}" sibTransId="{C44211B7-3CC8-4353-A8C4-D8E3700EC4D5}"/>
    <dgm:cxn modelId="{9742EDDA-14CB-4296-A4BA-7C7CC705F339}" type="presParOf" srcId="{63DF2FC3-EF0D-4978-B1C6-789C3B333225}" destId="{A126654C-9495-43C7-B17D-0DCB84BC0883}" srcOrd="0" destOrd="0" presId="urn:microsoft.com/office/officeart/2005/8/layout/process1"/>
    <dgm:cxn modelId="{42A3BC85-660F-4AF4-AEBB-678ED1B7F78A}" type="presParOf" srcId="{63DF2FC3-EF0D-4978-B1C6-789C3B333225}" destId="{91C2E523-7DF9-475C-AECD-9215512AAEA3}" srcOrd="1" destOrd="0" presId="urn:microsoft.com/office/officeart/2005/8/layout/process1"/>
    <dgm:cxn modelId="{212EEBD7-C89A-4A3B-9525-DDEE72D8EA60}" type="presParOf" srcId="{91C2E523-7DF9-475C-AECD-9215512AAEA3}" destId="{234EF294-8FAA-418F-9A10-D8455898768C}" srcOrd="0" destOrd="0" presId="urn:microsoft.com/office/officeart/2005/8/layout/process1"/>
    <dgm:cxn modelId="{B2707F17-C89F-449B-85E3-E8B89068259D}" type="presParOf" srcId="{63DF2FC3-EF0D-4978-B1C6-789C3B333225}" destId="{C367346E-7156-4CF0-9AA7-67460CEBFC1D}" srcOrd="2" destOrd="0" presId="urn:microsoft.com/office/officeart/2005/8/layout/process1"/>
    <dgm:cxn modelId="{786E2E22-C7CD-4CE5-A082-9093CC2E5B9A}" type="presParOf" srcId="{63DF2FC3-EF0D-4978-B1C6-789C3B333225}" destId="{8591DEBA-283B-450B-B653-AFACFB363A4C}" srcOrd="3" destOrd="0" presId="urn:microsoft.com/office/officeart/2005/8/layout/process1"/>
    <dgm:cxn modelId="{24F05E31-D3AF-4054-943A-86B688A6DB42}" type="presParOf" srcId="{8591DEBA-283B-450B-B653-AFACFB363A4C}" destId="{17474260-F893-415D-8286-57F1F29E7C8E}" srcOrd="0" destOrd="0" presId="urn:microsoft.com/office/officeart/2005/8/layout/process1"/>
    <dgm:cxn modelId="{EB0E3F0D-E417-40E0-950E-7105733447DE}" type="presParOf" srcId="{63DF2FC3-EF0D-4978-B1C6-789C3B333225}" destId="{B7E549EE-E123-489C-8AEC-5DE42E70B858}" srcOrd="4" destOrd="0" presId="urn:microsoft.com/office/officeart/2005/8/layout/process1"/>
    <dgm:cxn modelId="{66484E42-F147-4B9E-8BF3-4B1BFFA70019}" type="presParOf" srcId="{63DF2FC3-EF0D-4978-B1C6-789C3B333225}" destId="{2CE1B014-7B4E-497D-A073-4A0641C20763}" srcOrd="5" destOrd="0" presId="urn:microsoft.com/office/officeart/2005/8/layout/process1"/>
    <dgm:cxn modelId="{303E1622-7607-4CFC-A523-50295F5CDDAF}" type="presParOf" srcId="{2CE1B014-7B4E-497D-A073-4A0641C20763}" destId="{E2CB2D94-3370-44A1-A5AB-4B3F862AB39F}" srcOrd="0" destOrd="0" presId="urn:microsoft.com/office/officeart/2005/8/layout/process1"/>
    <dgm:cxn modelId="{3C2F4482-3CB3-45AE-A82D-3E495292E677}" type="presParOf" srcId="{63DF2FC3-EF0D-4978-B1C6-789C3B333225}" destId="{BDC78F72-DAE1-483C-B0D6-94BB7B92DCC5}" srcOrd="6" destOrd="0" presId="urn:microsoft.com/office/officeart/2005/8/layout/process1"/>
    <dgm:cxn modelId="{374134FF-8063-48A3-8CF6-AB8E7AA957B8}" type="presParOf" srcId="{63DF2FC3-EF0D-4978-B1C6-789C3B333225}" destId="{C203A7DB-5121-4D76-A32E-190374F2F853}" srcOrd="7" destOrd="0" presId="urn:microsoft.com/office/officeart/2005/8/layout/process1"/>
    <dgm:cxn modelId="{BFD71BB2-E55A-4EFF-A417-F533071BE687}" type="presParOf" srcId="{C203A7DB-5121-4D76-A32E-190374F2F853}" destId="{C43DA1AA-40AA-452F-A199-B80B6BE8C242}" srcOrd="0" destOrd="0" presId="urn:microsoft.com/office/officeart/2005/8/layout/process1"/>
    <dgm:cxn modelId="{687BCF16-089B-41AF-BED4-04D01371C7C0}" type="presParOf" srcId="{63DF2FC3-EF0D-4978-B1C6-789C3B333225}" destId="{0D9C8A1C-4A87-4588-8731-0BBCD4D08539}" srcOrd="8"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CD91FDB7-D318-4B4E-94AF-9A08CFEFABA7}" type="doc">
      <dgm:prSet loTypeId="urn:microsoft.com/office/officeart/2005/8/layout/process1" loCatId="process" qsTypeId="urn:microsoft.com/office/officeart/2005/8/quickstyle/simple3#2" qsCatId="simple" csTypeId="urn:microsoft.com/office/officeart/2005/8/colors/colorful5#2" csCatId="colorful" phldr="1"/>
      <dgm:spPr/>
      <dgm:t>
        <a:bodyPr/>
        <a:lstStyle/>
        <a:p>
          <a:endParaRPr lang="en-US"/>
        </a:p>
      </dgm:t>
    </dgm:pt>
    <dgm:pt modelId="{7BF5F152-45C1-4990-8970-5889B91D1E35}">
      <dgm:prSet phldrT="[Text]" custT="1"/>
      <dgm:spPr/>
      <dgm:t>
        <a:bodyPr/>
        <a:lstStyle/>
        <a:p>
          <a:pPr>
            <a:buNone/>
          </a:pPr>
          <a:r>
            <a:rPr lang="en-US" sz="2800" b="0" i="0">
              <a:latin typeface="Poppins" panose="00000500000000000000" pitchFamily="2" charset="0"/>
              <a:cs typeface="Poppins" panose="00000500000000000000" pitchFamily="2" charset="0"/>
            </a:rPr>
            <a:t>Select "</a:t>
          </a:r>
          <a:r>
            <a:rPr lang="en-US" sz="2800" b="1" i="0">
              <a:latin typeface="Poppins" panose="00000500000000000000" pitchFamily="2" charset="0"/>
              <a:cs typeface="Poppins" panose="00000500000000000000" pitchFamily="2" charset="0"/>
            </a:rPr>
            <a:t>Merge into another ticket</a:t>
          </a:r>
          <a:r>
            <a:rPr lang="en-US" sz="2800" b="0" i="0">
              <a:latin typeface="Poppins" panose="00000500000000000000" pitchFamily="2" charset="0"/>
              <a:cs typeface="Poppins" panose="00000500000000000000" pitchFamily="2" charset="0"/>
            </a:rPr>
            <a:t>" from the three-dots menu (right top, close to email subject)</a:t>
          </a:r>
          <a:endParaRPr lang="en-US" sz="2800" dirty="0">
            <a:latin typeface="Poppins" panose="00000500000000000000" pitchFamily="2" charset="0"/>
            <a:cs typeface="Poppins" panose="00000500000000000000" pitchFamily="2" charset="0"/>
          </a:endParaRPr>
        </a:p>
      </dgm:t>
    </dgm:pt>
    <dgm:pt modelId="{7D931469-980B-479D-A37E-B926365D6CFA}" type="parTrans" cxnId="{42098011-2015-4E41-A481-EFE305CC51D9}">
      <dgm:prSet/>
      <dgm:spPr/>
      <dgm:t>
        <a:bodyPr/>
        <a:lstStyle/>
        <a:p>
          <a:endParaRPr lang="en-US" sz="2800">
            <a:latin typeface="Poppins" panose="00000500000000000000" pitchFamily="2" charset="0"/>
            <a:cs typeface="Poppins" panose="00000500000000000000" pitchFamily="2" charset="0"/>
          </a:endParaRPr>
        </a:p>
      </dgm:t>
    </dgm:pt>
    <dgm:pt modelId="{D4C9A59E-B9CE-473F-8BE9-80D9EF93EF24}" type="sibTrans" cxnId="{42098011-2015-4E41-A481-EFE305CC51D9}">
      <dgm:prSet custT="1"/>
      <dgm:spPr/>
      <dgm:t>
        <a:bodyPr/>
        <a:lstStyle/>
        <a:p>
          <a:endParaRPr lang="en-US" sz="2800">
            <a:latin typeface="Poppins" panose="00000500000000000000" pitchFamily="2" charset="0"/>
            <a:cs typeface="Poppins" panose="00000500000000000000" pitchFamily="2" charset="0"/>
          </a:endParaRPr>
        </a:p>
      </dgm:t>
    </dgm:pt>
    <dgm:pt modelId="{7FE36725-0302-4DAF-8E1D-28C793C3278A}">
      <dgm:prSet phldrT="[Text]" custT="1"/>
      <dgm:spPr/>
      <dgm:t>
        <a:bodyPr spcFirstLastPara="0" vert="horz" wrap="square" lIns="106680" tIns="106680" rIns="106680" bIns="106680" numCol="1" spcCol="1270" anchor="ctr" anchorCtr="0"/>
        <a:lstStyle/>
        <a:p>
          <a:pPr marL="0" lvl="0" algn="ctr" defTabSz="1244600">
            <a:lnSpc>
              <a:spcPct val="90000"/>
            </a:lnSpc>
            <a:spcBef>
              <a:spcPct val="0"/>
            </a:spcBef>
            <a:spcAft>
              <a:spcPct val="35000"/>
            </a:spcAft>
            <a:buNone/>
          </a:pPr>
          <a:r>
            <a:rPr lang="en-US" sz="2800" b="0" i="0" kern="1200">
              <a:latin typeface="Poppins" panose="00000500000000000000" pitchFamily="2" charset="0"/>
              <a:ea typeface="+mn-ea"/>
              <a:cs typeface="Poppins" panose="00000500000000000000" pitchFamily="2" charset="0"/>
            </a:rPr>
            <a:t>Enter the Target Ticket ID</a:t>
          </a:r>
          <a:endParaRPr lang="en-US" sz="2800" b="0" i="0" kern="1200" dirty="0">
            <a:latin typeface="Poppins" panose="00000500000000000000" pitchFamily="2" charset="0"/>
            <a:ea typeface="+mn-ea"/>
            <a:cs typeface="Poppins" panose="00000500000000000000" pitchFamily="2" charset="0"/>
          </a:endParaRPr>
        </a:p>
      </dgm:t>
    </dgm:pt>
    <dgm:pt modelId="{A6CDAEF0-BA41-4051-87AF-614B4BAFAB8B}" type="parTrans" cxnId="{F110DC2C-7727-448E-8BB0-1A046C4F3A8C}">
      <dgm:prSet/>
      <dgm:spPr/>
      <dgm:t>
        <a:bodyPr/>
        <a:lstStyle/>
        <a:p>
          <a:endParaRPr lang="en-US" sz="2800">
            <a:latin typeface="Poppins" panose="00000500000000000000" pitchFamily="2" charset="0"/>
            <a:cs typeface="Poppins" panose="00000500000000000000" pitchFamily="2" charset="0"/>
          </a:endParaRPr>
        </a:p>
      </dgm:t>
    </dgm:pt>
    <dgm:pt modelId="{972E0850-B007-4138-A7EE-D666E198093A}" type="sibTrans" cxnId="{F110DC2C-7727-448E-8BB0-1A046C4F3A8C}">
      <dgm:prSet custT="1"/>
      <dgm:spPr/>
      <dgm:t>
        <a:bodyPr spcFirstLastPara="0" vert="horz" wrap="square" lIns="0" tIns="0" rIns="0" bIns="0" numCol="1" spcCol="1270" anchor="ctr" anchorCtr="0"/>
        <a:lstStyle/>
        <a:p>
          <a:pPr marL="0" lvl="0" indent="0" algn="ctr" defTabSz="1244600">
            <a:lnSpc>
              <a:spcPct val="90000"/>
            </a:lnSpc>
            <a:spcBef>
              <a:spcPct val="0"/>
            </a:spcBef>
            <a:spcAft>
              <a:spcPct val="35000"/>
            </a:spcAft>
            <a:buNone/>
          </a:pPr>
          <a:endParaRPr lang="en-US" sz="2800" kern="1200">
            <a:solidFill>
              <a:prstClr val="white"/>
            </a:solidFill>
            <a:latin typeface="Poppins" panose="00000500000000000000" pitchFamily="2" charset="0"/>
            <a:ea typeface="+mn-ea"/>
            <a:cs typeface="Poppins" panose="00000500000000000000" pitchFamily="2" charset="0"/>
          </a:endParaRPr>
        </a:p>
      </dgm:t>
    </dgm:pt>
    <dgm:pt modelId="{231F6DD5-C74D-48D2-A12B-687BBB38CB2F}">
      <dgm:prSet phldrT="[Text]" custT="1"/>
      <dgm:spPr/>
      <dgm:t>
        <a:bodyPr spcFirstLastPara="0" vert="horz" wrap="square" lIns="106680" tIns="106680" rIns="106680" bIns="106680" numCol="1" spcCol="1270" anchor="ctr" anchorCtr="0"/>
        <a:lstStyle/>
        <a:p>
          <a:pPr marL="0" lvl="0" algn="ctr" defTabSz="1244600">
            <a:lnSpc>
              <a:spcPct val="90000"/>
            </a:lnSpc>
            <a:spcBef>
              <a:spcPct val="0"/>
            </a:spcBef>
            <a:spcAft>
              <a:spcPct val="35000"/>
            </a:spcAft>
            <a:buNone/>
          </a:pPr>
          <a:r>
            <a:rPr lang="en-US" sz="2800" b="0" i="0" kern="1200">
              <a:latin typeface="Poppins" panose="00000500000000000000" pitchFamily="2" charset="0"/>
              <a:ea typeface="+mn-ea"/>
              <a:cs typeface="Poppins" panose="00000500000000000000" pitchFamily="2" charset="0"/>
            </a:rPr>
            <a:t>Click "</a:t>
          </a:r>
          <a:r>
            <a:rPr lang="en-US" sz="2800" b="1" i="0" kern="1200">
              <a:latin typeface="Poppins" panose="00000500000000000000" pitchFamily="2" charset="0"/>
              <a:ea typeface="+mn-ea"/>
              <a:cs typeface="Poppins" panose="00000500000000000000" pitchFamily="2" charset="0"/>
            </a:rPr>
            <a:t>Merge</a:t>
          </a:r>
          <a:r>
            <a:rPr lang="en-US" sz="2800" b="0" i="0" kern="1200">
              <a:latin typeface="Poppins" panose="00000500000000000000" pitchFamily="2" charset="0"/>
              <a:ea typeface="+mn-ea"/>
              <a:cs typeface="Poppins" panose="00000500000000000000" pitchFamily="2" charset="0"/>
            </a:rPr>
            <a:t>"</a:t>
          </a:r>
          <a:endParaRPr lang="en-US" sz="2800" b="0" i="0" kern="1200" dirty="0">
            <a:latin typeface="Poppins" panose="00000500000000000000" pitchFamily="2" charset="0"/>
            <a:ea typeface="+mn-ea"/>
            <a:cs typeface="Poppins" panose="00000500000000000000" pitchFamily="2" charset="0"/>
          </a:endParaRPr>
        </a:p>
      </dgm:t>
    </dgm:pt>
    <dgm:pt modelId="{E1EF5C57-2A1A-4DCA-8544-D577AB94DD0F}" type="parTrans" cxnId="{C94E1E5E-6CFD-4683-B778-FF79CB2A4362}">
      <dgm:prSet/>
      <dgm:spPr/>
      <dgm:t>
        <a:bodyPr/>
        <a:lstStyle/>
        <a:p>
          <a:endParaRPr lang="en-US" sz="2800">
            <a:latin typeface="Poppins" panose="00000500000000000000" pitchFamily="2" charset="0"/>
            <a:cs typeface="Poppins" panose="00000500000000000000" pitchFamily="2" charset="0"/>
          </a:endParaRPr>
        </a:p>
      </dgm:t>
    </dgm:pt>
    <dgm:pt modelId="{E00503BF-B752-4CC4-97BD-AED10BD2EB35}" type="sibTrans" cxnId="{C94E1E5E-6CFD-4683-B778-FF79CB2A4362}">
      <dgm:prSet custT="1"/>
      <dgm:spPr/>
      <dgm:t>
        <a:bodyPr spcFirstLastPara="0" vert="horz" wrap="square" lIns="0" tIns="0" rIns="0" bIns="0" numCol="1" spcCol="1270" anchor="ctr" anchorCtr="0"/>
        <a:lstStyle/>
        <a:p>
          <a:pPr marL="0" lvl="0" indent="0" algn="ctr" defTabSz="1244600">
            <a:lnSpc>
              <a:spcPct val="90000"/>
            </a:lnSpc>
            <a:spcBef>
              <a:spcPct val="0"/>
            </a:spcBef>
            <a:spcAft>
              <a:spcPct val="35000"/>
            </a:spcAft>
            <a:buNone/>
          </a:pPr>
          <a:endParaRPr lang="en-US" sz="2800" kern="1200">
            <a:solidFill>
              <a:prstClr val="white"/>
            </a:solidFill>
            <a:latin typeface="Poppins" panose="00000500000000000000" pitchFamily="2" charset="0"/>
            <a:ea typeface="+mn-ea"/>
            <a:cs typeface="Poppins" panose="00000500000000000000" pitchFamily="2" charset="0"/>
          </a:endParaRPr>
        </a:p>
      </dgm:t>
    </dgm:pt>
    <dgm:pt modelId="{63DF2FC3-EF0D-4978-B1C6-789C3B333225}" type="pres">
      <dgm:prSet presAssocID="{CD91FDB7-D318-4B4E-94AF-9A08CFEFABA7}" presName="Name0" presStyleCnt="0">
        <dgm:presLayoutVars>
          <dgm:dir/>
          <dgm:resizeHandles val="exact"/>
        </dgm:presLayoutVars>
      </dgm:prSet>
      <dgm:spPr/>
    </dgm:pt>
    <dgm:pt modelId="{A126654C-9495-43C7-B17D-0DCB84BC0883}" type="pres">
      <dgm:prSet presAssocID="{7BF5F152-45C1-4990-8970-5889B91D1E35}" presName="node" presStyleLbl="node1" presStyleIdx="0" presStyleCnt="3">
        <dgm:presLayoutVars>
          <dgm:bulletEnabled val="1"/>
        </dgm:presLayoutVars>
      </dgm:prSet>
      <dgm:spPr/>
    </dgm:pt>
    <dgm:pt modelId="{91C2E523-7DF9-475C-AECD-9215512AAEA3}" type="pres">
      <dgm:prSet presAssocID="{D4C9A59E-B9CE-473F-8BE9-80D9EF93EF24}" presName="sibTrans" presStyleLbl="sibTrans2D1" presStyleIdx="0" presStyleCnt="2"/>
      <dgm:spPr/>
    </dgm:pt>
    <dgm:pt modelId="{234EF294-8FAA-418F-9A10-D8455898768C}" type="pres">
      <dgm:prSet presAssocID="{D4C9A59E-B9CE-473F-8BE9-80D9EF93EF24}" presName="connectorText" presStyleLbl="sibTrans2D1" presStyleIdx="0" presStyleCnt="2"/>
      <dgm:spPr/>
    </dgm:pt>
    <dgm:pt modelId="{C367346E-7156-4CF0-9AA7-67460CEBFC1D}" type="pres">
      <dgm:prSet presAssocID="{7FE36725-0302-4DAF-8E1D-28C793C3278A}" presName="node" presStyleLbl="node1" presStyleIdx="1" presStyleCnt="3">
        <dgm:presLayoutVars>
          <dgm:bulletEnabled val="1"/>
        </dgm:presLayoutVars>
      </dgm:prSet>
      <dgm:spPr>
        <a:xfrm>
          <a:off x="3540879" y="2565245"/>
          <a:ext cx="2517592" cy="2997508"/>
        </a:xfrm>
        <a:prstGeom prst="roundRect">
          <a:avLst>
            <a:gd name="adj" fmla="val 10000"/>
          </a:avLst>
        </a:prstGeom>
      </dgm:spPr>
    </dgm:pt>
    <dgm:pt modelId="{8591DEBA-283B-450B-B653-AFACFB363A4C}" type="pres">
      <dgm:prSet presAssocID="{972E0850-B007-4138-A7EE-D666E198093A}" presName="sibTrans" presStyleLbl="sibTrans2D1" presStyleIdx="1" presStyleCnt="2"/>
      <dgm:spPr>
        <a:xfrm>
          <a:off x="6310230" y="3751818"/>
          <a:ext cx="533729" cy="624362"/>
        </a:xfrm>
        <a:prstGeom prst="rightArrow">
          <a:avLst>
            <a:gd name="adj1" fmla="val 60000"/>
            <a:gd name="adj2" fmla="val 50000"/>
          </a:avLst>
        </a:prstGeom>
      </dgm:spPr>
    </dgm:pt>
    <dgm:pt modelId="{17474260-F893-415D-8286-57F1F29E7C8E}" type="pres">
      <dgm:prSet presAssocID="{972E0850-B007-4138-A7EE-D666E198093A}" presName="connectorText" presStyleLbl="sibTrans2D1" presStyleIdx="1" presStyleCnt="2"/>
      <dgm:spPr/>
    </dgm:pt>
    <dgm:pt modelId="{B7E549EE-E123-489C-8AEC-5DE42E70B858}" type="pres">
      <dgm:prSet presAssocID="{231F6DD5-C74D-48D2-A12B-687BBB38CB2F}" presName="node" presStyleLbl="node1" presStyleIdx="2" presStyleCnt="3">
        <dgm:presLayoutVars>
          <dgm:bulletEnabled val="1"/>
        </dgm:presLayoutVars>
      </dgm:prSet>
      <dgm:spPr>
        <a:xfrm>
          <a:off x="7065508" y="2565245"/>
          <a:ext cx="2517592" cy="2997508"/>
        </a:xfrm>
        <a:prstGeom prst="roundRect">
          <a:avLst>
            <a:gd name="adj" fmla="val 10000"/>
          </a:avLst>
        </a:prstGeom>
      </dgm:spPr>
    </dgm:pt>
  </dgm:ptLst>
  <dgm:cxnLst>
    <dgm:cxn modelId="{4BC6F204-4605-4BB2-AA6C-441A314FC02F}" type="presOf" srcId="{D4C9A59E-B9CE-473F-8BE9-80D9EF93EF24}" destId="{234EF294-8FAA-418F-9A10-D8455898768C}" srcOrd="1" destOrd="0" presId="urn:microsoft.com/office/officeart/2005/8/layout/process1"/>
    <dgm:cxn modelId="{42098011-2015-4E41-A481-EFE305CC51D9}" srcId="{CD91FDB7-D318-4B4E-94AF-9A08CFEFABA7}" destId="{7BF5F152-45C1-4990-8970-5889B91D1E35}" srcOrd="0" destOrd="0" parTransId="{7D931469-980B-479D-A37E-B926365D6CFA}" sibTransId="{D4C9A59E-B9CE-473F-8BE9-80D9EF93EF24}"/>
    <dgm:cxn modelId="{F110DC2C-7727-448E-8BB0-1A046C4F3A8C}" srcId="{CD91FDB7-D318-4B4E-94AF-9A08CFEFABA7}" destId="{7FE36725-0302-4DAF-8E1D-28C793C3278A}" srcOrd="1" destOrd="0" parTransId="{A6CDAEF0-BA41-4051-87AF-614B4BAFAB8B}" sibTransId="{972E0850-B007-4138-A7EE-D666E198093A}"/>
    <dgm:cxn modelId="{E1FC732F-B643-49EB-9B84-5C425C7CC1F4}" type="presOf" srcId="{CD91FDB7-D318-4B4E-94AF-9A08CFEFABA7}" destId="{63DF2FC3-EF0D-4978-B1C6-789C3B333225}" srcOrd="0" destOrd="0" presId="urn:microsoft.com/office/officeart/2005/8/layout/process1"/>
    <dgm:cxn modelId="{C94E1E5E-6CFD-4683-B778-FF79CB2A4362}" srcId="{CD91FDB7-D318-4B4E-94AF-9A08CFEFABA7}" destId="{231F6DD5-C74D-48D2-A12B-687BBB38CB2F}" srcOrd="2" destOrd="0" parTransId="{E1EF5C57-2A1A-4DCA-8544-D577AB94DD0F}" sibTransId="{E00503BF-B752-4CC4-97BD-AED10BD2EB35}"/>
    <dgm:cxn modelId="{25B70468-2FE9-48A1-B8C8-0B4797E9772C}" type="presOf" srcId="{7FE36725-0302-4DAF-8E1D-28C793C3278A}" destId="{C367346E-7156-4CF0-9AA7-67460CEBFC1D}" srcOrd="0" destOrd="0" presId="urn:microsoft.com/office/officeart/2005/8/layout/process1"/>
    <dgm:cxn modelId="{99BA8648-C656-4AA7-89BA-B81C41B02404}" type="presOf" srcId="{972E0850-B007-4138-A7EE-D666E198093A}" destId="{8591DEBA-283B-450B-B653-AFACFB363A4C}" srcOrd="0" destOrd="0" presId="urn:microsoft.com/office/officeart/2005/8/layout/process1"/>
    <dgm:cxn modelId="{1D952F80-8256-49E7-9C6D-2D3866E75014}" type="presOf" srcId="{231F6DD5-C74D-48D2-A12B-687BBB38CB2F}" destId="{B7E549EE-E123-489C-8AEC-5DE42E70B858}" srcOrd="0" destOrd="0" presId="urn:microsoft.com/office/officeart/2005/8/layout/process1"/>
    <dgm:cxn modelId="{AD88C6B6-EF7F-49B8-B9C9-8B602E24A770}" type="presOf" srcId="{D4C9A59E-B9CE-473F-8BE9-80D9EF93EF24}" destId="{91C2E523-7DF9-475C-AECD-9215512AAEA3}" srcOrd="0" destOrd="0" presId="urn:microsoft.com/office/officeart/2005/8/layout/process1"/>
    <dgm:cxn modelId="{D8A51FB7-C83C-4B27-9089-4A6983F7EC3E}" type="presOf" srcId="{972E0850-B007-4138-A7EE-D666E198093A}" destId="{17474260-F893-415D-8286-57F1F29E7C8E}" srcOrd="1" destOrd="0" presId="urn:microsoft.com/office/officeart/2005/8/layout/process1"/>
    <dgm:cxn modelId="{E04403DF-1C10-4FDB-93BF-B683236A7B0A}" type="presOf" srcId="{7BF5F152-45C1-4990-8970-5889B91D1E35}" destId="{A126654C-9495-43C7-B17D-0DCB84BC0883}" srcOrd="0" destOrd="0" presId="urn:microsoft.com/office/officeart/2005/8/layout/process1"/>
    <dgm:cxn modelId="{9742EDDA-14CB-4296-A4BA-7C7CC705F339}" type="presParOf" srcId="{63DF2FC3-EF0D-4978-B1C6-789C3B333225}" destId="{A126654C-9495-43C7-B17D-0DCB84BC0883}" srcOrd="0" destOrd="0" presId="urn:microsoft.com/office/officeart/2005/8/layout/process1"/>
    <dgm:cxn modelId="{42A3BC85-660F-4AF4-AEBB-678ED1B7F78A}" type="presParOf" srcId="{63DF2FC3-EF0D-4978-B1C6-789C3B333225}" destId="{91C2E523-7DF9-475C-AECD-9215512AAEA3}" srcOrd="1" destOrd="0" presId="urn:microsoft.com/office/officeart/2005/8/layout/process1"/>
    <dgm:cxn modelId="{212EEBD7-C89A-4A3B-9525-DDEE72D8EA60}" type="presParOf" srcId="{91C2E523-7DF9-475C-AECD-9215512AAEA3}" destId="{234EF294-8FAA-418F-9A10-D8455898768C}" srcOrd="0" destOrd="0" presId="urn:microsoft.com/office/officeart/2005/8/layout/process1"/>
    <dgm:cxn modelId="{B2707F17-C89F-449B-85E3-E8B89068259D}" type="presParOf" srcId="{63DF2FC3-EF0D-4978-B1C6-789C3B333225}" destId="{C367346E-7156-4CF0-9AA7-67460CEBFC1D}" srcOrd="2" destOrd="0" presId="urn:microsoft.com/office/officeart/2005/8/layout/process1"/>
    <dgm:cxn modelId="{786E2E22-C7CD-4CE5-A082-9093CC2E5B9A}" type="presParOf" srcId="{63DF2FC3-EF0D-4978-B1C6-789C3B333225}" destId="{8591DEBA-283B-450B-B653-AFACFB363A4C}" srcOrd="3" destOrd="0" presId="urn:microsoft.com/office/officeart/2005/8/layout/process1"/>
    <dgm:cxn modelId="{24F05E31-D3AF-4054-943A-86B688A6DB42}" type="presParOf" srcId="{8591DEBA-283B-450B-B653-AFACFB363A4C}" destId="{17474260-F893-415D-8286-57F1F29E7C8E}" srcOrd="0" destOrd="0" presId="urn:microsoft.com/office/officeart/2005/8/layout/process1"/>
    <dgm:cxn modelId="{EB0E3F0D-E417-40E0-950E-7105733447DE}" type="presParOf" srcId="{63DF2FC3-EF0D-4978-B1C6-789C3B333225}" destId="{B7E549EE-E123-489C-8AEC-5DE42E70B858}"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04BAB4-0BCC-49B1-858B-912C4587131C}">
      <dsp:nvSpPr>
        <dsp:cNvPr id="0" name=""/>
        <dsp:cNvSpPr/>
      </dsp:nvSpPr>
      <dsp:spPr>
        <a:xfrm>
          <a:off x="0" y="2916821"/>
          <a:ext cx="13737031" cy="58925"/>
        </a:xfrm>
        <a:prstGeom prst="rect">
          <a:avLst/>
        </a:prstGeom>
        <a:solidFill>
          <a:srgbClr val="00EB5B"/>
        </a:solidFill>
        <a:ln>
          <a:noFill/>
        </a:ln>
        <a:effectLst>
          <a:outerShdw blurRad="50800" dist="38100" dir="5400000" algn="t" rotWithShape="0">
            <a:prstClr val="black">
              <a:alpha val="40000"/>
            </a:prstClr>
          </a:outerShdw>
        </a:effectLst>
      </dsp:spPr>
      <dsp:style>
        <a:lnRef idx="0">
          <a:scrgbClr r="0" g="0" b="0"/>
        </a:lnRef>
        <a:fillRef idx="1">
          <a:scrgbClr r="0" g="0" b="0"/>
        </a:fillRef>
        <a:effectRef idx="0">
          <a:scrgbClr r="0" g="0" b="0"/>
        </a:effectRef>
        <a:fontRef idx="minor"/>
      </dsp:style>
    </dsp:sp>
    <dsp:sp modelId="{98499E1C-9371-4C8C-9F38-C594D5A3BEC4}">
      <dsp:nvSpPr>
        <dsp:cNvPr id="0" name=""/>
        <dsp:cNvSpPr/>
      </dsp:nvSpPr>
      <dsp:spPr>
        <a:xfrm>
          <a:off x="13438645" y="2710581"/>
          <a:ext cx="353554" cy="471405"/>
        </a:xfrm>
        <a:prstGeom prst="chevron">
          <a:avLst>
            <a:gd name="adj" fmla="val 75000"/>
          </a:avLst>
        </a:prstGeom>
        <a:solidFill>
          <a:srgbClr val="00EB5B"/>
        </a:solidFill>
        <a:ln>
          <a:noFill/>
        </a:ln>
        <a:effectLst>
          <a:outerShdw blurRad="50800" dist="38100" dir="5400000" algn="t" rotWithShape="0">
            <a:prstClr val="black">
              <a:alpha val="40000"/>
            </a:prstClr>
          </a:outerShdw>
        </a:effectLst>
      </dsp:spPr>
      <dsp:style>
        <a:lnRef idx="0">
          <a:scrgbClr r="0" g="0" b="0"/>
        </a:lnRef>
        <a:fillRef idx="1">
          <a:scrgbClr r="0" g="0" b="0"/>
        </a:fillRef>
        <a:effectRef idx="0">
          <a:scrgbClr r="0" g="0" b="0"/>
        </a:effectRef>
        <a:fontRef idx="minor"/>
      </dsp:style>
    </dsp:sp>
    <dsp:sp modelId="{6F4AE6F3-BED9-4528-A95D-F31425E1D690}">
      <dsp:nvSpPr>
        <dsp:cNvPr id="0" name=""/>
        <dsp:cNvSpPr/>
      </dsp:nvSpPr>
      <dsp:spPr>
        <a:xfrm>
          <a:off x="740093" y="1343505"/>
          <a:ext cx="3201256" cy="136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90000"/>
            </a:lnSpc>
            <a:spcBef>
              <a:spcPct val="0"/>
            </a:spcBef>
            <a:spcAft>
              <a:spcPct val="35000"/>
            </a:spcAft>
            <a:buNone/>
          </a:pPr>
          <a:r>
            <a:rPr lang="en-US" sz="2200" kern="1200">
              <a:solidFill>
                <a:srgbClr val="002B11"/>
              </a:solidFill>
              <a:latin typeface="Poppins" panose="00000500000000000000" pitchFamily="2" charset="0"/>
              <a:cs typeface="Poppins" panose="00000500000000000000" pitchFamily="2" charset="0"/>
            </a:rPr>
            <a:t>Fresh unassigned ticket awaiting triage</a:t>
          </a:r>
          <a:endParaRPr lang="en-US" sz="2200" kern="1200" dirty="0">
            <a:solidFill>
              <a:srgbClr val="002B11"/>
            </a:solidFill>
            <a:latin typeface="Poppins" panose="00000500000000000000" pitchFamily="2" charset="0"/>
            <a:cs typeface="Poppins" panose="00000500000000000000" pitchFamily="2" charset="0"/>
          </a:endParaRPr>
        </a:p>
      </dsp:txBody>
      <dsp:txXfrm>
        <a:off x="740093" y="1343505"/>
        <a:ext cx="3201256" cy="1367075"/>
      </dsp:txXfrm>
    </dsp:sp>
    <dsp:sp modelId="{94691635-B8FD-4B36-AC48-ABE43602DD1D}">
      <dsp:nvSpPr>
        <dsp:cNvPr id="0" name=""/>
        <dsp:cNvSpPr/>
      </dsp:nvSpPr>
      <dsp:spPr>
        <a:xfrm>
          <a:off x="740093" y="636397"/>
          <a:ext cx="3201256" cy="707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defRPr b="1"/>
          </a:pPr>
          <a:r>
            <a:rPr lang="en-US" sz="2200" kern="1200">
              <a:solidFill>
                <a:srgbClr val="002B11"/>
              </a:solidFill>
              <a:latin typeface="Poppins" panose="00000500000000000000" pitchFamily="2" charset="0"/>
              <a:cs typeface="Poppins" panose="00000500000000000000" pitchFamily="2" charset="0"/>
            </a:rPr>
            <a:t>New</a:t>
          </a:r>
          <a:endParaRPr lang="en-US" sz="2200" kern="1200" dirty="0">
            <a:solidFill>
              <a:srgbClr val="002B11"/>
            </a:solidFill>
            <a:latin typeface="Poppins" panose="00000500000000000000" pitchFamily="2" charset="0"/>
            <a:cs typeface="Poppins" panose="00000500000000000000" pitchFamily="2" charset="0"/>
          </a:endParaRPr>
        </a:p>
      </dsp:txBody>
      <dsp:txXfrm>
        <a:off x="740093" y="636397"/>
        <a:ext cx="3201256" cy="707108"/>
      </dsp:txXfrm>
    </dsp:sp>
    <dsp:sp modelId="{5E4817C7-6B3A-44A6-90BC-A34B504A9F35}">
      <dsp:nvSpPr>
        <dsp:cNvPr id="0" name=""/>
        <dsp:cNvSpPr/>
      </dsp:nvSpPr>
      <dsp:spPr>
        <a:xfrm>
          <a:off x="347813" y="589256"/>
          <a:ext cx="46150" cy="2357027"/>
        </a:xfrm>
        <a:prstGeom prst="rect">
          <a:avLst/>
        </a:prstGeom>
        <a:solidFill>
          <a:srgbClr val="00EB5B"/>
        </a:solidFill>
        <a:ln>
          <a:noFill/>
        </a:ln>
        <a:effectLst>
          <a:outerShdw blurRad="50800" dist="38100" dir="5400000" algn="t" rotWithShape="0">
            <a:prstClr val="black">
              <a:alpha val="40000"/>
            </a:prstClr>
          </a:outerShdw>
        </a:effectLst>
      </dsp:spPr>
      <dsp:style>
        <a:lnRef idx="0">
          <a:scrgbClr r="0" g="0" b="0"/>
        </a:lnRef>
        <a:fillRef idx="1">
          <a:scrgbClr r="0" g="0" b="0"/>
        </a:fillRef>
        <a:effectRef idx="0">
          <a:scrgbClr r="0" g="0" b="0"/>
        </a:effectRef>
        <a:fontRef idx="minor"/>
      </dsp:style>
    </dsp:sp>
    <dsp:sp modelId="{9D334FEB-20C3-45F1-9A02-BD3863F10364}">
      <dsp:nvSpPr>
        <dsp:cNvPr id="0" name=""/>
        <dsp:cNvSpPr/>
      </dsp:nvSpPr>
      <dsp:spPr>
        <a:xfrm>
          <a:off x="2709926" y="4148367"/>
          <a:ext cx="3201256" cy="1107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90000"/>
            </a:lnSpc>
            <a:spcBef>
              <a:spcPct val="0"/>
            </a:spcBef>
            <a:spcAft>
              <a:spcPct val="35000"/>
            </a:spcAft>
            <a:buNone/>
          </a:pPr>
          <a:r>
            <a:rPr lang="en-US" sz="2200" kern="1200" dirty="0">
              <a:latin typeface="Poppins" panose="00000500000000000000" pitchFamily="2" charset="0"/>
              <a:cs typeface="Poppins" panose="00000500000000000000" pitchFamily="2" charset="0"/>
            </a:rPr>
            <a:t>Assigned to agent; team action required</a:t>
          </a:r>
        </a:p>
      </dsp:txBody>
      <dsp:txXfrm>
        <a:off x="2709926" y="4148367"/>
        <a:ext cx="3201256" cy="1107802"/>
      </dsp:txXfrm>
    </dsp:sp>
    <dsp:sp modelId="{EC2B466A-092B-491A-BF51-E4984D3618CE}">
      <dsp:nvSpPr>
        <dsp:cNvPr id="0" name=""/>
        <dsp:cNvSpPr/>
      </dsp:nvSpPr>
      <dsp:spPr>
        <a:xfrm>
          <a:off x="2709926" y="3417689"/>
          <a:ext cx="3201256" cy="730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defRPr b="1"/>
          </a:pPr>
          <a:r>
            <a:rPr lang="en-US" sz="2200" kern="1200" dirty="0">
              <a:latin typeface="Poppins" panose="00000500000000000000" pitchFamily="2" charset="0"/>
              <a:cs typeface="Poppins" panose="00000500000000000000" pitchFamily="2" charset="0"/>
            </a:rPr>
            <a:t>Open</a:t>
          </a:r>
        </a:p>
      </dsp:txBody>
      <dsp:txXfrm>
        <a:off x="2709926" y="3417689"/>
        <a:ext cx="3201256" cy="730678"/>
      </dsp:txXfrm>
    </dsp:sp>
    <dsp:sp modelId="{7653544D-2C26-4DC0-963A-571B18D8E4AB}">
      <dsp:nvSpPr>
        <dsp:cNvPr id="0" name=""/>
        <dsp:cNvSpPr/>
      </dsp:nvSpPr>
      <dsp:spPr>
        <a:xfrm>
          <a:off x="2317646" y="2946284"/>
          <a:ext cx="46150" cy="2357027"/>
        </a:xfrm>
        <a:prstGeom prst="rect">
          <a:avLst/>
        </a:prstGeom>
        <a:solidFill>
          <a:srgbClr val="00EB5B"/>
        </a:solidFill>
        <a:ln>
          <a:noFill/>
        </a:ln>
        <a:effectLst>
          <a:outerShdw blurRad="50800" dist="38100" dir="5400000" algn="t" rotWithShape="0">
            <a:prstClr val="black">
              <a:alpha val="40000"/>
            </a:prstClr>
          </a:outerShdw>
        </a:effectLst>
      </dsp:spPr>
      <dsp:style>
        <a:lnRef idx="0">
          <a:scrgbClr r="0" g="0" b="0"/>
        </a:lnRef>
        <a:fillRef idx="1">
          <a:scrgbClr r="0" g="0" b="0"/>
        </a:fillRef>
        <a:effectRef idx="0">
          <a:scrgbClr r="0" g="0" b="0"/>
        </a:effectRef>
        <a:fontRef idx="minor"/>
      </dsp:style>
    </dsp:sp>
    <dsp:sp modelId="{D25D1F5B-B5FD-4EAE-A6FD-D24E55B796F1}">
      <dsp:nvSpPr>
        <dsp:cNvPr id="0" name=""/>
        <dsp:cNvSpPr/>
      </dsp:nvSpPr>
      <dsp:spPr>
        <a:xfrm>
          <a:off x="250896" y="2826292"/>
          <a:ext cx="239983" cy="239983"/>
        </a:xfrm>
        <a:prstGeom prst="ellipse">
          <a:avLst/>
        </a:prstGeom>
        <a:solidFill>
          <a:srgbClr val="FFC000"/>
        </a:solidFill>
        <a:ln w="12700" cap="flat" cmpd="sng" algn="ctr">
          <a:solidFill>
            <a:srgbClr val="FFFFFF"/>
          </a:solidFill>
          <a:prstDash val="solid"/>
          <a:miter lim="800000"/>
        </a:ln>
        <a:effectLst>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sp>
    <dsp:sp modelId="{FD3EF933-6F09-4084-875A-0830223688AC}">
      <dsp:nvSpPr>
        <dsp:cNvPr id="0" name=""/>
        <dsp:cNvSpPr/>
      </dsp:nvSpPr>
      <dsp:spPr>
        <a:xfrm>
          <a:off x="2220730" y="2826292"/>
          <a:ext cx="239983" cy="239983"/>
        </a:xfrm>
        <a:prstGeom prst="ellipse">
          <a:avLst/>
        </a:prstGeom>
        <a:solidFill>
          <a:srgbClr val="EE0000"/>
        </a:solidFill>
        <a:ln w="12700" cap="flat" cmpd="sng" algn="ctr">
          <a:solidFill>
            <a:srgbClr val="FFFFFF"/>
          </a:solidFill>
          <a:prstDash val="solid"/>
          <a:miter lim="800000"/>
        </a:ln>
        <a:effectLst>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sp>
    <dsp:sp modelId="{067C0BB0-095E-46D5-9960-758C5C718D58}">
      <dsp:nvSpPr>
        <dsp:cNvPr id="0" name=""/>
        <dsp:cNvSpPr/>
      </dsp:nvSpPr>
      <dsp:spPr>
        <a:xfrm>
          <a:off x="4679760" y="1343505"/>
          <a:ext cx="3201256" cy="136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90000"/>
            </a:lnSpc>
            <a:spcBef>
              <a:spcPct val="0"/>
            </a:spcBef>
            <a:spcAft>
              <a:spcPct val="35000"/>
            </a:spcAft>
            <a:buNone/>
          </a:pPr>
          <a:r>
            <a:rPr lang="en-US" sz="2200" kern="1200" dirty="0">
              <a:latin typeface="Poppins" panose="00000500000000000000" pitchFamily="2" charset="0"/>
              <a:cs typeface="Poppins" panose="00000500000000000000" pitchFamily="2" charset="0"/>
            </a:rPr>
            <a:t>Awaiting vital details from requester</a:t>
          </a:r>
        </a:p>
      </dsp:txBody>
      <dsp:txXfrm>
        <a:off x="4679760" y="1343505"/>
        <a:ext cx="3201256" cy="1367075"/>
      </dsp:txXfrm>
    </dsp:sp>
    <dsp:sp modelId="{4150BF80-B8AF-4F9A-ABFA-2385390D8012}">
      <dsp:nvSpPr>
        <dsp:cNvPr id="0" name=""/>
        <dsp:cNvSpPr/>
      </dsp:nvSpPr>
      <dsp:spPr>
        <a:xfrm>
          <a:off x="4679760" y="636397"/>
          <a:ext cx="3201256" cy="707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defRPr b="1"/>
          </a:pPr>
          <a:r>
            <a:rPr lang="en-US" sz="2200" kern="1200" dirty="0">
              <a:latin typeface="Poppins" panose="00000500000000000000" pitchFamily="2" charset="0"/>
              <a:cs typeface="Poppins" panose="00000500000000000000" pitchFamily="2" charset="0"/>
            </a:rPr>
            <a:t>Pending</a:t>
          </a:r>
        </a:p>
      </dsp:txBody>
      <dsp:txXfrm>
        <a:off x="4679760" y="636397"/>
        <a:ext cx="3201256" cy="707108"/>
      </dsp:txXfrm>
    </dsp:sp>
    <dsp:sp modelId="{5A80A86A-5EE6-486A-934B-4C25B6C727BE}">
      <dsp:nvSpPr>
        <dsp:cNvPr id="0" name=""/>
        <dsp:cNvSpPr/>
      </dsp:nvSpPr>
      <dsp:spPr>
        <a:xfrm>
          <a:off x="4287479" y="589256"/>
          <a:ext cx="46150" cy="2357027"/>
        </a:xfrm>
        <a:prstGeom prst="rect">
          <a:avLst/>
        </a:prstGeom>
        <a:solidFill>
          <a:srgbClr val="00EB5B"/>
        </a:solidFill>
        <a:ln>
          <a:noFill/>
        </a:ln>
        <a:effectLst>
          <a:outerShdw blurRad="50800" dist="38100" dir="5400000" algn="t" rotWithShape="0">
            <a:prstClr val="black">
              <a:alpha val="40000"/>
            </a:prstClr>
          </a:outerShdw>
        </a:effectLst>
      </dsp:spPr>
      <dsp:style>
        <a:lnRef idx="0">
          <a:scrgbClr r="0" g="0" b="0"/>
        </a:lnRef>
        <a:fillRef idx="1">
          <a:scrgbClr r="0" g="0" b="0"/>
        </a:fillRef>
        <a:effectRef idx="0">
          <a:scrgbClr r="0" g="0" b="0"/>
        </a:effectRef>
        <a:fontRef idx="minor"/>
      </dsp:style>
    </dsp:sp>
    <dsp:sp modelId="{182720B0-2D5E-4362-BC55-FA84B88F33E1}">
      <dsp:nvSpPr>
        <dsp:cNvPr id="0" name=""/>
        <dsp:cNvSpPr/>
      </dsp:nvSpPr>
      <dsp:spPr>
        <a:xfrm>
          <a:off x="6649593" y="4148367"/>
          <a:ext cx="3201256" cy="1107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90000"/>
            </a:lnSpc>
            <a:spcBef>
              <a:spcPct val="0"/>
            </a:spcBef>
            <a:spcAft>
              <a:spcPct val="35000"/>
            </a:spcAft>
            <a:buNone/>
          </a:pPr>
          <a:r>
            <a:rPr lang="en-US" sz="2200" kern="1200" dirty="0">
              <a:latin typeface="Poppins" panose="00000500000000000000" pitchFamily="2" charset="0"/>
              <a:cs typeface="Poppins" panose="00000500000000000000" pitchFamily="2" charset="0"/>
            </a:rPr>
            <a:t>Paused for internal research/3rd-party review</a:t>
          </a:r>
        </a:p>
      </dsp:txBody>
      <dsp:txXfrm>
        <a:off x="6649593" y="4148367"/>
        <a:ext cx="3201256" cy="1107802"/>
      </dsp:txXfrm>
    </dsp:sp>
    <dsp:sp modelId="{8AACB215-BB0B-445D-AB92-E5C0F8C9A6EE}">
      <dsp:nvSpPr>
        <dsp:cNvPr id="0" name=""/>
        <dsp:cNvSpPr/>
      </dsp:nvSpPr>
      <dsp:spPr>
        <a:xfrm>
          <a:off x="6649593" y="3417689"/>
          <a:ext cx="3201256" cy="730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defRPr b="1"/>
          </a:pPr>
          <a:r>
            <a:rPr lang="en-US" sz="2200" kern="1200" dirty="0">
              <a:latin typeface="Poppins" panose="00000500000000000000" pitchFamily="2" charset="0"/>
              <a:cs typeface="Poppins" panose="00000500000000000000" pitchFamily="2" charset="0"/>
            </a:rPr>
            <a:t>On Hold</a:t>
          </a:r>
        </a:p>
      </dsp:txBody>
      <dsp:txXfrm>
        <a:off x="6649593" y="3417689"/>
        <a:ext cx="3201256" cy="730678"/>
      </dsp:txXfrm>
    </dsp:sp>
    <dsp:sp modelId="{FC67AE95-2CC9-44AA-B09F-0388715E0683}">
      <dsp:nvSpPr>
        <dsp:cNvPr id="0" name=""/>
        <dsp:cNvSpPr/>
      </dsp:nvSpPr>
      <dsp:spPr>
        <a:xfrm>
          <a:off x="6257313" y="2946284"/>
          <a:ext cx="46150" cy="2357027"/>
        </a:xfrm>
        <a:prstGeom prst="rect">
          <a:avLst/>
        </a:prstGeom>
        <a:solidFill>
          <a:srgbClr val="00EB5B"/>
        </a:solidFill>
        <a:ln>
          <a:noFill/>
        </a:ln>
        <a:effectLst>
          <a:outerShdw blurRad="50800" dist="38100" dir="5400000" algn="t" rotWithShape="0">
            <a:prstClr val="black">
              <a:alpha val="40000"/>
            </a:prstClr>
          </a:outerShdw>
        </a:effectLst>
      </dsp:spPr>
      <dsp:style>
        <a:lnRef idx="0">
          <a:scrgbClr r="0" g="0" b="0"/>
        </a:lnRef>
        <a:fillRef idx="1">
          <a:scrgbClr r="0" g="0" b="0"/>
        </a:fillRef>
        <a:effectRef idx="0">
          <a:scrgbClr r="0" g="0" b="0"/>
        </a:effectRef>
        <a:fontRef idx="minor"/>
      </dsp:style>
    </dsp:sp>
    <dsp:sp modelId="{703FA083-3954-4C68-8678-AE60F93CD6A6}">
      <dsp:nvSpPr>
        <dsp:cNvPr id="0" name=""/>
        <dsp:cNvSpPr/>
      </dsp:nvSpPr>
      <dsp:spPr>
        <a:xfrm>
          <a:off x="4190563" y="2826292"/>
          <a:ext cx="239983" cy="239983"/>
        </a:xfrm>
        <a:prstGeom prst="ellipse">
          <a:avLst/>
        </a:prstGeom>
        <a:solidFill>
          <a:srgbClr val="4C94D8"/>
        </a:solidFill>
        <a:ln w="19050" cap="flat" cmpd="sng" algn="ctr">
          <a:solidFill>
            <a:schemeClr val="bg1"/>
          </a:solidFill>
          <a:prstDash val="solid"/>
          <a:miter lim="800000"/>
        </a:ln>
        <a:effectLst>
          <a:outerShdw blurRad="50800" dist="38100" dir="5400000" algn="t"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sp>
    <dsp:sp modelId="{764F49C7-8190-429A-8D12-9D20EE75D95E}">
      <dsp:nvSpPr>
        <dsp:cNvPr id="0" name=""/>
        <dsp:cNvSpPr/>
      </dsp:nvSpPr>
      <dsp:spPr>
        <a:xfrm>
          <a:off x="6160396" y="2826292"/>
          <a:ext cx="239983" cy="239983"/>
        </a:xfrm>
        <a:prstGeom prst="ellipse">
          <a:avLst/>
        </a:prstGeom>
        <a:solidFill>
          <a:srgbClr val="000000"/>
        </a:solidFill>
        <a:ln w="12700" cap="flat" cmpd="sng" algn="ctr">
          <a:solidFill>
            <a:srgbClr val="FFFFFF"/>
          </a:solidFill>
          <a:prstDash val="solid"/>
          <a:miter lim="800000"/>
        </a:ln>
        <a:effectLst>
          <a:outerShdw blurRad="50800" dist="38100" dir="5400000" algn="t"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sp>
    <dsp:sp modelId="{B6B3EF20-751C-4E13-8E5E-BBD14367DE58}">
      <dsp:nvSpPr>
        <dsp:cNvPr id="0" name=""/>
        <dsp:cNvSpPr/>
      </dsp:nvSpPr>
      <dsp:spPr>
        <a:xfrm>
          <a:off x="8619426" y="1343505"/>
          <a:ext cx="3201256" cy="136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90000"/>
            </a:lnSpc>
            <a:spcBef>
              <a:spcPct val="0"/>
            </a:spcBef>
            <a:spcAft>
              <a:spcPct val="35000"/>
            </a:spcAft>
            <a:buNone/>
          </a:pPr>
          <a:r>
            <a:rPr lang="en-US" sz="2200" kern="1200" dirty="0">
              <a:latin typeface="Poppins" panose="00000500000000000000" pitchFamily="2" charset="0"/>
              <a:cs typeface="Poppins" panose="00000500000000000000" pitchFamily="2" charset="0"/>
            </a:rPr>
            <a:t>Resolution provided to the user</a:t>
          </a:r>
        </a:p>
      </dsp:txBody>
      <dsp:txXfrm>
        <a:off x="8619426" y="1343505"/>
        <a:ext cx="3201256" cy="1367075"/>
      </dsp:txXfrm>
    </dsp:sp>
    <dsp:sp modelId="{B80338E4-08E5-46FA-9778-2F392E77DD7C}">
      <dsp:nvSpPr>
        <dsp:cNvPr id="0" name=""/>
        <dsp:cNvSpPr/>
      </dsp:nvSpPr>
      <dsp:spPr>
        <a:xfrm>
          <a:off x="8619426" y="636397"/>
          <a:ext cx="3201256" cy="707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defRPr b="1"/>
          </a:pPr>
          <a:r>
            <a:rPr lang="en-US" sz="2200" kern="1200" dirty="0">
              <a:latin typeface="Poppins" panose="00000500000000000000" pitchFamily="2" charset="0"/>
              <a:cs typeface="Poppins" panose="00000500000000000000" pitchFamily="2" charset="0"/>
            </a:rPr>
            <a:t>Solved</a:t>
          </a:r>
        </a:p>
      </dsp:txBody>
      <dsp:txXfrm>
        <a:off x="8619426" y="636397"/>
        <a:ext cx="3201256" cy="707108"/>
      </dsp:txXfrm>
    </dsp:sp>
    <dsp:sp modelId="{2A44B911-AA29-4C20-9180-05BD50594E29}">
      <dsp:nvSpPr>
        <dsp:cNvPr id="0" name=""/>
        <dsp:cNvSpPr/>
      </dsp:nvSpPr>
      <dsp:spPr>
        <a:xfrm>
          <a:off x="8227146" y="589256"/>
          <a:ext cx="46150" cy="2357027"/>
        </a:xfrm>
        <a:prstGeom prst="rect">
          <a:avLst/>
        </a:prstGeom>
        <a:solidFill>
          <a:srgbClr val="00EB5B"/>
        </a:solidFill>
        <a:ln>
          <a:noFill/>
        </a:ln>
        <a:effectLst>
          <a:outerShdw blurRad="50800" dist="38100" dir="5400000" algn="t" rotWithShape="0">
            <a:prstClr val="black">
              <a:alpha val="40000"/>
            </a:prstClr>
          </a:outerShdw>
        </a:effectLst>
      </dsp:spPr>
      <dsp:style>
        <a:lnRef idx="0">
          <a:scrgbClr r="0" g="0" b="0"/>
        </a:lnRef>
        <a:fillRef idx="1">
          <a:scrgbClr r="0" g="0" b="0"/>
        </a:fillRef>
        <a:effectRef idx="0">
          <a:scrgbClr r="0" g="0" b="0"/>
        </a:effectRef>
        <a:fontRef idx="minor"/>
      </dsp:style>
    </dsp:sp>
    <dsp:sp modelId="{C65569AA-CA37-43AA-817D-EF4455E8D26F}">
      <dsp:nvSpPr>
        <dsp:cNvPr id="0" name=""/>
        <dsp:cNvSpPr/>
      </dsp:nvSpPr>
      <dsp:spPr>
        <a:xfrm>
          <a:off x="10589259" y="4148367"/>
          <a:ext cx="3201256" cy="1107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90000"/>
            </a:lnSpc>
            <a:spcBef>
              <a:spcPct val="0"/>
            </a:spcBef>
            <a:spcAft>
              <a:spcPct val="35000"/>
            </a:spcAft>
            <a:buNone/>
          </a:pPr>
          <a:r>
            <a:rPr lang="en-US" sz="2200" kern="1200" dirty="0">
              <a:latin typeface="Poppins" panose="00000500000000000000" pitchFamily="2" charset="0"/>
              <a:cs typeface="Poppins" panose="00000500000000000000" pitchFamily="2" charset="0"/>
            </a:rPr>
            <a:t>Automatically closed due to inactivity</a:t>
          </a:r>
        </a:p>
      </dsp:txBody>
      <dsp:txXfrm>
        <a:off x="10589259" y="4148367"/>
        <a:ext cx="3201256" cy="1107802"/>
      </dsp:txXfrm>
    </dsp:sp>
    <dsp:sp modelId="{79286546-2118-4D89-BB16-C6CB545028A2}">
      <dsp:nvSpPr>
        <dsp:cNvPr id="0" name=""/>
        <dsp:cNvSpPr/>
      </dsp:nvSpPr>
      <dsp:spPr>
        <a:xfrm>
          <a:off x="10589259" y="3417689"/>
          <a:ext cx="3201256" cy="730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defRPr b="1"/>
          </a:pPr>
          <a:r>
            <a:rPr lang="en-US" sz="2200" kern="1200" dirty="0">
              <a:latin typeface="Poppins" panose="00000500000000000000" pitchFamily="2" charset="0"/>
              <a:cs typeface="Poppins" panose="00000500000000000000" pitchFamily="2" charset="0"/>
            </a:rPr>
            <a:t>Closed</a:t>
          </a:r>
        </a:p>
      </dsp:txBody>
      <dsp:txXfrm>
        <a:off x="10589259" y="3417689"/>
        <a:ext cx="3201256" cy="730678"/>
      </dsp:txXfrm>
    </dsp:sp>
    <dsp:sp modelId="{EEAAC970-B548-4C39-B278-FC637FAED3DB}">
      <dsp:nvSpPr>
        <dsp:cNvPr id="0" name=""/>
        <dsp:cNvSpPr/>
      </dsp:nvSpPr>
      <dsp:spPr>
        <a:xfrm>
          <a:off x="10196979" y="2946284"/>
          <a:ext cx="46150" cy="2357027"/>
        </a:xfrm>
        <a:prstGeom prst="rect">
          <a:avLst/>
        </a:prstGeom>
        <a:solidFill>
          <a:srgbClr val="00EB5B"/>
        </a:solidFill>
        <a:ln>
          <a:noFill/>
        </a:ln>
        <a:effectLst>
          <a:outerShdw blurRad="50800" dist="38100" dir="5400000" algn="t" rotWithShape="0">
            <a:prstClr val="black">
              <a:alpha val="40000"/>
            </a:prstClr>
          </a:outerShdw>
        </a:effectLst>
      </dsp:spPr>
      <dsp:style>
        <a:lnRef idx="0">
          <a:scrgbClr r="0" g="0" b="0"/>
        </a:lnRef>
        <a:fillRef idx="1">
          <a:scrgbClr r="0" g="0" b="0"/>
        </a:fillRef>
        <a:effectRef idx="0">
          <a:scrgbClr r="0" g="0" b="0"/>
        </a:effectRef>
        <a:fontRef idx="minor"/>
      </dsp:style>
    </dsp:sp>
    <dsp:sp modelId="{8A6A90FD-E280-43D1-BA55-E5435C421596}">
      <dsp:nvSpPr>
        <dsp:cNvPr id="0" name=""/>
        <dsp:cNvSpPr/>
      </dsp:nvSpPr>
      <dsp:spPr>
        <a:xfrm>
          <a:off x="8130229" y="2826292"/>
          <a:ext cx="239983" cy="239983"/>
        </a:xfrm>
        <a:prstGeom prst="ellipse">
          <a:avLst/>
        </a:prstGeom>
        <a:solidFill>
          <a:srgbClr val="747474"/>
        </a:solidFill>
        <a:ln w="9525" cap="flat" cmpd="sng" algn="ctr">
          <a:solidFill>
            <a:schemeClr val="bg1"/>
          </a:solidFill>
          <a:prstDash val="solid"/>
          <a:miter lim="800000"/>
        </a:ln>
        <a:effectLst>
          <a:outerShdw blurRad="50800" dist="38100" dir="5400000" algn="t"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sp>
    <dsp:sp modelId="{2410B3EB-79E3-40D8-9BC9-F81203ABDE9C}">
      <dsp:nvSpPr>
        <dsp:cNvPr id="0" name=""/>
        <dsp:cNvSpPr/>
      </dsp:nvSpPr>
      <dsp:spPr>
        <a:xfrm>
          <a:off x="10100063" y="2826292"/>
          <a:ext cx="239983" cy="239983"/>
        </a:xfrm>
        <a:prstGeom prst="ellipse">
          <a:avLst/>
        </a:prstGeom>
        <a:solidFill>
          <a:srgbClr val="00EB5B"/>
        </a:solidFill>
        <a:ln w="12700" cap="flat" cmpd="sng" algn="ctr">
          <a:solidFill>
            <a:schemeClr val="lt1">
              <a:hueOff val="0"/>
              <a:satOff val="0"/>
              <a:lumOff val="0"/>
              <a:alphaOff val="0"/>
            </a:schemeClr>
          </a:solidFill>
          <a:prstDash val="solid"/>
          <a:miter lim="800000"/>
        </a:ln>
        <a:effectLst>
          <a:outerShdw blurRad="50800" dist="38100" dir="5400000" algn="t"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26654C-9495-43C7-B17D-0DCB84BC0883}">
      <dsp:nvSpPr>
        <dsp:cNvPr id="0" name=""/>
        <dsp:cNvSpPr/>
      </dsp:nvSpPr>
      <dsp:spPr>
        <a:xfrm>
          <a:off x="8129" y="2563780"/>
          <a:ext cx="2520053" cy="3000438"/>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dirty="0">
              <a:latin typeface="Poppins" panose="00000500000000000000" pitchFamily="2" charset="0"/>
              <a:cs typeface="Poppins" panose="00000500000000000000" pitchFamily="2" charset="0"/>
            </a:rPr>
            <a:t>Assign the ticket to yourself by clicking</a:t>
          </a:r>
        </a:p>
        <a:p>
          <a:pPr marL="0" lvl="0" indent="0" algn="ctr" defTabSz="1244600">
            <a:lnSpc>
              <a:spcPct val="90000"/>
            </a:lnSpc>
            <a:spcBef>
              <a:spcPct val="0"/>
            </a:spcBef>
            <a:spcAft>
              <a:spcPct val="35000"/>
            </a:spcAft>
            <a:buNone/>
          </a:pPr>
          <a:r>
            <a:rPr lang="en-US" sz="2800" b="0" i="1" kern="1200" dirty="0">
              <a:latin typeface="Poppins" panose="00000500000000000000" pitchFamily="2" charset="0"/>
              <a:cs typeface="Poppins" panose="00000500000000000000" pitchFamily="2" charset="0"/>
            </a:rPr>
            <a:t>"</a:t>
          </a:r>
          <a:r>
            <a:rPr lang="en-US" sz="2800" b="1" i="1" kern="1200" dirty="0">
              <a:latin typeface="Poppins" panose="00000500000000000000" pitchFamily="2" charset="0"/>
              <a:cs typeface="Poppins" panose="00000500000000000000" pitchFamily="2" charset="0"/>
            </a:rPr>
            <a:t>take</a:t>
          </a:r>
          <a:r>
            <a:rPr lang="en-US" sz="2800" b="0" i="1" kern="1200" dirty="0">
              <a:latin typeface="Poppins" panose="00000500000000000000" pitchFamily="2" charset="0"/>
              <a:cs typeface="Poppins" panose="00000500000000000000" pitchFamily="2" charset="0"/>
            </a:rPr>
            <a:t> </a:t>
          </a:r>
          <a:r>
            <a:rPr lang="en-US" sz="2800" b="1" i="1" kern="1200" dirty="0">
              <a:latin typeface="Poppins" panose="00000500000000000000" pitchFamily="2" charset="0"/>
              <a:cs typeface="Poppins" panose="00000500000000000000" pitchFamily="2" charset="0"/>
            </a:rPr>
            <a:t>it</a:t>
          </a:r>
          <a:r>
            <a:rPr lang="en-US" sz="2800" b="0" i="1" kern="1200" dirty="0">
              <a:latin typeface="Poppins" panose="00000500000000000000" pitchFamily="2" charset="0"/>
              <a:cs typeface="Poppins" panose="00000500000000000000" pitchFamily="2" charset="0"/>
            </a:rPr>
            <a:t>"</a:t>
          </a:r>
          <a:r>
            <a:rPr lang="en-US" sz="2800" b="0" i="0" kern="1200" dirty="0">
              <a:latin typeface="Poppins" panose="00000500000000000000" pitchFamily="2" charset="0"/>
              <a:cs typeface="Poppins" panose="00000500000000000000" pitchFamily="2" charset="0"/>
            </a:rPr>
            <a:t>.</a:t>
          </a:r>
          <a:endParaRPr lang="en-US" sz="2800" kern="1200" dirty="0">
            <a:latin typeface="Poppins" panose="00000500000000000000" pitchFamily="2" charset="0"/>
            <a:cs typeface="Poppins" panose="00000500000000000000" pitchFamily="2" charset="0"/>
          </a:endParaRPr>
        </a:p>
      </dsp:txBody>
      <dsp:txXfrm>
        <a:off x="81939" y="2637590"/>
        <a:ext cx="2372433" cy="2852818"/>
      </dsp:txXfrm>
    </dsp:sp>
    <dsp:sp modelId="{91C2E523-7DF9-475C-AECD-9215512AAEA3}">
      <dsp:nvSpPr>
        <dsp:cNvPr id="0" name=""/>
        <dsp:cNvSpPr/>
      </dsp:nvSpPr>
      <dsp:spPr>
        <a:xfrm>
          <a:off x="2780187" y="3751513"/>
          <a:ext cx="534251" cy="624973"/>
        </a:xfrm>
        <a:prstGeom prst="rightArrow">
          <a:avLst>
            <a:gd name="adj1" fmla="val 60000"/>
            <a:gd name="adj2" fmla="val 5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latin typeface="Poppins" panose="00000500000000000000" pitchFamily="2" charset="0"/>
            <a:cs typeface="Poppins" panose="00000500000000000000" pitchFamily="2" charset="0"/>
          </a:endParaRPr>
        </a:p>
      </dsp:txBody>
      <dsp:txXfrm>
        <a:off x="2780187" y="3876508"/>
        <a:ext cx="373976" cy="374983"/>
      </dsp:txXfrm>
    </dsp:sp>
    <dsp:sp modelId="{C367346E-7156-4CF0-9AA7-67460CEBFC1D}">
      <dsp:nvSpPr>
        <dsp:cNvPr id="0" name=""/>
        <dsp:cNvSpPr/>
      </dsp:nvSpPr>
      <dsp:spPr>
        <a:xfrm>
          <a:off x="3536203" y="2563780"/>
          <a:ext cx="2520053" cy="3000438"/>
        </a:xfrm>
        <a:prstGeom prst="roundRect">
          <a:avLst>
            <a:gd name="adj" fmla="val 10000"/>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a:latin typeface="Poppins" panose="00000500000000000000" pitchFamily="2" charset="0"/>
              <a:ea typeface="+mn-ea"/>
              <a:cs typeface="Poppins" panose="00000500000000000000" pitchFamily="2" charset="0"/>
            </a:rPr>
            <a:t>Ensure "Ticket" is selected as the Form.</a:t>
          </a:r>
          <a:endParaRPr lang="en-US" sz="2800" b="0" i="0" kern="1200" dirty="0">
            <a:latin typeface="Poppins" panose="00000500000000000000" pitchFamily="2" charset="0"/>
            <a:ea typeface="+mn-ea"/>
            <a:cs typeface="Poppins" panose="00000500000000000000" pitchFamily="2" charset="0"/>
          </a:endParaRPr>
        </a:p>
      </dsp:txBody>
      <dsp:txXfrm>
        <a:off x="3610013" y="2637590"/>
        <a:ext cx="2372433" cy="2852818"/>
      </dsp:txXfrm>
    </dsp:sp>
    <dsp:sp modelId="{8591DEBA-283B-450B-B653-AFACFB363A4C}">
      <dsp:nvSpPr>
        <dsp:cNvPr id="0" name=""/>
        <dsp:cNvSpPr/>
      </dsp:nvSpPr>
      <dsp:spPr>
        <a:xfrm>
          <a:off x="6308262" y="3751513"/>
          <a:ext cx="534251" cy="624973"/>
        </a:xfrm>
        <a:prstGeom prst="rightArrow">
          <a:avLst>
            <a:gd name="adj1" fmla="val 60000"/>
            <a:gd name="adj2" fmla="val 50000"/>
          </a:avLst>
        </a:prstGeom>
        <a:gradFill rotWithShape="0">
          <a:gsLst>
            <a:gs pos="0">
              <a:schemeClr val="accent5">
                <a:hueOff val="-2252848"/>
                <a:satOff val="-5806"/>
                <a:lumOff val="-3922"/>
                <a:alphaOff val="0"/>
                <a:lumMod val="110000"/>
                <a:satMod val="105000"/>
                <a:tint val="67000"/>
              </a:schemeClr>
            </a:gs>
            <a:gs pos="50000">
              <a:schemeClr val="accent5">
                <a:hueOff val="-2252848"/>
                <a:satOff val="-5806"/>
                <a:lumOff val="-3922"/>
                <a:alphaOff val="0"/>
                <a:lumMod val="105000"/>
                <a:satMod val="103000"/>
                <a:tint val="73000"/>
              </a:schemeClr>
            </a:gs>
            <a:gs pos="100000">
              <a:schemeClr val="accent5">
                <a:hueOff val="-2252848"/>
                <a:satOff val="-5806"/>
                <a:lumOff val="-3922"/>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solidFill>
              <a:prstClr val="white"/>
            </a:solidFill>
            <a:latin typeface="Poppins" panose="00000500000000000000" pitchFamily="2" charset="0"/>
            <a:ea typeface="+mn-ea"/>
            <a:cs typeface="Poppins" panose="00000500000000000000" pitchFamily="2" charset="0"/>
          </a:endParaRPr>
        </a:p>
      </dsp:txBody>
      <dsp:txXfrm>
        <a:off x="6308262" y="3876508"/>
        <a:ext cx="373976" cy="374983"/>
      </dsp:txXfrm>
    </dsp:sp>
    <dsp:sp modelId="{B7E549EE-E123-489C-8AEC-5DE42E70B858}">
      <dsp:nvSpPr>
        <dsp:cNvPr id="0" name=""/>
        <dsp:cNvSpPr/>
      </dsp:nvSpPr>
      <dsp:spPr>
        <a:xfrm>
          <a:off x="7064277" y="2563780"/>
          <a:ext cx="2520053" cy="3000438"/>
        </a:xfrm>
        <a:prstGeom prst="roundRect">
          <a:avLst>
            <a:gd name="adj" fmla="val 10000"/>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a:latin typeface="Poppins" panose="00000500000000000000" pitchFamily="2" charset="0"/>
              <a:ea typeface="+mn-ea"/>
              <a:cs typeface="Poppins" panose="00000500000000000000" pitchFamily="2" charset="0"/>
            </a:rPr>
            <a:t>Enter Location ID and Review IDs. </a:t>
          </a:r>
          <a:endParaRPr lang="en-US" sz="2800" b="0" i="0" kern="1200" dirty="0">
            <a:latin typeface="Poppins" panose="00000500000000000000" pitchFamily="2" charset="0"/>
            <a:ea typeface="+mn-ea"/>
            <a:cs typeface="Poppins" panose="00000500000000000000" pitchFamily="2" charset="0"/>
          </a:endParaRPr>
        </a:p>
      </dsp:txBody>
      <dsp:txXfrm>
        <a:off x="7138087" y="2637590"/>
        <a:ext cx="2372433" cy="2852818"/>
      </dsp:txXfrm>
    </dsp:sp>
    <dsp:sp modelId="{2CE1B014-7B4E-497D-A073-4A0641C20763}">
      <dsp:nvSpPr>
        <dsp:cNvPr id="0" name=""/>
        <dsp:cNvSpPr/>
      </dsp:nvSpPr>
      <dsp:spPr>
        <a:xfrm>
          <a:off x="9836336" y="3751513"/>
          <a:ext cx="534251" cy="624973"/>
        </a:xfrm>
        <a:prstGeom prst="rightArrow">
          <a:avLst>
            <a:gd name="adj1" fmla="val 60000"/>
            <a:gd name="adj2" fmla="val 50000"/>
          </a:avLst>
        </a:prstGeom>
        <a:gradFill rotWithShape="0">
          <a:gsLst>
            <a:gs pos="0">
              <a:schemeClr val="accent5">
                <a:hueOff val="-4505695"/>
                <a:satOff val="-11613"/>
                <a:lumOff val="-7843"/>
                <a:alphaOff val="0"/>
                <a:lumMod val="110000"/>
                <a:satMod val="105000"/>
                <a:tint val="67000"/>
              </a:schemeClr>
            </a:gs>
            <a:gs pos="50000">
              <a:schemeClr val="accent5">
                <a:hueOff val="-4505695"/>
                <a:satOff val="-11613"/>
                <a:lumOff val="-7843"/>
                <a:alphaOff val="0"/>
                <a:lumMod val="105000"/>
                <a:satMod val="103000"/>
                <a:tint val="73000"/>
              </a:schemeClr>
            </a:gs>
            <a:gs pos="100000">
              <a:schemeClr val="accent5">
                <a:hueOff val="-4505695"/>
                <a:satOff val="-11613"/>
                <a:lumOff val="-7843"/>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solidFill>
              <a:prstClr val="white"/>
            </a:solidFill>
            <a:latin typeface="Poppins" panose="00000500000000000000" pitchFamily="2" charset="0"/>
            <a:ea typeface="+mn-ea"/>
            <a:cs typeface="Poppins" panose="00000500000000000000" pitchFamily="2" charset="0"/>
          </a:endParaRPr>
        </a:p>
      </dsp:txBody>
      <dsp:txXfrm>
        <a:off x="9836336" y="3876508"/>
        <a:ext cx="373976" cy="374983"/>
      </dsp:txXfrm>
    </dsp:sp>
    <dsp:sp modelId="{BDC78F72-DAE1-483C-B0D6-94BB7B92DCC5}">
      <dsp:nvSpPr>
        <dsp:cNvPr id="0" name=""/>
        <dsp:cNvSpPr/>
      </dsp:nvSpPr>
      <dsp:spPr>
        <a:xfrm>
          <a:off x="10592352" y="2563780"/>
          <a:ext cx="2520053" cy="3000438"/>
        </a:xfrm>
        <a:prstGeom prst="roundRect">
          <a:avLst>
            <a:gd name="adj" fmla="val 10000"/>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dirty="0">
              <a:latin typeface="Poppins" panose="00000500000000000000" pitchFamily="2" charset="0"/>
              <a:ea typeface="+mn-ea"/>
              <a:cs typeface="Poppins" panose="00000500000000000000" pitchFamily="2" charset="0"/>
            </a:rPr>
            <a:t>Select the correct </a:t>
          </a:r>
          <a:br>
            <a:rPr lang="en-US" sz="2800" b="0" i="0" kern="1200" dirty="0">
              <a:latin typeface="Poppins" panose="00000500000000000000" pitchFamily="2" charset="0"/>
              <a:ea typeface="+mn-ea"/>
              <a:cs typeface="Poppins" panose="00000500000000000000" pitchFamily="2" charset="0"/>
            </a:rPr>
          </a:br>
          <a:r>
            <a:rPr lang="en-US" sz="2800" b="0" i="0" kern="1200" dirty="0">
              <a:latin typeface="Poppins" panose="00000500000000000000" pitchFamily="2" charset="0"/>
              <a:ea typeface="+mn-ea"/>
              <a:cs typeface="Poppins" panose="00000500000000000000" pitchFamily="2" charset="0"/>
            </a:rPr>
            <a:t>Ticket Reason.</a:t>
          </a:r>
        </a:p>
      </dsp:txBody>
      <dsp:txXfrm>
        <a:off x="10666162" y="2637590"/>
        <a:ext cx="2372433" cy="2852818"/>
      </dsp:txXfrm>
    </dsp:sp>
    <dsp:sp modelId="{C203A7DB-5121-4D76-A32E-190374F2F853}">
      <dsp:nvSpPr>
        <dsp:cNvPr id="0" name=""/>
        <dsp:cNvSpPr/>
      </dsp:nvSpPr>
      <dsp:spPr>
        <a:xfrm>
          <a:off x="13364410" y="3751513"/>
          <a:ext cx="534251" cy="624973"/>
        </a:xfrm>
        <a:prstGeom prst="rightArrow">
          <a:avLst>
            <a:gd name="adj1" fmla="val 60000"/>
            <a:gd name="adj2" fmla="val 50000"/>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solidFill>
              <a:prstClr val="white"/>
            </a:solidFill>
            <a:latin typeface="Poppins" panose="00000500000000000000" pitchFamily="2" charset="0"/>
            <a:ea typeface="+mn-ea"/>
            <a:cs typeface="Poppins" panose="00000500000000000000" pitchFamily="2" charset="0"/>
          </a:endParaRPr>
        </a:p>
      </dsp:txBody>
      <dsp:txXfrm>
        <a:off x="13364410" y="3876508"/>
        <a:ext cx="373976" cy="374983"/>
      </dsp:txXfrm>
    </dsp:sp>
    <dsp:sp modelId="{0D9C8A1C-4A87-4588-8731-0BBCD4D08539}">
      <dsp:nvSpPr>
        <dsp:cNvPr id="0" name=""/>
        <dsp:cNvSpPr/>
      </dsp:nvSpPr>
      <dsp:spPr>
        <a:xfrm>
          <a:off x="14120426" y="2563780"/>
          <a:ext cx="2520053" cy="3000438"/>
        </a:xfrm>
        <a:prstGeom prst="roundRect">
          <a:avLst>
            <a:gd name="adj" fmla="val 10000"/>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a:latin typeface="Poppins" panose="00000500000000000000" pitchFamily="2" charset="0"/>
              <a:ea typeface="+mn-ea"/>
              <a:cs typeface="Poppins" panose="00000500000000000000" pitchFamily="2" charset="0"/>
            </a:rPr>
            <a:t>Submit the ticket as "Open" to save changes. </a:t>
          </a:r>
          <a:endParaRPr lang="en-US" sz="2800" b="0" i="0" kern="1200" dirty="0">
            <a:latin typeface="Poppins" panose="00000500000000000000" pitchFamily="2" charset="0"/>
            <a:ea typeface="+mn-ea"/>
            <a:cs typeface="Poppins" panose="00000500000000000000" pitchFamily="2" charset="0"/>
          </a:endParaRPr>
        </a:p>
      </dsp:txBody>
      <dsp:txXfrm>
        <a:off x="14194236" y="2637590"/>
        <a:ext cx="2372433" cy="28528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26654C-9495-43C7-B17D-0DCB84BC0883}">
      <dsp:nvSpPr>
        <dsp:cNvPr id="0" name=""/>
        <dsp:cNvSpPr/>
      </dsp:nvSpPr>
      <dsp:spPr>
        <a:xfrm>
          <a:off x="14632" y="811459"/>
          <a:ext cx="4373511" cy="2870116"/>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a:latin typeface="Poppins" panose="00000500000000000000" pitchFamily="2" charset="0"/>
              <a:cs typeface="Poppins" panose="00000500000000000000" pitchFamily="2" charset="0"/>
            </a:rPr>
            <a:t>Select "</a:t>
          </a:r>
          <a:r>
            <a:rPr lang="en-US" sz="2800" b="1" i="0" kern="1200">
              <a:latin typeface="Poppins" panose="00000500000000000000" pitchFamily="2" charset="0"/>
              <a:cs typeface="Poppins" panose="00000500000000000000" pitchFamily="2" charset="0"/>
            </a:rPr>
            <a:t>Merge into another ticket</a:t>
          </a:r>
          <a:r>
            <a:rPr lang="en-US" sz="2800" b="0" i="0" kern="1200">
              <a:latin typeface="Poppins" panose="00000500000000000000" pitchFamily="2" charset="0"/>
              <a:cs typeface="Poppins" panose="00000500000000000000" pitchFamily="2" charset="0"/>
            </a:rPr>
            <a:t>" from the three-dots menu (right top, close to email subject)</a:t>
          </a:r>
          <a:endParaRPr lang="en-US" sz="2800" kern="1200" dirty="0">
            <a:latin typeface="Poppins" panose="00000500000000000000" pitchFamily="2" charset="0"/>
            <a:cs typeface="Poppins" panose="00000500000000000000" pitchFamily="2" charset="0"/>
          </a:endParaRPr>
        </a:p>
      </dsp:txBody>
      <dsp:txXfrm>
        <a:off x="98695" y="895522"/>
        <a:ext cx="4205385" cy="2701990"/>
      </dsp:txXfrm>
    </dsp:sp>
    <dsp:sp modelId="{91C2E523-7DF9-475C-AECD-9215512AAEA3}">
      <dsp:nvSpPr>
        <dsp:cNvPr id="0" name=""/>
        <dsp:cNvSpPr/>
      </dsp:nvSpPr>
      <dsp:spPr>
        <a:xfrm>
          <a:off x="4825495" y="1704202"/>
          <a:ext cx="927184" cy="1084630"/>
        </a:xfrm>
        <a:prstGeom prst="rightArrow">
          <a:avLst>
            <a:gd name="adj1" fmla="val 60000"/>
            <a:gd name="adj2" fmla="val 5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latin typeface="Poppins" panose="00000500000000000000" pitchFamily="2" charset="0"/>
            <a:cs typeface="Poppins" panose="00000500000000000000" pitchFamily="2" charset="0"/>
          </a:endParaRPr>
        </a:p>
      </dsp:txBody>
      <dsp:txXfrm>
        <a:off x="4825495" y="1921128"/>
        <a:ext cx="649029" cy="650778"/>
      </dsp:txXfrm>
    </dsp:sp>
    <dsp:sp modelId="{C367346E-7156-4CF0-9AA7-67460CEBFC1D}">
      <dsp:nvSpPr>
        <dsp:cNvPr id="0" name=""/>
        <dsp:cNvSpPr/>
      </dsp:nvSpPr>
      <dsp:spPr>
        <a:xfrm>
          <a:off x="6137548" y="811459"/>
          <a:ext cx="4373511" cy="2870116"/>
        </a:xfrm>
        <a:prstGeom prst="roundRect">
          <a:avLst>
            <a:gd name="adj" fmla="val 10000"/>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a:latin typeface="Poppins" panose="00000500000000000000" pitchFamily="2" charset="0"/>
              <a:ea typeface="+mn-ea"/>
              <a:cs typeface="Poppins" panose="00000500000000000000" pitchFamily="2" charset="0"/>
            </a:rPr>
            <a:t>Enter the Target Ticket ID</a:t>
          </a:r>
          <a:endParaRPr lang="en-US" sz="2800" b="0" i="0" kern="1200" dirty="0">
            <a:latin typeface="Poppins" panose="00000500000000000000" pitchFamily="2" charset="0"/>
            <a:ea typeface="+mn-ea"/>
            <a:cs typeface="Poppins" panose="00000500000000000000" pitchFamily="2" charset="0"/>
          </a:endParaRPr>
        </a:p>
      </dsp:txBody>
      <dsp:txXfrm>
        <a:off x="6221611" y="895522"/>
        <a:ext cx="4205385" cy="2701990"/>
      </dsp:txXfrm>
    </dsp:sp>
    <dsp:sp modelId="{8591DEBA-283B-450B-B653-AFACFB363A4C}">
      <dsp:nvSpPr>
        <dsp:cNvPr id="0" name=""/>
        <dsp:cNvSpPr/>
      </dsp:nvSpPr>
      <dsp:spPr>
        <a:xfrm>
          <a:off x="10948411" y="1704202"/>
          <a:ext cx="927184" cy="1084630"/>
        </a:xfrm>
        <a:prstGeom prst="rightArrow">
          <a:avLst>
            <a:gd name="adj1" fmla="val 60000"/>
            <a:gd name="adj2" fmla="val 50000"/>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solidFill>
              <a:prstClr val="white"/>
            </a:solidFill>
            <a:latin typeface="Poppins" panose="00000500000000000000" pitchFamily="2" charset="0"/>
            <a:ea typeface="+mn-ea"/>
            <a:cs typeface="Poppins" panose="00000500000000000000" pitchFamily="2" charset="0"/>
          </a:endParaRPr>
        </a:p>
      </dsp:txBody>
      <dsp:txXfrm>
        <a:off x="10948411" y="1921128"/>
        <a:ext cx="649029" cy="650778"/>
      </dsp:txXfrm>
    </dsp:sp>
    <dsp:sp modelId="{B7E549EE-E123-489C-8AEC-5DE42E70B858}">
      <dsp:nvSpPr>
        <dsp:cNvPr id="0" name=""/>
        <dsp:cNvSpPr/>
      </dsp:nvSpPr>
      <dsp:spPr>
        <a:xfrm>
          <a:off x="12260464" y="811459"/>
          <a:ext cx="4373511" cy="2870116"/>
        </a:xfrm>
        <a:prstGeom prst="roundRect">
          <a:avLst>
            <a:gd name="adj" fmla="val 10000"/>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a:latin typeface="Poppins" panose="00000500000000000000" pitchFamily="2" charset="0"/>
              <a:ea typeface="+mn-ea"/>
              <a:cs typeface="Poppins" panose="00000500000000000000" pitchFamily="2" charset="0"/>
            </a:rPr>
            <a:t>Click "</a:t>
          </a:r>
          <a:r>
            <a:rPr lang="en-US" sz="2800" b="1" i="0" kern="1200">
              <a:latin typeface="Poppins" panose="00000500000000000000" pitchFamily="2" charset="0"/>
              <a:ea typeface="+mn-ea"/>
              <a:cs typeface="Poppins" panose="00000500000000000000" pitchFamily="2" charset="0"/>
            </a:rPr>
            <a:t>Merge</a:t>
          </a:r>
          <a:r>
            <a:rPr lang="en-US" sz="2800" b="0" i="0" kern="1200">
              <a:latin typeface="Poppins" panose="00000500000000000000" pitchFamily="2" charset="0"/>
              <a:ea typeface="+mn-ea"/>
              <a:cs typeface="Poppins" panose="00000500000000000000" pitchFamily="2" charset="0"/>
            </a:rPr>
            <a:t>"</a:t>
          </a:r>
          <a:endParaRPr lang="en-US" sz="2800" b="0" i="0" kern="1200" dirty="0">
            <a:latin typeface="Poppins" panose="00000500000000000000" pitchFamily="2" charset="0"/>
            <a:ea typeface="+mn-ea"/>
            <a:cs typeface="Poppins" panose="00000500000000000000" pitchFamily="2" charset="0"/>
          </a:endParaRPr>
        </a:p>
      </dsp:txBody>
      <dsp:txXfrm>
        <a:off x="12344527" y="895522"/>
        <a:ext cx="4205385" cy="2701990"/>
      </dsp:txXfrm>
    </dsp:sp>
  </dsp:spTree>
</dsp:drawing>
</file>

<file path=ppt/diagrams/layout1.xml><?xml version="1.0" encoding="utf-8"?>
<dgm:layoutDef xmlns:dgm="http://schemas.openxmlformats.org/drawingml/2006/diagram" xmlns:a="http://schemas.openxmlformats.org/drawingml/2006/main" uniqueId="urn:microsoft.com/office/officeart/2024/layout/BulletTimeline#1">
  <dgm:title val=""/>
  <dgm:desc val=""/>
  <dgm:catLst>
    <dgm:cat type="process" pri="7450"/>
    <dgm:cat type="timeline" pri="100"/>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lnNode1">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lnNode1">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2">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93075B-63E9-4190-822D-12D94F2C201A}"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C8D9EE-DC96-4F1C-BCAC-A65D5AD1D43F}" type="slidenum">
              <a:rPr lang="en-US" smtClean="0"/>
              <a:t>‹#›</a:t>
            </a:fld>
            <a:endParaRPr lang="en-US"/>
          </a:p>
        </p:txBody>
      </p:sp>
    </p:spTree>
    <p:extLst>
      <p:ext uri="{BB962C8B-B14F-4D97-AF65-F5344CB8AC3E}">
        <p14:creationId xmlns:p14="http://schemas.microsoft.com/office/powerpoint/2010/main" val="2445007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0165F-89E6-EA51-C280-1174DF41AA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B7C319-2FE4-BE1E-35CD-AFD16099D24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8BAE713-D984-5E8A-CF4A-B1D622CB9E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F60C2D-8120-2433-0894-300ED8A061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54338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3D0D8-8936-B7BE-6A04-065E08685F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B41363-01DD-253E-759C-589E393A061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8927E3-A346-6037-4061-86DEB7A0B5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3796B9-71F8-5A9B-B62B-649FBCA242D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14452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5D290-0D57-9656-B0AF-C1BA02704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55CE40-D7E4-93B8-7B14-EC6C7766099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511E08E-9708-68BE-4D8C-27011D3428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588341-371B-A5B9-E8C0-EA0B9B907B4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4477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60147-8869-87DA-276D-E664A6202A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44C244-FDA3-B688-12B2-32A2B75996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A197EA-8340-78E0-9D0B-FBE7CB33E4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9A2064-3024-BB24-C5F3-57953019079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16180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ED93A-2EE4-0FAF-E759-108E15C4A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294060-9AFD-8595-0308-7F66913EE85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4640B91-FF74-C3E1-F6C3-D57C73CDA7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100589-2A66-C074-1366-2139222A5AD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93290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B2C16-209C-F3F0-7AAA-773FE22198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B79C1-2129-5A3A-BD09-A0ACA2733B7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4088784-04A8-7CC0-DA15-55B84B4D12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056EDE-3060-7C20-CF0B-06A55E1C33E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69223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FDD13-2BBA-1DF9-6E95-D013DB5BC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3A608F-260F-2687-8304-68C3C6AF6CF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BBDC086-3D84-CB5D-BB1D-EE9F18ADEC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489EAF-EF7A-8B77-619A-E819ACCCFD6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84210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2B57D-027D-4F9E-D63B-8DBACCD6D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32F64-F3A9-0ED5-13EF-AC6004F342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AEB7442-CFAF-3ED5-F19F-B2A568D7FE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3A5679-AE2E-92BE-4DAE-632BD662C21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21340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7540D-85D2-51D9-A724-374A4F4AF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DCBDDB-94D7-0D5E-17FE-58245C5D4DC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CA1807E-F9B6-35F7-34DD-BEC7347613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082EA-A199-2BEA-8E26-4231CE35355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07851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40599-A80B-8B4C-6E38-738E0B567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944DA1-C0BA-51F5-935D-AC83BC7C83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74E0D82-D04D-07F8-5279-13E072833E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64BE0E-15C3-182F-69BB-9F61DD1ED15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0017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DB497-76CE-4594-61FE-D1F2FB38A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AE28A-59B3-AD12-8696-70A47BE08DB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59D4E0E-8DDF-1EB7-2DCE-6E9B47CFD4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7A79AC-6A61-0B46-2C61-3A8D2F0164F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79115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DDCA8-1CAA-31DD-10C9-4993559B16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7B0CD-AABA-C133-3483-4364EDFCCC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F75D7DB-50FE-75AE-C593-B314183B58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8E73C6-770A-1F30-1894-9B8C0A363AE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46569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FA6B1-6BFE-DDD1-4474-840B790F1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C6B62-E40B-C422-53F6-72D461E165E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78DC0D4-312B-35B1-9811-D4C07D763A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8CB9B1-EB09-2AE6-3DAB-1A3B7800ECD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90032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39655-2007-EE15-A8F1-6A2F9B35E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75A0E-1C31-52D5-F339-C339A54338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AAA002-31E4-B4D3-C698-2DA03E0273C9}"/>
              </a:ext>
            </a:extLst>
          </p:cNvPr>
          <p:cNvSpPr>
            <a:spLocks noGrp="1"/>
          </p:cNvSpPr>
          <p:nvPr>
            <p:ph type="body" idx="1"/>
          </p:nvPr>
        </p:nvSpPr>
        <p:spPr/>
        <p:txBody>
          <a:bodyPr/>
          <a:lstStyle/>
          <a:p>
            <a:pPr rtl="0" fontAlgn="base"/>
            <a:r>
              <a:rPr lang="en-US" sz="2200" b="1" i="0" kern="1200" dirty="0">
                <a:solidFill>
                  <a:schemeClr val="tx1"/>
                </a:solidFill>
                <a:effectLst/>
                <a:latin typeface="Poppins" panose="00000500000000000000" pitchFamily="2" charset="0"/>
                <a:ea typeface="+mn-ea"/>
                <a:cs typeface="Poppins" panose="00000500000000000000" pitchFamily="2" charset="0"/>
              </a:rPr>
              <a:t>Additional scenarios:</a:t>
            </a:r>
            <a:r>
              <a:rPr lang="en-US" sz="2200" b="0" i="0" kern="1200" dirty="0">
                <a:solidFill>
                  <a:schemeClr val="tx1"/>
                </a:solidFill>
                <a:effectLst/>
                <a:latin typeface="Poppins" panose="00000500000000000000" pitchFamily="2" charset="0"/>
                <a:ea typeface="+mn-ea"/>
                <a:cs typeface="Poppins" panose="00000500000000000000" pitchFamily="2" charset="0"/>
              </a:rPr>
              <a:t> </a:t>
            </a:r>
          </a:p>
          <a:p>
            <a:pPr rtl="0" fontAlgn="base"/>
            <a:r>
              <a:rPr lang="en-US" sz="2200" b="0" i="0" kern="1200" dirty="0">
                <a:solidFill>
                  <a:schemeClr val="tx1"/>
                </a:solidFill>
                <a:effectLst/>
                <a:latin typeface="Poppins" panose="00000500000000000000" pitchFamily="2" charset="0"/>
                <a:ea typeface="+mn-ea"/>
                <a:cs typeface="Poppins" panose="00000500000000000000" pitchFamily="2" charset="0"/>
              </a:rPr>
              <a:t>If an agent identifies a duplicate ticket that is </a:t>
            </a:r>
            <a:r>
              <a:rPr lang="en-US" sz="2200" b="1" i="0" kern="1200" dirty="0">
                <a:solidFill>
                  <a:schemeClr val="tx1"/>
                </a:solidFill>
                <a:effectLst/>
                <a:latin typeface="Poppins" panose="00000500000000000000" pitchFamily="2" charset="0"/>
                <a:ea typeface="+mn-ea"/>
                <a:cs typeface="Poppins" panose="00000500000000000000" pitchFamily="2" charset="0"/>
              </a:rPr>
              <a:t>still open</a:t>
            </a:r>
            <a:r>
              <a:rPr lang="en-US" sz="2200" b="0" i="0" kern="1200" dirty="0">
                <a:solidFill>
                  <a:schemeClr val="tx1"/>
                </a:solidFill>
                <a:effectLst/>
                <a:latin typeface="Poppins" panose="00000500000000000000" pitchFamily="2" charset="0"/>
                <a:ea typeface="+mn-ea"/>
                <a:cs typeface="Poppins" panose="00000500000000000000" pitchFamily="2" charset="0"/>
              </a:rPr>
              <a:t>, they should </a:t>
            </a:r>
            <a:r>
              <a:rPr lang="en-US" sz="2200" b="1" i="0" kern="1200" dirty="0">
                <a:solidFill>
                  <a:schemeClr val="tx1"/>
                </a:solidFill>
                <a:effectLst/>
                <a:latin typeface="Poppins" panose="00000500000000000000" pitchFamily="2" charset="0"/>
                <a:ea typeface="+mn-ea"/>
                <a:cs typeface="Poppins" panose="00000500000000000000" pitchFamily="2" charset="0"/>
              </a:rPr>
              <a:t>merge</a:t>
            </a:r>
            <a:r>
              <a:rPr lang="en-US" sz="2200" b="0" i="0" kern="1200" dirty="0">
                <a:solidFill>
                  <a:schemeClr val="tx1"/>
                </a:solidFill>
                <a:effectLst/>
                <a:latin typeface="Poppins" panose="00000500000000000000" pitchFamily="2" charset="0"/>
                <a:ea typeface="+mn-ea"/>
                <a:cs typeface="Poppins" panose="00000500000000000000" pitchFamily="2" charset="0"/>
              </a:rPr>
              <a:t> the two tickets. </a:t>
            </a:r>
          </a:p>
          <a:p>
            <a:pPr rtl="0" fontAlgn="base"/>
            <a:r>
              <a:rPr lang="en-US" sz="2200" b="0" i="0" kern="1200" dirty="0">
                <a:solidFill>
                  <a:schemeClr val="tx1"/>
                </a:solidFill>
                <a:effectLst/>
                <a:latin typeface="Poppins" panose="00000500000000000000" pitchFamily="2" charset="0"/>
                <a:ea typeface="+mn-ea"/>
                <a:cs typeface="Poppins" panose="00000500000000000000" pitchFamily="2" charset="0"/>
              </a:rPr>
              <a:t>However, if the duplicate has </a:t>
            </a:r>
            <a:r>
              <a:rPr lang="en-US" sz="2200" b="1" i="0" kern="1200" dirty="0">
                <a:solidFill>
                  <a:schemeClr val="tx1"/>
                </a:solidFill>
                <a:effectLst/>
                <a:latin typeface="Poppins" panose="00000500000000000000" pitchFamily="2" charset="0"/>
                <a:ea typeface="+mn-ea"/>
                <a:cs typeface="Poppins" panose="00000500000000000000" pitchFamily="2" charset="0"/>
              </a:rPr>
              <a:t>already been solved</a:t>
            </a:r>
            <a:r>
              <a:rPr lang="en-US" sz="2200" b="0" i="0" kern="1200" dirty="0">
                <a:solidFill>
                  <a:schemeClr val="tx1"/>
                </a:solidFill>
                <a:effectLst/>
                <a:latin typeface="Poppins" panose="00000500000000000000" pitchFamily="2" charset="0"/>
                <a:ea typeface="+mn-ea"/>
                <a:cs typeface="Poppins" panose="00000500000000000000" pitchFamily="2" charset="0"/>
              </a:rPr>
              <a:t>, the agent should </a:t>
            </a:r>
            <a:r>
              <a:rPr lang="en-US" sz="2200" b="1" i="0" kern="1200" dirty="0">
                <a:solidFill>
                  <a:schemeClr val="tx1"/>
                </a:solidFill>
                <a:effectLst/>
                <a:latin typeface="Poppins" panose="00000500000000000000" pitchFamily="2" charset="0"/>
                <a:ea typeface="+mn-ea"/>
                <a:cs typeface="Poppins" panose="00000500000000000000" pitchFamily="2" charset="0"/>
              </a:rPr>
              <a:t>close the new ticket</a:t>
            </a:r>
            <a:r>
              <a:rPr lang="en-US" sz="2200" b="0" i="0" kern="1200" dirty="0">
                <a:solidFill>
                  <a:schemeClr val="tx1"/>
                </a:solidFill>
                <a:effectLst/>
                <a:latin typeface="Poppins" panose="00000500000000000000" pitchFamily="2" charset="0"/>
                <a:ea typeface="+mn-ea"/>
                <a:cs typeface="Poppins" panose="00000500000000000000" pitchFamily="2" charset="0"/>
              </a:rPr>
              <a:t> and apply the following internal comment: </a:t>
            </a:r>
          </a:p>
          <a:p>
            <a:pPr rtl="0" fontAlgn="base"/>
            <a:r>
              <a:rPr lang="en-US" sz="2200" b="0" i="1" kern="1200" dirty="0">
                <a:solidFill>
                  <a:schemeClr val="tx1"/>
                </a:solidFill>
                <a:effectLst/>
                <a:latin typeface="Poppins" panose="00000500000000000000" pitchFamily="2" charset="0"/>
                <a:ea typeface="+mn-ea"/>
                <a:cs typeface="Poppins" panose="00000500000000000000" pitchFamily="2" charset="0"/>
              </a:rPr>
              <a:t>"Addressed in ticket XXXXX, setting ticket to solved as no further action is needed."</a:t>
            </a:r>
            <a:endParaRPr lang="en-US" sz="2200" b="0" i="0" kern="1200" dirty="0">
              <a:solidFill>
                <a:schemeClr val="tx1"/>
              </a:solidFill>
              <a:effectLst/>
              <a:latin typeface="Poppins" panose="00000500000000000000" pitchFamily="2" charset="0"/>
              <a:ea typeface="+mn-ea"/>
              <a:cs typeface="Poppins" panose="00000500000000000000" pitchFamily="2" charset="0"/>
            </a:endParaRPr>
          </a:p>
        </p:txBody>
      </p:sp>
      <p:sp>
        <p:nvSpPr>
          <p:cNvPr id="4" name="Slide Number Placeholder 3">
            <a:extLst>
              <a:ext uri="{FF2B5EF4-FFF2-40B4-BE49-F238E27FC236}">
                <a16:creationId xmlns:a16="http://schemas.microsoft.com/office/drawing/2014/main" id="{E9B84A97-F589-8F96-290B-CA5E967FB05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79058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4260851"/>
            <a:ext cx="15544800" cy="2940050"/>
          </a:xfrm>
        </p:spPr>
        <p:txBody>
          <a:bodyPr/>
          <a:lstStyle/>
          <a:p>
            <a:r>
              <a:rPr lang="en-US"/>
              <a:t>Click to edit Master title style</a:t>
            </a:r>
          </a:p>
        </p:txBody>
      </p:sp>
      <p:sp>
        <p:nvSpPr>
          <p:cNvPr id="3" name="Subtitle 2"/>
          <p:cNvSpPr>
            <a:spLocks noGrp="1"/>
          </p:cNvSpPr>
          <p:nvPr>
            <p:ph type="subTitle" idx="1"/>
          </p:nvPr>
        </p:nvSpPr>
        <p:spPr>
          <a:xfrm>
            <a:off x="2743200" y="7772400"/>
            <a:ext cx="12801600" cy="3505200"/>
          </a:xfrm>
        </p:spPr>
        <p:txBody>
          <a:bodyPr/>
          <a:lstStyle>
            <a:lvl1pPr marL="0" indent="0" algn="ctr">
              <a:buNone/>
              <a:defRPr>
                <a:solidFill>
                  <a:schemeClr val="tx1">
                    <a:tint val="75000"/>
                  </a:schemeClr>
                </a:solidFill>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823096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40095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626" y="8813801"/>
            <a:ext cx="15544800" cy="2724150"/>
          </a:xfrm>
        </p:spPr>
        <p:txBody>
          <a:bodyPr anchor="t"/>
          <a:lstStyle>
            <a:lvl1pPr algn="l">
              <a:defRPr sz="8000" b="1" cap="all"/>
            </a:lvl1pPr>
          </a:lstStyle>
          <a:p>
            <a:r>
              <a:rPr lang="en-US"/>
              <a:t>Click to edit Master title style</a:t>
            </a:r>
          </a:p>
        </p:txBody>
      </p:sp>
      <p:sp>
        <p:nvSpPr>
          <p:cNvPr id="3" name="Text Placeholder 2"/>
          <p:cNvSpPr>
            <a:spLocks noGrp="1"/>
          </p:cNvSpPr>
          <p:nvPr>
            <p:ph type="body" idx="1"/>
          </p:nvPr>
        </p:nvSpPr>
        <p:spPr>
          <a:xfrm>
            <a:off x="1444626" y="5813427"/>
            <a:ext cx="15544800" cy="3000374"/>
          </a:xfrm>
        </p:spPr>
        <p:txBody>
          <a:bodyPr anchor="b"/>
          <a:lstStyle>
            <a:lvl1pPr marL="0" indent="0">
              <a:buNone/>
              <a:defRPr sz="4000">
                <a:solidFill>
                  <a:schemeClr val="tx1">
                    <a:tint val="7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2834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3200401"/>
            <a:ext cx="8077200" cy="9051926"/>
          </a:xfrm>
        </p:spPr>
        <p:txBody>
          <a:bodyPr/>
          <a:lstStyle>
            <a:lvl1pPr>
              <a:defRPr sz="5600"/>
            </a:lvl1pPr>
            <a:lvl2pPr>
              <a:defRPr sz="4800"/>
            </a:lvl2pPr>
            <a:lvl3pPr>
              <a:defRPr sz="40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96400" y="3200401"/>
            <a:ext cx="8077200" cy="9051926"/>
          </a:xfrm>
        </p:spPr>
        <p:txBody>
          <a:bodyPr/>
          <a:lstStyle>
            <a:lvl1pPr>
              <a:defRPr sz="5600"/>
            </a:lvl1pPr>
            <a:lvl2pPr>
              <a:defRPr sz="4800"/>
            </a:lvl2pPr>
            <a:lvl3pPr>
              <a:defRPr sz="40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901418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3070226"/>
            <a:ext cx="8080376" cy="12795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p:cNvSpPr>
            <a:spLocks noGrp="1"/>
          </p:cNvSpPr>
          <p:nvPr>
            <p:ph sz="half" idx="2"/>
          </p:nvPr>
        </p:nvSpPr>
        <p:spPr>
          <a:xfrm>
            <a:off x="914400" y="4349750"/>
            <a:ext cx="8080376" cy="7902576"/>
          </a:xfrm>
        </p:spPr>
        <p:txBody>
          <a:bodyPr/>
          <a:lstStyle>
            <a:lvl1pPr>
              <a:defRPr sz="48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90051" y="3070226"/>
            <a:ext cx="8083550" cy="12795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p:cNvSpPr>
            <a:spLocks noGrp="1"/>
          </p:cNvSpPr>
          <p:nvPr>
            <p:ph sz="quarter" idx="4"/>
          </p:nvPr>
        </p:nvSpPr>
        <p:spPr>
          <a:xfrm>
            <a:off x="9290051" y="4349750"/>
            <a:ext cx="8083550" cy="7902576"/>
          </a:xfrm>
        </p:spPr>
        <p:txBody>
          <a:bodyPr/>
          <a:lstStyle>
            <a:lvl1pPr>
              <a:defRPr sz="48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8139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132997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02511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1" y="546100"/>
            <a:ext cx="6016626" cy="2324100"/>
          </a:xfrm>
        </p:spPr>
        <p:txBody>
          <a:bodyPr anchor="b"/>
          <a:lstStyle>
            <a:lvl1pPr algn="l">
              <a:defRPr sz="4000" b="1"/>
            </a:lvl1pPr>
          </a:lstStyle>
          <a:p>
            <a:r>
              <a:rPr lang="en-US"/>
              <a:t>Click to edit Master title style</a:t>
            </a:r>
          </a:p>
        </p:txBody>
      </p:sp>
      <p:sp>
        <p:nvSpPr>
          <p:cNvPr id="3" name="Content Placeholder 2"/>
          <p:cNvSpPr>
            <a:spLocks noGrp="1"/>
          </p:cNvSpPr>
          <p:nvPr>
            <p:ph idx="1"/>
          </p:nvPr>
        </p:nvSpPr>
        <p:spPr>
          <a:xfrm>
            <a:off x="7150100" y="546101"/>
            <a:ext cx="10223500" cy="11706226"/>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4401" y="2870201"/>
            <a:ext cx="6016626" cy="9382126"/>
          </a:xfrm>
        </p:spPr>
        <p:txBody>
          <a:bodyPr/>
          <a:lstStyle>
            <a:lvl1pPr marL="0" indent="0">
              <a:buNone/>
              <a:defRPr sz="28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318380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84576" y="9601200"/>
            <a:ext cx="10972800" cy="1133476"/>
          </a:xfrm>
        </p:spPr>
        <p:txBody>
          <a:bodyPr anchor="b"/>
          <a:lstStyle>
            <a:lvl1pPr algn="l">
              <a:defRPr sz="4000" b="1"/>
            </a:lvl1pPr>
          </a:lstStyle>
          <a:p>
            <a:r>
              <a:rPr lang="en-US"/>
              <a:t>Click to edit Master title style</a:t>
            </a:r>
          </a:p>
        </p:txBody>
      </p:sp>
      <p:sp>
        <p:nvSpPr>
          <p:cNvPr id="3" name="Picture Placeholder 2"/>
          <p:cNvSpPr>
            <a:spLocks noGrp="1"/>
          </p:cNvSpPr>
          <p:nvPr>
            <p:ph type="pic" idx="1"/>
          </p:nvPr>
        </p:nvSpPr>
        <p:spPr>
          <a:xfrm>
            <a:off x="3584576" y="1225550"/>
            <a:ext cx="10972800" cy="8229600"/>
          </a:xfr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3584576" y="10734676"/>
            <a:ext cx="10972800" cy="1609724"/>
          </a:xfrm>
        </p:spPr>
        <p:txBody>
          <a:bodyPr/>
          <a:lstStyle>
            <a:lvl1pPr marL="0" indent="0">
              <a:buNone/>
              <a:defRPr sz="28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12060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51356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8800" y="549277"/>
            <a:ext cx="4114800" cy="117030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549277"/>
            <a:ext cx="12039600" cy="117030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52264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84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549276"/>
            <a:ext cx="16459200" cy="2286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4400" y="3200401"/>
            <a:ext cx="16459200" cy="90519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14400" y="12712701"/>
            <a:ext cx="4267200"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5BCAD085-E8A6-8845-BD4E-CB4CCA059FC4}" type="datetimeFigureOut">
              <a:rPr lang="en-US" smtClean="0"/>
              <a:t>9/18/2026</a:t>
            </a:fld>
            <a:endParaRPr lang="en-US"/>
          </a:p>
        </p:txBody>
      </p:sp>
      <p:sp>
        <p:nvSpPr>
          <p:cNvPr id="5" name="Footer Placeholder 4"/>
          <p:cNvSpPr>
            <a:spLocks noGrp="1"/>
          </p:cNvSpPr>
          <p:nvPr>
            <p:ph type="ftr" sz="quarter" idx="3"/>
          </p:nvPr>
        </p:nvSpPr>
        <p:spPr>
          <a:xfrm>
            <a:off x="6248400" y="12712701"/>
            <a:ext cx="5791200"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3106400" y="12712701"/>
            <a:ext cx="4267200"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885040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8800" kern="1200">
          <a:solidFill>
            <a:schemeClr val="tx1"/>
          </a:solidFill>
          <a:latin typeface="+mj-lt"/>
          <a:ea typeface="+mj-ea"/>
          <a:cs typeface="+mj-cs"/>
        </a:defRPr>
      </a:lvl1pPr>
    </p:titleStyle>
    <p:bodyStyle>
      <a:lvl1pPr marL="685800" indent="-685800" algn="l" defTabSz="914400" rtl="0" eaLnBrk="1" latinLnBrk="0" hangingPunct="1">
        <a:spcBef>
          <a:spcPct val="20000"/>
        </a:spcBef>
        <a:buFont typeface="Arial"/>
        <a:buChar char="•"/>
        <a:defRPr sz="6400" kern="1200">
          <a:solidFill>
            <a:schemeClr val="tx1"/>
          </a:solidFill>
          <a:latin typeface="+mn-lt"/>
          <a:ea typeface="+mn-ea"/>
          <a:cs typeface="+mn-cs"/>
        </a:defRPr>
      </a:lvl1pPr>
      <a:lvl2pPr marL="1485900" indent="-571500" algn="l" defTabSz="914400" rtl="0" eaLnBrk="1" latinLnBrk="0" hangingPunct="1">
        <a:spcBef>
          <a:spcPct val="20000"/>
        </a:spcBef>
        <a:buFont typeface="Arial"/>
        <a:buChar char="–"/>
        <a:defRPr sz="5600" kern="1200">
          <a:solidFill>
            <a:schemeClr val="tx1"/>
          </a:solidFill>
          <a:latin typeface="+mn-lt"/>
          <a:ea typeface="+mn-ea"/>
          <a:cs typeface="+mn-cs"/>
        </a:defRPr>
      </a:lvl2pPr>
      <a:lvl3pPr marL="2286000" indent="-457200" algn="l" defTabSz="914400" rtl="0" eaLnBrk="1" latinLnBrk="0" hangingPunct="1">
        <a:spcBef>
          <a:spcPct val="20000"/>
        </a:spcBef>
        <a:buFont typeface="Arial"/>
        <a:buChar char="•"/>
        <a:defRPr sz="4800" kern="1200">
          <a:solidFill>
            <a:schemeClr val="tx1"/>
          </a:solidFill>
          <a:latin typeface="+mn-lt"/>
          <a:ea typeface="+mn-ea"/>
          <a:cs typeface="+mn-cs"/>
        </a:defRPr>
      </a:lvl3pPr>
      <a:lvl4pPr marL="3200400" indent="-457200" algn="l" defTabSz="914400" rtl="0" eaLnBrk="1" latinLnBrk="0" hangingPunct="1">
        <a:spcBef>
          <a:spcPct val="20000"/>
        </a:spcBef>
        <a:buFont typeface="Arial"/>
        <a:buChar char="–"/>
        <a:defRPr sz="4000" kern="1200">
          <a:solidFill>
            <a:schemeClr val="tx1"/>
          </a:solidFill>
          <a:latin typeface="+mn-lt"/>
          <a:ea typeface="+mn-ea"/>
          <a:cs typeface="+mn-cs"/>
        </a:defRPr>
      </a:lvl4pPr>
      <a:lvl5pPr marL="4114800" indent="-457200" algn="l" defTabSz="914400" rtl="0" eaLnBrk="1" latinLnBrk="0" hangingPunct="1">
        <a:spcBef>
          <a:spcPct val="20000"/>
        </a:spcBef>
        <a:buFont typeface="Arial"/>
        <a:buChar char="»"/>
        <a:defRPr sz="4000" kern="1200">
          <a:solidFill>
            <a:schemeClr val="tx1"/>
          </a:solidFill>
          <a:latin typeface="+mn-lt"/>
          <a:ea typeface="+mn-ea"/>
          <a:cs typeface="+mn-cs"/>
        </a:defRPr>
      </a:lvl5pPr>
      <a:lvl6pPr marL="5029200" indent="-457200" algn="l" defTabSz="914400" rtl="0" eaLnBrk="1" latinLnBrk="0" hangingPunct="1">
        <a:spcBef>
          <a:spcPct val="20000"/>
        </a:spcBef>
        <a:buFont typeface="Arial"/>
        <a:buChar char="•"/>
        <a:defRPr sz="4000" kern="1200">
          <a:solidFill>
            <a:schemeClr val="tx1"/>
          </a:solidFill>
          <a:latin typeface="+mn-lt"/>
          <a:ea typeface="+mn-ea"/>
          <a:cs typeface="+mn-cs"/>
        </a:defRPr>
      </a:lvl6pPr>
      <a:lvl7pPr marL="5943600" indent="-457200" algn="l" defTabSz="914400" rtl="0" eaLnBrk="1" latinLnBrk="0" hangingPunct="1">
        <a:spcBef>
          <a:spcPct val="20000"/>
        </a:spcBef>
        <a:buFont typeface="Arial"/>
        <a:buChar char="•"/>
        <a:defRPr sz="4000" kern="1200">
          <a:solidFill>
            <a:schemeClr val="tx1"/>
          </a:solidFill>
          <a:latin typeface="+mn-lt"/>
          <a:ea typeface="+mn-ea"/>
          <a:cs typeface="+mn-cs"/>
        </a:defRPr>
      </a:lvl7pPr>
      <a:lvl8pPr marL="6858000" indent="-457200" algn="l" defTabSz="914400" rtl="0" eaLnBrk="1" latinLnBrk="0" hangingPunct="1">
        <a:spcBef>
          <a:spcPct val="20000"/>
        </a:spcBef>
        <a:buFont typeface="Arial"/>
        <a:buChar char="•"/>
        <a:defRPr sz="4000" kern="1200">
          <a:solidFill>
            <a:schemeClr val="tx1"/>
          </a:solidFill>
          <a:latin typeface="+mn-lt"/>
          <a:ea typeface="+mn-ea"/>
          <a:cs typeface="+mn-cs"/>
        </a:defRPr>
      </a:lvl8pPr>
      <a:lvl9pPr marL="7772400" indent="-457200" algn="l" defTabSz="914400" rtl="0" eaLnBrk="1" latinLnBrk="0" hangingPunct="1">
        <a:spcBef>
          <a:spcPct val="20000"/>
        </a:spcBef>
        <a:buFont typeface="Arial"/>
        <a:buChar char="•"/>
        <a:defRPr sz="4000" kern="1200">
          <a:solidFill>
            <a:schemeClr val="tx1"/>
          </a:solidFill>
          <a:latin typeface="+mn-lt"/>
          <a:ea typeface="+mn-ea"/>
          <a:cs typeface="+mn-cs"/>
        </a:defRPr>
      </a:lvl9pPr>
    </p:bodyStyle>
    <p:other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2603252"/>
      </p:ext>
    </p:extLst>
  </p:cSld>
  <p:clrMap bg1="lt1" tx1="dk1" bg2="lt2" tx2="dk2" accent1="accent1" accent2="accent2" accent3="accent3" accent4="accent4" accent5="accent5" accent6="accent6" hlink="hlink" folHlink="folHlink"/>
  <p:sldLayoutIdLst>
    <p:sldLayoutId id="2147483673" r:id="rId1"/>
  </p:sldLayoutIdLst>
  <p:hf sldNum="0" hdr="0" ftr="0" dt="0"/>
  <p:txStyles>
    <p:titleStyle>
      <a:lvl1pPr algn="ctr" defTabSz="1371600" rtl="0" eaLnBrk="1" latinLnBrk="0" hangingPunct="1">
        <a:spcBef>
          <a:spcPct val="0"/>
        </a:spcBef>
        <a:buNone/>
        <a:defRPr sz="6600" kern="1200">
          <a:solidFill>
            <a:schemeClr val="tx1"/>
          </a:solidFill>
          <a:latin typeface="+mj-lt"/>
          <a:ea typeface="+mj-ea"/>
          <a:cs typeface="+mj-cs"/>
        </a:defRPr>
      </a:lvl1pPr>
    </p:titleStyle>
    <p:bodyStyle>
      <a:lvl1pPr marL="514350" indent="-514350" algn="l" defTabSz="1371600" rtl="0" eaLnBrk="1" latinLnBrk="0" hangingPunct="1">
        <a:spcBef>
          <a:spcPct val="20000"/>
        </a:spcBef>
        <a:buFont typeface="Arial" pitchFamily="34" charset="0"/>
        <a:buChar char="•"/>
        <a:defRPr sz="4800" kern="1200">
          <a:solidFill>
            <a:schemeClr val="tx1"/>
          </a:solidFill>
          <a:latin typeface="+mn-lt"/>
          <a:ea typeface="+mn-ea"/>
          <a:cs typeface="+mn-cs"/>
        </a:defRPr>
      </a:lvl1pPr>
      <a:lvl2pPr marL="1114425" indent="-428625" algn="l" defTabSz="1371600" rtl="0" eaLnBrk="1" latinLnBrk="0" hangingPunct="1">
        <a:spcBef>
          <a:spcPct val="20000"/>
        </a:spcBef>
        <a:buFont typeface="Arial" pitchFamily="34" charset="0"/>
        <a:buChar char="–"/>
        <a:defRPr sz="4200" kern="1200">
          <a:solidFill>
            <a:schemeClr val="tx1"/>
          </a:solidFill>
          <a:latin typeface="+mn-lt"/>
          <a:ea typeface="+mn-ea"/>
          <a:cs typeface="+mn-cs"/>
        </a:defRPr>
      </a:lvl2pPr>
      <a:lvl3pPr marL="1714500" indent="-342900" algn="l" defTabSz="1371600" rtl="0" eaLnBrk="1" latinLnBrk="0" hangingPunct="1">
        <a:spcBef>
          <a:spcPct val="20000"/>
        </a:spcBef>
        <a:buFont typeface="Arial" pitchFamily="34" charset="0"/>
        <a:buChar char="•"/>
        <a:defRPr sz="3600" kern="1200">
          <a:solidFill>
            <a:schemeClr val="tx1"/>
          </a:solidFill>
          <a:latin typeface="+mn-lt"/>
          <a:ea typeface="+mn-ea"/>
          <a:cs typeface="+mn-cs"/>
        </a:defRPr>
      </a:lvl3pPr>
      <a:lvl4pPr marL="24003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4pPr>
      <a:lvl5pPr marL="30861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5pPr>
      <a:lvl6pPr marL="37719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6pPr>
      <a:lvl7pPr marL="44577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7pPr>
      <a:lvl8pPr marL="51435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8pPr>
      <a:lvl9pPr marL="5829300" indent="-342900" algn="l" defTabSz="1371600" rtl="0" eaLnBrk="1" latinLnBrk="0" hangingPunct="1">
        <a:spcBef>
          <a:spcPct val="20000"/>
        </a:spcBef>
        <a:buFont typeface="Arial" pitchFamily="34" charset="0"/>
        <a:buChar char="•"/>
        <a:defRPr sz="30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23.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6.xml"/><Relationship Id="rId7" Type="http://schemas.microsoft.com/office/2007/relationships/hdphoto" Target="../media/hdphoto1.wdp"/><Relationship Id="rId2" Type="http://schemas.openxmlformats.org/officeDocument/2006/relationships/notesSlide" Target="../notesSlides/notesSlide3.xml"/><Relationship Id="rId1" Type="http://schemas.openxmlformats.org/officeDocument/2006/relationships/slideLayout" Target="../slideLayouts/slideLayout2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slide" Target="slide7.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3.xml"/><Relationship Id="rId5" Type="http://schemas.openxmlformats.org/officeDocument/2006/relationships/image" Target="../media/image19.png"/><Relationship Id="rId4" Type="http://schemas.openxmlformats.org/officeDocument/2006/relationships/slide" Target="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3.xml"/><Relationship Id="rId5" Type="http://schemas.openxmlformats.org/officeDocument/2006/relationships/image" Target="../media/image19.png"/><Relationship Id="rId4" Type="http://schemas.openxmlformats.org/officeDocument/2006/relationships/slide" Target="slide5.xml"/></Relationships>
</file>

<file path=ppt/slides/_rels/slide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6.xml"/><Relationship Id="rId1" Type="http://schemas.openxmlformats.org/officeDocument/2006/relationships/slideLayout" Target="../slideLayouts/slideLayout23.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 Id="rId9" Type="http://schemas.openxmlformats.org/officeDocument/2006/relationships/slide" Target="slide9.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3.xml"/><Relationship Id="rId5" Type="http://schemas.openxmlformats.org/officeDocument/2006/relationships/image" Target="../media/image19.png"/><Relationship Id="rId4" Type="http://schemas.openxmlformats.org/officeDocument/2006/relationships/slide" Target="slide8.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image" Target="../media/image31.svg"/><Relationship Id="rId3" Type="http://schemas.microsoft.com/office/2018/10/relationships/comments" Target="../comments/modernComment_142_35FD4590.xml"/><Relationship Id="rId7" Type="http://schemas.openxmlformats.org/officeDocument/2006/relationships/diagramQuickStyle" Target="../diagrams/quickStyle1.xml"/><Relationship Id="rId12" Type="http://schemas.openxmlformats.org/officeDocument/2006/relationships/image" Target="../media/image30.svg"/><Relationship Id="rId2" Type="http://schemas.openxmlformats.org/officeDocument/2006/relationships/notesSlide" Target="../notesSlides/notesSlide8.xml"/><Relationship Id="rId1" Type="http://schemas.openxmlformats.org/officeDocument/2006/relationships/slideLayout" Target="../slideLayouts/slideLayout23.xml"/><Relationship Id="rId6" Type="http://schemas.openxmlformats.org/officeDocument/2006/relationships/diagramLayout" Target="../diagrams/layout1.xml"/><Relationship Id="rId11" Type="http://schemas.openxmlformats.org/officeDocument/2006/relationships/image" Target="../media/image29.svg"/><Relationship Id="rId5" Type="http://schemas.openxmlformats.org/officeDocument/2006/relationships/diagramData" Target="../diagrams/data1.xml"/><Relationship Id="rId10" Type="http://schemas.openxmlformats.org/officeDocument/2006/relationships/image" Target="../media/image28.svg"/><Relationship Id="rId4" Type="http://schemas.openxmlformats.org/officeDocument/2006/relationships/image" Target="../media/image10.svg"/><Relationship Id="rId9" Type="http://schemas.microsoft.com/office/2007/relationships/diagramDrawing" Target="../diagrams/drawing1.xml"/><Relationship Id="rId14" Type="http://schemas.openxmlformats.org/officeDocument/2006/relationships/image" Target="../media/image32.sv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4D_E7C9E767.xml"/><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slide" Target="slide14.xml"/><Relationship Id="rId5" Type="http://schemas.openxmlformats.org/officeDocument/2006/relationships/slide" Target="slide13.xml"/><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3.xml"/><Relationship Id="rId5" Type="http://schemas.openxmlformats.org/officeDocument/2006/relationships/image" Target="../media/image19.png"/><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3.xml"/><Relationship Id="rId5" Type="http://schemas.openxmlformats.org/officeDocument/2006/relationships/image" Target="../media/image19.png"/><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0.svg"/><Relationship Id="rId7" Type="http://schemas.openxmlformats.org/officeDocument/2006/relationships/image" Target="../media/image39.svg"/><Relationship Id="rId2" Type="http://schemas.microsoft.com/office/2018/10/relationships/comments" Target="../comments/modernComment_100_0.xml"/><Relationship Id="rId1" Type="http://schemas.openxmlformats.org/officeDocument/2006/relationships/slideLayout" Target="../slideLayouts/slideLayout7.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 Id="rId9"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image" Target="../media/image43.svg"/><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svg"/></Relationships>
</file>

<file path=ppt/slides/_rels/slide18.xml.rels><?xml version="1.0" encoding="UTF-8" standalone="yes"?>
<Relationships xmlns="http://schemas.openxmlformats.org/package/2006/relationships"><Relationship Id="rId8" Type="http://schemas.microsoft.com/office/2007/relationships/diagramDrawing" Target="../diagrams/drawing2.xml"/><Relationship Id="rId3" Type="http://schemas.microsoft.com/office/2018/10/relationships/comments" Target="../comments/modernComment_147_E527940B.xml"/><Relationship Id="rId7" Type="http://schemas.openxmlformats.org/officeDocument/2006/relationships/diagramColors" Target="../diagrams/colors2.xml"/><Relationship Id="rId2" Type="http://schemas.openxmlformats.org/officeDocument/2006/relationships/notesSlide" Target="../notesSlides/notesSlide12.xml"/><Relationship Id="rId1" Type="http://schemas.openxmlformats.org/officeDocument/2006/relationships/slideLayout" Target="../slideLayouts/slideLayout23.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image" Target="../media/image52.png"/><Relationship Id="rId4" Type="http://schemas.openxmlformats.org/officeDocument/2006/relationships/diagramData" Target="../diagrams/data2.xml"/><Relationship Id="rId9" Type="http://schemas.openxmlformats.org/officeDocument/2006/relationships/image" Target="../media/image10.svg"/></Relationships>
</file>

<file path=ppt/slides/_rels/slide19.xml.rels><?xml version="1.0" encoding="UTF-8" standalone="yes"?>
<Relationships xmlns="http://schemas.openxmlformats.org/package/2006/relationships"><Relationship Id="rId8" Type="http://schemas.openxmlformats.org/officeDocument/2006/relationships/image" Target="../media/image56.png"/><Relationship Id="rId3" Type="http://schemas.microsoft.com/office/2018/10/relationships/comments" Target="../comments/modernComment_148_ECB4536C.xml"/><Relationship Id="rId7" Type="http://schemas.openxmlformats.org/officeDocument/2006/relationships/image" Target="../media/image55.svg"/><Relationship Id="rId2" Type="http://schemas.openxmlformats.org/officeDocument/2006/relationships/notesSlide" Target="../notesSlides/notesSlide13.xml"/><Relationship Id="rId1" Type="http://schemas.openxmlformats.org/officeDocument/2006/relationships/slideLayout" Target="../slideLayouts/slideLayout23.xml"/><Relationship Id="rId6" Type="http://schemas.openxmlformats.org/officeDocument/2006/relationships/image" Target="../media/image54.svg"/><Relationship Id="rId5" Type="http://schemas.openxmlformats.org/officeDocument/2006/relationships/image" Target="../media/image53.svg"/><Relationship Id="rId4" Type="http://schemas.openxmlformats.org/officeDocument/2006/relationships/image" Target="../media/image10.svg"/><Relationship Id="rId9" Type="http://schemas.openxmlformats.org/officeDocument/2006/relationships/image" Target="../media/image57.png"/></Relationships>
</file>

<file path=ppt/slides/_rels/slide20.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5.png"/><Relationship Id="rId3" Type="http://schemas.openxmlformats.org/officeDocument/2006/relationships/image" Target="../media/image10.svg"/><Relationship Id="rId7" Type="http://schemas.openxmlformats.org/officeDocument/2006/relationships/image" Target="../media/image61.svg"/><Relationship Id="rId12" Type="http://schemas.openxmlformats.org/officeDocument/2006/relationships/image" Target="../media/image64.png"/><Relationship Id="rId2" Type="http://schemas.openxmlformats.org/officeDocument/2006/relationships/notesSlide" Target="../notesSlides/notesSlide14.xml"/><Relationship Id="rId1" Type="http://schemas.openxmlformats.org/officeDocument/2006/relationships/slideLayout" Target="../slideLayouts/slideLayout23.xml"/><Relationship Id="rId6" Type="http://schemas.openxmlformats.org/officeDocument/2006/relationships/image" Target="../media/image60.svg"/><Relationship Id="rId11" Type="http://schemas.openxmlformats.org/officeDocument/2006/relationships/image" Target="../media/image56.png"/><Relationship Id="rId5" Type="http://schemas.openxmlformats.org/officeDocument/2006/relationships/image" Target="../media/image59.svg"/><Relationship Id="rId10" Type="http://schemas.openxmlformats.org/officeDocument/2006/relationships/image" Target="../media/image57.png"/><Relationship Id="rId4" Type="http://schemas.openxmlformats.org/officeDocument/2006/relationships/image" Target="../media/image58.svg"/><Relationship Id="rId9" Type="http://schemas.openxmlformats.org/officeDocument/2006/relationships/image" Target="../media/image63.svg"/></Relationships>
</file>

<file path=ppt/slides/_rels/slide21.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0.svg"/><Relationship Id="rId7" Type="http://schemas.openxmlformats.org/officeDocument/2006/relationships/diagramColors" Target="../diagrams/colors3.xml"/><Relationship Id="rId2" Type="http://schemas.openxmlformats.org/officeDocument/2006/relationships/notesSlide" Target="../notesSlides/notesSlide15.xml"/><Relationship Id="rId1" Type="http://schemas.openxmlformats.org/officeDocument/2006/relationships/slideLayout" Target="../slideLayouts/slideLayout23.xml"/><Relationship Id="rId6" Type="http://schemas.openxmlformats.org/officeDocument/2006/relationships/diagramQuickStyle" Target="../diagrams/quickStyle3.xml"/><Relationship Id="rId5" Type="http://schemas.openxmlformats.org/officeDocument/2006/relationships/diagramLayout" Target="../diagrams/layout3.xml"/><Relationship Id="rId10" Type="http://schemas.openxmlformats.org/officeDocument/2006/relationships/image" Target="../media/image69.png"/><Relationship Id="rId4" Type="http://schemas.openxmlformats.org/officeDocument/2006/relationships/diagramData" Target="../diagrams/data3.xml"/><Relationship Id="rId9" Type="http://schemas.openxmlformats.org/officeDocument/2006/relationships/image" Target="../media/image68.png"/></Relationships>
</file>

<file path=ppt/slides/_rels/slide2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AutoShape 2"/>
          <p:cNvSpPr/>
          <p:nvPr/>
        </p:nvSpPr>
        <p:spPr>
          <a:xfrm flipV="1">
            <a:off x="3916774" y="8673986"/>
            <a:ext cx="10780329" cy="57199"/>
          </a:xfrm>
          <a:prstGeom prst="line">
            <a:avLst/>
          </a:prstGeom>
          <a:ln w="28575" cap="rnd">
            <a:solidFill>
              <a:srgbClr val="FFFFFF"/>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p:cNvSpPr/>
          <p:nvPr/>
        </p:nvSpPr>
        <p:spPr>
          <a:xfrm>
            <a:off x="8915410" y="5918749"/>
            <a:ext cx="1295390" cy="231524"/>
          </a:xfrm>
          <a:custGeom>
            <a:avLst/>
            <a:gdLst/>
            <a:ahLst/>
            <a:cxnLst/>
            <a:rect l="l" t="t" r="r" b="b"/>
            <a:pathLst>
              <a:path w="1295390" h="231524">
                <a:moveTo>
                  <a:pt x="0" y="0"/>
                </a:moveTo>
                <a:lnTo>
                  <a:pt x="1295390" y="0"/>
                </a:lnTo>
                <a:lnTo>
                  <a:pt x="1295390" y="231524"/>
                </a:lnTo>
                <a:lnTo>
                  <a:pt x="0" y="2315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4" name="Group 4"/>
          <p:cNvGrpSpPr/>
          <p:nvPr/>
        </p:nvGrpSpPr>
        <p:grpSpPr>
          <a:xfrm>
            <a:off x="466810" y="568664"/>
            <a:ext cx="949728" cy="605352"/>
            <a:chOff x="0" y="0"/>
            <a:chExt cx="1266304" cy="807136"/>
          </a:xfrm>
        </p:grpSpPr>
        <p:sp>
          <p:nvSpPr>
            <p:cNvPr id="5" name="Freeform 5" descr="ollie_green.png"/>
            <p:cNvSpPr/>
            <p:nvPr/>
          </p:nvSpPr>
          <p:spPr>
            <a:xfrm>
              <a:off x="0" y="0"/>
              <a:ext cx="1266317" cy="807085"/>
            </a:xfrm>
            <a:custGeom>
              <a:avLst/>
              <a:gdLst/>
              <a:ahLst/>
              <a:cxnLst/>
              <a:rect l="l" t="t" r="r" b="b"/>
              <a:pathLst>
                <a:path w="1266317" h="807085">
                  <a:moveTo>
                    <a:pt x="0" y="0"/>
                  </a:moveTo>
                  <a:lnTo>
                    <a:pt x="1266317" y="0"/>
                  </a:lnTo>
                  <a:lnTo>
                    <a:pt x="1266317" y="807085"/>
                  </a:lnTo>
                  <a:lnTo>
                    <a:pt x="0" y="807085"/>
                  </a:lnTo>
                  <a:lnTo>
                    <a:pt x="0" y="0"/>
                  </a:lnTo>
                  <a:close/>
                </a:path>
              </a:pathLst>
            </a:custGeom>
            <a:blipFill>
              <a:blip r:embed="rId4"/>
              <a:stretch>
                <a:fillRect r="1" b="-6"/>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Freeform 6"/>
          <p:cNvSpPr/>
          <p:nvPr/>
        </p:nvSpPr>
        <p:spPr>
          <a:xfrm>
            <a:off x="3877765" y="871340"/>
            <a:ext cx="10075289" cy="6716860"/>
          </a:xfrm>
          <a:custGeom>
            <a:avLst/>
            <a:gdLst/>
            <a:ahLst/>
            <a:cxnLst/>
            <a:rect l="l" t="t" r="r" b="b"/>
            <a:pathLst>
              <a:path w="10075289" h="6716860">
                <a:moveTo>
                  <a:pt x="0" y="0"/>
                </a:moveTo>
                <a:lnTo>
                  <a:pt x="10075289" y="0"/>
                </a:lnTo>
                <a:lnTo>
                  <a:pt x="10075289" y="6716860"/>
                </a:lnTo>
                <a:lnTo>
                  <a:pt x="0" y="6716860"/>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p:cNvSpPr txBox="1"/>
          <p:nvPr/>
        </p:nvSpPr>
        <p:spPr>
          <a:xfrm>
            <a:off x="1307887" y="5254542"/>
            <a:ext cx="15392407" cy="3406626"/>
          </a:xfrm>
          <a:prstGeom prst="rect">
            <a:avLst/>
          </a:prstGeom>
        </p:spPr>
        <p:txBody>
          <a:bodyPr lIns="0" tIns="0" rIns="0" bIns="0" rtlCol="0" anchor="t">
            <a:spAutoFit/>
          </a:bodyPr>
          <a:lstStyle/>
          <a:p>
            <a:pPr marL="0" marR="0" lvl="0" indent="0" algn="r" defTabSz="914400" rtl="0" eaLnBrk="1" fontAlgn="auto" latinLnBrk="0" hangingPunct="1">
              <a:lnSpc>
                <a:spcPts val="133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r" defTabSz="914400" rtl="0" eaLnBrk="1" fontAlgn="auto" latinLnBrk="0" hangingPunct="1">
              <a:lnSpc>
                <a:spcPts val="13300"/>
              </a:lnSpc>
              <a:spcBef>
                <a:spcPts val="0"/>
              </a:spcBef>
              <a:spcAft>
                <a:spcPts val="0"/>
              </a:spcAft>
              <a:buClrTx/>
              <a:buSzTx/>
              <a:buFontTx/>
              <a:buNone/>
              <a:tabLst/>
              <a:defRPr/>
            </a:pPr>
            <a:r>
              <a:rPr kumimoji="0" lang="en-US" sz="9500" b="1" i="0" u="none" strike="noStrike" kern="1200" cap="none" spc="0" normalizeH="0" baseline="0" noProof="0">
                <a:ln>
                  <a:noFill/>
                </a:ln>
                <a:solidFill>
                  <a:srgbClr val="FFFFFF"/>
                </a:solidFill>
                <a:effectLst/>
                <a:uLnTx/>
                <a:uFillTx/>
                <a:latin typeface="Poppins Bold"/>
                <a:ea typeface="Poppins Bold"/>
                <a:cs typeface="Poppins Bold"/>
                <a:sym typeface="Poppins Bold"/>
              </a:rPr>
              <a:t>“Zendesk Introduction”</a:t>
            </a:r>
          </a:p>
        </p:txBody>
      </p:sp>
      <p:sp>
        <p:nvSpPr>
          <p:cNvPr id="8" name="TextBox 8"/>
          <p:cNvSpPr txBox="1"/>
          <p:nvPr/>
        </p:nvSpPr>
        <p:spPr>
          <a:xfrm>
            <a:off x="3533240" y="9054565"/>
            <a:ext cx="12059729" cy="369370"/>
          </a:xfrm>
          <a:prstGeom prst="rect">
            <a:avLst/>
          </a:prstGeom>
        </p:spPr>
        <p:txBody>
          <a:bodyPr lIns="0" tIns="0" rIns="0" bIns="0" rtlCol="0" anchor="t">
            <a:spAutoFit/>
          </a:bodyPr>
          <a:lstStyle/>
          <a:p>
            <a:pPr marL="0" marR="0" lvl="0" indent="0" algn="ctr" defTabSz="914400" rtl="0" eaLnBrk="1" fontAlgn="auto" latinLnBrk="0" hangingPunct="1">
              <a:lnSpc>
                <a:spcPts val="2805"/>
              </a:lnSpc>
              <a:spcBef>
                <a:spcPct val="0"/>
              </a:spcBef>
              <a:spcAft>
                <a:spcPts val="0"/>
              </a:spcAft>
              <a:buClrTx/>
              <a:buSzTx/>
              <a:buFontTx/>
              <a:buNone/>
              <a:tabLst/>
              <a:defRPr/>
            </a:pPr>
            <a:r>
              <a:rPr kumimoji="0" lang="en-US" sz="2199" b="0" i="0" u="none" strike="noStrike" kern="1200" cap="none" spc="0" normalizeH="0" baseline="0" noProof="0">
                <a:ln>
                  <a:noFill/>
                </a:ln>
                <a:solidFill>
                  <a:srgbClr val="FFFFFF"/>
                </a:solidFill>
                <a:effectLst/>
                <a:uLnTx/>
                <a:uFillTx/>
                <a:latin typeface="Poppins"/>
                <a:ea typeface="Poppins"/>
                <a:cs typeface="Poppins"/>
                <a:sym typeface="Poppins"/>
              </a:rPr>
              <a:t>Your everyday tool for managing fraud support tickets — from navigation to resolution.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grpSp>
        <p:nvGrpSpPr>
          <p:cNvPr id="2" name="Group 2"/>
          <p:cNvGrpSpPr/>
          <p:nvPr/>
        </p:nvGrpSpPr>
        <p:grpSpPr>
          <a:xfrm>
            <a:off x="5172683" y="3130357"/>
            <a:ext cx="6433653" cy="1015660"/>
            <a:chOff x="0" y="0"/>
            <a:chExt cx="8578204" cy="1354214"/>
          </a:xfrm>
        </p:grpSpPr>
        <p:sp>
          <p:nvSpPr>
            <p:cNvPr id="3" name="Freeform 3"/>
            <p:cNvSpPr/>
            <p:nvPr/>
          </p:nvSpPr>
          <p:spPr>
            <a:xfrm>
              <a:off x="0" y="0"/>
              <a:ext cx="8578242" cy="1354201"/>
            </a:xfrm>
            <a:custGeom>
              <a:avLst/>
              <a:gdLst/>
              <a:ahLst/>
              <a:cxnLst/>
              <a:rect l="l" t="t" r="r" b="b"/>
              <a:pathLst>
                <a:path w="8578242" h="1354201">
                  <a:moveTo>
                    <a:pt x="0" y="225679"/>
                  </a:moveTo>
                  <a:cubicBezTo>
                    <a:pt x="0" y="101092"/>
                    <a:pt x="40148" y="0"/>
                    <a:pt x="89626" y="0"/>
                  </a:cubicBezTo>
                  <a:lnTo>
                    <a:pt x="8488593" y="0"/>
                  </a:lnTo>
                  <a:cubicBezTo>
                    <a:pt x="8538121" y="0"/>
                    <a:pt x="8578242" y="101092"/>
                    <a:pt x="8578242" y="225679"/>
                  </a:cubicBezTo>
                  <a:lnTo>
                    <a:pt x="8578242" y="1128522"/>
                  </a:lnTo>
                  <a:cubicBezTo>
                    <a:pt x="8578242" y="1253236"/>
                    <a:pt x="8538072" y="1354201"/>
                    <a:pt x="8488593" y="1354201"/>
                  </a:cubicBezTo>
                  <a:lnTo>
                    <a:pt x="89626" y="1354201"/>
                  </a:lnTo>
                  <a:cubicBezTo>
                    <a:pt x="40148" y="1354201"/>
                    <a:pt x="0" y="1253109"/>
                    <a:pt x="0" y="1128522"/>
                  </a:cubicBezTo>
                  <a:close/>
                </a:path>
              </a:pathLst>
            </a:custGeom>
            <a:solidFill>
              <a:srgbClr val="CFFF2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 name="Group 4"/>
          <p:cNvGrpSpPr/>
          <p:nvPr/>
        </p:nvGrpSpPr>
        <p:grpSpPr>
          <a:xfrm>
            <a:off x="1892594" y="4561936"/>
            <a:ext cx="6892734" cy="1015660"/>
            <a:chOff x="0" y="0"/>
            <a:chExt cx="9190312" cy="1354214"/>
          </a:xfrm>
        </p:grpSpPr>
        <p:sp>
          <p:nvSpPr>
            <p:cNvPr id="5" name="Freeform 5"/>
            <p:cNvSpPr/>
            <p:nvPr/>
          </p:nvSpPr>
          <p:spPr>
            <a:xfrm>
              <a:off x="0" y="0"/>
              <a:ext cx="9190351" cy="1354201"/>
            </a:xfrm>
            <a:custGeom>
              <a:avLst/>
              <a:gdLst/>
              <a:ahLst/>
              <a:cxnLst/>
              <a:rect l="l" t="t" r="r" b="b"/>
              <a:pathLst>
                <a:path w="9190351" h="1354201">
                  <a:moveTo>
                    <a:pt x="0" y="225679"/>
                  </a:moveTo>
                  <a:cubicBezTo>
                    <a:pt x="0" y="101092"/>
                    <a:pt x="43012" y="0"/>
                    <a:pt x="96021" y="0"/>
                  </a:cubicBezTo>
                  <a:lnTo>
                    <a:pt x="9094307" y="0"/>
                  </a:lnTo>
                  <a:cubicBezTo>
                    <a:pt x="9147370" y="0"/>
                    <a:pt x="9190351" y="101092"/>
                    <a:pt x="9190351" y="225679"/>
                  </a:cubicBezTo>
                  <a:lnTo>
                    <a:pt x="9190351" y="1128522"/>
                  </a:lnTo>
                  <a:cubicBezTo>
                    <a:pt x="9190351" y="1253236"/>
                    <a:pt x="9147317" y="1354201"/>
                    <a:pt x="9094307" y="1354201"/>
                  </a:cubicBezTo>
                  <a:lnTo>
                    <a:pt x="96021" y="1354201"/>
                  </a:lnTo>
                  <a:cubicBezTo>
                    <a:pt x="43012" y="1354201"/>
                    <a:pt x="0" y="1253109"/>
                    <a:pt x="0" y="1128522"/>
                  </a:cubicBezTo>
                  <a:close/>
                </a:path>
              </a:pathLst>
            </a:custGeom>
            <a:solidFill>
              <a:srgbClr val="FF86A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1902367" y="7358791"/>
            <a:ext cx="8128592" cy="1015660"/>
            <a:chOff x="0" y="0"/>
            <a:chExt cx="10838123" cy="1354214"/>
          </a:xfrm>
        </p:grpSpPr>
        <p:sp>
          <p:nvSpPr>
            <p:cNvPr id="7" name="Freeform 7"/>
            <p:cNvSpPr/>
            <p:nvPr/>
          </p:nvSpPr>
          <p:spPr>
            <a:xfrm>
              <a:off x="0" y="0"/>
              <a:ext cx="10838162" cy="1354201"/>
            </a:xfrm>
            <a:custGeom>
              <a:avLst/>
              <a:gdLst/>
              <a:ahLst/>
              <a:cxnLst/>
              <a:rect l="l" t="t" r="r" b="b"/>
              <a:pathLst>
                <a:path w="10838162" h="1354201">
                  <a:moveTo>
                    <a:pt x="0" y="225679"/>
                  </a:moveTo>
                  <a:cubicBezTo>
                    <a:pt x="0" y="101092"/>
                    <a:pt x="50724" y="0"/>
                    <a:pt x="113238" y="0"/>
                  </a:cubicBezTo>
                  <a:lnTo>
                    <a:pt x="10724904" y="0"/>
                  </a:lnTo>
                  <a:cubicBezTo>
                    <a:pt x="10787481" y="0"/>
                    <a:pt x="10838162" y="101092"/>
                    <a:pt x="10838162" y="225679"/>
                  </a:cubicBezTo>
                  <a:lnTo>
                    <a:pt x="10838162" y="1128522"/>
                  </a:lnTo>
                  <a:cubicBezTo>
                    <a:pt x="10838162" y="1253236"/>
                    <a:pt x="10787418" y="1354201"/>
                    <a:pt x="10724904" y="1354201"/>
                  </a:cubicBezTo>
                  <a:lnTo>
                    <a:pt x="113238" y="1354201"/>
                  </a:lnTo>
                  <a:cubicBezTo>
                    <a:pt x="50724" y="1354201"/>
                    <a:pt x="0" y="1253109"/>
                    <a:pt x="0" y="1128522"/>
                  </a:cubicBezTo>
                  <a:close/>
                </a:path>
              </a:pathLst>
            </a:custGeom>
            <a:solidFill>
              <a:srgbClr val="9BF2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p:cNvGrpSpPr/>
          <p:nvPr/>
        </p:nvGrpSpPr>
        <p:grpSpPr>
          <a:xfrm>
            <a:off x="4596252" y="5948081"/>
            <a:ext cx="7016601" cy="1015660"/>
            <a:chOff x="0" y="0"/>
            <a:chExt cx="9355468" cy="1354214"/>
          </a:xfrm>
        </p:grpSpPr>
        <p:sp>
          <p:nvSpPr>
            <p:cNvPr id="9" name="Freeform 9"/>
            <p:cNvSpPr/>
            <p:nvPr/>
          </p:nvSpPr>
          <p:spPr>
            <a:xfrm>
              <a:off x="0" y="0"/>
              <a:ext cx="9355506" cy="1354201"/>
            </a:xfrm>
            <a:custGeom>
              <a:avLst/>
              <a:gdLst/>
              <a:ahLst/>
              <a:cxnLst/>
              <a:rect l="l" t="t" r="r" b="b"/>
              <a:pathLst>
                <a:path w="9355506" h="1354201">
                  <a:moveTo>
                    <a:pt x="0" y="225679"/>
                  </a:moveTo>
                  <a:cubicBezTo>
                    <a:pt x="0" y="101092"/>
                    <a:pt x="43785" y="0"/>
                    <a:pt x="97747" y="0"/>
                  </a:cubicBezTo>
                  <a:lnTo>
                    <a:pt x="9257737" y="0"/>
                  </a:lnTo>
                  <a:cubicBezTo>
                    <a:pt x="9311754" y="0"/>
                    <a:pt x="9355506" y="101092"/>
                    <a:pt x="9355506" y="225679"/>
                  </a:cubicBezTo>
                  <a:lnTo>
                    <a:pt x="9355506" y="1128522"/>
                  </a:lnTo>
                  <a:cubicBezTo>
                    <a:pt x="9355506" y="1253236"/>
                    <a:pt x="9311699" y="1354201"/>
                    <a:pt x="9257737" y="1354201"/>
                  </a:cubicBezTo>
                  <a:lnTo>
                    <a:pt x="97747" y="1354201"/>
                  </a:lnTo>
                  <a:cubicBezTo>
                    <a:pt x="43785" y="1354201"/>
                    <a:pt x="0" y="1253109"/>
                    <a:pt x="0" y="1128522"/>
                  </a:cubicBezTo>
                  <a:close/>
                </a:path>
              </a:pathLst>
            </a:custGeom>
            <a:solidFill>
              <a:srgbClr val="23EEB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Freeform 10"/>
          <p:cNvSpPr/>
          <p:nvPr/>
        </p:nvSpPr>
        <p:spPr>
          <a:xfrm>
            <a:off x="10515027" y="2405241"/>
            <a:ext cx="1112527" cy="1750301"/>
          </a:xfrm>
          <a:custGeom>
            <a:avLst/>
            <a:gdLst/>
            <a:ahLst/>
            <a:cxnLst/>
            <a:rect l="l" t="t" r="r" b="b"/>
            <a:pathLst>
              <a:path w="1112527" h="1750301">
                <a:moveTo>
                  <a:pt x="0" y="0"/>
                </a:moveTo>
                <a:lnTo>
                  <a:pt x="1112527" y="0"/>
                </a:lnTo>
                <a:lnTo>
                  <a:pt x="1112527" y="1750302"/>
                </a:lnTo>
                <a:lnTo>
                  <a:pt x="0" y="1750302"/>
                </a:lnTo>
                <a:lnTo>
                  <a:pt x="0" y="0"/>
                </a:lnTo>
                <a:close/>
              </a:path>
            </a:pathLst>
          </a:custGeom>
          <a:blipFill>
            <a:blip r:embed="rId2"/>
            <a:stretch>
              <a:fillRect l="-1524" r="-152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Freeform 11"/>
          <p:cNvSpPr/>
          <p:nvPr/>
        </p:nvSpPr>
        <p:spPr>
          <a:xfrm>
            <a:off x="1892594" y="3988271"/>
            <a:ext cx="1390660" cy="1589326"/>
          </a:xfrm>
          <a:custGeom>
            <a:avLst/>
            <a:gdLst/>
            <a:ahLst/>
            <a:cxnLst/>
            <a:rect l="l" t="t" r="r" b="b"/>
            <a:pathLst>
              <a:path w="1390660" h="1589326">
                <a:moveTo>
                  <a:pt x="0" y="0"/>
                </a:moveTo>
                <a:lnTo>
                  <a:pt x="1390660" y="0"/>
                </a:lnTo>
                <a:lnTo>
                  <a:pt x="1390660" y="1589326"/>
                </a:lnTo>
                <a:lnTo>
                  <a:pt x="0" y="15893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Freeform 12"/>
          <p:cNvSpPr/>
          <p:nvPr/>
        </p:nvSpPr>
        <p:spPr>
          <a:xfrm>
            <a:off x="10477182" y="5182031"/>
            <a:ext cx="1122477" cy="1781710"/>
          </a:xfrm>
          <a:custGeom>
            <a:avLst/>
            <a:gdLst/>
            <a:ahLst/>
            <a:cxnLst/>
            <a:rect l="l" t="t" r="r" b="b"/>
            <a:pathLst>
              <a:path w="1122477" h="1781710">
                <a:moveTo>
                  <a:pt x="0" y="0"/>
                </a:moveTo>
                <a:lnTo>
                  <a:pt x="1122477" y="0"/>
                </a:lnTo>
                <a:lnTo>
                  <a:pt x="1122477" y="1781710"/>
                </a:lnTo>
                <a:lnTo>
                  <a:pt x="0" y="178171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Freeform 13"/>
          <p:cNvSpPr/>
          <p:nvPr/>
        </p:nvSpPr>
        <p:spPr>
          <a:xfrm>
            <a:off x="1902367" y="6539260"/>
            <a:ext cx="1321337" cy="1835191"/>
          </a:xfrm>
          <a:custGeom>
            <a:avLst/>
            <a:gdLst/>
            <a:ahLst/>
            <a:cxnLst/>
            <a:rect l="l" t="t" r="r" b="b"/>
            <a:pathLst>
              <a:path w="1321337" h="1835191">
                <a:moveTo>
                  <a:pt x="0" y="0"/>
                </a:moveTo>
                <a:lnTo>
                  <a:pt x="1321337" y="0"/>
                </a:lnTo>
                <a:lnTo>
                  <a:pt x="1321337" y="1835191"/>
                </a:lnTo>
                <a:lnTo>
                  <a:pt x="0" y="183519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Freeform 14"/>
          <p:cNvSpPr/>
          <p:nvPr/>
        </p:nvSpPr>
        <p:spPr>
          <a:xfrm>
            <a:off x="12672309" y="954967"/>
            <a:ext cx="5225796" cy="8229600"/>
          </a:xfrm>
          <a:custGeom>
            <a:avLst/>
            <a:gdLst/>
            <a:ahLst/>
            <a:cxnLst/>
            <a:rect l="l" t="t" r="r" b="b"/>
            <a:pathLst>
              <a:path w="5225796" h="8229600">
                <a:moveTo>
                  <a:pt x="0" y="0"/>
                </a:moveTo>
                <a:lnTo>
                  <a:pt x="5225796" y="0"/>
                </a:lnTo>
                <a:lnTo>
                  <a:pt x="5225796" y="8229600"/>
                </a:lnTo>
                <a:lnTo>
                  <a:pt x="0" y="8229600"/>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Box 15"/>
          <p:cNvSpPr txBox="1"/>
          <p:nvPr/>
        </p:nvSpPr>
        <p:spPr>
          <a:xfrm>
            <a:off x="1102328" y="933498"/>
            <a:ext cx="16017116" cy="990895"/>
          </a:xfrm>
          <a:prstGeom prst="rect">
            <a:avLst/>
          </a:prstGeom>
        </p:spPr>
        <p:txBody>
          <a:bodyPr lIns="0" tIns="0" rIns="0" bIns="0" rtlCol="0" anchor="t">
            <a:spAutoFit/>
          </a:bodyPr>
          <a:lstStyle/>
          <a:p>
            <a:pPr marL="0" marR="0" lvl="0" indent="0" algn="l" defTabSz="914400" rtl="0" eaLnBrk="1" fontAlgn="auto" latinLnBrk="0" hangingPunct="1">
              <a:lnSpc>
                <a:spcPts val="7200"/>
              </a:lnSpc>
              <a:spcBef>
                <a:spcPts val="0"/>
              </a:spcBef>
              <a:spcAft>
                <a:spcPts val="0"/>
              </a:spcAft>
              <a:buClrTx/>
              <a:buSzTx/>
              <a:buFontTx/>
              <a:buNone/>
              <a:tabLst/>
              <a:defRPr/>
            </a:pPr>
            <a:r>
              <a:rPr kumimoji="0" lang="en-US" sz="6000" b="1" i="0" u="none" strike="noStrike" kern="1200" cap="none" spc="0" normalizeH="0" baseline="0" noProof="0">
                <a:ln>
                  <a:noFill/>
                </a:ln>
                <a:solidFill>
                  <a:srgbClr val="FFFFFF"/>
                </a:solidFill>
                <a:effectLst/>
                <a:uLnTx/>
                <a:uFillTx/>
                <a:latin typeface="Poppins Bold"/>
                <a:ea typeface="Poppins Bold"/>
                <a:cs typeface="Poppins Bold"/>
                <a:sym typeface="Poppins Bold"/>
              </a:rPr>
              <a:t>Agenda</a:t>
            </a:r>
          </a:p>
        </p:txBody>
      </p:sp>
      <p:sp>
        <p:nvSpPr>
          <p:cNvPr id="16" name="TextBox 16"/>
          <p:cNvSpPr txBox="1"/>
          <p:nvPr/>
        </p:nvSpPr>
        <p:spPr>
          <a:xfrm>
            <a:off x="6098169" y="3225427"/>
            <a:ext cx="4416858" cy="447712"/>
          </a:xfrm>
          <a:prstGeom prst="rect">
            <a:avLst/>
          </a:prstGeom>
        </p:spPr>
        <p:txBody>
          <a:bodyPr lIns="0" tIns="0" rIns="0" bIns="0" rtlCol="0" anchor="t">
            <a:spAutoFit/>
          </a:bodyPr>
          <a:lstStyle/>
          <a:p>
            <a:pPr marL="0" marR="0" lvl="0" indent="0" algn="l" defTabSz="914400" rtl="0" eaLnBrk="1" fontAlgn="auto" latinLnBrk="0" hangingPunct="1">
              <a:lnSpc>
                <a:spcPts val="3359"/>
              </a:lnSpc>
              <a:spcBef>
                <a:spcPts val="0"/>
              </a:spcBef>
              <a:spcAft>
                <a:spcPts val="0"/>
              </a:spcAft>
              <a:buClrTx/>
              <a:buSzTx/>
              <a:buFontTx/>
              <a:buNone/>
              <a:tabLst/>
              <a:defRPr/>
            </a:pPr>
            <a:r>
              <a:rPr kumimoji="0" lang="en-US" sz="2799" b="1" i="0" u="none" strike="noStrike" kern="1200" cap="none" spc="0" normalizeH="0" baseline="0" noProof="0">
                <a:ln>
                  <a:noFill/>
                </a:ln>
                <a:solidFill>
                  <a:srgbClr val="002B11"/>
                </a:solidFill>
                <a:effectLst/>
                <a:uLnTx/>
                <a:uFillTx/>
                <a:latin typeface="Poppins Bold"/>
                <a:ea typeface="Poppins Bold"/>
                <a:cs typeface="Poppins Bold"/>
                <a:sym typeface="Poppins Bold"/>
              </a:rPr>
              <a:t>Zendesk Overview</a:t>
            </a:r>
          </a:p>
        </p:txBody>
      </p:sp>
      <p:sp>
        <p:nvSpPr>
          <p:cNvPr id="17" name="TextBox 17"/>
          <p:cNvSpPr txBox="1"/>
          <p:nvPr/>
        </p:nvSpPr>
        <p:spPr>
          <a:xfrm>
            <a:off x="691439" y="9753667"/>
            <a:ext cx="9817122" cy="235391"/>
          </a:xfrm>
          <a:prstGeom prst="rect">
            <a:avLst/>
          </a:prstGeom>
        </p:spPr>
        <p:txBody>
          <a:bodyPr lIns="0" tIns="0" rIns="0" bIns="0" rtlCol="0" anchor="t">
            <a:sp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0" i="0" u="none" strike="noStrike" kern="1200" cap="none" spc="0" normalizeH="0" baseline="0" noProof="0">
                <a:ln>
                  <a:noFill/>
                </a:ln>
                <a:solidFill>
                  <a:srgbClr val="8A8272"/>
                </a:solidFill>
                <a:effectLst/>
                <a:uLnTx/>
                <a:uFillTx/>
                <a:latin typeface="Poppins"/>
                <a:ea typeface="Poppins"/>
                <a:cs typeface="Poppins"/>
                <a:sym typeface="Poppins"/>
              </a:rPr>
              <a:t>Tripadvisor / Fraud support / Agenda</a:t>
            </a:r>
          </a:p>
        </p:txBody>
      </p:sp>
      <p:sp>
        <p:nvSpPr>
          <p:cNvPr id="18" name="TextBox 18"/>
          <p:cNvSpPr txBox="1"/>
          <p:nvPr/>
        </p:nvSpPr>
        <p:spPr>
          <a:xfrm>
            <a:off x="6098169" y="3695161"/>
            <a:ext cx="4416858" cy="352425"/>
          </a:xfrm>
          <a:prstGeom prst="rect">
            <a:avLst/>
          </a:prstGeom>
        </p:spPr>
        <p:txBody>
          <a:bodyPr lIns="0" tIns="0" rIns="0" bIns="0" rtlCol="0" anchor="t">
            <a:spAutoFit/>
          </a:bodyPr>
          <a:lstStyle/>
          <a:p>
            <a:pPr marL="0" marR="0" lvl="0" indent="0" algn="l" defTabSz="914400" rtl="0" eaLnBrk="1" fontAlgn="auto" latinLnBrk="0" hangingPunct="1">
              <a:lnSpc>
                <a:spcPts val="2639"/>
              </a:lnSpc>
              <a:spcBef>
                <a:spcPts val="0"/>
              </a:spcBef>
              <a:spcAft>
                <a:spcPts val="0"/>
              </a:spcAft>
              <a:buClrTx/>
              <a:buSzTx/>
              <a:buFontTx/>
              <a:buNone/>
              <a:tabLst/>
              <a:defRPr/>
            </a:pPr>
            <a:r>
              <a:rPr kumimoji="0" lang="en-US" sz="2199" b="0" i="0" u="none" strike="noStrike" kern="1200" cap="none" spc="0" normalizeH="0" baseline="0" noProof="0">
                <a:ln>
                  <a:noFill/>
                </a:ln>
                <a:solidFill>
                  <a:srgbClr val="002B11"/>
                </a:solidFill>
                <a:effectLst/>
                <a:uLnTx/>
                <a:uFillTx/>
                <a:latin typeface="Poppins"/>
                <a:ea typeface="Poppins"/>
                <a:cs typeface="Poppins"/>
                <a:sym typeface="Poppins"/>
              </a:rPr>
              <a:t>Let’s explore our everyday tool!</a:t>
            </a:r>
          </a:p>
        </p:txBody>
      </p:sp>
      <p:sp>
        <p:nvSpPr>
          <p:cNvPr id="19" name="TextBox 19"/>
          <p:cNvSpPr txBox="1"/>
          <p:nvPr/>
        </p:nvSpPr>
        <p:spPr>
          <a:xfrm>
            <a:off x="3413075" y="4659053"/>
            <a:ext cx="4893523" cy="447712"/>
          </a:xfrm>
          <a:prstGeom prst="rect">
            <a:avLst/>
          </a:prstGeom>
        </p:spPr>
        <p:txBody>
          <a:bodyPr lIns="0" tIns="0" rIns="0" bIns="0" rtlCol="0" anchor="t">
            <a:spAutoFit/>
          </a:bodyPr>
          <a:lstStyle/>
          <a:p>
            <a:pPr marL="0" marR="0" lvl="0" indent="0" algn="l" defTabSz="914400" rtl="0" eaLnBrk="1" fontAlgn="auto" latinLnBrk="0" hangingPunct="1">
              <a:lnSpc>
                <a:spcPts val="3359"/>
              </a:lnSpc>
              <a:spcBef>
                <a:spcPts val="0"/>
              </a:spcBef>
              <a:spcAft>
                <a:spcPts val="0"/>
              </a:spcAft>
              <a:buClrTx/>
              <a:buSzTx/>
              <a:buFontTx/>
              <a:buNone/>
              <a:tabLst/>
              <a:defRPr/>
            </a:pPr>
            <a:r>
              <a:rPr kumimoji="0" lang="en-US" sz="2799" b="1" i="0" u="none" strike="noStrike" kern="1200" cap="none" spc="0" normalizeH="0" baseline="0" noProof="0">
                <a:ln>
                  <a:noFill/>
                </a:ln>
                <a:solidFill>
                  <a:srgbClr val="002B11"/>
                </a:solidFill>
                <a:effectLst/>
                <a:uLnTx/>
                <a:uFillTx/>
                <a:latin typeface="Poppins Bold"/>
                <a:ea typeface="Poppins Bold"/>
                <a:cs typeface="Poppins Bold"/>
                <a:sym typeface="Poppins Bold"/>
              </a:rPr>
              <a:t>Interface &amp; Navigation</a:t>
            </a:r>
          </a:p>
        </p:txBody>
      </p:sp>
      <p:sp>
        <p:nvSpPr>
          <p:cNvPr id="20" name="TextBox 20"/>
          <p:cNvSpPr txBox="1"/>
          <p:nvPr/>
        </p:nvSpPr>
        <p:spPr>
          <a:xfrm>
            <a:off x="3413075" y="5100356"/>
            <a:ext cx="4893523" cy="352425"/>
          </a:xfrm>
          <a:prstGeom prst="rect">
            <a:avLst/>
          </a:prstGeom>
        </p:spPr>
        <p:txBody>
          <a:bodyPr lIns="0" tIns="0" rIns="0" bIns="0" rtlCol="0" anchor="t">
            <a:spAutoFit/>
          </a:bodyPr>
          <a:lstStyle/>
          <a:p>
            <a:pPr marL="0" marR="0" lvl="0" indent="0" algn="l" defTabSz="914400" rtl="0" eaLnBrk="1" fontAlgn="auto" latinLnBrk="0" hangingPunct="1">
              <a:lnSpc>
                <a:spcPts val="2639"/>
              </a:lnSpc>
              <a:spcBef>
                <a:spcPts val="0"/>
              </a:spcBef>
              <a:spcAft>
                <a:spcPts val="0"/>
              </a:spcAft>
              <a:buClrTx/>
              <a:buSzTx/>
              <a:buFontTx/>
              <a:buNone/>
              <a:tabLst/>
              <a:defRPr/>
            </a:pPr>
            <a:r>
              <a:rPr kumimoji="0" lang="en-US" sz="2199" b="0" i="0" u="none" strike="noStrike" kern="1200" cap="none" spc="0" normalizeH="0" baseline="0" noProof="0">
                <a:ln>
                  <a:noFill/>
                </a:ln>
                <a:solidFill>
                  <a:srgbClr val="002B11"/>
                </a:solidFill>
                <a:effectLst/>
                <a:uLnTx/>
                <a:uFillTx/>
                <a:latin typeface="Poppins"/>
                <a:ea typeface="Poppins"/>
                <a:cs typeface="Poppins"/>
                <a:sym typeface="Poppins"/>
              </a:rPr>
              <a:t>Let’s take a short trip into the tool!</a:t>
            </a:r>
          </a:p>
        </p:txBody>
      </p:sp>
      <p:sp>
        <p:nvSpPr>
          <p:cNvPr id="21" name="TextBox 21"/>
          <p:cNvSpPr txBox="1"/>
          <p:nvPr/>
        </p:nvSpPr>
        <p:spPr>
          <a:xfrm>
            <a:off x="3413075" y="7455469"/>
            <a:ext cx="6439506" cy="447712"/>
          </a:xfrm>
          <a:prstGeom prst="rect">
            <a:avLst/>
          </a:prstGeom>
        </p:spPr>
        <p:txBody>
          <a:bodyPr lIns="0" tIns="0" rIns="0" bIns="0" rtlCol="0" anchor="t">
            <a:spAutoFit/>
          </a:bodyPr>
          <a:lstStyle/>
          <a:p>
            <a:pPr marL="0" marR="0" lvl="0" indent="0" algn="l" defTabSz="914400" rtl="0" eaLnBrk="1" fontAlgn="auto" latinLnBrk="0" hangingPunct="1">
              <a:lnSpc>
                <a:spcPts val="3359"/>
              </a:lnSpc>
              <a:spcBef>
                <a:spcPts val="0"/>
              </a:spcBef>
              <a:spcAft>
                <a:spcPts val="0"/>
              </a:spcAft>
              <a:buClrTx/>
              <a:buSzTx/>
              <a:buFontTx/>
              <a:buNone/>
              <a:tabLst/>
              <a:defRPr/>
            </a:pPr>
            <a:r>
              <a:rPr kumimoji="0" lang="en-US" sz="2799" b="1" i="0" u="none" strike="noStrike" kern="1200" cap="none" spc="0" normalizeH="0" baseline="0" noProof="0">
                <a:ln>
                  <a:noFill/>
                </a:ln>
                <a:solidFill>
                  <a:srgbClr val="002B11"/>
                </a:solidFill>
                <a:effectLst/>
                <a:uLnTx/>
                <a:uFillTx/>
                <a:latin typeface="Poppins Bold"/>
                <a:ea typeface="Poppins Bold"/>
                <a:cs typeface="Poppins Bold"/>
                <a:sym typeface="Poppins Bold"/>
              </a:rPr>
              <a:t>How to work on a ticket</a:t>
            </a:r>
          </a:p>
        </p:txBody>
      </p:sp>
      <p:sp>
        <p:nvSpPr>
          <p:cNvPr id="22" name="TextBox 22"/>
          <p:cNvSpPr txBox="1"/>
          <p:nvPr/>
        </p:nvSpPr>
        <p:spPr>
          <a:xfrm>
            <a:off x="3413075" y="7896772"/>
            <a:ext cx="6350824" cy="352425"/>
          </a:xfrm>
          <a:prstGeom prst="rect">
            <a:avLst/>
          </a:prstGeom>
        </p:spPr>
        <p:txBody>
          <a:bodyPr lIns="0" tIns="0" rIns="0" bIns="0" rtlCol="0" anchor="t">
            <a:spAutoFit/>
          </a:bodyPr>
          <a:lstStyle/>
          <a:p>
            <a:pPr marL="0" marR="0" lvl="0" indent="0" algn="l" defTabSz="914400" rtl="0" eaLnBrk="1" fontAlgn="auto" latinLnBrk="0" hangingPunct="1">
              <a:lnSpc>
                <a:spcPts val="2639"/>
              </a:lnSpc>
              <a:spcBef>
                <a:spcPts val="0"/>
              </a:spcBef>
              <a:spcAft>
                <a:spcPts val="0"/>
              </a:spcAft>
              <a:buClrTx/>
              <a:buSzTx/>
              <a:buFontTx/>
              <a:buNone/>
              <a:tabLst/>
              <a:defRPr/>
            </a:pPr>
            <a:r>
              <a:rPr kumimoji="0" lang="en-US" sz="2199" b="0" i="0" u="none" strike="noStrike" kern="1200" cap="none" spc="0" normalizeH="0" baseline="0" noProof="0">
                <a:ln>
                  <a:noFill/>
                </a:ln>
                <a:solidFill>
                  <a:srgbClr val="002B11"/>
                </a:solidFill>
                <a:effectLst/>
                <a:uLnTx/>
                <a:uFillTx/>
                <a:latin typeface="Poppins"/>
                <a:ea typeface="Poppins"/>
                <a:cs typeface="Poppins"/>
                <a:sym typeface="Poppins"/>
              </a:rPr>
              <a:t>Understand how to process duplicate tickets</a:t>
            </a:r>
          </a:p>
        </p:txBody>
      </p:sp>
      <p:sp>
        <p:nvSpPr>
          <p:cNvPr id="23" name="TextBox 23"/>
          <p:cNvSpPr txBox="1"/>
          <p:nvPr/>
        </p:nvSpPr>
        <p:spPr>
          <a:xfrm>
            <a:off x="5352938" y="6044311"/>
            <a:ext cx="5059801" cy="447712"/>
          </a:xfrm>
          <a:prstGeom prst="rect">
            <a:avLst/>
          </a:prstGeom>
        </p:spPr>
        <p:txBody>
          <a:bodyPr lIns="0" tIns="0" rIns="0" bIns="0" rtlCol="0" anchor="t">
            <a:spAutoFit/>
          </a:bodyPr>
          <a:lstStyle/>
          <a:p>
            <a:pPr marL="0" marR="0" lvl="0" indent="0" algn="l" defTabSz="914400" rtl="0" eaLnBrk="1" fontAlgn="auto" latinLnBrk="0" hangingPunct="1">
              <a:lnSpc>
                <a:spcPts val="3359"/>
              </a:lnSpc>
              <a:spcBef>
                <a:spcPts val="0"/>
              </a:spcBef>
              <a:spcAft>
                <a:spcPts val="0"/>
              </a:spcAft>
              <a:buClrTx/>
              <a:buSzTx/>
              <a:buFontTx/>
              <a:buNone/>
              <a:tabLst/>
              <a:defRPr/>
            </a:pPr>
            <a:r>
              <a:rPr kumimoji="0" lang="en-US" sz="2799" b="1" i="0" u="none" strike="noStrike" kern="1200" cap="none" spc="0" normalizeH="0" baseline="0" noProof="0">
                <a:ln>
                  <a:noFill/>
                </a:ln>
                <a:solidFill>
                  <a:srgbClr val="002B11"/>
                </a:solidFill>
                <a:effectLst/>
                <a:uLnTx/>
                <a:uFillTx/>
                <a:latin typeface="Poppins Bold"/>
                <a:ea typeface="Poppins Bold"/>
                <a:cs typeface="Poppins Bold"/>
                <a:sym typeface="Poppins Bold"/>
              </a:rPr>
              <a:t>Communication Notes</a:t>
            </a:r>
          </a:p>
        </p:txBody>
      </p:sp>
      <p:sp>
        <p:nvSpPr>
          <p:cNvPr id="24" name="TextBox 24"/>
          <p:cNvSpPr txBox="1"/>
          <p:nvPr/>
        </p:nvSpPr>
        <p:spPr>
          <a:xfrm>
            <a:off x="5352938" y="6485614"/>
            <a:ext cx="5059801" cy="352425"/>
          </a:xfrm>
          <a:prstGeom prst="rect">
            <a:avLst/>
          </a:prstGeom>
        </p:spPr>
        <p:txBody>
          <a:bodyPr lIns="0" tIns="0" rIns="0" bIns="0" rtlCol="0" anchor="t">
            <a:spAutoFit/>
          </a:bodyPr>
          <a:lstStyle/>
          <a:p>
            <a:pPr marL="0" marR="0" lvl="0" indent="0" algn="l" defTabSz="914400" rtl="0" eaLnBrk="1" fontAlgn="auto" latinLnBrk="0" hangingPunct="1">
              <a:lnSpc>
                <a:spcPts val="2639"/>
              </a:lnSpc>
              <a:spcBef>
                <a:spcPts val="0"/>
              </a:spcBef>
              <a:spcAft>
                <a:spcPts val="0"/>
              </a:spcAft>
              <a:buClrTx/>
              <a:buSzTx/>
              <a:buFontTx/>
              <a:buNone/>
              <a:tabLst/>
              <a:defRPr/>
            </a:pPr>
            <a:r>
              <a:rPr kumimoji="0" lang="en-US" sz="2199" b="0" i="0" u="none" strike="noStrike" kern="1200" cap="none" spc="0" normalizeH="0" baseline="0" noProof="0">
                <a:ln>
                  <a:noFill/>
                </a:ln>
                <a:solidFill>
                  <a:srgbClr val="002B11"/>
                </a:solidFill>
                <a:effectLst/>
                <a:uLnTx/>
                <a:uFillTx/>
                <a:latin typeface="Poppins"/>
                <a:ea typeface="Poppins"/>
                <a:cs typeface="Poppins"/>
                <a:sym typeface="Poppins"/>
              </a:rPr>
              <a:t>Learn the importance of note types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6BEA52A-3B93-9087-06F9-1D9BE170F3BD}"/>
            </a:ext>
          </a:extLst>
        </p:cNvPr>
        <p:cNvGrpSpPr/>
        <p:nvPr/>
      </p:nvGrpSpPr>
      <p:grpSpPr>
        <a:xfrm>
          <a:off x="0" y="0"/>
          <a:ext cx="0" cy="0"/>
          <a:chOff x="0" y="0"/>
          <a:chExt cx="0" cy="0"/>
        </a:xfrm>
      </p:grpSpPr>
      <p:sp>
        <p:nvSpPr>
          <p:cNvPr id="16" name="Freeform 7">
            <a:extLst>
              <a:ext uri="{FF2B5EF4-FFF2-40B4-BE49-F238E27FC236}">
                <a16:creationId xmlns:a16="http://schemas.microsoft.com/office/drawing/2014/main" id="{B86D8CDF-9FCF-7A45-5C06-91D90BF624D9}"/>
              </a:ext>
            </a:extLst>
          </p:cNvPr>
          <p:cNvSpPr/>
          <p:nvPr/>
        </p:nvSpPr>
        <p:spPr>
          <a:xfrm>
            <a:off x="980880" y="2703915"/>
            <a:ext cx="7889106" cy="2063475"/>
          </a:xfrm>
          <a:custGeom>
            <a:avLst/>
            <a:gdLst/>
            <a:ahLst/>
            <a:cxnLst/>
            <a:rect l="l" t="t" r="r" b="b"/>
            <a:pathLst>
              <a:path w="1586905" h="1762175">
                <a:moveTo>
                  <a:pt x="65530" y="0"/>
                </a:moveTo>
                <a:lnTo>
                  <a:pt x="1521375" y="0"/>
                </a:lnTo>
                <a:cubicBezTo>
                  <a:pt x="1538755" y="0"/>
                  <a:pt x="1555423" y="6904"/>
                  <a:pt x="1567712" y="19193"/>
                </a:cubicBezTo>
                <a:cubicBezTo>
                  <a:pt x="1580001" y="31483"/>
                  <a:pt x="1586905" y="48151"/>
                  <a:pt x="1586905" y="65530"/>
                </a:cubicBezTo>
                <a:lnTo>
                  <a:pt x="1586905" y="1696645"/>
                </a:lnTo>
                <a:cubicBezTo>
                  <a:pt x="1586905" y="1714024"/>
                  <a:pt x="1580001" y="1730692"/>
                  <a:pt x="1567712" y="1742981"/>
                </a:cubicBezTo>
                <a:cubicBezTo>
                  <a:pt x="1555423" y="1755271"/>
                  <a:pt x="1538755" y="1762175"/>
                  <a:pt x="1521375" y="1762175"/>
                </a:cubicBezTo>
                <a:lnTo>
                  <a:pt x="65530" y="1762175"/>
                </a:lnTo>
                <a:cubicBezTo>
                  <a:pt x="48151" y="1762175"/>
                  <a:pt x="31483" y="1755271"/>
                  <a:pt x="19193" y="1742981"/>
                </a:cubicBezTo>
                <a:cubicBezTo>
                  <a:pt x="6904" y="1730692"/>
                  <a:pt x="0" y="1714024"/>
                  <a:pt x="0" y="1696645"/>
                </a:cubicBezTo>
                <a:lnTo>
                  <a:pt x="0" y="65530"/>
                </a:lnTo>
                <a:cubicBezTo>
                  <a:pt x="0" y="48151"/>
                  <a:pt x="6904" y="31483"/>
                  <a:pt x="19193" y="19193"/>
                </a:cubicBezTo>
                <a:cubicBezTo>
                  <a:pt x="31483" y="6904"/>
                  <a:pt x="48151" y="0"/>
                  <a:pt x="65530" y="0"/>
                </a:cubicBezTo>
                <a:close/>
              </a:path>
            </a:pathLst>
          </a:custGeom>
          <a:solidFill>
            <a:srgbClr val="5FEAFF"/>
          </a:solidFill>
          <a:ln w="38100" cap="rnd">
            <a:solidFill>
              <a:srgbClr val="002B11"/>
            </a:solidFill>
            <a:prstDash val="solid"/>
            <a:round/>
          </a:ln>
          <a:effectLst>
            <a:outerShdw blurRad="50800" dist="38100" dir="5400000" algn="t" rotWithShape="0">
              <a:prstClr val="black">
                <a:alpha val="40000"/>
              </a:prstClr>
            </a:outerShdw>
          </a:effectLst>
        </p:spPr>
        <p:txBody>
          <a:bodyPr/>
          <a:lstStyle/>
          <a:p>
            <a:endParaRPr lang="en-US"/>
          </a:p>
        </p:txBody>
      </p:sp>
      <p:sp>
        <p:nvSpPr>
          <p:cNvPr id="49" name="Freeform 4">
            <a:extLst>
              <a:ext uri="{FF2B5EF4-FFF2-40B4-BE49-F238E27FC236}">
                <a16:creationId xmlns:a16="http://schemas.microsoft.com/office/drawing/2014/main" id="{80EDD06C-EAF3-1519-F9D1-A0F0F7F4761C}"/>
              </a:ext>
            </a:extLst>
          </p:cNvPr>
          <p:cNvSpPr/>
          <p:nvPr/>
        </p:nvSpPr>
        <p:spPr>
          <a:xfrm rot="13154954">
            <a:off x="11438786" y="-2165221"/>
            <a:ext cx="11435239" cy="5274643"/>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2">
            <a:extLst>
              <a:ext uri="{FF2B5EF4-FFF2-40B4-BE49-F238E27FC236}">
                <a16:creationId xmlns:a16="http://schemas.microsoft.com/office/drawing/2014/main" id="{A82C6A75-94DC-CF21-0DA8-239FAA43530D}"/>
              </a:ext>
            </a:extLst>
          </p:cNvPr>
          <p:cNvSpPr/>
          <p:nvPr/>
        </p:nvSpPr>
        <p:spPr>
          <a:xfrm>
            <a:off x="960120" y="1205388"/>
            <a:ext cx="13716000" cy="960120"/>
          </a:xfrm>
          <a:prstGeom prst="rect">
            <a:avLst/>
          </a:prstGeom>
          <a:noFill/>
          <a:ln/>
        </p:spPr>
        <p:txBody>
          <a:bodyPr wrap="square" lIns="0" tIns="0" rIns="0" bIns="0" rtlCol="0" anchor="ctr"/>
          <a:lstStyle/>
          <a:p>
            <a:pPr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Zendesk Overview</a:t>
            </a:r>
            <a:endParaRPr lang="en-US" sz="5200" dirty="0">
              <a:solidFill>
                <a:srgbClr val="002B11"/>
              </a:solidFill>
              <a:latin typeface="Poppins" panose="00000500000000000000" pitchFamily="2" charset="0"/>
              <a:cs typeface="Poppins" panose="00000500000000000000" pitchFamily="2" charset="0"/>
            </a:endParaRPr>
          </a:p>
        </p:txBody>
      </p:sp>
      <p:sp>
        <p:nvSpPr>
          <p:cNvPr id="21" name="Text 19">
            <a:extLst>
              <a:ext uri="{FF2B5EF4-FFF2-40B4-BE49-F238E27FC236}">
                <a16:creationId xmlns:a16="http://schemas.microsoft.com/office/drawing/2014/main" id="{9AF6BFCC-9AFC-1525-7D21-C86E6A1237C4}"/>
              </a:ext>
            </a:extLst>
          </p:cNvPr>
          <p:cNvSpPr/>
          <p:nvPr/>
        </p:nvSpPr>
        <p:spPr>
          <a:xfrm>
            <a:off x="1219200" y="9738360"/>
            <a:ext cx="10972800" cy="411480"/>
          </a:xfrm>
          <a:prstGeom prst="rect">
            <a:avLst/>
          </a:prstGeom>
          <a:noFill/>
          <a:ln/>
        </p:spPr>
        <p:txBody>
          <a:bodyPr wrap="square" lIns="0" tIns="0" rIns="0" bIns="0" rtlCol="0" anchor="ctr"/>
          <a:lstStyle/>
          <a:p>
            <a:pPr defTabSz="1371600"/>
            <a:r>
              <a:rPr lang="en-US" sz="1200" dirty="0">
                <a:solidFill>
                  <a:srgbClr val="8A8272"/>
                </a:solidFill>
                <a:latin typeface="Poppins" panose="00000500000000000000" pitchFamily="2" charset="0"/>
                <a:ea typeface="Calibri" pitchFamily="34" charset="-122"/>
                <a:cs typeface="Poppins" panose="00000500000000000000" pitchFamily="2" charset="0"/>
              </a:rPr>
              <a:t>Tripadvisor / Fraud support / Zendesk overview</a:t>
            </a:r>
            <a:endParaRPr lang="en-US" sz="1200" dirty="0">
              <a:solidFill>
                <a:prstClr val="black"/>
              </a:solidFill>
              <a:latin typeface="Poppins" panose="00000500000000000000" pitchFamily="2" charset="0"/>
              <a:cs typeface="Poppins" panose="00000500000000000000" pitchFamily="2" charset="0"/>
            </a:endParaRPr>
          </a:p>
        </p:txBody>
      </p:sp>
      <p:grpSp>
        <p:nvGrpSpPr>
          <p:cNvPr id="23" name="Group 22">
            <a:extLst>
              <a:ext uri="{FF2B5EF4-FFF2-40B4-BE49-F238E27FC236}">
                <a16:creationId xmlns:a16="http://schemas.microsoft.com/office/drawing/2014/main" id="{341DC1D6-A1A3-DF75-CA08-54653884BB71}"/>
              </a:ext>
            </a:extLst>
          </p:cNvPr>
          <p:cNvGrpSpPr/>
          <p:nvPr/>
        </p:nvGrpSpPr>
        <p:grpSpPr>
          <a:xfrm>
            <a:off x="847558" y="2734194"/>
            <a:ext cx="8272796" cy="2142173"/>
            <a:chOff x="0" y="-175755"/>
            <a:chExt cx="7792023" cy="8776294"/>
          </a:xfrm>
        </p:grpSpPr>
        <p:sp>
          <p:nvSpPr>
            <p:cNvPr id="29" name="TextBox 5">
              <a:extLst>
                <a:ext uri="{FF2B5EF4-FFF2-40B4-BE49-F238E27FC236}">
                  <a16:creationId xmlns:a16="http://schemas.microsoft.com/office/drawing/2014/main" id="{55D27BCF-702F-6808-2C02-14DF06023C6B}"/>
                </a:ext>
              </a:extLst>
            </p:cNvPr>
            <p:cNvSpPr txBox="1"/>
            <p:nvPr/>
          </p:nvSpPr>
          <p:spPr>
            <a:xfrm>
              <a:off x="0" y="-175755"/>
              <a:ext cx="7792023" cy="8776294"/>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spcBef>
                  <a:spcPct val="0"/>
                </a:spcBef>
              </a:pPr>
              <a:endParaRPr/>
            </a:p>
          </p:txBody>
        </p:sp>
        <p:grpSp>
          <p:nvGrpSpPr>
            <p:cNvPr id="25" name="Group 24">
              <a:extLst>
                <a:ext uri="{FF2B5EF4-FFF2-40B4-BE49-F238E27FC236}">
                  <a16:creationId xmlns:a16="http://schemas.microsoft.com/office/drawing/2014/main" id="{C0CA76D3-298F-A212-526D-F0B4A8E878B3}"/>
                </a:ext>
              </a:extLst>
            </p:cNvPr>
            <p:cNvGrpSpPr/>
            <p:nvPr/>
          </p:nvGrpSpPr>
          <p:grpSpPr>
            <a:xfrm>
              <a:off x="235817" y="60062"/>
              <a:ext cx="7355323" cy="8304660"/>
              <a:chOff x="0" y="-38100"/>
              <a:chExt cx="1594478" cy="1800275"/>
            </a:xfrm>
          </p:grpSpPr>
          <p:sp>
            <p:nvSpPr>
              <p:cNvPr id="26" name="Freeform 7">
                <a:extLst>
                  <a:ext uri="{FF2B5EF4-FFF2-40B4-BE49-F238E27FC236}">
                    <a16:creationId xmlns:a16="http://schemas.microsoft.com/office/drawing/2014/main" id="{B4664EA0-F578-9AFB-2C75-51D2D579F823}"/>
                  </a:ext>
                </a:extLst>
              </p:cNvPr>
              <p:cNvSpPr/>
              <p:nvPr/>
            </p:nvSpPr>
            <p:spPr>
              <a:xfrm>
                <a:off x="0" y="0"/>
                <a:ext cx="1594478" cy="1762175"/>
              </a:xfrm>
              <a:custGeom>
                <a:avLst/>
                <a:gdLst/>
                <a:ahLst/>
                <a:cxnLst/>
                <a:rect l="l" t="t" r="r" b="b"/>
                <a:pathLst>
                  <a:path w="1586905" h="1762175">
                    <a:moveTo>
                      <a:pt x="65530" y="0"/>
                    </a:moveTo>
                    <a:lnTo>
                      <a:pt x="1521375" y="0"/>
                    </a:lnTo>
                    <a:cubicBezTo>
                      <a:pt x="1538755" y="0"/>
                      <a:pt x="1555423" y="6904"/>
                      <a:pt x="1567712" y="19193"/>
                    </a:cubicBezTo>
                    <a:cubicBezTo>
                      <a:pt x="1580001" y="31483"/>
                      <a:pt x="1586905" y="48151"/>
                      <a:pt x="1586905" y="65530"/>
                    </a:cubicBezTo>
                    <a:lnTo>
                      <a:pt x="1586905" y="1696645"/>
                    </a:lnTo>
                    <a:cubicBezTo>
                      <a:pt x="1586905" y="1714024"/>
                      <a:pt x="1580001" y="1730692"/>
                      <a:pt x="1567712" y="1742981"/>
                    </a:cubicBezTo>
                    <a:cubicBezTo>
                      <a:pt x="1555423" y="1755271"/>
                      <a:pt x="1538755" y="1762175"/>
                      <a:pt x="1521375" y="1762175"/>
                    </a:cubicBezTo>
                    <a:lnTo>
                      <a:pt x="65530" y="1762175"/>
                    </a:lnTo>
                    <a:cubicBezTo>
                      <a:pt x="48151" y="1762175"/>
                      <a:pt x="31483" y="1755271"/>
                      <a:pt x="19193" y="1742981"/>
                    </a:cubicBezTo>
                    <a:cubicBezTo>
                      <a:pt x="6904" y="1730692"/>
                      <a:pt x="0" y="1714024"/>
                      <a:pt x="0" y="1696645"/>
                    </a:cubicBezTo>
                    <a:lnTo>
                      <a:pt x="0" y="65530"/>
                    </a:lnTo>
                    <a:cubicBezTo>
                      <a:pt x="0" y="48151"/>
                      <a:pt x="6904" y="31483"/>
                      <a:pt x="19193" y="19193"/>
                    </a:cubicBezTo>
                    <a:cubicBezTo>
                      <a:pt x="31483" y="6904"/>
                      <a:pt x="48151" y="0"/>
                      <a:pt x="65530" y="0"/>
                    </a:cubicBezTo>
                    <a:close/>
                  </a:path>
                </a:pathLst>
              </a:custGeom>
              <a:solidFill>
                <a:srgbClr val="FFFFFF"/>
              </a:solidFill>
              <a:ln w="38100" cap="rnd">
                <a:solidFill>
                  <a:srgbClr val="002B11"/>
                </a:solidFill>
                <a:prstDash val="solid"/>
                <a:round/>
              </a:ln>
              <a:effectLst>
                <a:outerShdw blurRad="50800" dist="38100" dir="5400000" algn="t" rotWithShape="0">
                  <a:prstClr val="black">
                    <a:alpha val="40000"/>
                  </a:prstClr>
                </a:outerShdw>
              </a:effectLst>
            </p:spPr>
            <p:txBody>
              <a:bodyPr/>
              <a:lstStyle/>
              <a:p>
                <a:endParaRPr lang="en-US"/>
              </a:p>
            </p:txBody>
          </p:sp>
          <p:sp>
            <p:nvSpPr>
              <p:cNvPr id="27" name="TextBox 8">
                <a:extLst>
                  <a:ext uri="{FF2B5EF4-FFF2-40B4-BE49-F238E27FC236}">
                    <a16:creationId xmlns:a16="http://schemas.microsoft.com/office/drawing/2014/main" id="{E68BECD5-A59C-DEE9-8289-96E2B2EC98F3}"/>
                  </a:ext>
                </a:extLst>
              </p:cNvPr>
              <p:cNvSpPr txBox="1"/>
              <p:nvPr/>
            </p:nvSpPr>
            <p:spPr>
              <a:xfrm>
                <a:off x="0" y="-38100"/>
                <a:ext cx="1586905" cy="180027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spcBef>
                    <a:spcPct val="0"/>
                  </a:spcBef>
                </a:pPr>
                <a:endParaRPr/>
              </a:p>
            </p:txBody>
          </p:sp>
        </p:grpSp>
      </p:grpSp>
      <p:sp>
        <p:nvSpPr>
          <p:cNvPr id="42" name="TextBox 21">
            <a:extLst>
              <a:ext uri="{FF2B5EF4-FFF2-40B4-BE49-F238E27FC236}">
                <a16:creationId xmlns:a16="http://schemas.microsoft.com/office/drawing/2014/main" id="{60B3A176-56E0-A5D3-60B7-F241C3FB0D2A}"/>
              </a:ext>
            </a:extLst>
          </p:cNvPr>
          <p:cNvSpPr txBox="1"/>
          <p:nvPr/>
        </p:nvSpPr>
        <p:spPr>
          <a:xfrm>
            <a:off x="3151100" y="3289763"/>
            <a:ext cx="5536256" cy="106644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806"/>
              </a:lnSpc>
            </a:pPr>
            <a:r>
              <a:rPr lang="en-US" sz="2200" b="1" dirty="0">
                <a:solidFill>
                  <a:srgbClr val="002B11"/>
                </a:solidFill>
                <a:latin typeface="Poppins" panose="00000500000000000000" pitchFamily="2" charset="0"/>
                <a:cs typeface="Poppins" panose="00000500000000000000" pitchFamily="2" charset="0"/>
              </a:rPr>
              <a:t>What is it?</a:t>
            </a:r>
            <a:br>
              <a:rPr lang="en-US" sz="2200" dirty="0">
                <a:solidFill>
                  <a:srgbClr val="002B11"/>
                </a:solidFill>
                <a:latin typeface="Poppins" panose="00000500000000000000" pitchFamily="2" charset="0"/>
                <a:cs typeface="Poppins" panose="00000500000000000000" pitchFamily="2" charset="0"/>
              </a:rPr>
            </a:br>
            <a:r>
              <a:rPr lang="en-US" sz="2200" dirty="0">
                <a:solidFill>
                  <a:srgbClr val="002B11"/>
                </a:solidFill>
                <a:latin typeface="Poppins" panose="00000500000000000000" pitchFamily="2" charset="0"/>
                <a:cs typeface="Poppins" panose="00000500000000000000" pitchFamily="2" charset="0"/>
              </a:rPr>
              <a:t>Primary CRM and ticketing platform for Fraud Support</a:t>
            </a:r>
            <a:endParaRPr lang="en-US" sz="2200" dirty="0">
              <a:solidFill>
                <a:srgbClr val="002B11"/>
              </a:solidFill>
              <a:latin typeface="Poppins" panose="00000500000000000000" pitchFamily="2" charset="0"/>
              <a:ea typeface="Poppins"/>
              <a:cs typeface="Poppins" panose="00000500000000000000" pitchFamily="2" charset="0"/>
              <a:sym typeface="Poppins"/>
            </a:endParaRPr>
          </a:p>
        </p:txBody>
      </p:sp>
      <p:sp>
        <p:nvSpPr>
          <p:cNvPr id="33" name="Freeform 7">
            <a:extLst>
              <a:ext uri="{FF2B5EF4-FFF2-40B4-BE49-F238E27FC236}">
                <a16:creationId xmlns:a16="http://schemas.microsoft.com/office/drawing/2014/main" id="{F3DA77DA-D892-944B-25E4-CF09B34BC764}"/>
              </a:ext>
            </a:extLst>
          </p:cNvPr>
          <p:cNvSpPr/>
          <p:nvPr/>
        </p:nvSpPr>
        <p:spPr>
          <a:xfrm>
            <a:off x="9370721" y="2703915"/>
            <a:ext cx="7889106" cy="2063475"/>
          </a:xfrm>
          <a:custGeom>
            <a:avLst/>
            <a:gdLst/>
            <a:ahLst/>
            <a:cxnLst/>
            <a:rect l="l" t="t" r="r" b="b"/>
            <a:pathLst>
              <a:path w="1586905" h="1762175">
                <a:moveTo>
                  <a:pt x="65530" y="0"/>
                </a:moveTo>
                <a:lnTo>
                  <a:pt x="1521375" y="0"/>
                </a:lnTo>
                <a:cubicBezTo>
                  <a:pt x="1538755" y="0"/>
                  <a:pt x="1555423" y="6904"/>
                  <a:pt x="1567712" y="19193"/>
                </a:cubicBezTo>
                <a:cubicBezTo>
                  <a:pt x="1580001" y="31483"/>
                  <a:pt x="1586905" y="48151"/>
                  <a:pt x="1586905" y="65530"/>
                </a:cubicBezTo>
                <a:lnTo>
                  <a:pt x="1586905" y="1696645"/>
                </a:lnTo>
                <a:cubicBezTo>
                  <a:pt x="1586905" y="1714024"/>
                  <a:pt x="1580001" y="1730692"/>
                  <a:pt x="1567712" y="1742981"/>
                </a:cubicBezTo>
                <a:cubicBezTo>
                  <a:pt x="1555423" y="1755271"/>
                  <a:pt x="1538755" y="1762175"/>
                  <a:pt x="1521375" y="1762175"/>
                </a:cubicBezTo>
                <a:lnTo>
                  <a:pt x="65530" y="1762175"/>
                </a:lnTo>
                <a:cubicBezTo>
                  <a:pt x="48151" y="1762175"/>
                  <a:pt x="31483" y="1755271"/>
                  <a:pt x="19193" y="1742981"/>
                </a:cubicBezTo>
                <a:cubicBezTo>
                  <a:pt x="6904" y="1730692"/>
                  <a:pt x="0" y="1714024"/>
                  <a:pt x="0" y="1696645"/>
                </a:cubicBezTo>
                <a:lnTo>
                  <a:pt x="0" y="65530"/>
                </a:lnTo>
                <a:cubicBezTo>
                  <a:pt x="0" y="48151"/>
                  <a:pt x="6904" y="31483"/>
                  <a:pt x="19193" y="19193"/>
                </a:cubicBezTo>
                <a:cubicBezTo>
                  <a:pt x="31483" y="6904"/>
                  <a:pt x="48151" y="0"/>
                  <a:pt x="65530" y="0"/>
                </a:cubicBezTo>
                <a:close/>
              </a:path>
            </a:pathLst>
          </a:custGeom>
          <a:solidFill>
            <a:srgbClr val="D953FF"/>
          </a:solidFill>
          <a:ln w="38100" cap="rnd">
            <a:solidFill>
              <a:srgbClr val="002B11"/>
            </a:solidFill>
            <a:prstDash val="solid"/>
            <a:round/>
          </a:ln>
          <a:effectLst>
            <a:outerShdw blurRad="50800" dist="38100" dir="5400000" algn="t" rotWithShape="0">
              <a:prstClr val="black">
                <a:alpha val="40000"/>
              </a:prstClr>
            </a:outerShdw>
          </a:effectLst>
        </p:spPr>
        <p:txBody>
          <a:bodyPr/>
          <a:lstStyle/>
          <a:p>
            <a:endParaRPr lang="en-US"/>
          </a:p>
        </p:txBody>
      </p:sp>
      <p:grpSp>
        <p:nvGrpSpPr>
          <p:cNvPr id="34" name="Group 33">
            <a:extLst>
              <a:ext uri="{FF2B5EF4-FFF2-40B4-BE49-F238E27FC236}">
                <a16:creationId xmlns:a16="http://schemas.microsoft.com/office/drawing/2014/main" id="{248B6C2D-8D43-BE40-65AA-C8C289E3F23C}"/>
              </a:ext>
            </a:extLst>
          </p:cNvPr>
          <p:cNvGrpSpPr/>
          <p:nvPr/>
        </p:nvGrpSpPr>
        <p:grpSpPr>
          <a:xfrm>
            <a:off x="9237399" y="2734194"/>
            <a:ext cx="8272796" cy="2142173"/>
            <a:chOff x="0" y="-175755"/>
            <a:chExt cx="7792023" cy="8776294"/>
          </a:xfrm>
        </p:grpSpPr>
        <p:sp>
          <p:nvSpPr>
            <p:cNvPr id="35" name="TextBox 5">
              <a:extLst>
                <a:ext uri="{FF2B5EF4-FFF2-40B4-BE49-F238E27FC236}">
                  <a16:creationId xmlns:a16="http://schemas.microsoft.com/office/drawing/2014/main" id="{D2FC9D11-7E62-45CA-EF39-FABE4CA39B3D}"/>
                </a:ext>
              </a:extLst>
            </p:cNvPr>
            <p:cNvSpPr txBox="1"/>
            <p:nvPr/>
          </p:nvSpPr>
          <p:spPr>
            <a:xfrm>
              <a:off x="0" y="-175755"/>
              <a:ext cx="7792023" cy="8776294"/>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spcBef>
                  <a:spcPct val="0"/>
                </a:spcBef>
              </a:pPr>
              <a:endParaRPr/>
            </a:p>
          </p:txBody>
        </p:sp>
        <p:grpSp>
          <p:nvGrpSpPr>
            <p:cNvPr id="36" name="Group 35">
              <a:extLst>
                <a:ext uri="{FF2B5EF4-FFF2-40B4-BE49-F238E27FC236}">
                  <a16:creationId xmlns:a16="http://schemas.microsoft.com/office/drawing/2014/main" id="{D1CE17AD-13D9-C8E0-BA23-EB315DE80170}"/>
                </a:ext>
              </a:extLst>
            </p:cNvPr>
            <p:cNvGrpSpPr/>
            <p:nvPr/>
          </p:nvGrpSpPr>
          <p:grpSpPr>
            <a:xfrm>
              <a:off x="235817" y="60062"/>
              <a:ext cx="7355323" cy="8304660"/>
              <a:chOff x="0" y="-38100"/>
              <a:chExt cx="1594478" cy="1800275"/>
            </a:xfrm>
          </p:grpSpPr>
          <p:sp>
            <p:nvSpPr>
              <p:cNvPr id="37" name="Freeform 7">
                <a:extLst>
                  <a:ext uri="{FF2B5EF4-FFF2-40B4-BE49-F238E27FC236}">
                    <a16:creationId xmlns:a16="http://schemas.microsoft.com/office/drawing/2014/main" id="{2100001B-8873-6C72-9AE7-A83D296FEC51}"/>
                  </a:ext>
                </a:extLst>
              </p:cNvPr>
              <p:cNvSpPr/>
              <p:nvPr/>
            </p:nvSpPr>
            <p:spPr>
              <a:xfrm>
                <a:off x="0" y="0"/>
                <a:ext cx="1594478" cy="1762175"/>
              </a:xfrm>
              <a:custGeom>
                <a:avLst/>
                <a:gdLst/>
                <a:ahLst/>
                <a:cxnLst/>
                <a:rect l="l" t="t" r="r" b="b"/>
                <a:pathLst>
                  <a:path w="1586905" h="1762175">
                    <a:moveTo>
                      <a:pt x="65530" y="0"/>
                    </a:moveTo>
                    <a:lnTo>
                      <a:pt x="1521375" y="0"/>
                    </a:lnTo>
                    <a:cubicBezTo>
                      <a:pt x="1538755" y="0"/>
                      <a:pt x="1555423" y="6904"/>
                      <a:pt x="1567712" y="19193"/>
                    </a:cubicBezTo>
                    <a:cubicBezTo>
                      <a:pt x="1580001" y="31483"/>
                      <a:pt x="1586905" y="48151"/>
                      <a:pt x="1586905" y="65530"/>
                    </a:cubicBezTo>
                    <a:lnTo>
                      <a:pt x="1586905" y="1696645"/>
                    </a:lnTo>
                    <a:cubicBezTo>
                      <a:pt x="1586905" y="1714024"/>
                      <a:pt x="1580001" y="1730692"/>
                      <a:pt x="1567712" y="1742981"/>
                    </a:cubicBezTo>
                    <a:cubicBezTo>
                      <a:pt x="1555423" y="1755271"/>
                      <a:pt x="1538755" y="1762175"/>
                      <a:pt x="1521375" y="1762175"/>
                    </a:cubicBezTo>
                    <a:lnTo>
                      <a:pt x="65530" y="1762175"/>
                    </a:lnTo>
                    <a:cubicBezTo>
                      <a:pt x="48151" y="1762175"/>
                      <a:pt x="31483" y="1755271"/>
                      <a:pt x="19193" y="1742981"/>
                    </a:cubicBezTo>
                    <a:cubicBezTo>
                      <a:pt x="6904" y="1730692"/>
                      <a:pt x="0" y="1714024"/>
                      <a:pt x="0" y="1696645"/>
                    </a:cubicBezTo>
                    <a:lnTo>
                      <a:pt x="0" y="65530"/>
                    </a:lnTo>
                    <a:cubicBezTo>
                      <a:pt x="0" y="48151"/>
                      <a:pt x="6904" y="31483"/>
                      <a:pt x="19193" y="19193"/>
                    </a:cubicBezTo>
                    <a:cubicBezTo>
                      <a:pt x="31483" y="6904"/>
                      <a:pt x="48151" y="0"/>
                      <a:pt x="65530" y="0"/>
                    </a:cubicBezTo>
                    <a:close/>
                  </a:path>
                </a:pathLst>
              </a:custGeom>
              <a:solidFill>
                <a:srgbClr val="FFFFFF"/>
              </a:solidFill>
              <a:ln w="38100" cap="rnd">
                <a:solidFill>
                  <a:srgbClr val="002B11"/>
                </a:solidFill>
                <a:prstDash val="solid"/>
                <a:round/>
              </a:ln>
              <a:effectLst>
                <a:outerShdw blurRad="50800" dist="38100" dir="5400000" algn="t" rotWithShape="0">
                  <a:prstClr val="black">
                    <a:alpha val="40000"/>
                  </a:prstClr>
                </a:outerShdw>
              </a:effectLst>
            </p:spPr>
            <p:txBody>
              <a:bodyPr/>
              <a:lstStyle/>
              <a:p>
                <a:endParaRPr lang="en-US"/>
              </a:p>
            </p:txBody>
          </p:sp>
          <p:sp>
            <p:nvSpPr>
              <p:cNvPr id="38" name="TextBox 8">
                <a:extLst>
                  <a:ext uri="{FF2B5EF4-FFF2-40B4-BE49-F238E27FC236}">
                    <a16:creationId xmlns:a16="http://schemas.microsoft.com/office/drawing/2014/main" id="{19901647-25B9-B470-8DA8-CA9AAAA644B2}"/>
                  </a:ext>
                </a:extLst>
              </p:cNvPr>
              <p:cNvSpPr txBox="1"/>
              <p:nvPr/>
            </p:nvSpPr>
            <p:spPr>
              <a:xfrm>
                <a:off x="0" y="-38100"/>
                <a:ext cx="1586905" cy="180027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spcBef>
                    <a:spcPct val="0"/>
                  </a:spcBef>
                </a:pPr>
                <a:endParaRPr/>
              </a:p>
            </p:txBody>
          </p:sp>
        </p:grpSp>
      </p:grpSp>
      <p:sp>
        <p:nvSpPr>
          <p:cNvPr id="39" name="TextBox 21">
            <a:extLst>
              <a:ext uri="{FF2B5EF4-FFF2-40B4-BE49-F238E27FC236}">
                <a16:creationId xmlns:a16="http://schemas.microsoft.com/office/drawing/2014/main" id="{7F52AE45-3726-A3BF-BC84-BB7354B545F8}"/>
              </a:ext>
            </a:extLst>
          </p:cNvPr>
          <p:cNvSpPr txBox="1"/>
          <p:nvPr/>
        </p:nvSpPr>
        <p:spPr>
          <a:xfrm>
            <a:off x="11630856" y="3272057"/>
            <a:ext cx="5536256" cy="106644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806"/>
              </a:lnSpc>
            </a:pPr>
            <a:r>
              <a:rPr lang="en-US" sz="2200" b="1" dirty="0">
                <a:solidFill>
                  <a:srgbClr val="002B11"/>
                </a:solidFill>
                <a:latin typeface="Poppins" panose="00000500000000000000" pitchFamily="2" charset="0"/>
                <a:cs typeface="Poppins" panose="00000500000000000000" pitchFamily="2" charset="0"/>
              </a:rPr>
              <a:t>What does it do?</a:t>
            </a:r>
          </a:p>
          <a:p>
            <a:pPr>
              <a:lnSpc>
                <a:spcPts val="2806"/>
              </a:lnSpc>
            </a:pPr>
            <a:r>
              <a:rPr lang="en-US" sz="2200" dirty="0">
                <a:solidFill>
                  <a:srgbClr val="002B11"/>
                </a:solidFill>
                <a:latin typeface="Poppins" panose="00000500000000000000" pitchFamily="2" charset="0"/>
                <a:cs typeface="Poppins" panose="00000500000000000000" pitchFamily="2" charset="0"/>
              </a:rPr>
              <a:t>Tracks, manages, and resolves incoming support requests</a:t>
            </a:r>
            <a:endParaRPr lang="en-US" sz="2200" dirty="0">
              <a:solidFill>
                <a:srgbClr val="002B11"/>
              </a:solidFill>
              <a:latin typeface="Poppins" panose="00000500000000000000" pitchFamily="2" charset="0"/>
              <a:ea typeface="Poppins"/>
              <a:cs typeface="Poppins" panose="00000500000000000000" pitchFamily="2" charset="0"/>
              <a:sym typeface="Poppins"/>
            </a:endParaRPr>
          </a:p>
        </p:txBody>
      </p:sp>
      <p:sp>
        <p:nvSpPr>
          <p:cNvPr id="41" name="Freeform 7">
            <a:extLst>
              <a:ext uri="{FF2B5EF4-FFF2-40B4-BE49-F238E27FC236}">
                <a16:creationId xmlns:a16="http://schemas.microsoft.com/office/drawing/2014/main" id="{49772E81-10C5-CEFC-37D5-69D9D4D2F3F4}"/>
              </a:ext>
            </a:extLst>
          </p:cNvPr>
          <p:cNvSpPr/>
          <p:nvPr/>
        </p:nvSpPr>
        <p:spPr>
          <a:xfrm>
            <a:off x="960120" y="5770607"/>
            <a:ext cx="7889106" cy="2063475"/>
          </a:xfrm>
          <a:custGeom>
            <a:avLst/>
            <a:gdLst/>
            <a:ahLst/>
            <a:cxnLst/>
            <a:rect l="l" t="t" r="r" b="b"/>
            <a:pathLst>
              <a:path w="1586905" h="1762175">
                <a:moveTo>
                  <a:pt x="65530" y="0"/>
                </a:moveTo>
                <a:lnTo>
                  <a:pt x="1521375" y="0"/>
                </a:lnTo>
                <a:cubicBezTo>
                  <a:pt x="1538755" y="0"/>
                  <a:pt x="1555423" y="6904"/>
                  <a:pt x="1567712" y="19193"/>
                </a:cubicBezTo>
                <a:cubicBezTo>
                  <a:pt x="1580001" y="31483"/>
                  <a:pt x="1586905" y="48151"/>
                  <a:pt x="1586905" y="65530"/>
                </a:cubicBezTo>
                <a:lnTo>
                  <a:pt x="1586905" y="1696645"/>
                </a:lnTo>
                <a:cubicBezTo>
                  <a:pt x="1586905" y="1714024"/>
                  <a:pt x="1580001" y="1730692"/>
                  <a:pt x="1567712" y="1742981"/>
                </a:cubicBezTo>
                <a:cubicBezTo>
                  <a:pt x="1555423" y="1755271"/>
                  <a:pt x="1538755" y="1762175"/>
                  <a:pt x="1521375" y="1762175"/>
                </a:cubicBezTo>
                <a:lnTo>
                  <a:pt x="65530" y="1762175"/>
                </a:lnTo>
                <a:cubicBezTo>
                  <a:pt x="48151" y="1762175"/>
                  <a:pt x="31483" y="1755271"/>
                  <a:pt x="19193" y="1742981"/>
                </a:cubicBezTo>
                <a:cubicBezTo>
                  <a:pt x="6904" y="1730692"/>
                  <a:pt x="0" y="1714024"/>
                  <a:pt x="0" y="1696645"/>
                </a:cubicBezTo>
                <a:lnTo>
                  <a:pt x="0" y="65530"/>
                </a:lnTo>
                <a:cubicBezTo>
                  <a:pt x="0" y="48151"/>
                  <a:pt x="6904" y="31483"/>
                  <a:pt x="19193" y="19193"/>
                </a:cubicBezTo>
                <a:cubicBezTo>
                  <a:pt x="31483" y="6904"/>
                  <a:pt x="48151" y="0"/>
                  <a:pt x="65530" y="0"/>
                </a:cubicBezTo>
                <a:close/>
              </a:path>
            </a:pathLst>
          </a:custGeom>
          <a:solidFill>
            <a:srgbClr val="23EEBE"/>
          </a:solidFill>
          <a:ln w="38100" cap="rnd">
            <a:solidFill>
              <a:srgbClr val="002B11"/>
            </a:solidFill>
            <a:prstDash val="solid"/>
            <a:round/>
          </a:ln>
          <a:effectLst>
            <a:outerShdw blurRad="50800" dist="38100" dir="5400000" algn="t" rotWithShape="0">
              <a:prstClr val="black">
                <a:alpha val="40000"/>
              </a:prstClr>
            </a:outerShdw>
          </a:effectLst>
        </p:spPr>
        <p:txBody>
          <a:bodyPr/>
          <a:lstStyle/>
          <a:p>
            <a:endParaRPr lang="en-US"/>
          </a:p>
        </p:txBody>
      </p:sp>
      <p:grpSp>
        <p:nvGrpSpPr>
          <p:cNvPr id="43" name="Group 42">
            <a:extLst>
              <a:ext uri="{FF2B5EF4-FFF2-40B4-BE49-F238E27FC236}">
                <a16:creationId xmlns:a16="http://schemas.microsoft.com/office/drawing/2014/main" id="{20FE3D9C-DE07-7F89-DAFF-1DD9F3258324}"/>
              </a:ext>
            </a:extLst>
          </p:cNvPr>
          <p:cNvGrpSpPr/>
          <p:nvPr/>
        </p:nvGrpSpPr>
        <p:grpSpPr>
          <a:xfrm>
            <a:off x="826798" y="5800886"/>
            <a:ext cx="8272796" cy="2142173"/>
            <a:chOff x="0" y="-175755"/>
            <a:chExt cx="7792023" cy="8776294"/>
          </a:xfrm>
        </p:grpSpPr>
        <p:sp>
          <p:nvSpPr>
            <p:cNvPr id="44" name="TextBox 5">
              <a:extLst>
                <a:ext uri="{FF2B5EF4-FFF2-40B4-BE49-F238E27FC236}">
                  <a16:creationId xmlns:a16="http://schemas.microsoft.com/office/drawing/2014/main" id="{41034B12-8061-C431-5511-F766B5DB39EE}"/>
                </a:ext>
              </a:extLst>
            </p:cNvPr>
            <p:cNvSpPr txBox="1"/>
            <p:nvPr/>
          </p:nvSpPr>
          <p:spPr>
            <a:xfrm>
              <a:off x="0" y="-175755"/>
              <a:ext cx="7792023" cy="8776294"/>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spcBef>
                  <a:spcPct val="0"/>
                </a:spcBef>
              </a:pPr>
              <a:endParaRPr/>
            </a:p>
          </p:txBody>
        </p:sp>
        <p:grpSp>
          <p:nvGrpSpPr>
            <p:cNvPr id="45" name="Group 44">
              <a:extLst>
                <a:ext uri="{FF2B5EF4-FFF2-40B4-BE49-F238E27FC236}">
                  <a16:creationId xmlns:a16="http://schemas.microsoft.com/office/drawing/2014/main" id="{556E8796-05E9-C826-2728-5A80E74D489B}"/>
                </a:ext>
              </a:extLst>
            </p:cNvPr>
            <p:cNvGrpSpPr/>
            <p:nvPr/>
          </p:nvGrpSpPr>
          <p:grpSpPr>
            <a:xfrm>
              <a:off x="235817" y="60062"/>
              <a:ext cx="7355323" cy="8304660"/>
              <a:chOff x="0" y="-38100"/>
              <a:chExt cx="1594478" cy="1800275"/>
            </a:xfrm>
          </p:grpSpPr>
          <p:sp>
            <p:nvSpPr>
              <p:cNvPr id="46" name="Freeform 7">
                <a:extLst>
                  <a:ext uri="{FF2B5EF4-FFF2-40B4-BE49-F238E27FC236}">
                    <a16:creationId xmlns:a16="http://schemas.microsoft.com/office/drawing/2014/main" id="{8015703E-CC2C-0D12-2CF9-8891B80590C2}"/>
                  </a:ext>
                </a:extLst>
              </p:cNvPr>
              <p:cNvSpPr/>
              <p:nvPr/>
            </p:nvSpPr>
            <p:spPr>
              <a:xfrm>
                <a:off x="0" y="0"/>
                <a:ext cx="1594478" cy="1762175"/>
              </a:xfrm>
              <a:custGeom>
                <a:avLst/>
                <a:gdLst/>
                <a:ahLst/>
                <a:cxnLst/>
                <a:rect l="l" t="t" r="r" b="b"/>
                <a:pathLst>
                  <a:path w="1586905" h="1762175">
                    <a:moveTo>
                      <a:pt x="65530" y="0"/>
                    </a:moveTo>
                    <a:lnTo>
                      <a:pt x="1521375" y="0"/>
                    </a:lnTo>
                    <a:cubicBezTo>
                      <a:pt x="1538755" y="0"/>
                      <a:pt x="1555423" y="6904"/>
                      <a:pt x="1567712" y="19193"/>
                    </a:cubicBezTo>
                    <a:cubicBezTo>
                      <a:pt x="1580001" y="31483"/>
                      <a:pt x="1586905" y="48151"/>
                      <a:pt x="1586905" y="65530"/>
                    </a:cubicBezTo>
                    <a:lnTo>
                      <a:pt x="1586905" y="1696645"/>
                    </a:lnTo>
                    <a:cubicBezTo>
                      <a:pt x="1586905" y="1714024"/>
                      <a:pt x="1580001" y="1730692"/>
                      <a:pt x="1567712" y="1742981"/>
                    </a:cubicBezTo>
                    <a:cubicBezTo>
                      <a:pt x="1555423" y="1755271"/>
                      <a:pt x="1538755" y="1762175"/>
                      <a:pt x="1521375" y="1762175"/>
                    </a:cubicBezTo>
                    <a:lnTo>
                      <a:pt x="65530" y="1762175"/>
                    </a:lnTo>
                    <a:cubicBezTo>
                      <a:pt x="48151" y="1762175"/>
                      <a:pt x="31483" y="1755271"/>
                      <a:pt x="19193" y="1742981"/>
                    </a:cubicBezTo>
                    <a:cubicBezTo>
                      <a:pt x="6904" y="1730692"/>
                      <a:pt x="0" y="1714024"/>
                      <a:pt x="0" y="1696645"/>
                    </a:cubicBezTo>
                    <a:lnTo>
                      <a:pt x="0" y="65530"/>
                    </a:lnTo>
                    <a:cubicBezTo>
                      <a:pt x="0" y="48151"/>
                      <a:pt x="6904" y="31483"/>
                      <a:pt x="19193" y="19193"/>
                    </a:cubicBezTo>
                    <a:cubicBezTo>
                      <a:pt x="31483" y="6904"/>
                      <a:pt x="48151" y="0"/>
                      <a:pt x="65530" y="0"/>
                    </a:cubicBezTo>
                    <a:close/>
                  </a:path>
                </a:pathLst>
              </a:custGeom>
              <a:solidFill>
                <a:srgbClr val="FFFFFF"/>
              </a:solidFill>
              <a:ln w="38100" cap="rnd">
                <a:solidFill>
                  <a:srgbClr val="002B11"/>
                </a:solidFill>
                <a:prstDash val="solid"/>
                <a:round/>
              </a:ln>
              <a:effectLst>
                <a:outerShdw blurRad="50800" dist="38100" dir="5400000" algn="t" rotWithShape="0">
                  <a:prstClr val="black">
                    <a:alpha val="40000"/>
                  </a:prstClr>
                </a:outerShdw>
              </a:effectLst>
            </p:spPr>
            <p:txBody>
              <a:bodyPr/>
              <a:lstStyle/>
              <a:p>
                <a:endParaRPr lang="en-US"/>
              </a:p>
            </p:txBody>
          </p:sp>
          <p:sp>
            <p:nvSpPr>
              <p:cNvPr id="47" name="TextBox 8">
                <a:extLst>
                  <a:ext uri="{FF2B5EF4-FFF2-40B4-BE49-F238E27FC236}">
                    <a16:creationId xmlns:a16="http://schemas.microsoft.com/office/drawing/2014/main" id="{5967742A-EF34-5777-5D87-28E2073F8009}"/>
                  </a:ext>
                </a:extLst>
              </p:cNvPr>
              <p:cNvSpPr txBox="1"/>
              <p:nvPr/>
            </p:nvSpPr>
            <p:spPr>
              <a:xfrm>
                <a:off x="0" y="-38100"/>
                <a:ext cx="1586905" cy="180027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spcBef>
                    <a:spcPct val="0"/>
                  </a:spcBef>
                </a:pPr>
                <a:endParaRPr/>
              </a:p>
            </p:txBody>
          </p:sp>
        </p:grpSp>
      </p:grpSp>
      <p:sp>
        <p:nvSpPr>
          <p:cNvPr id="48" name="TextBox 21">
            <a:extLst>
              <a:ext uri="{FF2B5EF4-FFF2-40B4-BE49-F238E27FC236}">
                <a16:creationId xmlns:a16="http://schemas.microsoft.com/office/drawing/2014/main" id="{8BA4F0FF-969D-1A76-27B2-BAD2F27110D0}"/>
              </a:ext>
            </a:extLst>
          </p:cNvPr>
          <p:cNvSpPr txBox="1"/>
          <p:nvPr/>
        </p:nvSpPr>
        <p:spPr>
          <a:xfrm>
            <a:off x="3151100" y="6369099"/>
            <a:ext cx="5536256" cy="106644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806"/>
              </a:lnSpc>
            </a:pPr>
            <a:r>
              <a:rPr lang="en-US" sz="2200" b="1" dirty="0">
                <a:solidFill>
                  <a:srgbClr val="002B11"/>
                </a:solidFill>
                <a:latin typeface="Poppins" panose="00000500000000000000" pitchFamily="2" charset="0"/>
                <a:cs typeface="Poppins" panose="00000500000000000000" pitchFamily="2" charset="0"/>
              </a:rPr>
              <a:t>How does it function?	</a:t>
            </a:r>
            <a:br>
              <a:rPr lang="en-US" sz="2200" dirty="0">
                <a:solidFill>
                  <a:srgbClr val="002B11"/>
                </a:solidFill>
                <a:latin typeface="Poppins" panose="00000500000000000000" pitchFamily="2" charset="0"/>
                <a:cs typeface="Poppins" panose="00000500000000000000" pitchFamily="2" charset="0"/>
              </a:rPr>
            </a:br>
            <a:r>
              <a:rPr lang="en-US" sz="2200" dirty="0">
                <a:solidFill>
                  <a:srgbClr val="002B11"/>
                </a:solidFill>
                <a:latin typeface="Poppins" panose="00000500000000000000" pitchFamily="2" charset="0"/>
                <a:cs typeface="Poppins" panose="00000500000000000000" pitchFamily="2" charset="0"/>
              </a:rPr>
              <a:t>Connects agents directly with owners, users, and reviewers</a:t>
            </a:r>
            <a:endParaRPr lang="en-US" sz="2200" dirty="0">
              <a:solidFill>
                <a:srgbClr val="002B11"/>
              </a:solidFill>
              <a:latin typeface="Poppins" panose="00000500000000000000" pitchFamily="2" charset="0"/>
              <a:ea typeface="Poppins"/>
              <a:cs typeface="Poppins" panose="00000500000000000000" pitchFamily="2" charset="0"/>
              <a:sym typeface="Poppins"/>
            </a:endParaRPr>
          </a:p>
        </p:txBody>
      </p:sp>
      <p:sp>
        <p:nvSpPr>
          <p:cNvPr id="50" name="Freeform 7">
            <a:extLst>
              <a:ext uri="{FF2B5EF4-FFF2-40B4-BE49-F238E27FC236}">
                <a16:creationId xmlns:a16="http://schemas.microsoft.com/office/drawing/2014/main" id="{B9CA75F3-44CF-D215-47D5-4717CC678435}"/>
              </a:ext>
            </a:extLst>
          </p:cNvPr>
          <p:cNvSpPr/>
          <p:nvPr/>
        </p:nvSpPr>
        <p:spPr>
          <a:xfrm>
            <a:off x="9370721" y="5774960"/>
            <a:ext cx="7889106" cy="2063475"/>
          </a:xfrm>
          <a:custGeom>
            <a:avLst/>
            <a:gdLst/>
            <a:ahLst/>
            <a:cxnLst/>
            <a:rect l="l" t="t" r="r" b="b"/>
            <a:pathLst>
              <a:path w="1586905" h="1762175">
                <a:moveTo>
                  <a:pt x="65530" y="0"/>
                </a:moveTo>
                <a:lnTo>
                  <a:pt x="1521375" y="0"/>
                </a:lnTo>
                <a:cubicBezTo>
                  <a:pt x="1538755" y="0"/>
                  <a:pt x="1555423" y="6904"/>
                  <a:pt x="1567712" y="19193"/>
                </a:cubicBezTo>
                <a:cubicBezTo>
                  <a:pt x="1580001" y="31483"/>
                  <a:pt x="1586905" y="48151"/>
                  <a:pt x="1586905" y="65530"/>
                </a:cubicBezTo>
                <a:lnTo>
                  <a:pt x="1586905" y="1696645"/>
                </a:lnTo>
                <a:cubicBezTo>
                  <a:pt x="1586905" y="1714024"/>
                  <a:pt x="1580001" y="1730692"/>
                  <a:pt x="1567712" y="1742981"/>
                </a:cubicBezTo>
                <a:cubicBezTo>
                  <a:pt x="1555423" y="1755271"/>
                  <a:pt x="1538755" y="1762175"/>
                  <a:pt x="1521375" y="1762175"/>
                </a:cubicBezTo>
                <a:lnTo>
                  <a:pt x="65530" y="1762175"/>
                </a:lnTo>
                <a:cubicBezTo>
                  <a:pt x="48151" y="1762175"/>
                  <a:pt x="31483" y="1755271"/>
                  <a:pt x="19193" y="1742981"/>
                </a:cubicBezTo>
                <a:cubicBezTo>
                  <a:pt x="6904" y="1730692"/>
                  <a:pt x="0" y="1714024"/>
                  <a:pt x="0" y="1696645"/>
                </a:cubicBezTo>
                <a:lnTo>
                  <a:pt x="0" y="65530"/>
                </a:lnTo>
                <a:cubicBezTo>
                  <a:pt x="0" y="48151"/>
                  <a:pt x="6904" y="31483"/>
                  <a:pt x="19193" y="19193"/>
                </a:cubicBezTo>
                <a:cubicBezTo>
                  <a:pt x="31483" y="6904"/>
                  <a:pt x="48151" y="0"/>
                  <a:pt x="65530" y="0"/>
                </a:cubicBezTo>
                <a:close/>
              </a:path>
            </a:pathLst>
          </a:custGeom>
          <a:solidFill>
            <a:srgbClr val="FB5184"/>
          </a:solidFill>
          <a:ln w="38100" cap="rnd">
            <a:solidFill>
              <a:srgbClr val="002B11"/>
            </a:solidFill>
            <a:prstDash val="solid"/>
            <a:round/>
          </a:ln>
          <a:effectLst>
            <a:outerShdw blurRad="50800" dist="38100" dir="5400000" algn="t" rotWithShape="0">
              <a:prstClr val="black">
                <a:alpha val="40000"/>
              </a:prstClr>
            </a:outerShdw>
          </a:effectLst>
        </p:spPr>
        <p:txBody>
          <a:bodyPr/>
          <a:lstStyle/>
          <a:p>
            <a:endParaRPr lang="en-US"/>
          </a:p>
        </p:txBody>
      </p:sp>
      <p:grpSp>
        <p:nvGrpSpPr>
          <p:cNvPr id="51" name="Group 50">
            <a:extLst>
              <a:ext uri="{FF2B5EF4-FFF2-40B4-BE49-F238E27FC236}">
                <a16:creationId xmlns:a16="http://schemas.microsoft.com/office/drawing/2014/main" id="{967E042B-3990-A900-B1B6-F3A1C9BB2DAF}"/>
              </a:ext>
            </a:extLst>
          </p:cNvPr>
          <p:cNvGrpSpPr/>
          <p:nvPr/>
        </p:nvGrpSpPr>
        <p:grpSpPr>
          <a:xfrm>
            <a:off x="9237399" y="5805239"/>
            <a:ext cx="8272796" cy="2142173"/>
            <a:chOff x="0" y="-175755"/>
            <a:chExt cx="7792023" cy="8776294"/>
          </a:xfrm>
        </p:grpSpPr>
        <p:sp>
          <p:nvSpPr>
            <p:cNvPr id="52" name="TextBox 5">
              <a:extLst>
                <a:ext uri="{FF2B5EF4-FFF2-40B4-BE49-F238E27FC236}">
                  <a16:creationId xmlns:a16="http://schemas.microsoft.com/office/drawing/2014/main" id="{7AA16702-14CC-BAC8-118D-449D15DBAADC}"/>
                </a:ext>
              </a:extLst>
            </p:cNvPr>
            <p:cNvSpPr txBox="1"/>
            <p:nvPr/>
          </p:nvSpPr>
          <p:spPr>
            <a:xfrm>
              <a:off x="0" y="-175755"/>
              <a:ext cx="7792023" cy="8776294"/>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spcBef>
                  <a:spcPct val="0"/>
                </a:spcBef>
              </a:pPr>
              <a:endParaRPr/>
            </a:p>
          </p:txBody>
        </p:sp>
        <p:grpSp>
          <p:nvGrpSpPr>
            <p:cNvPr id="53" name="Group 52">
              <a:extLst>
                <a:ext uri="{FF2B5EF4-FFF2-40B4-BE49-F238E27FC236}">
                  <a16:creationId xmlns:a16="http://schemas.microsoft.com/office/drawing/2014/main" id="{57C9C940-18D5-58E0-CBD6-109E9194B78B}"/>
                </a:ext>
              </a:extLst>
            </p:cNvPr>
            <p:cNvGrpSpPr/>
            <p:nvPr/>
          </p:nvGrpSpPr>
          <p:grpSpPr>
            <a:xfrm>
              <a:off x="235817" y="60062"/>
              <a:ext cx="7355323" cy="8304660"/>
              <a:chOff x="0" y="-38100"/>
              <a:chExt cx="1594478" cy="1800275"/>
            </a:xfrm>
          </p:grpSpPr>
          <p:sp>
            <p:nvSpPr>
              <p:cNvPr id="54" name="Freeform 7">
                <a:extLst>
                  <a:ext uri="{FF2B5EF4-FFF2-40B4-BE49-F238E27FC236}">
                    <a16:creationId xmlns:a16="http://schemas.microsoft.com/office/drawing/2014/main" id="{15FA3F04-7527-8EE3-4049-475CB3CE999A}"/>
                  </a:ext>
                </a:extLst>
              </p:cNvPr>
              <p:cNvSpPr/>
              <p:nvPr/>
            </p:nvSpPr>
            <p:spPr>
              <a:xfrm>
                <a:off x="0" y="0"/>
                <a:ext cx="1594478" cy="1762175"/>
              </a:xfrm>
              <a:custGeom>
                <a:avLst/>
                <a:gdLst/>
                <a:ahLst/>
                <a:cxnLst/>
                <a:rect l="l" t="t" r="r" b="b"/>
                <a:pathLst>
                  <a:path w="1586905" h="1762175">
                    <a:moveTo>
                      <a:pt x="65530" y="0"/>
                    </a:moveTo>
                    <a:lnTo>
                      <a:pt x="1521375" y="0"/>
                    </a:lnTo>
                    <a:cubicBezTo>
                      <a:pt x="1538755" y="0"/>
                      <a:pt x="1555423" y="6904"/>
                      <a:pt x="1567712" y="19193"/>
                    </a:cubicBezTo>
                    <a:cubicBezTo>
                      <a:pt x="1580001" y="31483"/>
                      <a:pt x="1586905" y="48151"/>
                      <a:pt x="1586905" y="65530"/>
                    </a:cubicBezTo>
                    <a:lnTo>
                      <a:pt x="1586905" y="1696645"/>
                    </a:lnTo>
                    <a:cubicBezTo>
                      <a:pt x="1586905" y="1714024"/>
                      <a:pt x="1580001" y="1730692"/>
                      <a:pt x="1567712" y="1742981"/>
                    </a:cubicBezTo>
                    <a:cubicBezTo>
                      <a:pt x="1555423" y="1755271"/>
                      <a:pt x="1538755" y="1762175"/>
                      <a:pt x="1521375" y="1762175"/>
                    </a:cubicBezTo>
                    <a:lnTo>
                      <a:pt x="65530" y="1762175"/>
                    </a:lnTo>
                    <a:cubicBezTo>
                      <a:pt x="48151" y="1762175"/>
                      <a:pt x="31483" y="1755271"/>
                      <a:pt x="19193" y="1742981"/>
                    </a:cubicBezTo>
                    <a:cubicBezTo>
                      <a:pt x="6904" y="1730692"/>
                      <a:pt x="0" y="1714024"/>
                      <a:pt x="0" y="1696645"/>
                    </a:cubicBezTo>
                    <a:lnTo>
                      <a:pt x="0" y="65530"/>
                    </a:lnTo>
                    <a:cubicBezTo>
                      <a:pt x="0" y="48151"/>
                      <a:pt x="6904" y="31483"/>
                      <a:pt x="19193" y="19193"/>
                    </a:cubicBezTo>
                    <a:cubicBezTo>
                      <a:pt x="31483" y="6904"/>
                      <a:pt x="48151" y="0"/>
                      <a:pt x="65530" y="0"/>
                    </a:cubicBezTo>
                    <a:close/>
                  </a:path>
                </a:pathLst>
              </a:custGeom>
              <a:solidFill>
                <a:srgbClr val="FFFFFF"/>
              </a:solidFill>
              <a:ln w="38100" cap="rnd">
                <a:solidFill>
                  <a:srgbClr val="002B11"/>
                </a:solidFill>
                <a:prstDash val="solid"/>
                <a:round/>
              </a:ln>
              <a:effectLst>
                <a:outerShdw blurRad="50800" dist="38100" dir="5400000" algn="t" rotWithShape="0">
                  <a:prstClr val="black">
                    <a:alpha val="40000"/>
                  </a:prstClr>
                </a:outerShdw>
              </a:effectLst>
            </p:spPr>
            <p:txBody>
              <a:bodyPr/>
              <a:lstStyle/>
              <a:p>
                <a:endParaRPr lang="en-US" dirty="0"/>
              </a:p>
            </p:txBody>
          </p:sp>
          <p:sp>
            <p:nvSpPr>
              <p:cNvPr id="55" name="TextBox 8">
                <a:extLst>
                  <a:ext uri="{FF2B5EF4-FFF2-40B4-BE49-F238E27FC236}">
                    <a16:creationId xmlns:a16="http://schemas.microsoft.com/office/drawing/2014/main" id="{2CFEDBA1-9486-B5D0-52A2-C08CB21D7CE8}"/>
                  </a:ext>
                </a:extLst>
              </p:cNvPr>
              <p:cNvSpPr txBox="1"/>
              <p:nvPr/>
            </p:nvSpPr>
            <p:spPr>
              <a:xfrm>
                <a:off x="0" y="-38100"/>
                <a:ext cx="1586905" cy="180027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spcBef>
                    <a:spcPct val="0"/>
                  </a:spcBef>
                </a:pPr>
                <a:endParaRPr/>
              </a:p>
            </p:txBody>
          </p:sp>
        </p:grpSp>
      </p:grpSp>
      <p:sp>
        <p:nvSpPr>
          <p:cNvPr id="56" name="TextBox 21">
            <a:extLst>
              <a:ext uri="{FF2B5EF4-FFF2-40B4-BE49-F238E27FC236}">
                <a16:creationId xmlns:a16="http://schemas.microsoft.com/office/drawing/2014/main" id="{E943B642-49AD-89AD-769B-47F0B0AC2339}"/>
              </a:ext>
            </a:extLst>
          </p:cNvPr>
          <p:cNvSpPr txBox="1"/>
          <p:nvPr/>
        </p:nvSpPr>
        <p:spPr>
          <a:xfrm>
            <a:off x="11626426" y="6358213"/>
            <a:ext cx="5536256" cy="106644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806"/>
              </a:lnSpc>
            </a:pPr>
            <a:r>
              <a:rPr lang="en-US" sz="2200" b="1" dirty="0">
                <a:solidFill>
                  <a:srgbClr val="002B11"/>
                </a:solidFill>
                <a:latin typeface="Poppins" panose="00000500000000000000" pitchFamily="2" charset="0"/>
                <a:cs typeface="Poppins" panose="00000500000000000000" pitchFamily="2" charset="0"/>
              </a:rPr>
              <a:t>How are tickets managed?</a:t>
            </a:r>
            <a:br>
              <a:rPr lang="en-US" sz="2200" dirty="0">
                <a:solidFill>
                  <a:srgbClr val="002B11"/>
                </a:solidFill>
                <a:latin typeface="Poppins" panose="00000500000000000000" pitchFamily="2" charset="0"/>
                <a:cs typeface="Poppins" panose="00000500000000000000" pitchFamily="2" charset="0"/>
              </a:rPr>
            </a:br>
            <a:r>
              <a:rPr lang="en-US" sz="2200" dirty="0">
                <a:solidFill>
                  <a:srgbClr val="002B11"/>
                </a:solidFill>
                <a:latin typeface="Poppins" panose="00000500000000000000" pitchFamily="2" charset="0"/>
                <a:cs typeface="Poppins" panose="00000500000000000000" pitchFamily="2" charset="0"/>
              </a:rPr>
              <a:t>Directs tickets automatically by language, priority, and agent skill set</a:t>
            </a:r>
            <a:endParaRPr lang="en-US" sz="2200" dirty="0">
              <a:solidFill>
                <a:srgbClr val="002B11"/>
              </a:solidFill>
              <a:latin typeface="Poppins" panose="00000500000000000000" pitchFamily="2" charset="0"/>
              <a:ea typeface="Poppins"/>
              <a:cs typeface="Poppins" panose="00000500000000000000" pitchFamily="2" charset="0"/>
              <a:sym typeface="Poppins"/>
            </a:endParaRPr>
          </a:p>
        </p:txBody>
      </p:sp>
      <p:pic>
        <p:nvPicPr>
          <p:cNvPr id="58" name="Graphic 57" descr="Ticket with solid fill">
            <a:extLst>
              <a:ext uri="{FF2B5EF4-FFF2-40B4-BE49-F238E27FC236}">
                <a16:creationId xmlns:a16="http://schemas.microsoft.com/office/drawing/2014/main" id="{0484D453-4F6F-2658-CEB6-D19916B505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0784176">
            <a:off x="9916030" y="6169445"/>
            <a:ext cx="1265800" cy="1265800"/>
          </a:xfrm>
          <a:prstGeom prst="rect">
            <a:avLst/>
          </a:prstGeom>
        </p:spPr>
      </p:pic>
      <p:pic>
        <p:nvPicPr>
          <p:cNvPr id="60" name="Graphic 59" descr="Connections with solid fill">
            <a:extLst>
              <a:ext uri="{FF2B5EF4-FFF2-40B4-BE49-F238E27FC236}">
                <a16:creationId xmlns:a16="http://schemas.microsoft.com/office/drawing/2014/main" id="{93101E26-0510-823C-148A-1B9CA7806E9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98181" y="3174344"/>
            <a:ext cx="1261872" cy="1261872"/>
          </a:xfrm>
          <a:prstGeom prst="rect">
            <a:avLst/>
          </a:prstGeom>
        </p:spPr>
      </p:pic>
      <p:pic>
        <p:nvPicPr>
          <p:cNvPr id="62" name="Graphic 61" descr="Target with solid fill">
            <a:extLst>
              <a:ext uri="{FF2B5EF4-FFF2-40B4-BE49-F238E27FC236}">
                <a16:creationId xmlns:a16="http://schemas.microsoft.com/office/drawing/2014/main" id="{9EA5AEEC-D70C-6118-F57C-85244701D54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00477" y="3174344"/>
            <a:ext cx="1261872" cy="1261872"/>
          </a:xfrm>
          <a:prstGeom prst="rect">
            <a:avLst/>
          </a:prstGeom>
        </p:spPr>
      </p:pic>
      <p:pic>
        <p:nvPicPr>
          <p:cNvPr id="64" name="Graphic 63" descr="Call center with solid fill">
            <a:extLst>
              <a:ext uri="{FF2B5EF4-FFF2-40B4-BE49-F238E27FC236}">
                <a16:creationId xmlns:a16="http://schemas.microsoft.com/office/drawing/2014/main" id="{79A0B6F2-C456-925A-03BD-4817CAE49FB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68398" y="6266325"/>
            <a:ext cx="1261872" cy="1261872"/>
          </a:xfrm>
          <a:prstGeom prst="rect">
            <a:avLst/>
          </a:prstGeom>
        </p:spPr>
      </p:pic>
    </p:spTree>
    <p:extLst>
      <p:ext uri="{BB962C8B-B14F-4D97-AF65-F5344CB8AC3E}">
        <p14:creationId xmlns:p14="http://schemas.microsoft.com/office/powerpoint/2010/main" val="3515371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AutoShape 2"/>
          <p:cNvSpPr/>
          <p:nvPr/>
        </p:nvSpPr>
        <p:spPr>
          <a:xfrm>
            <a:off x="1028700" y="8302820"/>
            <a:ext cx="15888987" cy="0"/>
          </a:xfrm>
          <a:prstGeom prst="line">
            <a:avLst/>
          </a:prstGeom>
          <a:ln w="28575" cap="rnd">
            <a:solidFill>
              <a:srgbClr val="FFFFFF"/>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 name="Group 3"/>
          <p:cNvGrpSpPr/>
          <p:nvPr/>
        </p:nvGrpSpPr>
        <p:grpSpPr>
          <a:xfrm>
            <a:off x="466810" y="568664"/>
            <a:ext cx="949728" cy="605352"/>
            <a:chOff x="0" y="0"/>
            <a:chExt cx="1266304" cy="807136"/>
          </a:xfrm>
        </p:grpSpPr>
        <p:sp>
          <p:nvSpPr>
            <p:cNvPr id="4" name="Freeform 4" descr="ollie_green.png"/>
            <p:cNvSpPr/>
            <p:nvPr/>
          </p:nvSpPr>
          <p:spPr>
            <a:xfrm>
              <a:off x="0" y="0"/>
              <a:ext cx="1266317" cy="807085"/>
            </a:xfrm>
            <a:custGeom>
              <a:avLst/>
              <a:gdLst/>
              <a:ahLst/>
              <a:cxnLst/>
              <a:rect l="l" t="t" r="r" b="b"/>
              <a:pathLst>
                <a:path w="1266317" h="807085">
                  <a:moveTo>
                    <a:pt x="0" y="0"/>
                  </a:moveTo>
                  <a:lnTo>
                    <a:pt x="1266317" y="0"/>
                  </a:lnTo>
                  <a:lnTo>
                    <a:pt x="1266317" y="807085"/>
                  </a:lnTo>
                  <a:lnTo>
                    <a:pt x="0" y="807085"/>
                  </a:lnTo>
                  <a:lnTo>
                    <a:pt x="0" y="0"/>
                  </a:lnTo>
                  <a:close/>
                </a:path>
              </a:pathLst>
            </a:custGeom>
            <a:blipFill>
              <a:blip r:embed="rId2"/>
              <a:stretch>
                <a:fillRect r="1" b="-6"/>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4812721" y="1174016"/>
            <a:ext cx="8662559" cy="5775039"/>
          </a:xfrm>
          <a:custGeom>
            <a:avLst/>
            <a:gdLst/>
            <a:ahLst/>
            <a:cxnLst/>
            <a:rect l="l" t="t" r="r" b="b"/>
            <a:pathLst>
              <a:path w="8662559" h="5775039">
                <a:moveTo>
                  <a:pt x="0" y="0"/>
                </a:moveTo>
                <a:lnTo>
                  <a:pt x="8662558" y="0"/>
                </a:lnTo>
                <a:lnTo>
                  <a:pt x="8662558" y="5775039"/>
                </a:lnTo>
                <a:lnTo>
                  <a:pt x="0" y="5775039"/>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p:cNvSpPr txBox="1"/>
          <p:nvPr/>
        </p:nvSpPr>
        <p:spPr>
          <a:xfrm>
            <a:off x="2772849" y="6620355"/>
            <a:ext cx="12742302" cy="1362075"/>
          </a:xfrm>
          <a:prstGeom prst="rect">
            <a:avLst/>
          </a:prstGeom>
        </p:spPr>
        <p:txBody>
          <a:bodyPr lIns="0" tIns="0" rIns="0" bIns="0" rtlCol="0" anchor="t">
            <a:spAutoFit/>
          </a:bodyPr>
          <a:lstStyle/>
          <a:p>
            <a:pPr marL="0" marR="0" lvl="0" indent="0" algn="l" defTabSz="914400" rtl="0" eaLnBrk="1" fontAlgn="auto" latinLnBrk="0" hangingPunct="1">
              <a:lnSpc>
                <a:spcPts val="10500"/>
              </a:lnSpc>
              <a:spcBef>
                <a:spcPts val="0"/>
              </a:spcBef>
              <a:spcAft>
                <a:spcPts val="0"/>
              </a:spcAft>
              <a:buClrTx/>
              <a:buSzTx/>
              <a:buFontTx/>
              <a:buNone/>
              <a:tabLst/>
              <a:defRPr/>
            </a:pPr>
            <a:r>
              <a:rPr kumimoji="0" lang="en-US" sz="7500" b="1" i="0" u="none" strike="noStrike" kern="1200" cap="none" spc="0" normalizeH="0" baseline="0" noProof="0">
                <a:ln>
                  <a:noFill/>
                </a:ln>
                <a:solidFill>
                  <a:srgbClr val="FFFFFF"/>
                </a:solidFill>
                <a:effectLst/>
                <a:uLnTx/>
                <a:uFillTx/>
                <a:latin typeface="Poppins Bold"/>
                <a:ea typeface="Poppins Bold"/>
                <a:cs typeface="Poppins Bold"/>
                <a:sym typeface="Poppins Bold"/>
              </a:rPr>
              <a:t>01. Interface &amp; Navigation</a:t>
            </a:r>
          </a:p>
        </p:txBody>
      </p:sp>
      <p:sp>
        <p:nvSpPr>
          <p:cNvPr id="7" name="TextBox 7"/>
          <p:cNvSpPr txBox="1"/>
          <p:nvPr/>
        </p:nvSpPr>
        <p:spPr>
          <a:xfrm>
            <a:off x="2916113" y="8583808"/>
            <a:ext cx="12742302" cy="369370"/>
          </a:xfrm>
          <a:prstGeom prst="rect">
            <a:avLst/>
          </a:prstGeom>
        </p:spPr>
        <p:txBody>
          <a:bodyPr lIns="0" tIns="0" rIns="0" bIns="0" rtlCol="0" anchor="t">
            <a:spAutoFit/>
          </a:bodyPr>
          <a:lstStyle/>
          <a:p>
            <a:pPr marL="0" marR="0" lvl="0" indent="0" algn="ctr" defTabSz="914400" rtl="0" eaLnBrk="1" fontAlgn="auto" latinLnBrk="0" hangingPunct="1">
              <a:lnSpc>
                <a:spcPts val="2805"/>
              </a:lnSpc>
              <a:spcBef>
                <a:spcPct val="0"/>
              </a:spcBef>
              <a:spcAft>
                <a:spcPts val="0"/>
              </a:spcAft>
              <a:buClrTx/>
              <a:buSzTx/>
              <a:buFontTx/>
              <a:buNone/>
              <a:tabLst/>
              <a:defRPr/>
            </a:pPr>
            <a:r>
              <a:rPr kumimoji="0" lang="en-US" sz="2199" b="0" i="0" u="none" strike="noStrike" kern="1200" cap="none" spc="0" normalizeH="0" baseline="0" noProof="0">
                <a:ln>
                  <a:noFill/>
                </a:ln>
                <a:solidFill>
                  <a:srgbClr val="FFFFFF"/>
                </a:solidFill>
                <a:effectLst/>
                <a:uLnTx/>
                <a:uFillTx/>
                <a:latin typeface="Poppins"/>
                <a:ea typeface="Poppins"/>
                <a:cs typeface="Poppins"/>
                <a:sym typeface="Poppins"/>
              </a:rPr>
              <a:t>A quick trip into the tool — learn where everything lives and what the key fields mean.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1F2956B-C623-4075-6151-D3FBA0C0590D}"/>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09223C8-7EC6-A9F8-D8A6-C5B60E306EE7}"/>
              </a:ext>
            </a:extLst>
          </p:cNvPr>
          <p:cNvSpPr/>
          <p:nvPr/>
        </p:nvSpPr>
        <p:spPr>
          <a:xfrm>
            <a:off x="1013460" y="669385"/>
            <a:ext cx="13716000" cy="960120"/>
          </a:xfrm>
          <a:prstGeom prst="rect">
            <a:avLst/>
          </a:prstGeom>
          <a:noFill/>
          <a:ln/>
        </p:spPr>
        <p:txBody>
          <a:bodyPr wrap="square" lIns="0" tIns="0" rIns="0" bIns="0" rtlCol="0" anchor="ctr"/>
          <a:lstStyle/>
          <a:p>
            <a:pPr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Left-Side Panel – Ticket Fields</a:t>
            </a:r>
          </a:p>
        </p:txBody>
      </p:sp>
      <p:sp>
        <p:nvSpPr>
          <p:cNvPr id="21" name="Text 19">
            <a:extLst>
              <a:ext uri="{FF2B5EF4-FFF2-40B4-BE49-F238E27FC236}">
                <a16:creationId xmlns:a16="http://schemas.microsoft.com/office/drawing/2014/main" id="{8BC7E172-48E1-B6A0-F8B5-E43BCC0F184D}"/>
              </a:ext>
            </a:extLst>
          </p:cNvPr>
          <p:cNvSpPr/>
          <p:nvPr/>
        </p:nvSpPr>
        <p:spPr>
          <a:xfrm>
            <a:off x="685800" y="9738360"/>
            <a:ext cx="10972800" cy="411480"/>
          </a:xfrm>
          <a:prstGeom prst="rect">
            <a:avLst/>
          </a:prstGeom>
          <a:noFill/>
          <a:ln/>
        </p:spPr>
        <p:txBody>
          <a:bodyPr wrap="square" lIns="0" tIns="0" rIns="0" bIns="0" rtlCol="0" anchor="ctr"/>
          <a:lstStyle/>
          <a:p>
            <a:pPr defTabSz="1371600"/>
            <a:r>
              <a:rPr lang="en-US" sz="1200" dirty="0">
                <a:solidFill>
                  <a:srgbClr val="8A8272"/>
                </a:solidFill>
                <a:latin typeface="Poppins" panose="00000500000000000000" pitchFamily="2" charset="0"/>
                <a:ea typeface="Calibri" pitchFamily="34" charset="-122"/>
                <a:cs typeface="Poppins" panose="00000500000000000000" pitchFamily="2" charset="0"/>
              </a:rPr>
              <a:t>Tripadvisor / Fraud support / Interface &amp; navigation</a:t>
            </a:r>
          </a:p>
        </p:txBody>
      </p:sp>
      <p:sp>
        <p:nvSpPr>
          <p:cNvPr id="50" name="Freeform: Shape 49">
            <a:extLst>
              <a:ext uri="{FF2B5EF4-FFF2-40B4-BE49-F238E27FC236}">
                <a16:creationId xmlns:a16="http://schemas.microsoft.com/office/drawing/2014/main" id="{BC9D8F69-0162-EE85-6FB9-CA674D66D646}"/>
              </a:ext>
            </a:extLst>
          </p:cNvPr>
          <p:cNvSpPr/>
          <p:nvPr/>
        </p:nvSpPr>
        <p:spPr>
          <a:xfrm>
            <a:off x="2632522" y="2672457"/>
            <a:ext cx="4517696" cy="7515483"/>
          </a:xfrm>
          <a:custGeom>
            <a:avLst/>
            <a:gdLst>
              <a:gd name="connsiteX0" fmla="*/ 2159466 w 3011797"/>
              <a:gd name="connsiteY0" fmla="*/ 0 h 5010322"/>
              <a:gd name="connsiteX1" fmla="*/ 3011797 w 3011797"/>
              <a:gd name="connsiteY1" fmla="*/ 1143760 h 5010322"/>
              <a:gd name="connsiteX2" fmla="*/ 3011797 w 3011797"/>
              <a:gd name="connsiteY2" fmla="*/ 5010322 h 5010322"/>
              <a:gd name="connsiteX3" fmla="*/ 1193315 w 3011797"/>
              <a:gd name="connsiteY3" fmla="*/ 5010322 h 5010322"/>
              <a:gd name="connsiteX4" fmla="*/ 0 w 3011797"/>
              <a:gd name="connsiteY4" fmla="*/ 3408989 h 5010322"/>
              <a:gd name="connsiteX5" fmla="*/ 25869 w 3011797"/>
              <a:gd name="connsiteY5" fmla="*/ 3426430 h 5010322"/>
              <a:gd name="connsiteX6" fmla="*/ 71451 w 3011797"/>
              <a:gd name="connsiteY6" fmla="*/ 3435633 h 5010322"/>
              <a:gd name="connsiteX7" fmla="*/ 2050091 w 3011797"/>
              <a:gd name="connsiteY7" fmla="*/ 3435633 h 5010322"/>
              <a:gd name="connsiteX8" fmla="*/ 2167195 w 3011797"/>
              <a:gd name="connsiteY8" fmla="*/ 3318529 h 5010322"/>
              <a:gd name="connsiteX9" fmla="*/ 2167195 w 3011797"/>
              <a:gd name="connsiteY9" fmla="*/ 38282 h 501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11797" h="5010322">
                <a:moveTo>
                  <a:pt x="2159466" y="0"/>
                </a:moveTo>
                <a:lnTo>
                  <a:pt x="3011797" y="1143760"/>
                </a:lnTo>
                <a:lnTo>
                  <a:pt x="3011797" y="5010322"/>
                </a:lnTo>
                <a:lnTo>
                  <a:pt x="1193315" y="5010322"/>
                </a:lnTo>
                <a:lnTo>
                  <a:pt x="0" y="3408989"/>
                </a:lnTo>
                <a:lnTo>
                  <a:pt x="25869" y="3426430"/>
                </a:lnTo>
                <a:cubicBezTo>
                  <a:pt x="39879" y="3432356"/>
                  <a:pt x="55282" y="3435633"/>
                  <a:pt x="71451" y="3435633"/>
                </a:cubicBezTo>
                <a:lnTo>
                  <a:pt x="2050091" y="3435633"/>
                </a:lnTo>
                <a:cubicBezTo>
                  <a:pt x="2114766" y="3435633"/>
                  <a:pt x="2167195" y="3383204"/>
                  <a:pt x="2167195" y="3318529"/>
                </a:cubicBezTo>
                <a:lnTo>
                  <a:pt x="2167195" y="38282"/>
                </a:lnTo>
                <a:close/>
              </a:path>
            </a:pathLst>
          </a:custGeom>
          <a:gradFill flip="none" rotWithShape="1">
            <a:gsLst>
              <a:gs pos="0">
                <a:schemeClr val="tx1">
                  <a:alpha val="20000"/>
                </a:schemeClr>
              </a:gs>
              <a:gs pos="51000">
                <a:schemeClr val="tx1">
                  <a:alpha val="5000"/>
                </a:schemeClr>
              </a:gs>
              <a:gs pos="72000">
                <a:schemeClr val="bg2">
                  <a:alpha val="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1371600"/>
            <a:endParaRPr lang="en-US" sz="2700" dirty="0">
              <a:solidFill>
                <a:srgbClr val="FFFFFF"/>
              </a:solidFill>
              <a:latin typeface="Calibri" panose="020F0502020204030204"/>
            </a:endParaRPr>
          </a:p>
        </p:txBody>
      </p:sp>
      <p:sp>
        <p:nvSpPr>
          <p:cNvPr id="51" name="Freeform: Shape 50">
            <a:extLst>
              <a:ext uri="{FF2B5EF4-FFF2-40B4-BE49-F238E27FC236}">
                <a16:creationId xmlns:a16="http://schemas.microsoft.com/office/drawing/2014/main" id="{0A86DF24-0D58-23D2-7B48-56ED52FBD8AE}"/>
              </a:ext>
            </a:extLst>
          </p:cNvPr>
          <p:cNvSpPr/>
          <p:nvPr/>
        </p:nvSpPr>
        <p:spPr>
          <a:xfrm>
            <a:off x="10181289" y="2672457"/>
            <a:ext cx="4517694" cy="7515483"/>
          </a:xfrm>
          <a:custGeom>
            <a:avLst/>
            <a:gdLst>
              <a:gd name="connsiteX0" fmla="*/ 2159465 w 3011796"/>
              <a:gd name="connsiteY0" fmla="*/ 0 h 5010322"/>
              <a:gd name="connsiteX1" fmla="*/ 3011796 w 3011796"/>
              <a:gd name="connsiteY1" fmla="*/ 1143761 h 5010322"/>
              <a:gd name="connsiteX2" fmla="*/ 3011796 w 3011796"/>
              <a:gd name="connsiteY2" fmla="*/ 5010322 h 5010322"/>
              <a:gd name="connsiteX3" fmla="*/ 1193314 w 3011796"/>
              <a:gd name="connsiteY3" fmla="*/ 5010322 h 5010322"/>
              <a:gd name="connsiteX4" fmla="*/ 0 w 3011796"/>
              <a:gd name="connsiteY4" fmla="*/ 3408989 h 5010322"/>
              <a:gd name="connsiteX5" fmla="*/ 25868 w 3011796"/>
              <a:gd name="connsiteY5" fmla="*/ 3426430 h 5010322"/>
              <a:gd name="connsiteX6" fmla="*/ 71450 w 3011796"/>
              <a:gd name="connsiteY6" fmla="*/ 3435633 h 5010322"/>
              <a:gd name="connsiteX7" fmla="*/ 2050091 w 3011796"/>
              <a:gd name="connsiteY7" fmla="*/ 3435633 h 5010322"/>
              <a:gd name="connsiteX8" fmla="*/ 2167195 w 3011796"/>
              <a:gd name="connsiteY8" fmla="*/ 3318529 h 5010322"/>
              <a:gd name="connsiteX9" fmla="*/ 2167195 w 3011796"/>
              <a:gd name="connsiteY9" fmla="*/ 38282 h 501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11796" h="5010322">
                <a:moveTo>
                  <a:pt x="2159465" y="0"/>
                </a:moveTo>
                <a:lnTo>
                  <a:pt x="3011796" y="1143761"/>
                </a:lnTo>
                <a:lnTo>
                  <a:pt x="3011796" y="5010322"/>
                </a:lnTo>
                <a:lnTo>
                  <a:pt x="1193314" y="5010322"/>
                </a:lnTo>
                <a:lnTo>
                  <a:pt x="0" y="3408989"/>
                </a:lnTo>
                <a:lnTo>
                  <a:pt x="25868" y="3426430"/>
                </a:lnTo>
                <a:cubicBezTo>
                  <a:pt x="39878" y="3432356"/>
                  <a:pt x="55281" y="3435633"/>
                  <a:pt x="71450" y="3435633"/>
                </a:cubicBezTo>
                <a:lnTo>
                  <a:pt x="2050091" y="3435633"/>
                </a:lnTo>
                <a:cubicBezTo>
                  <a:pt x="2114765" y="3435633"/>
                  <a:pt x="2167195" y="3383204"/>
                  <a:pt x="2167195" y="3318529"/>
                </a:cubicBezTo>
                <a:lnTo>
                  <a:pt x="2167195" y="38282"/>
                </a:lnTo>
                <a:close/>
              </a:path>
            </a:pathLst>
          </a:custGeom>
          <a:gradFill flip="none" rotWithShape="1">
            <a:gsLst>
              <a:gs pos="0">
                <a:schemeClr val="tx1">
                  <a:alpha val="20000"/>
                </a:schemeClr>
              </a:gs>
              <a:gs pos="51000">
                <a:schemeClr val="tx1">
                  <a:alpha val="5000"/>
                </a:schemeClr>
              </a:gs>
              <a:gs pos="72000">
                <a:schemeClr val="bg2">
                  <a:alpha val="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1371600"/>
            <a:endParaRPr lang="en-US" sz="2700">
              <a:solidFill>
                <a:srgbClr val="FFFFFF"/>
              </a:solidFill>
              <a:latin typeface="Calibri" panose="020F0502020204030204"/>
            </a:endParaRPr>
          </a:p>
        </p:txBody>
      </p:sp>
      <p:sp>
        <p:nvSpPr>
          <p:cNvPr id="52" name="Rectangle: Rounded Corners 5">
            <a:extLst>
              <a:ext uri="{FF2B5EF4-FFF2-40B4-BE49-F238E27FC236}">
                <a16:creationId xmlns:a16="http://schemas.microsoft.com/office/drawing/2014/main" id="{974529A5-2F88-244D-91EA-89712A287634}"/>
              </a:ext>
            </a:extLst>
          </p:cNvPr>
          <p:cNvSpPr/>
          <p:nvPr/>
        </p:nvSpPr>
        <p:spPr>
          <a:xfrm rot="10800000">
            <a:off x="6532973" y="7134813"/>
            <a:ext cx="1001777" cy="1001777"/>
          </a:xfrm>
          <a:custGeom>
            <a:avLst/>
            <a:gdLst>
              <a:gd name="connsiteX0" fmla="*/ 0 w 1255923"/>
              <a:gd name="connsiteY0" fmla="*/ 44070 h 1255923"/>
              <a:gd name="connsiteX1" fmla="*/ 44070 w 1255923"/>
              <a:gd name="connsiteY1" fmla="*/ 0 h 1255923"/>
              <a:gd name="connsiteX2" fmla="*/ 1211853 w 1255923"/>
              <a:gd name="connsiteY2" fmla="*/ 0 h 1255923"/>
              <a:gd name="connsiteX3" fmla="*/ 1255923 w 1255923"/>
              <a:gd name="connsiteY3" fmla="*/ 44070 h 1255923"/>
              <a:gd name="connsiteX4" fmla="*/ 1255923 w 1255923"/>
              <a:gd name="connsiteY4" fmla="*/ 1211853 h 1255923"/>
              <a:gd name="connsiteX5" fmla="*/ 1211853 w 1255923"/>
              <a:gd name="connsiteY5" fmla="*/ 1255923 h 1255923"/>
              <a:gd name="connsiteX6" fmla="*/ 44070 w 1255923"/>
              <a:gd name="connsiteY6" fmla="*/ 1255923 h 1255923"/>
              <a:gd name="connsiteX7" fmla="*/ 0 w 1255923"/>
              <a:gd name="connsiteY7" fmla="*/ 1211853 h 1255923"/>
              <a:gd name="connsiteX8" fmla="*/ 0 w 1255923"/>
              <a:gd name="connsiteY8" fmla="*/ 44070 h 1255923"/>
              <a:gd name="connsiteX0" fmla="*/ 0 w 1255923"/>
              <a:gd name="connsiteY0" fmla="*/ 1211853 h 1255923"/>
              <a:gd name="connsiteX1" fmla="*/ 44070 w 1255923"/>
              <a:gd name="connsiteY1" fmla="*/ 0 h 1255923"/>
              <a:gd name="connsiteX2" fmla="*/ 1211853 w 1255923"/>
              <a:gd name="connsiteY2" fmla="*/ 0 h 1255923"/>
              <a:gd name="connsiteX3" fmla="*/ 1255923 w 1255923"/>
              <a:gd name="connsiteY3" fmla="*/ 44070 h 1255923"/>
              <a:gd name="connsiteX4" fmla="*/ 1255923 w 1255923"/>
              <a:gd name="connsiteY4" fmla="*/ 1211853 h 1255923"/>
              <a:gd name="connsiteX5" fmla="*/ 1211853 w 1255923"/>
              <a:gd name="connsiteY5" fmla="*/ 1255923 h 1255923"/>
              <a:gd name="connsiteX6" fmla="*/ 44070 w 1255923"/>
              <a:gd name="connsiteY6" fmla="*/ 1255923 h 1255923"/>
              <a:gd name="connsiteX7" fmla="*/ 0 w 1255923"/>
              <a:gd name="connsiteY7" fmla="*/ 1211853 h 1255923"/>
              <a:gd name="connsiteX0" fmla="*/ 0 w 1255923"/>
              <a:gd name="connsiteY0" fmla="*/ 1211853 h 1255923"/>
              <a:gd name="connsiteX1" fmla="*/ 1211853 w 1255923"/>
              <a:gd name="connsiteY1" fmla="*/ 0 h 1255923"/>
              <a:gd name="connsiteX2" fmla="*/ 1255923 w 1255923"/>
              <a:gd name="connsiteY2" fmla="*/ 44070 h 1255923"/>
              <a:gd name="connsiteX3" fmla="*/ 1255923 w 1255923"/>
              <a:gd name="connsiteY3" fmla="*/ 1211853 h 1255923"/>
              <a:gd name="connsiteX4" fmla="*/ 1211853 w 1255923"/>
              <a:gd name="connsiteY4" fmla="*/ 1255923 h 1255923"/>
              <a:gd name="connsiteX5" fmla="*/ 44070 w 1255923"/>
              <a:gd name="connsiteY5" fmla="*/ 1255923 h 1255923"/>
              <a:gd name="connsiteX6" fmla="*/ 0 w 1255923"/>
              <a:gd name="connsiteY6" fmla="*/ 1211853 h 1255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5923" h="1255923">
                <a:moveTo>
                  <a:pt x="0" y="1211853"/>
                </a:moveTo>
                <a:lnTo>
                  <a:pt x="1211853" y="0"/>
                </a:lnTo>
                <a:cubicBezTo>
                  <a:pt x="1236192" y="0"/>
                  <a:pt x="1255923" y="19731"/>
                  <a:pt x="1255923" y="44070"/>
                </a:cubicBezTo>
                <a:lnTo>
                  <a:pt x="1255923" y="1211853"/>
                </a:lnTo>
                <a:cubicBezTo>
                  <a:pt x="1255923" y="1236192"/>
                  <a:pt x="1236192" y="1255923"/>
                  <a:pt x="1211853" y="1255923"/>
                </a:cubicBezTo>
                <a:lnTo>
                  <a:pt x="44070" y="1255923"/>
                </a:lnTo>
                <a:cubicBezTo>
                  <a:pt x="19731" y="1255923"/>
                  <a:pt x="0" y="1236192"/>
                  <a:pt x="0" y="1211853"/>
                </a:cubicBezTo>
                <a:close/>
              </a:path>
            </a:pathLst>
          </a:cu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endParaRPr lang="en-US" sz="2700">
              <a:solidFill>
                <a:srgbClr val="FFFFFF"/>
              </a:solidFill>
              <a:latin typeface="Calibri" panose="020F0502020204030204"/>
            </a:endParaRPr>
          </a:p>
        </p:txBody>
      </p:sp>
      <p:sp>
        <p:nvSpPr>
          <p:cNvPr id="53" name="Rectangle: Rounded Corners 5">
            <a:extLst>
              <a:ext uri="{FF2B5EF4-FFF2-40B4-BE49-F238E27FC236}">
                <a16:creationId xmlns:a16="http://schemas.microsoft.com/office/drawing/2014/main" id="{36BE9ADA-329F-DD8A-EAE4-02F7146734B1}"/>
              </a:ext>
            </a:extLst>
          </p:cNvPr>
          <p:cNvSpPr/>
          <p:nvPr/>
        </p:nvSpPr>
        <p:spPr>
          <a:xfrm>
            <a:off x="2406826" y="2444875"/>
            <a:ext cx="1626497" cy="1626498"/>
          </a:xfrm>
          <a:custGeom>
            <a:avLst/>
            <a:gdLst>
              <a:gd name="connsiteX0" fmla="*/ 0 w 1255923"/>
              <a:gd name="connsiteY0" fmla="*/ 44070 h 1255923"/>
              <a:gd name="connsiteX1" fmla="*/ 44070 w 1255923"/>
              <a:gd name="connsiteY1" fmla="*/ 0 h 1255923"/>
              <a:gd name="connsiteX2" fmla="*/ 1211853 w 1255923"/>
              <a:gd name="connsiteY2" fmla="*/ 0 h 1255923"/>
              <a:gd name="connsiteX3" fmla="*/ 1255923 w 1255923"/>
              <a:gd name="connsiteY3" fmla="*/ 44070 h 1255923"/>
              <a:gd name="connsiteX4" fmla="*/ 1255923 w 1255923"/>
              <a:gd name="connsiteY4" fmla="*/ 1211853 h 1255923"/>
              <a:gd name="connsiteX5" fmla="*/ 1211853 w 1255923"/>
              <a:gd name="connsiteY5" fmla="*/ 1255923 h 1255923"/>
              <a:gd name="connsiteX6" fmla="*/ 44070 w 1255923"/>
              <a:gd name="connsiteY6" fmla="*/ 1255923 h 1255923"/>
              <a:gd name="connsiteX7" fmla="*/ 0 w 1255923"/>
              <a:gd name="connsiteY7" fmla="*/ 1211853 h 1255923"/>
              <a:gd name="connsiteX8" fmla="*/ 0 w 1255923"/>
              <a:gd name="connsiteY8" fmla="*/ 44070 h 1255923"/>
              <a:gd name="connsiteX0" fmla="*/ 0 w 1255923"/>
              <a:gd name="connsiteY0" fmla="*/ 1211853 h 1255923"/>
              <a:gd name="connsiteX1" fmla="*/ 44070 w 1255923"/>
              <a:gd name="connsiteY1" fmla="*/ 0 h 1255923"/>
              <a:gd name="connsiteX2" fmla="*/ 1211853 w 1255923"/>
              <a:gd name="connsiteY2" fmla="*/ 0 h 1255923"/>
              <a:gd name="connsiteX3" fmla="*/ 1255923 w 1255923"/>
              <a:gd name="connsiteY3" fmla="*/ 44070 h 1255923"/>
              <a:gd name="connsiteX4" fmla="*/ 1255923 w 1255923"/>
              <a:gd name="connsiteY4" fmla="*/ 1211853 h 1255923"/>
              <a:gd name="connsiteX5" fmla="*/ 1211853 w 1255923"/>
              <a:gd name="connsiteY5" fmla="*/ 1255923 h 1255923"/>
              <a:gd name="connsiteX6" fmla="*/ 44070 w 1255923"/>
              <a:gd name="connsiteY6" fmla="*/ 1255923 h 1255923"/>
              <a:gd name="connsiteX7" fmla="*/ 0 w 1255923"/>
              <a:gd name="connsiteY7" fmla="*/ 1211853 h 1255923"/>
              <a:gd name="connsiteX0" fmla="*/ 0 w 1255923"/>
              <a:gd name="connsiteY0" fmla="*/ 1211853 h 1255923"/>
              <a:gd name="connsiteX1" fmla="*/ 1211853 w 1255923"/>
              <a:gd name="connsiteY1" fmla="*/ 0 h 1255923"/>
              <a:gd name="connsiteX2" fmla="*/ 1255923 w 1255923"/>
              <a:gd name="connsiteY2" fmla="*/ 44070 h 1255923"/>
              <a:gd name="connsiteX3" fmla="*/ 1255923 w 1255923"/>
              <a:gd name="connsiteY3" fmla="*/ 1211853 h 1255923"/>
              <a:gd name="connsiteX4" fmla="*/ 1211853 w 1255923"/>
              <a:gd name="connsiteY4" fmla="*/ 1255923 h 1255923"/>
              <a:gd name="connsiteX5" fmla="*/ 44070 w 1255923"/>
              <a:gd name="connsiteY5" fmla="*/ 1255923 h 1255923"/>
              <a:gd name="connsiteX6" fmla="*/ 0 w 1255923"/>
              <a:gd name="connsiteY6" fmla="*/ 1211853 h 1255923"/>
              <a:gd name="connsiteX0" fmla="*/ 0 w 1255923"/>
              <a:gd name="connsiteY0" fmla="*/ 1167783 h 1211853"/>
              <a:gd name="connsiteX1" fmla="*/ 1255923 w 1255923"/>
              <a:gd name="connsiteY1" fmla="*/ 0 h 1211853"/>
              <a:gd name="connsiteX2" fmla="*/ 1255923 w 1255923"/>
              <a:gd name="connsiteY2" fmla="*/ 1167783 h 1211853"/>
              <a:gd name="connsiteX3" fmla="*/ 1211853 w 1255923"/>
              <a:gd name="connsiteY3" fmla="*/ 1211853 h 1211853"/>
              <a:gd name="connsiteX4" fmla="*/ 44070 w 1255923"/>
              <a:gd name="connsiteY4" fmla="*/ 1211853 h 1211853"/>
              <a:gd name="connsiteX5" fmla="*/ 0 w 1255923"/>
              <a:gd name="connsiteY5" fmla="*/ 1167783 h 1211853"/>
              <a:gd name="connsiteX0" fmla="*/ 0 w 1211853"/>
              <a:gd name="connsiteY0" fmla="*/ 1211853 h 1211853"/>
              <a:gd name="connsiteX1" fmla="*/ 1211853 w 1211853"/>
              <a:gd name="connsiteY1" fmla="*/ 0 h 1211853"/>
              <a:gd name="connsiteX2" fmla="*/ 1211853 w 1211853"/>
              <a:gd name="connsiteY2" fmla="*/ 1167783 h 1211853"/>
              <a:gd name="connsiteX3" fmla="*/ 1167783 w 1211853"/>
              <a:gd name="connsiteY3" fmla="*/ 1211853 h 1211853"/>
              <a:gd name="connsiteX4" fmla="*/ 0 w 1211853"/>
              <a:gd name="connsiteY4" fmla="*/ 1211853 h 1211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1853" h="1211853">
                <a:moveTo>
                  <a:pt x="0" y="1211853"/>
                </a:moveTo>
                <a:cubicBezTo>
                  <a:pt x="7345" y="1009877"/>
                  <a:pt x="1009877" y="7345"/>
                  <a:pt x="1211853" y="0"/>
                </a:cubicBezTo>
                <a:lnTo>
                  <a:pt x="1211853" y="1167783"/>
                </a:lnTo>
                <a:cubicBezTo>
                  <a:pt x="1211853" y="1192122"/>
                  <a:pt x="1192122" y="1211853"/>
                  <a:pt x="1167783" y="1211853"/>
                </a:cubicBezTo>
                <a:lnTo>
                  <a:pt x="0" y="1211853"/>
                </a:lnTo>
                <a:close/>
              </a:path>
            </a:pathLst>
          </a:cu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endParaRPr lang="en-US" sz="2700">
              <a:solidFill>
                <a:srgbClr val="FFFFFF"/>
              </a:solidFill>
              <a:latin typeface="Calibri" panose="020F0502020204030204"/>
            </a:endParaRPr>
          </a:p>
        </p:txBody>
      </p:sp>
      <p:sp>
        <p:nvSpPr>
          <p:cNvPr id="54" name="Rectangle: Rounded Corners 53">
            <a:extLst>
              <a:ext uri="{FF2B5EF4-FFF2-40B4-BE49-F238E27FC236}">
                <a16:creationId xmlns:a16="http://schemas.microsoft.com/office/drawing/2014/main" id="{98DC828F-FCD2-DF4B-A190-EBE991777B95}"/>
              </a:ext>
            </a:extLst>
          </p:cNvPr>
          <p:cNvSpPr/>
          <p:nvPr/>
        </p:nvSpPr>
        <p:spPr>
          <a:xfrm>
            <a:off x="2677903" y="2701033"/>
            <a:ext cx="4572000" cy="5148825"/>
          </a:xfrm>
          <a:prstGeom prst="roundRect">
            <a:avLst>
              <a:gd name="adj" fmla="val 3509"/>
            </a:avLst>
          </a:prstGeom>
          <a:solidFill>
            <a:schemeClr val="bg1"/>
          </a:solidFill>
          <a:ln w="76200">
            <a:solidFill>
              <a:srgbClr val="FB518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endParaRPr lang="en-US" sz="2700">
              <a:solidFill>
                <a:srgbClr val="FFFFFF"/>
              </a:solidFill>
              <a:latin typeface="Calibri" panose="020F0502020204030204"/>
            </a:endParaRPr>
          </a:p>
        </p:txBody>
      </p:sp>
      <p:sp>
        <p:nvSpPr>
          <p:cNvPr id="55" name="TextBox 54">
            <a:extLst>
              <a:ext uri="{FF2B5EF4-FFF2-40B4-BE49-F238E27FC236}">
                <a16:creationId xmlns:a16="http://schemas.microsoft.com/office/drawing/2014/main" id="{909955E6-12F3-FFCD-9567-1C7A76F6CEF5}"/>
              </a:ext>
            </a:extLst>
          </p:cNvPr>
          <p:cNvSpPr txBox="1"/>
          <p:nvPr/>
        </p:nvSpPr>
        <p:spPr>
          <a:xfrm>
            <a:off x="3289868" y="3332757"/>
            <a:ext cx="3653808" cy="954107"/>
          </a:xfrm>
          <a:prstGeom prst="rect">
            <a:avLst/>
          </a:prstGeom>
          <a:noFill/>
        </p:spPr>
        <p:txBody>
          <a:bodyPr wrap="square" lIns="0" rIns="0" rtlCol="0" anchor="b">
            <a:spAutoFit/>
          </a:bodyPr>
          <a:lstStyle/>
          <a:p>
            <a:pPr defTabSz="1371600"/>
            <a:r>
              <a:rPr lang="en-US" sz="2800" b="1" dirty="0">
                <a:solidFill>
                  <a:srgbClr val="002B11"/>
                </a:solidFill>
                <a:latin typeface="Poppins" panose="00000500000000000000" pitchFamily="2" charset="0"/>
                <a:ea typeface="Calibri" pitchFamily="34" charset="-122"/>
                <a:cs typeface="Poppins" panose="00000500000000000000" pitchFamily="2" charset="0"/>
              </a:rPr>
              <a:t>Essential Case Data Entry</a:t>
            </a:r>
          </a:p>
        </p:txBody>
      </p:sp>
      <p:sp>
        <p:nvSpPr>
          <p:cNvPr id="56" name="TextBox 55">
            <a:extLst>
              <a:ext uri="{FF2B5EF4-FFF2-40B4-BE49-F238E27FC236}">
                <a16:creationId xmlns:a16="http://schemas.microsoft.com/office/drawing/2014/main" id="{E8DF6EC9-852D-5721-0540-2B47D1A2BA09}"/>
              </a:ext>
            </a:extLst>
          </p:cNvPr>
          <p:cNvSpPr txBox="1"/>
          <p:nvPr/>
        </p:nvSpPr>
        <p:spPr>
          <a:xfrm>
            <a:off x="3508843" y="4781990"/>
            <a:ext cx="2765054" cy="2583528"/>
          </a:xfrm>
          <a:prstGeom prst="rect">
            <a:avLst/>
          </a:prstGeom>
          <a:noFill/>
        </p:spPr>
        <p:txBody>
          <a:bodyPr wrap="square" lIns="0" rIns="0" rtlCol="0" anchor="t">
            <a:spAutoFit/>
          </a:bodyPr>
          <a:lstStyle/>
          <a:p>
            <a:pPr marL="342900" indent="-342900" defTabSz="1371600">
              <a:lnSpc>
                <a:spcPct val="150000"/>
              </a:lnSpc>
              <a:buFont typeface="Arial" panose="020B0604020202020204" pitchFamily="34" charset="0"/>
              <a:buChar char="•"/>
            </a:pPr>
            <a:r>
              <a:rPr lang="en-US" sz="2200" dirty="0">
                <a:solidFill>
                  <a:srgbClr val="4A4A4A"/>
                </a:solidFill>
                <a:latin typeface="Poppins" panose="00000500000000000000" pitchFamily="2" charset="0"/>
                <a:ea typeface="Calibri" pitchFamily="34" charset="-122"/>
                <a:cs typeface="Poppins" panose="00000500000000000000" pitchFamily="2" charset="0"/>
              </a:rPr>
              <a:t>Purpose </a:t>
            </a:r>
          </a:p>
          <a:p>
            <a:pPr marL="342900" indent="-342900" defTabSz="1371600">
              <a:lnSpc>
                <a:spcPct val="150000"/>
              </a:lnSpc>
              <a:buFont typeface="Arial" panose="020B0604020202020204" pitchFamily="34" charset="0"/>
              <a:buChar char="•"/>
            </a:pPr>
            <a:r>
              <a:rPr lang="en-US" sz="2200" dirty="0">
                <a:solidFill>
                  <a:srgbClr val="4A4A4A"/>
                </a:solidFill>
                <a:latin typeface="Poppins" panose="00000500000000000000" pitchFamily="2" charset="0"/>
                <a:ea typeface="Calibri" pitchFamily="34" charset="-122"/>
                <a:cs typeface="Poppins" panose="00000500000000000000" pitchFamily="2" charset="0"/>
              </a:rPr>
              <a:t>Mandatory Entry </a:t>
            </a:r>
          </a:p>
          <a:p>
            <a:pPr marL="342900" indent="-342900" defTabSz="1371600">
              <a:lnSpc>
                <a:spcPct val="150000"/>
              </a:lnSpc>
              <a:buFont typeface="Arial" panose="020B0604020202020204" pitchFamily="34" charset="0"/>
              <a:buChar char="•"/>
            </a:pPr>
            <a:r>
              <a:rPr lang="en-US" sz="2200" dirty="0">
                <a:solidFill>
                  <a:srgbClr val="4A4A4A"/>
                </a:solidFill>
                <a:latin typeface="Poppins" panose="00000500000000000000" pitchFamily="2" charset="0"/>
                <a:ea typeface="Calibri" pitchFamily="34" charset="-122"/>
                <a:cs typeface="Poppins" panose="00000500000000000000" pitchFamily="2" charset="0"/>
              </a:rPr>
              <a:t>Location ID </a:t>
            </a:r>
          </a:p>
          <a:p>
            <a:pPr marL="342900" indent="-342900" defTabSz="1371600">
              <a:lnSpc>
                <a:spcPct val="150000"/>
              </a:lnSpc>
              <a:buFont typeface="Arial" panose="020B0604020202020204" pitchFamily="34" charset="0"/>
              <a:buChar char="•"/>
            </a:pPr>
            <a:r>
              <a:rPr lang="en-US" sz="2200" dirty="0">
                <a:solidFill>
                  <a:srgbClr val="4A4A4A"/>
                </a:solidFill>
                <a:latin typeface="Poppins" panose="00000500000000000000" pitchFamily="2" charset="0"/>
                <a:ea typeface="Calibri" pitchFamily="34" charset="-122"/>
                <a:cs typeface="Poppins" panose="00000500000000000000" pitchFamily="2" charset="0"/>
              </a:rPr>
              <a:t>Review ID </a:t>
            </a:r>
          </a:p>
          <a:p>
            <a:pPr marL="342900" indent="-342900" defTabSz="1371600">
              <a:lnSpc>
                <a:spcPct val="150000"/>
              </a:lnSpc>
              <a:buFont typeface="Arial" panose="020B0604020202020204" pitchFamily="34" charset="0"/>
              <a:buChar char="•"/>
            </a:pPr>
            <a:r>
              <a:rPr lang="en-US" sz="2200" dirty="0">
                <a:solidFill>
                  <a:srgbClr val="4A4A4A"/>
                </a:solidFill>
                <a:latin typeface="Poppins" panose="00000500000000000000" pitchFamily="2" charset="0"/>
                <a:ea typeface="Calibri" pitchFamily="34" charset="-122"/>
                <a:cs typeface="Poppins" panose="00000500000000000000" pitchFamily="2" charset="0"/>
              </a:rPr>
              <a:t>Ticket Reason </a:t>
            </a:r>
          </a:p>
        </p:txBody>
      </p:sp>
      <p:cxnSp>
        <p:nvCxnSpPr>
          <p:cNvPr id="57" name="Straight Connector 56">
            <a:extLst>
              <a:ext uri="{FF2B5EF4-FFF2-40B4-BE49-F238E27FC236}">
                <a16:creationId xmlns:a16="http://schemas.microsoft.com/office/drawing/2014/main" id="{79512B79-B937-4DA7-643C-40067838033B}"/>
              </a:ext>
            </a:extLst>
          </p:cNvPr>
          <p:cNvCxnSpPr>
            <a:cxnSpLocks/>
          </p:cNvCxnSpPr>
          <p:nvPr/>
        </p:nvCxnSpPr>
        <p:spPr>
          <a:xfrm>
            <a:off x="3190499" y="4533900"/>
            <a:ext cx="3657600" cy="0"/>
          </a:xfrm>
          <a:prstGeom prst="line">
            <a:avLst/>
          </a:prstGeom>
          <a:ln w="57150" cap="rnd">
            <a:solidFill>
              <a:srgbClr val="FB5184"/>
            </a:solidFill>
          </a:ln>
        </p:spPr>
        <p:style>
          <a:lnRef idx="1">
            <a:schemeClr val="accent1"/>
          </a:lnRef>
          <a:fillRef idx="0">
            <a:schemeClr val="accent1"/>
          </a:fillRef>
          <a:effectRef idx="0">
            <a:schemeClr val="accent1"/>
          </a:effectRef>
          <a:fontRef idx="minor">
            <a:schemeClr val="tx1"/>
          </a:fontRef>
        </p:style>
      </p:cxnSp>
      <p:sp>
        <p:nvSpPr>
          <p:cNvPr id="58" name="Freeform: Shape 57">
            <a:extLst>
              <a:ext uri="{FF2B5EF4-FFF2-40B4-BE49-F238E27FC236}">
                <a16:creationId xmlns:a16="http://schemas.microsoft.com/office/drawing/2014/main" id="{E0DBCE38-6444-A208-8F02-5C59DC6731AE}"/>
              </a:ext>
            </a:extLst>
          </p:cNvPr>
          <p:cNvSpPr/>
          <p:nvPr/>
        </p:nvSpPr>
        <p:spPr>
          <a:xfrm>
            <a:off x="6626945" y="7219987"/>
            <a:ext cx="652994" cy="652995"/>
          </a:xfrm>
          <a:custGeom>
            <a:avLst/>
            <a:gdLst>
              <a:gd name="connsiteX0" fmla="*/ 435329 w 435329"/>
              <a:gd name="connsiteY0" fmla="*/ 0 h 435330"/>
              <a:gd name="connsiteX1" fmla="*/ 435329 w 435329"/>
              <a:gd name="connsiteY1" fmla="*/ 412078 h 435330"/>
              <a:gd name="connsiteX2" fmla="*/ 423650 w 435329"/>
              <a:gd name="connsiteY2" fmla="*/ 429401 h 435330"/>
              <a:gd name="connsiteX3" fmla="*/ 414855 w 435329"/>
              <a:gd name="connsiteY3" fmla="*/ 435330 h 435330"/>
              <a:gd name="connsiteX4" fmla="*/ 0 w 435329"/>
              <a:gd name="connsiteY4" fmla="*/ 435330 h 435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329" h="435330">
                <a:moveTo>
                  <a:pt x="435329" y="0"/>
                </a:moveTo>
                <a:lnTo>
                  <a:pt x="435329" y="412078"/>
                </a:lnTo>
                <a:lnTo>
                  <a:pt x="423650" y="429401"/>
                </a:lnTo>
                <a:lnTo>
                  <a:pt x="414855" y="435330"/>
                </a:lnTo>
                <a:lnTo>
                  <a:pt x="0" y="435330"/>
                </a:lnTo>
                <a:close/>
              </a:path>
            </a:pathLst>
          </a:cu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2700">
              <a:solidFill>
                <a:srgbClr val="FFFFFF"/>
              </a:solidFill>
              <a:latin typeface="Calibri" panose="020F0502020204030204"/>
            </a:endParaRPr>
          </a:p>
        </p:txBody>
      </p:sp>
      <p:sp>
        <p:nvSpPr>
          <p:cNvPr id="59" name="Freeform: Shape 58">
            <a:extLst>
              <a:ext uri="{FF2B5EF4-FFF2-40B4-BE49-F238E27FC236}">
                <a16:creationId xmlns:a16="http://schemas.microsoft.com/office/drawing/2014/main" id="{A1A7846D-7776-F256-43D9-B99A26E1811A}"/>
              </a:ext>
            </a:extLst>
          </p:cNvPr>
          <p:cNvSpPr/>
          <p:nvPr/>
        </p:nvSpPr>
        <p:spPr>
          <a:xfrm>
            <a:off x="2622581" y="2644800"/>
            <a:ext cx="1341311" cy="1347096"/>
          </a:xfrm>
          <a:custGeom>
            <a:avLst/>
            <a:gdLst>
              <a:gd name="connsiteX0" fmla="*/ 8975 w 984818"/>
              <a:gd name="connsiteY0" fmla="*/ 0 h 984818"/>
              <a:gd name="connsiteX1" fmla="*/ 984818 w 984818"/>
              <a:gd name="connsiteY1" fmla="*/ 0 h 984818"/>
              <a:gd name="connsiteX2" fmla="*/ 0 w 984818"/>
              <a:gd name="connsiteY2" fmla="*/ 984818 h 984818"/>
              <a:gd name="connsiteX3" fmla="*/ 0 w 984818"/>
              <a:gd name="connsiteY3" fmla="*/ 6196 h 984818"/>
              <a:gd name="connsiteX4" fmla="*/ 180 w 984818"/>
              <a:gd name="connsiteY4" fmla="*/ 5930 h 98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818" h="984818">
                <a:moveTo>
                  <a:pt x="8975" y="0"/>
                </a:moveTo>
                <a:lnTo>
                  <a:pt x="984818" y="0"/>
                </a:lnTo>
                <a:lnTo>
                  <a:pt x="0" y="984818"/>
                </a:lnTo>
                <a:lnTo>
                  <a:pt x="0" y="6196"/>
                </a:lnTo>
                <a:lnTo>
                  <a:pt x="180" y="5930"/>
                </a:lnTo>
                <a:close/>
              </a:path>
            </a:pathLst>
          </a:cu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2700" dirty="0">
              <a:solidFill>
                <a:srgbClr val="FFFFFF"/>
              </a:solidFill>
              <a:latin typeface="Calibri" panose="020F0502020204030204"/>
            </a:endParaRPr>
          </a:p>
        </p:txBody>
      </p:sp>
      <p:sp>
        <p:nvSpPr>
          <p:cNvPr id="60" name="Rectangle: Rounded Corners 5">
            <a:extLst>
              <a:ext uri="{FF2B5EF4-FFF2-40B4-BE49-F238E27FC236}">
                <a16:creationId xmlns:a16="http://schemas.microsoft.com/office/drawing/2014/main" id="{D029465E-45FD-9821-1725-BD9E27A1AF05}"/>
              </a:ext>
            </a:extLst>
          </p:cNvPr>
          <p:cNvSpPr/>
          <p:nvPr/>
        </p:nvSpPr>
        <p:spPr>
          <a:xfrm rot="10800000">
            <a:off x="14117495" y="7198734"/>
            <a:ext cx="1001777" cy="1001777"/>
          </a:xfrm>
          <a:custGeom>
            <a:avLst/>
            <a:gdLst>
              <a:gd name="connsiteX0" fmla="*/ 0 w 1255923"/>
              <a:gd name="connsiteY0" fmla="*/ 44070 h 1255923"/>
              <a:gd name="connsiteX1" fmla="*/ 44070 w 1255923"/>
              <a:gd name="connsiteY1" fmla="*/ 0 h 1255923"/>
              <a:gd name="connsiteX2" fmla="*/ 1211853 w 1255923"/>
              <a:gd name="connsiteY2" fmla="*/ 0 h 1255923"/>
              <a:gd name="connsiteX3" fmla="*/ 1255923 w 1255923"/>
              <a:gd name="connsiteY3" fmla="*/ 44070 h 1255923"/>
              <a:gd name="connsiteX4" fmla="*/ 1255923 w 1255923"/>
              <a:gd name="connsiteY4" fmla="*/ 1211853 h 1255923"/>
              <a:gd name="connsiteX5" fmla="*/ 1211853 w 1255923"/>
              <a:gd name="connsiteY5" fmla="*/ 1255923 h 1255923"/>
              <a:gd name="connsiteX6" fmla="*/ 44070 w 1255923"/>
              <a:gd name="connsiteY6" fmla="*/ 1255923 h 1255923"/>
              <a:gd name="connsiteX7" fmla="*/ 0 w 1255923"/>
              <a:gd name="connsiteY7" fmla="*/ 1211853 h 1255923"/>
              <a:gd name="connsiteX8" fmla="*/ 0 w 1255923"/>
              <a:gd name="connsiteY8" fmla="*/ 44070 h 1255923"/>
              <a:gd name="connsiteX0" fmla="*/ 0 w 1255923"/>
              <a:gd name="connsiteY0" fmla="*/ 1211853 h 1255923"/>
              <a:gd name="connsiteX1" fmla="*/ 44070 w 1255923"/>
              <a:gd name="connsiteY1" fmla="*/ 0 h 1255923"/>
              <a:gd name="connsiteX2" fmla="*/ 1211853 w 1255923"/>
              <a:gd name="connsiteY2" fmla="*/ 0 h 1255923"/>
              <a:gd name="connsiteX3" fmla="*/ 1255923 w 1255923"/>
              <a:gd name="connsiteY3" fmla="*/ 44070 h 1255923"/>
              <a:gd name="connsiteX4" fmla="*/ 1255923 w 1255923"/>
              <a:gd name="connsiteY4" fmla="*/ 1211853 h 1255923"/>
              <a:gd name="connsiteX5" fmla="*/ 1211853 w 1255923"/>
              <a:gd name="connsiteY5" fmla="*/ 1255923 h 1255923"/>
              <a:gd name="connsiteX6" fmla="*/ 44070 w 1255923"/>
              <a:gd name="connsiteY6" fmla="*/ 1255923 h 1255923"/>
              <a:gd name="connsiteX7" fmla="*/ 0 w 1255923"/>
              <a:gd name="connsiteY7" fmla="*/ 1211853 h 1255923"/>
              <a:gd name="connsiteX0" fmla="*/ 0 w 1255923"/>
              <a:gd name="connsiteY0" fmla="*/ 1211853 h 1255923"/>
              <a:gd name="connsiteX1" fmla="*/ 1211853 w 1255923"/>
              <a:gd name="connsiteY1" fmla="*/ 0 h 1255923"/>
              <a:gd name="connsiteX2" fmla="*/ 1255923 w 1255923"/>
              <a:gd name="connsiteY2" fmla="*/ 44070 h 1255923"/>
              <a:gd name="connsiteX3" fmla="*/ 1255923 w 1255923"/>
              <a:gd name="connsiteY3" fmla="*/ 1211853 h 1255923"/>
              <a:gd name="connsiteX4" fmla="*/ 1211853 w 1255923"/>
              <a:gd name="connsiteY4" fmla="*/ 1255923 h 1255923"/>
              <a:gd name="connsiteX5" fmla="*/ 44070 w 1255923"/>
              <a:gd name="connsiteY5" fmla="*/ 1255923 h 1255923"/>
              <a:gd name="connsiteX6" fmla="*/ 0 w 1255923"/>
              <a:gd name="connsiteY6" fmla="*/ 1211853 h 1255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5923" h="1255923">
                <a:moveTo>
                  <a:pt x="0" y="1211853"/>
                </a:moveTo>
                <a:lnTo>
                  <a:pt x="1211853" y="0"/>
                </a:lnTo>
                <a:cubicBezTo>
                  <a:pt x="1236192" y="0"/>
                  <a:pt x="1255923" y="19731"/>
                  <a:pt x="1255923" y="44070"/>
                </a:cubicBezTo>
                <a:lnTo>
                  <a:pt x="1255923" y="1211853"/>
                </a:lnTo>
                <a:cubicBezTo>
                  <a:pt x="1255923" y="1236192"/>
                  <a:pt x="1236192" y="1255923"/>
                  <a:pt x="1211853" y="1255923"/>
                </a:cubicBezTo>
                <a:lnTo>
                  <a:pt x="44070" y="1255923"/>
                </a:lnTo>
                <a:cubicBezTo>
                  <a:pt x="19731" y="1255923"/>
                  <a:pt x="0" y="1236192"/>
                  <a:pt x="0" y="1211853"/>
                </a:cubicBezTo>
                <a:close/>
              </a:path>
            </a:pathLst>
          </a:cu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endParaRPr lang="en-US" sz="2700">
              <a:solidFill>
                <a:srgbClr val="FFFFFF"/>
              </a:solidFill>
              <a:latin typeface="Calibri" panose="020F0502020204030204"/>
            </a:endParaRPr>
          </a:p>
        </p:txBody>
      </p:sp>
      <p:sp>
        <p:nvSpPr>
          <p:cNvPr id="61" name="Rectangle: Rounded Corners 5">
            <a:extLst>
              <a:ext uri="{FF2B5EF4-FFF2-40B4-BE49-F238E27FC236}">
                <a16:creationId xmlns:a16="http://schemas.microsoft.com/office/drawing/2014/main" id="{6739968D-FCB9-5BF7-56B3-1D70429CEAAD}"/>
              </a:ext>
            </a:extLst>
          </p:cNvPr>
          <p:cNvSpPr/>
          <p:nvPr/>
        </p:nvSpPr>
        <p:spPr>
          <a:xfrm>
            <a:off x="9955593" y="2444875"/>
            <a:ext cx="1626498" cy="1626498"/>
          </a:xfrm>
          <a:custGeom>
            <a:avLst/>
            <a:gdLst>
              <a:gd name="connsiteX0" fmla="*/ 0 w 1255923"/>
              <a:gd name="connsiteY0" fmla="*/ 44070 h 1255923"/>
              <a:gd name="connsiteX1" fmla="*/ 44070 w 1255923"/>
              <a:gd name="connsiteY1" fmla="*/ 0 h 1255923"/>
              <a:gd name="connsiteX2" fmla="*/ 1211853 w 1255923"/>
              <a:gd name="connsiteY2" fmla="*/ 0 h 1255923"/>
              <a:gd name="connsiteX3" fmla="*/ 1255923 w 1255923"/>
              <a:gd name="connsiteY3" fmla="*/ 44070 h 1255923"/>
              <a:gd name="connsiteX4" fmla="*/ 1255923 w 1255923"/>
              <a:gd name="connsiteY4" fmla="*/ 1211853 h 1255923"/>
              <a:gd name="connsiteX5" fmla="*/ 1211853 w 1255923"/>
              <a:gd name="connsiteY5" fmla="*/ 1255923 h 1255923"/>
              <a:gd name="connsiteX6" fmla="*/ 44070 w 1255923"/>
              <a:gd name="connsiteY6" fmla="*/ 1255923 h 1255923"/>
              <a:gd name="connsiteX7" fmla="*/ 0 w 1255923"/>
              <a:gd name="connsiteY7" fmla="*/ 1211853 h 1255923"/>
              <a:gd name="connsiteX8" fmla="*/ 0 w 1255923"/>
              <a:gd name="connsiteY8" fmla="*/ 44070 h 1255923"/>
              <a:gd name="connsiteX0" fmla="*/ 0 w 1255923"/>
              <a:gd name="connsiteY0" fmla="*/ 1211853 h 1255923"/>
              <a:gd name="connsiteX1" fmla="*/ 44070 w 1255923"/>
              <a:gd name="connsiteY1" fmla="*/ 0 h 1255923"/>
              <a:gd name="connsiteX2" fmla="*/ 1211853 w 1255923"/>
              <a:gd name="connsiteY2" fmla="*/ 0 h 1255923"/>
              <a:gd name="connsiteX3" fmla="*/ 1255923 w 1255923"/>
              <a:gd name="connsiteY3" fmla="*/ 44070 h 1255923"/>
              <a:gd name="connsiteX4" fmla="*/ 1255923 w 1255923"/>
              <a:gd name="connsiteY4" fmla="*/ 1211853 h 1255923"/>
              <a:gd name="connsiteX5" fmla="*/ 1211853 w 1255923"/>
              <a:gd name="connsiteY5" fmla="*/ 1255923 h 1255923"/>
              <a:gd name="connsiteX6" fmla="*/ 44070 w 1255923"/>
              <a:gd name="connsiteY6" fmla="*/ 1255923 h 1255923"/>
              <a:gd name="connsiteX7" fmla="*/ 0 w 1255923"/>
              <a:gd name="connsiteY7" fmla="*/ 1211853 h 1255923"/>
              <a:gd name="connsiteX0" fmla="*/ 0 w 1255923"/>
              <a:gd name="connsiteY0" fmla="*/ 1211853 h 1255923"/>
              <a:gd name="connsiteX1" fmla="*/ 1211853 w 1255923"/>
              <a:gd name="connsiteY1" fmla="*/ 0 h 1255923"/>
              <a:gd name="connsiteX2" fmla="*/ 1255923 w 1255923"/>
              <a:gd name="connsiteY2" fmla="*/ 44070 h 1255923"/>
              <a:gd name="connsiteX3" fmla="*/ 1255923 w 1255923"/>
              <a:gd name="connsiteY3" fmla="*/ 1211853 h 1255923"/>
              <a:gd name="connsiteX4" fmla="*/ 1211853 w 1255923"/>
              <a:gd name="connsiteY4" fmla="*/ 1255923 h 1255923"/>
              <a:gd name="connsiteX5" fmla="*/ 44070 w 1255923"/>
              <a:gd name="connsiteY5" fmla="*/ 1255923 h 1255923"/>
              <a:gd name="connsiteX6" fmla="*/ 0 w 1255923"/>
              <a:gd name="connsiteY6" fmla="*/ 1211853 h 1255923"/>
              <a:gd name="connsiteX0" fmla="*/ 0 w 1211853"/>
              <a:gd name="connsiteY0" fmla="*/ 1255923 h 1255923"/>
              <a:gd name="connsiteX1" fmla="*/ 1167783 w 1211853"/>
              <a:gd name="connsiteY1" fmla="*/ 0 h 1255923"/>
              <a:gd name="connsiteX2" fmla="*/ 1211853 w 1211853"/>
              <a:gd name="connsiteY2" fmla="*/ 44070 h 1255923"/>
              <a:gd name="connsiteX3" fmla="*/ 1211853 w 1211853"/>
              <a:gd name="connsiteY3" fmla="*/ 1211853 h 1255923"/>
              <a:gd name="connsiteX4" fmla="*/ 1167783 w 1211853"/>
              <a:gd name="connsiteY4" fmla="*/ 1255923 h 1255923"/>
              <a:gd name="connsiteX5" fmla="*/ 0 w 1211853"/>
              <a:gd name="connsiteY5" fmla="*/ 1255923 h 1255923"/>
              <a:gd name="connsiteX0" fmla="*/ 0 w 1211853"/>
              <a:gd name="connsiteY0" fmla="*/ 1211853 h 1211853"/>
              <a:gd name="connsiteX1" fmla="*/ 1211853 w 1211853"/>
              <a:gd name="connsiteY1" fmla="*/ 0 h 1211853"/>
              <a:gd name="connsiteX2" fmla="*/ 1211853 w 1211853"/>
              <a:gd name="connsiteY2" fmla="*/ 1167783 h 1211853"/>
              <a:gd name="connsiteX3" fmla="*/ 1167783 w 1211853"/>
              <a:gd name="connsiteY3" fmla="*/ 1211853 h 1211853"/>
              <a:gd name="connsiteX4" fmla="*/ 0 w 1211853"/>
              <a:gd name="connsiteY4" fmla="*/ 1211853 h 1211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1853" h="1211853">
                <a:moveTo>
                  <a:pt x="0" y="1211853"/>
                </a:moveTo>
                <a:cubicBezTo>
                  <a:pt x="7345" y="1009877"/>
                  <a:pt x="1009877" y="7345"/>
                  <a:pt x="1211853" y="0"/>
                </a:cubicBezTo>
                <a:lnTo>
                  <a:pt x="1211853" y="1167783"/>
                </a:lnTo>
                <a:cubicBezTo>
                  <a:pt x="1211853" y="1192122"/>
                  <a:pt x="1192122" y="1211853"/>
                  <a:pt x="1167783" y="1211853"/>
                </a:cubicBezTo>
                <a:lnTo>
                  <a:pt x="0" y="1211853"/>
                </a:lnTo>
                <a:close/>
              </a:path>
            </a:pathLst>
          </a:cu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endParaRPr lang="en-US" sz="2700">
              <a:solidFill>
                <a:srgbClr val="FFFFFF"/>
              </a:solidFill>
              <a:latin typeface="Calibri" panose="020F0502020204030204"/>
            </a:endParaRPr>
          </a:p>
        </p:txBody>
      </p:sp>
      <p:sp>
        <p:nvSpPr>
          <p:cNvPr id="62" name="Rectangle: Rounded Corners 61">
            <a:extLst>
              <a:ext uri="{FF2B5EF4-FFF2-40B4-BE49-F238E27FC236}">
                <a16:creationId xmlns:a16="http://schemas.microsoft.com/office/drawing/2014/main" id="{EC620753-8229-42EB-0B16-7786D99D104C}"/>
              </a:ext>
            </a:extLst>
          </p:cNvPr>
          <p:cNvSpPr/>
          <p:nvPr/>
        </p:nvSpPr>
        <p:spPr>
          <a:xfrm>
            <a:off x="10226671" y="2701033"/>
            <a:ext cx="4572000" cy="5148825"/>
          </a:xfrm>
          <a:prstGeom prst="roundRect">
            <a:avLst>
              <a:gd name="adj" fmla="val 3509"/>
            </a:avLst>
          </a:prstGeom>
          <a:solidFill>
            <a:schemeClr val="bg1"/>
          </a:solidFill>
          <a:ln w="76200">
            <a:solidFill>
              <a:srgbClr val="23EE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endParaRPr lang="en-US" sz="2700">
              <a:solidFill>
                <a:srgbClr val="FFFFFF"/>
              </a:solidFill>
              <a:latin typeface="Calibri" panose="020F0502020204030204"/>
            </a:endParaRPr>
          </a:p>
        </p:txBody>
      </p:sp>
      <p:sp>
        <p:nvSpPr>
          <p:cNvPr id="64" name="TextBox 63">
            <a:extLst>
              <a:ext uri="{FF2B5EF4-FFF2-40B4-BE49-F238E27FC236}">
                <a16:creationId xmlns:a16="http://schemas.microsoft.com/office/drawing/2014/main" id="{009107B1-EDF5-863B-FFE8-F528A6C0D2C8}"/>
              </a:ext>
            </a:extLst>
          </p:cNvPr>
          <p:cNvSpPr txBox="1"/>
          <p:nvPr/>
        </p:nvSpPr>
        <p:spPr>
          <a:xfrm>
            <a:off x="10592060" y="3475850"/>
            <a:ext cx="3967675" cy="3599190"/>
          </a:xfrm>
          <a:prstGeom prst="rect">
            <a:avLst/>
          </a:prstGeom>
          <a:noFill/>
        </p:spPr>
        <p:txBody>
          <a:bodyPr wrap="square" lIns="0" rIns="0" rtlCol="0" anchor="t">
            <a:spAutoFit/>
          </a:bodyPr>
          <a:lstStyle/>
          <a:p>
            <a:pPr defTabSz="1371600">
              <a:lnSpc>
                <a:spcPct val="150000"/>
              </a:lnSpc>
            </a:pPr>
            <a:r>
              <a:rPr lang="en-US" sz="2200" dirty="0">
                <a:solidFill>
                  <a:srgbClr val="4A4A4A"/>
                </a:solidFill>
                <a:latin typeface="Poppins" panose="00000500000000000000" pitchFamily="2" charset="0"/>
                <a:ea typeface="Calibri" pitchFamily="34" charset="-122"/>
                <a:cs typeface="Poppins" panose="00000500000000000000" pitchFamily="2" charset="0"/>
              </a:rPr>
              <a:t>Filling out the fields in the left section will populate the following with links to open the ticket in the respective tools (URD and LC):</a:t>
            </a:r>
          </a:p>
          <a:p>
            <a:pPr marL="342900" indent="-342900" defTabSz="1371600">
              <a:lnSpc>
                <a:spcPct val="150000"/>
              </a:lnSpc>
              <a:buFont typeface="Arial" panose="020B0604020202020204" pitchFamily="34" charset="0"/>
              <a:buChar char="•"/>
            </a:pPr>
            <a:r>
              <a:rPr lang="en-US" sz="2200" dirty="0">
                <a:solidFill>
                  <a:srgbClr val="4A4A4A"/>
                </a:solidFill>
                <a:latin typeface="Poppins" panose="00000500000000000000" pitchFamily="2" charset="0"/>
                <a:ea typeface="Calibri" pitchFamily="34" charset="-122"/>
                <a:cs typeface="Poppins" panose="00000500000000000000" pitchFamily="2" charset="0"/>
              </a:rPr>
              <a:t>Review ID </a:t>
            </a:r>
          </a:p>
          <a:p>
            <a:pPr marL="342900" indent="-342900" defTabSz="1371600">
              <a:lnSpc>
                <a:spcPct val="150000"/>
              </a:lnSpc>
              <a:buFont typeface="Arial" panose="020B0604020202020204" pitchFamily="34" charset="0"/>
              <a:buChar char="•"/>
            </a:pPr>
            <a:r>
              <a:rPr lang="en-US" sz="2200" dirty="0">
                <a:solidFill>
                  <a:srgbClr val="4A4A4A"/>
                </a:solidFill>
                <a:latin typeface="Poppins" panose="00000500000000000000" pitchFamily="2" charset="0"/>
                <a:ea typeface="Calibri" pitchFamily="34" charset="-122"/>
                <a:cs typeface="Poppins" panose="00000500000000000000" pitchFamily="2" charset="0"/>
              </a:rPr>
              <a:t>Location ID </a:t>
            </a:r>
          </a:p>
        </p:txBody>
      </p:sp>
      <p:sp>
        <p:nvSpPr>
          <p:cNvPr id="66" name="Freeform: Shape 65">
            <a:extLst>
              <a:ext uri="{FF2B5EF4-FFF2-40B4-BE49-F238E27FC236}">
                <a16:creationId xmlns:a16="http://schemas.microsoft.com/office/drawing/2014/main" id="{F6CF549E-42F1-BD7C-71E0-DB199D764EC4}"/>
              </a:ext>
            </a:extLst>
          </p:cNvPr>
          <p:cNvSpPr/>
          <p:nvPr/>
        </p:nvSpPr>
        <p:spPr>
          <a:xfrm>
            <a:off x="14211467" y="7283908"/>
            <a:ext cx="652994" cy="652995"/>
          </a:xfrm>
          <a:custGeom>
            <a:avLst/>
            <a:gdLst>
              <a:gd name="connsiteX0" fmla="*/ 435329 w 435329"/>
              <a:gd name="connsiteY0" fmla="*/ 0 h 435330"/>
              <a:gd name="connsiteX1" fmla="*/ 435329 w 435329"/>
              <a:gd name="connsiteY1" fmla="*/ 412078 h 435330"/>
              <a:gd name="connsiteX2" fmla="*/ 423650 w 435329"/>
              <a:gd name="connsiteY2" fmla="*/ 429401 h 435330"/>
              <a:gd name="connsiteX3" fmla="*/ 414855 w 435329"/>
              <a:gd name="connsiteY3" fmla="*/ 435330 h 435330"/>
              <a:gd name="connsiteX4" fmla="*/ 0 w 435329"/>
              <a:gd name="connsiteY4" fmla="*/ 435330 h 435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329" h="435330">
                <a:moveTo>
                  <a:pt x="435329" y="0"/>
                </a:moveTo>
                <a:lnTo>
                  <a:pt x="435329" y="412078"/>
                </a:lnTo>
                <a:lnTo>
                  <a:pt x="423650" y="429401"/>
                </a:lnTo>
                <a:lnTo>
                  <a:pt x="414855" y="435330"/>
                </a:lnTo>
                <a:lnTo>
                  <a:pt x="0" y="435330"/>
                </a:lnTo>
                <a:close/>
              </a:path>
            </a:pathLst>
          </a:cu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2700" dirty="0">
              <a:solidFill>
                <a:srgbClr val="FFFFFF"/>
              </a:solidFill>
              <a:latin typeface="Calibri" panose="020F0502020204030204"/>
            </a:endParaRPr>
          </a:p>
        </p:txBody>
      </p:sp>
      <p:sp>
        <p:nvSpPr>
          <p:cNvPr id="67" name="Freeform: Shape 66">
            <a:extLst>
              <a:ext uri="{FF2B5EF4-FFF2-40B4-BE49-F238E27FC236}">
                <a16:creationId xmlns:a16="http://schemas.microsoft.com/office/drawing/2014/main" id="{EF735E89-17D0-765F-925B-3596CC245007}"/>
              </a:ext>
            </a:extLst>
          </p:cNvPr>
          <p:cNvSpPr/>
          <p:nvPr/>
        </p:nvSpPr>
        <p:spPr>
          <a:xfrm>
            <a:off x="10171349" y="2644800"/>
            <a:ext cx="1341311" cy="1347096"/>
          </a:xfrm>
          <a:custGeom>
            <a:avLst/>
            <a:gdLst>
              <a:gd name="connsiteX0" fmla="*/ 8975 w 984818"/>
              <a:gd name="connsiteY0" fmla="*/ 0 h 984818"/>
              <a:gd name="connsiteX1" fmla="*/ 984818 w 984818"/>
              <a:gd name="connsiteY1" fmla="*/ 0 h 984818"/>
              <a:gd name="connsiteX2" fmla="*/ 0 w 984818"/>
              <a:gd name="connsiteY2" fmla="*/ 984818 h 984818"/>
              <a:gd name="connsiteX3" fmla="*/ 0 w 984818"/>
              <a:gd name="connsiteY3" fmla="*/ 6196 h 984818"/>
              <a:gd name="connsiteX4" fmla="*/ 180 w 984818"/>
              <a:gd name="connsiteY4" fmla="*/ 5930 h 98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818" h="984818">
                <a:moveTo>
                  <a:pt x="8975" y="0"/>
                </a:moveTo>
                <a:lnTo>
                  <a:pt x="984818" y="0"/>
                </a:lnTo>
                <a:lnTo>
                  <a:pt x="0" y="984818"/>
                </a:lnTo>
                <a:lnTo>
                  <a:pt x="0" y="6196"/>
                </a:lnTo>
                <a:lnTo>
                  <a:pt x="180" y="5930"/>
                </a:lnTo>
                <a:close/>
              </a:path>
            </a:pathLst>
          </a:cu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endParaRPr lang="en-US" sz="2700" dirty="0">
              <a:solidFill>
                <a:srgbClr val="FFFFFF"/>
              </a:solidFill>
              <a:latin typeface="Calibri" panose="020F0502020204030204"/>
            </a:endParaRPr>
          </a:p>
        </p:txBody>
      </p:sp>
      <p:sp>
        <p:nvSpPr>
          <p:cNvPr id="68" name="Rectangle: Rounded Corners 2">
            <a:extLst>
              <a:ext uri="{FF2B5EF4-FFF2-40B4-BE49-F238E27FC236}">
                <a16:creationId xmlns:a16="http://schemas.microsoft.com/office/drawing/2014/main" id="{806538C3-4DA9-E87E-2162-C48E77183F4C}"/>
              </a:ext>
            </a:extLst>
          </p:cNvPr>
          <p:cNvSpPr/>
          <p:nvPr/>
        </p:nvSpPr>
        <p:spPr>
          <a:xfrm>
            <a:off x="2347675" y="2385725"/>
            <a:ext cx="1685648" cy="1685648"/>
          </a:xfrm>
          <a:custGeom>
            <a:avLst/>
            <a:gdLst>
              <a:gd name="connsiteX0" fmla="*/ 0 w 1255923"/>
              <a:gd name="connsiteY0" fmla="*/ 44070 h 1255923"/>
              <a:gd name="connsiteX1" fmla="*/ 44070 w 1255923"/>
              <a:gd name="connsiteY1" fmla="*/ 0 h 1255923"/>
              <a:gd name="connsiteX2" fmla="*/ 1211853 w 1255923"/>
              <a:gd name="connsiteY2" fmla="*/ 0 h 1255923"/>
              <a:gd name="connsiteX3" fmla="*/ 1255923 w 1255923"/>
              <a:gd name="connsiteY3" fmla="*/ 44070 h 1255923"/>
              <a:gd name="connsiteX4" fmla="*/ 1255923 w 1255923"/>
              <a:gd name="connsiteY4" fmla="*/ 1211853 h 1255923"/>
              <a:gd name="connsiteX5" fmla="*/ 1211853 w 1255923"/>
              <a:gd name="connsiteY5" fmla="*/ 1255923 h 1255923"/>
              <a:gd name="connsiteX6" fmla="*/ 44070 w 1255923"/>
              <a:gd name="connsiteY6" fmla="*/ 1255923 h 1255923"/>
              <a:gd name="connsiteX7" fmla="*/ 0 w 1255923"/>
              <a:gd name="connsiteY7" fmla="*/ 1211853 h 1255923"/>
              <a:gd name="connsiteX8" fmla="*/ 0 w 1255923"/>
              <a:gd name="connsiteY8" fmla="*/ 44070 h 1255923"/>
              <a:gd name="connsiteX0" fmla="*/ 0 w 1255923"/>
              <a:gd name="connsiteY0" fmla="*/ 44070 h 1314664"/>
              <a:gd name="connsiteX1" fmla="*/ 44070 w 1255923"/>
              <a:gd name="connsiteY1" fmla="*/ 0 h 1314664"/>
              <a:gd name="connsiteX2" fmla="*/ 1211853 w 1255923"/>
              <a:gd name="connsiteY2" fmla="*/ 0 h 1314664"/>
              <a:gd name="connsiteX3" fmla="*/ 1255923 w 1255923"/>
              <a:gd name="connsiteY3" fmla="*/ 44070 h 1314664"/>
              <a:gd name="connsiteX4" fmla="*/ 1255923 w 1255923"/>
              <a:gd name="connsiteY4" fmla="*/ 1211853 h 1314664"/>
              <a:gd name="connsiteX5" fmla="*/ 44070 w 1255923"/>
              <a:gd name="connsiteY5" fmla="*/ 1255923 h 1314664"/>
              <a:gd name="connsiteX6" fmla="*/ 0 w 1255923"/>
              <a:gd name="connsiteY6" fmla="*/ 1211853 h 1314664"/>
              <a:gd name="connsiteX7" fmla="*/ 0 w 1255923"/>
              <a:gd name="connsiteY7" fmla="*/ 44070 h 1314664"/>
              <a:gd name="connsiteX0" fmla="*/ 0 w 1255923"/>
              <a:gd name="connsiteY0" fmla="*/ 44070 h 1337619"/>
              <a:gd name="connsiteX1" fmla="*/ 44070 w 1255923"/>
              <a:gd name="connsiteY1" fmla="*/ 0 h 1337619"/>
              <a:gd name="connsiteX2" fmla="*/ 1211853 w 1255923"/>
              <a:gd name="connsiteY2" fmla="*/ 0 h 1337619"/>
              <a:gd name="connsiteX3" fmla="*/ 1255923 w 1255923"/>
              <a:gd name="connsiteY3" fmla="*/ 44070 h 1337619"/>
              <a:gd name="connsiteX4" fmla="*/ 1244906 w 1255923"/>
              <a:gd name="connsiteY4" fmla="*/ 1244904 h 1337619"/>
              <a:gd name="connsiteX5" fmla="*/ 44070 w 1255923"/>
              <a:gd name="connsiteY5" fmla="*/ 1255923 h 1337619"/>
              <a:gd name="connsiteX6" fmla="*/ 0 w 1255923"/>
              <a:gd name="connsiteY6" fmla="*/ 1211853 h 1337619"/>
              <a:gd name="connsiteX7" fmla="*/ 0 w 1255923"/>
              <a:gd name="connsiteY7" fmla="*/ 44070 h 1337619"/>
              <a:gd name="connsiteX0" fmla="*/ 0 w 1255923"/>
              <a:gd name="connsiteY0" fmla="*/ 44070 h 1255923"/>
              <a:gd name="connsiteX1" fmla="*/ 44070 w 1255923"/>
              <a:gd name="connsiteY1" fmla="*/ 0 h 1255923"/>
              <a:gd name="connsiteX2" fmla="*/ 1211853 w 1255923"/>
              <a:gd name="connsiteY2" fmla="*/ 0 h 1255923"/>
              <a:gd name="connsiteX3" fmla="*/ 1255923 w 1255923"/>
              <a:gd name="connsiteY3" fmla="*/ 44070 h 1255923"/>
              <a:gd name="connsiteX4" fmla="*/ 44070 w 1255923"/>
              <a:gd name="connsiteY4" fmla="*/ 1255923 h 1255923"/>
              <a:gd name="connsiteX5" fmla="*/ 0 w 1255923"/>
              <a:gd name="connsiteY5" fmla="*/ 1211853 h 1255923"/>
              <a:gd name="connsiteX6" fmla="*/ 0 w 1255923"/>
              <a:gd name="connsiteY6" fmla="*/ 44070 h 1255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5923" h="1255923">
                <a:moveTo>
                  <a:pt x="0" y="44070"/>
                </a:moveTo>
                <a:cubicBezTo>
                  <a:pt x="0" y="19731"/>
                  <a:pt x="19731" y="0"/>
                  <a:pt x="44070" y="0"/>
                </a:cubicBezTo>
                <a:lnTo>
                  <a:pt x="1211853" y="0"/>
                </a:lnTo>
                <a:cubicBezTo>
                  <a:pt x="1236192" y="0"/>
                  <a:pt x="1255923" y="19731"/>
                  <a:pt x="1255923" y="44070"/>
                </a:cubicBezTo>
                <a:lnTo>
                  <a:pt x="44070" y="1255923"/>
                </a:lnTo>
                <a:cubicBezTo>
                  <a:pt x="19731" y="1255923"/>
                  <a:pt x="0" y="1236192"/>
                  <a:pt x="0" y="1211853"/>
                </a:cubicBezTo>
                <a:lnTo>
                  <a:pt x="0" y="44070"/>
                </a:lnTo>
                <a:close/>
              </a:path>
            </a:pathLst>
          </a:custGeom>
          <a:solidFill>
            <a:srgbClr val="FB51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endParaRPr lang="en-US" sz="2700">
              <a:solidFill>
                <a:srgbClr val="FFFFFF"/>
              </a:solidFill>
              <a:latin typeface="Calibri" panose="020F0502020204030204"/>
            </a:endParaRPr>
          </a:p>
        </p:txBody>
      </p:sp>
      <p:sp>
        <p:nvSpPr>
          <p:cNvPr id="70" name="Rectangle: Rounded Corners 2">
            <a:extLst>
              <a:ext uri="{FF2B5EF4-FFF2-40B4-BE49-F238E27FC236}">
                <a16:creationId xmlns:a16="http://schemas.microsoft.com/office/drawing/2014/main" id="{7B31C5CB-FDB4-A33F-68A5-C6FFD1872277}"/>
              </a:ext>
            </a:extLst>
          </p:cNvPr>
          <p:cNvSpPr/>
          <p:nvPr/>
        </p:nvSpPr>
        <p:spPr>
          <a:xfrm>
            <a:off x="9896442" y="2385725"/>
            <a:ext cx="1685648" cy="1685648"/>
          </a:xfrm>
          <a:custGeom>
            <a:avLst/>
            <a:gdLst>
              <a:gd name="connsiteX0" fmla="*/ 0 w 1255923"/>
              <a:gd name="connsiteY0" fmla="*/ 44070 h 1255923"/>
              <a:gd name="connsiteX1" fmla="*/ 44070 w 1255923"/>
              <a:gd name="connsiteY1" fmla="*/ 0 h 1255923"/>
              <a:gd name="connsiteX2" fmla="*/ 1211853 w 1255923"/>
              <a:gd name="connsiteY2" fmla="*/ 0 h 1255923"/>
              <a:gd name="connsiteX3" fmla="*/ 1255923 w 1255923"/>
              <a:gd name="connsiteY3" fmla="*/ 44070 h 1255923"/>
              <a:gd name="connsiteX4" fmla="*/ 1255923 w 1255923"/>
              <a:gd name="connsiteY4" fmla="*/ 1211853 h 1255923"/>
              <a:gd name="connsiteX5" fmla="*/ 1211853 w 1255923"/>
              <a:gd name="connsiteY5" fmla="*/ 1255923 h 1255923"/>
              <a:gd name="connsiteX6" fmla="*/ 44070 w 1255923"/>
              <a:gd name="connsiteY6" fmla="*/ 1255923 h 1255923"/>
              <a:gd name="connsiteX7" fmla="*/ 0 w 1255923"/>
              <a:gd name="connsiteY7" fmla="*/ 1211853 h 1255923"/>
              <a:gd name="connsiteX8" fmla="*/ 0 w 1255923"/>
              <a:gd name="connsiteY8" fmla="*/ 44070 h 1255923"/>
              <a:gd name="connsiteX0" fmla="*/ 0 w 1255923"/>
              <a:gd name="connsiteY0" fmla="*/ 44070 h 1314664"/>
              <a:gd name="connsiteX1" fmla="*/ 44070 w 1255923"/>
              <a:gd name="connsiteY1" fmla="*/ 0 h 1314664"/>
              <a:gd name="connsiteX2" fmla="*/ 1211853 w 1255923"/>
              <a:gd name="connsiteY2" fmla="*/ 0 h 1314664"/>
              <a:gd name="connsiteX3" fmla="*/ 1255923 w 1255923"/>
              <a:gd name="connsiteY3" fmla="*/ 44070 h 1314664"/>
              <a:gd name="connsiteX4" fmla="*/ 1255923 w 1255923"/>
              <a:gd name="connsiteY4" fmla="*/ 1211853 h 1314664"/>
              <a:gd name="connsiteX5" fmla="*/ 44070 w 1255923"/>
              <a:gd name="connsiteY5" fmla="*/ 1255923 h 1314664"/>
              <a:gd name="connsiteX6" fmla="*/ 0 w 1255923"/>
              <a:gd name="connsiteY6" fmla="*/ 1211853 h 1314664"/>
              <a:gd name="connsiteX7" fmla="*/ 0 w 1255923"/>
              <a:gd name="connsiteY7" fmla="*/ 44070 h 1314664"/>
              <a:gd name="connsiteX0" fmla="*/ 0 w 1255923"/>
              <a:gd name="connsiteY0" fmla="*/ 44070 h 1337619"/>
              <a:gd name="connsiteX1" fmla="*/ 44070 w 1255923"/>
              <a:gd name="connsiteY1" fmla="*/ 0 h 1337619"/>
              <a:gd name="connsiteX2" fmla="*/ 1211853 w 1255923"/>
              <a:gd name="connsiteY2" fmla="*/ 0 h 1337619"/>
              <a:gd name="connsiteX3" fmla="*/ 1255923 w 1255923"/>
              <a:gd name="connsiteY3" fmla="*/ 44070 h 1337619"/>
              <a:gd name="connsiteX4" fmla="*/ 1244906 w 1255923"/>
              <a:gd name="connsiteY4" fmla="*/ 1244904 h 1337619"/>
              <a:gd name="connsiteX5" fmla="*/ 44070 w 1255923"/>
              <a:gd name="connsiteY5" fmla="*/ 1255923 h 1337619"/>
              <a:gd name="connsiteX6" fmla="*/ 0 w 1255923"/>
              <a:gd name="connsiteY6" fmla="*/ 1211853 h 1337619"/>
              <a:gd name="connsiteX7" fmla="*/ 0 w 1255923"/>
              <a:gd name="connsiteY7" fmla="*/ 44070 h 1337619"/>
              <a:gd name="connsiteX0" fmla="*/ 0 w 1255923"/>
              <a:gd name="connsiteY0" fmla="*/ 44070 h 1255923"/>
              <a:gd name="connsiteX1" fmla="*/ 44070 w 1255923"/>
              <a:gd name="connsiteY1" fmla="*/ 0 h 1255923"/>
              <a:gd name="connsiteX2" fmla="*/ 1211853 w 1255923"/>
              <a:gd name="connsiteY2" fmla="*/ 0 h 1255923"/>
              <a:gd name="connsiteX3" fmla="*/ 1255923 w 1255923"/>
              <a:gd name="connsiteY3" fmla="*/ 44070 h 1255923"/>
              <a:gd name="connsiteX4" fmla="*/ 44070 w 1255923"/>
              <a:gd name="connsiteY4" fmla="*/ 1255923 h 1255923"/>
              <a:gd name="connsiteX5" fmla="*/ 0 w 1255923"/>
              <a:gd name="connsiteY5" fmla="*/ 1211853 h 1255923"/>
              <a:gd name="connsiteX6" fmla="*/ 0 w 1255923"/>
              <a:gd name="connsiteY6" fmla="*/ 44070 h 1255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5923" h="1255923">
                <a:moveTo>
                  <a:pt x="0" y="44070"/>
                </a:moveTo>
                <a:cubicBezTo>
                  <a:pt x="0" y="19731"/>
                  <a:pt x="19731" y="0"/>
                  <a:pt x="44070" y="0"/>
                </a:cubicBezTo>
                <a:lnTo>
                  <a:pt x="1211853" y="0"/>
                </a:lnTo>
                <a:cubicBezTo>
                  <a:pt x="1236192" y="0"/>
                  <a:pt x="1255923" y="19731"/>
                  <a:pt x="1255923" y="44070"/>
                </a:cubicBezTo>
                <a:lnTo>
                  <a:pt x="44070" y="1255923"/>
                </a:lnTo>
                <a:cubicBezTo>
                  <a:pt x="19731" y="1255923"/>
                  <a:pt x="0" y="1236192"/>
                  <a:pt x="0" y="1211853"/>
                </a:cubicBezTo>
                <a:lnTo>
                  <a:pt x="0" y="44070"/>
                </a:lnTo>
                <a:close/>
              </a:path>
            </a:pathLst>
          </a:custGeom>
          <a:solidFill>
            <a:srgbClr val="23E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endParaRPr lang="en-US" sz="2700">
              <a:solidFill>
                <a:srgbClr val="FFFFFF"/>
              </a:solidFill>
              <a:latin typeface="Calibri" panose="020F0502020204030204"/>
            </a:endParaRPr>
          </a:p>
        </p:txBody>
      </p:sp>
      <p:sp>
        <p:nvSpPr>
          <p:cNvPr id="72" name="Freeform: Shape 71">
            <a:extLst>
              <a:ext uri="{FF2B5EF4-FFF2-40B4-BE49-F238E27FC236}">
                <a16:creationId xmlns:a16="http://schemas.microsoft.com/office/drawing/2014/main" id="{A4C18EBB-EFF9-D675-0283-D851F49BFC32}"/>
              </a:ext>
            </a:extLst>
          </p:cNvPr>
          <p:cNvSpPr/>
          <p:nvPr/>
        </p:nvSpPr>
        <p:spPr>
          <a:xfrm>
            <a:off x="6532973" y="7134813"/>
            <a:ext cx="1001777" cy="1001777"/>
          </a:xfrm>
          <a:custGeom>
            <a:avLst/>
            <a:gdLst>
              <a:gd name="connsiteX0" fmla="*/ 720201 w 746392"/>
              <a:gd name="connsiteY0" fmla="*/ 0 h 746392"/>
              <a:gd name="connsiteX1" fmla="*/ 746392 w 746392"/>
              <a:gd name="connsiteY1" fmla="*/ 26191 h 746392"/>
              <a:gd name="connsiteX2" fmla="*/ 746392 w 746392"/>
              <a:gd name="connsiteY2" fmla="*/ 720202 h 746392"/>
              <a:gd name="connsiteX3" fmla="*/ 720201 w 746392"/>
              <a:gd name="connsiteY3" fmla="*/ 746392 h 746392"/>
              <a:gd name="connsiteX4" fmla="*/ 26191 w 746392"/>
              <a:gd name="connsiteY4" fmla="*/ 746392 h 746392"/>
              <a:gd name="connsiteX5" fmla="*/ 0 w 746392"/>
              <a:gd name="connsiteY5" fmla="*/ 720202 h 746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392" h="746392">
                <a:moveTo>
                  <a:pt x="720201" y="0"/>
                </a:moveTo>
                <a:cubicBezTo>
                  <a:pt x="734666" y="0"/>
                  <a:pt x="746392" y="11726"/>
                  <a:pt x="746392" y="26191"/>
                </a:cubicBezTo>
                <a:lnTo>
                  <a:pt x="746392" y="720202"/>
                </a:lnTo>
                <a:cubicBezTo>
                  <a:pt x="746392" y="734666"/>
                  <a:pt x="734666" y="746392"/>
                  <a:pt x="720201" y="746392"/>
                </a:cubicBezTo>
                <a:lnTo>
                  <a:pt x="26191" y="746392"/>
                </a:lnTo>
                <a:cubicBezTo>
                  <a:pt x="11726" y="746392"/>
                  <a:pt x="0" y="734666"/>
                  <a:pt x="0" y="720202"/>
                </a:cubicBezTo>
                <a:close/>
              </a:path>
            </a:pathLst>
          </a:custGeom>
          <a:solidFill>
            <a:srgbClr val="FB518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b">
            <a:noAutofit/>
          </a:bodyPr>
          <a:lstStyle/>
          <a:p>
            <a:pPr algn="r" defTabSz="1371600"/>
            <a:endParaRPr lang="en-US" sz="2700" b="1" dirty="0">
              <a:solidFill>
                <a:srgbClr val="FFFFFF"/>
              </a:solidFill>
              <a:latin typeface="Calibri" panose="020F0502020204030204"/>
            </a:endParaRPr>
          </a:p>
        </p:txBody>
      </p:sp>
      <p:sp>
        <p:nvSpPr>
          <p:cNvPr id="73" name="Freeform: Shape 72">
            <a:extLst>
              <a:ext uri="{FF2B5EF4-FFF2-40B4-BE49-F238E27FC236}">
                <a16:creationId xmlns:a16="http://schemas.microsoft.com/office/drawing/2014/main" id="{7F4B81C7-223E-4769-8BD0-5675F103F547}"/>
              </a:ext>
            </a:extLst>
          </p:cNvPr>
          <p:cNvSpPr/>
          <p:nvPr/>
        </p:nvSpPr>
        <p:spPr>
          <a:xfrm>
            <a:off x="14117495" y="7198734"/>
            <a:ext cx="1001777" cy="1001777"/>
          </a:xfrm>
          <a:custGeom>
            <a:avLst/>
            <a:gdLst>
              <a:gd name="connsiteX0" fmla="*/ 720201 w 746392"/>
              <a:gd name="connsiteY0" fmla="*/ 0 h 746392"/>
              <a:gd name="connsiteX1" fmla="*/ 746392 w 746392"/>
              <a:gd name="connsiteY1" fmla="*/ 26191 h 746392"/>
              <a:gd name="connsiteX2" fmla="*/ 746392 w 746392"/>
              <a:gd name="connsiteY2" fmla="*/ 720202 h 746392"/>
              <a:gd name="connsiteX3" fmla="*/ 720201 w 746392"/>
              <a:gd name="connsiteY3" fmla="*/ 746392 h 746392"/>
              <a:gd name="connsiteX4" fmla="*/ 26191 w 746392"/>
              <a:gd name="connsiteY4" fmla="*/ 746392 h 746392"/>
              <a:gd name="connsiteX5" fmla="*/ 0 w 746392"/>
              <a:gd name="connsiteY5" fmla="*/ 720202 h 746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392" h="746392">
                <a:moveTo>
                  <a:pt x="720201" y="0"/>
                </a:moveTo>
                <a:cubicBezTo>
                  <a:pt x="734666" y="0"/>
                  <a:pt x="746392" y="11726"/>
                  <a:pt x="746392" y="26191"/>
                </a:cubicBezTo>
                <a:lnTo>
                  <a:pt x="746392" y="720202"/>
                </a:lnTo>
                <a:cubicBezTo>
                  <a:pt x="746392" y="734666"/>
                  <a:pt x="734666" y="746392"/>
                  <a:pt x="720201" y="746392"/>
                </a:cubicBezTo>
                <a:lnTo>
                  <a:pt x="26191" y="746392"/>
                </a:lnTo>
                <a:cubicBezTo>
                  <a:pt x="11726" y="746392"/>
                  <a:pt x="0" y="734666"/>
                  <a:pt x="0" y="720202"/>
                </a:cubicBezTo>
                <a:close/>
              </a:path>
            </a:pathLst>
          </a:custGeom>
          <a:solidFill>
            <a:srgbClr val="23EEB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b">
            <a:noAutofit/>
          </a:bodyPr>
          <a:lstStyle/>
          <a:p>
            <a:pPr algn="r" defTabSz="1371600"/>
            <a:endParaRPr lang="en-US" sz="2700" b="1" dirty="0">
              <a:solidFill>
                <a:srgbClr val="FBA91E">
                  <a:lumMod val="50000"/>
                </a:srgbClr>
              </a:solidFill>
              <a:latin typeface="Calibri" panose="020F0502020204030204"/>
            </a:endParaRPr>
          </a:p>
        </p:txBody>
      </p:sp>
      <p:sp>
        <p:nvSpPr>
          <p:cNvPr id="77" name="Rectangle: Rounded Corners 76">
            <a:hlinkClick r:id="rId3" action="ppaction://hlinksldjump"/>
            <a:extLst>
              <a:ext uri="{FF2B5EF4-FFF2-40B4-BE49-F238E27FC236}">
                <a16:creationId xmlns:a16="http://schemas.microsoft.com/office/drawing/2014/main" id="{2A09E1B7-E9E9-2A87-C7CB-41AA19408085}"/>
              </a:ext>
            </a:extLst>
          </p:cNvPr>
          <p:cNvSpPr/>
          <p:nvPr/>
        </p:nvSpPr>
        <p:spPr>
          <a:xfrm>
            <a:off x="3684766" y="8136590"/>
            <a:ext cx="2558274" cy="551900"/>
          </a:xfrm>
          <a:prstGeom prst="roundRect">
            <a:avLst>
              <a:gd name="adj" fmla="val 50000"/>
            </a:avLst>
          </a:prstGeom>
          <a:solidFill>
            <a:schemeClr val="bg1"/>
          </a:solidFill>
          <a:ln w="76200">
            <a:solidFill>
              <a:srgbClr val="FB518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r>
              <a:rPr lang="en-US" sz="2200" dirty="0">
                <a:solidFill>
                  <a:srgbClr val="4A4A4A"/>
                </a:solidFill>
                <a:latin typeface="Poppins" panose="00000500000000000000" pitchFamily="2" charset="0"/>
                <a:ea typeface="Calibri" pitchFamily="34" charset="-122"/>
                <a:cs typeface="Poppins" panose="00000500000000000000" pitchFamily="2" charset="0"/>
              </a:rPr>
              <a:t>Sample</a:t>
            </a:r>
            <a:r>
              <a:rPr lang="en-US" sz="2700" dirty="0">
                <a:solidFill>
                  <a:srgbClr val="FFFFFF"/>
                </a:solidFill>
                <a:latin typeface="Calibri" panose="020F0502020204030204"/>
              </a:rPr>
              <a:t> </a:t>
            </a:r>
            <a:r>
              <a:rPr lang="en-US" sz="2200" dirty="0">
                <a:solidFill>
                  <a:srgbClr val="4A4A4A"/>
                </a:solidFill>
                <a:latin typeface="Poppins" panose="00000500000000000000" pitchFamily="2" charset="0"/>
                <a:ea typeface="Calibri" pitchFamily="34" charset="-122"/>
                <a:cs typeface="Poppins" panose="00000500000000000000" pitchFamily="2" charset="0"/>
              </a:rPr>
              <a:t>image</a:t>
            </a:r>
          </a:p>
        </p:txBody>
      </p:sp>
      <p:sp>
        <p:nvSpPr>
          <p:cNvPr id="79" name="Rectangle: Rounded Corners 78">
            <a:hlinkClick r:id="rId4" action="ppaction://hlinksldjump"/>
            <a:extLst>
              <a:ext uri="{FF2B5EF4-FFF2-40B4-BE49-F238E27FC236}">
                <a16:creationId xmlns:a16="http://schemas.microsoft.com/office/drawing/2014/main" id="{2A9F6806-74A4-CAD7-6613-E4D2EAF78990}"/>
              </a:ext>
            </a:extLst>
          </p:cNvPr>
          <p:cNvSpPr/>
          <p:nvPr/>
        </p:nvSpPr>
        <p:spPr>
          <a:xfrm>
            <a:off x="11233534" y="8136590"/>
            <a:ext cx="2558274" cy="551900"/>
          </a:xfrm>
          <a:prstGeom prst="roundRect">
            <a:avLst>
              <a:gd name="adj" fmla="val 50000"/>
            </a:avLst>
          </a:prstGeom>
          <a:solidFill>
            <a:schemeClr val="bg1"/>
          </a:solidFill>
          <a:ln w="76200">
            <a:solidFill>
              <a:srgbClr val="23EE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r>
              <a:rPr lang="en-US" sz="2200" dirty="0">
                <a:solidFill>
                  <a:srgbClr val="4A4A4A"/>
                </a:solidFill>
                <a:latin typeface="Poppins" panose="00000500000000000000" pitchFamily="2" charset="0"/>
                <a:ea typeface="Calibri" pitchFamily="34" charset="-122"/>
                <a:cs typeface="Poppins" panose="00000500000000000000" pitchFamily="2" charset="0"/>
              </a:rPr>
              <a:t>Sample</a:t>
            </a:r>
            <a:r>
              <a:rPr lang="en-US" sz="2700" dirty="0">
                <a:solidFill>
                  <a:srgbClr val="FFFFFF"/>
                </a:solidFill>
                <a:latin typeface="Calibri" panose="020F0502020204030204"/>
              </a:rPr>
              <a:t> </a:t>
            </a:r>
            <a:r>
              <a:rPr lang="en-US" sz="2200" dirty="0">
                <a:solidFill>
                  <a:srgbClr val="4A4A4A"/>
                </a:solidFill>
                <a:latin typeface="Poppins" panose="00000500000000000000" pitchFamily="2" charset="0"/>
                <a:ea typeface="Calibri" pitchFamily="34" charset="-122"/>
                <a:cs typeface="Poppins" panose="00000500000000000000" pitchFamily="2" charset="0"/>
              </a:rPr>
              <a:t>image</a:t>
            </a:r>
          </a:p>
        </p:txBody>
      </p:sp>
      <p:pic>
        <p:nvPicPr>
          <p:cNvPr id="80" name="Picture 79">
            <a:extLst>
              <a:ext uri="{FF2B5EF4-FFF2-40B4-BE49-F238E27FC236}">
                <a16:creationId xmlns:a16="http://schemas.microsoft.com/office/drawing/2014/main" id="{CC336843-15E9-2245-EDD1-1FAE3594A647}"/>
              </a:ext>
            </a:extLst>
          </p:cNvPr>
          <p:cNvPicPr>
            <a:picLocks noChangeAspect="1"/>
          </p:cNvPicPr>
          <p:nvPr/>
        </p:nvPicPr>
        <p:blipFill>
          <a:blip r:embed="rId5">
            <a:biLevel thresh="25000"/>
          </a:blip>
          <a:stretch>
            <a:fillRect/>
          </a:stretch>
        </p:blipFill>
        <p:spPr>
          <a:xfrm>
            <a:off x="10101919" y="2472274"/>
            <a:ext cx="657308" cy="796736"/>
          </a:xfrm>
          <a:prstGeom prst="rect">
            <a:avLst/>
          </a:prstGeom>
        </p:spPr>
      </p:pic>
      <p:pic>
        <p:nvPicPr>
          <p:cNvPr id="83" name="Picture 82">
            <a:extLst>
              <a:ext uri="{FF2B5EF4-FFF2-40B4-BE49-F238E27FC236}">
                <a16:creationId xmlns:a16="http://schemas.microsoft.com/office/drawing/2014/main" id="{B22C6D8E-F577-8499-9088-F7C14A9BBA7C}"/>
              </a:ext>
            </a:extLst>
          </p:cNvPr>
          <p:cNvPicPr>
            <a:picLocks noChangeAspect="1"/>
          </p:cNvPicPr>
          <p:nvPr/>
        </p:nvPicPr>
        <p:blipFill>
          <a:blip r:embed="rId6" cstate="print">
            <a:biLevel thresh="75000"/>
            <a:extLst>
              <a:ext uri="{BEBA8EAE-BF5A-486C-A8C5-ECC9F3942E4B}">
                <a14:imgProps xmlns:a14="http://schemas.microsoft.com/office/drawing/2010/main">
                  <a14:imgLayer r:embed="rId7">
                    <a14:imgEffect>
                      <a14:saturation sat="33000"/>
                    </a14:imgEffect>
                  </a14:imgLayer>
                </a14:imgProps>
              </a:ext>
              <a:ext uri="{28A0092B-C50C-407E-A947-70E740481C1C}">
                <a14:useLocalDpi xmlns:a14="http://schemas.microsoft.com/office/drawing/2010/main" val="0"/>
              </a:ext>
            </a:extLst>
          </a:blip>
          <a:stretch>
            <a:fillRect/>
          </a:stretch>
        </p:blipFill>
        <p:spPr>
          <a:xfrm>
            <a:off x="2612113" y="2515101"/>
            <a:ext cx="668956" cy="711081"/>
          </a:xfrm>
          <a:prstGeom prst="rect">
            <a:avLst/>
          </a:prstGeom>
        </p:spPr>
      </p:pic>
    </p:spTree>
    <p:extLst>
      <p:ext uri="{BB962C8B-B14F-4D97-AF65-F5344CB8AC3E}">
        <p14:creationId xmlns:p14="http://schemas.microsoft.com/office/powerpoint/2010/main" val="797854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8DE07734-66E9-0124-5615-CC9FED6CC0B8}"/>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95C98612-E8D3-8AAD-7C8D-EA776C558992}"/>
              </a:ext>
            </a:extLst>
          </p:cNvPr>
          <p:cNvSpPr/>
          <p:nvPr/>
        </p:nvSpPr>
        <p:spPr>
          <a:xfrm>
            <a:off x="1013460" y="669385"/>
            <a:ext cx="13716000" cy="960120"/>
          </a:xfrm>
          <a:prstGeom prst="rect">
            <a:avLst/>
          </a:prstGeom>
          <a:noFill/>
          <a:ln/>
        </p:spPr>
        <p:txBody>
          <a:bodyPr wrap="square" lIns="0" tIns="0" rIns="0" bIns="0" rtlCol="0" anchor="ctr"/>
          <a:lstStyle/>
          <a:p>
            <a:pPr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Left-Side Panel – Ticket Fields</a:t>
            </a:r>
          </a:p>
        </p:txBody>
      </p:sp>
      <p:sp>
        <p:nvSpPr>
          <p:cNvPr id="21" name="Text 19">
            <a:extLst>
              <a:ext uri="{FF2B5EF4-FFF2-40B4-BE49-F238E27FC236}">
                <a16:creationId xmlns:a16="http://schemas.microsoft.com/office/drawing/2014/main" id="{F21DEBBB-AF81-9D27-FFAA-08482071B849}"/>
              </a:ext>
            </a:extLst>
          </p:cNvPr>
          <p:cNvSpPr/>
          <p:nvPr/>
        </p:nvSpPr>
        <p:spPr>
          <a:xfrm>
            <a:off x="685800" y="9738360"/>
            <a:ext cx="10972800" cy="411480"/>
          </a:xfrm>
          <a:prstGeom prst="rect">
            <a:avLst/>
          </a:prstGeom>
          <a:noFill/>
          <a:ln/>
        </p:spPr>
        <p:txBody>
          <a:bodyPr wrap="square" lIns="0" tIns="0" rIns="0" bIns="0" rtlCol="0" anchor="ctr"/>
          <a:lstStyle/>
          <a:p>
            <a:pPr defTabSz="1371600"/>
            <a:r>
              <a:rPr lang="en-US" sz="1200" dirty="0">
                <a:solidFill>
                  <a:srgbClr val="8A8272"/>
                </a:solidFill>
                <a:latin typeface="Poppins" panose="00000500000000000000" pitchFamily="2" charset="0"/>
                <a:ea typeface="Calibri" pitchFamily="34" charset="-122"/>
                <a:cs typeface="Poppins" panose="00000500000000000000" pitchFamily="2" charset="0"/>
              </a:rPr>
              <a:t>Tripadvisor / Fraud support / Interface &amp; navigation</a:t>
            </a:r>
          </a:p>
        </p:txBody>
      </p:sp>
      <p:pic>
        <p:nvPicPr>
          <p:cNvPr id="2" name="Picture 1">
            <a:extLst>
              <a:ext uri="{FF2B5EF4-FFF2-40B4-BE49-F238E27FC236}">
                <a16:creationId xmlns:a16="http://schemas.microsoft.com/office/drawing/2014/main" id="{3637E7F8-1B1C-026D-3BBA-EE3A4BDD5FE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300" y="2247900"/>
            <a:ext cx="17297400" cy="5987562"/>
          </a:xfrm>
          <a:prstGeom prst="rect">
            <a:avLst/>
          </a:prstGeom>
          <a:noFill/>
          <a:ln>
            <a:noFill/>
          </a:ln>
        </p:spPr>
      </p:pic>
      <p:pic>
        <p:nvPicPr>
          <p:cNvPr id="5" name="Picture 4">
            <a:hlinkClick r:id="rId4" action="ppaction://hlinksldjump"/>
            <a:extLst>
              <a:ext uri="{FF2B5EF4-FFF2-40B4-BE49-F238E27FC236}">
                <a16:creationId xmlns:a16="http://schemas.microsoft.com/office/drawing/2014/main" id="{A861D5DD-64CC-47FB-509F-C2A65532E419}"/>
              </a:ext>
            </a:extLst>
          </p:cNvPr>
          <p:cNvPicPr>
            <a:picLocks noChangeAspect="1"/>
          </p:cNvPicPr>
          <p:nvPr/>
        </p:nvPicPr>
        <p:blipFill>
          <a:blip r:embed="rId5">
            <a:duotone>
              <a:schemeClr val="accent6">
                <a:shade val="45000"/>
                <a:satMod val="135000"/>
              </a:schemeClr>
              <a:prstClr val="white"/>
            </a:duotone>
          </a:blip>
          <a:stretch>
            <a:fillRect/>
          </a:stretch>
        </p:blipFill>
        <p:spPr>
          <a:xfrm>
            <a:off x="14707961" y="8434169"/>
            <a:ext cx="3095625" cy="148816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883000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B4B87D7C-E842-8924-213C-1F3BE13E981C}"/>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79ED4C06-E040-D3B3-0D61-926DA2BFB412}"/>
              </a:ext>
            </a:extLst>
          </p:cNvPr>
          <p:cNvSpPr/>
          <p:nvPr/>
        </p:nvSpPr>
        <p:spPr>
          <a:xfrm>
            <a:off x="1013460" y="669385"/>
            <a:ext cx="13716000" cy="960120"/>
          </a:xfrm>
          <a:prstGeom prst="rect">
            <a:avLst/>
          </a:prstGeom>
          <a:noFill/>
          <a:ln/>
        </p:spPr>
        <p:txBody>
          <a:bodyPr wrap="square" lIns="0" tIns="0" rIns="0" bIns="0" rtlCol="0" anchor="ctr"/>
          <a:lstStyle/>
          <a:p>
            <a:pPr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Left-Side Panel – Ticket Fields</a:t>
            </a:r>
          </a:p>
        </p:txBody>
      </p:sp>
      <p:sp>
        <p:nvSpPr>
          <p:cNvPr id="21" name="Text 19">
            <a:extLst>
              <a:ext uri="{FF2B5EF4-FFF2-40B4-BE49-F238E27FC236}">
                <a16:creationId xmlns:a16="http://schemas.microsoft.com/office/drawing/2014/main" id="{DED2581D-9A28-40FC-231A-645ED6A587AE}"/>
              </a:ext>
            </a:extLst>
          </p:cNvPr>
          <p:cNvSpPr/>
          <p:nvPr/>
        </p:nvSpPr>
        <p:spPr>
          <a:xfrm>
            <a:off x="685800" y="9738360"/>
            <a:ext cx="10972800" cy="411480"/>
          </a:xfrm>
          <a:prstGeom prst="rect">
            <a:avLst/>
          </a:prstGeom>
          <a:noFill/>
          <a:ln/>
        </p:spPr>
        <p:txBody>
          <a:bodyPr wrap="square" lIns="0" tIns="0" rIns="0" bIns="0" rtlCol="0" anchor="ctr"/>
          <a:lstStyle/>
          <a:p>
            <a:pPr defTabSz="1371600"/>
            <a:r>
              <a:rPr lang="en-US" sz="1200" dirty="0">
                <a:solidFill>
                  <a:srgbClr val="8A8272"/>
                </a:solidFill>
                <a:latin typeface="Poppins" panose="00000500000000000000" pitchFamily="2" charset="0"/>
                <a:ea typeface="Calibri" pitchFamily="34" charset="-122"/>
                <a:cs typeface="Poppins" panose="00000500000000000000" pitchFamily="2" charset="0"/>
              </a:rPr>
              <a:t>Tripadvisor / Fraud support / Interface &amp; navigation</a:t>
            </a:r>
          </a:p>
        </p:txBody>
      </p:sp>
      <p:pic>
        <p:nvPicPr>
          <p:cNvPr id="5" name="Picture 4">
            <a:extLst>
              <a:ext uri="{FF2B5EF4-FFF2-40B4-BE49-F238E27FC236}">
                <a16:creationId xmlns:a16="http://schemas.microsoft.com/office/drawing/2014/main" id="{3378AF1C-9617-9F69-29CA-25D05C3E467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1599" y="2628900"/>
            <a:ext cx="15544801" cy="5486400"/>
          </a:xfrm>
          <a:prstGeom prst="rect">
            <a:avLst/>
          </a:prstGeom>
          <a:noFill/>
          <a:ln>
            <a:noFill/>
          </a:ln>
        </p:spPr>
      </p:pic>
      <p:pic>
        <p:nvPicPr>
          <p:cNvPr id="7" name="Picture 6">
            <a:hlinkClick r:id="rId4" action="ppaction://hlinksldjump"/>
            <a:extLst>
              <a:ext uri="{FF2B5EF4-FFF2-40B4-BE49-F238E27FC236}">
                <a16:creationId xmlns:a16="http://schemas.microsoft.com/office/drawing/2014/main" id="{AF1CA4CC-35BC-AF5B-BEEB-F0F38657B27B}"/>
              </a:ext>
            </a:extLst>
          </p:cNvPr>
          <p:cNvPicPr>
            <a:picLocks noChangeAspect="1"/>
          </p:cNvPicPr>
          <p:nvPr/>
        </p:nvPicPr>
        <p:blipFill>
          <a:blip r:embed="rId5">
            <a:duotone>
              <a:schemeClr val="accent6">
                <a:shade val="45000"/>
                <a:satMod val="135000"/>
              </a:schemeClr>
              <a:prstClr val="white"/>
            </a:duotone>
          </a:blip>
          <a:stretch>
            <a:fillRect/>
          </a:stretch>
        </p:blipFill>
        <p:spPr>
          <a:xfrm>
            <a:off x="14707961" y="8434169"/>
            <a:ext cx="3095625" cy="148816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167192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4AB1AD2-B6CF-7D1B-5B88-3501C50244A7}"/>
            </a:ext>
          </a:extLst>
        </p:cNvPr>
        <p:cNvGrpSpPr/>
        <p:nvPr/>
      </p:nvGrpSpPr>
      <p:grpSpPr>
        <a:xfrm>
          <a:off x="0" y="0"/>
          <a:ext cx="0" cy="0"/>
          <a:chOff x="0" y="0"/>
          <a:chExt cx="0" cy="0"/>
        </a:xfrm>
      </p:grpSpPr>
      <p:sp>
        <p:nvSpPr>
          <p:cNvPr id="18" name="Freeform 8">
            <a:extLst>
              <a:ext uri="{FF2B5EF4-FFF2-40B4-BE49-F238E27FC236}">
                <a16:creationId xmlns:a16="http://schemas.microsoft.com/office/drawing/2014/main" id="{E668F18C-5FD2-30C6-8E99-F54681189449}"/>
              </a:ext>
            </a:extLst>
          </p:cNvPr>
          <p:cNvSpPr/>
          <p:nvPr/>
        </p:nvSpPr>
        <p:spPr>
          <a:xfrm rot="3016692">
            <a:off x="13561931" y="-1319597"/>
            <a:ext cx="8521263" cy="6558210"/>
          </a:xfrm>
          <a:custGeom>
            <a:avLst/>
            <a:gdLst/>
            <a:ahLst/>
            <a:cxnLst/>
            <a:rect l="l" t="t" r="r" b="b"/>
            <a:pathLst>
              <a:path w="4597542" h="4114800">
                <a:moveTo>
                  <a:pt x="0" y="0"/>
                </a:moveTo>
                <a:lnTo>
                  <a:pt x="4597542" y="0"/>
                </a:lnTo>
                <a:lnTo>
                  <a:pt x="459754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4" name="Text 2">
            <a:extLst>
              <a:ext uri="{FF2B5EF4-FFF2-40B4-BE49-F238E27FC236}">
                <a16:creationId xmlns:a16="http://schemas.microsoft.com/office/drawing/2014/main" id="{AABB6A1F-0AD4-7060-4297-FF2240A2E7D5}"/>
              </a:ext>
            </a:extLst>
          </p:cNvPr>
          <p:cNvSpPr/>
          <p:nvPr/>
        </p:nvSpPr>
        <p:spPr>
          <a:xfrm>
            <a:off x="1013460" y="809535"/>
            <a:ext cx="13716000" cy="960120"/>
          </a:xfrm>
          <a:prstGeom prst="rect">
            <a:avLst/>
          </a:prstGeom>
          <a:noFill/>
          <a:ln/>
        </p:spPr>
        <p:txBody>
          <a:bodyPr wrap="square" lIns="0" tIns="0" rIns="0" bIns="0" rtlCol="0" anchor="ctr"/>
          <a:lstStyle/>
          <a:p>
            <a:pPr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Left-Side Panel – Ticket Fields</a:t>
            </a:r>
          </a:p>
        </p:txBody>
      </p:sp>
      <p:sp>
        <p:nvSpPr>
          <p:cNvPr id="3" name="Text 3">
            <a:extLst>
              <a:ext uri="{FF2B5EF4-FFF2-40B4-BE49-F238E27FC236}">
                <a16:creationId xmlns:a16="http://schemas.microsoft.com/office/drawing/2014/main" id="{B5D8B8D8-519D-7601-11F5-4A59EB616A41}"/>
              </a:ext>
            </a:extLst>
          </p:cNvPr>
          <p:cNvSpPr/>
          <p:nvPr/>
        </p:nvSpPr>
        <p:spPr>
          <a:xfrm>
            <a:off x="1023894" y="1615196"/>
            <a:ext cx="15087600" cy="548640"/>
          </a:xfrm>
          <a:prstGeom prst="rect">
            <a:avLst/>
          </a:prstGeom>
          <a:noFill/>
          <a:ln/>
        </p:spPr>
        <p:txBody>
          <a:bodyPr wrap="square" lIns="0" tIns="0" rIns="0" bIns="0" rtlCol="0" anchor="ctr"/>
          <a:lstStyle/>
          <a:p>
            <a:pPr defTabSz="1371600"/>
            <a:r>
              <a:rPr lang="en-US" sz="2800" b="1" dirty="0">
                <a:solidFill>
                  <a:srgbClr val="002B11"/>
                </a:solidFill>
                <a:latin typeface="Poppins" panose="00000500000000000000" pitchFamily="2" charset="0"/>
                <a:ea typeface="Calibri" pitchFamily="34" charset="-122"/>
                <a:cs typeface="Poppins" panose="00000500000000000000" pitchFamily="2" charset="0"/>
              </a:rPr>
              <a:t>Action Triggers &amp; Escalations</a:t>
            </a:r>
          </a:p>
        </p:txBody>
      </p:sp>
      <p:sp>
        <p:nvSpPr>
          <p:cNvPr id="5" name="Text 3">
            <a:extLst>
              <a:ext uri="{FF2B5EF4-FFF2-40B4-BE49-F238E27FC236}">
                <a16:creationId xmlns:a16="http://schemas.microsoft.com/office/drawing/2014/main" id="{6FE7363D-6A3D-5049-9A64-B7DA12D97DBC}"/>
              </a:ext>
            </a:extLst>
          </p:cNvPr>
          <p:cNvSpPr/>
          <p:nvPr/>
        </p:nvSpPr>
        <p:spPr>
          <a:xfrm>
            <a:off x="1115358" y="2203843"/>
            <a:ext cx="6934200" cy="898466"/>
          </a:xfrm>
          <a:prstGeom prst="rect">
            <a:avLst/>
          </a:prstGeom>
          <a:noFill/>
          <a:ln/>
        </p:spPr>
        <p:txBody>
          <a:bodyPr wrap="square" lIns="0" tIns="0" rIns="0" bIns="0" rtlCol="0" anchor="ctr"/>
          <a:lstStyle/>
          <a:p>
            <a:pPr defTabSz="1371600">
              <a:lnSpc>
                <a:spcPct val="150000"/>
              </a:lnSpc>
            </a:pPr>
            <a:r>
              <a:rPr lang="en-US" sz="2200" dirty="0">
                <a:solidFill>
                  <a:srgbClr val="002B11"/>
                </a:solidFill>
                <a:latin typeface="Poppins" panose="00000500000000000000" pitchFamily="2" charset="0"/>
                <a:ea typeface="Calibri" pitchFamily="34" charset="-122"/>
                <a:cs typeface="Poppins" panose="00000500000000000000" pitchFamily="2" charset="0"/>
              </a:rPr>
              <a:t>Check the following boxes if required:</a:t>
            </a:r>
          </a:p>
        </p:txBody>
      </p:sp>
      <p:sp>
        <p:nvSpPr>
          <p:cNvPr id="6" name="Text 19">
            <a:extLst>
              <a:ext uri="{FF2B5EF4-FFF2-40B4-BE49-F238E27FC236}">
                <a16:creationId xmlns:a16="http://schemas.microsoft.com/office/drawing/2014/main" id="{5AE17992-B325-4B2D-2C70-0D3B68133D3F}"/>
              </a:ext>
            </a:extLst>
          </p:cNvPr>
          <p:cNvSpPr/>
          <p:nvPr/>
        </p:nvSpPr>
        <p:spPr>
          <a:xfrm>
            <a:off x="685800" y="9738360"/>
            <a:ext cx="10972800" cy="411480"/>
          </a:xfrm>
          <a:prstGeom prst="rect">
            <a:avLst/>
          </a:prstGeom>
          <a:noFill/>
          <a:ln/>
        </p:spPr>
        <p:txBody>
          <a:bodyPr wrap="square" lIns="0" tIns="0" rIns="0" bIns="0" rtlCol="0" anchor="ctr"/>
          <a:lstStyle/>
          <a:p>
            <a:pPr defTabSz="1371600"/>
            <a:r>
              <a:rPr lang="en-US" sz="1200" dirty="0">
                <a:solidFill>
                  <a:srgbClr val="8A8272"/>
                </a:solidFill>
                <a:latin typeface="Poppins" panose="00000500000000000000" pitchFamily="2" charset="0"/>
                <a:ea typeface="Calibri" pitchFamily="34" charset="-122"/>
                <a:cs typeface="Poppins" panose="00000500000000000000" pitchFamily="2" charset="0"/>
              </a:rPr>
              <a:t>Tripadvisor / Fraud support / Interface &amp; navigation</a:t>
            </a:r>
          </a:p>
        </p:txBody>
      </p:sp>
      <p:grpSp>
        <p:nvGrpSpPr>
          <p:cNvPr id="9" name="Group 8">
            <a:extLst>
              <a:ext uri="{FF2B5EF4-FFF2-40B4-BE49-F238E27FC236}">
                <a16:creationId xmlns:a16="http://schemas.microsoft.com/office/drawing/2014/main" id="{1BB9B972-E2C2-D20F-9C61-41F9DABF2548}"/>
              </a:ext>
            </a:extLst>
          </p:cNvPr>
          <p:cNvGrpSpPr/>
          <p:nvPr/>
        </p:nvGrpSpPr>
        <p:grpSpPr>
          <a:xfrm>
            <a:off x="1013460" y="3390900"/>
            <a:ext cx="7713660" cy="1524000"/>
            <a:chOff x="1013460" y="3390900"/>
            <a:chExt cx="5768340" cy="1524000"/>
          </a:xfrm>
        </p:grpSpPr>
        <p:sp>
          <p:nvSpPr>
            <p:cNvPr id="2" name="Rectangle: Rounded Corners 1">
              <a:extLst>
                <a:ext uri="{FF2B5EF4-FFF2-40B4-BE49-F238E27FC236}">
                  <a16:creationId xmlns:a16="http://schemas.microsoft.com/office/drawing/2014/main" id="{502DC1F0-21E1-557D-9CDF-03E416284D74}"/>
                </a:ext>
              </a:extLst>
            </p:cNvPr>
            <p:cNvSpPr/>
            <p:nvPr/>
          </p:nvSpPr>
          <p:spPr>
            <a:xfrm>
              <a:off x="1013460" y="3390900"/>
              <a:ext cx="5692140" cy="1447800"/>
            </a:xfrm>
            <a:prstGeom prst="roundRect">
              <a:avLst/>
            </a:prstGeom>
            <a:solidFill>
              <a:srgbClr val="C197F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5EFD4A4C-492A-2602-88B8-CD89D0DB9506}"/>
                </a:ext>
              </a:extLst>
            </p:cNvPr>
            <p:cNvSpPr/>
            <p:nvPr/>
          </p:nvSpPr>
          <p:spPr>
            <a:xfrm>
              <a:off x="1089660" y="3467100"/>
              <a:ext cx="5692140" cy="1447800"/>
            </a:xfrm>
            <a:prstGeom prst="roundRect">
              <a:avLst/>
            </a:prstGeom>
            <a:solidFill>
              <a:schemeClr val="bg1"/>
            </a:solidFill>
            <a:ln>
              <a:solidFill>
                <a:srgbClr val="C197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Graphic 11" descr="Ribbon with solid fill">
            <a:extLst>
              <a:ext uri="{FF2B5EF4-FFF2-40B4-BE49-F238E27FC236}">
                <a16:creationId xmlns:a16="http://schemas.microsoft.com/office/drawing/2014/main" id="{8F7F675F-6CB3-6267-765B-CE9B2FEF5B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88568" y="3788974"/>
            <a:ext cx="768096" cy="768096"/>
          </a:xfrm>
          <a:prstGeom prst="rect">
            <a:avLst/>
          </a:prstGeom>
          <a:effectLst/>
        </p:spPr>
      </p:pic>
      <p:sp>
        <p:nvSpPr>
          <p:cNvPr id="14" name="TextBox 13">
            <a:extLst>
              <a:ext uri="{FF2B5EF4-FFF2-40B4-BE49-F238E27FC236}">
                <a16:creationId xmlns:a16="http://schemas.microsoft.com/office/drawing/2014/main" id="{FA2E701E-5D1D-7AB6-739C-3BFEAC756530}"/>
              </a:ext>
            </a:extLst>
          </p:cNvPr>
          <p:cNvSpPr txBox="1"/>
          <p:nvPr/>
        </p:nvSpPr>
        <p:spPr>
          <a:xfrm>
            <a:off x="1942576" y="3688285"/>
            <a:ext cx="6900424" cy="1060034"/>
          </a:xfrm>
          <a:prstGeom prst="rect">
            <a:avLst/>
          </a:prstGeom>
          <a:noFill/>
        </p:spPr>
        <p:txBody>
          <a:bodyPr wrap="square">
            <a:spAutoFit/>
          </a:bodyPr>
          <a:lstStyle/>
          <a:p>
            <a:pPr defTabSz="1371600">
              <a:lnSpc>
                <a:spcPct val="150000"/>
              </a:lnSpc>
            </a:pPr>
            <a:r>
              <a:rPr lang="en-US" sz="2200" b="1" dirty="0">
                <a:solidFill>
                  <a:srgbClr val="002B11"/>
                </a:solidFill>
                <a:latin typeface="Poppins" panose="00000500000000000000" pitchFamily="2" charset="0"/>
                <a:ea typeface="Calibri" pitchFamily="34" charset="-122"/>
                <a:cs typeface="Poppins" panose="00000500000000000000" pitchFamily="2" charset="0"/>
              </a:rPr>
              <a:t>Red Badge on Property: </a:t>
            </a:r>
            <a:r>
              <a:rPr lang="en-US" sz="2200" dirty="0">
                <a:solidFill>
                  <a:srgbClr val="002B11"/>
                </a:solidFill>
                <a:latin typeface="Poppins" panose="00000500000000000000" pitchFamily="2" charset="0"/>
                <a:ea typeface="Calibri" pitchFamily="34" charset="-122"/>
                <a:cs typeface="Poppins" panose="00000500000000000000" pitchFamily="2" charset="0"/>
              </a:rPr>
              <a:t>If Red Badge is posted on the property page. </a:t>
            </a:r>
          </a:p>
        </p:txBody>
      </p:sp>
      <p:grpSp>
        <p:nvGrpSpPr>
          <p:cNvPr id="16" name="Group 15">
            <a:extLst>
              <a:ext uri="{FF2B5EF4-FFF2-40B4-BE49-F238E27FC236}">
                <a16:creationId xmlns:a16="http://schemas.microsoft.com/office/drawing/2014/main" id="{63CCE479-2B06-C776-0F2B-CF9B484B22C1}"/>
              </a:ext>
            </a:extLst>
          </p:cNvPr>
          <p:cNvGrpSpPr/>
          <p:nvPr/>
        </p:nvGrpSpPr>
        <p:grpSpPr>
          <a:xfrm>
            <a:off x="8981141" y="3387666"/>
            <a:ext cx="7924799" cy="1524000"/>
            <a:chOff x="1013460" y="3390900"/>
            <a:chExt cx="5768340" cy="1524000"/>
          </a:xfrm>
        </p:grpSpPr>
        <p:sp>
          <p:nvSpPr>
            <p:cNvPr id="19" name="Rectangle: Rounded Corners 18">
              <a:extLst>
                <a:ext uri="{FF2B5EF4-FFF2-40B4-BE49-F238E27FC236}">
                  <a16:creationId xmlns:a16="http://schemas.microsoft.com/office/drawing/2014/main" id="{67675525-5AF0-E9B2-FAAB-3B7F4BF78726}"/>
                </a:ext>
              </a:extLst>
            </p:cNvPr>
            <p:cNvSpPr/>
            <p:nvPr/>
          </p:nvSpPr>
          <p:spPr>
            <a:xfrm>
              <a:off x="1013460" y="3390900"/>
              <a:ext cx="5692140" cy="1447800"/>
            </a:xfrm>
            <a:prstGeom prst="roundRect">
              <a:avLst/>
            </a:prstGeom>
            <a:solidFill>
              <a:srgbClr val="C197FF"/>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68F2C9FD-F88A-9618-4020-3EB537FD8C4A}"/>
                </a:ext>
              </a:extLst>
            </p:cNvPr>
            <p:cNvSpPr/>
            <p:nvPr/>
          </p:nvSpPr>
          <p:spPr>
            <a:xfrm>
              <a:off x="1089660" y="3467100"/>
              <a:ext cx="5692140" cy="1447800"/>
            </a:xfrm>
            <a:prstGeom prst="roundRect">
              <a:avLst/>
            </a:prstGeom>
            <a:solidFill>
              <a:schemeClr val="bg1"/>
            </a:solidFill>
            <a:ln>
              <a:solidFill>
                <a:srgbClr val="C197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Graphic 22" descr="Money with solid fill">
            <a:extLst>
              <a:ext uri="{FF2B5EF4-FFF2-40B4-BE49-F238E27FC236}">
                <a16:creationId xmlns:a16="http://schemas.microsoft.com/office/drawing/2014/main" id="{7397203A-E227-2ABF-0B89-B79CCB5538D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86170" y="3788974"/>
            <a:ext cx="768096" cy="768096"/>
          </a:xfrm>
          <a:prstGeom prst="rect">
            <a:avLst/>
          </a:prstGeom>
          <a:effectLst/>
        </p:spPr>
      </p:pic>
      <p:sp>
        <p:nvSpPr>
          <p:cNvPr id="26" name="TextBox 25">
            <a:extLst>
              <a:ext uri="{FF2B5EF4-FFF2-40B4-BE49-F238E27FC236}">
                <a16:creationId xmlns:a16="http://schemas.microsoft.com/office/drawing/2014/main" id="{C7F1B789-7DDA-2416-9D88-2C2D26133A11}"/>
              </a:ext>
            </a:extLst>
          </p:cNvPr>
          <p:cNvSpPr txBox="1"/>
          <p:nvPr/>
        </p:nvSpPr>
        <p:spPr>
          <a:xfrm>
            <a:off x="10188690" y="3688285"/>
            <a:ext cx="6358456" cy="1060034"/>
          </a:xfrm>
          <a:prstGeom prst="rect">
            <a:avLst/>
          </a:prstGeom>
          <a:noFill/>
        </p:spPr>
        <p:txBody>
          <a:bodyPr wrap="square">
            <a:spAutoFit/>
          </a:bodyPr>
          <a:lstStyle/>
          <a:p>
            <a:pPr defTabSz="1371600">
              <a:lnSpc>
                <a:spcPct val="150000"/>
              </a:lnSpc>
            </a:pPr>
            <a:r>
              <a:rPr lang="en-US" sz="2200" b="1" dirty="0">
                <a:solidFill>
                  <a:srgbClr val="002B11"/>
                </a:solidFill>
                <a:latin typeface="Poppins" panose="00000500000000000000" pitchFamily="2" charset="0"/>
                <a:ea typeface="Calibri" pitchFamily="34" charset="-122"/>
                <a:cs typeface="Poppins" panose="00000500000000000000" pitchFamily="2" charset="0"/>
              </a:rPr>
              <a:t>Penalty Mitigated: </a:t>
            </a:r>
            <a:r>
              <a:rPr lang="en-US" sz="2200" dirty="0">
                <a:solidFill>
                  <a:srgbClr val="002B11"/>
                </a:solidFill>
                <a:latin typeface="Poppins" panose="00000500000000000000" pitchFamily="2" charset="0"/>
                <a:ea typeface="Calibri" pitchFamily="34" charset="-122"/>
                <a:cs typeface="Poppins" panose="00000500000000000000" pitchFamily="2" charset="0"/>
              </a:rPr>
              <a:t>If a penalty mitigation is applied</a:t>
            </a:r>
          </a:p>
        </p:txBody>
      </p:sp>
      <p:grpSp>
        <p:nvGrpSpPr>
          <p:cNvPr id="27" name="Group 26">
            <a:extLst>
              <a:ext uri="{FF2B5EF4-FFF2-40B4-BE49-F238E27FC236}">
                <a16:creationId xmlns:a16="http://schemas.microsoft.com/office/drawing/2014/main" id="{490256B1-82B9-411C-B101-5C823BA24177}"/>
              </a:ext>
            </a:extLst>
          </p:cNvPr>
          <p:cNvGrpSpPr/>
          <p:nvPr/>
        </p:nvGrpSpPr>
        <p:grpSpPr>
          <a:xfrm>
            <a:off x="1013460" y="5103849"/>
            <a:ext cx="7713660" cy="1524000"/>
            <a:chOff x="1013460" y="3390900"/>
            <a:chExt cx="5768340" cy="1524000"/>
          </a:xfrm>
          <a:effectLst>
            <a:outerShdw blurRad="50800" dist="38100" dir="5400000" algn="t" rotWithShape="0">
              <a:prstClr val="black">
                <a:alpha val="40000"/>
              </a:prstClr>
            </a:outerShdw>
          </a:effectLst>
        </p:grpSpPr>
        <p:sp>
          <p:nvSpPr>
            <p:cNvPr id="28" name="Rectangle: Rounded Corners 27">
              <a:extLst>
                <a:ext uri="{FF2B5EF4-FFF2-40B4-BE49-F238E27FC236}">
                  <a16:creationId xmlns:a16="http://schemas.microsoft.com/office/drawing/2014/main" id="{E743F5BA-0AB3-8F1A-B749-9CCEA34E6CC7}"/>
                </a:ext>
              </a:extLst>
            </p:cNvPr>
            <p:cNvSpPr/>
            <p:nvPr/>
          </p:nvSpPr>
          <p:spPr>
            <a:xfrm>
              <a:off x="1013460" y="3390900"/>
              <a:ext cx="5692140" cy="1447800"/>
            </a:xfrm>
            <a:prstGeom prst="roundRect">
              <a:avLst/>
            </a:prstGeom>
            <a:solidFill>
              <a:srgbClr val="C19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BE04E5CD-D41A-9699-E3A2-1C43565E5230}"/>
                </a:ext>
              </a:extLst>
            </p:cNvPr>
            <p:cNvSpPr/>
            <p:nvPr/>
          </p:nvSpPr>
          <p:spPr>
            <a:xfrm>
              <a:off x="1089660" y="3467100"/>
              <a:ext cx="5692140" cy="1447800"/>
            </a:xfrm>
            <a:prstGeom prst="roundRect">
              <a:avLst/>
            </a:prstGeom>
            <a:solidFill>
              <a:schemeClr val="bg1"/>
            </a:solidFill>
            <a:ln>
              <a:solidFill>
                <a:srgbClr val="C197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1" name="Graphic 30" descr="Arrow: Clockwise curve with solid fill">
            <a:extLst>
              <a:ext uri="{FF2B5EF4-FFF2-40B4-BE49-F238E27FC236}">
                <a16:creationId xmlns:a16="http://schemas.microsoft.com/office/drawing/2014/main" id="{F81A06C4-E7E1-E0D8-3149-2A57F7ECC15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1188568" y="5499369"/>
            <a:ext cx="768096" cy="768096"/>
          </a:xfrm>
          <a:prstGeom prst="rect">
            <a:avLst/>
          </a:prstGeom>
          <a:effectLst>
            <a:outerShdw blurRad="50800" dist="38100" dir="5400000" algn="t" rotWithShape="0">
              <a:prstClr val="black">
                <a:alpha val="40000"/>
              </a:prstClr>
            </a:outerShdw>
          </a:effectLst>
        </p:spPr>
      </p:pic>
      <p:sp>
        <p:nvSpPr>
          <p:cNvPr id="33" name="TextBox 32">
            <a:extLst>
              <a:ext uri="{FF2B5EF4-FFF2-40B4-BE49-F238E27FC236}">
                <a16:creationId xmlns:a16="http://schemas.microsoft.com/office/drawing/2014/main" id="{6DA3A3F2-6D5C-32FE-C5EF-9C4BDC6B5A60}"/>
              </a:ext>
            </a:extLst>
          </p:cNvPr>
          <p:cNvSpPr txBox="1"/>
          <p:nvPr/>
        </p:nvSpPr>
        <p:spPr>
          <a:xfrm>
            <a:off x="1887493" y="5372100"/>
            <a:ext cx="6737729" cy="1060034"/>
          </a:xfrm>
          <a:prstGeom prst="rect">
            <a:avLst/>
          </a:prstGeom>
          <a:noFill/>
        </p:spPr>
        <p:txBody>
          <a:bodyPr wrap="square">
            <a:spAutoFit/>
          </a:bodyPr>
          <a:lstStyle/>
          <a:p>
            <a:pPr defTabSz="1371600">
              <a:lnSpc>
                <a:spcPct val="150000"/>
              </a:lnSpc>
            </a:pPr>
            <a:r>
              <a:rPr lang="en-US" sz="2200" b="1" dirty="0">
                <a:solidFill>
                  <a:srgbClr val="002B11"/>
                </a:solidFill>
                <a:latin typeface="Poppins" panose="00000500000000000000" pitchFamily="2" charset="0"/>
                <a:ea typeface="Calibri" pitchFamily="34" charset="-122"/>
                <a:cs typeface="Poppins" panose="00000500000000000000" pitchFamily="2" charset="0"/>
              </a:rPr>
              <a:t>Escalate to Tier 2: </a:t>
            </a:r>
            <a:r>
              <a:rPr lang="en-US" sz="2200" dirty="0">
                <a:solidFill>
                  <a:srgbClr val="002B11"/>
                </a:solidFill>
                <a:latin typeface="Poppins" panose="00000500000000000000" pitchFamily="2" charset="0"/>
                <a:ea typeface="Calibri" pitchFamily="34" charset="-122"/>
                <a:cs typeface="Poppins" panose="00000500000000000000" pitchFamily="2" charset="0"/>
              </a:rPr>
              <a:t>If a case needs to be escalated to Tier 2</a:t>
            </a:r>
          </a:p>
        </p:txBody>
      </p:sp>
      <p:grpSp>
        <p:nvGrpSpPr>
          <p:cNvPr id="34" name="Group 33">
            <a:extLst>
              <a:ext uri="{FF2B5EF4-FFF2-40B4-BE49-F238E27FC236}">
                <a16:creationId xmlns:a16="http://schemas.microsoft.com/office/drawing/2014/main" id="{4713784A-3E7C-C359-D3F8-8EE173E3E48E}"/>
              </a:ext>
            </a:extLst>
          </p:cNvPr>
          <p:cNvGrpSpPr/>
          <p:nvPr/>
        </p:nvGrpSpPr>
        <p:grpSpPr>
          <a:xfrm>
            <a:off x="9070960" y="5145315"/>
            <a:ext cx="7713660" cy="1524000"/>
            <a:chOff x="1013460" y="3390900"/>
            <a:chExt cx="5768340" cy="1524000"/>
          </a:xfrm>
          <a:effectLst>
            <a:outerShdw blurRad="50800" dist="38100" dir="5400000" algn="t" rotWithShape="0">
              <a:prstClr val="black">
                <a:alpha val="40000"/>
              </a:prstClr>
            </a:outerShdw>
          </a:effectLst>
        </p:grpSpPr>
        <p:sp>
          <p:nvSpPr>
            <p:cNvPr id="35" name="Rectangle: Rounded Corners 34">
              <a:extLst>
                <a:ext uri="{FF2B5EF4-FFF2-40B4-BE49-F238E27FC236}">
                  <a16:creationId xmlns:a16="http://schemas.microsoft.com/office/drawing/2014/main" id="{7846BABB-0C4B-FB34-6A2B-B2D30AA297D9}"/>
                </a:ext>
              </a:extLst>
            </p:cNvPr>
            <p:cNvSpPr/>
            <p:nvPr/>
          </p:nvSpPr>
          <p:spPr>
            <a:xfrm>
              <a:off x="1013460" y="3390900"/>
              <a:ext cx="5692140" cy="1447800"/>
            </a:xfrm>
            <a:prstGeom prst="roundRect">
              <a:avLst/>
            </a:prstGeom>
            <a:solidFill>
              <a:srgbClr val="C19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D49F6C86-D682-4FCC-2334-42853A07EAD8}"/>
                </a:ext>
              </a:extLst>
            </p:cNvPr>
            <p:cNvSpPr/>
            <p:nvPr/>
          </p:nvSpPr>
          <p:spPr>
            <a:xfrm>
              <a:off x="1089660" y="3467100"/>
              <a:ext cx="5692140" cy="1447800"/>
            </a:xfrm>
            <a:prstGeom prst="roundRect">
              <a:avLst/>
            </a:prstGeom>
            <a:solidFill>
              <a:schemeClr val="bg1"/>
            </a:solidFill>
            <a:ln>
              <a:solidFill>
                <a:srgbClr val="C197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8" name="Graphic 37" descr="Mop and bucket with solid fill">
            <a:extLst>
              <a:ext uri="{FF2B5EF4-FFF2-40B4-BE49-F238E27FC236}">
                <a16:creationId xmlns:a16="http://schemas.microsoft.com/office/drawing/2014/main" id="{771E61B2-675B-3D22-3184-8EEFD2BCF0C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290304" y="5499369"/>
            <a:ext cx="768096" cy="768096"/>
          </a:xfrm>
          <a:prstGeom prst="rect">
            <a:avLst/>
          </a:prstGeom>
        </p:spPr>
      </p:pic>
      <p:sp>
        <p:nvSpPr>
          <p:cNvPr id="40" name="TextBox 39">
            <a:extLst>
              <a:ext uri="{FF2B5EF4-FFF2-40B4-BE49-F238E27FC236}">
                <a16:creationId xmlns:a16="http://schemas.microsoft.com/office/drawing/2014/main" id="{97585834-20CD-C0CA-15D9-23B834EAC643}"/>
              </a:ext>
            </a:extLst>
          </p:cNvPr>
          <p:cNvSpPr txBox="1"/>
          <p:nvPr/>
        </p:nvSpPr>
        <p:spPr>
          <a:xfrm>
            <a:off x="10210800" y="5372100"/>
            <a:ext cx="6336346" cy="1060034"/>
          </a:xfrm>
          <a:prstGeom prst="rect">
            <a:avLst/>
          </a:prstGeom>
          <a:noFill/>
        </p:spPr>
        <p:txBody>
          <a:bodyPr wrap="square">
            <a:spAutoFit/>
          </a:bodyPr>
          <a:lstStyle/>
          <a:p>
            <a:pPr defTabSz="1371600">
              <a:lnSpc>
                <a:spcPct val="150000"/>
              </a:lnSpc>
            </a:pPr>
            <a:r>
              <a:rPr lang="en-US" sz="2200" b="1" dirty="0">
                <a:solidFill>
                  <a:srgbClr val="002B11"/>
                </a:solidFill>
                <a:latin typeface="Poppins" panose="00000500000000000000" pitchFamily="2" charset="0"/>
                <a:ea typeface="Calibri" pitchFamily="34" charset="-122"/>
                <a:cs typeface="Poppins" panose="00000500000000000000" pitchFamily="2" charset="0"/>
              </a:rPr>
              <a:t>Property Sweep: </a:t>
            </a:r>
            <a:r>
              <a:rPr lang="en-US" sz="2200" dirty="0">
                <a:solidFill>
                  <a:srgbClr val="002B11"/>
                </a:solidFill>
                <a:latin typeface="Poppins" panose="00000500000000000000" pitchFamily="2" charset="0"/>
                <a:ea typeface="Calibri" pitchFamily="34" charset="-122"/>
                <a:cs typeface="Poppins" panose="00000500000000000000" pitchFamily="2" charset="0"/>
              </a:rPr>
              <a:t>If a sweep is performed or requested</a:t>
            </a:r>
          </a:p>
        </p:txBody>
      </p:sp>
      <p:grpSp>
        <p:nvGrpSpPr>
          <p:cNvPr id="41" name="Group 40">
            <a:extLst>
              <a:ext uri="{FF2B5EF4-FFF2-40B4-BE49-F238E27FC236}">
                <a16:creationId xmlns:a16="http://schemas.microsoft.com/office/drawing/2014/main" id="{98CD58A2-E33B-1D17-D0D0-84C66AEFB505}"/>
              </a:ext>
            </a:extLst>
          </p:cNvPr>
          <p:cNvGrpSpPr/>
          <p:nvPr/>
        </p:nvGrpSpPr>
        <p:grpSpPr>
          <a:xfrm>
            <a:off x="4626295" y="7031977"/>
            <a:ext cx="8709691" cy="1524000"/>
            <a:chOff x="1013460" y="3390900"/>
            <a:chExt cx="5768340" cy="1524000"/>
          </a:xfrm>
          <a:effectLst>
            <a:outerShdw blurRad="50800" dist="38100" dir="5400000" algn="t" rotWithShape="0">
              <a:prstClr val="black">
                <a:alpha val="40000"/>
              </a:prstClr>
            </a:outerShdw>
          </a:effectLst>
        </p:grpSpPr>
        <p:sp>
          <p:nvSpPr>
            <p:cNvPr id="42" name="Rectangle: Rounded Corners 41">
              <a:extLst>
                <a:ext uri="{FF2B5EF4-FFF2-40B4-BE49-F238E27FC236}">
                  <a16:creationId xmlns:a16="http://schemas.microsoft.com/office/drawing/2014/main" id="{9E4A27B4-E9F8-4990-ADA3-FB28E5013112}"/>
                </a:ext>
              </a:extLst>
            </p:cNvPr>
            <p:cNvSpPr/>
            <p:nvPr/>
          </p:nvSpPr>
          <p:spPr>
            <a:xfrm>
              <a:off x="1013460" y="3390900"/>
              <a:ext cx="5692140" cy="1447800"/>
            </a:xfrm>
            <a:prstGeom prst="roundRect">
              <a:avLst/>
            </a:prstGeom>
            <a:solidFill>
              <a:srgbClr val="C19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711683BD-5DB7-94D0-8C76-449CABCF2FC7}"/>
                </a:ext>
              </a:extLst>
            </p:cNvPr>
            <p:cNvSpPr/>
            <p:nvPr/>
          </p:nvSpPr>
          <p:spPr>
            <a:xfrm>
              <a:off x="1089660" y="3467100"/>
              <a:ext cx="5692140" cy="1447800"/>
            </a:xfrm>
            <a:prstGeom prst="roundRect">
              <a:avLst/>
            </a:prstGeom>
            <a:solidFill>
              <a:schemeClr val="bg1"/>
            </a:solidFill>
            <a:ln>
              <a:solidFill>
                <a:srgbClr val="C197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5" name="Graphic 44" descr="Boardroom with solid fill">
            <a:extLst>
              <a:ext uri="{FF2B5EF4-FFF2-40B4-BE49-F238E27FC236}">
                <a16:creationId xmlns:a16="http://schemas.microsoft.com/office/drawing/2014/main" id="{A8CAD693-8C48-306F-D86D-084A5F6CA3B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75036" y="7373071"/>
            <a:ext cx="768096" cy="768096"/>
          </a:xfrm>
          <a:prstGeom prst="rect">
            <a:avLst/>
          </a:prstGeom>
        </p:spPr>
      </p:pic>
      <p:sp>
        <p:nvSpPr>
          <p:cNvPr id="47" name="Text 3">
            <a:extLst>
              <a:ext uri="{FF2B5EF4-FFF2-40B4-BE49-F238E27FC236}">
                <a16:creationId xmlns:a16="http://schemas.microsoft.com/office/drawing/2014/main" id="{A5047F38-9910-658E-5934-1364AF83D310}"/>
              </a:ext>
            </a:extLst>
          </p:cNvPr>
          <p:cNvSpPr/>
          <p:nvPr/>
        </p:nvSpPr>
        <p:spPr>
          <a:xfrm>
            <a:off x="6008559" y="7240456"/>
            <a:ext cx="6870228" cy="1124731"/>
          </a:xfrm>
          <a:prstGeom prst="rect">
            <a:avLst/>
          </a:prstGeom>
          <a:noFill/>
          <a:ln/>
        </p:spPr>
        <p:txBody>
          <a:bodyPr wrap="square" lIns="0" tIns="0" rIns="0" bIns="0" rtlCol="0" anchor="ctr"/>
          <a:lstStyle/>
          <a:p>
            <a:pPr defTabSz="1371600">
              <a:lnSpc>
                <a:spcPct val="150000"/>
              </a:lnSpc>
            </a:pPr>
            <a:r>
              <a:rPr lang="en-US" sz="2200" b="1" dirty="0">
                <a:solidFill>
                  <a:srgbClr val="002B11"/>
                </a:solidFill>
                <a:latin typeface="Poppins" panose="00000500000000000000" pitchFamily="2" charset="0"/>
                <a:ea typeface="Calibri" pitchFamily="34" charset="-122"/>
                <a:cs typeface="Poppins" panose="00000500000000000000" pitchFamily="2" charset="0"/>
              </a:rPr>
              <a:t>Escalate to SGS Second Opinion: </a:t>
            </a:r>
            <a:r>
              <a:rPr lang="en-US" sz="2200" dirty="0">
                <a:solidFill>
                  <a:srgbClr val="002B11"/>
                </a:solidFill>
                <a:latin typeface="Poppins" panose="00000500000000000000" pitchFamily="2" charset="0"/>
                <a:ea typeface="Calibri" pitchFamily="34" charset="-122"/>
                <a:cs typeface="Poppins" panose="00000500000000000000" pitchFamily="2" charset="0"/>
              </a:rPr>
              <a:t>If getting a second opinion from your Team leads and QA’s</a:t>
            </a:r>
          </a:p>
        </p:txBody>
      </p:sp>
      <p:sp>
        <p:nvSpPr>
          <p:cNvPr id="10" name="Rectangle: Rounded Corners 9">
            <a:hlinkClick r:id="rId9" action="ppaction://hlinksldjump"/>
            <a:extLst>
              <a:ext uri="{FF2B5EF4-FFF2-40B4-BE49-F238E27FC236}">
                <a16:creationId xmlns:a16="http://schemas.microsoft.com/office/drawing/2014/main" id="{E3394842-F76F-C4CF-22A3-30A2D05134F1}"/>
              </a:ext>
            </a:extLst>
          </p:cNvPr>
          <p:cNvSpPr/>
          <p:nvPr/>
        </p:nvSpPr>
        <p:spPr>
          <a:xfrm>
            <a:off x="14242979" y="7526871"/>
            <a:ext cx="2558274" cy="551900"/>
          </a:xfrm>
          <a:prstGeom prst="roundRect">
            <a:avLst>
              <a:gd name="adj" fmla="val 50000"/>
            </a:avLst>
          </a:prstGeom>
          <a:solidFill>
            <a:schemeClr val="bg1"/>
          </a:solidFill>
          <a:ln w="76200">
            <a:solidFill>
              <a:srgbClr val="C197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r>
              <a:rPr lang="en-US" sz="2200" dirty="0">
                <a:solidFill>
                  <a:srgbClr val="4A4A4A"/>
                </a:solidFill>
                <a:latin typeface="Poppins" panose="00000500000000000000" pitchFamily="2" charset="0"/>
                <a:ea typeface="Calibri" pitchFamily="34" charset="-122"/>
                <a:cs typeface="Poppins" panose="00000500000000000000" pitchFamily="2" charset="0"/>
              </a:rPr>
              <a:t>Sample</a:t>
            </a:r>
            <a:r>
              <a:rPr lang="en-US" sz="2700" dirty="0">
                <a:solidFill>
                  <a:srgbClr val="FFFFFF"/>
                </a:solidFill>
                <a:latin typeface="Calibri" panose="020F0502020204030204"/>
              </a:rPr>
              <a:t> </a:t>
            </a:r>
            <a:r>
              <a:rPr lang="en-US" sz="2200" dirty="0">
                <a:solidFill>
                  <a:srgbClr val="4A4A4A"/>
                </a:solidFill>
                <a:latin typeface="Poppins" panose="00000500000000000000" pitchFamily="2" charset="0"/>
                <a:ea typeface="Calibri" pitchFamily="34" charset="-122"/>
                <a:cs typeface="Poppins" panose="00000500000000000000" pitchFamily="2" charset="0"/>
              </a:rPr>
              <a:t>image</a:t>
            </a:r>
          </a:p>
        </p:txBody>
      </p:sp>
    </p:spTree>
    <p:extLst>
      <p:ext uri="{BB962C8B-B14F-4D97-AF65-F5344CB8AC3E}">
        <p14:creationId xmlns:p14="http://schemas.microsoft.com/office/powerpoint/2010/main" val="2763654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75020FE6-FA66-8C07-BA91-6CDBF7B10111}"/>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E20C2C65-6896-7996-2021-205CE25C6542}"/>
              </a:ext>
            </a:extLst>
          </p:cNvPr>
          <p:cNvSpPr/>
          <p:nvPr/>
        </p:nvSpPr>
        <p:spPr>
          <a:xfrm>
            <a:off x="1013460" y="669385"/>
            <a:ext cx="13716000" cy="960120"/>
          </a:xfrm>
          <a:prstGeom prst="rect">
            <a:avLst/>
          </a:prstGeom>
          <a:noFill/>
          <a:ln/>
        </p:spPr>
        <p:txBody>
          <a:bodyPr wrap="square" lIns="0" tIns="0" rIns="0" bIns="0" rtlCol="0" anchor="ctr"/>
          <a:lstStyle/>
          <a:p>
            <a:pPr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Left-Side Panel – Ticket Fields</a:t>
            </a:r>
          </a:p>
        </p:txBody>
      </p:sp>
      <p:sp>
        <p:nvSpPr>
          <p:cNvPr id="21" name="Text 19">
            <a:extLst>
              <a:ext uri="{FF2B5EF4-FFF2-40B4-BE49-F238E27FC236}">
                <a16:creationId xmlns:a16="http://schemas.microsoft.com/office/drawing/2014/main" id="{10B64690-C470-427F-DFD7-F54F3E4E4ED7}"/>
              </a:ext>
            </a:extLst>
          </p:cNvPr>
          <p:cNvSpPr/>
          <p:nvPr/>
        </p:nvSpPr>
        <p:spPr>
          <a:xfrm>
            <a:off x="685800" y="9738360"/>
            <a:ext cx="10972800" cy="411480"/>
          </a:xfrm>
          <a:prstGeom prst="rect">
            <a:avLst/>
          </a:prstGeom>
          <a:noFill/>
          <a:ln/>
        </p:spPr>
        <p:txBody>
          <a:bodyPr wrap="square" lIns="0" tIns="0" rIns="0" bIns="0" rtlCol="0" anchor="ctr"/>
          <a:lstStyle/>
          <a:p>
            <a:pPr defTabSz="1371600"/>
            <a:r>
              <a:rPr lang="en-US" sz="1200" dirty="0">
                <a:solidFill>
                  <a:srgbClr val="8A8272"/>
                </a:solidFill>
                <a:latin typeface="Poppins" panose="00000500000000000000" pitchFamily="2" charset="0"/>
                <a:ea typeface="Calibri" pitchFamily="34" charset="-122"/>
                <a:cs typeface="Poppins" panose="00000500000000000000" pitchFamily="2" charset="0"/>
              </a:rPr>
              <a:t>Tripadvisor / Fraud support / Interface &amp; navigation</a:t>
            </a:r>
          </a:p>
        </p:txBody>
      </p:sp>
      <p:pic>
        <p:nvPicPr>
          <p:cNvPr id="2" name="Picture 1">
            <a:extLst>
              <a:ext uri="{FF2B5EF4-FFF2-40B4-BE49-F238E27FC236}">
                <a16:creationId xmlns:a16="http://schemas.microsoft.com/office/drawing/2014/main" id="{1AC2D5E5-19DB-1485-F51A-74EB6F93760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2300547"/>
            <a:ext cx="16459200" cy="5685906"/>
          </a:xfrm>
          <a:prstGeom prst="rect">
            <a:avLst/>
          </a:prstGeom>
          <a:noFill/>
          <a:ln>
            <a:noFill/>
          </a:ln>
        </p:spPr>
      </p:pic>
      <p:pic>
        <p:nvPicPr>
          <p:cNvPr id="6" name="Picture 5">
            <a:hlinkClick r:id="rId4" action="ppaction://hlinksldjump"/>
            <a:extLst>
              <a:ext uri="{FF2B5EF4-FFF2-40B4-BE49-F238E27FC236}">
                <a16:creationId xmlns:a16="http://schemas.microsoft.com/office/drawing/2014/main" id="{DD52F8F4-2E3C-B34E-01FE-A6D606B37622}"/>
              </a:ext>
            </a:extLst>
          </p:cNvPr>
          <p:cNvPicPr>
            <a:picLocks noChangeAspect="1"/>
          </p:cNvPicPr>
          <p:nvPr/>
        </p:nvPicPr>
        <p:blipFill>
          <a:blip r:embed="rId5">
            <a:duotone>
              <a:schemeClr val="accent6">
                <a:shade val="45000"/>
                <a:satMod val="135000"/>
              </a:schemeClr>
              <a:prstClr val="white"/>
            </a:duotone>
          </a:blip>
          <a:stretch>
            <a:fillRect/>
          </a:stretch>
        </p:blipFill>
        <p:spPr>
          <a:xfrm>
            <a:off x="14707961" y="8434169"/>
            <a:ext cx="3095625" cy="148816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021810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A4E340A-6015-F260-015A-481ECB354DF0}"/>
            </a:ext>
          </a:extLst>
        </p:cNvPr>
        <p:cNvGrpSpPr/>
        <p:nvPr/>
      </p:nvGrpSpPr>
      <p:grpSpPr>
        <a:xfrm>
          <a:off x="0" y="0"/>
          <a:ext cx="0" cy="0"/>
          <a:chOff x="0" y="0"/>
          <a:chExt cx="0" cy="0"/>
        </a:xfrm>
      </p:grpSpPr>
      <p:sp>
        <p:nvSpPr>
          <p:cNvPr id="66" name="Freeform 4">
            <a:extLst>
              <a:ext uri="{FF2B5EF4-FFF2-40B4-BE49-F238E27FC236}">
                <a16:creationId xmlns:a16="http://schemas.microsoft.com/office/drawing/2014/main" id="{CD230EF1-0DBB-B3D8-2E78-01850652905B}"/>
              </a:ext>
            </a:extLst>
          </p:cNvPr>
          <p:cNvSpPr/>
          <p:nvPr/>
        </p:nvSpPr>
        <p:spPr>
          <a:xfrm rot="13154954">
            <a:off x="11275332" y="-2013761"/>
            <a:ext cx="11435239" cy="5274643"/>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a:extLst>
              <a:ext uri="{FF2B5EF4-FFF2-40B4-BE49-F238E27FC236}">
                <a16:creationId xmlns:a16="http://schemas.microsoft.com/office/drawing/2014/main" id="{337621BE-B37B-9637-8DBB-1753FB05B760}"/>
              </a:ext>
            </a:extLst>
          </p:cNvPr>
          <p:cNvSpPr/>
          <p:nvPr/>
        </p:nvSpPr>
        <p:spPr>
          <a:xfrm>
            <a:off x="685800" y="9738360"/>
            <a:ext cx="10972800" cy="411480"/>
          </a:xfrm>
          <a:prstGeom prst="rect">
            <a:avLst/>
          </a:prstGeom>
          <a:noFill/>
          <a:ln/>
        </p:spPr>
        <p:txBody>
          <a:bodyPr wrap="square" lIns="0" tIns="0" rIns="0" bIns="0" rtlCol="0" anchor="ctr"/>
          <a:lstStyle/>
          <a:p>
            <a:pPr defTabSz="1371600"/>
            <a:r>
              <a:rPr lang="en-US" sz="1200" dirty="0">
                <a:solidFill>
                  <a:srgbClr val="8A8272"/>
                </a:solidFill>
                <a:latin typeface="Poppins" panose="00000500000000000000" pitchFamily="2" charset="0"/>
                <a:ea typeface="Calibri" pitchFamily="34" charset="-122"/>
                <a:cs typeface="Poppins" panose="00000500000000000000" pitchFamily="2" charset="0"/>
              </a:rPr>
              <a:t>Tripadvisor / Fraud support / Ticket status definitions</a:t>
            </a:r>
          </a:p>
        </p:txBody>
      </p:sp>
      <p:sp>
        <p:nvSpPr>
          <p:cNvPr id="3" name="Text 3">
            <a:extLst>
              <a:ext uri="{FF2B5EF4-FFF2-40B4-BE49-F238E27FC236}">
                <a16:creationId xmlns:a16="http://schemas.microsoft.com/office/drawing/2014/main" id="{E10BEBCC-661E-54DF-3511-5AD6A27CA630}"/>
              </a:ext>
            </a:extLst>
          </p:cNvPr>
          <p:cNvSpPr/>
          <p:nvPr/>
        </p:nvSpPr>
        <p:spPr>
          <a:xfrm>
            <a:off x="960120" y="2279832"/>
            <a:ext cx="15087600" cy="548640"/>
          </a:xfrm>
          <a:prstGeom prst="rect">
            <a:avLst/>
          </a:prstGeom>
          <a:noFill/>
          <a:ln/>
        </p:spPr>
        <p:txBody>
          <a:bodyPr wrap="square" lIns="0" tIns="0" rIns="0" bIns="0" rtlCol="0" anchor="ctr"/>
          <a:lstStyle/>
          <a:p>
            <a:pPr defTabSz="1371600"/>
            <a:r>
              <a:rPr lang="en-US" sz="2800" b="1" dirty="0">
                <a:solidFill>
                  <a:srgbClr val="002B11"/>
                </a:solidFill>
                <a:latin typeface="Poppins" panose="00000500000000000000" pitchFamily="2" charset="0"/>
                <a:ea typeface="Calibri" pitchFamily="34" charset="-122"/>
                <a:cs typeface="Poppins" panose="00000500000000000000" pitchFamily="2" charset="0"/>
              </a:rPr>
              <a:t>The Ticket Lifecycle</a:t>
            </a:r>
          </a:p>
        </p:txBody>
      </p:sp>
      <p:sp>
        <p:nvSpPr>
          <p:cNvPr id="52" name="Text 2">
            <a:extLst>
              <a:ext uri="{FF2B5EF4-FFF2-40B4-BE49-F238E27FC236}">
                <a16:creationId xmlns:a16="http://schemas.microsoft.com/office/drawing/2014/main" id="{30895D7E-325F-107C-DBCB-29B838704189}"/>
              </a:ext>
            </a:extLst>
          </p:cNvPr>
          <p:cNvSpPr/>
          <p:nvPr/>
        </p:nvSpPr>
        <p:spPr>
          <a:xfrm>
            <a:off x="883639" y="1087061"/>
            <a:ext cx="13716000" cy="960120"/>
          </a:xfrm>
          <a:prstGeom prst="rect">
            <a:avLst/>
          </a:prstGeom>
          <a:noFill/>
          <a:ln/>
        </p:spPr>
        <p:txBody>
          <a:bodyPr wrap="square" lIns="0" tIns="0" rIns="0" bIns="0" rtlCol="0" anchor="ctr"/>
          <a:lstStyle/>
          <a:p>
            <a:pPr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Ticket Status Definitions</a:t>
            </a:r>
          </a:p>
        </p:txBody>
      </p:sp>
      <p:graphicFrame>
        <p:nvGraphicFramePr>
          <p:cNvPr id="2" name="Diagram 1">
            <a:extLst>
              <a:ext uri="{FF2B5EF4-FFF2-40B4-BE49-F238E27FC236}">
                <a16:creationId xmlns:a16="http://schemas.microsoft.com/office/drawing/2014/main" id="{06D01437-CC27-0F15-FE18-D24D14BA1596}"/>
              </a:ext>
            </a:extLst>
          </p:cNvPr>
          <p:cNvGraphicFramePr/>
          <p:nvPr>
            <p:extLst>
              <p:ext uri="{D42A27DB-BD31-4B8C-83A1-F6EECF244321}">
                <p14:modId xmlns:p14="http://schemas.microsoft.com/office/powerpoint/2010/main" val="1524053354"/>
              </p:ext>
            </p:extLst>
          </p:nvPr>
        </p:nvGraphicFramePr>
        <p:xfrm>
          <a:off x="2133600" y="3061123"/>
          <a:ext cx="13792200" cy="589256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56" name="Graphic 55" descr="Open envelope with solid fill">
            <a:extLst>
              <a:ext uri="{FF2B5EF4-FFF2-40B4-BE49-F238E27FC236}">
                <a16:creationId xmlns:a16="http://schemas.microsoft.com/office/drawing/2014/main" id="{17970A40-89F1-42E5-ECAE-8701D7F488F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284439" y="6209795"/>
            <a:ext cx="914400" cy="914400"/>
          </a:xfrm>
          <a:prstGeom prst="rect">
            <a:avLst/>
          </a:prstGeom>
          <a:ln>
            <a:noFill/>
          </a:ln>
          <a:effectLst/>
          <a:scene3d>
            <a:camera prst="orthographicFront">
              <a:rot lat="0" lon="0" rev="0"/>
            </a:camera>
            <a:lightRig rig="balanced" dir="t">
              <a:rot lat="0" lon="0" rev="8700000"/>
            </a:lightRig>
          </a:scene3d>
          <a:sp3d>
            <a:bevelT w="190500" h="38100"/>
          </a:sp3d>
        </p:spPr>
      </p:pic>
      <p:pic>
        <p:nvPicPr>
          <p:cNvPr id="58" name="Graphic 57" descr="Inbox Check with solid fill">
            <a:extLst>
              <a:ext uri="{FF2B5EF4-FFF2-40B4-BE49-F238E27FC236}">
                <a16:creationId xmlns:a16="http://schemas.microsoft.com/office/drawing/2014/main" id="{2D3A4EE5-7C75-F86B-8475-E891E92863A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106400" y="3431985"/>
            <a:ext cx="914400" cy="914400"/>
          </a:xfrm>
          <a:prstGeom prst="rect">
            <a:avLst/>
          </a:prstGeom>
          <a:effectLst/>
        </p:spPr>
      </p:pic>
      <p:pic>
        <p:nvPicPr>
          <p:cNvPr id="60" name="Graphic 59" descr="Hand with solid fill">
            <a:extLst>
              <a:ext uri="{FF2B5EF4-FFF2-40B4-BE49-F238E27FC236}">
                <a16:creationId xmlns:a16="http://schemas.microsoft.com/office/drawing/2014/main" id="{D2E882F0-C58D-8701-E96C-F6F02ECAFBA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1308080" y="6209795"/>
            <a:ext cx="914400" cy="914400"/>
          </a:xfrm>
          <a:prstGeom prst="rect">
            <a:avLst/>
          </a:prstGeom>
          <a:effectLst/>
        </p:spPr>
      </p:pic>
      <p:pic>
        <p:nvPicPr>
          <p:cNvPr id="62" name="Graphic 61" descr="New with solid fill">
            <a:extLst>
              <a:ext uri="{FF2B5EF4-FFF2-40B4-BE49-F238E27FC236}">
                <a16:creationId xmlns:a16="http://schemas.microsoft.com/office/drawing/2014/main" id="{BC583DE7-717A-29AE-2282-433C29CFFE4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387249" y="3431985"/>
            <a:ext cx="914400" cy="914400"/>
          </a:xfrm>
          <a:prstGeom prst="rect">
            <a:avLst/>
          </a:prstGeom>
          <a:ln>
            <a:noFill/>
          </a:ln>
          <a:effectLst/>
          <a:scene3d>
            <a:camera prst="orthographicFront">
              <a:rot lat="0" lon="0" rev="0"/>
            </a:camera>
            <a:lightRig rig="balanced" dir="t">
              <a:rot lat="0" lon="0" rev="8700000"/>
            </a:lightRig>
          </a:scene3d>
          <a:sp3d>
            <a:bevelT w="190500" h="38100"/>
          </a:sp3d>
        </p:spPr>
      </p:pic>
      <p:pic>
        <p:nvPicPr>
          <p:cNvPr id="64" name="Graphic 63" descr="Stopwatch with solid fill">
            <a:extLst>
              <a:ext uri="{FF2B5EF4-FFF2-40B4-BE49-F238E27FC236}">
                <a16:creationId xmlns:a16="http://schemas.microsoft.com/office/drawing/2014/main" id="{EF2B9076-D472-C6CC-26A4-6903DF0D7B60}"/>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9111343" y="3431985"/>
            <a:ext cx="914400" cy="914400"/>
          </a:xfrm>
          <a:prstGeom prst="rect">
            <a:avLst/>
          </a:prstGeom>
          <a:effectLst/>
        </p:spPr>
      </p:pic>
    </p:spTree>
    <p:extLst>
      <p:ext uri="{BB962C8B-B14F-4D97-AF65-F5344CB8AC3E}">
        <p14:creationId xmlns:p14="http://schemas.microsoft.com/office/powerpoint/2010/main" val="905790864"/>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AutoShape 2"/>
          <p:cNvSpPr/>
          <p:nvPr/>
        </p:nvSpPr>
        <p:spPr>
          <a:xfrm>
            <a:off x="268318" y="8539068"/>
            <a:ext cx="17369329" cy="38197"/>
          </a:xfrm>
          <a:prstGeom prst="line">
            <a:avLst/>
          </a:prstGeom>
          <a:ln w="28575" cap="rnd">
            <a:solidFill>
              <a:srgbClr val="FFFFFF"/>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 name="Group 3"/>
          <p:cNvGrpSpPr/>
          <p:nvPr/>
        </p:nvGrpSpPr>
        <p:grpSpPr>
          <a:xfrm>
            <a:off x="466810" y="568664"/>
            <a:ext cx="949728" cy="605352"/>
            <a:chOff x="0" y="0"/>
            <a:chExt cx="1266304" cy="807136"/>
          </a:xfrm>
        </p:grpSpPr>
        <p:sp>
          <p:nvSpPr>
            <p:cNvPr id="4" name="Freeform 4" descr="ollie_green.png"/>
            <p:cNvSpPr/>
            <p:nvPr/>
          </p:nvSpPr>
          <p:spPr>
            <a:xfrm>
              <a:off x="0" y="0"/>
              <a:ext cx="1266317" cy="807085"/>
            </a:xfrm>
            <a:custGeom>
              <a:avLst/>
              <a:gdLst/>
              <a:ahLst/>
              <a:cxnLst/>
              <a:rect l="l" t="t" r="r" b="b"/>
              <a:pathLst>
                <a:path w="1266317" h="807085">
                  <a:moveTo>
                    <a:pt x="0" y="0"/>
                  </a:moveTo>
                  <a:lnTo>
                    <a:pt x="1266317" y="0"/>
                  </a:lnTo>
                  <a:lnTo>
                    <a:pt x="1266317" y="807085"/>
                  </a:lnTo>
                  <a:lnTo>
                    <a:pt x="0" y="807085"/>
                  </a:lnTo>
                  <a:lnTo>
                    <a:pt x="0" y="0"/>
                  </a:lnTo>
                  <a:close/>
                </a:path>
              </a:pathLst>
            </a:custGeom>
            <a:blipFill>
              <a:blip r:embed="rId2"/>
              <a:stretch>
                <a:fillRect r="1" b="-6"/>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4213521" y="1028700"/>
            <a:ext cx="10075289" cy="6716860"/>
          </a:xfrm>
          <a:custGeom>
            <a:avLst/>
            <a:gdLst/>
            <a:ahLst/>
            <a:cxnLst/>
            <a:rect l="l" t="t" r="r" b="b"/>
            <a:pathLst>
              <a:path w="10075289" h="6716860">
                <a:moveTo>
                  <a:pt x="0" y="0"/>
                </a:moveTo>
                <a:lnTo>
                  <a:pt x="10075289" y="0"/>
                </a:lnTo>
                <a:lnTo>
                  <a:pt x="10075289" y="6716860"/>
                </a:lnTo>
                <a:lnTo>
                  <a:pt x="0" y="6716860"/>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p:cNvSpPr txBox="1"/>
          <p:nvPr/>
        </p:nvSpPr>
        <p:spPr>
          <a:xfrm>
            <a:off x="2522138" y="7162706"/>
            <a:ext cx="12861688" cy="1362075"/>
          </a:xfrm>
          <a:prstGeom prst="rect">
            <a:avLst/>
          </a:prstGeom>
        </p:spPr>
        <p:txBody>
          <a:bodyPr lIns="0" tIns="0" rIns="0" bIns="0" rtlCol="0" anchor="t">
            <a:spAutoFit/>
          </a:bodyPr>
          <a:lstStyle/>
          <a:p>
            <a:pPr marL="0" marR="0" lvl="0" indent="0" algn="l" defTabSz="914400" rtl="0" eaLnBrk="1" fontAlgn="auto" latinLnBrk="0" hangingPunct="1">
              <a:lnSpc>
                <a:spcPts val="10500"/>
              </a:lnSpc>
              <a:spcBef>
                <a:spcPts val="0"/>
              </a:spcBef>
              <a:spcAft>
                <a:spcPts val="0"/>
              </a:spcAft>
              <a:buClrTx/>
              <a:buSzTx/>
              <a:buFontTx/>
              <a:buNone/>
              <a:tabLst/>
              <a:defRPr/>
            </a:pPr>
            <a:r>
              <a:rPr kumimoji="0" lang="en-US" sz="7500" b="1" i="0" u="none" strike="noStrike" kern="1200" cap="none" spc="0" normalizeH="0" baseline="0" noProof="0">
                <a:ln>
                  <a:noFill/>
                </a:ln>
                <a:solidFill>
                  <a:srgbClr val="FFFFFF"/>
                </a:solidFill>
                <a:effectLst/>
                <a:uLnTx/>
                <a:uFillTx/>
                <a:latin typeface="Poppins Bold"/>
                <a:ea typeface="Poppins Bold"/>
                <a:cs typeface="Poppins Bold"/>
                <a:sym typeface="Poppins Bold"/>
              </a:rPr>
              <a:t>02. Communication Notes</a:t>
            </a:r>
          </a:p>
        </p:txBody>
      </p:sp>
      <p:sp>
        <p:nvSpPr>
          <p:cNvPr id="7" name="TextBox 7"/>
          <p:cNvSpPr txBox="1"/>
          <p:nvPr/>
        </p:nvSpPr>
        <p:spPr>
          <a:xfrm>
            <a:off x="2636490" y="8939059"/>
            <a:ext cx="13015020" cy="319241"/>
          </a:xfrm>
          <a:prstGeom prst="rect">
            <a:avLst/>
          </a:prstGeom>
        </p:spPr>
        <p:txBody>
          <a:bodyPr lIns="0" tIns="0" rIns="0" bIns="0" rtlCol="0" anchor="t">
            <a:spAutoFit/>
          </a:bodyPr>
          <a:lstStyle/>
          <a:p>
            <a:pPr marL="0" marR="0" lvl="0" indent="0" algn="ctr" defTabSz="914400" rtl="0" eaLnBrk="1" fontAlgn="auto" latinLnBrk="0" hangingPunct="1">
              <a:lnSpc>
                <a:spcPts val="2375"/>
              </a:lnSpc>
              <a:spcBef>
                <a:spcPct val="0"/>
              </a:spcBef>
              <a:spcAft>
                <a:spcPts val="0"/>
              </a:spcAft>
              <a:buClrTx/>
              <a:buSzTx/>
              <a:buFontTx/>
              <a:buNone/>
              <a:tabLst/>
              <a:defRPr/>
            </a:pPr>
            <a:r>
              <a:rPr kumimoji="0" lang="en-US" sz="2199" b="0" i="0" u="none" strike="noStrike" kern="1200" cap="none" spc="0" normalizeH="0" baseline="0" noProof="0">
                <a:ln>
                  <a:noFill/>
                </a:ln>
                <a:solidFill>
                  <a:srgbClr val="FFFFFF"/>
                </a:solidFill>
                <a:effectLst/>
                <a:uLnTx/>
                <a:uFillTx/>
                <a:latin typeface="Poppins"/>
                <a:ea typeface="Poppins"/>
                <a:cs typeface="Poppins"/>
                <a:sym typeface="Poppins"/>
              </a:rPr>
              <a:t>Learn when to write internally and when to speak to the requester — and how to do both right.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BA350A9-0162-0D3F-522F-C21297F542E9}"/>
            </a:ext>
          </a:extLst>
        </p:cNvPr>
        <p:cNvGrpSpPr/>
        <p:nvPr/>
      </p:nvGrpSpPr>
      <p:grpSpPr>
        <a:xfrm>
          <a:off x="0" y="0"/>
          <a:ext cx="0" cy="0"/>
          <a:chOff x="0" y="0"/>
          <a:chExt cx="0" cy="0"/>
        </a:xfrm>
      </p:grpSpPr>
      <p:sp>
        <p:nvSpPr>
          <p:cNvPr id="21" name="Text 19">
            <a:extLst>
              <a:ext uri="{FF2B5EF4-FFF2-40B4-BE49-F238E27FC236}">
                <a16:creationId xmlns:a16="http://schemas.microsoft.com/office/drawing/2014/main" id="{9583AE72-7173-FD47-DBBF-75B06A5E9E47}"/>
              </a:ext>
            </a:extLst>
          </p:cNvPr>
          <p:cNvSpPr/>
          <p:nvPr/>
        </p:nvSpPr>
        <p:spPr>
          <a:xfrm>
            <a:off x="717395" y="9723998"/>
            <a:ext cx="10972800" cy="411480"/>
          </a:xfrm>
          <a:prstGeom prst="rect">
            <a:avLst/>
          </a:prstGeom>
          <a:noFill/>
          <a:ln/>
        </p:spPr>
        <p:txBody>
          <a:bodyPr wrap="square" lIns="0" tIns="0" rIns="0" bIns="0" rtlCol="0" anchor="ctr"/>
          <a:lstStyle/>
          <a:p>
            <a:pPr defTabSz="1371600"/>
            <a:r>
              <a:rPr lang="en-US" sz="1200" dirty="0">
                <a:solidFill>
                  <a:srgbClr val="8A8272"/>
                </a:solidFill>
                <a:latin typeface="Poppins" panose="00000500000000000000" pitchFamily="2" charset="0"/>
                <a:ea typeface="Calibri" pitchFamily="34" charset="-122"/>
                <a:cs typeface="Poppins" panose="00000500000000000000" pitchFamily="2" charset="0"/>
              </a:rPr>
              <a:t>Tripadvisor / Fraud support / Communication notes</a:t>
            </a:r>
          </a:p>
        </p:txBody>
      </p:sp>
      <p:sp>
        <p:nvSpPr>
          <p:cNvPr id="3" name="Text 3">
            <a:extLst>
              <a:ext uri="{FF2B5EF4-FFF2-40B4-BE49-F238E27FC236}">
                <a16:creationId xmlns:a16="http://schemas.microsoft.com/office/drawing/2014/main" id="{26ECA726-EE92-9B38-C6B5-11A2B4DC84C1}"/>
              </a:ext>
            </a:extLst>
          </p:cNvPr>
          <p:cNvSpPr/>
          <p:nvPr/>
        </p:nvSpPr>
        <p:spPr>
          <a:xfrm>
            <a:off x="717395" y="1459340"/>
            <a:ext cx="7315199" cy="405928"/>
          </a:xfrm>
          <a:prstGeom prst="rect">
            <a:avLst/>
          </a:prstGeom>
          <a:noFill/>
          <a:ln/>
        </p:spPr>
        <p:txBody>
          <a:bodyPr wrap="square" lIns="0" tIns="0" rIns="0" bIns="0" rtlCol="0" anchor="ctr"/>
          <a:lstStyle/>
          <a:p>
            <a:pPr defTabSz="1371600"/>
            <a:r>
              <a:rPr lang="en-US" sz="2800" b="1" dirty="0">
                <a:solidFill>
                  <a:srgbClr val="002B11"/>
                </a:solidFill>
                <a:latin typeface="Poppins" panose="00000500000000000000" pitchFamily="2" charset="0"/>
                <a:ea typeface="Calibri" pitchFamily="34" charset="-122"/>
                <a:cs typeface="Poppins" panose="00000500000000000000" pitchFamily="2" charset="0"/>
              </a:rPr>
              <a:t>Public Reply vs. Internal Note</a:t>
            </a:r>
          </a:p>
        </p:txBody>
      </p:sp>
      <p:sp>
        <p:nvSpPr>
          <p:cNvPr id="53" name="Freeform 4">
            <a:extLst>
              <a:ext uri="{FF2B5EF4-FFF2-40B4-BE49-F238E27FC236}">
                <a16:creationId xmlns:a16="http://schemas.microsoft.com/office/drawing/2014/main" id="{4FF61756-7BBB-3144-7EE1-7C65ED865D06}"/>
              </a:ext>
            </a:extLst>
          </p:cNvPr>
          <p:cNvSpPr/>
          <p:nvPr/>
        </p:nvSpPr>
        <p:spPr>
          <a:xfrm rot="-10800000">
            <a:off x="10969083" y="-516014"/>
            <a:ext cx="7315200" cy="3913632"/>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2" name="Text 2">
            <a:extLst>
              <a:ext uri="{FF2B5EF4-FFF2-40B4-BE49-F238E27FC236}">
                <a16:creationId xmlns:a16="http://schemas.microsoft.com/office/drawing/2014/main" id="{D1CA51EB-FA50-635D-26DF-50249F8181E1}"/>
              </a:ext>
            </a:extLst>
          </p:cNvPr>
          <p:cNvSpPr/>
          <p:nvPr/>
        </p:nvSpPr>
        <p:spPr>
          <a:xfrm>
            <a:off x="685800" y="480682"/>
            <a:ext cx="13716000" cy="960120"/>
          </a:xfrm>
          <a:prstGeom prst="rect">
            <a:avLst/>
          </a:prstGeom>
          <a:noFill/>
          <a:ln/>
        </p:spPr>
        <p:txBody>
          <a:bodyPr wrap="square" lIns="0" tIns="0" rIns="0" bIns="0" rtlCol="0" anchor="ctr"/>
          <a:lstStyle/>
          <a:p>
            <a:pPr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Communication Notes</a:t>
            </a:r>
          </a:p>
        </p:txBody>
      </p:sp>
      <p:grpSp>
        <p:nvGrpSpPr>
          <p:cNvPr id="39" name="Group 38">
            <a:extLst>
              <a:ext uri="{FF2B5EF4-FFF2-40B4-BE49-F238E27FC236}">
                <a16:creationId xmlns:a16="http://schemas.microsoft.com/office/drawing/2014/main" id="{ACA019A6-8196-1E33-536F-E4C6273C28D4}"/>
              </a:ext>
            </a:extLst>
          </p:cNvPr>
          <p:cNvGrpSpPr/>
          <p:nvPr/>
        </p:nvGrpSpPr>
        <p:grpSpPr>
          <a:xfrm>
            <a:off x="1828800" y="2742746"/>
            <a:ext cx="6629400" cy="5693670"/>
            <a:chOff x="8839200" y="2259440"/>
            <a:chExt cx="6629400" cy="6530120"/>
          </a:xfrm>
          <a:effectLst>
            <a:outerShdw blurRad="50800" dist="38100" dir="5400000" algn="t" rotWithShape="0">
              <a:prstClr val="black">
                <a:alpha val="40000"/>
              </a:prstClr>
            </a:outerShdw>
          </a:effectLst>
        </p:grpSpPr>
        <p:sp>
          <p:nvSpPr>
            <p:cNvPr id="36" name="Rectangle 35">
              <a:extLst>
                <a:ext uri="{FF2B5EF4-FFF2-40B4-BE49-F238E27FC236}">
                  <a16:creationId xmlns:a16="http://schemas.microsoft.com/office/drawing/2014/main" id="{CE295B32-CFF6-F671-6161-DB3F0FA86631}"/>
                </a:ext>
              </a:extLst>
            </p:cNvPr>
            <p:cNvSpPr/>
            <p:nvPr/>
          </p:nvSpPr>
          <p:spPr>
            <a:xfrm>
              <a:off x="8915400" y="2362200"/>
              <a:ext cx="6553200" cy="6427360"/>
            </a:xfrm>
            <a:prstGeom prst="rect">
              <a:avLst/>
            </a:prstGeom>
            <a:solidFill>
              <a:srgbClr val="FFED0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0DB266C-3F6C-1123-126D-0B2AD928A40C}"/>
                </a:ext>
              </a:extLst>
            </p:cNvPr>
            <p:cNvSpPr/>
            <p:nvPr/>
          </p:nvSpPr>
          <p:spPr>
            <a:xfrm>
              <a:off x="8839200" y="2259440"/>
              <a:ext cx="6553200" cy="6427360"/>
            </a:xfrm>
            <a:prstGeom prst="rect">
              <a:avLst/>
            </a:prstGeom>
            <a:ln w="28575">
              <a:solidFill>
                <a:srgbClr val="FFED0E"/>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grpSp>
      <p:sp>
        <p:nvSpPr>
          <p:cNvPr id="46" name="TextBox 45">
            <a:extLst>
              <a:ext uri="{FF2B5EF4-FFF2-40B4-BE49-F238E27FC236}">
                <a16:creationId xmlns:a16="http://schemas.microsoft.com/office/drawing/2014/main" id="{4B5DB5FD-1680-6791-F6B6-EBD05AB03477}"/>
              </a:ext>
            </a:extLst>
          </p:cNvPr>
          <p:cNvSpPr txBox="1"/>
          <p:nvPr/>
        </p:nvSpPr>
        <p:spPr>
          <a:xfrm>
            <a:off x="3096322" y="3141201"/>
            <a:ext cx="4527394" cy="520876"/>
          </a:xfrm>
          <a:prstGeom prst="rect">
            <a:avLst/>
          </a:prstGeom>
          <a:noFill/>
        </p:spPr>
        <p:txBody>
          <a:bodyPr wrap="square">
            <a:spAutoFit/>
          </a:bodyPr>
          <a:lstStyle/>
          <a:p>
            <a:pPr lvl="0"/>
            <a:r>
              <a:rPr lang="en-US" sz="2800" b="1" dirty="0">
                <a:solidFill>
                  <a:srgbClr val="002B11"/>
                </a:solidFill>
                <a:latin typeface="Poppins" panose="00000500000000000000" pitchFamily="2" charset="0"/>
                <a:cs typeface="Poppins" panose="00000500000000000000" pitchFamily="2" charset="0"/>
              </a:rPr>
              <a:t>Internal Note (Yellow)</a:t>
            </a:r>
          </a:p>
        </p:txBody>
      </p:sp>
      <p:sp>
        <p:nvSpPr>
          <p:cNvPr id="59" name="TextBox 58">
            <a:extLst>
              <a:ext uri="{FF2B5EF4-FFF2-40B4-BE49-F238E27FC236}">
                <a16:creationId xmlns:a16="http://schemas.microsoft.com/office/drawing/2014/main" id="{679745F4-CDCB-ED49-0A21-A6144499A499}"/>
              </a:ext>
            </a:extLst>
          </p:cNvPr>
          <p:cNvSpPr txBox="1"/>
          <p:nvPr/>
        </p:nvSpPr>
        <p:spPr>
          <a:xfrm>
            <a:off x="2760391" y="3790571"/>
            <a:ext cx="5199256" cy="3717684"/>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Visible only to internal employees</a:t>
            </a:r>
          </a:p>
          <a:p>
            <a:pPr marL="342900" marR="0" lvl="0" indent="-342900" algn="l" defTabSz="977900" rtl="0" eaLnBrk="1" fontAlgn="auto" latinLnBrk="0" hangingPunct="1">
              <a:lnSpc>
                <a:spcPct val="150000"/>
              </a:lnSpc>
              <a:spcBef>
                <a:spcPct val="0"/>
              </a:spcBef>
              <a:spcAft>
                <a:spcPct val="350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hueOff val="0"/>
                    <a:satOff val="0"/>
                    <a:lumOff val="0"/>
                    <a:alphaOff val="0"/>
                  </a:prstClr>
                </a:solidFill>
                <a:effectLst/>
                <a:uLnTx/>
                <a:uFillTx/>
                <a:latin typeface="Poppins" panose="00000500000000000000" pitchFamily="2" charset="0"/>
                <a:ea typeface="+mn-ea"/>
                <a:cs typeface="Poppins" panose="00000500000000000000" pitchFamily="2" charset="0"/>
              </a:rPr>
              <a:t>Used for internal documentation only</a:t>
            </a:r>
          </a:p>
          <a:p>
            <a:pPr marL="342900" indent="-342900" defTabSz="977900">
              <a:lnSpc>
                <a:spcPct val="150000"/>
              </a:lnSpc>
              <a:spcBef>
                <a:spcPct val="0"/>
              </a:spcBef>
              <a:spcAft>
                <a:spcPct val="35000"/>
              </a:spcAft>
              <a:buFont typeface="Arial" panose="020B0604020202020204" pitchFamily="34" charset="0"/>
              <a:buChar char="•"/>
              <a:defRPr/>
            </a:pPr>
            <a:r>
              <a:rPr lang="en-US" sz="2200" dirty="0">
                <a:solidFill>
                  <a:prstClr val="black"/>
                </a:solidFill>
                <a:latin typeface="Poppins" panose="00000500000000000000" pitchFamily="2" charset="0"/>
                <a:cs typeface="Poppins" panose="00000500000000000000" pitchFamily="2" charset="0"/>
              </a:rPr>
              <a:t>Document research, decisions, evidence, and actions during investigation</a:t>
            </a:r>
          </a:p>
        </p:txBody>
      </p:sp>
      <p:grpSp>
        <p:nvGrpSpPr>
          <p:cNvPr id="2" name="Group 1">
            <a:extLst>
              <a:ext uri="{FF2B5EF4-FFF2-40B4-BE49-F238E27FC236}">
                <a16:creationId xmlns:a16="http://schemas.microsoft.com/office/drawing/2014/main" id="{2CF05438-3073-3BF1-8ADD-1144291D3C2B}"/>
              </a:ext>
            </a:extLst>
          </p:cNvPr>
          <p:cNvGrpSpPr/>
          <p:nvPr/>
        </p:nvGrpSpPr>
        <p:grpSpPr>
          <a:xfrm>
            <a:off x="9144000" y="2777129"/>
            <a:ext cx="6629400" cy="5655570"/>
            <a:chOff x="1143000" y="2297540"/>
            <a:chExt cx="6629400" cy="6530120"/>
          </a:xfrm>
          <a:effectLst>
            <a:outerShdw blurRad="50800" dist="38100" dir="5400000" algn="t" rotWithShape="0">
              <a:prstClr val="black">
                <a:alpha val="40000"/>
              </a:prstClr>
            </a:outerShdw>
          </a:effectLst>
        </p:grpSpPr>
        <p:sp>
          <p:nvSpPr>
            <p:cNvPr id="5" name="Rectangle 4">
              <a:extLst>
                <a:ext uri="{FF2B5EF4-FFF2-40B4-BE49-F238E27FC236}">
                  <a16:creationId xmlns:a16="http://schemas.microsoft.com/office/drawing/2014/main" id="{7CF8E72E-E039-88A1-8523-71C5FE6D6004}"/>
                </a:ext>
              </a:extLst>
            </p:cNvPr>
            <p:cNvSpPr/>
            <p:nvPr/>
          </p:nvSpPr>
          <p:spPr>
            <a:xfrm>
              <a:off x="1219200" y="2400300"/>
              <a:ext cx="6553200" cy="6427360"/>
            </a:xfrm>
            <a:prstGeom prst="rect">
              <a:avLst/>
            </a:prstGeom>
            <a:solidFill>
              <a:srgbClr val="F6D5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7DB73A1-4043-C56B-4DFD-498AD4F59B53}"/>
                </a:ext>
              </a:extLst>
            </p:cNvPr>
            <p:cNvSpPr/>
            <p:nvPr/>
          </p:nvSpPr>
          <p:spPr>
            <a:xfrm>
              <a:off x="1143000" y="2297540"/>
              <a:ext cx="6553200" cy="6427360"/>
            </a:xfrm>
            <a:prstGeom prst="rect">
              <a:avLst/>
            </a:prstGeom>
            <a:ln w="28575">
              <a:solidFill>
                <a:srgbClr val="F6D5FF"/>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7" name="TextBox 6">
            <a:extLst>
              <a:ext uri="{FF2B5EF4-FFF2-40B4-BE49-F238E27FC236}">
                <a16:creationId xmlns:a16="http://schemas.microsoft.com/office/drawing/2014/main" id="{68405941-DE45-9E25-B994-734982AE16FB}"/>
              </a:ext>
            </a:extLst>
          </p:cNvPr>
          <p:cNvSpPr txBox="1"/>
          <p:nvPr/>
        </p:nvSpPr>
        <p:spPr>
          <a:xfrm>
            <a:off x="10030522" y="3227614"/>
            <a:ext cx="4876800" cy="483722"/>
          </a:xfrm>
          <a:prstGeom prst="rect">
            <a:avLst/>
          </a:prstGeom>
          <a:noFill/>
        </p:spPr>
        <p:txBody>
          <a:bodyPr wrap="square">
            <a:spAutoFit/>
          </a:bodyPr>
          <a:lstStyle/>
          <a:p>
            <a:pPr marL="0" lvl="0" indent="0" algn="ctr" defTabSz="1244600">
              <a:lnSpc>
                <a:spcPct val="90000"/>
              </a:lnSpc>
              <a:spcBef>
                <a:spcPct val="0"/>
              </a:spcBef>
              <a:spcAft>
                <a:spcPct val="35000"/>
              </a:spcAft>
              <a:buNone/>
            </a:pPr>
            <a:r>
              <a:rPr lang="en-US" sz="2800" b="1" kern="1200" dirty="0">
                <a:solidFill>
                  <a:srgbClr val="002B11"/>
                </a:solidFill>
                <a:latin typeface="Poppins" panose="00000500000000000000" pitchFamily="2" charset="0"/>
                <a:cs typeface="Poppins" panose="00000500000000000000" pitchFamily="2" charset="0"/>
              </a:rPr>
              <a:t>Public Reply (White)</a:t>
            </a:r>
          </a:p>
        </p:txBody>
      </p:sp>
      <p:sp>
        <p:nvSpPr>
          <p:cNvPr id="8" name="TextBox 7">
            <a:extLst>
              <a:ext uri="{FF2B5EF4-FFF2-40B4-BE49-F238E27FC236}">
                <a16:creationId xmlns:a16="http://schemas.microsoft.com/office/drawing/2014/main" id="{A0A11F5B-6285-58F5-B769-B080C5ED8CE8}"/>
              </a:ext>
            </a:extLst>
          </p:cNvPr>
          <p:cNvSpPr txBox="1"/>
          <p:nvPr/>
        </p:nvSpPr>
        <p:spPr>
          <a:xfrm>
            <a:off x="9735944" y="4157426"/>
            <a:ext cx="5459450" cy="2820516"/>
          </a:xfrm>
          <a:prstGeom prst="rect">
            <a:avLst/>
          </a:prstGeom>
          <a:noFill/>
        </p:spPr>
        <p:txBody>
          <a:bodyPr wrap="square">
            <a:spAutoFit/>
          </a:bodyPr>
          <a:lstStyle/>
          <a:p>
            <a:pPr marL="342900" lvl="0" indent="-342900" defTabSz="977900">
              <a:lnSpc>
                <a:spcPct val="150000"/>
              </a:lnSpc>
              <a:spcBef>
                <a:spcPct val="0"/>
              </a:spcBef>
              <a:spcAft>
                <a:spcPct val="35000"/>
              </a:spcAft>
              <a:buFont typeface="Arial" panose="020B0604020202020204" pitchFamily="34" charset="0"/>
              <a:buChar char="•"/>
            </a:pPr>
            <a:r>
              <a:rPr lang="en-US" sz="2200" kern="1200" dirty="0">
                <a:latin typeface="Poppins" panose="00000500000000000000" pitchFamily="2" charset="0"/>
                <a:cs typeface="Poppins" panose="00000500000000000000" pitchFamily="2" charset="0"/>
              </a:rPr>
              <a:t>Communicate directly with the ticket requester</a:t>
            </a:r>
          </a:p>
          <a:p>
            <a:pPr marL="342900" indent="-342900" defTabSz="977900">
              <a:lnSpc>
                <a:spcPct val="150000"/>
              </a:lnSpc>
              <a:spcBef>
                <a:spcPct val="0"/>
              </a:spcBef>
              <a:spcAft>
                <a:spcPct val="35000"/>
              </a:spcAft>
              <a:buFont typeface="Arial" panose="020B0604020202020204" pitchFamily="34" charset="0"/>
              <a:buChar char="•"/>
            </a:pPr>
            <a:r>
              <a:rPr lang="en-US" sz="2200" dirty="0">
                <a:latin typeface="Poppins" panose="00000500000000000000" pitchFamily="2" charset="0"/>
                <a:cs typeface="Poppins" panose="00000500000000000000" pitchFamily="2" charset="0"/>
              </a:rPr>
              <a:t>Visible to the requester</a:t>
            </a:r>
          </a:p>
          <a:p>
            <a:pPr marL="342900" indent="-342900" defTabSz="977900">
              <a:lnSpc>
                <a:spcPct val="150000"/>
              </a:lnSpc>
              <a:spcBef>
                <a:spcPct val="0"/>
              </a:spcBef>
              <a:spcAft>
                <a:spcPct val="35000"/>
              </a:spcAft>
              <a:buFont typeface="Arial" panose="020B0604020202020204" pitchFamily="34" charset="0"/>
              <a:buChar char="•"/>
            </a:pPr>
            <a:r>
              <a:rPr lang="en-US" sz="2200" dirty="0">
                <a:latin typeface="Poppins" panose="00000500000000000000" pitchFamily="2" charset="0"/>
                <a:cs typeface="Poppins" panose="00000500000000000000" pitchFamily="2" charset="0"/>
              </a:rPr>
              <a:t>Review response carefully before sending</a:t>
            </a:r>
          </a:p>
        </p:txBody>
      </p:sp>
      <p:sp>
        <p:nvSpPr>
          <p:cNvPr id="9" name="Rectangle: Rounded Corners 8">
            <a:hlinkClick r:id="rId5" action="ppaction://hlinksldjump"/>
            <a:extLst>
              <a:ext uri="{FF2B5EF4-FFF2-40B4-BE49-F238E27FC236}">
                <a16:creationId xmlns:a16="http://schemas.microsoft.com/office/drawing/2014/main" id="{A1023C38-2A1C-147E-DE94-4B64429246D0}"/>
              </a:ext>
            </a:extLst>
          </p:cNvPr>
          <p:cNvSpPr/>
          <p:nvPr/>
        </p:nvSpPr>
        <p:spPr>
          <a:xfrm>
            <a:off x="5474320" y="7508255"/>
            <a:ext cx="2558274" cy="551900"/>
          </a:xfrm>
          <a:prstGeom prst="roundRect">
            <a:avLst>
              <a:gd name="adj" fmla="val 50000"/>
            </a:avLst>
          </a:prstGeom>
          <a:ln w="28575">
            <a:solidFill>
              <a:srgbClr val="FFED0E"/>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dirty="0">
                <a:solidFill>
                  <a:srgbClr val="4A4A4A"/>
                </a:solidFill>
                <a:latin typeface="Poppins" panose="00000500000000000000" pitchFamily="2" charset="0"/>
                <a:ea typeface="Calibri" pitchFamily="34" charset="-122"/>
                <a:cs typeface="Poppins" panose="00000500000000000000" pitchFamily="2" charset="0"/>
              </a:rPr>
              <a:t>Sample image</a:t>
            </a:r>
          </a:p>
        </p:txBody>
      </p:sp>
      <p:sp>
        <p:nvSpPr>
          <p:cNvPr id="11" name="Rectangle: Rounded Corners 10">
            <a:hlinkClick r:id="rId6" action="ppaction://hlinksldjump"/>
            <a:extLst>
              <a:ext uri="{FF2B5EF4-FFF2-40B4-BE49-F238E27FC236}">
                <a16:creationId xmlns:a16="http://schemas.microsoft.com/office/drawing/2014/main" id="{66670AF9-B93A-63E6-E1A9-1D35ACBDA6BD}"/>
              </a:ext>
            </a:extLst>
          </p:cNvPr>
          <p:cNvSpPr/>
          <p:nvPr/>
        </p:nvSpPr>
        <p:spPr>
          <a:xfrm>
            <a:off x="12718763" y="7508255"/>
            <a:ext cx="2558274" cy="551900"/>
          </a:xfrm>
          <a:prstGeom prst="roundRect">
            <a:avLst>
              <a:gd name="adj" fmla="val 50000"/>
            </a:avLst>
          </a:prstGeom>
          <a:ln w="28575">
            <a:solidFill>
              <a:srgbClr val="E997F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dirty="0">
                <a:solidFill>
                  <a:srgbClr val="4A4A4A"/>
                </a:solidFill>
                <a:latin typeface="Poppins" panose="00000500000000000000" pitchFamily="2" charset="0"/>
                <a:ea typeface="Calibri" pitchFamily="34" charset="-122"/>
                <a:cs typeface="Poppins" panose="00000500000000000000" pitchFamily="2" charset="0"/>
              </a:rPr>
              <a:t>Sample image</a:t>
            </a:r>
          </a:p>
        </p:txBody>
      </p:sp>
    </p:spTree>
    <p:extLst>
      <p:ext uri="{BB962C8B-B14F-4D97-AF65-F5344CB8AC3E}">
        <p14:creationId xmlns:p14="http://schemas.microsoft.com/office/powerpoint/2010/main" val="3888768871"/>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D7A43A70-6E37-46FC-0A99-CE7D85FEAAB8}"/>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49A0BC77-E51D-76BC-F66D-2305963D7408}"/>
              </a:ext>
            </a:extLst>
          </p:cNvPr>
          <p:cNvSpPr/>
          <p:nvPr/>
        </p:nvSpPr>
        <p:spPr>
          <a:xfrm>
            <a:off x="1013460" y="669385"/>
            <a:ext cx="13716000" cy="960120"/>
          </a:xfrm>
          <a:prstGeom prst="rect">
            <a:avLst/>
          </a:prstGeom>
          <a:noFill/>
          <a:ln/>
        </p:spPr>
        <p:txBody>
          <a:bodyPr wrap="square" lIns="0" tIns="0" rIns="0" bIns="0" rtlCol="0" anchor="ctr"/>
          <a:lstStyle/>
          <a:p>
            <a:pPr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Internal Note</a:t>
            </a:r>
          </a:p>
        </p:txBody>
      </p:sp>
      <p:sp>
        <p:nvSpPr>
          <p:cNvPr id="21" name="Text 19">
            <a:extLst>
              <a:ext uri="{FF2B5EF4-FFF2-40B4-BE49-F238E27FC236}">
                <a16:creationId xmlns:a16="http://schemas.microsoft.com/office/drawing/2014/main" id="{668080AF-86B6-49C6-2AFF-753311F134EF}"/>
              </a:ext>
            </a:extLst>
          </p:cNvPr>
          <p:cNvSpPr/>
          <p:nvPr/>
        </p:nvSpPr>
        <p:spPr>
          <a:xfrm>
            <a:off x="685800" y="9738360"/>
            <a:ext cx="10972800" cy="411480"/>
          </a:xfrm>
          <a:prstGeom prst="rect">
            <a:avLst/>
          </a:prstGeom>
          <a:noFill/>
          <a:ln/>
        </p:spPr>
        <p:txBody>
          <a:bodyPr wrap="square" lIns="0" tIns="0" rIns="0" bIns="0" rtlCol="0" anchor="ctr"/>
          <a:lstStyle/>
          <a:p>
            <a:pPr defTabSz="1371600"/>
            <a:r>
              <a:rPr lang="en-US" sz="1200" dirty="0">
                <a:solidFill>
                  <a:srgbClr val="8A8272"/>
                </a:solidFill>
                <a:latin typeface="Poppins" panose="00000500000000000000" pitchFamily="2" charset="0"/>
                <a:ea typeface="Calibri" pitchFamily="34" charset="-122"/>
                <a:cs typeface="Poppins" panose="00000500000000000000" pitchFamily="2" charset="0"/>
              </a:rPr>
              <a:t>Tripadvisor / Fraud support / Interface &amp; navigation</a:t>
            </a:r>
          </a:p>
        </p:txBody>
      </p:sp>
      <p:pic>
        <p:nvPicPr>
          <p:cNvPr id="3" name="Picture 2">
            <a:extLst>
              <a:ext uri="{FF2B5EF4-FFF2-40B4-BE49-F238E27FC236}">
                <a16:creationId xmlns:a16="http://schemas.microsoft.com/office/drawing/2014/main" id="{1B5E761E-562F-7F7D-8481-DCDFBF7E3E2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2171700"/>
            <a:ext cx="16459200" cy="5943600"/>
          </a:xfrm>
          <a:prstGeom prst="rect">
            <a:avLst/>
          </a:prstGeom>
          <a:noFill/>
          <a:ln>
            <a:noFill/>
          </a:ln>
        </p:spPr>
      </p:pic>
      <p:pic>
        <p:nvPicPr>
          <p:cNvPr id="8" name="Picture 7">
            <a:hlinkClick r:id="rId4" action="ppaction://hlinksldjump"/>
            <a:extLst>
              <a:ext uri="{FF2B5EF4-FFF2-40B4-BE49-F238E27FC236}">
                <a16:creationId xmlns:a16="http://schemas.microsoft.com/office/drawing/2014/main" id="{82E8F9F3-756A-A84F-4B5A-B37CBFF8D4B2}"/>
              </a:ext>
            </a:extLst>
          </p:cNvPr>
          <p:cNvPicPr>
            <a:picLocks noChangeAspect="1"/>
          </p:cNvPicPr>
          <p:nvPr/>
        </p:nvPicPr>
        <p:blipFill>
          <a:blip r:embed="rId5">
            <a:duotone>
              <a:schemeClr val="accent6">
                <a:shade val="45000"/>
                <a:satMod val="135000"/>
              </a:schemeClr>
              <a:prstClr val="white"/>
            </a:duotone>
          </a:blip>
          <a:stretch>
            <a:fillRect/>
          </a:stretch>
        </p:blipFill>
        <p:spPr>
          <a:xfrm>
            <a:off x="14707961" y="8434169"/>
            <a:ext cx="3095625" cy="148816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415829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703FAAA6-A8A6-3BB2-97BD-FA35C84A151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9EFCB495-051E-9683-49E2-39ED4AD9894B}"/>
              </a:ext>
            </a:extLst>
          </p:cNvPr>
          <p:cNvSpPr/>
          <p:nvPr/>
        </p:nvSpPr>
        <p:spPr>
          <a:xfrm>
            <a:off x="1013460" y="669385"/>
            <a:ext cx="13716000" cy="960120"/>
          </a:xfrm>
          <a:prstGeom prst="rect">
            <a:avLst/>
          </a:prstGeom>
          <a:noFill/>
          <a:ln/>
        </p:spPr>
        <p:txBody>
          <a:bodyPr wrap="square" lIns="0" tIns="0" rIns="0" bIns="0" rtlCol="0" anchor="ctr"/>
          <a:lstStyle/>
          <a:p>
            <a:pPr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Public Reply</a:t>
            </a:r>
          </a:p>
        </p:txBody>
      </p:sp>
      <p:sp>
        <p:nvSpPr>
          <p:cNvPr id="21" name="Text 19">
            <a:extLst>
              <a:ext uri="{FF2B5EF4-FFF2-40B4-BE49-F238E27FC236}">
                <a16:creationId xmlns:a16="http://schemas.microsoft.com/office/drawing/2014/main" id="{8E6486D4-0A67-E8A7-E9C1-DD280893D6F9}"/>
              </a:ext>
            </a:extLst>
          </p:cNvPr>
          <p:cNvSpPr/>
          <p:nvPr/>
        </p:nvSpPr>
        <p:spPr>
          <a:xfrm>
            <a:off x="685800" y="9738360"/>
            <a:ext cx="10972800" cy="411480"/>
          </a:xfrm>
          <a:prstGeom prst="rect">
            <a:avLst/>
          </a:prstGeom>
          <a:noFill/>
          <a:ln/>
        </p:spPr>
        <p:txBody>
          <a:bodyPr wrap="square" lIns="0" tIns="0" rIns="0" bIns="0" rtlCol="0" anchor="ctr"/>
          <a:lstStyle/>
          <a:p>
            <a:pPr defTabSz="1371600"/>
            <a:r>
              <a:rPr lang="en-US" sz="1200" dirty="0">
                <a:solidFill>
                  <a:srgbClr val="8A8272"/>
                </a:solidFill>
                <a:latin typeface="Poppins" panose="00000500000000000000" pitchFamily="2" charset="0"/>
                <a:ea typeface="Calibri" pitchFamily="34" charset="-122"/>
                <a:cs typeface="Poppins" panose="00000500000000000000" pitchFamily="2" charset="0"/>
              </a:rPr>
              <a:t>Tripadvisor / Fraud support / Interface &amp; navigation</a:t>
            </a:r>
          </a:p>
        </p:txBody>
      </p:sp>
      <p:pic>
        <p:nvPicPr>
          <p:cNvPr id="2" name="Picture 1">
            <a:extLst>
              <a:ext uri="{FF2B5EF4-FFF2-40B4-BE49-F238E27FC236}">
                <a16:creationId xmlns:a16="http://schemas.microsoft.com/office/drawing/2014/main" id="{398C1DD8-6C1D-C3AD-B686-DC3CA3F9E81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01963" y="2171700"/>
            <a:ext cx="16284074" cy="5943600"/>
          </a:xfrm>
          <a:prstGeom prst="rect">
            <a:avLst/>
          </a:prstGeom>
          <a:noFill/>
          <a:ln>
            <a:noFill/>
          </a:ln>
        </p:spPr>
      </p:pic>
      <p:pic>
        <p:nvPicPr>
          <p:cNvPr id="6" name="Picture 5">
            <a:hlinkClick r:id="rId4" action="ppaction://hlinksldjump"/>
            <a:extLst>
              <a:ext uri="{FF2B5EF4-FFF2-40B4-BE49-F238E27FC236}">
                <a16:creationId xmlns:a16="http://schemas.microsoft.com/office/drawing/2014/main" id="{7B76829F-3694-85B3-529E-A84A72BE1831}"/>
              </a:ext>
            </a:extLst>
          </p:cNvPr>
          <p:cNvPicPr>
            <a:picLocks noChangeAspect="1"/>
          </p:cNvPicPr>
          <p:nvPr/>
        </p:nvPicPr>
        <p:blipFill>
          <a:blip r:embed="rId5">
            <a:duotone>
              <a:schemeClr val="accent6">
                <a:shade val="45000"/>
                <a:satMod val="135000"/>
              </a:schemeClr>
              <a:prstClr val="white"/>
            </a:duotone>
          </a:blip>
          <a:stretch>
            <a:fillRect/>
          </a:stretch>
        </p:blipFill>
        <p:spPr>
          <a:xfrm>
            <a:off x="14707961" y="8434169"/>
            <a:ext cx="3095625" cy="148816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082869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Freeform 4">
            <a:extLst>
              <a:ext uri="{FF2B5EF4-FFF2-40B4-BE49-F238E27FC236}">
                <a16:creationId xmlns:a16="http://schemas.microsoft.com/office/drawing/2014/main" id="{D8BB1171-F1B5-E79B-4ED7-58623D9E0B30}"/>
              </a:ext>
            </a:extLst>
          </p:cNvPr>
          <p:cNvSpPr/>
          <p:nvPr/>
        </p:nvSpPr>
        <p:spPr>
          <a:xfrm rot="10800000">
            <a:off x="13106400" y="-1179285"/>
            <a:ext cx="7315200" cy="3913632"/>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754098" y="1845635"/>
            <a:ext cx="7217487" cy="1016270"/>
            <a:chOff x="0" y="0"/>
            <a:chExt cx="4960703" cy="698500"/>
          </a:xfrm>
          <a:effectLst>
            <a:outerShdw blurRad="50800" dist="38100" dir="5400000" algn="t" rotWithShape="0">
              <a:prstClr val="black">
                <a:alpha val="40000"/>
              </a:prstClr>
            </a:outerShdw>
          </a:effectLst>
        </p:grpSpPr>
        <p:sp>
          <p:nvSpPr>
            <p:cNvPr id="4" name="Freeform 4"/>
            <p:cNvSpPr/>
            <p:nvPr/>
          </p:nvSpPr>
          <p:spPr>
            <a:xfrm>
              <a:off x="0" y="0"/>
              <a:ext cx="4960703" cy="698500"/>
            </a:xfrm>
            <a:custGeom>
              <a:avLst/>
              <a:gdLst/>
              <a:ahLst/>
              <a:cxnLst/>
              <a:rect l="l" t="t" r="r" b="b"/>
              <a:pathLst>
                <a:path w="4960703" h="698500">
                  <a:moveTo>
                    <a:pt x="4960703" y="349250"/>
                  </a:moveTo>
                  <a:lnTo>
                    <a:pt x="4757503" y="698500"/>
                  </a:lnTo>
                  <a:lnTo>
                    <a:pt x="203200" y="698500"/>
                  </a:lnTo>
                  <a:lnTo>
                    <a:pt x="0" y="349250"/>
                  </a:lnTo>
                  <a:lnTo>
                    <a:pt x="203200" y="0"/>
                  </a:lnTo>
                  <a:lnTo>
                    <a:pt x="4757503" y="0"/>
                  </a:lnTo>
                  <a:lnTo>
                    <a:pt x="4960703" y="34925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p:cNvSpPr txBox="1"/>
            <p:nvPr/>
          </p:nvSpPr>
          <p:spPr>
            <a:xfrm>
              <a:off x="114300" y="-57150"/>
              <a:ext cx="4732103" cy="75565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8971585" y="1845635"/>
            <a:ext cx="7217487" cy="1016270"/>
            <a:chOff x="0" y="0"/>
            <a:chExt cx="4960703" cy="698500"/>
          </a:xfrm>
          <a:effectLst>
            <a:outerShdw blurRad="50800" dist="38100" dir="5400000" algn="t" rotWithShape="0">
              <a:prstClr val="black">
                <a:alpha val="40000"/>
              </a:prstClr>
            </a:outerShdw>
          </a:effectLst>
        </p:grpSpPr>
        <p:sp>
          <p:nvSpPr>
            <p:cNvPr id="7" name="Freeform 7"/>
            <p:cNvSpPr/>
            <p:nvPr/>
          </p:nvSpPr>
          <p:spPr>
            <a:xfrm>
              <a:off x="0" y="0"/>
              <a:ext cx="4960703" cy="698500"/>
            </a:xfrm>
            <a:custGeom>
              <a:avLst/>
              <a:gdLst/>
              <a:ahLst/>
              <a:cxnLst/>
              <a:rect l="l" t="t" r="r" b="b"/>
              <a:pathLst>
                <a:path w="4960703" h="698500">
                  <a:moveTo>
                    <a:pt x="4960703" y="349250"/>
                  </a:moveTo>
                  <a:lnTo>
                    <a:pt x="4757503" y="698500"/>
                  </a:lnTo>
                  <a:lnTo>
                    <a:pt x="203200" y="698500"/>
                  </a:lnTo>
                  <a:lnTo>
                    <a:pt x="0" y="349250"/>
                  </a:lnTo>
                  <a:lnTo>
                    <a:pt x="203200" y="0"/>
                  </a:lnTo>
                  <a:lnTo>
                    <a:pt x="4757503" y="0"/>
                  </a:lnTo>
                  <a:lnTo>
                    <a:pt x="4960703" y="349250"/>
                  </a:lnTo>
                  <a:close/>
                </a:path>
              </a:pathLst>
            </a:custGeom>
            <a:solidFill>
              <a:srgbClr val="FD433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8"/>
            <p:cNvSpPr txBox="1"/>
            <p:nvPr/>
          </p:nvSpPr>
          <p:spPr>
            <a:xfrm>
              <a:off x="114300" y="-57150"/>
              <a:ext cx="4732103" cy="75565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Freeform 9"/>
          <p:cNvSpPr/>
          <p:nvPr/>
        </p:nvSpPr>
        <p:spPr>
          <a:xfrm>
            <a:off x="13828919" y="1622591"/>
            <a:ext cx="1701625" cy="1701625"/>
          </a:xfrm>
          <a:custGeom>
            <a:avLst/>
            <a:gdLst/>
            <a:ahLst/>
            <a:cxnLst/>
            <a:rect l="l" t="t" r="r" b="b"/>
            <a:pathLst>
              <a:path w="1701625" h="1701625">
                <a:moveTo>
                  <a:pt x="0" y="0"/>
                </a:moveTo>
                <a:lnTo>
                  <a:pt x="1701625" y="0"/>
                </a:lnTo>
                <a:lnTo>
                  <a:pt x="1701625" y="1701626"/>
                </a:lnTo>
                <a:lnTo>
                  <a:pt x="0" y="1701626"/>
                </a:lnTo>
                <a:lnTo>
                  <a:pt x="0" y="0"/>
                </a:lnTo>
                <a:close/>
              </a:path>
            </a:pathLst>
          </a:custGeom>
          <a:blipFill>
            <a:blip>
              <a:alphaModFix amt="37000"/>
              <a:extLst>
                <a:ext uri="{96DAC541-7B7A-43D3-8B79-37D633B846F1}">
                  <asvg:svgBlip xmlns:asvg="http://schemas.microsoft.com/office/drawing/2016/SVG/main" r:embed="rId4"/>
                </a:ext>
              </a:extLst>
            </a:blip>
            <a:stretch>
              <a:fillRect/>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p:cNvGrpSpPr/>
          <p:nvPr/>
        </p:nvGrpSpPr>
        <p:grpSpPr>
          <a:xfrm>
            <a:off x="13828919" y="1622591"/>
            <a:ext cx="1462357" cy="1462357"/>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23825" cap="sq">
              <a:solidFill>
                <a:srgbClr val="FD433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279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p:cNvSpPr/>
          <p:nvPr/>
        </p:nvSpPr>
        <p:spPr>
          <a:xfrm>
            <a:off x="2680336" y="1622591"/>
            <a:ext cx="1701625" cy="1701625"/>
          </a:xfrm>
          <a:custGeom>
            <a:avLst/>
            <a:gdLst/>
            <a:ahLst/>
            <a:cxnLst/>
            <a:rect l="l" t="t" r="r" b="b"/>
            <a:pathLst>
              <a:path w="1701625" h="1701625">
                <a:moveTo>
                  <a:pt x="0" y="0"/>
                </a:moveTo>
                <a:lnTo>
                  <a:pt x="1701625" y="0"/>
                </a:lnTo>
                <a:lnTo>
                  <a:pt x="1701625" y="1701626"/>
                </a:lnTo>
                <a:lnTo>
                  <a:pt x="0" y="1701626"/>
                </a:lnTo>
                <a:lnTo>
                  <a:pt x="0" y="0"/>
                </a:lnTo>
                <a:close/>
              </a:path>
            </a:pathLst>
          </a:custGeom>
          <a:blipFill>
            <a:blip>
              <a:alphaModFix amt="37000"/>
              <a:extLst>
                <a:ext uri="{96DAC541-7B7A-43D3-8B79-37D633B846F1}">
                  <asvg:svgBlip xmlns:asvg="http://schemas.microsoft.com/office/drawing/2016/SVG/main" r:embed="rId5"/>
                </a:ext>
              </a:extLst>
            </a:blip>
            <a:stretch>
              <a:fillRect/>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4" name="Group 14"/>
          <p:cNvGrpSpPr/>
          <p:nvPr/>
        </p:nvGrpSpPr>
        <p:grpSpPr>
          <a:xfrm>
            <a:off x="2680336" y="1622591"/>
            <a:ext cx="1462357" cy="146235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23825"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279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7" name="AutoShape 17"/>
          <p:cNvSpPr/>
          <p:nvPr/>
        </p:nvSpPr>
        <p:spPr>
          <a:xfrm>
            <a:off x="8971585" y="2353770"/>
            <a:ext cx="0" cy="4500986"/>
          </a:xfrm>
          <a:prstGeom prst="line">
            <a:avLst/>
          </a:prstGeom>
          <a:ln w="38100" cap="flat">
            <a:solidFill>
              <a:srgbClr val="000000">
                <a:alpha val="29804"/>
              </a:srgbClr>
            </a:solidFill>
            <a:prstDash val="sysDash"/>
            <a:headEnd type="none" w="sm" len="sm"/>
            <a:tailEnd type="oval" w="lg" len="lg"/>
          </a:ln>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8" name="Group 18"/>
          <p:cNvGrpSpPr/>
          <p:nvPr/>
        </p:nvGrpSpPr>
        <p:grpSpPr>
          <a:xfrm>
            <a:off x="2519849" y="3182773"/>
            <a:ext cx="1063405" cy="1063405"/>
            <a:chOff x="0" y="0"/>
            <a:chExt cx="812800" cy="812800"/>
          </a:xfrm>
          <a:effectLst>
            <a:outerShdw blurRad="50800" dist="38100" dir="5400000" algn="t" rotWithShape="0">
              <a:prstClr val="black">
                <a:alpha val="40000"/>
              </a:prstClr>
            </a:outerShdw>
          </a:effectLst>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Box 20"/>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r>
                <a:rPr kumimoji="0" lang="en-US" sz="2199" b="1" i="0" u="none" strike="noStrike" kern="1200" cap="none" spc="0" normalizeH="0" baseline="0" noProof="0" dirty="0">
                  <a:ln>
                    <a:noFill/>
                  </a:ln>
                  <a:solidFill>
                    <a:srgbClr val="FFFFFF"/>
                  </a:solidFill>
                  <a:effectLst/>
                  <a:uLnTx/>
                  <a:uFillTx/>
                  <a:latin typeface="Poppins Bold"/>
                  <a:ea typeface="Poppins Bold"/>
                  <a:cs typeface="Poppins Bold"/>
                  <a:sym typeface="Poppins Bold"/>
                </a:rPr>
                <a:t>01</a:t>
              </a:r>
            </a:p>
          </p:txBody>
        </p:sp>
      </p:grpSp>
      <p:grpSp>
        <p:nvGrpSpPr>
          <p:cNvPr id="21" name="Group 21"/>
          <p:cNvGrpSpPr/>
          <p:nvPr/>
        </p:nvGrpSpPr>
        <p:grpSpPr>
          <a:xfrm>
            <a:off x="14311044" y="3147694"/>
            <a:ext cx="1073162" cy="1073162"/>
            <a:chOff x="0" y="0"/>
            <a:chExt cx="812800" cy="812800"/>
          </a:xfrm>
          <a:effectLst>
            <a:outerShdw blurRad="50800" dist="38100" dir="5400000" algn="t" rotWithShape="0">
              <a:prstClr val="black">
                <a:alpha val="40000"/>
              </a:prstClr>
            </a:outerShdw>
          </a:effectLst>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433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Box 23"/>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r>
                <a:rPr kumimoji="0" lang="en-US" sz="2199" b="1" i="0" u="none" strike="noStrike" kern="1200" cap="none" spc="0" normalizeH="0" baseline="0" noProof="0">
                  <a:ln>
                    <a:noFill/>
                  </a:ln>
                  <a:solidFill>
                    <a:srgbClr val="FFFFFF"/>
                  </a:solidFill>
                  <a:effectLst/>
                  <a:uLnTx/>
                  <a:uFillTx/>
                  <a:latin typeface="Poppins Bold"/>
                  <a:ea typeface="Poppins Bold"/>
                  <a:cs typeface="Poppins Bold"/>
                  <a:sym typeface="Poppins Bold"/>
                </a:rPr>
                <a:t>01</a:t>
              </a:r>
            </a:p>
          </p:txBody>
        </p:sp>
      </p:grpSp>
      <p:grpSp>
        <p:nvGrpSpPr>
          <p:cNvPr id="24" name="Group 24"/>
          <p:cNvGrpSpPr/>
          <p:nvPr/>
        </p:nvGrpSpPr>
        <p:grpSpPr>
          <a:xfrm>
            <a:off x="2519849" y="4562662"/>
            <a:ext cx="1063405" cy="1063405"/>
            <a:chOff x="0" y="0"/>
            <a:chExt cx="812800" cy="812800"/>
          </a:xfrm>
          <a:effectLst>
            <a:outerShdw blurRad="50800" dist="38100" dir="5400000" algn="t" rotWithShape="0">
              <a:prstClr val="black">
                <a:alpha val="40000"/>
              </a:prstClr>
            </a:outerShdw>
          </a:effectLst>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Box 26"/>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r>
                <a:rPr kumimoji="0" lang="en-US" sz="2199" b="1" i="0" u="none" strike="noStrike" kern="1200" cap="none" spc="0" normalizeH="0" baseline="0" noProof="0">
                  <a:ln>
                    <a:noFill/>
                  </a:ln>
                  <a:solidFill>
                    <a:srgbClr val="FFFFFF"/>
                  </a:solidFill>
                  <a:effectLst/>
                  <a:uLnTx/>
                  <a:uFillTx/>
                  <a:latin typeface="Poppins Bold"/>
                  <a:ea typeface="Poppins Bold"/>
                  <a:cs typeface="Poppins Bold"/>
                  <a:sym typeface="Poppins Bold"/>
                </a:rPr>
                <a:t>02</a:t>
              </a:r>
            </a:p>
          </p:txBody>
        </p:sp>
      </p:grpSp>
      <p:grpSp>
        <p:nvGrpSpPr>
          <p:cNvPr id="30" name="Group 30"/>
          <p:cNvGrpSpPr/>
          <p:nvPr/>
        </p:nvGrpSpPr>
        <p:grpSpPr>
          <a:xfrm>
            <a:off x="2519849" y="5942551"/>
            <a:ext cx="1063405" cy="1063405"/>
            <a:chOff x="0" y="0"/>
            <a:chExt cx="812800" cy="812800"/>
          </a:xfrm>
          <a:effectLst>
            <a:outerShdw blurRad="50800" dist="38100" dir="5400000" algn="t" rotWithShape="0">
              <a:prstClr val="black">
                <a:alpha val="40000"/>
              </a:prstClr>
            </a:outerShdw>
          </a:effectLst>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Box 32"/>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r>
                <a:rPr kumimoji="0" lang="en-US" sz="2199" b="1" i="0" u="none" strike="noStrike" kern="1200" cap="none" spc="0" normalizeH="0" baseline="0" noProof="0">
                  <a:ln>
                    <a:noFill/>
                  </a:ln>
                  <a:solidFill>
                    <a:srgbClr val="FFFFFF"/>
                  </a:solidFill>
                  <a:effectLst/>
                  <a:uLnTx/>
                  <a:uFillTx/>
                  <a:latin typeface="Poppins Bold"/>
                  <a:ea typeface="Poppins Bold"/>
                  <a:cs typeface="Poppins Bold"/>
                  <a:sym typeface="Poppins Bold"/>
                </a:rPr>
                <a:t>03</a:t>
              </a:r>
            </a:p>
          </p:txBody>
        </p:sp>
      </p:grpSp>
      <p:grpSp>
        <p:nvGrpSpPr>
          <p:cNvPr id="33" name="Group 33"/>
          <p:cNvGrpSpPr/>
          <p:nvPr/>
        </p:nvGrpSpPr>
        <p:grpSpPr>
          <a:xfrm>
            <a:off x="14311044" y="5932794"/>
            <a:ext cx="1073162" cy="1073162"/>
            <a:chOff x="0" y="0"/>
            <a:chExt cx="812800" cy="812800"/>
          </a:xfrm>
          <a:effectLst>
            <a:outerShdw blurRad="50800" dist="38100" dir="5400000" algn="t" rotWithShape="0">
              <a:prstClr val="black">
                <a:alpha val="40000"/>
              </a:prstClr>
            </a:outerShdw>
          </a:effectLst>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433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Box 35"/>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r>
                <a:rPr kumimoji="0" lang="en-US" sz="2199" b="1" i="0" u="none" strike="noStrike" kern="1200" cap="none" spc="0" normalizeH="0" baseline="0" noProof="0">
                  <a:ln>
                    <a:noFill/>
                  </a:ln>
                  <a:solidFill>
                    <a:srgbClr val="FFFFFF"/>
                  </a:solidFill>
                  <a:effectLst/>
                  <a:uLnTx/>
                  <a:uFillTx/>
                  <a:latin typeface="Poppins Bold"/>
                  <a:ea typeface="Poppins Bold"/>
                  <a:cs typeface="Poppins Bold"/>
                  <a:sym typeface="Poppins Bold"/>
                </a:rPr>
                <a:t>03</a:t>
              </a:r>
            </a:p>
          </p:txBody>
        </p:sp>
      </p:grpSp>
      <p:sp>
        <p:nvSpPr>
          <p:cNvPr id="36" name="Freeform 36"/>
          <p:cNvSpPr/>
          <p:nvPr/>
        </p:nvSpPr>
        <p:spPr>
          <a:xfrm>
            <a:off x="15384205" y="3684275"/>
            <a:ext cx="1190760" cy="2785100"/>
          </a:xfrm>
          <a:custGeom>
            <a:avLst/>
            <a:gdLst/>
            <a:ahLst/>
            <a:cxnLst/>
            <a:rect l="l" t="t" r="r" b="b"/>
            <a:pathLst>
              <a:path w="1190760" h="2785100">
                <a:moveTo>
                  <a:pt x="0" y="0"/>
                </a:moveTo>
                <a:lnTo>
                  <a:pt x="895485" y="0"/>
                </a:lnTo>
                <a:cubicBezTo>
                  <a:pt x="973797" y="0"/>
                  <a:pt x="1048900" y="31109"/>
                  <a:pt x="1104275" y="86484"/>
                </a:cubicBezTo>
                <a:cubicBezTo>
                  <a:pt x="1159650" y="141859"/>
                  <a:pt x="1190760" y="216963"/>
                  <a:pt x="1190760" y="295275"/>
                </a:cubicBezTo>
                <a:lnTo>
                  <a:pt x="1190760" y="2489825"/>
                </a:lnTo>
                <a:cubicBezTo>
                  <a:pt x="1190760" y="2652901"/>
                  <a:pt x="1058560" y="2785100"/>
                  <a:pt x="895485" y="2785100"/>
                </a:cubicBezTo>
                <a:lnTo>
                  <a:pt x="0" y="2785100"/>
                </a:lnTo>
              </a:path>
            </a:pathLst>
          </a:custGeom>
          <a:ln w="47625" cap="flat">
            <a:solidFill>
              <a:srgbClr val="000000">
                <a:alpha val="29804"/>
              </a:srgbClr>
            </a:solidFill>
            <a:prstDash val="sysDash"/>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Freeform 37"/>
          <p:cNvSpPr/>
          <p:nvPr/>
        </p:nvSpPr>
        <p:spPr>
          <a:xfrm>
            <a:off x="1280335" y="3714476"/>
            <a:ext cx="1239514" cy="2759778"/>
          </a:xfrm>
          <a:custGeom>
            <a:avLst/>
            <a:gdLst/>
            <a:ahLst/>
            <a:cxnLst/>
            <a:rect l="l" t="t" r="r" b="b"/>
            <a:pathLst>
              <a:path w="1239514" h="2759778">
                <a:moveTo>
                  <a:pt x="1239514" y="0"/>
                </a:moveTo>
                <a:lnTo>
                  <a:pt x="295275" y="0"/>
                </a:lnTo>
                <a:cubicBezTo>
                  <a:pt x="132199" y="0"/>
                  <a:pt x="0" y="132199"/>
                  <a:pt x="0" y="295275"/>
                </a:cubicBezTo>
                <a:lnTo>
                  <a:pt x="0" y="2464503"/>
                </a:lnTo>
                <a:cubicBezTo>
                  <a:pt x="0" y="2627578"/>
                  <a:pt x="132199" y="2759778"/>
                  <a:pt x="295275" y="2759778"/>
                </a:cubicBezTo>
                <a:lnTo>
                  <a:pt x="1239514" y="2759778"/>
                </a:lnTo>
              </a:path>
            </a:pathLst>
          </a:custGeom>
          <a:ln w="47625" cap="flat">
            <a:solidFill>
              <a:srgbClr val="000000">
                <a:alpha val="29804"/>
              </a:srgbClr>
            </a:solidFill>
            <a:prstDash val="sysDash"/>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AutoShape 38"/>
          <p:cNvSpPr/>
          <p:nvPr/>
        </p:nvSpPr>
        <p:spPr>
          <a:xfrm>
            <a:off x="15291276" y="5094364"/>
            <a:ext cx="1283689" cy="0"/>
          </a:xfrm>
          <a:prstGeom prst="line">
            <a:avLst/>
          </a:prstGeom>
          <a:ln w="47625" cap="flat">
            <a:solidFill>
              <a:srgbClr val="000000">
                <a:alpha val="29804"/>
              </a:srgbClr>
            </a:solidFill>
            <a:prstDash val="sysDash"/>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AutoShape 39"/>
          <p:cNvSpPr/>
          <p:nvPr/>
        </p:nvSpPr>
        <p:spPr>
          <a:xfrm>
            <a:off x="1348001" y="5094364"/>
            <a:ext cx="1171848" cy="0"/>
          </a:xfrm>
          <a:prstGeom prst="line">
            <a:avLst/>
          </a:prstGeom>
          <a:ln w="47625" cap="flat">
            <a:solidFill>
              <a:srgbClr val="000000">
                <a:alpha val="29804"/>
              </a:srgbClr>
            </a:solidFill>
            <a:prstDash val="sysDash"/>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Freeform 40"/>
          <p:cNvSpPr/>
          <p:nvPr/>
        </p:nvSpPr>
        <p:spPr>
          <a:xfrm>
            <a:off x="2971221" y="1912211"/>
            <a:ext cx="971129" cy="919336"/>
          </a:xfrm>
          <a:custGeom>
            <a:avLst/>
            <a:gdLst/>
            <a:ahLst/>
            <a:cxnLst/>
            <a:rect l="l" t="t" r="r" b="b"/>
            <a:pathLst>
              <a:path w="971129" h="919336">
                <a:moveTo>
                  <a:pt x="0" y="0"/>
                </a:moveTo>
                <a:lnTo>
                  <a:pt x="971129" y="0"/>
                </a:lnTo>
                <a:lnTo>
                  <a:pt x="971129" y="919336"/>
                </a:lnTo>
                <a:lnTo>
                  <a:pt x="0" y="919336"/>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Freeform 41"/>
          <p:cNvSpPr/>
          <p:nvPr/>
        </p:nvSpPr>
        <p:spPr>
          <a:xfrm>
            <a:off x="14115356" y="1912211"/>
            <a:ext cx="896108" cy="933446"/>
          </a:xfrm>
          <a:custGeom>
            <a:avLst/>
            <a:gdLst/>
            <a:ahLst/>
            <a:cxnLst/>
            <a:rect l="l" t="t" r="r" b="b"/>
            <a:pathLst>
              <a:path w="896108" h="933446">
                <a:moveTo>
                  <a:pt x="0" y="0"/>
                </a:moveTo>
                <a:lnTo>
                  <a:pt x="896108" y="0"/>
                </a:lnTo>
                <a:lnTo>
                  <a:pt x="896108" y="933446"/>
                </a:lnTo>
                <a:lnTo>
                  <a:pt x="0" y="933446"/>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42" name="Group 42"/>
          <p:cNvGrpSpPr/>
          <p:nvPr/>
        </p:nvGrpSpPr>
        <p:grpSpPr>
          <a:xfrm>
            <a:off x="1081577" y="7188635"/>
            <a:ext cx="7723710" cy="2013935"/>
            <a:chOff x="0" y="0"/>
            <a:chExt cx="10679414" cy="2685247"/>
          </a:xfrm>
          <a:effectLst>
            <a:outerShdw blurRad="50800" dist="38100" dir="5400000" algn="t" rotWithShape="0">
              <a:prstClr val="black">
                <a:alpha val="40000"/>
              </a:prstClr>
            </a:outerShdw>
          </a:effectLst>
        </p:grpSpPr>
        <p:grpSp>
          <p:nvGrpSpPr>
            <p:cNvPr id="43" name="Group 43"/>
            <p:cNvGrpSpPr/>
            <p:nvPr/>
          </p:nvGrpSpPr>
          <p:grpSpPr>
            <a:xfrm>
              <a:off x="0" y="0"/>
              <a:ext cx="10586822" cy="2583173"/>
              <a:chOff x="0" y="0"/>
              <a:chExt cx="2091224" cy="510256"/>
            </a:xfrm>
          </p:grpSpPr>
          <p:sp>
            <p:nvSpPr>
              <p:cNvPr id="44" name="Freeform 44"/>
              <p:cNvSpPr/>
              <p:nvPr/>
            </p:nvSpPr>
            <p:spPr>
              <a:xfrm>
                <a:off x="0" y="0"/>
                <a:ext cx="2091224" cy="510256"/>
              </a:xfrm>
              <a:custGeom>
                <a:avLst/>
                <a:gdLst/>
                <a:ahLst/>
                <a:cxnLst/>
                <a:rect l="l" t="t" r="r" b="b"/>
                <a:pathLst>
                  <a:path w="2091224" h="510256">
                    <a:moveTo>
                      <a:pt x="49727" y="0"/>
                    </a:moveTo>
                    <a:lnTo>
                      <a:pt x="2041497" y="0"/>
                    </a:lnTo>
                    <a:cubicBezTo>
                      <a:pt x="2054686" y="0"/>
                      <a:pt x="2067334" y="5239"/>
                      <a:pt x="2076659" y="14565"/>
                    </a:cubicBezTo>
                    <a:cubicBezTo>
                      <a:pt x="2085985" y="23890"/>
                      <a:pt x="2091224" y="36539"/>
                      <a:pt x="2091224" y="49727"/>
                    </a:cubicBezTo>
                    <a:lnTo>
                      <a:pt x="2091224" y="460529"/>
                    </a:lnTo>
                    <a:cubicBezTo>
                      <a:pt x="2091224" y="473718"/>
                      <a:pt x="2085985" y="486366"/>
                      <a:pt x="2076659" y="495692"/>
                    </a:cubicBezTo>
                    <a:cubicBezTo>
                      <a:pt x="2067334" y="505017"/>
                      <a:pt x="2054686" y="510256"/>
                      <a:pt x="2041497" y="510256"/>
                    </a:cubicBezTo>
                    <a:lnTo>
                      <a:pt x="49727" y="510256"/>
                    </a:lnTo>
                    <a:cubicBezTo>
                      <a:pt x="22264" y="510256"/>
                      <a:pt x="0" y="487993"/>
                      <a:pt x="0" y="460529"/>
                    </a:cubicBezTo>
                    <a:lnTo>
                      <a:pt x="0" y="49727"/>
                    </a:lnTo>
                    <a:cubicBezTo>
                      <a:pt x="0" y="22264"/>
                      <a:pt x="22264" y="0"/>
                      <a:pt x="49727" y="0"/>
                    </a:cubicBez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Box 45"/>
              <p:cNvSpPr txBox="1"/>
              <p:nvPr/>
            </p:nvSpPr>
            <p:spPr>
              <a:xfrm>
                <a:off x="0" y="-57150"/>
                <a:ext cx="2091224" cy="567406"/>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6" name="Group 46"/>
            <p:cNvGrpSpPr/>
            <p:nvPr/>
          </p:nvGrpSpPr>
          <p:grpSpPr>
            <a:xfrm>
              <a:off x="92591" y="102074"/>
              <a:ext cx="10586822" cy="2583173"/>
              <a:chOff x="0" y="0"/>
              <a:chExt cx="2091224" cy="510256"/>
            </a:xfrm>
          </p:grpSpPr>
          <p:sp>
            <p:nvSpPr>
              <p:cNvPr id="47" name="Freeform 47"/>
              <p:cNvSpPr/>
              <p:nvPr/>
            </p:nvSpPr>
            <p:spPr>
              <a:xfrm>
                <a:off x="0" y="0"/>
                <a:ext cx="2091224" cy="510256"/>
              </a:xfrm>
              <a:custGeom>
                <a:avLst/>
                <a:gdLst/>
                <a:ahLst/>
                <a:cxnLst/>
                <a:rect l="l" t="t" r="r" b="b"/>
                <a:pathLst>
                  <a:path w="2091224" h="510256">
                    <a:moveTo>
                      <a:pt x="49727" y="0"/>
                    </a:moveTo>
                    <a:lnTo>
                      <a:pt x="2041497" y="0"/>
                    </a:lnTo>
                    <a:cubicBezTo>
                      <a:pt x="2054686" y="0"/>
                      <a:pt x="2067334" y="5239"/>
                      <a:pt x="2076659" y="14565"/>
                    </a:cubicBezTo>
                    <a:cubicBezTo>
                      <a:pt x="2085985" y="23890"/>
                      <a:pt x="2091224" y="36539"/>
                      <a:pt x="2091224" y="49727"/>
                    </a:cubicBezTo>
                    <a:lnTo>
                      <a:pt x="2091224" y="460529"/>
                    </a:lnTo>
                    <a:cubicBezTo>
                      <a:pt x="2091224" y="473718"/>
                      <a:pt x="2085985" y="486366"/>
                      <a:pt x="2076659" y="495692"/>
                    </a:cubicBezTo>
                    <a:cubicBezTo>
                      <a:pt x="2067334" y="505017"/>
                      <a:pt x="2054686" y="510256"/>
                      <a:pt x="2041497" y="510256"/>
                    </a:cubicBezTo>
                    <a:lnTo>
                      <a:pt x="49727" y="510256"/>
                    </a:lnTo>
                    <a:cubicBezTo>
                      <a:pt x="22264" y="510256"/>
                      <a:pt x="0" y="487993"/>
                      <a:pt x="0" y="460529"/>
                    </a:cubicBezTo>
                    <a:lnTo>
                      <a:pt x="0" y="49727"/>
                    </a:lnTo>
                    <a:cubicBezTo>
                      <a:pt x="0" y="22264"/>
                      <a:pt x="22264" y="0"/>
                      <a:pt x="49727" y="0"/>
                    </a:cubicBezTo>
                    <a:close/>
                  </a:path>
                </a:pathLst>
              </a:custGeom>
              <a:solidFill>
                <a:srgbClr val="FFFFFF"/>
              </a:solidFill>
              <a:ln w="38100" cap="rnd">
                <a:solidFill>
                  <a:srgbClr val="00BF63"/>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 name="TextBox 48"/>
              <p:cNvSpPr txBox="1"/>
              <p:nvPr/>
            </p:nvSpPr>
            <p:spPr>
              <a:xfrm>
                <a:off x="0" y="-57150"/>
                <a:ext cx="2091224" cy="567406"/>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49" name="Freeform 49"/>
          <p:cNvSpPr/>
          <p:nvPr/>
        </p:nvSpPr>
        <p:spPr>
          <a:xfrm rot="-4636309">
            <a:off x="1008561" y="7097531"/>
            <a:ext cx="576678" cy="758786"/>
          </a:xfrm>
          <a:custGeom>
            <a:avLst/>
            <a:gdLst/>
            <a:ahLst/>
            <a:cxnLst/>
            <a:rect l="l" t="t" r="r" b="b"/>
            <a:pathLst>
              <a:path w="576678" h="758786">
                <a:moveTo>
                  <a:pt x="0" y="0"/>
                </a:moveTo>
                <a:lnTo>
                  <a:pt x="576678" y="0"/>
                </a:lnTo>
                <a:lnTo>
                  <a:pt x="576678" y="758786"/>
                </a:lnTo>
                <a:lnTo>
                  <a:pt x="0" y="758786"/>
                </a:lnTo>
                <a:lnTo>
                  <a:pt x="0" y="0"/>
                </a:lnTo>
                <a:close/>
              </a:path>
            </a:pathLst>
          </a:custGeom>
          <a:blipFill>
            <a:blip r:embed="rId8"/>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p:cNvSpPr txBox="1"/>
          <p:nvPr/>
        </p:nvSpPr>
        <p:spPr>
          <a:xfrm>
            <a:off x="4900623" y="2085242"/>
            <a:ext cx="2875697" cy="475579"/>
          </a:xfrm>
          <a:prstGeom prst="rect">
            <a:avLst/>
          </a:prstGeom>
        </p:spPr>
        <p:txBody>
          <a:bodyPr lIns="0" tIns="0" rIns="0" bIns="0" rtlCol="0" anchor="t">
            <a:spAutoFit/>
          </a:bodyPr>
          <a:lstStyle/>
          <a:p>
            <a:pPr marL="0" marR="0" lvl="0" indent="0" algn="ctr" defTabSz="914400" rtl="0" eaLnBrk="1" fontAlgn="auto" latinLnBrk="0" hangingPunct="1">
              <a:lnSpc>
                <a:spcPts val="3919"/>
              </a:lnSpc>
              <a:spcBef>
                <a:spcPct val="0"/>
              </a:spcBef>
              <a:spcAft>
                <a:spcPts val="0"/>
              </a:spcAft>
              <a:buClrTx/>
              <a:buSzTx/>
              <a:buFontTx/>
              <a:buNone/>
              <a:tabLst/>
              <a:defRPr/>
            </a:pPr>
            <a:r>
              <a:rPr kumimoji="0" lang="en-US" sz="2799" b="1" i="0" u="none" strike="noStrike" kern="1200" cap="none" spc="0" normalizeH="0" baseline="0" noProof="0" dirty="0">
                <a:ln>
                  <a:noFill/>
                </a:ln>
                <a:solidFill>
                  <a:srgbClr val="FFFFFF"/>
                </a:solidFill>
                <a:effectLst/>
                <a:uLnTx/>
                <a:uFillTx/>
                <a:latin typeface="Poppins Black" panose="00000A00000000000000" pitchFamily="2" charset="0"/>
                <a:ea typeface="Poppins Bold"/>
                <a:cs typeface="Poppins Black" panose="00000A00000000000000" pitchFamily="2" charset="0"/>
                <a:sym typeface="Poppins Bold"/>
              </a:rPr>
              <a:t>DO’S</a:t>
            </a:r>
          </a:p>
        </p:txBody>
      </p:sp>
      <p:sp>
        <p:nvSpPr>
          <p:cNvPr id="51" name="TextBox 51"/>
          <p:cNvSpPr txBox="1"/>
          <p:nvPr/>
        </p:nvSpPr>
        <p:spPr>
          <a:xfrm>
            <a:off x="10305414" y="2085242"/>
            <a:ext cx="2751013" cy="475579"/>
          </a:xfrm>
          <a:prstGeom prst="rect">
            <a:avLst/>
          </a:prstGeom>
        </p:spPr>
        <p:txBody>
          <a:bodyPr lIns="0" tIns="0" rIns="0" bIns="0" rtlCol="0" anchor="t">
            <a:spAutoFit/>
          </a:bodyPr>
          <a:lstStyle/>
          <a:p>
            <a:pPr marL="0" marR="0" lvl="0" indent="0" algn="ctr" defTabSz="914400" rtl="0" eaLnBrk="1" fontAlgn="auto" latinLnBrk="0" hangingPunct="1">
              <a:lnSpc>
                <a:spcPts val="3919"/>
              </a:lnSpc>
              <a:spcBef>
                <a:spcPct val="0"/>
              </a:spcBef>
              <a:spcAft>
                <a:spcPts val="0"/>
              </a:spcAft>
              <a:buClrTx/>
              <a:buSzTx/>
              <a:buFontTx/>
              <a:buNone/>
              <a:tabLst/>
              <a:defRPr/>
            </a:pPr>
            <a:r>
              <a:rPr kumimoji="0" lang="en-US" sz="2799" b="1" i="0" u="none" strike="noStrike" kern="1200" cap="none" spc="0" normalizeH="0" baseline="0" noProof="0" dirty="0">
                <a:ln>
                  <a:noFill/>
                </a:ln>
                <a:solidFill>
                  <a:srgbClr val="FFFFFF"/>
                </a:solidFill>
                <a:effectLst/>
                <a:uLnTx/>
                <a:uFillTx/>
                <a:latin typeface="Poppins Black" panose="00000A00000000000000" pitchFamily="2" charset="0"/>
                <a:ea typeface="Poppins Bold"/>
                <a:cs typeface="Poppins Black" panose="00000A00000000000000" pitchFamily="2" charset="0"/>
                <a:sym typeface="Poppins Bold"/>
              </a:rPr>
              <a:t>DONT’S</a:t>
            </a:r>
          </a:p>
        </p:txBody>
      </p:sp>
      <p:sp>
        <p:nvSpPr>
          <p:cNvPr id="52" name="TextBox 52"/>
          <p:cNvSpPr txBox="1"/>
          <p:nvPr/>
        </p:nvSpPr>
        <p:spPr>
          <a:xfrm>
            <a:off x="3776148" y="3312658"/>
            <a:ext cx="5332342" cy="782320"/>
          </a:xfrm>
          <a:prstGeom prst="rect">
            <a:avLst/>
          </a:prstGeom>
        </p:spPr>
        <p:txBody>
          <a:bodyPr lIns="0" tIns="0" rIns="0" bIns="0" rtlCol="0" anchor="t">
            <a:spAutoFit/>
          </a:bodyPr>
          <a:lstStyle/>
          <a:p>
            <a:pPr marL="0" marR="0" lvl="0" indent="0" algn="l" defTabSz="914400" rtl="0" eaLnBrk="1" fontAlgn="auto" latinLnBrk="0" hangingPunct="1">
              <a:lnSpc>
                <a:spcPts val="308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00000"/>
                </a:solidFill>
                <a:effectLst/>
                <a:uLnTx/>
                <a:uFillTx/>
                <a:latin typeface="Poppins"/>
                <a:ea typeface="Poppins"/>
                <a:cs typeface="Poppins"/>
                <a:sym typeface="Poppins"/>
              </a:rPr>
              <a:t>Logic: </a:t>
            </a:r>
            <a:r>
              <a:rPr kumimoji="0" lang="en-US" sz="2200" b="0" i="0" u="none" strike="noStrike" kern="1200" cap="none" spc="0" normalizeH="0" baseline="0" noProof="0" dirty="0">
                <a:ln>
                  <a:noFill/>
                </a:ln>
                <a:solidFill>
                  <a:srgbClr val="000000"/>
                </a:solidFill>
                <a:effectLst/>
                <a:uLnTx/>
                <a:uFillTx/>
                <a:latin typeface="Poppins"/>
                <a:ea typeface="Poppins"/>
                <a:cs typeface="Poppins"/>
                <a:sym typeface="Poppins"/>
              </a:rPr>
              <a:t>Explanations of research, decisions, and actions</a:t>
            </a:r>
          </a:p>
        </p:txBody>
      </p:sp>
      <p:sp>
        <p:nvSpPr>
          <p:cNvPr id="53" name="TextBox 53"/>
          <p:cNvSpPr txBox="1"/>
          <p:nvPr/>
        </p:nvSpPr>
        <p:spPr>
          <a:xfrm>
            <a:off x="9809196" y="3324305"/>
            <a:ext cx="4306158" cy="782320"/>
          </a:xfrm>
          <a:prstGeom prst="rect">
            <a:avLst/>
          </a:prstGeom>
        </p:spPr>
        <p:txBody>
          <a:bodyPr wrap="square" lIns="0" tIns="0" rIns="0" bIns="0" rtlCol="0" anchor="t">
            <a:spAutoFit/>
          </a:bodyPr>
          <a:lstStyle/>
          <a:p>
            <a:pPr marL="0" marR="0" lvl="0" indent="0" defTabSz="914400" rtl="0" eaLnBrk="1" fontAlgn="auto" latinLnBrk="0" hangingPunct="1">
              <a:lnSpc>
                <a:spcPts val="308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00000"/>
                </a:solidFill>
                <a:effectLst/>
                <a:uLnTx/>
                <a:uFillTx/>
                <a:latin typeface="Poppins"/>
                <a:ea typeface="Poppins"/>
                <a:cs typeface="Poppins"/>
                <a:sym typeface="Poppins"/>
              </a:rPr>
              <a:t>Bias: </a:t>
            </a:r>
            <a:r>
              <a:rPr kumimoji="0" lang="en-US" sz="2200" b="0" i="0" u="none" strike="noStrike" kern="1200" cap="none" spc="0" normalizeH="0" baseline="0" noProof="0" dirty="0">
                <a:ln>
                  <a:noFill/>
                </a:ln>
                <a:solidFill>
                  <a:srgbClr val="000000"/>
                </a:solidFill>
                <a:effectLst/>
                <a:uLnTx/>
                <a:uFillTx/>
                <a:latin typeface="Poppins"/>
                <a:ea typeface="Poppins"/>
                <a:cs typeface="Poppins"/>
                <a:sym typeface="Poppins"/>
              </a:rPr>
              <a:t>Personal opinions about the requester or situation</a:t>
            </a:r>
          </a:p>
        </p:txBody>
      </p:sp>
      <p:sp>
        <p:nvSpPr>
          <p:cNvPr id="54" name="TextBox 54"/>
          <p:cNvSpPr txBox="1"/>
          <p:nvPr/>
        </p:nvSpPr>
        <p:spPr>
          <a:xfrm>
            <a:off x="3789985" y="4734009"/>
            <a:ext cx="4540983" cy="782320"/>
          </a:xfrm>
          <a:prstGeom prst="rect">
            <a:avLst/>
          </a:prstGeom>
        </p:spPr>
        <p:txBody>
          <a:bodyPr lIns="0" tIns="0" rIns="0" bIns="0" rtlCol="0" anchor="t">
            <a:spAutoFit/>
          </a:bodyPr>
          <a:lstStyle/>
          <a:p>
            <a:pPr marL="0" marR="0" lvl="0" indent="0" algn="l" defTabSz="914400" rtl="0" eaLnBrk="1" fontAlgn="auto" latinLnBrk="0" hangingPunct="1">
              <a:lnSpc>
                <a:spcPts val="308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00000"/>
                </a:solidFill>
                <a:effectLst/>
                <a:uLnTx/>
                <a:uFillTx/>
                <a:latin typeface="Poppins"/>
                <a:ea typeface="Poppins"/>
                <a:cs typeface="Poppins"/>
                <a:sym typeface="Poppins"/>
              </a:rPr>
              <a:t>Context: </a:t>
            </a:r>
            <a:r>
              <a:rPr kumimoji="0" lang="en-US" sz="2200" b="0" i="0" u="none" strike="noStrike" kern="1200" cap="none" spc="0" normalizeH="0" baseline="0" noProof="0" dirty="0">
                <a:ln>
                  <a:noFill/>
                </a:ln>
                <a:solidFill>
                  <a:srgbClr val="000000"/>
                </a:solidFill>
                <a:effectLst/>
                <a:uLnTx/>
                <a:uFillTx/>
                <a:latin typeface="Poppins"/>
                <a:ea typeface="Poppins"/>
                <a:cs typeface="Poppins"/>
                <a:sym typeface="Poppins"/>
              </a:rPr>
              <a:t>Removal reasons and manual translations of evidence</a:t>
            </a:r>
          </a:p>
        </p:txBody>
      </p:sp>
      <p:sp>
        <p:nvSpPr>
          <p:cNvPr id="55" name="TextBox 55"/>
          <p:cNvSpPr txBox="1"/>
          <p:nvPr/>
        </p:nvSpPr>
        <p:spPr>
          <a:xfrm>
            <a:off x="9802971" y="4594817"/>
            <a:ext cx="4312383" cy="782320"/>
          </a:xfrm>
          <a:prstGeom prst="rect">
            <a:avLst/>
          </a:prstGeom>
        </p:spPr>
        <p:txBody>
          <a:bodyPr lIns="0" tIns="0" rIns="0" bIns="0" rtlCol="0" anchor="t">
            <a:spAutoFit/>
          </a:bodyPr>
          <a:lstStyle/>
          <a:p>
            <a:pPr marL="0" marR="0" lvl="0" indent="0" defTabSz="914400" rtl="0" eaLnBrk="1" fontAlgn="auto" latinLnBrk="0" hangingPunct="1">
              <a:lnSpc>
                <a:spcPts val="308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00000"/>
                </a:solidFill>
                <a:effectLst/>
                <a:uLnTx/>
                <a:uFillTx/>
                <a:latin typeface="Poppins"/>
                <a:ea typeface="Poppins"/>
                <a:cs typeface="Poppins"/>
                <a:sym typeface="Poppins"/>
              </a:rPr>
              <a:t>Tone: </a:t>
            </a:r>
            <a:r>
              <a:rPr kumimoji="0" lang="en-US" sz="2200" b="0" i="0" u="none" strike="noStrike" kern="1200" cap="none" spc="0" normalizeH="0" baseline="0" noProof="0" dirty="0">
                <a:ln>
                  <a:noFill/>
                </a:ln>
                <a:solidFill>
                  <a:srgbClr val="000000"/>
                </a:solidFill>
                <a:effectLst/>
                <a:uLnTx/>
                <a:uFillTx/>
                <a:latin typeface="Poppins"/>
                <a:ea typeface="Poppins"/>
                <a:cs typeface="Poppins"/>
                <a:sym typeface="Poppins"/>
              </a:rPr>
              <a:t>Overly casual, cryptic, or humorous language</a:t>
            </a:r>
          </a:p>
        </p:txBody>
      </p:sp>
      <p:sp>
        <p:nvSpPr>
          <p:cNvPr id="56" name="TextBox 56"/>
          <p:cNvSpPr txBox="1"/>
          <p:nvPr/>
        </p:nvSpPr>
        <p:spPr>
          <a:xfrm>
            <a:off x="3789985" y="6072436"/>
            <a:ext cx="4312383" cy="782320"/>
          </a:xfrm>
          <a:prstGeom prst="rect">
            <a:avLst/>
          </a:prstGeom>
        </p:spPr>
        <p:txBody>
          <a:bodyPr lIns="0" tIns="0" rIns="0" bIns="0" rtlCol="0" anchor="t">
            <a:spAutoFit/>
          </a:bodyPr>
          <a:lstStyle/>
          <a:p>
            <a:pPr marL="0" marR="0" lvl="0" indent="0" algn="l" defTabSz="914400" rtl="0" eaLnBrk="1" fontAlgn="auto" latinLnBrk="0" hangingPunct="1">
              <a:lnSpc>
                <a:spcPts val="308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00000"/>
                </a:solidFill>
                <a:effectLst/>
                <a:uLnTx/>
                <a:uFillTx/>
                <a:latin typeface="Poppins"/>
                <a:ea typeface="Poppins"/>
                <a:cs typeface="Poppins"/>
                <a:sym typeface="Poppins"/>
              </a:rPr>
              <a:t>Data: </a:t>
            </a:r>
            <a:r>
              <a:rPr kumimoji="0" lang="en-US" sz="2200" b="0" i="0" u="none" strike="noStrike" kern="1200" cap="none" spc="0" normalizeH="0" baseline="0" noProof="0" dirty="0">
                <a:ln>
                  <a:noFill/>
                </a:ln>
                <a:solidFill>
                  <a:srgbClr val="000000"/>
                </a:solidFill>
                <a:effectLst/>
                <a:uLnTx/>
                <a:uFillTx/>
                <a:latin typeface="Poppins"/>
                <a:ea typeface="Poppins"/>
                <a:cs typeface="Poppins"/>
                <a:sym typeface="Poppins"/>
              </a:rPr>
              <a:t>Specific Review IDs and Location IDs</a:t>
            </a:r>
          </a:p>
        </p:txBody>
      </p:sp>
      <p:sp>
        <p:nvSpPr>
          <p:cNvPr id="57" name="TextBox 57"/>
          <p:cNvSpPr txBox="1"/>
          <p:nvPr/>
        </p:nvSpPr>
        <p:spPr>
          <a:xfrm>
            <a:off x="9802972" y="6072436"/>
            <a:ext cx="4312383" cy="782320"/>
          </a:xfrm>
          <a:prstGeom prst="rect">
            <a:avLst/>
          </a:prstGeom>
        </p:spPr>
        <p:txBody>
          <a:bodyPr lIns="0" tIns="0" rIns="0" bIns="0" rtlCol="0" anchor="t">
            <a:spAutoFit/>
          </a:bodyPr>
          <a:lstStyle/>
          <a:p>
            <a:pPr marL="0" marR="0" lvl="0" indent="0" defTabSz="914400" rtl="0" eaLnBrk="1" fontAlgn="auto" latinLnBrk="0" hangingPunct="1">
              <a:lnSpc>
                <a:spcPts val="308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00000"/>
                </a:solidFill>
                <a:effectLst/>
                <a:uLnTx/>
                <a:uFillTx/>
                <a:latin typeface="Poppins"/>
                <a:ea typeface="Poppins"/>
                <a:cs typeface="Poppins"/>
                <a:sym typeface="Poppins"/>
              </a:rPr>
              <a:t>Media:</a:t>
            </a:r>
            <a:r>
              <a:rPr kumimoji="0" lang="en-US" sz="2200" b="0" i="0" u="none" strike="noStrike" kern="1200" cap="none" spc="0" normalizeH="0" baseline="0" noProof="0" dirty="0">
                <a:ln>
                  <a:noFill/>
                </a:ln>
                <a:solidFill>
                  <a:srgbClr val="000000"/>
                </a:solidFill>
                <a:effectLst/>
                <a:uLnTx/>
                <a:uFillTx/>
                <a:latin typeface="Poppins"/>
                <a:ea typeface="Poppins"/>
                <a:cs typeface="Poppins"/>
                <a:sym typeface="Poppins"/>
              </a:rPr>
              <a:t> Screenshots or external file attachments</a:t>
            </a:r>
          </a:p>
        </p:txBody>
      </p:sp>
      <p:sp>
        <p:nvSpPr>
          <p:cNvPr id="58" name="TextBox 58"/>
          <p:cNvSpPr txBox="1"/>
          <p:nvPr/>
        </p:nvSpPr>
        <p:spPr>
          <a:xfrm>
            <a:off x="1423615" y="7386814"/>
            <a:ext cx="7256038" cy="1583055"/>
          </a:xfrm>
          <a:prstGeom prst="rect">
            <a:avLst/>
          </a:prstGeom>
        </p:spPr>
        <p:txBody>
          <a:bodyPr lIns="0" tIns="0" rIns="0" bIns="0" rtlCol="0" anchor="t">
            <a:spAutoFit/>
          </a:bodyPr>
          <a:lstStyle/>
          <a:p>
            <a:pPr marL="388620" marR="0" lvl="1" indent="-194310" algn="l" defTabSz="914400" rtl="0" eaLnBrk="1" fontAlgn="auto" latinLnBrk="0" hangingPunct="1">
              <a:lnSpc>
                <a:spcPts val="2520"/>
              </a:lnSpc>
              <a:spcBef>
                <a:spcPts val="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Poppins"/>
                <a:ea typeface="Poppins"/>
                <a:cs typeface="Poppins"/>
                <a:sym typeface="Poppins"/>
              </a:rPr>
              <a:t>“Looked at reviews submitted between Sept 1st and Sept 30th, found pattern of formulaic email addresses from 1st-time users, removed as SB”</a:t>
            </a:r>
          </a:p>
          <a:p>
            <a:pPr marL="388620" marR="0" lvl="1" indent="-194310" algn="l" defTabSz="914400" rtl="0" eaLnBrk="1" fontAlgn="auto" latinLnBrk="0" hangingPunct="1">
              <a:lnSpc>
                <a:spcPts val="2520"/>
              </a:lnSpc>
              <a:spcBef>
                <a:spcPts val="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Poppins"/>
                <a:ea typeface="Poppins"/>
                <a:cs typeface="Poppins"/>
                <a:sym typeface="Poppins"/>
              </a:rPr>
              <a:t>“Sent incentive survey for all reviews submitted since August 1st.”</a:t>
            </a:r>
          </a:p>
        </p:txBody>
      </p:sp>
      <p:grpSp>
        <p:nvGrpSpPr>
          <p:cNvPr id="59" name="Group 59"/>
          <p:cNvGrpSpPr/>
          <p:nvPr/>
        </p:nvGrpSpPr>
        <p:grpSpPr>
          <a:xfrm>
            <a:off x="9316417" y="7252560"/>
            <a:ext cx="7315200" cy="1966594"/>
            <a:chOff x="0" y="0"/>
            <a:chExt cx="10679414" cy="2622126"/>
          </a:xfrm>
          <a:effectLst>
            <a:outerShdw blurRad="50800" dist="38100" dir="5400000" algn="t" rotWithShape="0">
              <a:prstClr val="black">
                <a:alpha val="40000"/>
              </a:prstClr>
            </a:outerShdw>
          </a:effectLst>
        </p:grpSpPr>
        <p:grpSp>
          <p:nvGrpSpPr>
            <p:cNvPr id="60" name="Group 60"/>
            <p:cNvGrpSpPr/>
            <p:nvPr/>
          </p:nvGrpSpPr>
          <p:grpSpPr>
            <a:xfrm>
              <a:off x="0" y="0"/>
              <a:ext cx="10586822" cy="2522451"/>
              <a:chOff x="0" y="0"/>
              <a:chExt cx="2091224" cy="498262"/>
            </a:xfrm>
          </p:grpSpPr>
          <p:sp>
            <p:nvSpPr>
              <p:cNvPr id="61" name="Freeform 61"/>
              <p:cNvSpPr/>
              <p:nvPr/>
            </p:nvSpPr>
            <p:spPr>
              <a:xfrm>
                <a:off x="0" y="0"/>
                <a:ext cx="2091224" cy="498262"/>
              </a:xfrm>
              <a:custGeom>
                <a:avLst/>
                <a:gdLst/>
                <a:ahLst/>
                <a:cxnLst/>
                <a:rect l="l" t="t" r="r" b="b"/>
                <a:pathLst>
                  <a:path w="2091224" h="498262">
                    <a:moveTo>
                      <a:pt x="49727" y="0"/>
                    </a:moveTo>
                    <a:lnTo>
                      <a:pt x="2041497" y="0"/>
                    </a:lnTo>
                    <a:cubicBezTo>
                      <a:pt x="2054686" y="0"/>
                      <a:pt x="2067334" y="5239"/>
                      <a:pt x="2076659" y="14565"/>
                    </a:cubicBezTo>
                    <a:cubicBezTo>
                      <a:pt x="2085985" y="23890"/>
                      <a:pt x="2091224" y="36539"/>
                      <a:pt x="2091224" y="49727"/>
                    </a:cubicBezTo>
                    <a:lnTo>
                      <a:pt x="2091224" y="448535"/>
                    </a:lnTo>
                    <a:cubicBezTo>
                      <a:pt x="2091224" y="475998"/>
                      <a:pt x="2068961" y="498262"/>
                      <a:pt x="2041497" y="498262"/>
                    </a:cubicBezTo>
                    <a:lnTo>
                      <a:pt x="49727" y="498262"/>
                    </a:lnTo>
                    <a:cubicBezTo>
                      <a:pt x="36539" y="498262"/>
                      <a:pt x="23890" y="493023"/>
                      <a:pt x="14565" y="483697"/>
                    </a:cubicBezTo>
                    <a:cubicBezTo>
                      <a:pt x="5239" y="474372"/>
                      <a:pt x="0" y="461723"/>
                      <a:pt x="0" y="448535"/>
                    </a:cubicBezTo>
                    <a:lnTo>
                      <a:pt x="0" y="49727"/>
                    </a:lnTo>
                    <a:cubicBezTo>
                      <a:pt x="0" y="22264"/>
                      <a:pt x="22264" y="0"/>
                      <a:pt x="49727" y="0"/>
                    </a:cubicBezTo>
                    <a:close/>
                  </a:path>
                </a:pathLst>
              </a:custGeom>
              <a:solidFill>
                <a:srgbClr val="FD433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Box 62"/>
              <p:cNvSpPr txBox="1"/>
              <p:nvPr/>
            </p:nvSpPr>
            <p:spPr>
              <a:xfrm>
                <a:off x="0" y="-57150"/>
                <a:ext cx="2091224" cy="555412"/>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3" name="Group 63"/>
            <p:cNvGrpSpPr/>
            <p:nvPr/>
          </p:nvGrpSpPr>
          <p:grpSpPr>
            <a:xfrm>
              <a:off x="92591" y="99675"/>
              <a:ext cx="10586822" cy="2522451"/>
              <a:chOff x="0" y="0"/>
              <a:chExt cx="2091224" cy="498262"/>
            </a:xfrm>
          </p:grpSpPr>
          <p:sp>
            <p:nvSpPr>
              <p:cNvPr id="64" name="Freeform 64"/>
              <p:cNvSpPr/>
              <p:nvPr/>
            </p:nvSpPr>
            <p:spPr>
              <a:xfrm>
                <a:off x="0" y="0"/>
                <a:ext cx="2091224" cy="498262"/>
              </a:xfrm>
              <a:custGeom>
                <a:avLst/>
                <a:gdLst/>
                <a:ahLst/>
                <a:cxnLst/>
                <a:rect l="l" t="t" r="r" b="b"/>
                <a:pathLst>
                  <a:path w="2091224" h="498262">
                    <a:moveTo>
                      <a:pt x="49727" y="0"/>
                    </a:moveTo>
                    <a:lnTo>
                      <a:pt x="2041497" y="0"/>
                    </a:lnTo>
                    <a:cubicBezTo>
                      <a:pt x="2054686" y="0"/>
                      <a:pt x="2067334" y="5239"/>
                      <a:pt x="2076659" y="14565"/>
                    </a:cubicBezTo>
                    <a:cubicBezTo>
                      <a:pt x="2085985" y="23890"/>
                      <a:pt x="2091224" y="36539"/>
                      <a:pt x="2091224" y="49727"/>
                    </a:cubicBezTo>
                    <a:lnTo>
                      <a:pt x="2091224" y="448535"/>
                    </a:lnTo>
                    <a:cubicBezTo>
                      <a:pt x="2091224" y="475998"/>
                      <a:pt x="2068961" y="498262"/>
                      <a:pt x="2041497" y="498262"/>
                    </a:cubicBezTo>
                    <a:lnTo>
                      <a:pt x="49727" y="498262"/>
                    </a:lnTo>
                    <a:cubicBezTo>
                      <a:pt x="36539" y="498262"/>
                      <a:pt x="23890" y="493023"/>
                      <a:pt x="14565" y="483697"/>
                    </a:cubicBezTo>
                    <a:cubicBezTo>
                      <a:pt x="5239" y="474372"/>
                      <a:pt x="0" y="461723"/>
                      <a:pt x="0" y="448535"/>
                    </a:cubicBezTo>
                    <a:lnTo>
                      <a:pt x="0" y="49727"/>
                    </a:lnTo>
                    <a:cubicBezTo>
                      <a:pt x="0" y="22264"/>
                      <a:pt x="22264" y="0"/>
                      <a:pt x="49727" y="0"/>
                    </a:cubicBezTo>
                    <a:close/>
                  </a:path>
                </a:pathLst>
              </a:custGeom>
              <a:solidFill>
                <a:srgbClr val="FFFFFF"/>
              </a:solidFill>
              <a:ln w="38100" cap="rnd">
                <a:solidFill>
                  <a:srgbClr val="FD4338"/>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Box 65"/>
              <p:cNvSpPr txBox="1"/>
              <p:nvPr/>
            </p:nvSpPr>
            <p:spPr>
              <a:xfrm>
                <a:off x="0" y="-57150"/>
                <a:ext cx="2091224" cy="555412"/>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66" name="Freeform 66"/>
          <p:cNvSpPr/>
          <p:nvPr/>
        </p:nvSpPr>
        <p:spPr>
          <a:xfrm rot="-4636309">
            <a:off x="9297367" y="7177967"/>
            <a:ext cx="576678" cy="758786"/>
          </a:xfrm>
          <a:custGeom>
            <a:avLst/>
            <a:gdLst/>
            <a:ahLst/>
            <a:cxnLst/>
            <a:rect l="l" t="t" r="r" b="b"/>
            <a:pathLst>
              <a:path w="576678" h="758786">
                <a:moveTo>
                  <a:pt x="0" y="0"/>
                </a:moveTo>
                <a:lnTo>
                  <a:pt x="576677" y="0"/>
                </a:lnTo>
                <a:lnTo>
                  <a:pt x="576677" y="758786"/>
                </a:lnTo>
                <a:lnTo>
                  <a:pt x="0" y="758786"/>
                </a:lnTo>
                <a:lnTo>
                  <a:pt x="0" y="0"/>
                </a:lnTo>
                <a:close/>
              </a:path>
            </a:pathLst>
          </a:custGeom>
          <a:blipFill>
            <a:blip r:embed="rId9"/>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p:cNvSpPr txBox="1"/>
          <p:nvPr/>
        </p:nvSpPr>
        <p:spPr>
          <a:xfrm>
            <a:off x="9996544" y="7644625"/>
            <a:ext cx="7058400" cy="954405"/>
          </a:xfrm>
          <a:prstGeom prst="rect">
            <a:avLst/>
          </a:prstGeom>
        </p:spPr>
        <p:txBody>
          <a:bodyPr lIns="0" tIns="0" rIns="0" bIns="0" rtlCol="0" anchor="t">
            <a:spAutoFit/>
          </a:bodyPr>
          <a:lstStyle/>
          <a:p>
            <a:pPr marL="388620" marR="0" lvl="1" indent="-194310" algn="l" defTabSz="914400" rtl="0" eaLnBrk="1" fontAlgn="auto" latinLnBrk="0" hangingPunct="1">
              <a:lnSpc>
                <a:spcPts val="2520"/>
              </a:lnSpc>
              <a:spcBef>
                <a:spcPts val="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Poppins"/>
                <a:ea typeface="Poppins"/>
                <a:cs typeface="Poppins"/>
                <a:sym typeface="Poppins"/>
              </a:rPr>
              <a:t>“Checked the account / Investigated the issue / Contacted owner”</a:t>
            </a:r>
          </a:p>
          <a:p>
            <a:pPr marL="388620" marR="0" lvl="1" indent="-194310" algn="l" defTabSz="914400" rtl="0" eaLnBrk="1" fontAlgn="auto" latinLnBrk="0" hangingPunct="1">
              <a:lnSpc>
                <a:spcPts val="2520"/>
              </a:lnSpc>
              <a:spcBef>
                <a:spcPts val="0"/>
              </a:spcBef>
              <a:spcAft>
                <a:spcPts val="0"/>
              </a:spcAft>
              <a:buClrTx/>
              <a:buSzTx/>
              <a:buFont typeface="Arial"/>
              <a:buChar char="•"/>
              <a:tabLst/>
              <a:defRPr/>
            </a:pPr>
            <a:r>
              <a:rPr kumimoji="0" lang="en-US" sz="1800" b="0" u="none" strike="noStrike" kern="1200" cap="none" spc="0" normalizeH="0" baseline="0" noProof="0" dirty="0">
                <a:ln>
                  <a:noFill/>
                </a:ln>
                <a:solidFill>
                  <a:srgbClr val="000000"/>
                </a:solidFill>
                <a:effectLst/>
                <a:uLnTx/>
                <a:uFillTx/>
                <a:latin typeface="Poppins" panose="00000500000000000000" pitchFamily="2" charset="0"/>
                <a:ea typeface="Poppins Italics"/>
                <a:cs typeface="Poppins" panose="00000500000000000000" pitchFamily="2" charset="0"/>
                <a:sym typeface="Poppins Italics"/>
              </a:rPr>
              <a:t>“Sent incentive surveys”</a:t>
            </a:r>
          </a:p>
        </p:txBody>
      </p:sp>
      <p:sp>
        <p:nvSpPr>
          <p:cNvPr id="69" name="Text 2">
            <a:extLst>
              <a:ext uri="{FF2B5EF4-FFF2-40B4-BE49-F238E27FC236}">
                <a16:creationId xmlns:a16="http://schemas.microsoft.com/office/drawing/2014/main" id="{E3682DD5-1CD5-CE47-5224-CB82382750A3}"/>
              </a:ext>
            </a:extLst>
          </p:cNvPr>
          <p:cNvSpPr/>
          <p:nvPr/>
        </p:nvSpPr>
        <p:spPr>
          <a:xfrm>
            <a:off x="1240406" y="629668"/>
            <a:ext cx="13716000" cy="960120"/>
          </a:xfrm>
          <a:prstGeom prst="rect">
            <a:avLst/>
          </a:prstGeom>
          <a:noFill/>
          <a:ln/>
        </p:spPr>
        <p:txBody>
          <a:bodyPr wrap="square" lIns="0" tIns="0" rIns="0" bIns="0" rtlCol="0" anchor="ctr"/>
          <a:lstStyle/>
          <a:p>
            <a:pPr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Communication Notes</a:t>
            </a:r>
          </a:p>
        </p:txBody>
      </p:sp>
      <p:sp>
        <p:nvSpPr>
          <p:cNvPr id="71" name="Text 19">
            <a:extLst>
              <a:ext uri="{FF2B5EF4-FFF2-40B4-BE49-F238E27FC236}">
                <a16:creationId xmlns:a16="http://schemas.microsoft.com/office/drawing/2014/main" id="{0FE7A581-B1FB-51A2-05D3-FAF9DB16AEC0}"/>
              </a:ext>
            </a:extLst>
          </p:cNvPr>
          <p:cNvSpPr/>
          <p:nvPr/>
        </p:nvSpPr>
        <p:spPr>
          <a:xfrm>
            <a:off x="574076" y="9575074"/>
            <a:ext cx="10972800" cy="411480"/>
          </a:xfrm>
          <a:prstGeom prst="rect">
            <a:avLst/>
          </a:prstGeom>
          <a:noFill/>
          <a:ln/>
        </p:spPr>
        <p:txBody>
          <a:bodyPr wrap="square" lIns="0" tIns="0" rIns="0" bIns="0" rtlCol="0" anchor="ctr"/>
          <a:lstStyle/>
          <a:p>
            <a:pPr defTabSz="1371600"/>
            <a:r>
              <a:rPr lang="en-US" sz="1200" dirty="0">
                <a:solidFill>
                  <a:srgbClr val="8A8272"/>
                </a:solidFill>
                <a:latin typeface="Poppins" panose="00000500000000000000" pitchFamily="2" charset="0"/>
                <a:ea typeface="Calibri" pitchFamily="34" charset="-122"/>
                <a:cs typeface="Poppins" panose="00000500000000000000" pitchFamily="2" charset="0"/>
              </a:rPr>
              <a:t>Tripadvisor / Fraud support / Communication notes</a:t>
            </a:r>
          </a:p>
        </p:txBody>
      </p:sp>
      <p:grpSp>
        <p:nvGrpSpPr>
          <p:cNvPr id="27" name="Group 27"/>
          <p:cNvGrpSpPr/>
          <p:nvPr/>
        </p:nvGrpSpPr>
        <p:grpSpPr>
          <a:xfrm>
            <a:off x="14311044" y="4540244"/>
            <a:ext cx="1073162" cy="1073162"/>
            <a:chOff x="0" y="0"/>
            <a:chExt cx="812800" cy="812800"/>
          </a:xfrm>
          <a:effectLst>
            <a:outerShdw blurRad="50800" dist="38100" dir="5400000" algn="t" rotWithShape="0">
              <a:prstClr val="black">
                <a:alpha val="40000"/>
              </a:prstClr>
            </a:outerShdw>
          </a:effectLst>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433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Box 29"/>
            <p:cNvSpPr txBox="1"/>
            <p:nvPr/>
          </p:nvSpPr>
          <p:spPr>
            <a:xfrm>
              <a:off x="76200" y="19050"/>
              <a:ext cx="660400" cy="717550"/>
            </a:xfrm>
            <a:prstGeom prst="rect">
              <a:avLst/>
            </a:prstGeom>
          </p:spPr>
          <p:txBody>
            <a:bodyPr lIns="50800" tIns="50800" rIns="50800" bIns="50800" rtlCol="0" anchor="ctr"/>
            <a:lstStyle/>
            <a:p>
              <a:pPr marL="0" marR="0" lvl="0" indent="0" algn="ctr" defTabSz="914400" rtl="0" eaLnBrk="1" fontAlgn="auto" latinLnBrk="0" hangingPunct="1">
                <a:lnSpc>
                  <a:spcPts val="3079"/>
                </a:lnSpc>
                <a:spcBef>
                  <a:spcPts val="0"/>
                </a:spcBef>
                <a:spcAft>
                  <a:spcPts val="0"/>
                </a:spcAft>
                <a:buClrTx/>
                <a:buSzTx/>
                <a:buFontTx/>
                <a:buNone/>
                <a:tabLst/>
                <a:defRPr/>
              </a:pPr>
              <a:r>
                <a:rPr kumimoji="0" lang="en-US" sz="2199" b="1" i="0" u="none" strike="noStrike" kern="1200" cap="none" spc="0" normalizeH="0" baseline="0" noProof="0">
                  <a:ln>
                    <a:noFill/>
                  </a:ln>
                  <a:solidFill>
                    <a:srgbClr val="FFFFFF"/>
                  </a:solidFill>
                  <a:effectLst/>
                  <a:uLnTx/>
                  <a:uFillTx/>
                  <a:latin typeface="Poppins Bold"/>
                  <a:ea typeface="Poppins Bold"/>
                  <a:cs typeface="Poppins Bold"/>
                  <a:sym typeface="Poppins Bold"/>
                </a:rPr>
                <a:t>02</a:t>
              </a:r>
            </a:p>
          </p:txBody>
        </p:sp>
      </p:grpSp>
    </p:spTree>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AutoShape 2"/>
          <p:cNvSpPr/>
          <p:nvPr/>
        </p:nvSpPr>
        <p:spPr>
          <a:xfrm>
            <a:off x="268318" y="8539068"/>
            <a:ext cx="17369329" cy="38197"/>
          </a:xfrm>
          <a:prstGeom prst="line">
            <a:avLst/>
          </a:prstGeom>
          <a:ln w="28575" cap="rnd">
            <a:solidFill>
              <a:srgbClr val="FFFFFF"/>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 name="Group 3"/>
          <p:cNvGrpSpPr/>
          <p:nvPr/>
        </p:nvGrpSpPr>
        <p:grpSpPr>
          <a:xfrm>
            <a:off x="466810" y="568664"/>
            <a:ext cx="949728" cy="605352"/>
            <a:chOff x="0" y="0"/>
            <a:chExt cx="1266304" cy="807136"/>
          </a:xfrm>
        </p:grpSpPr>
        <p:sp>
          <p:nvSpPr>
            <p:cNvPr id="4" name="Freeform 4" descr="ollie_green.png"/>
            <p:cNvSpPr/>
            <p:nvPr/>
          </p:nvSpPr>
          <p:spPr>
            <a:xfrm>
              <a:off x="0" y="0"/>
              <a:ext cx="1266317" cy="807085"/>
            </a:xfrm>
            <a:custGeom>
              <a:avLst/>
              <a:gdLst/>
              <a:ahLst/>
              <a:cxnLst/>
              <a:rect l="l" t="t" r="r" b="b"/>
              <a:pathLst>
                <a:path w="1266317" h="807085">
                  <a:moveTo>
                    <a:pt x="0" y="0"/>
                  </a:moveTo>
                  <a:lnTo>
                    <a:pt x="1266317" y="0"/>
                  </a:lnTo>
                  <a:lnTo>
                    <a:pt x="1266317" y="807085"/>
                  </a:lnTo>
                  <a:lnTo>
                    <a:pt x="0" y="807085"/>
                  </a:lnTo>
                  <a:lnTo>
                    <a:pt x="0" y="0"/>
                  </a:lnTo>
                  <a:close/>
                </a:path>
              </a:pathLst>
            </a:custGeom>
            <a:blipFill>
              <a:blip r:embed="rId2"/>
              <a:stretch>
                <a:fillRect r="1" b="-6"/>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4106355" y="418709"/>
            <a:ext cx="10075289" cy="6716860"/>
          </a:xfrm>
          <a:custGeom>
            <a:avLst/>
            <a:gdLst/>
            <a:ahLst/>
            <a:cxnLst/>
            <a:rect l="l" t="t" r="r" b="b"/>
            <a:pathLst>
              <a:path w="10075289" h="6716860">
                <a:moveTo>
                  <a:pt x="0" y="0"/>
                </a:moveTo>
                <a:lnTo>
                  <a:pt x="10075290" y="0"/>
                </a:lnTo>
                <a:lnTo>
                  <a:pt x="10075290" y="6716860"/>
                </a:lnTo>
                <a:lnTo>
                  <a:pt x="0" y="6716860"/>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p:cNvSpPr txBox="1"/>
          <p:nvPr/>
        </p:nvSpPr>
        <p:spPr>
          <a:xfrm>
            <a:off x="2235612" y="7176993"/>
            <a:ext cx="13816777" cy="1362075"/>
          </a:xfrm>
          <a:prstGeom prst="rect">
            <a:avLst/>
          </a:prstGeom>
        </p:spPr>
        <p:txBody>
          <a:bodyPr lIns="0" tIns="0" rIns="0" bIns="0" rtlCol="0" anchor="t">
            <a:spAutoFit/>
          </a:bodyPr>
          <a:lstStyle/>
          <a:p>
            <a:pPr marL="0" marR="0" lvl="0" indent="0" algn="l" defTabSz="914400" rtl="0" eaLnBrk="1" fontAlgn="auto" latinLnBrk="0" hangingPunct="1">
              <a:lnSpc>
                <a:spcPts val="10500"/>
              </a:lnSpc>
              <a:spcBef>
                <a:spcPts val="0"/>
              </a:spcBef>
              <a:spcAft>
                <a:spcPts val="0"/>
              </a:spcAft>
              <a:buClrTx/>
              <a:buSzTx/>
              <a:buFontTx/>
              <a:buNone/>
              <a:tabLst/>
              <a:defRPr/>
            </a:pPr>
            <a:r>
              <a:rPr kumimoji="0" lang="en-US" sz="7500" b="1" i="0" u="none" strike="noStrike" kern="1200" cap="none" spc="0" normalizeH="0" baseline="0" noProof="0">
                <a:ln>
                  <a:noFill/>
                </a:ln>
                <a:solidFill>
                  <a:srgbClr val="FFFFFF"/>
                </a:solidFill>
                <a:effectLst/>
                <a:uLnTx/>
                <a:uFillTx/>
                <a:latin typeface="Poppins Bold"/>
                <a:ea typeface="Poppins Bold"/>
                <a:cs typeface="Poppins Bold"/>
                <a:sym typeface="Poppins Bold"/>
              </a:rPr>
              <a:t>03. How to Work on A Ticket</a:t>
            </a:r>
          </a:p>
        </p:txBody>
      </p:sp>
      <p:sp>
        <p:nvSpPr>
          <p:cNvPr id="7" name="TextBox 7"/>
          <p:cNvSpPr txBox="1"/>
          <p:nvPr/>
        </p:nvSpPr>
        <p:spPr>
          <a:xfrm>
            <a:off x="3105020" y="8955823"/>
            <a:ext cx="12077960" cy="614479"/>
          </a:xfrm>
          <a:prstGeom prst="rect">
            <a:avLst/>
          </a:prstGeom>
        </p:spPr>
        <p:txBody>
          <a:bodyPr lIns="0" tIns="0" rIns="0" bIns="0" rtlCol="0" anchor="t">
            <a:spAutoFit/>
          </a:bodyPr>
          <a:lstStyle/>
          <a:p>
            <a:pPr marL="0" marR="0" lvl="0" indent="0" algn="ctr" defTabSz="914400" rtl="0" eaLnBrk="1" fontAlgn="auto" latinLnBrk="0" hangingPunct="1">
              <a:lnSpc>
                <a:spcPts val="2375"/>
              </a:lnSpc>
              <a:spcBef>
                <a:spcPct val="0"/>
              </a:spcBef>
              <a:spcAft>
                <a:spcPts val="0"/>
              </a:spcAft>
              <a:buClrTx/>
              <a:buSzTx/>
              <a:buFontTx/>
              <a:buNone/>
              <a:tabLst/>
              <a:defRPr/>
            </a:pPr>
            <a:r>
              <a:rPr kumimoji="0" lang="en-US" sz="2199" b="0" i="0" u="none" strike="noStrike" kern="1200" cap="none" spc="0" normalizeH="0" baseline="0" noProof="0">
                <a:ln>
                  <a:noFill/>
                </a:ln>
                <a:solidFill>
                  <a:srgbClr val="FFFFFF"/>
                </a:solidFill>
                <a:effectLst/>
                <a:uLnTx/>
                <a:uFillTx/>
                <a:latin typeface="Poppins"/>
                <a:ea typeface="Poppins"/>
                <a:cs typeface="Poppins"/>
                <a:sym typeface="Poppins"/>
              </a:rPr>
              <a:t>End-to-end ticket handling — from your first check to merging, duplicates, and closing.</a:t>
            </a:r>
          </a:p>
          <a:p>
            <a:pPr marL="0" marR="0" lvl="0" indent="0" algn="ctr" defTabSz="914400" rtl="0" eaLnBrk="1" fontAlgn="auto" latinLnBrk="0" hangingPunct="1">
              <a:lnSpc>
                <a:spcPts val="2375"/>
              </a:lnSpc>
              <a:spcBef>
                <a:spcPct val="0"/>
              </a:spcBef>
              <a:spcAft>
                <a:spcPts val="0"/>
              </a:spcAft>
              <a:buClrTx/>
              <a:buSzTx/>
              <a:buFontTx/>
              <a:buNone/>
              <a:tabLst/>
              <a:defRPr/>
            </a:pPr>
            <a:endParaRPr kumimoji="0" lang="en-US" sz="2199" b="0" i="0" u="none" strike="noStrike" kern="1200" cap="none" spc="0" normalizeH="0" baseline="0" noProof="0">
              <a:ln>
                <a:noFill/>
              </a:ln>
              <a:solidFill>
                <a:srgbClr val="FFFFFF"/>
              </a:solidFill>
              <a:effectLst/>
              <a:uLnTx/>
              <a:uFillTx/>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reeform 8">
            <a:extLst>
              <a:ext uri="{FF2B5EF4-FFF2-40B4-BE49-F238E27FC236}">
                <a16:creationId xmlns:a16="http://schemas.microsoft.com/office/drawing/2014/main" id="{778B3B4B-4E6A-173C-4345-C94DAD50D65F}"/>
              </a:ext>
            </a:extLst>
          </p:cNvPr>
          <p:cNvSpPr/>
          <p:nvPr/>
        </p:nvSpPr>
        <p:spPr>
          <a:xfrm rot="3016692">
            <a:off x="13561931" y="-1319597"/>
            <a:ext cx="8521263" cy="6558210"/>
          </a:xfrm>
          <a:custGeom>
            <a:avLst/>
            <a:gdLst/>
            <a:ahLst/>
            <a:cxnLst/>
            <a:rect l="l" t="t" r="r" b="b"/>
            <a:pathLst>
              <a:path w="4597542" h="4114800">
                <a:moveTo>
                  <a:pt x="0" y="0"/>
                </a:moveTo>
                <a:lnTo>
                  <a:pt x="4597542" y="0"/>
                </a:lnTo>
                <a:lnTo>
                  <a:pt x="4597542"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dirty="0"/>
          </a:p>
        </p:txBody>
      </p:sp>
      <p:grpSp>
        <p:nvGrpSpPr>
          <p:cNvPr id="2" name="Group 2"/>
          <p:cNvGrpSpPr/>
          <p:nvPr/>
        </p:nvGrpSpPr>
        <p:grpSpPr>
          <a:xfrm>
            <a:off x="372836" y="2324100"/>
            <a:ext cx="5771482" cy="7149193"/>
            <a:chOff x="0" y="0"/>
            <a:chExt cx="1503752" cy="1963192"/>
          </a:xfrm>
        </p:grpSpPr>
        <p:sp>
          <p:nvSpPr>
            <p:cNvPr id="3" name="Freeform 3"/>
            <p:cNvSpPr/>
            <p:nvPr/>
          </p:nvSpPr>
          <p:spPr>
            <a:xfrm>
              <a:off x="0" y="0"/>
              <a:ext cx="1503752" cy="1963192"/>
            </a:xfrm>
            <a:custGeom>
              <a:avLst/>
              <a:gdLst/>
              <a:ahLst/>
              <a:cxnLst/>
              <a:rect l="l" t="t" r="r" b="b"/>
              <a:pathLst>
                <a:path w="1503752" h="1963192">
                  <a:moveTo>
                    <a:pt x="69154" y="0"/>
                  </a:moveTo>
                  <a:lnTo>
                    <a:pt x="1434598" y="0"/>
                  </a:lnTo>
                  <a:cubicBezTo>
                    <a:pt x="1472791" y="0"/>
                    <a:pt x="1503752" y="30961"/>
                    <a:pt x="1503752" y="69154"/>
                  </a:cubicBezTo>
                  <a:lnTo>
                    <a:pt x="1503752" y="1894038"/>
                  </a:lnTo>
                  <a:cubicBezTo>
                    <a:pt x="1503752" y="1912378"/>
                    <a:pt x="1496466" y="1929968"/>
                    <a:pt x="1483498" y="1942937"/>
                  </a:cubicBezTo>
                  <a:cubicBezTo>
                    <a:pt x="1470529" y="1955906"/>
                    <a:pt x="1452939" y="1963192"/>
                    <a:pt x="1434598" y="1963192"/>
                  </a:cubicBezTo>
                  <a:lnTo>
                    <a:pt x="69154" y="1963192"/>
                  </a:lnTo>
                  <a:cubicBezTo>
                    <a:pt x="50813" y="1963192"/>
                    <a:pt x="33224" y="1955906"/>
                    <a:pt x="20255" y="1942937"/>
                  </a:cubicBezTo>
                  <a:cubicBezTo>
                    <a:pt x="7286" y="1929968"/>
                    <a:pt x="0" y="1912378"/>
                    <a:pt x="0" y="1894038"/>
                  </a:cubicBezTo>
                  <a:lnTo>
                    <a:pt x="0" y="69154"/>
                  </a:lnTo>
                  <a:cubicBezTo>
                    <a:pt x="0" y="50813"/>
                    <a:pt x="7286" y="33224"/>
                    <a:pt x="20255" y="20255"/>
                  </a:cubicBezTo>
                  <a:cubicBezTo>
                    <a:pt x="33224" y="7286"/>
                    <a:pt x="50813" y="0"/>
                    <a:pt x="69154" y="0"/>
                  </a:cubicBezTo>
                  <a:close/>
                </a:path>
              </a:pathLst>
            </a:custGeom>
            <a:solidFill>
              <a:srgbClr val="FFFFFF"/>
            </a:solidFill>
            <a:ln w="38100" cap="rnd">
              <a:solidFill>
                <a:srgbClr val="00BF63"/>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57150"/>
              <a:ext cx="1503752" cy="2020342"/>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p:cNvGrpSpPr/>
          <p:nvPr/>
        </p:nvGrpSpPr>
        <p:grpSpPr>
          <a:xfrm>
            <a:off x="6292609" y="2324100"/>
            <a:ext cx="5771482" cy="7149193"/>
            <a:chOff x="0" y="0"/>
            <a:chExt cx="1503752" cy="1963192"/>
          </a:xfrm>
        </p:grpSpPr>
        <p:sp>
          <p:nvSpPr>
            <p:cNvPr id="6" name="Freeform 6"/>
            <p:cNvSpPr/>
            <p:nvPr/>
          </p:nvSpPr>
          <p:spPr>
            <a:xfrm>
              <a:off x="0" y="0"/>
              <a:ext cx="1503752" cy="1963192"/>
            </a:xfrm>
            <a:custGeom>
              <a:avLst/>
              <a:gdLst/>
              <a:ahLst/>
              <a:cxnLst/>
              <a:rect l="l" t="t" r="r" b="b"/>
              <a:pathLst>
                <a:path w="1503752" h="1963192">
                  <a:moveTo>
                    <a:pt x="69154" y="0"/>
                  </a:moveTo>
                  <a:lnTo>
                    <a:pt x="1434598" y="0"/>
                  </a:lnTo>
                  <a:cubicBezTo>
                    <a:pt x="1472791" y="0"/>
                    <a:pt x="1503752" y="30961"/>
                    <a:pt x="1503752" y="69154"/>
                  </a:cubicBezTo>
                  <a:lnTo>
                    <a:pt x="1503752" y="1894038"/>
                  </a:lnTo>
                  <a:cubicBezTo>
                    <a:pt x="1503752" y="1912378"/>
                    <a:pt x="1496466" y="1929968"/>
                    <a:pt x="1483498" y="1942937"/>
                  </a:cubicBezTo>
                  <a:cubicBezTo>
                    <a:pt x="1470529" y="1955906"/>
                    <a:pt x="1452939" y="1963192"/>
                    <a:pt x="1434598" y="1963192"/>
                  </a:cubicBezTo>
                  <a:lnTo>
                    <a:pt x="69154" y="1963192"/>
                  </a:lnTo>
                  <a:cubicBezTo>
                    <a:pt x="50813" y="1963192"/>
                    <a:pt x="33224" y="1955906"/>
                    <a:pt x="20255" y="1942937"/>
                  </a:cubicBezTo>
                  <a:cubicBezTo>
                    <a:pt x="7286" y="1929968"/>
                    <a:pt x="0" y="1912378"/>
                    <a:pt x="0" y="1894038"/>
                  </a:cubicBezTo>
                  <a:lnTo>
                    <a:pt x="0" y="69154"/>
                  </a:lnTo>
                  <a:cubicBezTo>
                    <a:pt x="0" y="50813"/>
                    <a:pt x="7286" y="33224"/>
                    <a:pt x="20255" y="20255"/>
                  </a:cubicBezTo>
                  <a:cubicBezTo>
                    <a:pt x="33224" y="7286"/>
                    <a:pt x="50813" y="0"/>
                    <a:pt x="69154" y="0"/>
                  </a:cubicBezTo>
                  <a:close/>
                </a:path>
              </a:pathLst>
            </a:custGeom>
            <a:solidFill>
              <a:srgbClr val="FFFFFF"/>
            </a:solidFill>
            <a:ln w="38100" cap="rnd">
              <a:solidFill>
                <a:srgbClr val="002B11"/>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p:cNvSpPr txBox="1"/>
            <p:nvPr/>
          </p:nvSpPr>
          <p:spPr>
            <a:xfrm>
              <a:off x="0" y="-57150"/>
              <a:ext cx="1503752" cy="2020342"/>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p:cNvGrpSpPr/>
          <p:nvPr/>
        </p:nvGrpSpPr>
        <p:grpSpPr>
          <a:xfrm>
            <a:off x="12211718" y="2324100"/>
            <a:ext cx="5771482" cy="7149193"/>
            <a:chOff x="0" y="0"/>
            <a:chExt cx="1503752" cy="1963192"/>
          </a:xfrm>
        </p:grpSpPr>
        <p:sp>
          <p:nvSpPr>
            <p:cNvPr id="9" name="Freeform 9"/>
            <p:cNvSpPr/>
            <p:nvPr/>
          </p:nvSpPr>
          <p:spPr>
            <a:xfrm>
              <a:off x="0" y="0"/>
              <a:ext cx="1503752" cy="1963192"/>
            </a:xfrm>
            <a:custGeom>
              <a:avLst/>
              <a:gdLst/>
              <a:ahLst/>
              <a:cxnLst/>
              <a:rect l="l" t="t" r="r" b="b"/>
              <a:pathLst>
                <a:path w="1503752" h="1963192">
                  <a:moveTo>
                    <a:pt x="69154" y="0"/>
                  </a:moveTo>
                  <a:lnTo>
                    <a:pt x="1434598" y="0"/>
                  </a:lnTo>
                  <a:cubicBezTo>
                    <a:pt x="1472791" y="0"/>
                    <a:pt x="1503752" y="30961"/>
                    <a:pt x="1503752" y="69154"/>
                  </a:cubicBezTo>
                  <a:lnTo>
                    <a:pt x="1503752" y="1894038"/>
                  </a:lnTo>
                  <a:cubicBezTo>
                    <a:pt x="1503752" y="1912378"/>
                    <a:pt x="1496466" y="1929968"/>
                    <a:pt x="1483498" y="1942937"/>
                  </a:cubicBezTo>
                  <a:cubicBezTo>
                    <a:pt x="1470529" y="1955906"/>
                    <a:pt x="1452939" y="1963192"/>
                    <a:pt x="1434598" y="1963192"/>
                  </a:cubicBezTo>
                  <a:lnTo>
                    <a:pt x="69154" y="1963192"/>
                  </a:lnTo>
                  <a:cubicBezTo>
                    <a:pt x="50813" y="1963192"/>
                    <a:pt x="33224" y="1955906"/>
                    <a:pt x="20255" y="1942937"/>
                  </a:cubicBezTo>
                  <a:cubicBezTo>
                    <a:pt x="7286" y="1929968"/>
                    <a:pt x="0" y="1912378"/>
                    <a:pt x="0" y="1894038"/>
                  </a:cubicBezTo>
                  <a:lnTo>
                    <a:pt x="0" y="69154"/>
                  </a:lnTo>
                  <a:cubicBezTo>
                    <a:pt x="0" y="50813"/>
                    <a:pt x="7286" y="33224"/>
                    <a:pt x="20255" y="20255"/>
                  </a:cubicBezTo>
                  <a:cubicBezTo>
                    <a:pt x="33224" y="7286"/>
                    <a:pt x="50813" y="0"/>
                    <a:pt x="69154" y="0"/>
                  </a:cubicBezTo>
                  <a:close/>
                </a:path>
              </a:pathLst>
            </a:custGeom>
            <a:solidFill>
              <a:srgbClr val="FFFFFF"/>
            </a:solidFill>
            <a:ln w="38100" cap="rnd">
              <a:solidFill>
                <a:srgbClr val="00BF63"/>
              </a:soli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p:cNvSpPr txBox="1"/>
            <p:nvPr/>
          </p:nvSpPr>
          <p:spPr>
            <a:xfrm>
              <a:off x="0" y="-57150"/>
              <a:ext cx="1503752" cy="2020342"/>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1" name="Freeform 11"/>
          <p:cNvSpPr/>
          <p:nvPr/>
        </p:nvSpPr>
        <p:spPr>
          <a:xfrm>
            <a:off x="810655" y="4042330"/>
            <a:ext cx="620336" cy="626227"/>
          </a:xfrm>
          <a:custGeom>
            <a:avLst/>
            <a:gdLst/>
            <a:ahLst/>
            <a:cxnLst/>
            <a:rect l="l" t="t" r="r" b="b"/>
            <a:pathLst>
              <a:path w="613680" h="613680">
                <a:moveTo>
                  <a:pt x="0" y="0"/>
                </a:moveTo>
                <a:lnTo>
                  <a:pt x="613680" y="0"/>
                </a:lnTo>
                <a:lnTo>
                  <a:pt x="613680" y="613680"/>
                </a:lnTo>
                <a:lnTo>
                  <a:pt x="0" y="613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Freeform 12"/>
          <p:cNvSpPr/>
          <p:nvPr/>
        </p:nvSpPr>
        <p:spPr>
          <a:xfrm>
            <a:off x="810655" y="5542033"/>
            <a:ext cx="624390" cy="571490"/>
          </a:xfrm>
          <a:custGeom>
            <a:avLst/>
            <a:gdLst/>
            <a:ahLst/>
            <a:cxnLst/>
            <a:rect l="l" t="t" r="r" b="b"/>
            <a:pathLst>
              <a:path w="617691" h="560040">
                <a:moveTo>
                  <a:pt x="0" y="0"/>
                </a:moveTo>
                <a:lnTo>
                  <a:pt x="617692" y="0"/>
                </a:lnTo>
                <a:lnTo>
                  <a:pt x="617692" y="560040"/>
                </a:lnTo>
                <a:lnTo>
                  <a:pt x="0" y="56004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Freeform 13"/>
          <p:cNvSpPr/>
          <p:nvPr/>
        </p:nvSpPr>
        <p:spPr>
          <a:xfrm>
            <a:off x="810654" y="6737088"/>
            <a:ext cx="702331" cy="728426"/>
          </a:xfrm>
          <a:custGeom>
            <a:avLst/>
            <a:gdLst/>
            <a:ahLst/>
            <a:cxnLst/>
            <a:rect l="l" t="t" r="r" b="b"/>
            <a:pathLst>
              <a:path w="694796" h="713831">
                <a:moveTo>
                  <a:pt x="0" y="0"/>
                </a:moveTo>
                <a:lnTo>
                  <a:pt x="694796" y="0"/>
                </a:lnTo>
                <a:lnTo>
                  <a:pt x="694796" y="713831"/>
                </a:lnTo>
                <a:lnTo>
                  <a:pt x="0" y="713831"/>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Freeform 14"/>
          <p:cNvSpPr/>
          <p:nvPr/>
        </p:nvSpPr>
        <p:spPr>
          <a:xfrm>
            <a:off x="854933" y="8090273"/>
            <a:ext cx="648964" cy="602717"/>
          </a:xfrm>
          <a:custGeom>
            <a:avLst/>
            <a:gdLst/>
            <a:ahLst/>
            <a:cxnLst/>
            <a:rect l="l" t="t" r="r" b="b"/>
            <a:pathLst>
              <a:path w="642001" h="590641">
                <a:moveTo>
                  <a:pt x="0" y="0"/>
                </a:moveTo>
                <a:lnTo>
                  <a:pt x="642001" y="0"/>
                </a:lnTo>
                <a:lnTo>
                  <a:pt x="642001" y="590641"/>
                </a:lnTo>
                <a:lnTo>
                  <a:pt x="0" y="59064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Freeform 15"/>
          <p:cNvSpPr/>
          <p:nvPr/>
        </p:nvSpPr>
        <p:spPr>
          <a:xfrm>
            <a:off x="6783081" y="3921393"/>
            <a:ext cx="622680" cy="873046"/>
          </a:xfrm>
          <a:custGeom>
            <a:avLst/>
            <a:gdLst/>
            <a:ahLst/>
            <a:cxnLst/>
            <a:rect l="l" t="t" r="r" b="b"/>
            <a:pathLst>
              <a:path w="615999" h="855554">
                <a:moveTo>
                  <a:pt x="0" y="0"/>
                </a:moveTo>
                <a:lnTo>
                  <a:pt x="615999" y="0"/>
                </a:lnTo>
                <a:lnTo>
                  <a:pt x="615999" y="855555"/>
                </a:lnTo>
                <a:lnTo>
                  <a:pt x="0" y="85555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Freeform 16"/>
          <p:cNvSpPr/>
          <p:nvPr/>
        </p:nvSpPr>
        <p:spPr>
          <a:xfrm>
            <a:off x="6685029" y="5984870"/>
            <a:ext cx="820912" cy="863237"/>
          </a:xfrm>
          <a:custGeom>
            <a:avLst/>
            <a:gdLst/>
            <a:ahLst/>
            <a:cxnLst/>
            <a:rect l="l" t="t" r="r" b="b"/>
            <a:pathLst>
              <a:path w="812104" h="845941">
                <a:moveTo>
                  <a:pt x="0" y="0"/>
                </a:moveTo>
                <a:lnTo>
                  <a:pt x="812103" y="0"/>
                </a:lnTo>
                <a:lnTo>
                  <a:pt x="812103" y="845941"/>
                </a:lnTo>
                <a:lnTo>
                  <a:pt x="0" y="845941"/>
                </a:lnTo>
                <a:lnTo>
                  <a:pt x="0" y="0"/>
                </a:lnTo>
                <a:close/>
              </a:path>
            </a:pathLst>
          </a:custGeom>
          <a:blipFill>
            <a:blip r:embed="rId8"/>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7" name="Group 17"/>
          <p:cNvGrpSpPr/>
          <p:nvPr/>
        </p:nvGrpSpPr>
        <p:grpSpPr>
          <a:xfrm rot="365841">
            <a:off x="562603" y="2549914"/>
            <a:ext cx="5537472" cy="1086866"/>
            <a:chOff x="0" y="0"/>
            <a:chExt cx="7304080" cy="1420120"/>
          </a:xfrm>
          <a:effectLst>
            <a:outerShdw blurRad="50800" dist="38100" dir="5400000" algn="t" rotWithShape="0">
              <a:prstClr val="black">
                <a:alpha val="40000"/>
              </a:prstClr>
            </a:outerShdw>
          </a:effectLst>
        </p:grpSpPr>
        <p:sp>
          <p:nvSpPr>
            <p:cNvPr id="18" name="Freeform 18"/>
            <p:cNvSpPr/>
            <p:nvPr/>
          </p:nvSpPr>
          <p:spPr>
            <a:xfrm>
              <a:off x="0" y="284849"/>
              <a:ext cx="5008550" cy="1135271"/>
            </a:xfrm>
            <a:custGeom>
              <a:avLst/>
              <a:gdLst/>
              <a:ahLst/>
              <a:cxnLst/>
              <a:rect l="l" t="t" r="r" b="b"/>
              <a:pathLst>
                <a:path w="5008550" h="1135271">
                  <a:moveTo>
                    <a:pt x="0" y="0"/>
                  </a:moveTo>
                  <a:lnTo>
                    <a:pt x="5008550" y="0"/>
                  </a:lnTo>
                  <a:lnTo>
                    <a:pt x="5008550" y="1135271"/>
                  </a:lnTo>
                  <a:lnTo>
                    <a:pt x="0" y="113527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Freeform 19"/>
            <p:cNvSpPr/>
            <p:nvPr/>
          </p:nvSpPr>
          <p:spPr>
            <a:xfrm>
              <a:off x="2295531" y="0"/>
              <a:ext cx="5008550" cy="1135271"/>
            </a:xfrm>
            <a:custGeom>
              <a:avLst/>
              <a:gdLst/>
              <a:ahLst/>
              <a:cxnLst/>
              <a:rect l="l" t="t" r="r" b="b"/>
              <a:pathLst>
                <a:path w="5008550" h="1135271">
                  <a:moveTo>
                    <a:pt x="0" y="0"/>
                  </a:moveTo>
                  <a:lnTo>
                    <a:pt x="5008549" y="0"/>
                  </a:lnTo>
                  <a:lnTo>
                    <a:pt x="5008549" y="1135271"/>
                  </a:lnTo>
                  <a:lnTo>
                    <a:pt x="0" y="113527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0" name="Freeform 20"/>
          <p:cNvSpPr/>
          <p:nvPr/>
        </p:nvSpPr>
        <p:spPr>
          <a:xfrm rot="420242">
            <a:off x="7189594" y="2598570"/>
            <a:ext cx="3797152" cy="868861"/>
          </a:xfrm>
          <a:custGeom>
            <a:avLst/>
            <a:gdLst/>
            <a:ahLst/>
            <a:cxnLst/>
            <a:rect l="l" t="t" r="r" b="b"/>
            <a:pathLst>
              <a:path w="3756412" h="851453">
                <a:moveTo>
                  <a:pt x="0" y="0"/>
                </a:moveTo>
                <a:lnTo>
                  <a:pt x="3756412" y="0"/>
                </a:lnTo>
                <a:lnTo>
                  <a:pt x="3756412" y="851454"/>
                </a:lnTo>
                <a:lnTo>
                  <a:pt x="0" y="851454"/>
                </a:lnTo>
                <a:lnTo>
                  <a:pt x="0" y="0"/>
                </a:lnTo>
                <a:close/>
              </a:path>
            </a:pathLst>
          </a:custGeom>
          <a:blipFill>
            <a:blip>
              <a:extLst>
                <a:ext uri="{96DAC541-7B7A-43D3-8B79-37D633B846F1}">
                  <asvg:svgBlip xmlns:asvg="http://schemas.microsoft.com/office/drawing/2016/SVG/main" r:embed="rId9"/>
                </a:ext>
              </a:extLst>
            </a:blip>
            <a:stretch>
              <a:fillRect/>
            </a:stretch>
          </a:blip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1" name="Group 21"/>
          <p:cNvGrpSpPr/>
          <p:nvPr/>
        </p:nvGrpSpPr>
        <p:grpSpPr>
          <a:xfrm rot="365841">
            <a:off x="12400821" y="2615115"/>
            <a:ext cx="5537472" cy="1086866"/>
            <a:chOff x="0" y="0"/>
            <a:chExt cx="7304080" cy="1420120"/>
          </a:xfrm>
          <a:effectLst>
            <a:outerShdw blurRad="50800" dist="38100" dir="5400000" algn="t" rotWithShape="0">
              <a:prstClr val="black">
                <a:alpha val="40000"/>
              </a:prstClr>
            </a:outerShdw>
          </a:effectLst>
        </p:grpSpPr>
        <p:sp>
          <p:nvSpPr>
            <p:cNvPr id="22" name="Freeform 22"/>
            <p:cNvSpPr/>
            <p:nvPr/>
          </p:nvSpPr>
          <p:spPr>
            <a:xfrm>
              <a:off x="0" y="284849"/>
              <a:ext cx="5008550" cy="1135271"/>
            </a:xfrm>
            <a:custGeom>
              <a:avLst/>
              <a:gdLst/>
              <a:ahLst/>
              <a:cxnLst/>
              <a:rect l="l" t="t" r="r" b="b"/>
              <a:pathLst>
                <a:path w="5008550" h="1135271">
                  <a:moveTo>
                    <a:pt x="0" y="0"/>
                  </a:moveTo>
                  <a:lnTo>
                    <a:pt x="5008550" y="0"/>
                  </a:lnTo>
                  <a:lnTo>
                    <a:pt x="5008550" y="1135271"/>
                  </a:lnTo>
                  <a:lnTo>
                    <a:pt x="0" y="113527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Freeform 23"/>
            <p:cNvSpPr/>
            <p:nvPr/>
          </p:nvSpPr>
          <p:spPr>
            <a:xfrm>
              <a:off x="2295531" y="0"/>
              <a:ext cx="5008550" cy="1135271"/>
            </a:xfrm>
            <a:custGeom>
              <a:avLst/>
              <a:gdLst/>
              <a:ahLst/>
              <a:cxnLst/>
              <a:rect l="l" t="t" r="r" b="b"/>
              <a:pathLst>
                <a:path w="5008550" h="1135271">
                  <a:moveTo>
                    <a:pt x="0" y="0"/>
                  </a:moveTo>
                  <a:lnTo>
                    <a:pt x="5008549" y="0"/>
                  </a:lnTo>
                  <a:lnTo>
                    <a:pt x="5008549" y="1135271"/>
                  </a:lnTo>
                  <a:lnTo>
                    <a:pt x="0" y="113527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4" name="Freeform 24"/>
          <p:cNvSpPr/>
          <p:nvPr/>
        </p:nvSpPr>
        <p:spPr>
          <a:xfrm>
            <a:off x="12907043" y="4128553"/>
            <a:ext cx="484805" cy="450256"/>
          </a:xfrm>
          <a:custGeom>
            <a:avLst/>
            <a:gdLst/>
            <a:ahLst/>
            <a:cxnLst/>
            <a:rect l="l" t="t" r="r" b="b"/>
            <a:pathLst>
              <a:path w="479603" h="441235">
                <a:moveTo>
                  <a:pt x="0" y="0"/>
                </a:moveTo>
                <a:lnTo>
                  <a:pt x="479603" y="0"/>
                </a:lnTo>
                <a:lnTo>
                  <a:pt x="479603" y="441235"/>
                </a:lnTo>
                <a:lnTo>
                  <a:pt x="0" y="441235"/>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5"/>
          <p:cNvSpPr txBox="1"/>
          <p:nvPr/>
        </p:nvSpPr>
        <p:spPr>
          <a:xfrm>
            <a:off x="1181303" y="2724401"/>
            <a:ext cx="4137012" cy="475579"/>
          </a:xfrm>
          <a:prstGeom prst="rect">
            <a:avLst/>
          </a:prstGeom>
        </p:spPr>
        <p:txBody>
          <a:bodyPr wrap="square" lIns="0" tIns="0" rIns="0" bIns="0" rtlCol="0" anchor="t">
            <a:spAutoFit/>
          </a:bodyPr>
          <a:lstStyle/>
          <a:p>
            <a:pPr marL="0" marR="0" lvl="0" indent="0" algn="ctr" defTabSz="914400" rtl="0" eaLnBrk="1" fontAlgn="auto" latinLnBrk="0" hangingPunct="1">
              <a:lnSpc>
                <a:spcPts val="3919"/>
              </a:lnSpc>
              <a:spcBef>
                <a:spcPct val="0"/>
              </a:spcBef>
              <a:spcAft>
                <a:spcPts val="0"/>
              </a:spcAft>
              <a:buClrTx/>
              <a:buSzTx/>
              <a:buFontTx/>
              <a:buNone/>
              <a:tabLst/>
              <a:defRPr/>
            </a:pPr>
            <a:r>
              <a:rPr kumimoji="0" lang="en-US" sz="2799" b="1" i="0" u="none" strike="noStrike" kern="1200" cap="none" spc="0" normalizeH="0" baseline="0" noProof="0" dirty="0">
                <a:ln>
                  <a:noFill/>
                </a:ln>
                <a:solidFill>
                  <a:srgbClr val="000000"/>
                </a:solidFill>
                <a:effectLst/>
                <a:uLnTx/>
                <a:uFillTx/>
                <a:latin typeface="Poppins" panose="00000500000000000000" pitchFamily="2" charset="0"/>
                <a:ea typeface="Poppins Bold"/>
                <a:cs typeface="Poppins" panose="00000500000000000000" pitchFamily="2" charset="0"/>
                <a:sym typeface="Poppins Bold"/>
              </a:rPr>
              <a:t>Before taking action</a:t>
            </a:r>
          </a:p>
        </p:txBody>
      </p:sp>
      <p:sp>
        <p:nvSpPr>
          <p:cNvPr id="26" name="TextBox 26"/>
          <p:cNvSpPr txBox="1"/>
          <p:nvPr/>
        </p:nvSpPr>
        <p:spPr>
          <a:xfrm>
            <a:off x="1681509" y="3734173"/>
            <a:ext cx="3748725" cy="1196824"/>
          </a:xfrm>
          <a:prstGeom prst="rect">
            <a:avLst/>
          </a:prstGeom>
        </p:spPr>
        <p:txBody>
          <a:bodyPr wrap="square" lIns="0" tIns="0" rIns="0" bIns="0" rtlCol="0" anchor="t">
            <a:spAutoFit/>
          </a:bodyPr>
          <a:lstStyle/>
          <a:p>
            <a:pPr marL="0" marR="0" lvl="0" indent="0" algn="l" defTabSz="914400" rtl="0" eaLnBrk="1" fontAlgn="auto" latinLnBrk="0" hangingPunct="1">
              <a:lnSpc>
                <a:spcPts val="3080"/>
              </a:lnSpc>
              <a:spcBef>
                <a:spcPct val="0"/>
              </a:spcBef>
              <a:spcAft>
                <a:spcPts val="0"/>
              </a:spcAft>
              <a:buClrTx/>
              <a:buSzTx/>
              <a:buFontTx/>
              <a:buNone/>
              <a:tabLst/>
              <a:defRPr/>
            </a:pPr>
            <a:r>
              <a:rPr kumimoji="0" lang="en-US" sz="2200" b="1" i="0" u="none" strike="noStrike" kern="1200" cap="none" spc="0" normalizeH="0" baseline="0" noProof="0">
                <a:ln>
                  <a:noFill/>
                </a:ln>
                <a:solidFill>
                  <a:srgbClr val="000000"/>
                </a:solidFill>
                <a:effectLst/>
                <a:uLnTx/>
                <a:uFillTx/>
                <a:latin typeface="Poppins" panose="00000500000000000000" pitchFamily="2" charset="0"/>
                <a:ea typeface="Poppins Bold"/>
                <a:cs typeface="Poppins" panose="00000500000000000000" pitchFamily="2" charset="0"/>
                <a:sym typeface="Poppins Bold"/>
              </a:rPr>
              <a:t>Identify:</a:t>
            </a:r>
            <a:r>
              <a:rPr kumimoji="0" lang="en-US" sz="2200" b="0" i="0" u="none" strike="noStrike" kern="1200" cap="none" spc="0" normalizeH="0" baseline="0" noProof="0">
                <a:ln>
                  <a:noFill/>
                </a:ln>
                <a:solidFill>
                  <a:srgbClr val="000000"/>
                </a:solidFill>
                <a:effectLst/>
                <a:uLnTx/>
                <a:uFillTx/>
                <a:latin typeface="Poppins" panose="00000500000000000000" pitchFamily="2" charset="0"/>
                <a:ea typeface="Poppins"/>
                <a:cs typeface="Poppins" panose="00000500000000000000" pitchFamily="2" charset="0"/>
                <a:sym typeface="Poppins"/>
              </a:rPr>
              <a:t> Check customer context panel for duplicates </a:t>
            </a:r>
          </a:p>
        </p:txBody>
      </p:sp>
      <p:sp>
        <p:nvSpPr>
          <p:cNvPr id="27" name="TextBox 27"/>
          <p:cNvSpPr txBox="1"/>
          <p:nvPr/>
        </p:nvSpPr>
        <p:spPr>
          <a:xfrm>
            <a:off x="1681509" y="5402317"/>
            <a:ext cx="3573383" cy="798315"/>
          </a:xfrm>
          <a:prstGeom prst="rect">
            <a:avLst/>
          </a:prstGeom>
        </p:spPr>
        <p:txBody>
          <a:bodyPr wrap="square" lIns="0" tIns="0" rIns="0" bIns="0" rtlCol="0" anchor="t">
            <a:spAutoFit/>
          </a:bodyPr>
          <a:lstStyle/>
          <a:p>
            <a:pPr marL="0" marR="0" lvl="0" indent="0" algn="l" defTabSz="914400" rtl="0" eaLnBrk="1" fontAlgn="auto" latinLnBrk="0" hangingPunct="1">
              <a:lnSpc>
                <a:spcPts val="3080"/>
              </a:lnSpc>
              <a:spcBef>
                <a:spcPct val="0"/>
              </a:spcBef>
              <a:spcAft>
                <a:spcPts val="0"/>
              </a:spcAft>
              <a:buClrTx/>
              <a:buSzTx/>
              <a:buFontTx/>
              <a:buNone/>
              <a:tabLst/>
              <a:defRPr/>
            </a:pPr>
            <a:r>
              <a:rPr kumimoji="0" lang="en-US" sz="2200" b="1" i="0" u="none" strike="noStrike" kern="1200" cap="none" spc="0" normalizeH="0" baseline="0" noProof="0">
                <a:ln>
                  <a:noFill/>
                </a:ln>
                <a:solidFill>
                  <a:srgbClr val="000000"/>
                </a:solidFill>
                <a:effectLst/>
                <a:uLnTx/>
                <a:uFillTx/>
                <a:latin typeface="Poppins" panose="00000500000000000000" pitchFamily="2" charset="0"/>
                <a:ea typeface="Poppins Bold"/>
                <a:cs typeface="Poppins" panose="00000500000000000000" pitchFamily="2" charset="0"/>
                <a:sym typeface="Poppins Bold"/>
              </a:rPr>
              <a:t>Scan: </a:t>
            </a:r>
            <a:r>
              <a:rPr kumimoji="0" lang="en-US" sz="2200" b="0" i="0" u="none" strike="noStrike" kern="1200" cap="none" spc="0" normalizeH="0" baseline="0" noProof="0">
                <a:ln>
                  <a:noFill/>
                </a:ln>
                <a:solidFill>
                  <a:srgbClr val="000000"/>
                </a:solidFill>
                <a:effectLst/>
                <a:uLnTx/>
                <a:uFillTx/>
                <a:latin typeface="Poppins" panose="00000500000000000000" pitchFamily="2" charset="0"/>
                <a:ea typeface="Poppins"/>
                <a:cs typeface="Poppins" panose="00000500000000000000" pitchFamily="2" charset="0"/>
                <a:sym typeface="Poppins"/>
              </a:rPr>
              <a:t>Look for same-organization cross-filing </a:t>
            </a:r>
          </a:p>
        </p:txBody>
      </p:sp>
      <p:sp>
        <p:nvSpPr>
          <p:cNvPr id="28" name="TextBox 28"/>
          <p:cNvSpPr txBox="1"/>
          <p:nvPr/>
        </p:nvSpPr>
        <p:spPr>
          <a:xfrm>
            <a:off x="1637897" y="6679937"/>
            <a:ext cx="3617470" cy="798315"/>
          </a:xfrm>
          <a:prstGeom prst="rect">
            <a:avLst/>
          </a:prstGeom>
        </p:spPr>
        <p:txBody>
          <a:bodyPr wrap="square" lIns="0" tIns="0" rIns="0" bIns="0" rtlCol="0" anchor="t">
            <a:spAutoFit/>
          </a:bodyPr>
          <a:lstStyle/>
          <a:p>
            <a:pPr marL="0" marR="0" lvl="0" indent="0" algn="l" defTabSz="914400" rtl="0" eaLnBrk="1" fontAlgn="auto" latinLnBrk="0" hangingPunct="1">
              <a:lnSpc>
                <a:spcPts val="3080"/>
              </a:lnSpc>
              <a:spcBef>
                <a:spcPct val="0"/>
              </a:spcBef>
              <a:spcAft>
                <a:spcPts val="0"/>
              </a:spcAft>
              <a:buClrTx/>
              <a:buSzTx/>
              <a:buFontTx/>
              <a:buNone/>
              <a:tabLst/>
              <a:defRPr/>
            </a:pPr>
            <a:r>
              <a:rPr kumimoji="0" lang="en-US" sz="2200" b="1" i="0" u="none" strike="noStrike" kern="1200" cap="none" spc="0" normalizeH="0" baseline="0" noProof="0">
                <a:ln>
                  <a:noFill/>
                </a:ln>
                <a:solidFill>
                  <a:srgbClr val="000000"/>
                </a:solidFill>
                <a:effectLst/>
                <a:uLnTx/>
                <a:uFillTx/>
                <a:latin typeface="Poppins" panose="00000500000000000000" pitchFamily="2" charset="0"/>
                <a:ea typeface="Poppins Bold"/>
                <a:cs typeface="Poppins" panose="00000500000000000000" pitchFamily="2" charset="0"/>
                <a:sym typeface="Poppins Bold"/>
              </a:rPr>
              <a:t>Assess: </a:t>
            </a:r>
            <a:r>
              <a:rPr kumimoji="0" lang="en-US" sz="2200" b="0" i="0" u="none" strike="noStrike" kern="1200" cap="none" spc="0" normalizeH="0" baseline="0" noProof="0">
                <a:ln>
                  <a:noFill/>
                </a:ln>
                <a:solidFill>
                  <a:srgbClr val="000000"/>
                </a:solidFill>
                <a:effectLst/>
                <a:uLnTx/>
                <a:uFillTx/>
                <a:latin typeface="Poppins" panose="00000500000000000000" pitchFamily="2" charset="0"/>
                <a:ea typeface="Poppins"/>
                <a:cs typeface="Poppins" panose="00000500000000000000" pitchFamily="2" charset="0"/>
                <a:sym typeface="Poppins"/>
              </a:rPr>
              <a:t>Confirm current ticket status and history </a:t>
            </a:r>
          </a:p>
        </p:txBody>
      </p:sp>
      <p:sp>
        <p:nvSpPr>
          <p:cNvPr id="29" name="TextBox 29"/>
          <p:cNvSpPr txBox="1"/>
          <p:nvPr/>
        </p:nvSpPr>
        <p:spPr>
          <a:xfrm>
            <a:off x="1682175" y="7957557"/>
            <a:ext cx="4448614" cy="798315"/>
          </a:xfrm>
          <a:prstGeom prst="rect">
            <a:avLst/>
          </a:prstGeom>
        </p:spPr>
        <p:txBody>
          <a:bodyPr wrap="square" lIns="0" tIns="0" rIns="0" bIns="0" rtlCol="0" anchor="t">
            <a:spAutoFit/>
          </a:bodyPr>
          <a:lstStyle/>
          <a:p>
            <a:pPr marL="0" marR="0" lvl="0" indent="0" algn="l" defTabSz="914400" rtl="0" eaLnBrk="1" fontAlgn="auto" latinLnBrk="0" hangingPunct="1">
              <a:lnSpc>
                <a:spcPts val="3080"/>
              </a:lnSpc>
              <a:spcBef>
                <a:spcPct val="0"/>
              </a:spcBef>
              <a:spcAft>
                <a:spcPts val="0"/>
              </a:spcAft>
              <a:buClrTx/>
              <a:buSzTx/>
              <a:buFontTx/>
              <a:buNone/>
              <a:tabLst/>
              <a:defRPr/>
            </a:pPr>
            <a:r>
              <a:rPr kumimoji="0" lang="en-US" sz="2200" b="1" i="0" u="none" strike="noStrike" kern="1200" cap="none" spc="0" normalizeH="0" baseline="0" noProof="0">
                <a:ln>
                  <a:noFill/>
                </a:ln>
                <a:solidFill>
                  <a:srgbClr val="000000"/>
                </a:solidFill>
                <a:effectLst/>
                <a:uLnTx/>
                <a:uFillTx/>
                <a:latin typeface="Poppins" panose="00000500000000000000" pitchFamily="2" charset="0"/>
                <a:ea typeface="Poppins Bold"/>
                <a:cs typeface="Poppins" panose="00000500000000000000" pitchFamily="2" charset="0"/>
                <a:sym typeface="Poppins Bold"/>
              </a:rPr>
              <a:t>Review: </a:t>
            </a:r>
            <a:r>
              <a:rPr kumimoji="0" lang="en-US" sz="2200" b="0" i="0" u="none" strike="noStrike" kern="1200" cap="none" spc="0" normalizeH="0" baseline="0" noProof="0">
                <a:ln>
                  <a:noFill/>
                </a:ln>
                <a:solidFill>
                  <a:srgbClr val="000000"/>
                </a:solidFill>
                <a:effectLst/>
                <a:uLnTx/>
                <a:uFillTx/>
                <a:latin typeface="Poppins" panose="00000500000000000000" pitchFamily="2" charset="0"/>
                <a:ea typeface="Poppins"/>
                <a:cs typeface="Poppins" panose="00000500000000000000" pitchFamily="2" charset="0"/>
                <a:sym typeface="Poppins"/>
              </a:rPr>
              <a:t>Verify that accounts match before updating </a:t>
            </a:r>
          </a:p>
        </p:txBody>
      </p:sp>
      <p:sp>
        <p:nvSpPr>
          <p:cNvPr id="30" name="TextBox 30"/>
          <p:cNvSpPr txBox="1"/>
          <p:nvPr/>
        </p:nvSpPr>
        <p:spPr>
          <a:xfrm>
            <a:off x="8011195" y="2724401"/>
            <a:ext cx="2136130" cy="475579"/>
          </a:xfrm>
          <a:prstGeom prst="rect">
            <a:avLst/>
          </a:prstGeom>
        </p:spPr>
        <p:txBody>
          <a:bodyPr wrap="square" lIns="0" tIns="0" rIns="0" bIns="0" rtlCol="0" anchor="t">
            <a:spAutoFit/>
          </a:bodyPr>
          <a:lstStyle/>
          <a:p>
            <a:pPr marL="0" marR="0" lvl="0" indent="0" algn="ctr" defTabSz="914400" rtl="0" eaLnBrk="1" fontAlgn="auto" latinLnBrk="0" hangingPunct="1">
              <a:lnSpc>
                <a:spcPts val="3919"/>
              </a:lnSpc>
              <a:spcBef>
                <a:spcPct val="0"/>
              </a:spcBef>
              <a:spcAft>
                <a:spcPts val="0"/>
              </a:spcAft>
              <a:buClrTx/>
              <a:buSzTx/>
              <a:buFontTx/>
              <a:buNone/>
              <a:tabLst/>
              <a:defRPr/>
            </a:pPr>
            <a:r>
              <a:rPr kumimoji="0" lang="en-US" sz="2799" b="1" i="0" u="none" strike="noStrike" kern="1200" cap="none" spc="0" normalizeH="0" baseline="0" noProof="0">
                <a:ln>
                  <a:noFill/>
                </a:ln>
                <a:solidFill>
                  <a:srgbClr val="000000"/>
                </a:solidFill>
                <a:effectLst/>
                <a:uLnTx/>
                <a:uFillTx/>
                <a:latin typeface="Poppins" panose="00000500000000000000" pitchFamily="2" charset="0"/>
                <a:ea typeface="Poppins Bold"/>
                <a:cs typeface="Poppins" panose="00000500000000000000" pitchFamily="2" charset="0"/>
                <a:sym typeface="Poppins Bold"/>
              </a:rPr>
              <a:t>Daily triage</a:t>
            </a:r>
          </a:p>
        </p:txBody>
      </p:sp>
      <p:sp>
        <p:nvSpPr>
          <p:cNvPr id="31" name="TextBox 31"/>
          <p:cNvSpPr txBox="1"/>
          <p:nvPr/>
        </p:nvSpPr>
        <p:spPr>
          <a:xfrm>
            <a:off x="7875329" y="3734173"/>
            <a:ext cx="3903321" cy="1196824"/>
          </a:xfrm>
          <a:prstGeom prst="rect">
            <a:avLst/>
          </a:prstGeom>
        </p:spPr>
        <p:txBody>
          <a:bodyPr wrap="square" lIns="0" tIns="0" rIns="0" bIns="0" rtlCol="0" anchor="t">
            <a:spAutoFit/>
          </a:bodyPr>
          <a:lstStyle/>
          <a:p>
            <a:pPr marL="0" marR="0" lvl="0" indent="0" algn="l" defTabSz="914400" rtl="0" eaLnBrk="1" fontAlgn="auto" latinLnBrk="0" hangingPunct="1">
              <a:lnSpc>
                <a:spcPts val="3079"/>
              </a:lnSpc>
              <a:spcBef>
                <a:spcPct val="0"/>
              </a:spcBef>
              <a:spcAft>
                <a:spcPts val="0"/>
              </a:spcAft>
              <a:buClrTx/>
              <a:buSzTx/>
              <a:buFontTx/>
              <a:buNone/>
              <a:tabLst/>
              <a:defRPr/>
            </a:pPr>
            <a:r>
              <a:rPr kumimoji="0" lang="en-US" sz="2199" b="0" i="0" u="none" strike="noStrike" kern="1200" cap="none" spc="0" normalizeH="0" baseline="0" noProof="0" dirty="0">
                <a:ln>
                  <a:noFill/>
                </a:ln>
                <a:solidFill>
                  <a:srgbClr val="000000"/>
                </a:solidFill>
                <a:effectLst/>
                <a:uLnTx/>
                <a:uFillTx/>
                <a:latin typeface="Poppins"/>
                <a:ea typeface="Poppins"/>
                <a:cs typeface="Poppins"/>
                <a:sym typeface="Poppins"/>
              </a:rPr>
              <a:t>Always process reopened cases before touching new ones. </a:t>
            </a:r>
          </a:p>
        </p:txBody>
      </p:sp>
      <p:sp>
        <p:nvSpPr>
          <p:cNvPr id="32" name="TextBox 32"/>
          <p:cNvSpPr txBox="1"/>
          <p:nvPr/>
        </p:nvSpPr>
        <p:spPr>
          <a:xfrm>
            <a:off x="7875329" y="5402318"/>
            <a:ext cx="3903321" cy="1993843"/>
          </a:xfrm>
          <a:prstGeom prst="rect">
            <a:avLst/>
          </a:prstGeom>
        </p:spPr>
        <p:txBody>
          <a:bodyPr wrap="square" lIns="0" tIns="0" rIns="0" bIns="0" rtlCol="0" anchor="t">
            <a:spAutoFit/>
          </a:bodyPr>
          <a:lstStyle/>
          <a:p>
            <a:pPr marL="0" marR="0" lvl="0" indent="0" algn="l" defTabSz="914400" rtl="0" eaLnBrk="1" fontAlgn="auto" latinLnBrk="0" hangingPunct="1">
              <a:lnSpc>
                <a:spcPts val="3079"/>
              </a:lnSpc>
              <a:spcBef>
                <a:spcPct val="0"/>
              </a:spcBef>
              <a:spcAft>
                <a:spcPts val="0"/>
              </a:spcAft>
              <a:buClrTx/>
              <a:buSzTx/>
              <a:buFontTx/>
              <a:buNone/>
              <a:tabLst/>
              <a:defRPr/>
            </a:pPr>
            <a:r>
              <a:rPr kumimoji="0" lang="en-US" sz="2199" b="0" i="0" u="none" strike="noStrike" kern="1200" cap="none" spc="0" normalizeH="0" baseline="0" noProof="0" dirty="0">
                <a:ln>
                  <a:noFill/>
                </a:ln>
                <a:solidFill>
                  <a:srgbClr val="000000"/>
                </a:solidFill>
                <a:effectLst/>
                <a:uLnTx/>
                <a:uFillTx/>
                <a:latin typeface="Poppins"/>
                <a:ea typeface="Poppins"/>
                <a:cs typeface="Poppins"/>
                <a:sym typeface="Poppins"/>
              </a:rPr>
              <a:t>Work strictly within your assigned queue chosen from Owner Sourced Tickets, User Sourced Tickets, or FS Main Queue</a:t>
            </a:r>
          </a:p>
        </p:txBody>
      </p:sp>
      <p:sp>
        <p:nvSpPr>
          <p:cNvPr id="33" name="TextBox 33"/>
          <p:cNvSpPr txBox="1"/>
          <p:nvPr/>
        </p:nvSpPr>
        <p:spPr>
          <a:xfrm>
            <a:off x="12824370" y="2818360"/>
            <a:ext cx="4888319" cy="475579"/>
          </a:xfrm>
          <a:prstGeom prst="rect">
            <a:avLst/>
          </a:prstGeom>
        </p:spPr>
        <p:txBody>
          <a:bodyPr wrap="square" lIns="0" tIns="0" rIns="0" bIns="0" rtlCol="0" anchor="t">
            <a:spAutoFit/>
          </a:bodyPr>
          <a:lstStyle/>
          <a:p>
            <a:pPr marL="0" marR="0" lvl="0" indent="0" algn="ctr" defTabSz="914400" rtl="0" eaLnBrk="1" fontAlgn="auto" latinLnBrk="0" hangingPunct="1">
              <a:lnSpc>
                <a:spcPts val="3919"/>
              </a:lnSpc>
              <a:spcBef>
                <a:spcPct val="0"/>
              </a:spcBef>
              <a:spcAft>
                <a:spcPts val="0"/>
              </a:spcAft>
              <a:buClrTx/>
              <a:buSzTx/>
              <a:buFontTx/>
              <a:buNone/>
              <a:tabLst/>
              <a:defRPr/>
            </a:pPr>
            <a:r>
              <a:rPr kumimoji="0" lang="en-US" sz="2799" b="1" i="0" u="none" strike="noStrike" kern="1200" cap="none" spc="0" normalizeH="0" baseline="0" noProof="0" dirty="0">
                <a:ln>
                  <a:noFill/>
                </a:ln>
                <a:solidFill>
                  <a:srgbClr val="000000"/>
                </a:solidFill>
                <a:effectLst/>
                <a:uLnTx/>
                <a:uFillTx/>
                <a:latin typeface="Poppins" panose="00000500000000000000" pitchFamily="2" charset="0"/>
                <a:ea typeface="Poppins Bold"/>
                <a:cs typeface="Poppins" panose="00000500000000000000" pitchFamily="2" charset="0"/>
                <a:sym typeface="Poppins Bold"/>
              </a:rPr>
              <a:t>Evidence-Based Decisions</a:t>
            </a:r>
          </a:p>
        </p:txBody>
      </p:sp>
      <p:sp>
        <p:nvSpPr>
          <p:cNvPr id="34" name="TextBox 34"/>
          <p:cNvSpPr txBox="1"/>
          <p:nvPr/>
        </p:nvSpPr>
        <p:spPr>
          <a:xfrm>
            <a:off x="13768204" y="3947244"/>
            <a:ext cx="3881865" cy="833997"/>
          </a:xfrm>
          <a:prstGeom prst="rect">
            <a:avLst/>
          </a:prstGeom>
        </p:spPr>
        <p:txBody>
          <a:bodyPr wrap="square" lIns="0" tIns="0" rIns="0" bIns="0" rtlCol="0" anchor="t">
            <a:spAutoFit/>
          </a:bodyPr>
          <a:lstStyle/>
          <a:p>
            <a:pPr marL="0" marR="0" lvl="0" indent="0" defTabSz="914400" rtl="0" eaLnBrk="1" fontAlgn="auto" latinLnBrk="0" hangingPunct="1">
              <a:lnSpc>
                <a:spcPts val="3252"/>
              </a:lnSpc>
              <a:spcBef>
                <a:spcPct val="0"/>
              </a:spcBef>
              <a:spcAft>
                <a:spcPts val="0"/>
              </a:spcAft>
              <a:buClrTx/>
              <a:buSzTx/>
              <a:buFontTx/>
              <a:buNone/>
              <a:tabLst/>
              <a:defRPr/>
            </a:pPr>
            <a:r>
              <a:rPr kumimoji="0" lang="en-US" sz="2200" b="0" i="0" u="none" strike="noStrike" kern="1200" cap="none" spc="0" normalizeH="0" baseline="0" noProof="0" dirty="0">
                <a:ln>
                  <a:noFill/>
                </a:ln>
                <a:solidFill>
                  <a:srgbClr val="000000"/>
                </a:solidFill>
                <a:effectLst/>
                <a:uLnTx/>
                <a:uFillTx/>
                <a:latin typeface="Poppins"/>
                <a:ea typeface="Poppins"/>
                <a:cs typeface="Poppins"/>
                <a:sym typeface="Poppins"/>
              </a:rPr>
              <a:t>Base every action solely on hard case evidence </a:t>
            </a:r>
          </a:p>
        </p:txBody>
      </p:sp>
      <p:sp>
        <p:nvSpPr>
          <p:cNvPr id="35" name="TextBox 35"/>
          <p:cNvSpPr txBox="1"/>
          <p:nvPr/>
        </p:nvSpPr>
        <p:spPr>
          <a:xfrm>
            <a:off x="13792868" y="5226074"/>
            <a:ext cx="3677135" cy="833997"/>
          </a:xfrm>
          <a:prstGeom prst="rect">
            <a:avLst/>
          </a:prstGeom>
        </p:spPr>
        <p:txBody>
          <a:bodyPr wrap="square" lIns="0" tIns="0" rIns="0" bIns="0" rtlCol="0" anchor="t">
            <a:spAutoFit/>
          </a:bodyPr>
          <a:lstStyle/>
          <a:p>
            <a:pPr marL="0" marR="0" lvl="0" indent="0" defTabSz="914400" rtl="0" eaLnBrk="1" fontAlgn="auto" latinLnBrk="0" hangingPunct="1">
              <a:lnSpc>
                <a:spcPts val="3252"/>
              </a:lnSpc>
              <a:spcBef>
                <a:spcPct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Poppins"/>
                <a:ea typeface="Poppins"/>
                <a:cs typeface="Poppins"/>
                <a:sym typeface="Poppins"/>
              </a:rPr>
              <a:t>Follow the latest procedures</a:t>
            </a:r>
          </a:p>
        </p:txBody>
      </p:sp>
      <p:sp>
        <p:nvSpPr>
          <p:cNvPr id="36" name="TextBox 36"/>
          <p:cNvSpPr txBox="1"/>
          <p:nvPr/>
        </p:nvSpPr>
        <p:spPr>
          <a:xfrm>
            <a:off x="13792868" y="6773661"/>
            <a:ext cx="3420524" cy="396391"/>
          </a:xfrm>
          <a:prstGeom prst="rect">
            <a:avLst/>
          </a:prstGeom>
        </p:spPr>
        <p:txBody>
          <a:bodyPr wrap="square" lIns="0" tIns="0" rIns="0" bIns="0" rtlCol="0" anchor="t">
            <a:spAutoFit/>
          </a:bodyPr>
          <a:lstStyle/>
          <a:p>
            <a:pPr marL="0" marR="0" lvl="0" indent="0" defTabSz="914400" rtl="0" eaLnBrk="1" fontAlgn="auto" latinLnBrk="0" hangingPunct="1">
              <a:lnSpc>
                <a:spcPts val="3252"/>
              </a:lnSpc>
              <a:spcBef>
                <a:spcPct val="0"/>
              </a:spcBef>
              <a:spcAft>
                <a:spcPts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Poppins"/>
                <a:ea typeface="Poppins"/>
                <a:cs typeface="Poppins"/>
                <a:sym typeface="Poppins"/>
              </a:rPr>
              <a:t>Treat every case fresh</a:t>
            </a:r>
          </a:p>
        </p:txBody>
      </p:sp>
      <p:sp>
        <p:nvSpPr>
          <p:cNvPr id="37" name="TextBox 37"/>
          <p:cNvSpPr txBox="1"/>
          <p:nvPr/>
        </p:nvSpPr>
        <p:spPr>
          <a:xfrm>
            <a:off x="13792868" y="7594973"/>
            <a:ext cx="3677135" cy="1251946"/>
          </a:xfrm>
          <a:prstGeom prst="rect">
            <a:avLst/>
          </a:prstGeom>
        </p:spPr>
        <p:txBody>
          <a:bodyPr wrap="square" lIns="0" tIns="0" rIns="0" bIns="0" rtlCol="0" anchor="t">
            <a:spAutoFit/>
          </a:bodyPr>
          <a:lstStyle/>
          <a:p>
            <a:pPr marL="0" marR="0" lvl="0" indent="0" defTabSz="914400" rtl="0" eaLnBrk="1" fontAlgn="auto" latinLnBrk="0" hangingPunct="1">
              <a:lnSpc>
                <a:spcPts val="3252"/>
              </a:lnSpc>
              <a:spcBef>
                <a:spcPct val="0"/>
              </a:spcBef>
              <a:spcAft>
                <a:spcPts val="0"/>
              </a:spcAft>
              <a:buClrTx/>
              <a:buSzTx/>
              <a:buFontTx/>
              <a:buNone/>
              <a:tabLst/>
              <a:defRPr/>
            </a:pPr>
            <a:r>
              <a:rPr kumimoji="0" lang="en-US" sz="2200" b="0" i="0" u="none" strike="noStrike" kern="1200" cap="none" spc="0" normalizeH="0" baseline="0" noProof="0" dirty="0">
                <a:ln>
                  <a:noFill/>
                </a:ln>
                <a:solidFill>
                  <a:srgbClr val="000000"/>
                </a:solidFill>
                <a:effectLst/>
                <a:uLnTx/>
                <a:uFillTx/>
                <a:latin typeface="Poppins"/>
                <a:ea typeface="Poppins"/>
                <a:cs typeface="Poppins"/>
                <a:sym typeface="Poppins"/>
              </a:rPr>
              <a:t>Check all recent relevant tickets; Never cherry-pick or nitpick.</a:t>
            </a:r>
          </a:p>
        </p:txBody>
      </p:sp>
      <p:sp>
        <p:nvSpPr>
          <p:cNvPr id="38" name="Freeform 38"/>
          <p:cNvSpPr/>
          <p:nvPr/>
        </p:nvSpPr>
        <p:spPr>
          <a:xfrm>
            <a:off x="12907043" y="5459468"/>
            <a:ext cx="484805" cy="450256"/>
          </a:xfrm>
          <a:custGeom>
            <a:avLst/>
            <a:gdLst/>
            <a:ahLst/>
            <a:cxnLst/>
            <a:rect l="l" t="t" r="r" b="b"/>
            <a:pathLst>
              <a:path w="479603" h="441235">
                <a:moveTo>
                  <a:pt x="0" y="0"/>
                </a:moveTo>
                <a:lnTo>
                  <a:pt x="479603" y="0"/>
                </a:lnTo>
                <a:lnTo>
                  <a:pt x="479603" y="441235"/>
                </a:lnTo>
                <a:lnTo>
                  <a:pt x="0" y="441235"/>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Freeform 39"/>
          <p:cNvSpPr/>
          <p:nvPr/>
        </p:nvSpPr>
        <p:spPr>
          <a:xfrm>
            <a:off x="12907043" y="6790383"/>
            <a:ext cx="484805" cy="450256"/>
          </a:xfrm>
          <a:custGeom>
            <a:avLst/>
            <a:gdLst/>
            <a:ahLst/>
            <a:cxnLst/>
            <a:rect l="l" t="t" r="r" b="b"/>
            <a:pathLst>
              <a:path w="479603" h="441235">
                <a:moveTo>
                  <a:pt x="0" y="0"/>
                </a:moveTo>
                <a:lnTo>
                  <a:pt x="479603" y="0"/>
                </a:lnTo>
                <a:lnTo>
                  <a:pt x="479603" y="441234"/>
                </a:lnTo>
                <a:lnTo>
                  <a:pt x="0" y="441234"/>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Freeform 40"/>
          <p:cNvSpPr/>
          <p:nvPr/>
        </p:nvSpPr>
        <p:spPr>
          <a:xfrm>
            <a:off x="12907043" y="8016362"/>
            <a:ext cx="484805" cy="450256"/>
          </a:xfrm>
          <a:custGeom>
            <a:avLst/>
            <a:gdLst/>
            <a:ahLst/>
            <a:cxnLst/>
            <a:rect l="l" t="t" r="r" b="b"/>
            <a:pathLst>
              <a:path w="479603" h="441235">
                <a:moveTo>
                  <a:pt x="0" y="0"/>
                </a:moveTo>
                <a:lnTo>
                  <a:pt x="479603" y="0"/>
                </a:lnTo>
                <a:lnTo>
                  <a:pt x="479603" y="441234"/>
                </a:lnTo>
                <a:lnTo>
                  <a:pt x="0" y="441234"/>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2">
            <a:extLst>
              <a:ext uri="{FF2B5EF4-FFF2-40B4-BE49-F238E27FC236}">
                <a16:creationId xmlns:a16="http://schemas.microsoft.com/office/drawing/2014/main" id="{CF01CA8A-C3DA-ABD3-1913-387109011F4A}"/>
              </a:ext>
            </a:extLst>
          </p:cNvPr>
          <p:cNvSpPr/>
          <p:nvPr/>
        </p:nvSpPr>
        <p:spPr>
          <a:xfrm>
            <a:off x="779483" y="516414"/>
            <a:ext cx="13927117" cy="1612742"/>
          </a:xfrm>
          <a:prstGeom prst="rect">
            <a:avLst/>
          </a:prstGeom>
          <a:noFill/>
          <a:ln/>
        </p:spPr>
        <p:txBody>
          <a:bodyPr wrap="square" lIns="0" tIns="0" rIns="0" bIns="0" rtlCol="0" anchor="ctr"/>
          <a:lstStyle/>
          <a:p>
            <a:pPr lvl="0"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How to work on a ticket: Preliminary Ticket Checks</a:t>
            </a:r>
            <a:endParaRPr kumimoji="0" lang="en-US" sz="5200" b="1" i="0" u="none" strike="noStrike" kern="1200" cap="none" spc="0" normalizeH="0" baseline="0" noProof="0" dirty="0">
              <a:ln>
                <a:noFill/>
              </a:ln>
              <a:solidFill>
                <a:srgbClr val="002B11"/>
              </a:solidFill>
              <a:effectLst/>
              <a:uLnTx/>
              <a:uFillTx/>
              <a:latin typeface="Poppins" panose="00000500000000000000" pitchFamily="2" charset="0"/>
              <a:ea typeface="Calibri" pitchFamily="34" charset="-122"/>
              <a:cs typeface="Poppins" panose="00000500000000000000" pitchFamily="2" charset="0"/>
            </a:endParaRPr>
          </a:p>
        </p:txBody>
      </p:sp>
      <p:sp>
        <p:nvSpPr>
          <p:cNvPr id="44" name="Text 19">
            <a:extLst>
              <a:ext uri="{FF2B5EF4-FFF2-40B4-BE49-F238E27FC236}">
                <a16:creationId xmlns:a16="http://schemas.microsoft.com/office/drawing/2014/main" id="{FE68D7AD-1747-6C70-6DB2-996A975A1DA7}"/>
              </a:ext>
            </a:extLst>
          </p:cNvPr>
          <p:cNvSpPr/>
          <p:nvPr/>
        </p:nvSpPr>
        <p:spPr>
          <a:xfrm>
            <a:off x="685800" y="9738360"/>
            <a:ext cx="10972800" cy="411480"/>
          </a:xfrm>
          <a:prstGeom prst="rect">
            <a:avLst/>
          </a:prstGeom>
          <a:noFill/>
          <a:ln/>
        </p:spPr>
        <p:txBody>
          <a:bodyPr wrap="square" lIns="0" tIns="0" rIns="0" bIns="0" rtlCol="0" anchor="ct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8272"/>
                </a:solidFill>
                <a:effectLst/>
                <a:uLnTx/>
                <a:uFillTx/>
                <a:latin typeface="Poppins" panose="00000500000000000000" pitchFamily="2" charset="0"/>
                <a:ea typeface="Calibri" pitchFamily="34" charset="-122"/>
                <a:cs typeface="Poppins" panose="00000500000000000000" pitchFamily="2" charset="0"/>
              </a:rPr>
              <a:t>Tripadvisor / Fraud support / How to work on a ticket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78F5315-04F1-B92E-2D7D-D09E87CD6862}"/>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1EB01FAC-F855-B1DD-31D5-CF52DF934ED0}"/>
              </a:ext>
            </a:extLst>
          </p:cNvPr>
          <p:cNvGraphicFramePr/>
          <p:nvPr>
            <p:extLst>
              <p:ext uri="{D42A27DB-BD31-4B8C-83A1-F6EECF244321}">
                <p14:modId xmlns:p14="http://schemas.microsoft.com/office/powerpoint/2010/main" val="1864949640"/>
              </p:ext>
            </p:extLst>
          </p:nvPr>
        </p:nvGraphicFramePr>
        <p:xfrm>
          <a:off x="827859" y="495300"/>
          <a:ext cx="16648609" cy="8128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1" name="Freeform 4">
            <a:extLst>
              <a:ext uri="{FF2B5EF4-FFF2-40B4-BE49-F238E27FC236}">
                <a16:creationId xmlns:a16="http://schemas.microsoft.com/office/drawing/2014/main" id="{D3052E35-15EE-4F98-2A6A-099D1AA84162}"/>
              </a:ext>
            </a:extLst>
          </p:cNvPr>
          <p:cNvSpPr/>
          <p:nvPr/>
        </p:nvSpPr>
        <p:spPr>
          <a:xfrm rot="10800000">
            <a:off x="13106400" y="-1179285"/>
            <a:ext cx="7315200" cy="3913632"/>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4" name="Text 2">
            <a:extLst>
              <a:ext uri="{FF2B5EF4-FFF2-40B4-BE49-F238E27FC236}">
                <a16:creationId xmlns:a16="http://schemas.microsoft.com/office/drawing/2014/main" id="{9B6A4EBE-A3A5-7389-3824-067EBACC5450}"/>
              </a:ext>
            </a:extLst>
          </p:cNvPr>
          <p:cNvSpPr/>
          <p:nvPr/>
        </p:nvSpPr>
        <p:spPr>
          <a:xfrm>
            <a:off x="811531" y="985744"/>
            <a:ext cx="12980669" cy="1338356"/>
          </a:xfrm>
          <a:prstGeom prst="rect">
            <a:avLst/>
          </a:prstGeom>
          <a:noFill/>
          <a:ln/>
        </p:spPr>
        <p:txBody>
          <a:bodyPr wrap="square" lIns="0" tIns="0" rIns="0" bIns="0" rtlCol="0" anchor="ctr"/>
          <a:lstStyle/>
          <a:p>
            <a:pPr lvl="0"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How to work on a ticket: Assign a ticket</a:t>
            </a:r>
            <a:endParaRPr kumimoji="0" lang="en-US" sz="5200" b="1" i="0" u="none" strike="noStrike" kern="1200" cap="none" spc="0" normalizeH="0" baseline="0" noProof="0" dirty="0">
              <a:ln>
                <a:noFill/>
              </a:ln>
              <a:solidFill>
                <a:srgbClr val="002B11"/>
              </a:solidFill>
              <a:effectLst/>
              <a:uLnTx/>
              <a:uFillTx/>
              <a:latin typeface="Poppins" panose="00000500000000000000" pitchFamily="2" charset="0"/>
              <a:ea typeface="Calibri" pitchFamily="34" charset="-122"/>
              <a:cs typeface="Poppins" panose="00000500000000000000" pitchFamily="2" charset="0"/>
            </a:endParaRPr>
          </a:p>
        </p:txBody>
      </p:sp>
      <p:pic>
        <p:nvPicPr>
          <p:cNvPr id="5" name="Picture 4">
            <a:extLst>
              <a:ext uri="{FF2B5EF4-FFF2-40B4-BE49-F238E27FC236}">
                <a16:creationId xmlns:a16="http://schemas.microsoft.com/office/drawing/2014/main" id="{A0F052E2-CF31-A3E6-9835-7CB057B11C3E}"/>
              </a:ext>
            </a:extLst>
          </p:cNvPr>
          <p:cNvPicPr>
            <a:picLocks noChangeAspect="1"/>
          </p:cNvPicPr>
          <p:nvPr/>
        </p:nvPicPr>
        <p:blipFill>
          <a:blip r:embed="rId10"/>
          <a:srcRect/>
          <a:stretch>
            <a:fillRect/>
          </a:stretch>
        </p:blipFill>
        <p:spPr>
          <a:xfrm flipH="1">
            <a:off x="9549032" y="5671457"/>
            <a:ext cx="5801377" cy="4642757"/>
          </a:xfrm>
          <a:prstGeom prst="rect">
            <a:avLst/>
          </a:prstGeom>
        </p:spPr>
      </p:pic>
      <p:sp>
        <p:nvSpPr>
          <p:cNvPr id="11" name="Rectangle: Rounded Corners 10">
            <a:extLst>
              <a:ext uri="{FF2B5EF4-FFF2-40B4-BE49-F238E27FC236}">
                <a16:creationId xmlns:a16="http://schemas.microsoft.com/office/drawing/2014/main" id="{51DAA5F6-2480-A419-C3B3-D605B0AD4BB3}"/>
              </a:ext>
            </a:extLst>
          </p:cNvPr>
          <p:cNvSpPr/>
          <p:nvPr/>
        </p:nvSpPr>
        <p:spPr>
          <a:xfrm>
            <a:off x="906416" y="7429500"/>
            <a:ext cx="10066383" cy="960120"/>
          </a:xfrm>
          <a:prstGeom prst="roundRect">
            <a:avLst/>
          </a:prstGeom>
          <a:solidFill>
            <a:srgbClr val="00EB5B"/>
          </a:solidFill>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01BFF38A-02D6-C370-3129-7A73CAAB231A}"/>
              </a:ext>
            </a:extLst>
          </p:cNvPr>
          <p:cNvSpPr/>
          <p:nvPr/>
        </p:nvSpPr>
        <p:spPr>
          <a:xfrm>
            <a:off x="982616" y="7505700"/>
            <a:ext cx="10066383" cy="960120"/>
          </a:xfrm>
          <a:prstGeom prst="roundRect">
            <a:avLst/>
          </a:prstGeom>
          <a:effectLst>
            <a:outerShdw blurRad="50800" dist="38100" dir="5400000" algn="t"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 3">
            <a:extLst>
              <a:ext uri="{FF2B5EF4-FFF2-40B4-BE49-F238E27FC236}">
                <a16:creationId xmlns:a16="http://schemas.microsoft.com/office/drawing/2014/main" id="{C2748C3D-3B95-B61F-FC8B-DA0708926DB9}"/>
              </a:ext>
            </a:extLst>
          </p:cNvPr>
          <p:cNvSpPr/>
          <p:nvPr/>
        </p:nvSpPr>
        <p:spPr>
          <a:xfrm>
            <a:off x="1225732" y="7601039"/>
            <a:ext cx="9366068" cy="769441"/>
          </a:xfrm>
          <a:prstGeom prst="rect">
            <a:avLst/>
          </a:prstGeom>
          <a:noFill/>
        </p:spPr>
        <p:txBody>
          <a:bodyPr wrap="square" anchor="t">
            <a:spAutoFit/>
          </a:bodyPr>
          <a:lstStyle/>
          <a:p>
            <a:pPr lvl="0" defTabSz="1371600">
              <a:defRPr/>
            </a:pPr>
            <a:r>
              <a:rPr kumimoji="0" lang="en-US" sz="2200" b="1" i="1" u="none" strike="noStrike" kern="1200" cap="none" spc="0" normalizeH="0" baseline="0" noProof="0" dirty="0">
                <a:ln>
                  <a:noFill/>
                </a:ln>
                <a:solidFill>
                  <a:srgbClr val="002B11"/>
                </a:solidFill>
                <a:effectLst/>
                <a:uLnTx/>
                <a:uFillTx/>
                <a:latin typeface="Poppins" panose="00000500000000000000" pitchFamily="2" charset="0"/>
                <a:ea typeface="Calibri" pitchFamily="34" charset="-122"/>
                <a:cs typeface="Poppins" panose="00000500000000000000" pitchFamily="2" charset="0"/>
              </a:rPr>
              <a:t>Note: </a:t>
            </a:r>
            <a:r>
              <a:rPr lang="en-US" sz="2200" i="1" dirty="0">
                <a:solidFill>
                  <a:srgbClr val="002B11"/>
                </a:solidFill>
                <a:latin typeface="Poppins" panose="00000500000000000000" pitchFamily="2" charset="0"/>
                <a:ea typeface="Calibri" pitchFamily="34" charset="-122"/>
                <a:cs typeface="Poppins" panose="00000500000000000000" pitchFamily="2" charset="0"/>
              </a:rPr>
              <a:t>Zendesk displays conversations chronologically from top to bottom, placing the newest responses at the very end.</a:t>
            </a:r>
            <a:endParaRPr kumimoji="0" lang="en-US" sz="2200" b="0"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endParaRPr>
          </a:p>
        </p:txBody>
      </p:sp>
      <p:sp>
        <p:nvSpPr>
          <p:cNvPr id="6" name="Text 19">
            <a:extLst>
              <a:ext uri="{FF2B5EF4-FFF2-40B4-BE49-F238E27FC236}">
                <a16:creationId xmlns:a16="http://schemas.microsoft.com/office/drawing/2014/main" id="{43A654BC-21CF-4B5E-9A05-74C09C0BFB51}"/>
              </a:ext>
            </a:extLst>
          </p:cNvPr>
          <p:cNvSpPr/>
          <p:nvPr/>
        </p:nvSpPr>
        <p:spPr>
          <a:xfrm>
            <a:off x="685800" y="9738360"/>
            <a:ext cx="10972800" cy="411480"/>
          </a:xfrm>
          <a:prstGeom prst="rect">
            <a:avLst/>
          </a:prstGeom>
          <a:noFill/>
          <a:ln/>
        </p:spPr>
        <p:txBody>
          <a:bodyPr wrap="square" lIns="0" tIns="0" rIns="0" bIns="0" rtlCol="0" anchor="ct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8272"/>
                </a:solidFill>
                <a:effectLst/>
                <a:uLnTx/>
                <a:uFillTx/>
                <a:latin typeface="Poppins" panose="00000500000000000000" pitchFamily="2" charset="0"/>
                <a:ea typeface="Calibri" pitchFamily="34" charset="-122"/>
                <a:cs typeface="Poppins" panose="00000500000000000000" pitchFamily="2" charset="0"/>
              </a:rPr>
              <a:t>Tripadvisor / Fraud support / How to work on a ticket</a:t>
            </a:r>
          </a:p>
        </p:txBody>
      </p:sp>
    </p:spTree>
    <p:extLst>
      <p:ext uri="{BB962C8B-B14F-4D97-AF65-F5344CB8AC3E}">
        <p14:creationId xmlns:p14="http://schemas.microsoft.com/office/powerpoint/2010/main" val="3844576267"/>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0F3E477-E66A-CFFF-1659-DBFB732B9A3E}"/>
            </a:ext>
          </a:extLst>
        </p:cNvPr>
        <p:cNvGrpSpPr/>
        <p:nvPr/>
      </p:nvGrpSpPr>
      <p:grpSpPr>
        <a:xfrm>
          <a:off x="0" y="0"/>
          <a:ext cx="0" cy="0"/>
          <a:chOff x="0" y="0"/>
          <a:chExt cx="0" cy="0"/>
        </a:xfrm>
      </p:grpSpPr>
      <p:sp>
        <p:nvSpPr>
          <p:cNvPr id="66" name="Freeform 4">
            <a:extLst>
              <a:ext uri="{FF2B5EF4-FFF2-40B4-BE49-F238E27FC236}">
                <a16:creationId xmlns:a16="http://schemas.microsoft.com/office/drawing/2014/main" id="{15C0EF65-EDD7-D170-665C-37CA0E9D479F}"/>
              </a:ext>
            </a:extLst>
          </p:cNvPr>
          <p:cNvSpPr/>
          <p:nvPr/>
        </p:nvSpPr>
        <p:spPr>
          <a:xfrm rot="13154954">
            <a:off x="10970531" y="423802"/>
            <a:ext cx="11435239" cy="5274643"/>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 2">
            <a:extLst>
              <a:ext uri="{FF2B5EF4-FFF2-40B4-BE49-F238E27FC236}">
                <a16:creationId xmlns:a16="http://schemas.microsoft.com/office/drawing/2014/main" id="{F37C4548-6D06-0AEB-41D3-F8A1578DC223}"/>
              </a:ext>
            </a:extLst>
          </p:cNvPr>
          <p:cNvSpPr/>
          <p:nvPr/>
        </p:nvSpPr>
        <p:spPr>
          <a:xfrm>
            <a:off x="688429" y="694753"/>
            <a:ext cx="13716000" cy="960120"/>
          </a:xfrm>
          <a:prstGeom prst="rect">
            <a:avLst/>
          </a:prstGeom>
          <a:noFill/>
          <a:ln/>
        </p:spPr>
        <p:txBody>
          <a:bodyPr wrap="square" lIns="0" tIns="0" rIns="0" bIns="0" rtlCol="0" anchor="ctr"/>
          <a:lstStyle/>
          <a:p>
            <a:pPr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Merging Tickets</a:t>
            </a:r>
          </a:p>
        </p:txBody>
      </p:sp>
      <p:grpSp>
        <p:nvGrpSpPr>
          <p:cNvPr id="13" name="Group 12">
            <a:extLst>
              <a:ext uri="{FF2B5EF4-FFF2-40B4-BE49-F238E27FC236}">
                <a16:creationId xmlns:a16="http://schemas.microsoft.com/office/drawing/2014/main" id="{70A3C3F3-AF58-2FAC-DE73-3B14D8FBB872}"/>
              </a:ext>
            </a:extLst>
          </p:cNvPr>
          <p:cNvGrpSpPr/>
          <p:nvPr/>
        </p:nvGrpSpPr>
        <p:grpSpPr>
          <a:xfrm>
            <a:off x="702129" y="2167039"/>
            <a:ext cx="16021370" cy="1591025"/>
            <a:chOff x="1000000" y="2319285"/>
            <a:chExt cx="7866800" cy="4473951"/>
          </a:xfrm>
          <a:effectLst>
            <a:outerShdw blurRad="50800" dist="38100" dir="5400000" algn="t" rotWithShape="0">
              <a:prstClr val="black">
                <a:alpha val="40000"/>
              </a:prstClr>
            </a:outerShdw>
          </a:effectLst>
        </p:grpSpPr>
        <p:sp>
          <p:nvSpPr>
            <p:cNvPr id="14" name="Rounded Rectangle 3">
              <a:extLst>
                <a:ext uri="{FF2B5EF4-FFF2-40B4-BE49-F238E27FC236}">
                  <a16:creationId xmlns:a16="http://schemas.microsoft.com/office/drawing/2014/main" id="{C53B8363-0229-F0FD-3937-626E59DFAC3D}"/>
                </a:ext>
              </a:extLst>
            </p:cNvPr>
            <p:cNvSpPr/>
            <p:nvPr/>
          </p:nvSpPr>
          <p:spPr>
            <a:xfrm>
              <a:off x="1000000" y="2319285"/>
              <a:ext cx="7800000" cy="4348216"/>
            </a:xfrm>
            <a:prstGeom prst="roundRect">
              <a:avLst/>
            </a:prstGeom>
            <a:solidFill>
              <a:srgbClr val="9BF2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7200" b="0" i="0" u="none" strike="noStrike" kern="0" cap="none" spc="0" normalizeH="0" baseline="0" noProof="0" dirty="0">
                <a:ln>
                  <a:noFill/>
                </a:ln>
                <a:solidFill>
                  <a:prstClr val="white"/>
                </a:solidFill>
                <a:effectLst/>
                <a:uLnTx/>
                <a:uFillTx/>
                <a:latin typeface="Calibri"/>
                <a:ea typeface="+mn-ea"/>
                <a:cs typeface="+mn-cs"/>
                <a:sym typeface="Arial"/>
              </a:endParaRPr>
            </a:p>
          </p:txBody>
        </p:sp>
        <p:sp>
          <p:nvSpPr>
            <p:cNvPr id="15" name="Rounded Rectangle 3">
              <a:extLst>
                <a:ext uri="{FF2B5EF4-FFF2-40B4-BE49-F238E27FC236}">
                  <a16:creationId xmlns:a16="http://schemas.microsoft.com/office/drawing/2014/main" id="{EEB4952E-E7E0-D773-2734-268CF3E72EAC}"/>
                </a:ext>
              </a:extLst>
            </p:cNvPr>
            <p:cNvSpPr/>
            <p:nvPr/>
          </p:nvSpPr>
          <p:spPr>
            <a:xfrm>
              <a:off x="1066800" y="2704995"/>
              <a:ext cx="7800000" cy="4088241"/>
            </a:xfrm>
            <a:prstGeom prst="roundRect">
              <a:avLst/>
            </a:prstGeom>
            <a:ln>
              <a:solidFill>
                <a:srgbClr val="9BF2FF"/>
              </a:solidFill>
            </a:ln>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7200" b="0" i="0" u="none" strike="noStrike" kern="0" cap="none" spc="0" normalizeH="0" baseline="0" noProof="0" dirty="0">
                <a:ln>
                  <a:noFill/>
                </a:ln>
                <a:solidFill>
                  <a:prstClr val="white"/>
                </a:solidFill>
                <a:effectLst/>
                <a:uLnTx/>
                <a:uFillTx/>
                <a:latin typeface="Calibri"/>
                <a:ea typeface="+mn-ea"/>
                <a:cs typeface="+mn-cs"/>
                <a:sym typeface="Arial"/>
              </a:endParaRPr>
            </a:p>
          </p:txBody>
        </p:sp>
      </p:grpSp>
      <p:sp>
        <p:nvSpPr>
          <p:cNvPr id="16" name="TextBox 15">
            <a:extLst>
              <a:ext uri="{FF2B5EF4-FFF2-40B4-BE49-F238E27FC236}">
                <a16:creationId xmlns:a16="http://schemas.microsoft.com/office/drawing/2014/main" id="{EA7FECCA-A76D-20BF-EEE0-6FC9E7E737E3}"/>
              </a:ext>
            </a:extLst>
          </p:cNvPr>
          <p:cNvSpPr txBox="1"/>
          <p:nvPr/>
        </p:nvSpPr>
        <p:spPr>
          <a:xfrm>
            <a:off x="952610" y="2753548"/>
            <a:ext cx="6599999" cy="523220"/>
          </a:xfrm>
          <a:prstGeom prst="rect">
            <a:avLst/>
          </a:prstGeom>
          <a:noFill/>
        </p:spPr>
        <p:txBody>
          <a:bodyPr wrap="square" anchor="t">
            <a:spAutoFit/>
          </a:bodyPr>
          <a:lstStyle>
            <a:defPPr>
              <a:defRPr lang="en-US"/>
            </a:defPPr>
            <a:lvl1pPr marR="0" lvl="0" indent="0" fontAlgn="auto">
              <a:lnSpc>
                <a:spcPct val="100000"/>
              </a:lnSpc>
              <a:spcBef>
                <a:spcPts val="0"/>
              </a:spcBef>
              <a:spcAft>
                <a:spcPts val="0"/>
              </a:spcAft>
              <a:buClr>
                <a:srgbClr val="000000"/>
              </a:buClr>
              <a:buSzTx/>
              <a:buFontTx/>
              <a:buNone/>
              <a:tabLst/>
              <a:defRPr kumimoji="0" sz="2800" b="1" i="0" u="none" strike="noStrike" kern="0" cap="none" spc="0" normalizeH="0" baseline="0">
                <a:ln>
                  <a:noFill/>
                </a:ln>
                <a:solidFill>
                  <a:srgbClr val="8A8272"/>
                </a:solidFill>
                <a:effectLst/>
                <a:uLnTx/>
                <a:uFillTx/>
                <a:latin typeface="Poppins" panose="00000500000000000000" pitchFamily="2" charset="0"/>
                <a:cs typeface="Poppins" panose="00000500000000000000" pitchFamily="2" charset="0"/>
              </a:defRPr>
            </a:lvl1pPr>
          </a:lstStyle>
          <a:p>
            <a:r>
              <a:rPr lang="en-US" dirty="0">
                <a:sym typeface="Arial"/>
              </a:rPr>
              <a:t>Why We Merge Tickets?</a:t>
            </a:r>
            <a:endParaRPr dirty="0">
              <a:sym typeface="Arial"/>
            </a:endParaRPr>
          </a:p>
        </p:txBody>
      </p:sp>
      <p:sp>
        <p:nvSpPr>
          <p:cNvPr id="17" name="TextBox 16">
            <a:extLst>
              <a:ext uri="{FF2B5EF4-FFF2-40B4-BE49-F238E27FC236}">
                <a16:creationId xmlns:a16="http://schemas.microsoft.com/office/drawing/2014/main" id="{963FEE74-E51C-0C25-C9E1-511D0A583A00}"/>
              </a:ext>
            </a:extLst>
          </p:cNvPr>
          <p:cNvSpPr txBox="1"/>
          <p:nvPr/>
        </p:nvSpPr>
        <p:spPr>
          <a:xfrm>
            <a:off x="6343901" y="2714783"/>
            <a:ext cx="4244340" cy="552202"/>
          </a:xfrm>
          <a:prstGeom prst="rect">
            <a:avLst/>
          </a:prstGeom>
          <a:noFill/>
        </p:spPr>
        <p:txBody>
          <a:bodyPr wrap="square" anchor="t">
            <a:spAutoFit/>
          </a:bodyPr>
          <a:lstStyle/>
          <a:p>
            <a:pPr lvl="0">
              <a:lnSpc>
                <a:spcPct val="150000"/>
              </a:lnSpc>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Prevent Double Work</a:t>
            </a:r>
            <a:endParaRPr kumimoji="0" lang="en-US" sz="2200" b="0" i="1"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endParaRPr>
          </a:p>
        </p:txBody>
      </p:sp>
      <p:sp>
        <p:nvSpPr>
          <p:cNvPr id="19" name="TextBox 18">
            <a:extLst>
              <a:ext uri="{FF2B5EF4-FFF2-40B4-BE49-F238E27FC236}">
                <a16:creationId xmlns:a16="http://schemas.microsoft.com/office/drawing/2014/main" id="{250E8A19-05FD-6A47-C67B-DC7CF4667061}"/>
              </a:ext>
            </a:extLst>
          </p:cNvPr>
          <p:cNvSpPr txBox="1"/>
          <p:nvPr/>
        </p:nvSpPr>
        <p:spPr>
          <a:xfrm>
            <a:off x="10699532" y="2666755"/>
            <a:ext cx="4244340" cy="552202"/>
          </a:xfrm>
          <a:prstGeom prst="rect">
            <a:avLst/>
          </a:prstGeom>
          <a:noFill/>
        </p:spPr>
        <p:txBody>
          <a:bodyPr wrap="square" anchor="t">
            <a:spAutoFit/>
          </a:bodyPr>
          <a:lstStyle/>
          <a:p>
            <a:pPr lvl="0">
              <a:lnSpc>
                <a:spcPct val="150000"/>
              </a:lnSpc>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Save Effort</a:t>
            </a:r>
            <a:endParaRPr kumimoji="0" lang="en-US" sz="2200" b="0" i="1"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endParaRPr>
          </a:p>
        </p:txBody>
      </p:sp>
      <p:sp>
        <p:nvSpPr>
          <p:cNvPr id="23" name="TextBox 22">
            <a:extLst>
              <a:ext uri="{FF2B5EF4-FFF2-40B4-BE49-F238E27FC236}">
                <a16:creationId xmlns:a16="http://schemas.microsoft.com/office/drawing/2014/main" id="{00C6D4D1-6723-320B-AFB4-536EBBF1EE6E}"/>
              </a:ext>
            </a:extLst>
          </p:cNvPr>
          <p:cNvSpPr txBox="1"/>
          <p:nvPr/>
        </p:nvSpPr>
        <p:spPr>
          <a:xfrm>
            <a:off x="13627759" y="2665055"/>
            <a:ext cx="4244340" cy="552202"/>
          </a:xfrm>
          <a:prstGeom prst="rect">
            <a:avLst/>
          </a:prstGeom>
          <a:noFill/>
        </p:spPr>
        <p:txBody>
          <a:bodyPr wrap="square" anchor="t">
            <a:spAutoFit/>
          </a:bodyPr>
          <a:lstStyle/>
          <a:p>
            <a:pPr lvl="0">
              <a:lnSpc>
                <a:spcPct val="150000"/>
              </a:lnSpc>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Stop Confusion</a:t>
            </a:r>
            <a:endParaRPr kumimoji="0" lang="en-US" sz="2200" b="0" i="1"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endParaRPr>
          </a:p>
        </p:txBody>
      </p:sp>
      <p:pic>
        <p:nvPicPr>
          <p:cNvPr id="25" name="Graphic 24" descr="Dizzy face with solid fill with solid fill">
            <a:extLst>
              <a:ext uri="{FF2B5EF4-FFF2-40B4-BE49-F238E27FC236}">
                <a16:creationId xmlns:a16="http://schemas.microsoft.com/office/drawing/2014/main" id="{687B28E2-BAF5-4044-5CEC-C7064D29E4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832609" y="2588548"/>
            <a:ext cx="804672" cy="804672"/>
          </a:xfrm>
          <a:prstGeom prst="rect">
            <a:avLst/>
          </a:prstGeom>
        </p:spPr>
      </p:pic>
      <p:pic>
        <p:nvPicPr>
          <p:cNvPr id="27" name="Graphic 26" descr="Shield Tick with solid fill">
            <a:extLst>
              <a:ext uri="{FF2B5EF4-FFF2-40B4-BE49-F238E27FC236}">
                <a16:creationId xmlns:a16="http://schemas.microsoft.com/office/drawing/2014/main" id="{A83F2D9A-B123-D35D-AF7C-B64D80E1E77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40792" y="2638707"/>
            <a:ext cx="803109" cy="803109"/>
          </a:xfrm>
          <a:prstGeom prst="rect">
            <a:avLst/>
          </a:prstGeom>
        </p:spPr>
      </p:pic>
      <p:pic>
        <p:nvPicPr>
          <p:cNvPr id="29" name="Graphic 28" descr="Stopwatch 75% with solid fill">
            <a:extLst>
              <a:ext uri="{FF2B5EF4-FFF2-40B4-BE49-F238E27FC236}">
                <a16:creationId xmlns:a16="http://schemas.microsoft.com/office/drawing/2014/main" id="{42AA5883-EDE1-E926-9F7A-E10185B8924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94860" y="2638707"/>
            <a:ext cx="804672" cy="804672"/>
          </a:xfrm>
          <a:prstGeom prst="rect">
            <a:avLst/>
          </a:prstGeom>
        </p:spPr>
      </p:pic>
      <p:grpSp>
        <p:nvGrpSpPr>
          <p:cNvPr id="34" name="Group 33">
            <a:extLst>
              <a:ext uri="{FF2B5EF4-FFF2-40B4-BE49-F238E27FC236}">
                <a16:creationId xmlns:a16="http://schemas.microsoft.com/office/drawing/2014/main" id="{79440C4C-C98F-5413-F876-301CAFD6E113}"/>
              </a:ext>
            </a:extLst>
          </p:cNvPr>
          <p:cNvGrpSpPr/>
          <p:nvPr/>
        </p:nvGrpSpPr>
        <p:grpSpPr>
          <a:xfrm>
            <a:off x="703385" y="4252129"/>
            <a:ext cx="7639577" cy="5156161"/>
            <a:chOff x="1000000" y="2579259"/>
            <a:chExt cx="7866800" cy="4213977"/>
          </a:xfrm>
          <a:effectLst>
            <a:outerShdw blurRad="50800" dist="38100" dir="5400000" algn="t" rotWithShape="0">
              <a:prstClr val="black">
                <a:alpha val="40000"/>
              </a:prstClr>
            </a:outerShdw>
          </a:effectLst>
        </p:grpSpPr>
        <p:sp>
          <p:nvSpPr>
            <p:cNvPr id="35" name="Rounded Rectangle 3">
              <a:extLst>
                <a:ext uri="{FF2B5EF4-FFF2-40B4-BE49-F238E27FC236}">
                  <a16:creationId xmlns:a16="http://schemas.microsoft.com/office/drawing/2014/main" id="{2FC4D5C1-70FB-B6E4-4036-186686172810}"/>
                </a:ext>
              </a:extLst>
            </p:cNvPr>
            <p:cNvSpPr/>
            <p:nvPr/>
          </p:nvSpPr>
          <p:spPr>
            <a:xfrm>
              <a:off x="1000000" y="2579259"/>
              <a:ext cx="7800000" cy="4088241"/>
            </a:xfrm>
            <a:prstGeom prst="roundRect">
              <a:avLst/>
            </a:prstGeom>
            <a:solidFill>
              <a:srgbClr val="00EB5B"/>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7200" b="0" i="0" u="none" strike="noStrike" kern="0" cap="none" spc="0" normalizeH="0" baseline="0" noProof="0" dirty="0">
                <a:ln>
                  <a:noFill/>
                </a:ln>
                <a:solidFill>
                  <a:prstClr val="white"/>
                </a:solidFill>
                <a:effectLst/>
                <a:uLnTx/>
                <a:uFillTx/>
                <a:latin typeface="Calibri"/>
                <a:ea typeface="+mn-ea"/>
                <a:cs typeface="+mn-cs"/>
                <a:sym typeface="Arial"/>
              </a:endParaRPr>
            </a:p>
          </p:txBody>
        </p:sp>
        <p:sp>
          <p:nvSpPr>
            <p:cNvPr id="36" name="Rounded Rectangle 3">
              <a:extLst>
                <a:ext uri="{FF2B5EF4-FFF2-40B4-BE49-F238E27FC236}">
                  <a16:creationId xmlns:a16="http://schemas.microsoft.com/office/drawing/2014/main" id="{5D92B2DF-CB22-FB93-B821-7F7DB2C78C34}"/>
                </a:ext>
              </a:extLst>
            </p:cNvPr>
            <p:cNvSpPr/>
            <p:nvPr/>
          </p:nvSpPr>
          <p:spPr>
            <a:xfrm>
              <a:off x="1066800" y="2704995"/>
              <a:ext cx="7800000" cy="4088241"/>
            </a:xfrm>
            <a:prstGeom prst="roundRect">
              <a:avLst/>
            </a:prstGeom>
            <a:ln>
              <a:solidFill>
                <a:srgbClr val="9BF2FF"/>
              </a:solidFill>
            </a:ln>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7200" b="0" i="0" u="none" strike="noStrike" kern="0" cap="none" spc="0" normalizeH="0" baseline="0" noProof="0" dirty="0">
                <a:ln>
                  <a:noFill/>
                </a:ln>
                <a:solidFill>
                  <a:prstClr val="white"/>
                </a:solidFill>
                <a:effectLst/>
                <a:uLnTx/>
                <a:uFillTx/>
                <a:latin typeface="Calibri"/>
                <a:ea typeface="+mn-ea"/>
                <a:cs typeface="+mn-cs"/>
                <a:sym typeface="Arial"/>
              </a:endParaRPr>
            </a:p>
          </p:txBody>
        </p:sp>
      </p:grpSp>
      <p:sp>
        <p:nvSpPr>
          <p:cNvPr id="37" name="TextBox 36">
            <a:extLst>
              <a:ext uri="{FF2B5EF4-FFF2-40B4-BE49-F238E27FC236}">
                <a16:creationId xmlns:a16="http://schemas.microsoft.com/office/drawing/2014/main" id="{5A06F5B6-2A0C-4F97-F548-765B20E83A9A}"/>
              </a:ext>
            </a:extLst>
          </p:cNvPr>
          <p:cNvSpPr txBox="1"/>
          <p:nvPr/>
        </p:nvSpPr>
        <p:spPr>
          <a:xfrm>
            <a:off x="1248092" y="5740927"/>
            <a:ext cx="6599999" cy="523220"/>
          </a:xfrm>
          <a:prstGeom prst="rect">
            <a:avLst/>
          </a:prstGeom>
          <a:noFill/>
        </p:spPr>
        <p:txBody>
          <a:bodyPr wrap="square" anchor="t">
            <a:spAutoFit/>
          </a:bodyPr>
          <a:lstStyle>
            <a:defPPr>
              <a:defRPr lang="en-US"/>
            </a:defPPr>
            <a:lvl1pPr marR="0" lvl="0" indent="0" fontAlgn="auto">
              <a:lnSpc>
                <a:spcPct val="100000"/>
              </a:lnSpc>
              <a:spcBef>
                <a:spcPts val="0"/>
              </a:spcBef>
              <a:spcAft>
                <a:spcPts val="0"/>
              </a:spcAft>
              <a:buClr>
                <a:srgbClr val="000000"/>
              </a:buClr>
              <a:buSzTx/>
              <a:buFontTx/>
              <a:buNone/>
              <a:tabLst/>
              <a:defRPr kumimoji="0" sz="2800" b="1" i="0" u="none" strike="noStrike" kern="0" cap="none" spc="0" normalizeH="0" baseline="0">
                <a:ln>
                  <a:noFill/>
                </a:ln>
                <a:solidFill>
                  <a:srgbClr val="8A8272"/>
                </a:solidFill>
                <a:effectLst/>
                <a:uLnTx/>
                <a:uFillTx/>
                <a:latin typeface="Poppins" panose="00000500000000000000" pitchFamily="2" charset="0"/>
                <a:cs typeface="Poppins" panose="00000500000000000000" pitchFamily="2" charset="0"/>
              </a:defRPr>
            </a:lvl1pPr>
          </a:lstStyle>
          <a:p>
            <a:r>
              <a:rPr lang="en-US" dirty="0">
                <a:sym typeface="Arial"/>
              </a:rPr>
              <a:t>When to Merge</a:t>
            </a:r>
            <a:endParaRPr dirty="0">
              <a:sym typeface="Arial"/>
            </a:endParaRPr>
          </a:p>
        </p:txBody>
      </p:sp>
      <p:sp>
        <p:nvSpPr>
          <p:cNvPr id="38" name="TextBox 37">
            <a:extLst>
              <a:ext uri="{FF2B5EF4-FFF2-40B4-BE49-F238E27FC236}">
                <a16:creationId xmlns:a16="http://schemas.microsoft.com/office/drawing/2014/main" id="{1EB3B6F0-C4FA-B26C-869D-0EA52FF856A3}"/>
              </a:ext>
            </a:extLst>
          </p:cNvPr>
          <p:cNvSpPr txBox="1"/>
          <p:nvPr/>
        </p:nvSpPr>
        <p:spPr>
          <a:xfrm>
            <a:off x="1287080" y="6401313"/>
            <a:ext cx="6816998" cy="1060034"/>
          </a:xfrm>
          <a:prstGeom prst="rect">
            <a:avLst/>
          </a:prstGeom>
          <a:noFill/>
        </p:spPr>
        <p:txBody>
          <a:bodyPr wrap="square" anchor="t">
            <a:spAutoFit/>
          </a:bodyPr>
          <a:lstStyle/>
          <a:p>
            <a:pPr lvl="0">
              <a:lnSpc>
                <a:spcPct val="150000"/>
              </a:lnSpc>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Multiple tickets from the same requester regarding the same topic</a:t>
            </a:r>
            <a:endParaRPr kumimoji="0" lang="en-US" sz="220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endParaRPr>
          </a:p>
        </p:txBody>
      </p:sp>
      <p:grpSp>
        <p:nvGrpSpPr>
          <p:cNvPr id="39" name="Group 38">
            <a:extLst>
              <a:ext uri="{FF2B5EF4-FFF2-40B4-BE49-F238E27FC236}">
                <a16:creationId xmlns:a16="http://schemas.microsoft.com/office/drawing/2014/main" id="{A394785C-905B-547D-4079-89597C433DDD}"/>
              </a:ext>
            </a:extLst>
          </p:cNvPr>
          <p:cNvGrpSpPr/>
          <p:nvPr/>
        </p:nvGrpSpPr>
        <p:grpSpPr>
          <a:xfrm>
            <a:off x="9001175" y="4252129"/>
            <a:ext cx="7639577" cy="4937430"/>
            <a:chOff x="1000000" y="2579259"/>
            <a:chExt cx="7866800" cy="4213977"/>
          </a:xfrm>
          <a:effectLst>
            <a:outerShdw blurRad="50800" dist="38100" dir="5400000" algn="t" rotWithShape="0">
              <a:prstClr val="black">
                <a:alpha val="40000"/>
              </a:prstClr>
            </a:outerShdw>
          </a:effectLst>
        </p:grpSpPr>
        <p:sp>
          <p:nvSpPr>
            <p:cNvPr id="40" name="Rounded Rectangle 3">
              <a:extLst>
                <a:ext uri="{FF2B5EF4-FFF2-40B4-BE49-F238E27FC236}">
                  <a16:creationId xmlns:a16="http://schemas.microsoft.com/office/drawing/2014/main" id="{351AAC7F-8FB2-E660-C570-973455D7AA24}"/>
                </a:ext>
              </a:extLst>
            </p:cNvPr>
            <p:cNvSpPr/>
            <p:nvPr/>
          </p:nvSpPr>
          <p:spPr>
            <a:xfrm>
              <a:off x="1000000" y="2579259"/>
              <a:ext cx="7800000" cy="4088241"/>
            </a:xfrm>
            <a:prstGeom prst="roundRect">
              <a:avLst/>
            </a:prstGeom>
            <a:solidFill>
              <a:srgbClr val="FF0000"/>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7200" b="0" i="0" u="none" strike="noStrike" kern="0" cap="none" spc="0" normalizeH="0" baseline="0" noProof="0" dirty="0">
                <a:ln>
                  <a:noFill/>
                </a:ln>
                <a:solidFill>
                  <a:prstClr val="white"/>
                </a:solidFill>
                <a:effectLst/>
                <a:uLnTx/>
                <a:uFillTx/>
                <a:latin typeface="Calibri"/>
                <a:ea typeface="+mn-ea"/>
                <a:cs typeface="+mn-cs"/>
                <a:sym typeface="Arial"/>
              </a:endParaRPr>
            </a:p>
          </p:txBody>
        </p:sp>
        <p:sp>
          <p:nvSpPr>
            <p:cNvPr id="41" name="Rounded Rectangle 3">
              <a:extLst>
                <a:ext uri="{FF2B5EF4-FFF2-40B4-BE49-F238E27FC236}">
                  <a16:creationId xmlns:a16="http://schemas.microsoft.com/office/drawing/2014/main" id="{2D0567DC-EA13-E5F1-794A-4DCA5ED53CB5}"/>
                </a:ext>
              </a:extLst>
            </p:cNvPr>
            <p:cNvSpPr/>
            <p:nvPr/>
          </p:nvSpPr>
          <p:spPr>
            <a:xfrm>
              <a:off x="1066800" y="2704995"/>
              <a:ext cx="7800000" cy="4088241"/>
            </a:xfrm>
            <a:prstGeom prst="roundRect">
              <a:avLst/>
            </a:prstGeom>
            <a:ln>
              <a:solidFill>
                <a:srgbClr val="9BF2FF"/>
              </a:solidFill>
            </a:ln>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7200" b="0" i="0" u="none" strike="noStrike" kern="0" cap="none" spc="0" normalizeH="0" baseline="0" noProof="0" dirty="0">
                <a:ln>
                  <a:noFill/>
                </a:ln>
                <a:solidFill>
                  <a:prstClr val="white"/>
                </a:solidFill>
                <a:effectLst/>
                <a:uLnTx/>
                <a:uFillTx/>
                <a:latin typeface="Calibri"/>
                <a:ea typeface="+mn-ea"/>
                <a:cs typeface="+mn-cs"/>
                <a:sym typeface="Arial"/>
              </a:endParaRPr>
            </a:p>
          </p:txBody>
        </p:sp>
      </p:grpSp>
      <p:sp>
        <p:nvSpPr>
          <p:cNvPr id="42" name="TextBox 41">
            <a:extLst>
              <a:ext uri="{FF2B5EF4-FFF2-40B4-BE49-F238E27FC236}">
                <a16:creationId xmlns:a16="http://schemas.microsoft.com/office/drawing/2014/main" id="{551C72C3-3F00-936F-5076-B27382A62C7F}"/>
              </a:ext>
            </a:extLst>
          </p:cNvPr>
          <p:cNvSpPr txBox="1"/>
          <p:nvPr/>
        </p:nvSpPr>
        <p:spPr>
          <a:xfrm>
            <a:off x="9443580" y="4514550"/>
            <a:ext cx="6599999" cy="523220"/>
          </a:xfrm>
          <a:prstGeom prst="rect">
            <a:avLst/>
          </a:prstGeom>
          <a:noFill/>
        </p:spPr>
        <p:txBody>
          <a:bodyPr wrap="square" anchor="t">
            <a:spAutoFit/>
          </a:bodyPr>
          <a:lstStyle>
            <a:defPPr>
              <a:defRPr lang="en-US"/>
            </a:defPPr>
            <a:lvl1pPr marR="0" lvl="0" indent="0" fontAlgn="auto">
              <a:lnSpc>
                <a:spcPct val="100000"/>
              </a:lnSpc>
              <a:spcBef>
                <a:spcPts val="0"/>
              </a:spcBef>
              <a:spcAft>
                <a:spcPts val="0"/>
              </a:spcAft>
              <a:buClr>
                <a:srgbClr val="000000"/>
              </a:buClr>
              <a:buSzTx/>
              <a:buFontTx/>
              <a:buNone/>
              <a:tabLst/>
              <a:defRPr kumimoji="0" sz="2800" b="1" i="0" u="none" strike="noStrike" kern="0" cap="none" spc="0" normalizeH="0" baseline="0">
                <a:ln>
                  <a:noFill/>
                </a:ln>
                <a:solidFill>
                  <a:srgbClr val="8A8272"/>
                </a:solidFill>
                <a:effectLst/>
                <a:uLnTx/>
                <a:uFillTx/>
                <a:latin typeface="Poppins" panose="00000500000000000000" pitchFamily="2" charset="0"/>
                <a:cs typeface="Poppins" panose="00000500000000000000" pitchFamily="2" charset="0"/>
              </a:defRPr>
            </a:lvl1pPr>
          </a:lstStyle>
          <a:p>
            <a:r>
              <a:rPr lang="en-US" dirty="0">
                <a:sym typeface="Arial"/>
              </a:rPr>
              <a:t>When Not to Merge</a:t>
            </a:r>
            <a:endParaRPr dirty="0">
              <a:sym typeface="Arial"/>
            </a:endParaRPr>
          </a:p>
        </p:txBody>
      </p:sp>
      <p:sp>
        <p:nvSpPr>
          <p:cNvPr id="43" name="TextBox 42">
            <a:extLst>
              <a:ext uri="{FF2B5EF4-FFF2-40B4-BE49-F238E27FC236}">
                <a16:creationId xmlns:a16="http://schemas.microsoft.com/office/drawing/2014/main" id="{B7795CDC-FD44-A84B-BE37-46F170F5AD0F}"/>
              </a:ext>
            </a:extLst>
          </p:cNvPr>
          <p:cNvSpPr txBox="1"/>
          <p:nvPr/>
        </p:nvSpPr>
        <p:spPr>
          <a:xfrm>
            <a:off x="9443580" y="4913015"/>
            <a:ext cx="6816998" cy="4107022"/>
          </a:xfrm>
          <a:prstGeom prst="rect">
            <a:avLst/>
          </a:prstGeom>
          <a:noFill/>
        </p:spPr>
        <p:txBody>
          <a:bodyPr wrap="square" anchor="t">
            <a:spAutoFit/>
          </a:bodyPr>
          <a:lstStyle/>
          <a:p>
            <a:pPr marL="342900" lvl="0" indent="-342900">
              <a:lnSpc>
                <a:spcPct val="150000"/>
              </a:lnSpc>
              <a:buClr>
                <a:srgbClr val="000000"/>
              </a:buClr>
              <a:buFont typeface="Arial" panose="020B0604020202020204" pitchFamily="34" charset="0"/>
              <a:buChar char="•"/>
              <a:defRPr/>
            </a:pPr>
            <a:r>
              <a:rPr lang="en-US" sz="2200" kern="0" dirty="0">
                <a:solidFill>
                  <a:srgbClr val="000000"/>
                </a:solidFill>
                <a:latin typeface="Poppins" panose="00000500000000000000" pitchFamily="2" charset="0"/>
                <a:cs typeface="Poppins" panose="00000500000000000000" pitchFamily="2" charset="0"/>
                <a:sym typeface="Arial"/>
              </a:rPr>
              <a:t>Tickets from an owner and a user, even if they are related to the same review/situation </a:t>
            </a:r>
          </a:p>
          <a:p>
            <a:pPr marL="342900" lvl="0" indent="-342900">
              <a:lnSpc>
                <a:spcPct val="150000"/>
              </a:lnSpc>
              <a:buClr>
                <a:srgbClr val="000000"/>
              </a:buClr>
              <a:buFont typeface="Arial" panose="020B0604020202020204" pitchFamily="34" charset="0"/>
              <a:buChar char="•"/>
              <a:defRPr/>
            </a:pPr>
            <a:r>
              <a:rPr lang="en-US" sz="2200" kern="0" dirty="0">
                <a:solidFill>
                  <a:srgbClr val="000000"/>
                </a:solidFill>
                <a:latin typeface="Poppins" panose="00000500000000000000" pitchFamily="2" charset="0"/>
                <a:cs typeface="Poppins" panose="00000500000000000000" pitchFamily="2" charset="0"/>
                <a:sym typeface="Arial"/>
              </a:rPr>
              <a:t>Tickets from two different owners of the same property</a:t>
            </a:r>
          </a:p>
          <a:p>
            <a:pPr marL="342900" lvl="0" indent="-342900">
              <a:lnSpc>
                <a:spcPct val="150000"/>
              </a:lnSpc>
              <a:buClr>
                <a:srgbClr val="000000"/>
              </a:buClr>
              <a:buFont typeface="Arial" panose="020B0604020202020204" pitchFamily="34" charset="0"/>
              <a:buChar char="•"/>
              <a:defRPr/>
            </a:pPr>
            <a:r>
              <a:rPr lang="en-US" sz="2200" kern="0" dirty="0">
                <a:solidFill>
                  <a:srgbClr val="000000"/>
                </a:solidFill>
                <a:latin typeface="Poppins" panose="00000500000000000000" pitchFamily="2" charset="0"/>
                <a:cs typeface="Poppins" panose="00000500000000000000" pitchFamily="2" charset="0"/>
                <a:sym typeface="Arial"/>
              </a:rPr>
              <a:t>Tickets from the same owner but for 2 different properties/reviews with different issues or fraud pattern</a:t>
            </a:r>
            <a:endParaRPr kumimoji="0" lang="en-US" sz="220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endParaRPr>
          </a:p>
        </p:txBody>
      </p:sp>
      <p:pic>
        <p:nvPicPr>
          <p:cNvPr id="45" name="Picture 44">
            <a:extLst>
              <a:ext uri="{FF2B5EF4-FFF2-40B4-BE49-F238E27FC236}">
                <a16:creationId xmlns:a16="http://schemas.microsoft.com/office/drawing/2014/main" id="{8B5A2C39-92EC-AD0A-268D-9BE8E5870C68}"/>
              </a:ext>
            </a:extLst>
          </p:cNvPr>
          <p:cNvPicPr>
            <a:picLocks noChangeAspect="1"/>
          </p:cNvPicPr>
          <p:nvPr/>
        </p:nvPicPr>
        <p:blipFill>
          <a:blip r:embed="rId8"/>
          <a:srcRect l="3439" t="7619" r="50000" b="6508"/>
          <a:stretch>
            <a:fillRect/>
          </a:stretch>
        </p:blipFill>
        <p:spPr>
          <a:xfrm>
            <a:off x="6375333" y="6879920"/>
            <a:ext cx="1888597" cy="2322116"/>
          </a:xfrm>
          <a:prstGeom prst="rect">
            <a:avLst/>
          </a:prstGeom>
          <a:effectLst>
            <a:outerShdw blurRad="50800" dist="38100" dir="5400000" algn="t" rotWithShape="0">
              <a:prstClr val="black">
                <a:alpha val="40000"/>
              </a:prstClr>
            </a:outerShdw>
          </a:effectLst>
        </p:spPr>
      </p:pic>
      <p:pic>
        <p:nvPicPr>
          <p:cNvPr id="47" name="Picture 46">
            <a:extLst>
              <a:ext uri="{FF2B5EF4-FFF2-40B4-BE49-F238E27FC236}">
                <a16:creationId xmlns:a16="http://schemas.microsoft.com/office/drawing/2014/main" id="{300CACA1-7428-ED0C-3B22-8C10DBE037B4}"/>
              </a:ext>
            </a:extLst>
          </p:cNvPr>
          <p:cNvPicPr>
            <a:picLocks noChangeAspect="1"/>
          </p:cNvPicPr>
          <p:nvPr/>
        </p:nvPicPr>
        <p:blipFill>
          <a:blip r:embed="rId9"/>
          <a:srcRect l="54233" t="3491" r="1217" b="6349"/>
          <a:stretch>
            <a:fillRect/>
          </a:stretch>
        </p:blipFill>
        <p:spPr>
          <a:xfrm>
            <a:off x="15823227" y="6792294"/>
            <a:ext cx="1764792" cy="2381001"/>
          </a:xfrm>
          <a:prstGeom prst="rect">
            <a:avLst/>
          </a:prstGeom>
          <a:effectLst>
            <a:outerShdw blurRad="50800" dist="38100" dir="5400000" algn="t" rotWithShape="0">
              <a:prstClr val="black">
                <a:alpha val="40000"/>
              </a:prstClr>
            </a:outerShdw>
          </a:effectLst>
        </p:spPr>
      </p:pic>
      <p:sp>
        <p:nvSpPr>
          <p:cNvPr id="3" name="Text 19">
            <a:extLst>
              <a:ext uri="{FF2B5EF4-FFF2-40B4-BE49-F238E27FC236}">
                <a16:creationId xmlns:a16="http://schemas.microsoft.com/office/drawing/2014/main" id="{11BBBFCE-B148-8132-5F3C-11E4B3DB40B6}"/>
              </a:ext>
            </a:extLst>
          </p:cNvPr>
          <p:cNvSpPr/>
          <p:nvPr/>
        </p:nvSpPr>
        <p:spPr>
          <a:xfrm>
            <a:off x="685800" y="9738360"/>
            <a:ext cx="10972800" cy="411480"/>
          </a:xfrm>
          <a:prstGeom prst="rect">
            <a:avLst/>
          </a:prstGeom>
          <a:noFill/>
          <a:ln/>
        </p:spPr>
        <p:txBody>
          <a:bodyPr wrap="square" lIns="0" tIns="0" rIns="0" bIns="0" rtlCol="0" anchor="ct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8272"/>
                </a:solidFill>
                <a:effectLst/>
                <a:uLnTx/>
                <a:uFillTx/>
                <a:latin typeface="Poppins" panose="00000500000000000000" pitchFamily="2" charset="0"/>
                <a:ea typeface="Calibri" pitchFamily="34" charset="-122"/>
                <a:cs typeface="Poppins" panose="00000500000000000000" pitchFamily="2" charset="0"/>
              </a:rPr>
              <a:t>Tripadvisor / Fraud support / Merging tickets</a:t>
            </a:r>
          </a:p>
        </p:txBody>
      </p:sp>
    </p:spTree>
    <p:extLst>
      <p:ext uri="{BB962C8B-B14F-4D97-AF65-F5344CB8AC3E}">
        <p14:creationId xmlns:p14="http://schemas.microsoft.com/office/powerpoint/2010/main" val="3971240812"/>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F7192D1-C69C-E4B8-32A6-D7CA56583DD2}"/>
            </a:ext>
          </a:extLst>
        </p:cNvPr>
        <p:cNvGrpSpPr/>
        <p:nvPr/>
      </p:nvGrpSpPr>
      <p:grpSpPr>
        <a:xfrm>
          <a:off x="0" y="0"/>
          <a:ext cx="0" cy="0"/>
          <a:chOff x="0" y="0"/>
          <a:chExt cx="0" cy="0"/>
        </a:xfrm>
      </p:grpSpPr>
      <p:sp>
        <p:nvSpPr>
          <p:cNvPr id="66" name="Freeform 4">
            <a:extLst>
              <a:ext uri="{FF2B5EF4-FFF2-40B4-BE49-F238E27FC236}">
                <a16:creationId xmlns:a16="http://schemas.microsoft.com/office/drawing/2014/main" id="{9960D1A9-40FD-2431-D3D9-B90C6E4A378C}"/>
              </a:ext>
            </a:extLst>
          </p:cNvPr>
          <p:cNvSpPr/>
          <p:nvPr/>
        </p:nvSpPr>
        <p:spPr>
          <a:xfrm rot="13154954">
            <a:off x="10970531" y="423802"/>
            <a:ext cx="11435239" cy="5274643"/>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 2">
            <a:extLst>
              <a:ext uri="{FF2B5EF4-FFF2-40B4-BE49-F238E27FC236}">
                <a16:creationId xmlns:a16="http://schemas.microsoft.com/office/drawing/2014/main" id="{B06BED8E-82DB-C2AE-3C37-6DF2543A581C}"/>
              </a:ext>
            </a:extLst>
          </p:cNvPr>
          <p:cNvSpPr/>
          <p:nvPr/>
        </p:nvSpPr>
        <p:spPr>
          <a:xfrm>
            <a:off x="688429" y="694753"/>
            <a:ext cx="13716000" cy="960120"/>
          </a:xfrm>
          <a:prstGeom prst="rect">
            <a:avLst/>
          </a:prstGeom>
          <a:noFill/>
          <a:ln/>
        </p:spPr>
        <p:txBody>
          <a:bodyPr wrap="square" lIns="0" tIns="0" rIns="0" bIns="0" rtlCol="0" anchor="ctr"/>
          <a:lstStyle/>
          <a:p>
            <a:pPr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Merging Tickets</a:t>
            </a:r>
          </a:p>
        </p:txBody>
      </p:sp>
      <p:grpSp>
        <p:nvGrpSpPr>
          <p:cNvPr id="34" name="Group 33">
            <a:extLst>
              <a:ext uri="{FF2B5EF4-FFF2-40B4-BE49-F238E27FC236}">
                <a16:creationId xmlns:a16="http://schemas.microsoft.com/office/drawing/2014/main" id="{257DDEE6-1C46-3B9A-8834-45A40F645524}"/>
              </a:ext>
            </a:extLst>
          </p:cNvPr>
          <p:cNvGrpSpPr/>
          <p:nvPr/>
        </p:nvGrpSpPr>
        <p:grpSpPr>
          <a:xfrm>
            <a:off x="8000999" y="1000756"/>
            <a:ext cx="8551824" cy="2591806"/>
            <a:chOff x="1000000" y="2579259"/>
            <a:chExt cx="7866800" cy="4213977"/>
          </a:xfrm>
          <a:effectLst>
            <a:outerShdw blurRad="50800" dist="38100" dir="5400000" algn="t" rotWithShape="0">
              <a:prstClr val="black">
                <a:alpha val="40000"/>
              </a:prstClr>
            </a:outerShdw>
          </a:effectLst>
        </p:grpSpPr>
        <p:sp>
          <p:nvSpPr>
            <p:cNvPr id="35" name="Rounded Rectangle 3">
              <a:extLst>
                <a:ext uri="{FF2B5EF4-FFF2-40B4-BE49-F238E27FC236}">
                  <a16:creationId xmlns:a16="http://schemas.microsoft.com/office/drawing/2014/main" id="{60A518D7-A629-0855-259F-196FFF5F89E4}"/>
                </a:ext>
              </a:extLst>
            </p:cNvPr>
            <p:cNvSpPr/>
            <p:nvPr/>
          </p:nvSpPr>
          <p:spPr>
            <a:xfrm>
              <a:off x="1000000" y="2579259"/>
              <a:ext cx="7800000" cy="4088241"/>
            </a:xfrm>
            <a:prstGeom prst="roundRect">
              <a:avLst/>
            </a:prstGeom>
            <a:solidFill>
              <a:srgbClr val="00EB5B"/>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7200" b="0" i="0" u="none" strike="noStrike" kern="0" cap="none" spc="0" normalizeH="0" baseline="0" noProof="0" dirty="0">
                <a:ln>
                  <a:noFill/>
                </a:ln>
                <a:solidFill>
                  <a:prstClr val="white"/>
                </a:solidFill>
                <a:effectLst/>
                <a:uLnTx/>
                <a:uFillTx/>
                <a:latin typeface="Calibri"/>
                <a:ea typeface="+mn-ea"/>
                <a:cs typeface="+mn-cs"/>
                <a:sym typeface="Arial"/>
              </a:endParaRPr>
            </a:p>
          </p:txBody>
        </p:sp>
        <p:sp>
          <p:nvSpPr>
            <p:cNvPr id="36" name="Rounded Rectangle 3">
              <a:extLst>
                <a:ext uri="{FF2B5EF4-FFF2-40B4-BE49-F238E27FC236}">
                  <a16:creationId xmlns:a16="http://schemas.microsoft.com/office/drawing/2014/main" id="{66B716DB-4ECC-4057-EA90-1D23583DBB32}"/>
                </a:ext>
              </a:extLst>
            </p:cNvPr>
            <p:cNvSpPr/>
            <p:nvPr/>
          </p:nvSpPr>
          <p:spPr>
            <a:xfrm>
              <a:off x="1066800" y="2704995"/>
              <a:ext cx="7800000" cy="4088241"/>
            </a:xfrm>
            <a:prstGeom prst="roundRect">
              <a:avLst/>
            </a:prstGeom>
            <a:ln>
              <a:solidFill>
                <a:srgbClr val="9BF2FF"/>
              </a:solidFill>
            </a:ln>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7200" b="0" i="0" u="none" strike="noStrike" kern="0" cap="none" spc="0" normalizeH="0" baseline="0" noProof="0" dirty="0">
                <a:ln>
                  <a:noFill/>
                </a:ln>
                <a:solidFill>
                  <a:prstClr val="white"/>
                </a:solidFill>
                <a:effectLst/>
                <a:uLnTx/>
                <a:uFillTx/>
                <a:latin typeface="Calibri"/>
                <a:ea typeface="+mn-ea"/>
                <a:cs typeface="+mn-cs"/>
                <a:sym typeface="Arial"/>
              </a:endParaRPr>
            </a:p>
          </p:txBody>
        </p:sp>
      </p:grpSp>
      <p:sp>
        <p:nvSpPr>
          <p:cNvPr id="37" name="TextBox 36">
            <a:extLst>
              <a:ext uri="{FF2B5EF4-FFF2-40B4-BE49-F238E27FC236}">
                <a16:creationId xmlns:a16="http://schemas.microsoft.com/office/drawing/2014/main" id="{8710D884-9CBB-D231-608D-ADD45FD8D95F}"/>
              </a:ext>
            </a:extLst>
          </p:cNvPr>
          <p:cNvSpPr txBox="1"/>
          <p:nvPr/>
        </p:nvSpPr>
        <p:spPr>
          <a:xfrm>
            <a:off x="8443404" y="1444849"/>
            <a:ext cx="6599999" cy="523220"/>
          </a:xfrm>
          <a:prstGeom prst="rect">
            <a:avLst/>
          </a:prstGeom>
          <a:noFill/>
        </p:spPr>
        <p:txBody>
          <a:bodyPr wrap="square" anchor="t">
            <a:spAutoFit/>
          </a:bodyPr>
          <a:lstStyle>
            <a:defPPr>
              <a:defRPr lang="en-US"/>
            </a:defPPr>
            <a:lvl1pPr marR="0" lvl="0" indent="0" fontAlgn="auto">
              <a:lnSpc>
                <a:spcPct val="100000"/>
              </a:lnSpc>
              <a:spcBef>
                <a:spcPts val="0"/>
              </a:spcBef>
              <a:spcAft>
                <a:spcPts val="0"/>
              </a:spcAft>
              <a:buClr>
                <a:srgbClr val="000000"/>
              </a:buClr>
              <a:buSzTx/>
              <a:buFontTx/>
              <a:buNone/>
              <a:tabLst/>
              <a:defRPr kumimoji="0" sz="2800" b="1" i="0" u="none" strike="noStrike" kern="0" cap="none" spc="0" normalizeH="0" baseline="0">
                <a:ln>
                  <a:noFill/>
                </a:ln>
                <a:solidFill>
                  <a:srgbClr val="8A8272"/>
                </a:solidFill>
                <a:effectLst/>
                <a:uLnTx/>
                <a:uFillTx/>
                <a:latin typeface="Poppins" panose="00000500000000000000" pitchFamily="2" charset="0"/>
                <a:cs typeface="Poppins" panose="00000500000000000000" pitchFamily="2" charset="0"/>
              </a:defRPr>
            </a:lvl1pPr>
          </a:lstStyle>
          <a:p>
            <a:r>
              <a:rPr lang="en-US" dirty="0">
                <a:sym typeface="Arial"/>
              </a:rPr>
              <a:t>When to Merge</a:t>
            </a:r>
            <a:endParaRPr dirty="0">
              <a:sym typeface="Arial"/>
            </a:endParaRPr>
          </a:p>
        </p:txBody>
      </p:sp>
      <p:sp>
        <p:nvSpPr>
          <p:cNvPr id="38" name="TextBox 37">
            <a:extLst>
              <a:ext uri="{FF2B5EF4-FFF2-40B4-BE49-F238E27FC236}">
                <a16:creationId xmlns:a16="http://schemas.microsoft.com/office/drawing/2014/main" id="{409A1418-CA46-A20B-F1EE-7F689720C64F}"/>
              </a:ext>
            </a:extLst>
          </p:cNvPr>
          <p:cNvSpPr txBox="1"/>
          <p:nvPr/>
        </p:nvSpPr>
        <p:spPr>
          <a:xfrm>
            <a:off x="8697208" y="2005358"/>
            <a:ext cx="7502142" cy="1060034"/>
          </a:xfrm>
          <a:prstGeom prst="rect">
            <a:avLst/>
          </a:prstGeom>
          <a:noFill/>
        </p:spPr>
        <p:txBody>
          <a:bodyPr wrap="square" anchor="t">
            <a:spAutoFit/>
          </a:bodyPr>
          <a:lstStyle/>
          <a:p>
            <a:pPr lvl="0">
              <a:lnSpc>
                <a:spcPct val="150000"/>
              </a:lnSpc>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Multiple tickets from the same requester regarding the same topic</a:t>
            </a:r>
            <a:endParaRPr kumimoji="0" lang="en-US" sz="220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endParaRPr>
          </a:p>
        </p:txBody>
      </p:sp>
      <p:grpSp>
        <p:nvGrpSpPr>
          <p:cNvPr id="39" name="Group 38">
            <a:extLst>
              <a:ext uri="{FF2B5EF4-FFF2-40B4-BE49-F238E27FC236}">
                <a16:creationId xmlns:a16="http://schemas.microsoft.com/office/drawing/2014/main" id="{B80CFD46-A0C7-8064-2909-C11CD96490AD}"/>
              </a:ext>
            </a:extLst>
          </p:cNvPr>
          <p:cNvGrpSpPr/>
          <p:nvPr/>
        </p:nvGrpSpPr>
        <p:grpSpPr>
          <a:xfrm>
            <a:off x="8000999" y="4099357"/>
            <a:ext cx="8551823" cy="4937430"/>
            <a:chOff x="1000000" y="2579259"/>
            <a:chExt cx="7866800" cy="4213977"/>
          </a:xfrm>
          <a:effectLst>
            <a:outerShdw blurRad="50800" dist="38100" dir="5400000" algn="t" rotWithShape="0">
              <a:prstClr val="black">
                <a:alpha val="40000"/>
              </a:prstClr>
            </a:outerShdw>
          </a:effectLst>
        </p:grpSpPr>
        <p:sp>
          <p:nvSpPr>
            <p:cNvPr id="40" name="Rounded Rectangle 3">
              <a:extLst>
                <a:ext uri="{FF2B5EF4-FFF2-40B4-BE49-F238E27FC236}">
                  <a16:creationId xmlns:a16="http://schemas.microsoft.com/office/drawing/2014/main" id="{D2A2FCEE-77AB-FB59-3E97-A18074CC5930}"/>
                </a:ext>
              </a:extLst>
            </p:cNvPr>
            <p:cNvSpPr/>
            <p:nvPr/>
          </p:nvSpPr>
          <p:spPr>
            <a:xfrm>
              <a:off x="1000000" y="2579259"/>
              <a:ext cx="7800000" cy="4088241"/>
            </a:xfrm>
            <a:prstGeom prst="roundRect">
              <a:avLst/>
            </a:prstGeom>
            <a:solidFill>
              <a:srgbClr val="FF0000"/>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7200" b="0" i="0" u="none" strike="noStrike" kern="0" cap="none" spc="0" normalizeH="0" baseline="0" noProof="0" dirty="0">
                <a:ln>
                  <a:noFill/>
                </a:ln>
                <a:solidFill>
                  <a:prstClr val="white"/>
                </a:solidFill>
                <a:effectLst/>
                <a:uLnTx/>
                <a:uFillTx/>
                <a:latin typeface="Calibri"/>
                <a:ea typeface="+mn-ea"/>
                <a:cs typeface="+mn-cs"/>
                <a:sym typeface="Arial"/>
              </a:endParaRPr>
            </a:p>
          </p:txBody>
        </p:sp>
        <p:sp>
          <p:nvSpPr>
            <p:cNvPr id="41" name="Rounded Rectangle 3">
              <a:extLst>
                <a:ext uri="{FF2B5EF4-FFF2-40B4-BE49-F238E27FC236}">
                  <a16:creationId xmlns:a16="http://schemas.microsoft.com/office/drawing/2014/main" id="{9D9A6027-7835-1A63-FDB3-C5F162F24359}"/>
                </a:ext>
              </a:extLst>
            </p:cNvPr>
            <p:cNvSpPr/>
            <p:nvPr/>
          </p:nvSpPr>
          <p:spPr>
            <a:xfrm>
              <a:off x="1066800" y="2704995"/>
              <a:ext cx="7800000" cy="4088241"/>
            </a:xfrm>
            <a:prstGeom prst="roundRect">
              <a:avLst/>
            </a:prstGeom>
            <a:ln>
              <a:solidFill>
                <a:srgbClr val="9BF2FF"/>
              </a:solidFill>
            </a:ln>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7200" b="0" i="0" u="none" strike="noStrike" kern="0" cap="none" spc="0" normalizeH="0" baseline="0" noProof="0" dirty="0">
                <a:ln>
                  <a:noFill/>
                </a:ln>
                <a:solidFill>
                  <a:prstClr val="white"/>
                </a:solidFill>
                <a:effectLst/>
                <a:uLnTx/>
                <a:uFillTx/>
                <a:latin typeface="Calibri"/>
                <a:ea typeface="+mn-ea"/>
                <a:cs typeface="+mn-cs"/>
                <a:sym typeface="Arial"/>
              </a:endParaRPr>
            </a:p>
          </p:txBody>
        </p:sp>
      </p:grpSp>
      <p:sp>
        <p:nvSpPr>
          <p:cNvPr id="42" name="TextBox 41">
            <a:extLst>
              <a:ext uri="{FF2B5EF4-FFF2-40B4-BE49-F238E27FC236}">
                <a16:creationId xmlns:a16="http://schemas.microsoft.com/office/drawing/2014/main" id="{521C8CAB-F9DB-8213-A446-AD13F02E196B}"/>
              </a:ext>
            </a:extLst>
          </p:cNvPr>
          <p:cNvSpPr txBox="1"/>
          <p:nvPr/>
        </p:nvSpPr>
        <p:spPr>
          <a:xfrm>
            <a:off x="8443404" y="4415653"/>
            <a:ext cx="6599999" cy="523220"/>
          </a:xfrm>
          <a:prstGeom prst="rect">
            <a:avLst/>
          </a:prstGeom>
          <a:noFill/>
        </p:spPr>
        <p:txBody>
          <a:bodyPr wrap="square" anchor="t">
            <a:spAutoFit/>
          </a:bodyPr>
          <a:lstStyle>
            <a:defPPr>
              <a:defRPr lang="en-US"/>
            </a:defPPr>
            <a:lvl1pPr marR="0" lvl="0" indent="0" fontAlgn="auto">
              <a:lnSpc>
                <a:spcPct val="100000"/>
              </a:lnSpc>
              <a:spcBef>
                <a:spcPts val="0"/>
              </a:spcBef>
              <a:spcAft>
                <a:spcPts val="0"/>
              </a:spcAft>
              <a:buClr>
                <a:srgbClr val="000000"/>
              </a:buClr>
              <a:buSzTx/>
              <a:buFontTx/>
              <a:buNone/>
              <a:tabLst/>
              <a:defRPr kumimoji="0" sz="2800" b="1" i="0" u="none" strike="noStrike" kern="0" cap="none" spc="0" normalizeH="0" baseline="0">
                <a:ln>
                  <a:noFill/>
                </a:ln>
                <a:solidFill>
                  <a:srgbClr val="8A8272"/>
                </a:solidFill>
                <a:effectLst/>
                <a:uLnTx/>
                <a:uFillTx/>
                <a:latin typeface="Poppins" panose="00000500000000000000" pitchFamily="2" charset="0"/>
                <a:cs typeface="Poppins" panose="00000500000000000000" pitchFamily="2" charset="0"/>
              </a:defRPr>
            </a:lvl1pPr>
          </a:lstStyle>
          <a:p>
            <a:r>
              <a:rPr lang="en-US" dirty="0">
                <a:sym typeface="Arial"/>
              </a:rPr>
              <a:t>When Not to Merge</a:t>
            </a:r>
            <a:endParaRPr dirty="0">
              <a:sym typeface="Arial"/>
            </a:endParaRPr>
          </a:p>
        </p:txBody>
      </p:sp>
      <p:sp>
        <p:nvSpPr>
          <p:cNvPr id="43" name="TextBox 42">
            <a:extLst>
              <a:ext uri="{FF2B5EF4-FFF2-40B4-BE49-F238E27FC236}">
                <a16:creationId xmlns:a16="http://schemas.microsoft.com/office/drawing/2014/main" id="{0B4DF7D5-A9B2-D995-6DEB-045B556B5D7F}"/>
              </a:ext>
            </a:extLst>
          </p:cNvPr>
          <p:cNvSpPr txBox="1"/>
          <p:nvPr/>
        </p:nvSpPr>
        <p:spPr>
          <a:xfrm>
            <a:off x="8629015" y="5030330"/>
            <a:ext cx="8008699" cy="3599190"/>
          </a:xfrm>
          <a:prstGeom prst="rect">
            <a:avLst/>
          </a:prstGeom>
          <a:noFill/>
        </p:spPr>
        <p:txBody>
          <a:bodyPr wrap="square" anchor="t">
            <a:spAutoFit/>
          </a:bodyPr>
          <a:lstStyle/>
          <a:p>
            <a:pPr lvl="0">
              <a:lnSpc>
                <a:spcPct val="150000"/>
              </a:lnSpc>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Tickets from an owner and a user, even if they are related to the same review/situation </a:t>
            </a:r>
          </a:p>
          <a:p>
            <a:pPr lvl="0">
              <a:lnSpc>
                <a:spcPct val="150000"/>
              </a:lnSpc>
              <a:buClr>
                <a:srgbClr val="000000"/>
              </a:buClr>
              <a:defRPr/>
            </a:pPr>
            <a:endParaRPr lang="en-US" sz="2200" kern="0" dirty="0">
              <a:solidFill>
                <a:srgbClr val="000000"/>
              </a:solidFill>
              <a:latin typeface="Poppins" panose="00000500000000000000" pitchFamily="2" charset="0"/>
              <a:cs typeface="Poppins" panose="00000500000000000000" pitchFamily="2" charset="0"/>
              <a:sym typeface="Arial"/>
            </a:endParaRPr>
          </a:p>
          <a:p>
            <a:pPr lvl="0">
              <a:lnSpc>
                <a:spcPct val="150000"/>
              </a:lnSpc>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Tickets from two different owners of the same property</a:t>
            </a:r>
          </a:p>
          <a:p>
            <a:pPr lvl="0">
              <a:lnSpc>
                <a:spcPct val="150000"/>
              </a:lnSpc>
              <a:buClr>
                <a:srgbClr val="000000"/>
              </a:buClr>
              <a:defRPr/>
            </a:pPr>
            <a:endParaRPr lang="en-US" sz="2200" kern="0" dirty="0">
              <a:solidFill>
                <a:srgbClr val="000000"/>
              </a:solidFill>
              <a:latin typeface="Poppins" panose="00000500000000000000" pitchFamily="2" charset="0"/>
              <a:cs typeface="Poppins" panose="00000500000000000000" pitchFamily="2" charset="0"/>
              <a:sym typeface="Arial"/>
            </a:endParaRPr>
          </a:p>
          <a:p>
            <a:pPr lvl="0">
              <a:lnSpc>
                <a:spcPct val="150000"/>
              </a:lnSpc>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Tickets from the same owner but for 2 different properties/reviews with different issues or fraud pattern</a:t>
            </a:r>
            <a:endParaRPr kumimoji="0" lang="en-US" sz="220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endParaRPr>
          </a:p>
        </p:txBody>
      </p:sp>
      <p:sp>
        <p:nvSpPr>
          <p:cNvPr id="3" name="Text 19">
            <a:extLst>
              <a:ext uri="{FF2B5EF4-FFF2-40B4-BE49-F238E27FC236}">
                <a16:creationId xmlns:a16="http://schemas.microsoft.com/office/drawing/2014/main" id="{DFB3ADB3-3156-CE23-3D39-47B59996D451}"/>
              </a:ext>
            </a:extLst>
          </p:cNvPr>
          <p:cNvSpPr/>
          <p:nvPr/>
        </p:nvSpPr>
        <p:spPr>
          <a:xfrm>
            <a:off x="685800" y="9738360"/>
            <a:ext cx="10972800" cy="411480"/>
          </a:xfrm>
          <a:prstGeom prst="rect">
            <a:avLst/>
          </a:prstGeom>
          <a:noFill/>
          <a:ln/>
        </p:spPr>
        <p:txBody>
          <a:bodyPr wrap="square" lIns="0" tIns="0" rIns="0" bIns="0" rtlCol="0" anchor="ct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8272"/>
                </a:solidFill>
                <a:effectLst/>
                <a:uLnTx/>
                <a:uFillTx/>
                <a:latin typeface="Poppins" panose="00000500000000000000" pitchFamily="2" charset="0"/>
                <a:ea typeface="Calibri" pitchFamily="34" charset="-122"/>
                <a:cs typeface="Poppins" panose="00000500000000000000" pitchFamily="2" charset="0"/>
              </a:rPr>
              <a:t>Tripadvisor / Fraud support / Merging tickets</a:t>
            </a:r>
          </a:p>
        </p:txBody>
      </p:sp>
      <p:sp>
        <p:nvSpPr>
          <p:cNvPr id="22" name="AutoShape 9">
            <a:extLst>
              <a:ext uri="{FF2B5EF4-FFF2-40B4-BE49-F238E27FC236}">
                <a16:creationId xmlns:a16="http://schemas.microsoft.com/office/drawing/2014/main" id="{59DCC049-B33F-EE25-32F7-1E7F9675D783}"/>
              </a:ext>
            </a:extLst>
          </p:cNvPr>
          <p:cNvSpPr/>
          <p:nvPr/>
        </p:nvSpPr>
        <p:spPr>
          <a:xfrm>
            <a:off x="3026510" y="4135058"/>
            <a:ext cx="914400" cy="0"/>
          </a:xfrm>
          <a:prstGeom prst="line">
            <a:avLst/>
          </a:prstGeom>
          <a:ln w="28575" cap="rnd">
            <a:solidFill>
              <a:srgbClr val="13243E">
                <a:alpha val="29804"/>
              </a:srgbClr>
            </a:solidFill>
            <a:prstDash val="sysDash"/>
            <a:headEnd type="none" w="sm" len="sm"/>
            <a:tailEnd type="oval" w="lg" len="lg"/>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5" name="Freeform 24">
            <a:extLst>
              <a:ext uri="{FF2B5EF4-FFF2-40B4-BE49-F238E27FC236}">
                <a16:creationId xmlns:a16="http://schemas.microsoft.com/office/drawing/2014/main" id="{8A76A3FD-8F97-A352-8D81-577710EABD50}"/>
              </a:ext>
            </a:extLst>
          </p:cNvPr>
          <p:cNvSpPr/>
          <p:nvPr/>
        </p:nvSpPr>
        <p:spPr>
          <a:xfrm rot="5400000">
            <a:off x="1132114" y="2928623"/>
            <a:ext cx="1371600" cy="2286000"/>
          </a:xfrm>
          <a:custGeom>
            <a:avLst/>
            <a:gdLst/>
            <a:ahLst/>
            <a:cxnLst/>
            <a:rect l="l" t="t" r="r" b="b"/>
            <a:pathLst>
              <a:path w="2014046" h="3370788">
                <a:moveTo>
                  <a:pt x="0" y="0"/>
                </a:moveTo>
                <a:lnTo>
                  <a:pt x="2014046" y="0"/>
                </a:lnTo>
                <a:lnTo>
                  <a:pt x="2014046" y="3370788"/>
                </a:lnTo>
                <a:lnTo>
                  <a:pt x="0" y="337078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5" name="AutoShape 9">
            <a:extLst>
              <a:ext uri="{FF2B5EF4-FFF2-40B4-BE49-F238E27FC236}">
                <a16:creationId xmlns:a16="http://schemas.microsoft.com/office/drawing/2014/main" id="{0335036F-8EEE-A333-7329-B7B81D2B194D}"/>
              </a:ext>
            </a:extLst>
          </p:cNvPr>
          <p:cNvSpPr/>
          <p:nvPr/>
        </p:nvSpPr>
        <p:spPr>
          <a:xfrm>
            <a:off x="3021067" y="5959908"/>
            <a:ext cx="914400" cy="0"/>
          </a:xfrm>
          <a:prstGeom prst="line">
            <a:avLst/>
          </a:prstGeom>
          <a:ln w="28575" cap="rnd">
            <a:solidFill>
              <a:srgbClr val="13243E">
                <a:alpha val="29804"/>
              </a:srgbClr>
            </a:solidFill>
            <a:prstDash val="sysDash"/>
            <a:headEnd type="none" w="sm" len="sm"/>
            <a:tailEnd type="oval" w="lg" len="lg"/>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8" name="Freeform 24">
            <a:extLst>
              <a:ext uri="{FF2B5EF4-FFF2-40B4-BE49-F238E27FC236}">
                <a16:creationId xmlns:a16="http://schemas.microsoft.com/office/drawing/2014/main" id="{B9591727-FD7A-9238-4820-4C1DEF791A45}"/>
              </a:ext>
            </a:extLst>
          </p:cNvPr>
          <p:cNvSpPr/>
          <p:nvPr/>
        </p:nvSpPr>
        <p:spPr>
          <a:xfrm rot="5400000">
            <a:off x="1126671" y="4753473"/>
            <a:ext cx="1371600" cy="2286000"/>
          </a:xfrm>
          <a:custGeom>
            <a:avLst/>
            <a:gdLst/>
            <a:ahLst/>
            <a:cxnLst/>
            <a:rect l="l" t="t" r="r" b="b"/>
            <a:pathLst>
              <a:path w="2014046" h="3370788">
                <a:moveTo>
                  <a:pt x="0" y="0"/>
                </a:moveTo>
                <a:lnTo>
                  <a:pt x="2014046" y="0"/>
                </a:lnTo>
                <a:lnTo>
                  <a:pt x="2014046" y="3370788"/>
                </a:lnTo>
                <a:lnTo>
                  <a:pt x="0" y="337078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2" name="AutoShape 9">
            <a:extLst>
              <a:ext uri="{FF2B5EF4-FFF2-40B4-BE49-F238E27FC236}">
                <a16:creationId xmlns:a16="http://schemas.microsoft.com/office/drawing/2014/main" id="{B61BD829-4B1D-83F4-FAFF-922343FB20F9}"/>
              </a:ext>
            </a:extLst>
          </p:cNvPr>
          <p:cNvSpPr/>
          <p:nvPr/>
        </p:nvSpPr>
        <p:spPr>
          <a:xfrm>
            <a:off x="3029139" y="7809595"/>
            <a:ext cx="914400" cy="0"/>
          </a:xfrm>
          <a:prstGeom prst="line">
            <a:avLst/>
          </a:prstGeom>
          <a:ln w="28575" cap="rnd">
            <a:solidFill>
              <a:srgbClr val="13243E">
                <a:alpha val="29804"/>
              </a:srgbClr>
            </a:solidFill>
            <a:prstDash val="sysDash"/>
            <a:headEnd type="none" w="sm" len="sm"/>
            <a:tailEnd type="oval" w="lg" len="lg"/>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4" name="Freeform 24">
            <a:extLst>
              <a:ext uri="{FF2B5EF4-FFF2-40B4-BE49-F238E27FC236}">
                <a16:creationId xmlns:a16="http://schemas.microsoft.com/office/drawing/2014/main" id="{1FCBE2AD-E909-DD88-9D7C-B5BB79FD5066}"/>
              </a:ext>
            </a:extLst>
          </p:cNvPr>
          <p:cNvSpPr/>
          <p:nvPr/>
        </p:nvSpPr>
        <p:spPr>
          <a:xfrm rot="5400000">
            <a:off x="1134743" y="6603160"/>
            <a:ext cx="1371600" cy="2286000"/>
          </a:xfrm>
          <a:custGeom>
            <a:avLst/>
            <a:gdLst/>
            <a:ahLst/>
            <a:cxnLst/>
            <a:rect l="l" t="t" r="r" b="b"/>
            <a:pathLst>
              <a:path w="2014046" h="3370788">
                <a:moveTo>
                  <a:pt x="0" y="0"/>
                </a:moveTo>
                <a:lnTo>
                  <a:pt x="2014046" y="0"/>
                </a:lnTo>
                <a:lnTo>
                  <a:pt x="2014046" y="3370788"/>
                </a:lnTo>
                <a:lnTo>
                  <a:pt x="0" y="337078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8" name="TextBox 77">
            <a:extLst>
              <a:ext uri="{FF2B5EF4-FFF2-40B4-BE49-F238E27FC236}">
                <a16:creationId xmlns:a16="http://schemas.microsoft.com/office/drawing/2014/main" id="{1D323269-1E36-73CA-360F-24D49195AA24}"/>
              </a:ext>
            </a:extLst>
          </p:cNvPr>
          <p:cNvSpPr txBox="1"/>
          <p:nvPr/>
        </p:nvSpPr>
        <p:spPr>
          <a:xfrm>
            <a:off x="808195" y="2331527"/>
            <a:ext cx="6599999" cy="523220"/>
          </a:xfrm>
          <a:prstGeom prst="rect">
            <a:avLst/>
          </a:prstGeom>
          <a:noFill/>
        </p:spPr>
        <p:txBody>
          <a:bodyPr wrap="square" anchor="t">
            <a:spAutoFit/>
          </a:bodyPr>
          <a:lstStyle>
            <a:defPPr>
              <a:defRPr lang="en-US"/>
            </a:defPPr>
            <a:lvl1pPr marR="0" lvl="0" indent="0" fontAlgn="auto">
              <a:lnSpc>
                <a:spcPct val="100000"/>
              </a:lnSpc>
              <a:spcBef>
                <a:spcPts val="0"/>
              </a:spcBef>
              <a:spcAft>
                <a:spcPts val="0"/>
              </a:spcAft>
              <a:buClr>
                <a:srgbClr val="000000"/>
              </a:buClr>
              <a:buSzTx/>
              <a:buFontTx/>
              <a:buNone/>
              <a:tabLst/>
              <a:defRPr kumimoji="0" sz="2800" b="1" i="0" u="none" strike="noStrike" kern="0" cap="none" spc="0" normalizeH="0" baseline="0">
                <a:ln>
                  <a:noFill/>
                </a:ln>
                <a:solidFill>
                  <a:srgbClr val="8A8272"/>
                </a:solidFill>
                <a:effectLst/>
                <a:uLnTx/>
                <a:uFillTx/>
                <a:latin typeface="Poppins" panose="00000500000000000000" pitchFamily="2" charset="0"/>
                <a:cs typeface="Poppins" panose="00000500000000000000" pitchFamily="2" charset="0"/>
              </a:defRPr>
            </a:lvl1pPr>
          </a:lstStyle>
          <a:p>
            <a:r>
              <a:rPr lang="en-US" dirty="0">
                <a:sym typeface="Arial"/>
              </a:rPr>
              <a:t>Why We Merge Tickets?</a:t>
            </a:r>
            <a:endParaRPr dirty="0">
              <a:sym typeface="Arial"/>
            </a:endParaRPr>
          </a:p>
        </p:txBody>
      </p:sp>
      <p:pic>
        <p:nvPicPr>
          <p:cNvPr id="80" name="Graphic 79" descr="Shield Tick with solid fill">
            <a:extLst>
              <a:ext uri="{FF2B5EF4-FFF2-40B4-BE49-F238E27FC236}">
                <a16:creationId xmlns:a16="http://schemas.microsoft.com/office/drawing/2014/main" id="{6B90628C-9D95-F83D-A235-171E7FF4B64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888389" y="3697802"/>
            <a:ext cx="803109" cy="803109"/>
          </a:xfrm>
          <a:prstGeom prst="rect">
            <a:avLst/>
          </a:prstGeom>
        </p:spPr>
      </p:pic>
      <p:pic>
        <p:nvPicPr>
          <p:cNvPr id="82" name="Graphic 81" descr="Stopwatch 75% with solid fill">
            <a:extLst>
              <a:ext uri="{FF2B5EF4-FFF2-40B4-BE49-F238E27FC236}">
                <a16:creationId xmlns:a16="http://schemas.microsoft.com/office/drawing/2014/main" id="{F0C44963-07E3-5E9B-A472-2B20CEEBD6F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86826" y="5479341"/>
            <a:ext cx="804672" cy="804672"/>
          </a:xfrm>
          <a:prstGeom prst="rect">
            <a:avLst/>
          </a:prstGeom>
        </p:spPr>
      </p:pic>
      <p:pic>
        <p:nvPicPr>
          <p:cNvPr id="84" name="Graphic 83" descr="Dizzy face with solid fill with solid fill">
            <a:extLst>
              <a:ext uri="{FF2B5EF4-FFF2-40B4-BE49-F238E27FC236}">
                <a16:creationId xmlns:a16="http://schemas.microsoft.com/office/drawing/2014/main" id="{52BE333D-8287-80E4-995A-82E78241DDC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886826" y="7362654"/>
            <a:ext cx="804672" cy="804672"/>
          </a:xfrm>
          <a:prstGeom prst="rect">
            <a:avLst/>
          </a:prstGeom>
        </p:spPr>
      </p:pic>
      <p:sp>
        <p:nvSpPr>
          <p:cNvPr id="86" name="TextBox 85">
            <a:extLst>
              <a:ext uri="{FF2B5EF4-FFF2-40B4-BE49-F238E27FC236}">
                <a16:creationId xmlns:a16="http://schemas.microsoft.com/office/drawing/2014/main" id="{293EC6E0-592A-C7CA-5857-166B88593FD5}"/>
              </a:ext>
            </a:extLst>
          </p:cNvPr>
          <p:cNvSpPr txBox="1"/>
          <p:nvPr/>
        </p:nvSpPr>
        <p:spPr>
          <a:xfrm>
            <a:off x="4051290" y="3809576"/>
            <a:ext cx="4244340" cy="552202"/>
          </a:xfrm>
          <a:prstGeom prst="rect">
            <a:avLst/>
          </a:prstGeom>
          <a:noFill/>
        </p:spPr>
        <p:txBody>
          <a:bodyPr wrap="square" anchor="t">
            <a:spAutoFit/>
          </a:bodyPr>
          <a:lstStyle/>
          <a:p>
            <a:pPr lvl="0">
              <a:lnSpc>
                <a:spcPct val="150000"/>
              </a:lnSpc>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Prevent Double Work</a:t>
            </a:r>
            <a:endParaRPr kumimoji="0" lang="en-US" sz="2200" b="0" i="1"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endParaRPr>
          </a:p>
        </p:txBody>
      </p:sp>
      <p:sp>
        <p:nvSpPr>
          <p:cNvPr id="88" name="TextBox 87">
            <a:extLst>
              <a:ext uri="{FF2B5EF4-FFF2-40B4-BE49-F238E27FC236}">
                <a16:creationId xmlns:a16="http://schemas.microsoft.com/office/drawing/2014/main" id="{E82808D1-6F7F-748F-D984-D1D6C455746A}"/>
              </a:ext>
            </a:extLst>
          </p:cNvPr>
          <p:cNvSpPr txBox="1"/>
          <p:nvPr/>
        </p:nvSpPr>
        <p:spPr>
          <a:xfrm>
            <a:off x="4065816" y="5635521"/>
            <a:ext cx="4244340" cy="552202"/>
          </a:xfrm>
          <a:prstGeom prst="rect">
            <a:avLst/>
          </a:prstGeom>
          <a:noFill/>
        </p:spPr>
        <p:txBody>
          <a:bodyPr wrap="square" anchor="t">
            <a:spAutoFit/>
          </a:bodyPr>
          <a:lstStyle/>
          <a:p>
            <a:pPr lvl="0">
              <a:lnSpc>
                <a:spcPct val="150000"/>
              </a:lnSpc>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Save Effort</a:t>
            </a:r>
            <a:endParaRPr kumimoji="0" lang="en-US" sz="2200" b="0" i="1"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endParaRPr>
          </a:p>
        </p:txBody>
      </p:sp>
      <p:sp>
        <p:nvSpPr>
          <p:cNvPr id="90" name="TextBox 89">
            <a:extLst>
              <a:ext uri="{FF2B5EF4-FFF2-40B4-BE49-F238E27FC236}">
                <a16:creationId xmlns:a16="http://schemas.microsoft.com/office/drawing/2014/main" id="{2E909519-3BBD-04EF-8057-5BE2BA5AFA98}"/>
              </a:ext>
            </a:extLst>
          </p:cNvPr>
          <p:cNvSpPr txBox="1"/>
          <p:nvPr/>
        </p:nvSpPr>
        <p:spPr>
          <a:xfrm>
            <a:off x="4059274" y="7471919"/>
            <a:ext cx="4244340" cy="552202"/>
          </a:xfrm>
          <a:prstGeom prst="rect">
            <a:avLst/>
          </a:prstGeom>
          <a:noFill/>
        </p:spPr>
        <p:txBody>
          <a:bodyPr wrap="square" anchor="t">
            <a:spAutoFit/>
          </a:bodyPr>
          <a:lstStyle/>
          <a:p>
            <a:pPr lvl="0">
              <a:lnSpc>
                <a:spcPct val="150000"/>
              </a:lnSpc>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Stop Confusion</a:t>
            </a:r>
            <a:endParaRPr kumimoji="0" lang="en-US" sz="2200" b="0" i="1"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endParaRPr>
          </a:p>
        </p:txBody>
      </p:sp>
      <p:pic>
        <p:nvPicPr>
          <p:cNvPr id="92" name="Picture 91">
            <a:extLst>
              <a:ext uri="{FF2B5EF4-FFF2-40B4-BE49-F238E27FC236}">
                <a16:creationId xmlns:a16="http://schemas.microsoft.com/office/drawing/2014/main" id="{716115FB-797C-F112-E57B-CDD11DB2DA01}"/>
              </a:ext>
            </a:extLst>
          </p:cNvPr>
          <p:cNvPicPr>
            <a:picLocks noChangeAspect="1"/>
          </p:cNvPicPr>
          <p:nvPr/>
        </p:nvPicPr>
        <p:blipFill>
          <a:blip r:embed="rId10"/>
          <a:srcRect l="54233" t="3491" r="1217" b="6349"/>
          <a:stretch>
            <a:fillRect/>
          </a:stretch>
        </p:blipFill>
        <p:spPr>
          <a:xfrm>
            <a:off x="16401174" y="6689293"/>
            <a:ext cx="1606270" cy="2167128"/>
          </a:xfrm>
          <a:prstGeom prst="rect">
            <a:avLst/>
          </a:prstGeom>
          <a:effectLst>
            <a:outerShdw blurRad="50800" dist="38100" dir="5400000" algn="t" rotWithShape="0">
              <a:prstClr val="black">
                <a:alpha val="40000"/>
              </a:prstClr>
            </a:outerShdw>
          </a:effectLst>
        </p:spPr>
      </p:pic>
      <p:pic>
        <p:nvPicPr>
          <p:cNvPr id="94" name="Picture 93">
            <a:extLst>
              <a:ext uri="{FF2B5EF4-FFF2-40B4-BE49-F238E27FC236}">
                <a16:creationId xmlns:a16="http://schemas.microsoft.com/office/drawing/2014/main" id="{79A65650-F0F9-44D3-1CC6-657D1508A8E1}"/>
              </a:ext>
            </a:extLst>
          </p:cNvPr>
          <p:cNvPicPr>
            <a:picLocks noChangeAspect="1"/>
          </p:cNvPicPr>
          <p:nvPr/>
        </p:nvPicPr>
        <p:blipFill>
          <a:blip r:embed="rId11"/>
          <a:srcRect l="3439" t="7619" r="50000" b="6508"/>
          <a:stretch>
            <a:fillRect/>
          </a:stretch>
        </p:blipFill>
        <p:spPr>
          <a:xfrm>
            <a:off x="16283555" y="1467566"/>
            <a:ext cx="1764792" cy="2169892"/>
          </a:xfrm>
          <a:prstGeom prst="rect">
            <a:avLst/>
          </a:prstGeom>
          <a:effectLst>
            <a:outerShdw blurRad="50800" dist="38100" dir="5400000" algn="t" rotWithShape="0">
              <a:prstClr val="black">
                <a:alpha val="40000"/>
              </a:prstClr>
            </a:outerShdw>
          </a:effectLst>
        </p:spPr>
      </p:pic>
      <p:pic>
        <p:nvPicPr>
          <p:cNvPr id="95" name="Picture 94">
            <a:extLst>
              <a:ext uri="{FF2B5EF4-FFF2-40B4-BE49-F238E27FC236}">
                <a16:creationId xmlns:a16="http://schemas.microsoft.com/office/drawing/2014/main" id="{620F3A66-A1F3-5924-5914-CCCEFF20BE12}"/>
              </a:ext>
            </a:extLst>
          </p:cNvPr>
          <p:cNvPicPr>
            <a:picLocks noChangeAspect="1"/>
          </p:cNvPicPr>
          <p:nvPr/>
        </p:nvPicPr>
        <p:blipFill>
          <a:blip r:embed="rId12">
            <a:duotone>
              <a:schemeClr val="accent6">
                <a:shade val="45000"/>
                <a:satMod val="135000"/>
              </a:schemeClr>
              <a:prstClr val="white"/>
            </a:duotone>
          </a:blip>
          <a:stretch>
            <a:fillRect/>
          </a:stretch>
        </p:blipFill>
        <p:spPr>
          <a:xfrm>
            <a:off x="8210561" y="2246419"/>
            <a:ext cx="502976" cy="502976"/>
          </a:xfrm>
          <a:prstGeom prst="rect">
            <a:avLst/>
          </a:prstGeom>
        </p:spPr>
      </p:pic>
      <p:pic>
        <p:nvPicPr>
          <p:cNvPr id="96" name="Picture 95">
            <a:extLst>
              <a:ext uri="{FF2B5EF4-FFF2-40B4-BE49-F238E27FC236}">
                <a16:creationId xmlns:a16="http://schemas.microsoft.com/office/drawing/2014/main" id="{B0E05A05-82EB-2683-29F0-A47573AA2C6F}"/>
              </a:ext>
            </a:extLst>
          </p:cNvPr>
          <p:cNvPicPr>
            <a:picLocks noChangeAspect="1"/>
          </p:cNvPicPr>
          <p:nvPr/>
        </p:nvPicPr>
        <p:blipFill>
          <a:blip r:embed="rId13">
            <a:duotone>
              <a:schemeClr val="accent2">
                <a:shade val="45000"/>
                <a:satMod val="135000"/>
              </a:schemeClr>
              <a:prstClr val="white"/>
            </a:duotone>
          </a:blip>
          <a:stretch>
            <a:fillRect/>
          </a:stretch>
        </p:blipFill>
        <p:spPr>
          <a:xfrm>
            <a:off x="8099856" y="5415244"/>
            <a:ext cx="502920" cy="502920"/>
          </a:xfrm>
          <a:prstGeom prst="rect">
            <a:avLst/>
          </a:prstGeom>
        </p:spPr>
      </p:pic>
      <p:pic>
        <p:nvPicPr>
          <p:cNvPr id="98" name="Picture 97">
            <a:extLst>
              <a:ext uri="{FF2B5EF4-FFF2-40B4-BE49-F238E27FC236}">
                <a16:creationId xmlns:a16="http://schemas.microsoft.com/office/drawing/2014/main" id="{A9DFDF0B-88D1-7302-D2F5-8AE3A0F46BD2}"/>
              </a:ext>
            </a:extLst>
          </p:cNvPr>
          <p:cNvPicPr>
            <a:picLocks noChangeAspect="1"/>
          </p:cNvPicPr>
          <p:nvPr/>
        </p:nvPicPr>
        <p:blipFill>
          <a:blip r:embed="rId13">
            <a:duotone>
              <a:schemeClr val="accent2">
                <a:shade val="45000"/>
                <a:satMod val="135000"/>
              </a:schemeClr>
              <a:prstClr val="white"/>
            </a:duotone>
          </a:blip>
          <a:stretch>
            <a:fillRect/>
          </a:stretch>
        </p:blipFill>
        <p:spPr>
          <a:xfrm>
            <a:off x="8125324" y="6697546"/>
            <a:ext cx="502920" cy="502920"/>
          </a:xfrm>
          <a:prstGeom prst="rect">
            <a:avLst/>
          </a:prstGeom>
        </p:spPr>
      </p:pic>
      <p:pic>
        <p:nvPicPr>
          <p:cNvPr id="100" name="Picture 99">
            <a:extLst>
              <a:ext uri="{FF2B5EF4-FFF2-40B4-BE49-F238E27FC236}">
                <a16:creationId xmlns:a16="http://schemas.microsoft.com/office/drawing/2014/main" id="{5A4214E4-22B2-3959-F2E7-DB9DBCEA5E04}"/>
              </a:ext>
            </a:extLst>
          </p:cNvPr>
          <p:cNvPicPr>
            <a:picLocks noChangeAspect="1"/>
          </p:cNvPicPr>
          <p:nvPr/>
        </p:nvPicPr>
        <p:blipFill>
          <a:blip r:embed="rId13">
            <a:duotone>
              <a:schemeClr val="accent2">
                <a:shade val="45000"/>
                <a:satMod val="135000"/>
              </a:schemeClr>
              <a:prstClr val="white"/>
            </a:duotone>
          </a:blip>
          <a:stretch>
            <a:fillRect/>
          </a:stretch>
        </p:blipFill>
        <p:spPr>
          <a:xfrm>
            <a:off x="8099856" y="7861903"/>
            <a:ext cx="502920" cy="502920"/>
          </a:xfrm>
          <a:prstGeom prst="rect">
            <a:avLst/>
          </a:prstGeom>
        </p:spPr>
      </p:pic>
    </p:spTree>
    <p:extLst>
      <p:ext uri="{BB962C8B-B14F-4D97-AF65-F5344CB8AC3E}">
        <p14:creationId xmlns:p14="http://schemas.microsoft.com/office/powerpoint/2010/main" val="12262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8">
            <a:extLst>
              <a:ext uri="{FF2B5EF4-FFF2-40B4-BE49-F238E27FC236}">
                <a16:creationId xmlns:a16="http://schemas.microsoft.com/office/drawing/2014/main" id="{E2A64140-8582-767F-C41D-5F7285C219F0}"/>
              </a:ext>
            </a:extLst>
          </p:cNvPr>
          <p:cNvSpPr/>
          <p:nvPr/>
        </p:nvSpPr>
        <p:spPr>
          <a:xfrm rot="3016692">
            <a:off x="13561931" y="-1319597"/>
            <a:ext cx="8521263" cy="6558210"/>
          </a:xfrm>
          <a:custGeom>
            <a:avLst/>
            <a:gdLst/>
            <a:ahLst/>
            <a:cxnLst/>
            <a:rect l="l" t="t" r="r" b="b"/>
            <a:pathLst>
              <a:path w="4597542" h="4114800">
                <a:moveTo>
                  <a:pt x="0" y="0"/>
                </a:moveTo>
                <a:lnTo>
                  <a:pt x="4597542" y="0"/>
                </a:lnTo>
                <a:lnTo>
                  <a:pt x="4597542"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dirty="0"/>
          </a:p>
        </p:txBody>
      </p:sp>
      <p:grpSp>
        <p:nvGrpSpPr>
          <p:cNvPr id="2" name="Group 2"/>
          <p:cNvGrpSpPr/>
          <p:nvPr/>
        </p:nvGrpSpPr>
        <p:grpSpPr>
          <a:xfrm>
            <a:off x="1331535" y="4844419"/>
            <a:ext cx="7418868" cy="2086915"/>
            <a:chOff x="0" y="0"/>
            <a:chExt cx="1953940" cy="549640"/>
          </a:xfrm>
        </p:grpSpPr>
        <p:sp>
          <p:nvSpPr>
            <p:cNvPr id="3" name="Freeform 3"/>
            <p:cNvSpPr/>
            <p:nvPr/>
          </p:nvSpPr>
          <p:spPr>
            <a:xfrm>
              <a:off x="0" y="0"/>
              <a:ext cx="1953940" cy="549640"/>
            </a:xfrm>
            <a:custGeom>
              <a:avLst/>
              <a:gdLst/>
              <a:ahLst/>
              <a:cxnLst/>
              <a:rect l="l" t="t" r="r" b="b"/>
              <a:pathLst>
                <a:path w="1953940" h="549640">
                  <a:moveTo>
                    <a:pt x="53221" y="0"/>
                  </a:moveTo>
                  <a:lnTo>
                    <a:pt x="1900720" y="0"/>
                  </a:lnTo>
                  <a:cubicBezTo>
                    <a:pt x="1914835" y="0"/>
                    <a:pt x="1928372" y="5607"/>
                    <a:pt x="1938352" y="15588"/>
                  </a:cubicBezTo>
                  <a:cubicBezTo>
                    <a:pt x="1948333" y="25569"/>
                    <a:pt x="1953940" y="39106"/>
                    <a:pt x="1953940" y="53221"/>
                  </a:cubicBezTo>
                  <a:lnTo>
                    <a:pt x="1953940" y="496419"/>
                  </a:lnTo>
                  <a:cubicBezTo>
                    <a:pt x="1953940" y="525812"/>
                    <a:pt x="1930113" y="549640"/>
                    <a:pt x="1900720" y="549640"/>
                  </a:cubicBezTo>
                  <a:lnTo>
                    <a:pt x="53221" y="549640"/>
                  </a:lnTo>
                  <a:cubicBezTo>
                    <a:pt x="39106" y="549640"/>
                    <a:pt x="25569" y="544033"/>
                    <a:pt x="15588" y="534052"/>
                  </a:cubicBezTo>
                  <a:cubicBezTo>
                    <a:pt x="5607" y="524071"/>
                    <a:pt x="0" y="510534"/>
                    <a:pt x="0" y="496419"/>
                  </a:cubicBezTo>
                  <a:lnTo>
                    <a:pt x="0" y="53221"/>
                  </a:lnTo>
                  <a:cubicBezTo>
                    <a:pt x="0" y="39106"/>
                    <a:pt x="5607" y="25569"/>
                    <a:pt x="15588" y="15588"/>
                  </a:cubicBezTo>
                  <a:cubicBezTo>
                    <a:pt x="25569" y="5607"/>
                    <a:pt x="39106" y="0"/>
                    <a:pt x="53221" y="0"/>
                  </a:cubicBezTo>
                  <a:close/>
                </a:path>
              </a:pathLst>
            </a:custGeom>
            <a:solidFill>
              <a:srgbClr val="FFFFFF"/>
            </a:solidFill>
            <a:ln w="38100" cap="rnd">
              <a:solidFill>
                <a:srgbClr val="00BF63"/>
              </a:solidFill>
              <a:prstDash val="lgDash"/>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57150"/>
              <a:ext cx="1953940" cy="606790"/>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342374" y="4648883"/>
            <a:ext cx="715026" cy="600622"/>
          </a:xfrm>
          <a:custGeom>
            <a:avLst/>
            <a:gdLst/>
            <a:ahLst/>
            <a:cxnLst/>
            <a:rect l="l" t="t" r="r" b="b"/>
            <a:pathLst>
              <a:path w="715026" h="600622">
                <a:moveTo>
                  <a:pt x="0" y="0"/>
                </a:moveTo>
                <a:lnTo>
                  <a:pt x="715026" y="0"/>
                </a:lnTo>
                <a:lnTo>
                  <a:pt x="715026" y="600622"/>
                </a:lnTo>
                <a:lnTo>
                  <a:pt x="0" y="600622"/>
                </a:lnTo>
                <a:lnTo>
                  <a:pt x="0" y="0"/>
                </a:lnTo>
                <a:close/>
              </a:path>
            </a:pathLst>
          </a:custGeom>
          <a:blipFill>
            <a:blip>
              <a:extLst>
                <a:ext uri="{96DAC541-7B7A-43D3-8B79-37D633B846F1}">
                  <asvg:svgBlip xmlns:asvg="http://schemas.microsoft.com/office/drawing/2016/SVG/main" r:embed="rId3"/>
                </a:ext>
              </a:extLst>
            </a:blip>
            <a:stretch>
              <a:fillRect/>
            </a:stretch>
          </a:blip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p:cNvSpPr txBox="1"/>
          <p:nvPr/>
        </p:nvSpPr>
        <p:spPr>
          <a:xfrm>
            <a:off x="1028700" y="608354"/>
            <a:ext cx="14837735" cy="1858645"/>
          </a:xfrm>
          <a:prstGeom prst="rect">
            <a:avLst/>
          </a:prstGeom>
        </p:spPr>
        <p:txBody>
          <a:bodyPr lIns="0" tIns="0" rIns="0" bIns="0" rtlCol="0" anchor="t">
            <a:spAutoFit/>
          </a:bodyPr>
          <a:lstStyle/>
          <a:p>
            <a:pPr marL="0" marR="0" lvl="0" indent="0" algn="l" defTabSz="914400" rtl="0" eaLnBrk="1" fontAlgn="auto" latinLnBrk="0" hangingPunct="1">
              <a:lnSpc>
                <a:spcPts val="7279"/>
              </a:lnSpc>
              <a:spcBef>
                <a:spcPct val="0"/>
              </a:spcBef>
              <a:spcAft>
                <a:spcPts val="0"/>
              </a:spcAft>
              <a:buClrTx/>
              <a:buSzTx/>
              <a:buFontTx/>
              <a:buNone/>
              <a:tabLst/>
              <a:defRPr/>
            </a:pPr>
            <a:r>
              <a:rPr kumimoji="0" lang="en-US" sz="5199" b="1" i="0" u="none" strike="noStrike" kern="1200" cap="none" spc="0" normalizeH="0" baseline="0" noProof="0" dirty="0">
                <a:ln>
                  <a:noFill/>
                </a:ln>
                <a:solidFill>
                  <a:srgbClr val="000000"/>
                </a:solidFill>
                <a:effectLst/>
                <a:uLnTx/>
                <a:uFillTx/>
                <a:latin typeface="Poppins Black" panose="00000A00000000000000" pitchFamily="2" charset="0"/>
                <a:ea typeface="Poppins Bold"/>
                <a:cs typeface="Poppins Black" panose="00000A00000000000000" pitchFamily="2" charset="0"/>
                <a:sym typeface="Poppins Bold"/>
              </a:rPr>
              <a:t>Duplicate Ticket Handling From the Same Organization</a:t>
            </a:r>
          </a:p>
        </p:txBody>
      </p:sp>
      <p:sp>
        <p:nvSpPr>
          <p:cNvPr id="7" name="TextBox 7"/>
          <p:cNvSpPr txBox="1"/>
          <p:nvPr/>
        </p:nvSpPr>
        <p:spPr>
          <a:xfrm>
            <a:off x="1143869" y="2744682"/>
            <a:ext cx="14019931" cy="782320"/>
          </a:xfrm>
          <a:prstGeom prst="rect">
            <a:avLst/>
          </a:prstGeom>
        </p:spPr>
        <p:txBody>
          <a:bodyPr wrap="square" lIns="0" tIns="0" rIns="0" bIns="0" rtlCol="0" anchor="t">
            <a:spAutoFit/>
          </a:bodyPr>
          <a:lstStyle/>
          <a:p>
            <a:pPr marL="0" marR="0" lvl="0" indent="0" algn="l" defTabSz="914400" rtl="0" eaLnBrk="1" fontAlgn="auto" latinLnBrk="0" hangingPunct="1">
              <a:lnSpc>
                <a:spcPts val="3079"/>
              </a:lnSpc>
              <a:spcBef>
                <a:spcPct val="0"/>
              </a:spcBef>
              <a:spcAft>
                <a:spcPts val="0"/>
              </a:spcAft>
              <a:buClrTx/>
              <a:buSzTx/>
              <a:buFontTx/>
              <a:buNone/>
              <a:tabLst/>
              <a:defRPr/>
            </a:pPr>
            <a:r>
              <a:rPr kumimoji="0" lang="en-US" sz="2199" b="0" i="0" u="none" strike="noStrike" kern="1200" cap="none" spc="0" normalizeH="0" baseline="0" noProof="0" dirty="0">
                <a:ln>
                  <a:noFill/>
                </a:ln>
                <a:solidFill>
                  <a:srgbClr val="000000"/>
                </a:solidFill>
                <a:effectLst/>
                <a:uLnTx/>
                <a:uFillTx/>
                <a:latin typeface="Poppins"/>
                <a:ea typeface="Poppins"/>
                <a:cs typeface="Poppins"/>
                <a:sym typeface="Poppins"/>
              </a:rPr>
              <a:t>When multiple staff members from the same organization contact us regarding the same issue, do not merge the tickets. Instead, respond to each requester individually.</a:t>
            </a:r>
          </a:p>
        </p:txBody>
      </p:sp>
      <p:sp>
        <p:nvSpPr>
          <p:cNvPr id="8" name="TextBox 8"/>
          <p:cNvSpPr txBox="1"/>
          <p:nvPr/>
        </p:nvSpPr>
        <p:spPr>
          <a:xfrm>
            <a:off x="1178295" y="3924939"/>
            <a:ext cx="5040797" cy="481812"/>
          </a:xfrm>
          <a:prstGeom prst="rect">
            <a:avLst/>
          </a:prstGeom>
        </p:spPr>
        <p:txBody>
          <a:bodyPr wrap="square" lIns="0" tIns="0" rIns="0" bIns="0" rtlCol="0" anchor="t">
            <a:spAutoFit/>
          </a:bodyPr>
          <a:lstStyle/>
          <a:p>
            <a:pPr marL="0" marR="0" lvl="0" indent="0" defTabSz="914400" rtl="0" eaLnBrk="1" fontAlgn="auto" latinLnBrk="0" hangingPunct="1">
              <a:lnSpc>
                <a:spcPts val="3919"/>
              </a:lnSpc>
              <a:spcBef>
                <a:spcPct val="0"/>
              </a:spcBef>
              <a:spcAft>
                <a:spcPts val="0"/>
              </a:spcAft>
              <a:buClrTx/>
              <a:buSzTx/>
              <a:buFontTx/>
              <a:buNone/>
              <a:tabLst/>
              <a:defRPr/>
            </a:pPr>
            <a:r>
              <a:rPr kumimoji="0" lang="en-US" sz="2799" b="1" i="0" u="none" strike="noStrike" kern="1200" cap="none" spc="0" normalizeH="0" baseline="0" noProof="0" dirty="0">
                <a:ln>
                  <a:noFill/>
                </a:ln>
                <a:solidFill>
                  <a:srgbClr val="000000"/>
                </a:solidFill>
                <a:effectLst/>
                <a:uLnTx/>
                <a:uFillTx/>
                <a:latin typeface="Poppins" panose="00000500000000000000" pitchFamily="2" charset="0"/>
                <a:ea typeface="Poppins Bold"/>
                <a:cs typeface="Poppins" panose="00000500000000000000" pitchFamily="2" charset="0"/>
                <a:sym typeface="Poppins Bold"/>
              </a:rPr>
              <a:t>SUGGESTED RESPONSES</a:t>
            </a:r>
          </a:p>
        </p:txBody>
      </p:sp>
      <p:sp>
        <p:nvSpPr>
          <p:cNvPr id="9" name="TextBox 9"/>
          <p:cNvSpPr txBox="1"/>
          <p:nvPr/>
        </p:nvSpPr>
        <p:spPr>
          <a:xfrm>
            <a:off x="1689048" y="5224936"/>
            <a:ext cx="6812675" cy="1268730"/>
          </a:xfrm>
          <a:prstGeom prst="rect">
            <a:avLst/>
          </a:prstGeom>
        </p:spPr>
        <p:txBody>
          <a:bodyPr lIns="0" tIns="0" rIns="0" bIns="0" rtlCol="0" anchor="t">
            <a:spAutoFit/>
          </a:bodyPr>
          <a:lstStyle/>
          <a:p>
            <a:pPr marL="0" marR="0" lvl="0" indent="0" algn="l" defTabSz="914400" rtl="0" eaLnBrk="1" fontAlgn="auto" latinLnBrk="0" hangingPunct="1">
              <a:lnSpc>
                <a:spcPts val="2520"/>
              </a:lnSpc>
              <a:spcBef>
                <a:spcPct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Poppins"/>
                <a:ea typeface="Poppins"/>
                <a:cs typeface="Poppins"/>
                <a:sym typeface="Poppins"/>
              </a:rPr>
              <a:t>“I noticed we have received other inquiries from your team regarding this matter. To ensure we provide the most efficient support, please designate a single point of contact to handle this correspondence moving forward.”</a:t>
            </a:r>
          </a:p>
        </p:txBody>
      </p:sp>
      <p:grpSp>
        <p:nvGrpSpPr>
          <p:cNvPr id="10" name="Group 10"/>
          <p:cNvGrpSpPr/>
          <p:nvPr/>
        </p:nvGrpSpPr>
        <p:grpSpPr>
          <a:xfrm>
            <a:off x="9278977" y="4942187"/>
            <a:ext cx="7677488" cy="2086915"/>
            <a:chOff x="0" y="0"/>
            <a:chExt cx="2022054" cy="549640"/>
          </a:xfrm>
        </p:grpSpPr>
        <p:sp>
          <p:nvSpPr>
            <p:cNvPr id="11" name="Freeform 11"/>
            <p:cNvSpPr/>
            <p:nvPr/>
          </p:nvSpPr>
          <p:spPr>
            <a:xfrm>
              <a:off x="0" y="0"/>
              <a:ext cx="2022054" cy="549640"/>
            </a:xfrm>
            <a:custGeom>
              <a:avLst/>
              <a:gdLst/>
              <a:ahLst/>
              <a:cxnLst/>
              <a:rect l="l" t="t" r="r" b="b"/>
              <a:pathLst>
                <a:path w="2022054" h="549640">
                  <a:moveTo>
                    <a:pt x="51428" y="0"/>
                  </a:moveTo>
                  <a:lnTo>
                    <a:pt x="1970626" y="0"/>
                  </a:lnTo>
                  <a:cubicBezTo>
                    <a:pt x="1984266" y="0"/>
                    <a:pt x="1997347" y="5418"/>
                    <a:pt x="2006991" y="15063"/>
                  </a:cubicBezTo>
                  <a:cubicBezTo>
                    <a:pt x="2016636" y="24708"/>
                    <a:pt x="2022054" y="37788"/>
                    <a:pt x="2022054" y="51428"/>
                  </a:cubicBezTo>
                  <a:lnTo>
                    <a:pt x="2022054" y="498212"/>
                  </a:lnTo>
                  <a:cubicBezTo>
                    <a:pt x="2022054" y="526615"/>
                    <a:pt x="1999029" y="549640"/>
                    <a:pt x="1970626" y="549640"/>
                  </a:cubicBezTo>
                  <a:lnTo>
                    <a:pt x="51428" y="549640"/>
                  </a:lnTo>
                  <a:cubicBezTo>
                    <a:pt x="37788" y="549640"/>
                    <a:pt x="24708" y="544222"/>
                    <a:pt x="15063" y="534577"/>
                  </a:cubicBezTo>
                  <a:cubicBezTo>
                    <a:pt x="5418" y="524932"/>
                    <a:pt x="0" y="511852"/>
                    <a:pt x="0" y="498212"/>
                  </a:cubicBezTo>
                  <a:lnTo>
                    <a:pt x="0" y="51428"/>
                  </a:lnTo>
                  <a:cubicBezTo>
                    <a:pt x="0" y="37788"/>
                    <a:pt x="5418" y="24708"/>
                    <a:pt x="15063" y="15063"/>
                  </a:cubicBezTo>
                  <a:cubicBezTo>
                    <a:pt x="24708" y="5418"/>
                    <a:pt x="37788" y="0"/>
                    <a:pt x="51428" y="0"/>
                  </a:cubicBezTo>
                  <a:close/>
                </a:path>
              </a:pathLst>
            </a:custGeom>
            <a:solidFill>
              <a:srgbClr val="FFFFFF"/>
            </a:solidFill>
            <a:ln w="38100" cap="rnd">
              <a:solidFill>
                <a:srgbClr val="00BF63"/>
              </a:solidFill>
              <a:prstDash val="lgDash"/>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p:cNvSpPr txBox="1"/>
            <p:nvPr/>
          </p:nvSpPr>
          <p:spPr>
            <a:xfrm>
              <a:off x="0" y="-57150"/>
              <a:ext cx="2022054" cy="606790"/>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p:cNvSpPr/>
          <p:nvPr/>
        </p:nvSpPr>
        <p:spPr>
          <a:xfrm>
            <a:off x="9278977" y="4746651"/>
            <a:ext cx="715026" cy="600622"/>
          </a:xfrm>
          <a:custGeom>
            <a:avLst/>
            <a:gdLst/>
            <a:ahLst/>
            <a:cxnLst/>
            <a:rect l="l" t="t" r="r" b="b"/>
            <a:pathLst>
              <a:path w="715026" h="600622">
                <a:moveTo>
                  <a:pt x="0" y="0"/>
                </a:moveTo>
                <a:lnTo>
                  <a:pt x="715026" y="0"/>
                </a:lnTo>
                <a:lnTo>
                  <a:pt x="715026" y="600622"/>
                </a:lnTo>
                <a:lnTo>
                  <a:pt x="0" y="600622"/>
                </a:lnTo>
                <a:lnTo>
                  <a:pt x="0" y="0"/>
                </a:lnTo>
                <a:close/>
              </a:path>
            </a:pathLst>
          </a:custGeom>
          <a:blipFill>
            <a:blip>
              <a:extLst>
                <a:ext uri="{96DAC541-7B7A-43D3-8B79-37D633B846F1}">
                  <asvg:svgBlip xmlns:asvg="http://schemas.microsoft.com/office/drawing/2016/SVG/main" r:embed="rId3"/>
                </a:ext>
              </a:extLst>
            </a:blip>
            <a:stretch>
              <a:fillRect/>
            </a:stretch>
          </a:blip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4" name="Group 14"/>
          <p:cNvGrpSpPr/>
          <p:nvPr/>
        </p:nvGrpSpPr>
        <p:grpSpPr>
          <a:xfrm>
            <a:off x="5220513" y="7224637"/>
            <a:ext cx="7417585" cy="2368047"/>
            <a:chOff x="0" y="0"/>
            <a:chExt cx="1953603" cy="623683"/>
          </a:xfrm>
        </p:grpSpPr>
        <p:sp>
          <p:nvSpPr>
            <p:cNvPr id="15" name="Freeform 15"/>
            <p:cNvSpPr/>
            <p:nvPr/>
          </p:nvSpPr>
          <p:spPr>
            <a:xfrm>
              <a:off x="0" y="0"/>
              <a:ext cx="1953603" cy="623683"/>
            </a:xfrm>
            <a:custGeom>
              <a:avLst/>
              <a:gdLst/>
              <a:ahLst/>
              <a:cxnLst/>
              <a:rect l="l" t="t" r="r" b="b"/>
              <a:pathLst>
                <a:path w="1953603" h="623683">
                  <a:moveTo>
                    <a:pt x="53230" y="0"/>
                  </a:moveTo>
                  <a:lnTo>
                    <a:pt x="1900373" y="0"/>
                  </a:lnTo>
                  <a:cubicBezTo>
                    <a:pt x="1914490" y="0"/>
                    <a:pt x="1928029" y="5608"/>
                    <a:pt x="1938012" y="15591"/>
                  </a:cubicBezTo>
                  <a:cubicBezTo>
                    <a:pt x="1947994" y="25573"/>
                    <a:pt x="1953603" y="39113"/>
                    <a:pt x="1953603" y="53230"/>
                  </a:cubicBezTo>
                  <a:lnTo>
                    <a:pt x="1953603" y="570453"/>
                  </a:lnTo>
                  <a:cubicBezTo>
                    <a:pt x="1953603" y="584571"/>
                    <a:pt x="1947994" y="598110"/>
                    <a:pt x="1938012" y="608092"/>
                  </a:cubicBezTo>
                  <a:cubicBezTo>
                    <a:pt x="1928029" y="618075"/>
                    <a:pt x="1914490" y="623683"/>
                    <a:pt x="1900373" y="623683"/>
                  </a:cubicBezTo>
                  <a:lnTo>
                    <a:pt x="53230" y="623683"/>
                  </a:lnTo>
                  <a:cubicBezTo>
                    <a:pt x="39113" y="623683"/>
                    <a:pt x="25573" y="618075"/>
                    <a:pt x="15591" y="608092"/>
                  </a:cubicBezTo>
                  <a:cubicBezTo>
                    <a:pt x="5608" y="598110"/>
                    <a:pt x="0" y="584571"/>
                    <a:pt x="0" y="570453"/>
                  </a:cubicBezTo>
                  <a:lnTo>
                    <a:pt x="0" y="53230"/>
                  </a:lnTo>
                  <a:cubicBezTo>
                    <a:pt x="0" y="39113"/>
                    <a:pt x="5608" y="25573"/>
                    <a:pt x="15591" y="15591"/>
                  </a:cubicBezTo>
                  <a:cubicBezTo>
                    <a:pt x="25573" y="5608"/>
                    <a:pt x="39113" y="0"/>
                    <a:pt x="53230" y="0"/>
                  </a:cubicBezTo>
                  <a:close/>
                </a:path>
              </a:pathLst>
            </a:custGeom>
            <a:solidFill>
              <a:srgbClr val="FFFFFF"/>
            </a:solidFill>
            <a:ln w="38100" cap="rnd">
              <a:solidFill>
                <a:srgbClr val="00BF63"/>
              </a:solidFill>
              <a:prstDash val="lgDash"/>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p:cNvSpPr txBox="1"/>
            <p:nvPr/>
          </p:nvSpPr>
          <p:spPr>
            <a:xfrm>
              <a:off x="0" y="-57150"/>
              <a:ext cx="1953603" cy="680833"/>
            </a:xfrm>
            <a:prstGeom prst="rect">
              <a:avLst/>
            </a:prstGeom>
          </p:spPr>
          <p:txBody>
            <a:bodyPr lIns="50800" tIns="50800" rIns="50800" bIns="50800" rtlCol="0" anchor="ctr"/>
            <a:lstStyle/>
            <a:p>
              <a:pPr marL="0" marR="0" lvl="0" indent="0" algn="ctr" defTabSz="914400" rtl="0" eaLnBrk="1" fontAlgn="auto" latinLnBrk="0" hangingPunct="1">
                <a:lnSpc>
                  <a:spcPts val="3252"/>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7" name="Freeform 17"/>
          <p:cNvSpPr/>
          <p:nvPr/>
        </p:nvSpPr>
        <p:spPr>
          <a:xfrm>
            <a:off x="5220513" y="7029102"/>
            <a:ext cx="715026" cy="600622"/>
          </a:xfrm>
          <a:custGeom>
            <a:avLst/>
            <a:gdLst/>
            <a:ahLst/>
            <a:cxnLst/>
            <a:rect l="l" t="t" r="r" b="b"/>
            <a:pathLst>
              <a:path w="715026" h="600622">
                <a:moveTo>
                  <a:pt x="0" y="0"/>
                </a:moveTo>
                <a:lnTo>
                  <a:pt x="715026" y="0"/>
                </a:lnTo>
                <a:lnTo>
                  <a:pt x="715026" y="600621"/>
                </a:lnTo>
                <a:lnTo>
                  <a:pt x="0" y="600621"/>
                </a:lnTo>
                <a:lnTo>
                  <a:pt x="0" y="0"/>
                </a:lnTo>
                <a:close/>
              </a:path>
            </a:pathLst>
          </a:custGeom>
          <a:blipFill>
            <a:blip>
              <a:extLst>
                <a:ext uri="{96DAC541-7B7A-43D3-8B79-37D633B846F1}">
                  <asvg:svgBlip xmlns:asvg="http://schemas.microsoft.com/office/drawing/2016/SVG/main" r:embed="rId3"/>
                </a:ext>
              </a:extLst>
            </a:blip>
            <a:stretch>
              <a:fillRect/>
            </a:stretch>
          </a:blip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8"/>
          <p:cNvSpPr txBox="1"/>
          <p:nvPr/>
        </p:nvSpPr>
        <p:spPr>
          <a:xfrm>
            <a:off x="5821239" y="7440921"/>
            <a:ext cx="6582658" cy="1897380"/>
          </a:xfrm>
          <a:prstGeom prst="rect">
            <a:avLst/>
          </a:prstGeom>
        </p:spPr>
        <p:txBody>
          <a:bodyPr lIns="0" tIns="0" rIns="0" bIns="0" rtlCol="0" anchor="t">
            <a:spAutoFit/>
          </a:bodyPr>
          <a:lstStyle/>
          <a:p>
            <a:pPr marL="0" marR="0" lvl="0" indent="0" algn="l" defTabSz="914400" rtl="0" eaLnBrk="1" fontAlgn="auto" latinLnBrk="0" hangingPunct="1">
              <a:lnSpc>
                <a:spcPts val="2520"/>
              </a:lnSpc>
              <a:spcBef>
                <a:spcPct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Poppins"/>
                <a:ea typeface="Poppins"/>
                <a:cs typeface="Poppins"/>
                <a:sym typeface="Poppins"/>
              </a:rPr>
              <a:t>“I understand that several members of your organization have reached out to us regarding this issue, and we appreciate everyone's efforts to help resolve it. To ensure clear, consistent communication and prevent duplicate updates, we kindly ask that your organization nominate one primary contact for this case.”</a:t>
            </a:r>
          </a:p>
        </p:txBody>
      </p:sp>
      <p:sp>
        <p:nvSpPr>
          <p:cNvPr id="19" name="TextBox 19"/>
          <p:cNvSpPr txBox="1"/>
          <p:nvPr/>
        </p:nvSpPr>
        <p:spPr>
          <a:xfrm>
            <a:off x="9969975" y="5024429"/>
            <a:ext cx="6812675" cy="1897380"/>
          </a:xfrm>
          <a:prstGeom prst="rect">
            <a:avLst/>
          </a:prstGeom>
        </p:spPr>
        <p:txBody>
          <a:bodyPr lIns="0" tIns="0" rIns="0" bIns="0" rtlCol="0" anchor="t">
            <a:spAutoFit/>
          </a:bodyPr>
          <a:lstStyle/>
          <a:p>
            <a:pPr marL="0" marR="0" lvl="0" indent="0" algn="l" defTabSz="914400" rtl="0" eaLnBrk="1" fontAlgn="auto" latinLnBrk="0" hangingPunct="1">
              <a:lnSpc>
                <a:spcPts val="2520"/>
              </a:lnSpc>
              <a:spcBef>
                <a:spcPct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Poppins"/>
                <a:ea typeface="Poppins"/>
                <a:cs typeface="Poppins"/>
                <a:sym typeface="Poppins"/>
              </a:rPr>
              <a:t>“I noticed that we have received multiple inquiries from members of your organization regarding the same issue. To streamline communication and ensure everyone receives consistent updates, please have one designated representative communicate with us on behalf of your organization.”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14BB7E-C41E-773D-7A82-EF0C67860801}"/>
            </a:ext>
          </a:extLst>
        </p:cNvPr>
        <p:cNvGrpSpPr/>
        <p:nvPr/>
      </p:nvGrpSpPr>
      <p:grpSpPr>
        <a:xfrm>
          <a:off x="0" y="0"/>
          <a:ext cx="0" cy="0"/>
          <a:chOff x="0" y="0"/>
          <a:chExt cx="0" cy="0"/>
        </a:xfrm>
      </p:grpSpPr>
      <p:sp>
        <p:nvSpPr>
          <p:cNvPr id="61" name="Freeform 4">
            <a:extLst>
              <a:ext uri="{FF2B5EF4-FFF2-40B4-BE49-F238E27FC236}">
                <a16:creationId xmlns:a16="http://schemas.microsoft.com/office/drawing/2014/main" id="{26166175-135A-D32B-2D67-0B7FE6D47928}"/>
              </a:ext>
            </a:extLst>
          </p:cNvPr>
          <p:cNvSpPr/>
          <p:nvPr/>
        </p:nvSpPr>
        <p:spPr>
          <a:xfrm rot="10800000">
            <a:off x="11765280" y="0"/>
            <a:ext cx="7315200" cy="3913632"/>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aphicFrame>
        <p:nvGraphicFramePr>
          <p:cNvPr id="2" name="Diagram 1">
            <a:extLst>
              <a:ext uri="{FF2B5EF4-FFF2-40B4-BE49-F238E27FC236}">
                <a16:creationId xmlns:a16="http://schemas.microsoft.com/office/drawing/2014/main" id="{C97D1BBD-8701-44DB-1B83-CA64208D1AB7}"/>
              </a:ext>
            </a:extLst>
          </p:cNvPr>
          <p:cNvGraphicFramePr/>
          <p:nvPr>
            <p:extLst>
              <p:ext uri="{D42A27DB-BD31-4B8C-83A1-F6EECF244321}">
                <p14:modId xmlns:p14="http://schemas.microsoft.com/office/powerpoint/2010/main" val="1692473318"/>
              </p:ext>
            </p:extLst>
          </p:nvPr>
        </p:nvGraphicFramePr>
        <p:xfrm>
          <a:off x="795201" y="1514715"/>
          <a:ext cx="16648609" cy="44930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 2">
            <a:extLst>
              <a:ext uri="{FF2B5EF4-FFF2-40B4-BE49-F238E27FC236}">
                <a16:creationId xmlns:a16="http://schemas.microsoft.com/office/drawing/2014/main" id="{69C8E91B-1AC0-DCD4-9C08-3B0EA495947B}"/>
              </a:ext>
            </a:extLst>
          </p:cNvPr>
          <p:cNvSpPr/>
          <p:nvPr/>
        </p:nvSpPr>
        <p:spPr>
          <a:xfrm>
            <a:off x="811531" y="795772"/>
            <a:ext cx="12980669" cy="960120"/>
          </a:xfrm>
          <a:prstGeom prst="rect">
            <a:avLst/>
          </a:prstGeom>
          <a:noFill/>
          <a:ln/>
        </p:spPr>
        <p:txBody>
          <a:bodyPr wrap="square" lIns="0" tIns="0" rIns="0" bIns="0" rtlCol="0" anchor="ctr"/>
          <a:lstStyle/>
          <a:p>
            <a:pPr lvl="0" defTabSz="1371600"/>
            <a:r>
              <a:rPr lang="en-US" sz="5200" b="1" dirty="0">
                <a:solidFill>
                  <a:srgbClr val="002B11"/>
                </a:solidFill>
                <a:latin typeface="Poppins" panose="00000500000000000000" pitchFamily="2" charset="0"/>
                <a:ea typeface="Calibri" pitchFamily="34" charset="-122"/>
                <a:cs typeface="Poppins" panose="00000500000000000000" pitchFamily="2" charset="0"/>
              </a:rPr>
              <a:t>How to Merge Tickets</a:t>
            </a:r>
            <a:endParaRPr kumimoji="0" lang="en-US" sz="5200" b="1" i="0" u="none" strike="noStrike" kern="1200" cap="none" spc="0" normalizeH="0" baseline="0" noProof="0" dirty="0">
              <a:ln>
                <a:noFill/>
              </a:ln>
              <a:solidFill>
                <a:srgbClr val="002B11"/>
              </a:solidFill>
              <a:effectLst/>
              <a:uLnTx/>
              <a:uFillTx/>
              <a:latin typeface="Poppins" panose="00000500000000000000" pitchFamily="2" charset="0"/>
              <a:ea typeface="Calibri" pitchFamily="34" charset="-122"/>
              <a:cs typeface="Poppins" panose="00000500000000000000" pitchFamily="2" charset="0"/>
            </a:endParaRPr>
          </a:p>
        </p:txBody>
      </p:sp>
      <p:pic>
        <p:nvPicPr>
          <p:cNvPr id="3" name="Picture 2">
            <a:extLst>
              <a:ext uri="{FF2B5EF4-FFF2-40B4-BE49-F238E27FC236}">
                <a16:creationId xmlns:a16="http://schemas.microsoft.com/office/drawing/2014/main" id="{32DF24E2-1155-1B2D-A00F-5EAC22784D01}"/>
              </a:ext>
            </a:extLst>
          </p:cNvPr>
          <p:cNvPicPr>
            <a:picLocks noChangeAspect="1"/>
          </p:cNvPicPr>
          <p:nvPr/>
        </p:nvPicPr>
        <p:blipFill>
          <a:blip r:embed="rId9"/>
          <a:stretch>
            <a:fillRect/>
          </a:stretch>
        </p:blipFill>
        <p:spPr>
          <a:xfrm>
            <a:off x="844190" y="5681916"/>
            <a:ext cx="8302090" cy="3524249"/>
          </a:xfrm>
          <a:prstGeom prst="rect">
            <a:avLst/>
          </a:prstGeom>
          <a:ln w="38100">
            <a:solidFill>
              <a:srgbClr val="CFFF21"/>
            </a:solidFill>
          </a:ln>
          <a:effectLst>
            <a:outerShdw blurRad="50800" dist="38100" dir="5400000" algn="t" rotWithShape="0">
              <a:prstClr val="black">
                <a:alpha val="40000"/>
              </a:prstClr>
            </a:outerShdw>
          </a:effectLst>
        </p:spPr>
      </p:pic>
      <p:pic>
        <p:nvPicPr>
          <p:cNvPr id="6" name="Picture 5">
            <a:extLst>
              <a:ext uri="{FF2B5EF4-FFF2-40B4-BE49-F238E27FC236}">
                <a16:creationId xmlns:a16="http://schemas.microsoft.com/office/drawing/2014/main" id="{060A80F9-6890-5CB5-34A9-0AD73E3ACC1F}"/>
              </a:ext>
            </a:extLst>
          </p:cNvPr>
          <p:cNvPicPr>
            <a:picLocks noChangeAspect="1"/>
          </p:cNvPicPr>
          <p:nvPr/>
        </p:nvPicPr>
        <p:blipFill>
          <a:blip r:embed="rId10"/>
          <a:stretch>
            <a:fillRect/>
          </a:stretch>
        </p:blipFill>
        <p:spPr>
          <a:xfrm>
            <a:off x="10757260" y="5692802"/>
            <a:ext cx="6686550" cy="3524250"/>
          </a:xfrm>
          <a:prstGeom prst="rect">
            <a:avLst/>
          </a:prstGeom>
          <a:ln w="38100">
            <a:solidFill>
              <a:srgbClr val="CFFF21"/>
            </a:solidFill>
          </a:ln>
          <a:effectLst>
            <a:outerShdw blurRad="50800" dist="38100" dir="5400000" algn="t" rotWithShape="0">
              <a:prstClr val="black">
                <a:alpha val="40000"/>
              </a:prstClr>
            </a:outerShdw>
          </a:effectLst>
        </p:spPr>
      </p:pic>
      <p:sp>
        <p:nvSpPr>
          <p:cNvPr id="7" name="Text 19">
            <a:extLst>
              <a:ext uri="{FF2B5EF4-FFF2-40B4-BE49-F238E27FC236}">
                <a16:creationId xmlns:a16="http://schemas.microsoft.com/office/drawing/2014/main" id="{AC513C28-E3EB-9F64-3DF2-593E45AC261B}"/>
              </a:ext>
            </a:extLst>
          </p:cNvPr>
          <p:cNvSpPr/>
          <p:nvPr/>
        </p:nvSpPr>
        <p:spPr>
          <a:xfrm>
            <a:off x="685800" y="9738360"/>
            <a:ext cx="10972800" cy="411480"/>
          </a:xfrm>
          <a:prstGeom prst="rect">
            <a:avLst/>
          </a:prstGeom>
          <a:noFill/>
          <a:ln/>
        </p:spPr>
        <p:txBody>
          <a:bodyPr wrap="square" lIns="0" tIns="0" rIns="0" bIns="0" rtlCol="0" anchor="ct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8272"/>
                </a:solidFill>
                <a:effectLst/>
                <a:uLnTx/>
                <a:uFillTx/>
                <a:latin typeface="Poppins" panose="00000500000000000000" pitchFamily="2" charset="0"/>
                <a:ea typeface="Calibri" pitchFamily="34" charset="-122"/>
                <a:cs typeface="Poppins" panose="00000500000000000000" pitchFamily="2" charset="0"/>
              </a:rPr>
              <a:t>Tripadvisor / Fraud support / Merging tickets</a:t>
            </a:r>
          </a:p>
        </p:txBody>
      </p:sp>
    </p:spTree>
    <p:extLst>
      <p:ext uri="{BB962C8B-B14F-4D97-AF65-F5344CB8AC3E}">
        <p14:creationId xmlns:p14="http://schemas.microsoft.com/office/powerpoint/2010/main" val="1663984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p:cNvGrpSpPr/>
        <p:nvPr/>
      </p:nvGrpSpPr>
      <p:grpSpPr>
        <a:xfrm>
          <a:off x="0" y="0"/>
          <a:ext cx="0" cy="0"/>
          <a:chOff x="0" y="0"/>
          <a:chExt cx="0" cy="0"/>
        </a:xfrm>
      </p:grpSpPr>
      <p:sp>
        <p:nvSpPr>
          <p:cNvPr id="2" name="AutoShape 2"/>
          <p:cNvSpPr/>
          <p:nvPr/>
        </p:nvSpPr>
        <p:spPr>
          <a:xfrm>
            <a:off x="9671447" y="6236632"/>
            <a:ext cx="6506069" cy="38197"/>
          </a:xfrm>
          <a:prstGeom prst="line">
            <a:avLst/>
          </a:prstGeom>
          <a:ln w="28575" cap="rnd">
            <a:solidFill>
              <a:srgbClr val="FFFFFF"/>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 name="Group 3"/>
          <p:cNvGrpSpPr/>
          <p:nvPr/>
        </p:nvGrpSpPr>
        <p:grpSpPr>
          <a:xfrm>
            <a:off x="466810" y="568664"/>
            <a:ext cx="949728" cy="605352"/>
            <a:chOff x="0" y="0"/>
            <a:chExt cx="1266304" cy="807136"/>
          </a:xfrm>
        </p:grpSpPr>
        <p:sp>
          <p:nvSpPr>
            <p:cNvPr id="4" name="Freeform 4" descr="ollie_green.png"/>
            <p:cNvSpPr/>
            <p:nvPr/>
          </p:nvSpPr>
          <p:spPr>
            <a:xfrm>
              <a:off x="0" y="0"/>
              <a:ext cx="1266317" cy="807085"/>
            </a:xfrm>
            <a:custGeom>
              <a:avLst/>
              <a:gdLst/>
              <a:ahLst/>
              <a:cxnLst/>
              <a:rect l="l" t="t" r="r" b="b"/>
              <a:pathLst>
                <a:path w="1266317" h="807085">
                  <a:moveTo>
                    <a:pt x="0" y="0"/>
                  </a:moveTo>
                  <a:lnTo>
                    <a:pt x="1266317" y="0"/>
                  </a:lnTo>
                  <a:lnTo>
                    <a:pt x="1266317" y="807085"/>
                  </a:lnTo>
                  <a:lnTo>
                    <a:pt x="0" y="807085"/>
                  </a:lnTo>
                  <a:lnTo>
                    <a:pt x="0" y="0"/>
                  </a:lnTo>
                  <a:close/>
                </a:path>
              </a:pathLst>
            </a:custGeom>
            <a:blipFill>
              <a:blip r:embed="rId2"/>
              <a:stretch>
                <a:fillRect r="1" b="-6"/>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792937" y="1996953"/>
            <a:ext cx="7351063" cy="6542115"/>
          </a:xfrm>
          <a:custGeom>
            <a:avLst/>
            <a:gdLst/>
            <a:ahLst/>
            <a:cxnLst/>
            <a:rect l="l" t="t" r="r" b="b"/>
            <a:pathLst>
              <a:path w="7351063" h="6542115">
                <a:moveTo>
                  <a:pt x="0" y="0"/>
                </a:moveTo>
                <a:lnTo>
                  <a:pt x="7351063" y="0"/>
                </a:lnTo>
                <a:lnTo>
                  <a:pt x="7351063" y="6542115"/>
                </a:lnTo>
                <a:lnTo>
                  <a:pt x="0" y="6542115"/>
                </a:lnTo>
                <a:lnTo>
                  <a:pt x="0" y="0"/>
                </a:lnTo>
                <a:close/>
              </a:path>
            </a:pathLst>
          </a:custGeom>
          <a:blipFill>
            <a:blip r:embed="rId3"/>
            <a:stretch>
              <a:fillRect r="-779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p:cNvSpPr txBox="1"/>
          <p:nvPr/>
        </p:nvSpPr>
        <p:spPr>
          <a:xfrm>
            <a:off x="9505684" y="3560156"/>
            <a:ext cx="7494010" cy="2695575"/>
          </a:xfrm>
          <a:prstGeom prst="rect">
            <a:avLst/>
          </a:prstGeom>
        </p:spPr>
        <p:txBody>
          <a:bodyPr lIns="0" tIns="0" rIns="0" bIns="0" rtlCol="0" anchor="t">
            <a:spAutoFit/>
          </a:bodyPr>
          <a:lstStyle/>
          <a:p>
            <a:pPr marL="0" marR="0" lvl="0" indent="0" algn="l" defTabSz="914400" rtl="0" eaLnBrk="1" fontAlgn="auto" latinLnBrk="0" hangingPunct="1">
              <a:lnSpc>
                <a:spcPts val="10500"/>
              </a:lnSpc>
              <a:spcBef>
                <a:spcPts val="0"/>
              </a:spcBef>
              <a:spcAft>
                <a:spcPts val="0"/>
              </a:spcAft>
              <a:buClrTx/>
              <a:buSzTx/>
              <a:buFontTx/>
              <a:buNone/>
              <a:tabLst/>
              <a:defRPr/>
            </a:pPr>
            <a:r>
              <a:rPr kumimoji="0" lang="en-US" sz="7500" b="1" i="0" u="none" strike="noStrike" kern="1200" cap="none" spc="0" normalizeH="0" baseline="0" noProof="0">
                <a:ln>
                  <a:noFill/>
                </a:ln>
                <a:solidFill>
                  <a:srgbClr val="FFFFFF"/>
                </a:solidFill>
                <a:effectLst/>
                <a:uLnTx/>
                <a:uFillTx/>
                <a:latin typeface="Poppins Bold"/>
                <a:ea typeface="Poppins Bold"/>
                <a:cs typeface="Poppins Bold"/>
                <a:sym typeface="Poppins Bold"/>
              </a:rPr>
              <a:t>Knowledge Check</a:t>
            </a:r>
          </a:p>
        </p:txBody>
      </p:sp>
      <p:sp>
        <p:nvSpPr>
          <p:cNvPr id="7" name="TextBox 7"/>
          <p:cNvSpPr txBox="1"/>
          <p:nvPr/>
        </p:nvSpPr>
        <p:spPr>
          <a:xfrm>
            <a:off x="9671447" y="6531203"/>
            <a:ext cx="6729000" cy="909716"/>
          </a:xfrm>
          <a:prstGeom prst="rect">
            <a:avLst/>
          </a:prstGeom>
        </p:spPr>
        <p:txBody>
          <a:bodyPr lIns="0" tIns="0" rIns="0" bIns="0" rtlCol="0" anchor="t">
            <a:spAutoFit/>
          </a:bodyPr>
          <a:lstStyle/>
          <a:p>
            <a:pPr marL="0" marR="0" lvl="0" indent="0" algn="l" defTabSz="914400" rtl="0" eaLnBrk="1" fontAlgn="auto" latinLnBrk="0" hangingPunct="1">
              <a:lnSpc>
                <a:spcPts val="2375"/>
              </a:lnSpc>
              <a:spcBef>
                <a:spcPct val="0"/>
              </a:spcBef>
              <a:spcAft>
                <a:spcPts val="0"/>
              </a:spcAft>
              <a:buClrTx/>
              <a:buSzTx/>
              <a:buFontTx/>
              <a:buNone/>
              <a:tabLst/>
              <a:defRPr/>
            </a:pPr>
            <a:r>
              <a:rPr kumimoji="0" lang="en-US" sz="2199" b="0" i="0" u="none" strike="noStrike" kern="1200" cap="none" spc="0" normalizeH="0" baseline="0" noProof="0">
                <a:ln>
                  <a:noFill/>
                </a:ln>
                <a:solidFill>
                  <a:srgbClr val="FFFFFF"/>
                </a:solidFill>
                <a:effectLst/>
                <a:uLnTx/>
                <a:uFillTx/>
                <a:latin typeface="Poppins"/>
                <a:ea typeface="Poppins"/>
                <a:cs typeface="Poppins"/>
                <a:sym typeface="Poppins"/>
              </a:rPr>
              <a:t>Test what you've learned across all three sections before you wrap up.</a:t>
            </a:r>
          </a:p>
          <a:p>
            <a:pPr marL="0" marR="0" lvl="0" indent="0" algn="l" defTabSz="914400" rtl="0" eaLnBrk="1" fontAlgn="auto" latinLnBrk="0" hangingPunct="1">
              <a:lnSpc>
                <a:spcPts val="2375"/>
              </a:lnSpc>
              <a:spcBef>
                <a:spcPct val="0"/>
              </a:spcBef>
              <a:spcAft>
                <a:spcPts val="0"/>
              </a:spcAft>
              <a:buClrTx/>
              <a:buSzTx/>
              <a:buFontTx/>
              <a:buNone/>
              <a:tabLst/>
              <a:defRPr/>
            </a:pPr>
            <a:endParaRPr kumimoji="0" lang="en-US" sz="2199" b="0" i="0" u="none" strike="noStrike" kern="1200" cap="none" spc="0" normalizeH="0" baseline="0" noProof="0">
              <a:ln>
                <a:noFill/>
              </a:ln>
              <a:solidFill>
                <a:srgbClr val="FFFFFF"/>
              </a:solidFill>
              <a:effectLst/>
              <a:uLnTx/>
              <a:uFillTx/>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3EEBE"/>
        </a:solidFill>
        <a:effectLst/>
      </p:bgPr>
    </p:bg>
    <p:spTree>
      <p:nvGrpSpPr>
        <p:cNvPr id="1" name="">
          <a:extLst>
            <a:ext uri="{FF2B5EF4-FFF2-40B4-BE49-F238E27FC236}">
              <a16:creationId xmlns:a16="http://schemas.microsoft.com/office/drawing/2014/main" id="{C03CC24A-AC66-A7EC-1EF0-A8CDC2AEC4F7}"/>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9AA05A13-5FB1-B6B5-9D98-363B0D16841A}"/>
              </a:ext>
            </a:extLst>
          </p:cNvPr>
          <p:cNvSpPr/>
          <p:nvPr/>
        </p:nvSpPr>
        <p:spPr>
          <a:xfrm>
            <a:off x="5249895" y="5895958"/>
            <a:ext cx="3424009" cy="1248441"/>
          </a:xfrm>
          <a:prstGeom prst="roundRect">
            <a:avLst/>
          </a:prstGeom>
          <a:solidFill>
            <a:srgbClr val="002B1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Rounded Corners 16">
            <a:extLst>
              <a:ext uri="{FF2B5EF4-FFF2-40B4-BE49-F238E27FC236}">
                <a16:creationId xmlns:a16="http://schemas.microsoft.com/office/drawing/2014/main" id="{060625BB-9D10-B91D-A8BB-E040B47E70F3}"/>
              </a:ext>
            </a:extLst>
          </p:cNvPr>
          <p:cNvSpPr/>
          <p:nvPr/>
        </p:nvSpPr>
        <p:spPr>
          <a:xfrm>
            <a:off x="5326095" y="6001391"/>
            <a:ext cx="3424009" cy="1248441"/>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TextBox 1">
            <a:extLst>
              <a:ext uri="{FF2B5EF4-FFF2-40B4-BE49-F238E27FC236}">
                <a16:creationId xmlns:a16="http://schemas.microsoft.com/office/drawing/2014/main" id="{93E2DA6A-4FE1-A426-58ED-9C37DE9872C4}"/>
              </a:ext>
            </a:extLst>
          </p:cNvPr>
          <p:cNvSpPr txBox="1"/>
          <p:nvPr/>
        </p:nvSpPr>
        <p:spPr>
          <a:xfrm>
            <a:off x="1000000" y="700001"/>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3" name="TextBox 2">
            <a:extLst>
              <a:ext uri="{FF2B5EF4-FFF2-40B4-BE49-F238E27FC236}">
                <a16:creationId xmlns:a16="http://schemas.microsoft.com/office/drawing/2014/main" id="{87737592-25E7-9B16-1C4C-1E6E847E3E23}"/>
              </a:ext>
            </a:extLst>
          </p:cNvPr>
          <p:cNvSpPr txBox="1"/>
          <p:nvPr/>
        </p:nvSpPr>
        <p:spPr>
          <a:xfrm>
            <a:off x="1000000" y="1395308"/>
            <a:ext cx="16200000" cy="1169551"/>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0" b="1" i="0" u="none" strike="noStrike" kern="1200" cap="none" spc="0" normalizeH="0" baseline="0" noProof="0" dirty="0">
                <a:ln>
                  <a:noFill/>
                </a:ln>
                <a:solidFill>
                  <a:srgbClr val="002B11"/>
                </a:solidFill>
                <a:effectLst/>
                <a:uLnTx/>
                <a:uFillTx/>
                <a:latin typeface="Poppins Black"/>
                <a:ea typeface="+mn-ea"/>
                <a:cs typeface="Arial"/>
                <a:sym typeface="Arial"/>
              </a:rPr>
              <a:t>True or False?</a:t>
            </a:r>
          </a:p>
        </p:txBody>
      </p:sp>
      <p:sp>
        <p:nvSpPr>
          <p:cNvPr id="4" name="Rounded Rectangle 3">
            <a:extLst>
              <a:ext uri="{FF2B5EF4-FFF2-40B4-BE49-F238E27FC236}">
                <a16:creationId xmlns:a16="http://schemas.microsoft.com/office/drawing/2014/main" id="{3F040BE2-7DFC-9075-0B1E-1E3992016208}"/>
              </a:ext>
            </a:extLst>
          </p:cNvPr>
          <p:cNvSpPr/>
          <p:nvPr/>
        </p:nvSpPr>
        <p:spPr>
          <a:xfrm>
            <a:off x="1000000" y="3048115"/>
            <a:ext cx="16280000" cy="2218544"/>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a:extLst>
              <a:ext uri="{FF2B5EF4-FFF2-40B4-BE49-F238E27FC236}">
                <a16:creationId xmlns:a16="http://schemas.microsoft.com/office/drawing/2014/main" id="{C24D7185-08A5-91B7-996A-2CFF01A238B7}"/>
              </a:ext>
            </a:extLst>
          </p:cNvPr>
          <p:cNvSpPr txBox="1"/>
          <p:nvPr/>
        </p:nvSpPr>
        <p:spPr>
          <a:xfrm>
            <a:off x="1564165" y="3835764"/>
            <a:ext cx="14680000" cy="707886"/>
          </a:xfrm>
          <a:prstGeom prst="rect">
            <a:avLst/>
          </a:prstGeom>
          <a:noFill/>
        </p:spPr>
        <p:txBody>
          <a:bodyPr wrap="square" anchor="ctr">
            <a:spAutoFit/>
          </a:bodyPr>
          <a:lstStyle/>
          <a:p>
            <a:pPr lvl="0">
              <a:defRPr/>
            </a:pPr>
            <a:r>
              <a:rPr lang="en-US" sz="4000" b="1" dirty="0">
                <a:solidFill>
                  <a:srgbClr val="002B11"/>
                </a:solidFill>
                <a:latin typeface="Poppins"/>
                <a:cs typeface="Arial"/>
                <a:sym typeface="Arial"/>
              </a:rPr>
              <a:t>Tickets that are unassigned have the status ‘Open'.</a:t>
            </a:r>
            <a:endParaRPr kumimoji="0" sz="4000" b="1"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7" name="Rectangle: Rounded Corners 6">
            <a:extLst>
              <a:ext uri="{FF2B5EF4-FFF2-40B4-BE49-F238E27FC236}">
                <a16:creationId xmlns:a16="http://schemas.microsoft.com/office/drawing/2014/main" id="{FA0E2F64-F698-5F74-3407-9AA463076BC7}"/>
              </a:ext>
            </a:extLst>
          </p:cNvPr>
          <p:cNvSpPr/>
          <p:nvPr/>
        </p:nvSpPr>
        <p:spPr>
          <a:xfrm>
            <a:off x="1080725" y="5843242"/>
            <a:ext cx="3424009" cy="1248441"/>
          </a:xfrm>
          <a:prstGeom prst="roundRect">
            <a:avLst/>
          </a:prstGeom>
          <a:solidFill>
            <a:srgbClr val="002B1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Rounded Corners 8">
            <a:extLst>
              <a:ext uri="{FF2B5EF4-FFF2-40B4-BE49-F238E27FC236}">
                <a16:creationId xmlns:a16="http://schemas.microsoft.com/office/drawing/2014/main" id="{E1C509A3-9610-C4BE-88C5-4950DAD7B6B4}"/>
              </a:ext>
            </a:extLst>
          </p:cNvPr>
          <p:cNvSpPr/>
          <p:nvPr/>
        </p:nvSpPr>
        <p:spPr>
          <a:xfrm>
            <a:off x="1156925" y="5948675"/>
            <a:ext cx="3424009" cy="1248441"/>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A61A350A-E733-594B-4E27-3A9166B985E2}"/>
              </a:ext>
            </a:extLst>
          </p:cNvPr>
          <p:cNvSpPr txBox="1"/>
          <p:nvPr/>
        </p:nvSpPr>
        <p:spPr>
          <a:xfrm>
            <a:off x="2106929" y="6257424"/>
            <a:ext cx="1524000" cy="63094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500" b="1" i="0" u="none" strike="noStrike" kern="1200" cap="none" spc="0" normalizeH="0" baseline="0" noProof="0" dirty="0">
                <a:ln>
                  <a:noFill/>
                </a:ln>
                <a:solidFill>
                  <a:srgbClr val="002B11"/>
                </a:solidFill>
                <a:effectLst/>
                <a:uLnTx/>
                <a:uFillTx/>
                <a:latin typeface="Poppins Black"/>
                <a:ea typeface="+mn-ea"/>
                <a:cs typeface="Arial"/>
                <a:sym typeface="Arial"/>
              </a:rPr>
              <a:t>TRUE</a:t>
            </a:r>
          </a:p>
        </p:txBody>
      </p:sp>
      <p:sp>
        <p:nvSpPr>
          <p:cNvPr id="16" name="TextBox 15">
            <a:extLst>
              <a:ext uri="{FF2B5EF4-FFF2-40B4-BE49-F238E27FC236}">
                <a16:creationId xmlns:a16="http://schemas.microsoft.com/office/drawing/2014/main" id="{B46E43EA-9E9D-7EB6-9DD7-6A291E56796C}"/>
              </a:ext>
            </a:extLst>
          </p:cNvPr>
          <p:cNvSpPr txBox="1"/>
          <p:nvPr/>
        </p:nvSpPr>
        <p:spPr>
          <a:xfrm>
            <a:off x="6236970" y="6260630"/>
            <a:ext cx="1790700" cy="63094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002B11"/>
                </a:solidFill>
                <a:effectLst/>
                <a:uLnTx/>
                <a:uFillTx/>
                <a:latin typeface="Poppins Black"/>
                <a:ea typeface="+mn-ea"/>
                <a:cs typeface="Arial"/>
                <a:sym typeface="Arial"/>
              </a:rPr>
              <a:t>FALSE</a:t>
            </a:r>
            <a:endParaRPr kumimoji="0" sz="3500" b="1" i="0" u="none" strike="noStrike" kern="1200" cap="none" spc="0" normalizeH="0" baseline="0" noProof="0" dirty="0">
              <a:ln>
                <a:noFill/>
              </a:ln>
              <a:solidFill>
                <a:srgbClr val="002B11"/>
              </a:solidFill>
              <a:effectLst/>
              <a:uLnTx/>
              <a:uFillTx/>
              <a:latin typeface="Poppins Black"/>
              <a:ea typeface="+mn-ea"/>
              <a:cs typeface="Arial"/>
              <a:sym typeface="Arial"/>
            </a:endParaRPr>
          </a:p>
        </p:txBody>
      </p:sp>
      <p:pic>
        <p:nvPicPr>
          <p:cNvPr id="19" name="Picture 18">
            <a:extLst>
              <a:ext uri="{FF2B5EF4-FFF2-40B4-BE49-F238E27FC236}">
                <a16:creationId xmlns:a16="http://schemas.microsoft.com/office/drawing/2014/main" id="{AF07D66B-C7D9-DCCE-38EE-199285C71CD3}"/>
              </a:ext>
            </a:extLst>
          </p:cNvPr>
          <p:cNvPicPr>
            <a:picLocks noChangeAspect="1"/>
          </p:cNvPicPr>
          <p:nvPr/>
        </p:nvPicPr>
        <p:blipFill>
          <a:blip r:embed="rId2"/>
          <a:srcRect l="60461" t="63789"/>
          <a:stretch>
            <a:fillRect/>
          </a:stretch>
        </p:blipFill>
        <p:spPr>
          <a:xfrm>
            <a:off x="15258551" y="3815726"/>
            <a:ext cx="1601449" cy="1747475"/>
          </a:xfrm>
          <a:prstGeom prst="rect">
            <a:avLst/>
          </a:prstGeom>
        </p:spPr>
      </p:pic>
      <p:pic>
        <p:nvPicPr>
          <p:cNvPr id="21" name="Picture 20">
            <a:extLst>
              <a:ext uri="{FF2B5EF4-FFF2-40B4-BE49-F238E27FC236}">
                <a16:creationId xmlns:a16="http://schemas.microsoft.com/office/drawing/2014/main" id="{CFA69803-89B2-C435-DA17-CEAA379B99A8}"/>
              </a:ext>
            </a:extLst>
          </p:cNvPr>
          <p:cNvPicPr>
            <a:picLocks noChangeAspect="1"/>
          </p:cNvPicPr>
          <p:nvPr/>
        </p:nvPicPr>
        <p:blipFill>
          <a:blip r:embed="rId3"/>
          <a:srcRect l="64628" t="2587" b="65063"/>
          <a:stretch>
            <a:fillRect/>
          </a:stretch>
        </p:blipFill>
        <p:spPr>
          <a:xfrm>
            <a:off x="10695323" y="6368984"/>
            <a:ext cx="2036016" cy="2218544"/>
          </a:xfrm>
          <a:prstGeom prst="rect">
            <a:avLst/>
          </a:prstGeom>
        </p:spPr>
      </p:pic>
      <p:sp>
        <p:nvSpPr>
          <p:cNvPr id="22" name="Rectangle: Rounded Corners 21">
            <a:extLst>
              <a:ext uri="{FF2B5EF4-FFF2-40B4-BE49-F238E27FC236}">
                <a16:creationId xmlns:a16="http://schemas.microsoft.com/office/drawing/2014/main" id="{092CA3B5-DBC1-F67F-3FA3-3179015E0CF5}"/>
              </a:ext>
            </a:extLst>
          </p:cNvPr>
          <p:cNvSpPr/>
          <p:nvPr/>
        </p:nvSpPr>
        <p:spPr>
          <a:xfrm>
            <a:off x="12788824" y="6330812"/>
            <a:ext cx="4453076" cy="2424230"/>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426501E8-136B-2E8B-D0EE-EF35A3BB244D}"/>
              </a:ext>
            </a:extLst>
          </p:cNvPr>
          <p:cNvSpPr txBox="1"/>
          <p:nvPr/>
        </p:nvSpPr>
        <p:spPr>
          <a:xfrm>
            <a:off x="13124821" y="6884236"/>
            <a:ext cx="4006253" cy="1384995"/>
          </a:xfrm>
          <a:prstGeom prst="rect">
            <a:avLst/>
          </a:prstGeom>
          <a:noFill/>
        </p:spPr>
        <p:txBody>
          <a:bodyPr wrap="square" anchor="t">
            <a:spAutoFit/>
          </a:bodyPr>
          <a:lstStyle/>
          <a:p>
            <a:pPr lvl="0">
              <a:defRPr/>
            </a:pPr>
            <a:r>
              <a:rPr lang="en-US" sz="2800" dirty="0">
                <a:solidFill>
                  <a:srgbClr val="002B11"/>
                </a:solidFill>
                <a:latin typeface="Poppins"/>
                <a:cs typeface="Arial"/>
                <a:sym typeface="Arial"/>
              </a:rPr>
              <a:t>Tickets that are unassigned have the status 'New'.</a:t>
            </a:r>
            <a:endParaRPr kumimoji="0" sz="28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14" name="TextBox 13">
            <a:extLst>
              <a:ext uri="{FF2B5EF4-FFF2-40B4-BE49-F238E27FC236}">
                <a16:creationId xmlns:a16="http://schemas.microsoft.com/office/drawing/2014/main" id="{2488C0A9-2146-62A4-91D5-20B04F79B254}"/>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Tree>
    <p:extLst>
      <p:ext uri="{BB962C8B-B14F-4D97-AF65-F5344CB8AC3E}">
        <p14:creationId xmlns:p14="http://schemas.microsoft.com/office/powerpoint/2010/main" val="1300489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 presetClass="emph" presetSubtype="2" fill="hold" nodeType="withEffect">
                                  <p:stCondLst>
                                    <p:cond delay="0"/>
                                  </p:stCondLst>
                                  <p:childTnLst>
                                    <p:animClr clrSpc="rgb" dir="cw">
                                      <p:cBhvr>
                                        <p:cTn id="15" dur="2000" fill="hold"/>
                                        <p:tgtEl>
                                          <p:spTgt spid="17"/>
                                        </p:tgtEl>
                                        <p:attrNameLst>
                                          <p:attrName>fillcolor</p:attrName>
                                        </p:attrNameLst>
                                      </p:cBhvr>
                                      <p:to>
                                        <a:srgbClr val="00B050"/>
                                      </p:to>
                                    </p:animClr>
                                    <p:set>
                                      <p:cBhvr>
                                        <p:cTn id="16" dur="2000" fill="hold"/>
                                        <p:tgtEl>
                                          <p:spTgt spid="17"/>
                                        </p:tgtEl>
                                        <p:attrNameLst>
                                          <p:attrName>fill.type</p:attrName>
                                        </p:attrNameLst>
                                      </p:cBhvr>
                                      <p:to>
                                        <p:strVal val="solid"/>
                                      </p:to>
                                    </p:set>
                                    <p:set>
                                      <p:cBhvr>
                                        <p:cTn id="17" dur="2000" fill="hold"/>
                                        <p:tgtEl>
                                          <p:spTgt spid="1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997FF"/>
        </a:solidFill>
        <a:effectLst/>
      </p:bgPr>
    </p:bg>
    <p:spTree>
      <p:nvGrpSpPr>
        <p:cNvPr id="1" name="">
          <a:extLst>
            <a:ext uri="{FF2B5EF4-FFF2-40B4-BE49-F238E27FC236}">
              <a16:creationId xmlns:a16="http://schemas.microsoft.com/office/drawing/2014/main" id="{CFC01887-C814-A6A2-84F3-CA9842E4933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345AEB-B185-FFD3-4B0A-4CEF16EEDA0F}"/>
              </a:ext>
            </a:extLst>
          </p:cNvPr>
          <p:cNvSpPr txBox="1"/>
          <p:nvPr/>
        </p:nvSpPr>
        <p:spPr>
          <a:xfrm>
            <a:off x="994557" y="511955"/>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4" name="Rounded Rectangle 3">
            <a:extLst>
              <a:ext uri="{FF2B5EF4-FFF2-40B4-BE49-F238E27FC236}">
                <a16:creationId xmlns:a16="http://schemas.microsoft.com/office/drawing/2014/main" id="{5F1888D2-A122-55C4-E244-879A230C0080}"/>
              </a:ext>
            </a:extLst>
          </p:cNvPr>
          <p:cNvSpPr/>
          <p:nvPr/>
        </p:nvSpPr>
        <p:spPr>
          <a:xfrm>
            <a:off x="1004000" y="1349948"/>
            <a:ext cx="16280000" cy="2075905"/>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a:extLst>
              <a:ext uri="{FF2B5EF4-FFF2-40B4-BE49-F238E27FC236}">
                <a16:creationId xmlns:a16="http://schemas.microsoft.com/office/drawing/2014/main" id="{C445F090-5D09-BB97-D352-59D7C4D15B29}"/>
              </a:ext>
            </a:extLst>
          </p:cNvPr>
          <p:cNvSpPr txBox="1"/>
          <p:nvPr/>
        </p:nvSpPr>
        <p:spPr>
          <a:xfrm>
            <a:off x="1510086" y="1680276"/>
            <a:ext cx="14680000" cy="1323439"/>
          </a:xfrm>
          <a:prstGeom prst="rect">
            <a:avLst/>
          </a:prstGeom>
          <a:noFill/>
        </p:spPr>
        <p:txBody>
          <a:bodyPr wrap="square" anchor="ctr">
            <a:spAutoFit/>
          </a:bodyPr>
          <a:lstStyle/>
          <a:p>
            <a:pPr lvl="0">
              <a:defRPr/>
            </a:pPr>
            <a:r>
              <a:rPr lang="en-US" sz="4000" b="1" dirty="0">
                <a:solidFill>
                  <a:srgbClr val="002B11"/>
                </a:solidFill>
                <a:latin typeface="Poppins"/>
                <a:cs typeface="Arial"/>
                <a:sym typeface="Arial"/>
              </a:rPr>
              <a:t>What should agents do if they receive multiple tickets from the same requester regarding the same topic?</a:t>
            </a:r>
            <a:endParaRPr kumimoji="0" sz="4000" b="1"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10" name="Rounded Rectangle 3">
            <a:extLst>
              <a:ext uri="{FF2B5EF4-FFF2-40B4-BE49-F238E27FC236}">
                <a16:creationId xmlns:a16="http://schemas.microsoft.com/office/drawing/2014/main" id="{424A0BA5-6920-561F-6D0D-2244A470A0BD}"/>
              </a:ext>
            </a:extLst>
          </p:cNvPr>
          <p:cNvSpPr/>
          <p:nvPr/>
        </p:nvSpPr>
        <p:spPr>
          <a:xfrm>
            <a:off x="1004000" y="383733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4" name="TextBox 13">
            <a:extLst>
              <a:ext uri="{FF2B5EF4-FFF2-40B4-BE49-F238E27FC236}">
                <a16:creationId xmlns:a16="http://schemas.microsoft.com/office/drawing/2014/main" id="{E849049E-8922-2B09-5BBA-8A85B8E6E392}"/>
              </a:ext>
            </a:extLst>
          </p:cNvPr>
          <p:cNvSpPr txBox="1"/>
          <p:nvPr/>
        </p:nvSpPr>
        <p:spPr>
          <a:xfrm>
            <a:off x="1510086" y="4093416"/>
            <a:ext cx="14680000" cy="584775"/>
          </a:xfrm>
          <a:prstGeom prst="rect">
            <a:avLst/>
          </a:prstGeom>
          <a:noFill/>
        </p:spPr>
        <p:txBody>
          <a:bodyPr wrap="square" anchor="ctr">
            <a:spAutoFit/>
          </a:bodyPr>
          <a:lstStyle/>
          <a:p>
            <a:pPr lvl="0">
              <a:defRPr/>
            </a:pPr>
            <a:r>
              <a:rPr lang="en-US" sz="3200" dirty="0">
                <a:solidFill>
                  <a:srgbClr val="002B11"/>
                </a:solidFill>
                <a:latin typeface="Poppins"/>
                <a:cs typeface="Arial"/>
                <a:sym typeface="Arial"/>
              </a:rPr>
              <a:t>Respond individually to each ticket</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16" name="Rounded Rectangle 3">
            <a:extLst>
              <a:ext uri="{FF2B5EF4-FFF2-40B4-BE49-F238E27FC236}">
                <a16:creationId xmlns:a16="http://schemas.microsoft.com/office/drawing/2014/main" id="{6DD9B4A0-FCC6-2033-6874-6877C9E8CFB2}"/>
              </a:ext>
            </a:extLst>
          </p:cNvPr>
          <p:cNvSpPr/>
          <p:nvPr/>
        </p:nvSpPr>
        <p:spPr>
          <a:xfrm>
            <a:off x="1004000" y="5203639"/>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8" name="TextBox 17">
            <a:extLst>
              <a:ext uri="{FF2B5EF4-FFF2-40B4-BE49-F238E27FC236}">
                <a16:creationId xmlns:a16="http://schemas.microsoft.com/office/drawing/2014/main" id="{59913B56-2158-EE09-4629-AC2CE39C51DD}"/>
              </a:ext>
            </a:extLst>
          </p:cNvPr>
          <p:cNvSpPr txBox="1"/>
          <p:nvPr/>
        </p:nvSpPr>
        <p:spPr>
          <a:xfrm>
            <a:off x="1510086" y="5459721"/>
            <a:ext cx="14680000" cy="584775"/>
          </a:xfrm>
          <a:prstGeom prst="rect">
            <a:avLst/>
          </a:prstGeom>
          <a:noFill/>
        </p:spPr>
        <p:txBody>
          <a:bodyPr wrap="square" anchor="ctr">
            <a:spAutoFit/>
          </a:bodyPr>
          <a:lstStyle>
            <a:defPPr marR="0" lvl="0" algn="l" rtl="0">
              <a:lnSpc>
                <a:spcPct val="100000"/>
              </a:lnSpc>
              <a:spcBef>
                <a:spcPts val="0"/>
              </a:spcBef>
              <a:spcAft>
                <a:spcPts val="0"/>
              </a:spcAft>
            </a:defPPr>
            <a:lvl1pPr>
              <a:buClrTx/>
              <a:defRPr sz="3200" kern="1200">
                <a:solidFill>
                  <a:srgbClr val="002B11"/>
                </a:solidFill>
                <a:latin typeface="Poppins"/>
                <a:ea typeface="+mn-ea"/>
              </a:defRPr>
            </a:lvl1pPr>
          </a:lstStyle>
          <a:p>
            <a:pPr lvl="0">
              <a:defRPr/>
            </a:pPr>
            <a:r>
              <a:rPr lang="en-US" dirty="0">
                <a:cs typeface="Arial"/>
                <a:sym typeface="Arial"/>
              </a:rPr>
              <a:t>Merge the tickets</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20" name="Rounded Rectangle 3">
            <a:extLst>
              <a:ext uri="{FF2B5EF4-FFF2-40B4-BE49-F238E27FC236}">
                <a16:creationId xmlns:a16="http://schemas.microsoft.com/office/drawing/2014/main" id="{FF648C10-8B58-5E33-00BB-F234B2BB6640}"/>
              </a:ext>
            </a:extLst>
          </p:cNvPr>
          <p:cNvSpPr/>
          <p:nvPr/>
        </p:nvSpPr>
        <p:spPr>
          <a:xfrm>
            <a:off x="1000000" y="656994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2" name="TextBox 21">
            <a:extLst>
              <a:ext uri="{FF2B5EF4-FFF2-40B4-BE49-F238E27FC236}">
                <a16:creationId xmlns:a16="http://schemas.microsoft.com/office/drawing/2014/main" id="{9E94187D-A396-007E-4A44-5DD57EBB4A7F}"/>
              </a:ext>
            </a:extLst>
          </p:cNvPr>
          <p:cNvSpPr txBox="1"/>
          <p:nvPr/>
        </p:nvSpPr>
        <p:spPr>
          <a:xfrm>
            <a:off x="1506086" y="6826026"/>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lvl="0">
              <a:defRPr/>
            </a:pPr>
            <a:r>
              <a:rPr lang="en-US" dirty="0">
                <a:cs typeface="Arial"/>
                <a:sym typeface="Arial"/>
              </a:rPr>
              <a:t>Close all but the recent ticket</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24" name="Rounded Rectangle 3">
            <a:extLst>
              <a:ext uri="{FF2B5EF4-FFF2-40B4-BE49-F238E27FC236}">
                <a16:creationId xmlns:a16="http://schemas.microsoft.com/office/drawing/2014/main" id="{63ACD14F-26EC-ABA0-5805-D415CCB280A0}"/>
              </a:ext>
            </a:extLst>
          </p:cNvPr>
          <p:cNvSpPr/>
          <p:nvPr/>
        </p:nvSpPr>
        <p:spPr>
          <a:xfrm>
            <a:off x="1000000" y="7949215"/>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6" name="TextBox 25">
            <a:extLst>
              <a:ext uri="{FF2B5EF4-FFF2-40B4-BE49-F238E27FC236}">
                <a16:creationId xmlns:a16="http://schemas.microsoft.com/office/drawing/2014/main" id="{A089578B-E45B-6B03-3447-7268F48042A3}"/>
              </a:ext>
            </a:extLst>
          </p:cNvPr>
          <p:cNvSpPr txBox="1"/>
          <p:nvPr/>
        </p:nvSpPr>
        <p:spPr>
          <a:xfrm>
            <a:off x="1506086" y="8205297"/>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lvl="0">
              <a:defRPr/>
            </a:pPr>
            <a:r>
              <a:rPr lang="en-US" dirty="0">
                <a:cs typeface="Arial"/>
                <a:sym typeface="Arial"/>
              </a:rPr>
              <a:t>Forward to Tier 2 Team</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pic>
        <p:nvPicPr>
          <p:cNvPr id="6" name="Picture 5">
            <a:extLst>
              <a:ext uri="{FF2B5EF4-FFF2-40B4-BE49-F238E27FC236}">
                <a16:creationId xmlns:a16="http://schemas.microsoft.com/office/drawing/2014/main" id="{B8759B1E-3056-672D-C727-71965A35EA83}"/>
              </a:ext>
            </a:extLst>
          </p:cNvPr>
          <p:cNvPicPr>
            <a:picLocks noChangeAspect="1"/>
          </p:cNvPicPr>
          <p:nvPr/>
        </p:nvPicPr>
        <p:blipFill>
          <a:blip r:embed="rId2"/>
          <a:srcRect l="60461" t="63789"/>
          <a:stretch>
            <a:fillRect/>
          </a:stretch>
        </p:blipFill>
        <p:spPr>
          <a:xfrm>
            <a:off x="15687275" y="1935947"/>
            <a:ext cx="1601449" cy="1747475"/>
          </a:xfrm>
          <a:prstGeom prst="rect">
            <a:avLst/>
          </a:prstGeom>
        </p:spPr>
      </p:pic>
      <p:sp>
        <p:nvSpPr>
          <p:cNvPr id="13" name="TextBox 12">
            <a:extLst>
              <a:ext uri="{FF2B5EF4-FFF2-40B4-BE49-F238E27FC236}">
                <a16:creationId xmlns:a16="http://schemas.microsoft.com/office/drawing/2014/main" id="{25337120-0E18-6905-CEDC-1CD8EA49F83C}"/>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Tree>
    <p:extLst>
      <p:ext uri="{BB962C8B-B14F-4D97-AF65-F5344CB8AC3E}">
        <p14:creationId xmlns:p14="http://schemas.microsoft.com/office/powerpoint/2010/main" val="3746823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10"/>
                                        </p:tgtEl>
                                        <p:attrNameLst>
                                          <p:attrName>style.opacity</p:attrName>
                                        </p:attrNameLst>
                                      </p:cBhvr>
                                      <p:to>
                                        <p:strVal val="0.5"/>
                                      </p:to>
                                    </p:set>
                                    <p:animEffect filter="image" prLst="opacity: 0.5">
                                      <p:cBhvr rctx="IE">
                                        <p:cTn id="7" dur="indefinite"/>
                                        <p:tgtEl>
                                          <p:spTgt spid="10"/>
                                        </p:tgtEl>
                                      </p:cBhvr>
                                    </p:animEffect>
                                  </p:childTnLst>
                                </p:cTn>
                              </p:par>
                              <p:par>
                                <p:cTn id="8" presetID="9" presetClass="emph" presetSubtype="0" grpId="0" nodeType="withEffect">
                                  <p:stCondLst>
                                    <p:cond delay="0"/>
                                  </p:stCondLst>
                                  <p:childTnLst>
                                    <p:set>
                                      <p:cBhvr>
                                        <p:cTn id="9" dur="indefinite"/>
                                        <p:tgtEl>
                                          <p:spTgt spid="20"/>
                                        </p:tgtEl>
                                        <p:attrNameLst>
                                          <p:attrName>style.opacity</p:attrName>
                                        </p:attrNameLst>
                                      </p:cBhvr>
                                      <p:to>
                                        <p:strVal val="0.5"/>
                                      </p:to>
                                    </p:set>
                                    <p:animEffect filter="image" prLst="opacity: 0.5">
                                      <p:cBhvr rctx="IE">
                                        <p:cTn id="10" dur="indefinite"/>
                                        <p:tgtEl>
                                          <p:spTgt spid="20"/>
                                        </p:tgtEl>
                                      </p:cBhvr>
                                    </p:animEffect>
                                  </p:childTnLst>
                                </p:cTn>
                              </p:par>
                              <p:par>
                                <p:cTn id="11" presetID="9" presetClass="emph" presetSubtype="0" grpId="0" nodeType="withEffect">
                                  <p:stCondLst>
                                    <p:cond delay="0"/>
                                  </p:stCondLst>
                                  <p:childTnLst>
                                    <p:set>
                                      <p:cBhvr>
                                        <p:cTn id="12" dur="indefinite"/>
                                        <p:tgtEl>
                                          <p:spTgt spid="24"/>
                                        </p:tgtEl>
                                        <p:attrNameLst>
                                          <p:attrName>style.opacity</p:attrName>
                                        </p:attrNameLst>
                                      </p:cBhvr>
                                      <p:to>
                                        <p:strVal val="0.5"/>
                                      </p:to>
                                    </p:set>
                                    <p:animEffect filter="image" prLst="opacity: 0.5">
                                      <p:cBhvr rctx="IE">
                                        <p:cTn id="13" dur="indefinite"/>
                                        <p:tgtEl>
                                          <p:spTgt spid="24"/>
                                        </p:tgtEl>
                                      </p:cBhvr>
                                    </p:animEffect>
                                  </p:childTnLst>
                                </p:cTn>
                              </p:par>
                              <p:par>
                                <p:cTn id="14" presetID="1" presetClass="emph" presetSubtype="2" fill="hold" nodeType="withEffect">
                                  <p:stCondLst>
                                    <p:cond delay="0"/>
                                  </p:stCondLst>
                                  <p:childTnLst>
                                    <p:animClr clrSpc="rgb" dir="cw">
                                      <p:cBhvr>
                                        <p:cTn id="15" dur="2000" fill="hold"/>
                                        <p:tgtEl>
                                          <p:spTgt spid="16"/>
                                        </p:tgtEl>
                                        <p:attrNameLst>
                                          <p:attrName>fillcolor</p:attrName>
                                        </p:attrNameLst>
                                      </p:cBhvr>
                                      <p:to>
                                        <a:srgbClr val="00B050"/>
                                      </p:to>
                                    </p:animClr>
                                    <p:set>
                                      <p:cBhvr>
                                        <p:cTn id="16" dur="2000" fill="hold"/>
                                        <p:tgtEl>
                                          <p:spTgt spid="16"/>
                                        </p:tgtEl>
                                        <p:attrNameLst>
                                          <p:attrName>fill.type</p:attrName>
                                        </p:attrNameLst>
                                      </p:cBhvr>
                                      <p:to>
                                        <p:strVal val="solid"/>
                                      </p:to>
                                    </p:set>
                                    <p:set>
                                      <p:cBhvr>
                                        <p:cTn id="17" dur="2000" fill="hold"/>
                                        <p:tgtEl>
                                          <p:spTgt spid="1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0" grpId="0" animBg="1"/>
      <p:bldP spid="2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997FF"/>
        </a:solidFill>
        <a:effectLst/>
      </p:bgPr>
    </p:bg>
    <p:spTree>
      <p:nvGrpSpPr>
        <p:cNvPr id="1" name="">
          <a:extLst>
            <a:ext uri="{FF2B5EF4-FFF2-40B4-BE49-F238E27FC236}">
              <a16:creationId xmlns:a16="http://schemas.microsoft.com/office/drawing/2014/main" id="{30089963-23C2-7BAD-7ABE-03F7710398B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DF0B52-C777-7EC6-D345-8FC4D32E891B}"/>
              </a:ext>
            </a:extLst>
          </p:cNvPr>
          <p:cNvSpPr txBox="1"/>
          <p:nvPr/>
        </p:nvSpPr>
        <p:spPr>
          <a:xfrm>
            <a:off x="994557" y="511955"/>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4" name="Rounded Rectangle 3">
            <a:extLst>
              <a:ext uri="{FF2B5EF4-FFF2-40B4-BE49-F238E27FC236}">
                <a16:creationId xmlns:a16="http://schemas.microsoft.com/office/drawing/2014/main" id="{60675CE2-E771-762F-8A81-75093AE7ECC6}"/>
              </a:ext>
            </a:extLst>
          </p:cNvPr>
          <p:cNvSpPr/>
          <p:nvPr/>
        </p:nvSpPr>
        <p:spPr>
          <a:xfrm>
            <a:off x="1004000" y="1349948"/>
            <a:ext cx="16280000" cy="2075905"/>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a:extLst>
              <a:ext uri="{FF2B5EF4-FFF2-40B4-BE49-F238E27FC236}">
                <a16:creationId xmlns:a16="http://schemas.microsoft.com/office/drawing/2014/main" id="{6E2CA003-FF69-F4DA-5201-971036BDA862}"/>
              </a:ext>
            </a:extLst>
          </p:cNvPr>
          <p:cNvSpPr txBox="1"/>
          <p:nvPr/>
        </p:nvSpPr>
        <p:spPr>
          <a:xfrm>
            <a:off x="1510086" y="1680276"/>
            <a:ext cx="14680000" cy="1323439"/>
          </a:xfrm>
          <a:prstGeom prst="rect">
            <a:avLst/>
          </a:prstGeom>
          <a:noFill/>
        </p:spPr>
        <p:txBody>
          <a:bodyPr wrap="square" anchor="ctr">
            <a:spAutoFit/>
          </a:bodyPr>
          <a:lstStyle/>
          <a:p>
            <a:pPr lvl="0">
              <a:defRPr/>
            </a:pPr>
            <a:r>
              <a:rPr lang="en-US" sz="4000" b="1" dirty="0">
                <a:solidFill>
                  <a:srgbClr val="002B11"/>
                </a:solidFill>
                <a:latin typeface="Poppins"/>
                <a:cs typeface="Arial"/>
                <a:sym typeface="Arial"/>
              </a:rPr>
              <a:t>What type of communication is visible only to internal employees?</a:t>
            </a:r>
            <a:endParaRPr kumimoji="0" sz="4000" b="1"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11" name="TextBox 10">
            <a:extLst>
              <a:ext uri="{FF2B5EF4-FFF2-40B4-BE49-F238E27FC236}">
                <a16:creationId xmlns:a16="http://schemas.microsoft.com/office/drawing/2014/main" id="{824B2669-9F8D-1AAF-ECC7-8CF65BFD9440}"/>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
        <p:nvSpPr>
          <p:cNvPr id="10" name="Rounded Rectangle 3">
            <a:extLst>
              <a:ext uri="{FF2B5EF4-FFF2-40B4-BE49-F238E27FC236}">
                <a16:creationId xmlns:a16="http://schemas.microsoft.com/office/drawing/2014/main" id="{3F807688-A3D0-83C2-650C-88C18B19E230}"/>
              </a:ext>
            </a:extLst>
          </p:cNvPr>
          <p:cNvSpPr/>
          <p:nvPr/>
        </p:nvSpPr>
        <p:spPr>
          <a:xfrm>
            <a:off x="1004000" y="383733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4" name="TextBox 13">
            <a:extLst>
              <a:ext uri="{FF2B5EF4-FFF2-40B4-BE49-F238E27FC236}">
                <a16:creationId xmlns:a16="http://schemas.microsoft.com/office/drawing/2014/main" id="{F7E573BA-4A3F-7407-B18E-BAD9D0C0ADF9}"/>
              </a:ext>
            </a:extLst>
          </p:cNvPr>
          <p:cNvSpPr txBox="1"/>
          <p:nvPr/>
        </p:nvSpPr>
        <p:spPr>
          <a:xfrm>
            <a:off x="1510086" y="4093416"/>
            <a:ext cx="14680000" cy="584775"/>
          </a:xfrm>
          <a:prstGeom prst="rect">
            <a:avLst/>
          </a:prstGeom>
          <a:noFill/>
        </p:spPr>
        <p:txBody>
          <a:bodyPr wrap="square" anchor="ctr">
            <a:spAutoFit/>
          </a:bodyPr>
          <a:lstStyle/>
          <a:p>
            <a:pPr lvl="0">
              <a:defRPr/>
            </a:pPr>
            <a:r>
              <a:rPr lang="en-US" sz="3200" dirty="0">
                <a:solidFill>
                  <a:srgbClr val="002B11"/>
                </a:solidFill>
                <a:latin typeface="Poppins"/>
                <a:cs typeface="Arial"/>
                <a:sym typeface="Arial"/>
              </a:rPr>
              <a:t>Public Reply</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16" name="Rounded Rectangle 3">
            <a:extLst>
              <a:ext uri="{FF2B5EF4-FFF2-40B4-BE49-F238E27FC236}">
                <a16:creationId xmlns:a16="http://schemas.microsoft.com/office/drawing/2014/main" id="{7896AF48-4EB4-BCA6-87D2-96365FBD6643}"/>
              </a:ext>
            </a:extLst>
          </p:cNvPr>
          <p:cNvSpPr/>
          <p:nvPr/>
        </p:nvSpPr>
        <p:spPr>
          <a:xfrm>
            <a:off x="1004000" y="5203639"/>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8" name="TextBox 17">
            <a:extLst>
              <a:ext uri="{FF2B5EF4-FFF2-40B4-BE49-F238E27FC236}">
                <a16:creationId xmlns:a16="http://schemas.microsoft.com/office/drawing/2014/main" id="{6B648DA1-46A9-15B9-4537-DB23E44BFDCA}"/>
              </a:ext>
            </a:extLst>
          </p:cNvPr>
          <p:cNvSpPr txBox="1"/>
          <p:nvPr/>
        </p:nvSpPr>
        <p:spPr>
          <a:xfrm>
            <a:off x="1510086" y="5459721"/>
            <a:ext cx="14680000" cy="584775"/>
          </a:xfrm>
          <a:prstGeom prst="rect">
            <a:avLst/>
          </a:prstGeom>
          <a:noFill/>
        </p:spPr>
        <p:txBody>
          <a:bodyPr wrap="square" anchor="ctr">
            <a:spAutoFit/>
          </a:bodyPr>
          <a:lstStyle>
            <a:defPPr marR="0" lvl="0" algn="l" rtl="0">
              <a:lnSpc>
                <a:spcPct val="100000"/>
              </a:lnSpc>
              <a:spcBef>
                <a:spcPts val="0"/>
              </a:spcBef>
              <a:spcAft>
                <a:spcPts val="0"/>
              </a:spcAft>
            </a:defPPr>
            <a:lvl1pPr>
              <a:buClrTx/>
              <a:defRPr sz="3200" kern="1200">
                <a:solidFill>
                  <a:srgbClr val="002B11"/>
                </a:solidFill>
                <a:latin typeface="Poppins"/>
                <a:ea typeface="+mn-ea"/>
              </a:defRPr>
            </a:lvl1pPr>
          </a:lstStyle>
          <a:p>
            <a:pPr lvl="0">
              <a:defRPr/>
            </a:pPr>
            <a:r>
              <a:rPr lang="en-US" dirty="0">
                <a:cs typeface="Arial"/>
                <a:sym typeface="Arial"/>
              </a:rPr>
              <a:t>Email to customer</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20" name="Rounded Rectangle 3">
            <a:extLst>
              <a:ext uri="{FF2B5EF4-FFF2-40B4-BE49-F238E27FC236}">
                <a16:creationId xmlns:a16="http://schemas.microsoft.com/office/drawing/2014/main" id="{22CAEA74-0BF9-436F-3BA1-49FA53593F30}"/>
              </a:ext>
            </a:extLst>
          </p:cNvPr>
          <p:cNvSpPr/>
          <p:nvPr/>
        </p:nvSpPr>
        <p:spPr>
          <a:xfrm>
            <a:off x="1000000" y="656994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2" name="TextBox 21">
            <a:extLst>
              <a:ext uri="{FF2B5EF4-FFF2-40B4-BE49-F238E27FC236}">
                <a16:creationId xmlns:a16="http://schemas.microsoft.com/office/drawing/2014/main" id="{C6F41A3B-1BEB-4397-7A97-4E45FB19BB34}"/>
              </a:ext>
            </a:extLst>
          </p:cNvPr>
          <p:cNvSpPr txBox="1"/>
          <p:nvPr/>
        </p:nvSpPr>
        <p:spPr>
          <a:xfrm>
            <a:off x="1506086" y="6826026"/>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lvl="0">
              <a:defRPr/>
            </a:pPr>
            <a:r>
              <a:rPr lang="en-US" dirty="0">
                <a:cs typeface="Arial"/>
                <a:sym typeface="Arial"/>
              </a:rPr>
              <a:t>Internal Note</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24" name="Rounded Rectangle 3">
            <a:extLst>
              <a:ext uri="{FF2B5EF4-FFF2-40B4-BE49-F238E27FC236}">
                <a16:creationId xmlns:a16="http://schemas.microsoft.com/office/drawing/2014/main" id="{2AF99D2A-66DD-4FB6-9BAE-9FF330054672}"/>
              </a:ext>
            </a:extLst>
          </p:cNvPr>
          <p:cNvSpPr/>
          <p:nvPr/>
        </p:nvSpPr>
        <p:spPr>
          <a:xfrm>
            <a:off x="1000000" y="7949215"/>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6" name="TextBox 25">
            <a:extLst>
              <a:ext uri="{FF2B5EF4-FFF2-40B4-BE49-F238E27FC236}">
                <a16:creationId xmlns:a16="http://schemas.microsoft.com/office/drawing/2014/main" id="{25BA2D9E-B185-550A-C7EC-EE051D85D573}"/>
              </a:ext>
            </a:extLst>
          </p:cNvPr>
          <p:cNvSpPr txBox="1"/>
          <p:nvPr/>
        </p:nvSpPr>
        <p:spPr>
          <a:xfrm>
            <a:off x="1506086" y="8205297"/>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lvl="0">
              <a:defRPr/>
            </a:pPr>
            <a:r>
              <a:rPr lang="en-US" dirty="0">
                <a:cs typeface="Arial"/>
                <a:sym typeface="Arial"/>
              </a:rPr>
              <a:t>Ticket details</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pic>
        <p:nvPicPr>
          <p:cNvPr id="6" name="Picture 5">
            <a:extLst>
              <a:ext uri="{FF2B5EF4-FFF2-40B4-BE49-F238E27FC236}">
                <a16:creationId xmlns:a16="http://schemas.microsoft.com/office/drawing/2014/main" id="{4B5C7CA1-5907-1E99-8FC8-800C4160C578}"/>
              </a:ext>
            </a:extLst>
          </p:cNvPr>
          <p:cNvPicPr>
            <a:picLocks noChangeAspect="1"/>
          </p:cNvPicPr>
          <p:nvPr/>
        </p:nvPicPr>
        <p:blipFill>
          <a:blip r:embed="rId2"/>
          <a:srcRect l="60461" t="63789"/>
          <a:stretch>
            <a:fillRect/>
          </a:stretch>
        </p:blipFill>
        <p:spPr>
          <a:xfrm>
            <a:off x="15687275" y="1935947"/>
            <a:ext cx="1601449" cy="1747475"/>
          </a:xfrm>
          <a:prstGeom prst="rect">
            <a:avLst/>
          </a:prstGeom>
        </p:spPr>
      </p:pic>
    </p:spTree>
    <p:extLst>
      <p:ext uri="{BB962C8B-B14F-4D97-AF65-F5344CB8AC3E}">
        <p14:creationId xmlns:p14="http://schemas.microsoft.com/office/powerpoint/2010/main" val="42806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10"/>
                                        </p:tgtEl>
                                        <p:attrNameLst>
                                          <p:attrName>style.opacity</p:attrName>
                                        </p:attrNameLst>
                                      </p:cBhvr>
                                      <p:to>
                                        <p:strVal val="0.5"/>
                                      </p:to>
                                    </p:set>
                                    <p:animEffect filter="image" prLst="opacity: 0.5">
                                      <p:cBhvr rctx="IE">
                                        <p:cTn id="7" dur="indefinite"/>
                                        <p:tgtEl>
                                          <p:spTgt spid="10"/>
                                        </p:tgtEl>
                                      </p:cBhvr>
                                    </p:animEffect>
                                  </p:childTnLst>
                                </p:cTn>
                              </p:par>
                              <p:par>
                                <p:cTn id="8" presetID="1" presetClass="emph" presetSubtype="2" fill="hold" nodeType="withEffect">
                                  <p:stCondLst>
                                    <p:cond delay="0"/>
                                  </p:stCondLst>
                                  <p:childTnLst>
                                    <p:animClr clrSpc="rgb" dir="cw">
                                      <p:cBhvr>
                                        <p:cTn id="9" dur="2000" fill="hold"/>
                                        <p:tgtEl>
                                          <p:spTgt spid="20"/>
                                        </p:tgtEl>
                                        <p:attrNameLst>
                                          <p:attrName>fillcolor</p:attrName>
                                        </p:attrNameLst>
                                      </p:cBhvr>
                                      <p:to>
                                        <a:srgbClr val="00B050"/>
                                      </p:to>
                                    </p:animClr>
                                    <p:set>
                                      <p:cBhvr>
                                        <p:cTn id="10" dur="2000" fill="hold"/>
                                        <p:tgtEl>
                                          <p:spTgt spid="20"/>
                                        </p:tgtEl>
                                        <p:attrNameLst>
                                          <p:attrName>fill.type</p:attrName>
                                        </p:attrNameLst>
                                      </p:cBhvr>
                                      <p:to>
                                        <p:strVal val="solid"/>
                                      </p:to>
                                    </p:set>
                                    <p:set>
                                      <p:cBhvr>
                                        <p:cTn id="11" dur="2000" fill="hold"/>
                                        <p:tgtEl>
                                          <p:spTgt spid="20"/>
                                        </p:tgtEl>
                                        <p:attrNameLst>
                                          <p:attrName>fill.on</p:attrName>
                                        </p:attrNameLst>
                                      </p:cBhvr>
                                      <p:to>
                                        <p:strVal val="true"/>
                                      </p:to>
                                    </p:set>
                                  </p:childTnLst>
                                </p:cTn>
                              </p:par>
                              <p:par>
                                <p:cTn id="12" presetID="9" presetClass="emph" presetSubtype="0" grpId="0" nodeType="withEffect">
                                  <p:stCondLst>
                                    <p:cond delay="0"/>
                                  </p:stCondLst>
                                  <p:childTnLst>
                                    <p:set>
                                      <p:cBhvr>
                                        <p:cTn id="13" dur="indefinite"/>
                                        <p:tgtEl>
                                          <p:spTgt spid="24"/>
                                        </p:tgtEl>
                                        <p:attrNameLst>
                                          <p:attrName>style.opacity</p:attrName>
                                        </p:attrNameLst>
                                      </p:cBhvr>
                                      <p:to>
                                        <p:strVal val="0.5"/>
                                      </p:to>
                                    </p:set>
                                    <p:animEffect filter="image" prLst="opacity: 0.5">
                                      <p:cBhvr rctx="IE">
                                        <p:cTn id="14" dur="indefinite"/>
                                        <p:tgtEl>
                                          <p:spTgt spid="24"/>
                                        </p:tgtEl>
                                      </p:cBhvr>
                                    </p:animEffect>
                                  </p:childTnLst>
                                </p:cTn>
                              </p:par>
                              <p:par>
                                <p:cTn id="15" presetID="9" presetClass="emph" presetSubtype="0" grpId="0" nodeType="withEffect">
                                  <p:stCondLst>
                                    <p:cond delay="0"/>
                                  </p:stCondLst>
                                  <p:childTnLst>
                                    <p:set>
                                      <p:cBhvr>
                                        <p:cTn id="16" dur="indefinite"/>
                                        <p:tgtEl>
                                          <p:spTgt spid="16"/>
                                        </p:tgtEl>
                                        <p:attrNameLst>
                                          <p:attrName>style.opacity</p:attrName>
                                        </p:attrNameLst>
                                      </p:cBhvr>
                                      <p:to>
                                        <p:strVal val="0.5"/>
                                      </p:to>
                                    </p:set>
                                    <p:animEffect filter="image" prLst="opacity: 0.5">
                                      <p:cBhvr rctx="IE">
                                        <p:cTn id="17" dur="indefinite"/>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2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3EEBE"/>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B007505A-3770-06CF-9D55-7D2C35099AEC}"/>
              </a:ext>
            </a:extLst>
          </p:cNvPr>
          <p:cNvSpPr/>
          <p:nvPr/>
        </p:nvSpPr>
        <p:spPr>
          <a:xfrm>
            <a:off x="5249895" y="5895958"/>
            <a:ext cx="3424009" cy="1248441"/>
          </a:xfrm>
          <a:prstGeom prst="roundRect">
            <a:avLst/>
          </a:prstGeom>
          <a:solidFill>
            <a:srgbClr val="002B1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Rounded Corners 16">
            <a:extLst>
              <a:ext uri="{FF2B5EF4-FFF2-40B4-BE49-F238E27FC236}">
                <a16:creationId xmlns:a16="http://schemas.microsoft.com/office/drawing/2014/main" id="{8875AD5F-C5C4-4F32-542C-0254275D6779}"/>
              </a:ext>
            </a:extLst>
          </p:cNvPr>
          <p:cNvSpPr/>
          <p:nvPr/>
        </p:nvSpPr>
        <p:spPr>
          <a:xfrm>
            <a:off x="5326095" y="6001391"/>
            <a:ext cx="3424009" cy="1248441"/>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TextBox 1"/>
          <p:cNvSpPr txBox="1"/>
          <p:nvPr/>
        </p:nvSpPr>
        <p:spPr>
          <a:xfrm>
            <a:off x="1000000" y="700001"/>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3" name="TextBox 2"/>
          <p:cNvSpPr txBox="1"/>
          <p:nvPr/>
        </p:nvSpPr>
        <p:spPr>
          <a:xfrm>
            <a:off x="1000000" y="1395308"/>
            <a:ext cx="16200000" cy="1169551"/>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0" b="1" i="0" u="none" strike="noStrike" kern="1200" cap="none" spc="0" normalizeH="0" baseline="0" noProof="0" dirty="0">
                <a:ln>
                  <a:noFill/>
                </a:ln>
                <a:solidFill>
                  <a:srgbClr val="002B11"/>
                </a:solidFill>
                <a:effectLst/>
                <a:uLnTx/>
                <a:uFillTx/>
                <a:latin typeface="Poppins Black"/>
                <a:ea typeface="+mn-ea"/>
                <a:cs typeface="Arial"/>
                <a:sym typeface="Arial"/>
              </a:rPr>
              <a:t>True or False?</a:t>
            </a:r>
          </a:p>
        </p:txBody>
      </p:sp>
      <p:sp>
        <p:nvSpPr>
          <p:cNvPr id="4" name="Rounded Rectangle 3"/>
          <p:cNvSpPr/>
          <p:nvPr/>
        </p:nvSpPr>
        <p:spPr>
          <a:xfrm>
            <a:off x="1000000" y="3048115"/>
            <a:ext cx="16280000" cy="2218544"/>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p:cNvSpPr txBox="1"/>
          <p:nvPr/>
        </p:nvSpPr>
        <p:spPr>
          <a:xfrm>
            <a:off x="1564165" y="3527988"/>
            <a:ext cx="14680000" cy="1323439"/>
          </a:xfrm>
          <a:prstGeom prst="rect">
            <a:avLst/>
          </a:prstGeom>
          <a:noFill/>
        </p:spPr>
        <p:txBody>
          <a:bodyPr wrap="square" anchor="ctr">
            <a:spAutoFit/>
          </a:bodyPr>
          <a:lstStyle/>
          <a:p>
            <a:pPr lvl="0">
              <a:defRPr/>
            </a:pPr>
            <a:r>
              <a:rPr lang="en-US" sz="4000" b="1" dirty="0">
                <a:solidFill>
                  <a:srgbClr val="002B11"/>
                </a:solidFill>
                <a:latin typeface="Poppins"/>
                <a:cs typeface="Arial"/>
                <a:sym typeface="Arial"/>
              </a:rPr>
              <a:t>Agents should always start their day by processing reopened tickets before new ones.</a:t>
            </a:r>
            <a:endParaRPr kumimoji="0" sz="4000" b="1"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7" name="Rectangle: Rounded Corners 6">
            <a:extLst>
              <a:ext uri="{FF2B5EF4-FFF2-40B4-BE49-F238E27FC236}">
                <a16:creationId xmlns:a16="http://schemas.microsoft.com/office/drawing/2014/main" id="{597AF034-BA1F-A326-423B-9CF6721F06FA}"/>
              </a:ext>
            </a:extLst>
          </p:cNvPr>
          <p:cNvSpPr/>
          <p:nvPr/>
        </p:nvSpPr>
        <p:spPr>
          <a:xfrm>
            <a:off x="1080725" y="5843242"/>
            <a:ext cx="3424009" cy="1248441"/>
          </a:xfrm>
          <a:prstGeom prst="roundRect">
            <a:avLst/>
          </a:prstGeom>
          <a:solidFill>
            <a:srgbClr val="002B1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Rounded Corners 8">
            <a:extLst>
              <a:ext uri="{FF2B5EF4-FFF2-40B4-BE49-F238E27FC236}">
                <a16:creationId xmlns:a16="http://schemas.microsoft.com/office/drawing/2014/main" id="{272F48A3-5C19-D568-A2CC-70BAC16E2A50}"/>
              </a:ext>
            </a:extLst>
          </p:cNvPr>
          <p:cNvSpPr/>
          <p:nvPr/>
        </p:nvSpPr>
        <p:spPr>
          <a:xfrm>
            <a:off x="1156925" y="5948675"/>
            <a:ext cx="3424009" cy="1248441"/>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2"/>
          <p:cNvSpPr txBox="1"/>
          <p:nvPr/>
        </p:nvSpPr>
        <p:spPr>
          <a:xfrm>
            <a:off x="2106929" y="6257424"/>
            <a:ext cx="1524000" cy="63094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500" b="1" i="0" u="none" strike="noStrike" kern="1200" cap="none" spc="0" normalizeH="0" baseline="0" noProof="0" dirty="0">
                <a:ln>
                  <a:noFill/>
                </a:ln>
                <a:solidFill>
                  <a:srgbClr val="002B11"/>
                </a:solidFill>
                <a:effectLst/>
                <a:uLnTx/>
                <a:uFillTx/>
                <a:latin typeface="Poppins Black"/>
                <a:ea typeface="+mn-ea"/>
                <a:cs typeface="Arial"/>
                <a:sym typeface="Arial"/>
              </a:rPr>
              <a:t>TRUE</a:t>
            </a:r>
          </a:p>
        </p:txBody>
      </p:sp>
      <p:sp>
        <p:nvSpPr>
          <p:cNvPr id="16" name="TextBox 15">
            <a:extLst>
              <a:ext uri="{FF2B5EF4-FFF2-40B4-BE49-F238E27FC236}">
                <a16:creationId xmlns:a16="http://schemas.microsoft.com/office/drawing/2014/main" id="{075DA601-95A4-B730-921B-A096D5C46115}"/>
              </a:ext>
            </a:extLst>
          </p:cNvPr>
          <p:cNvSpPr txBox="1"/>
          <p:nvPr/>
        </p:nvSpPr>
        <p:spPr>
          <a:xfrm>
            <a:off x="6236970" y="6260630"/>
            <a:ext cx="1790700" cy="63094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002B11"/>
                </a:solidFill>
                <a:effectLst/>
                <a:uLnTx/>
                <a:uFillTx/>
                <a:latin typeface="Poppins Black"/>
                <a:ea typeface="+mn-ea"/>
                <a:cs typeface="Arial"/>
                <a:sym typeface="Arial"/>
              </a:rPr>
              <a:t>FALSE</a:t>
            </a:r>
            <a:endParaRPr kumimoji="0" sz="3500" b="1" i="0" u="none" strike="noStrike" kern="1200" cap="none" spc="0" normalizeH="0" baseline="0" noProof="0" dirty="0">
              <a:ln>
                <a:noFill/>
              </a:ln>
              <a:solidFill>
                <a:srgbClr val="002B11"/>
              </a:solidFill>
              <a:effectLst/>
              <a:uLnTx/>
              <a:uFillTx/>
              <a:latin typeface="Poppins Black"/>
              <a:ea typeface="+mn-ea"/>
              <a:cs typeface="Arial"/>
              <a:sym typeface="Arial"/>
            </a:endParaRPr>
          </a:p>
        </p:txBody>
      </p:sp>
      <p:pic>
        <p:nvPicPr>
          <p:cNvPr id="19" name="Picture 18">
            <a:extLst>
              <a:ext uri="{FF2B5EF4-FFF2-40B4-BE49-F238E27FC236}">
                <a16:creationId xmlns:a16="http://schemas.microsoft.com/office/drawing/2014/main" id="{04771DE0-7BF9-E41C-7B90-9EE045B0D86D}"/>
              </a:ext>
            </a:extLst>
          </p:cNvPr>
          <p:cNvPicPr>
            <a:picLocks noChangeAspect="1"/>
          </p:cNvPicPr>
          <p:nvPr/>
        </p:nvPicPr>
        <p:blipFill>
          <a:blip r:embed="rId2"/>
          <a:srcRect l="60461" t="63789"/>
          <a:stretch>
            <a:fillRect/>
          </a:stretch>
        </p:blipFill>
        <p:spPr>
          <a:xfrm>
            <a:off x="15258551" y="3815726"/>
            <a:ext cx="1601449" cy="1747475"/>
          </a:xfrm>
          <a:prstGeom prst="rect">
            <a:avLst/>
          </a:prstGeom>
        </p:spPr>
      </p:pic>
      <p:pic>
        <p:nvPicPr>
          <p:cNvPr id="21" name="Picture 20">
            <a:extLst>
              <a:ext uri="{FF2B5EF4-FFF2-40B4-BE49-F238E27FC236}">
                <a16:creationId xmlns:a16="http://schemas.microsoft.com/office/drawing/2014/main" id="{0A0B5FB7-6759-74B4-462E-02A1ADAE39E3}"/>
              </a:ext>
            </a:extLst>
          </p:cNvPr>
          <p:cNvPicPr>
            <a:picLocks noChangeAspect="1"/>
          </p:cNvPicPr>
          <p:nvPr/>
        </p:nvPicPr>
        <p:blipFill>
          <a:blip r:embed="rId3"/>
          <a:srcRect l="64628" t="2587" b="65063"/>
          <a:stretch>
            <a:fillRect/>
          </a:stretch>
        </p:blipFill>
        <p:spPr>
          <a:xfrm>
            <a:off x="10695323" y="6368984"/>
            <a:ext cx="2036016" cy="2218544"/>
          </a:xfrm>
          <a:prstGeom prst="rect">
            <a:avLst/>
          </a:prstGeom>
        </p:spPr>
      </p:pic>
      <p:sp>
        <p:nvSpPr>
          <p:cNvPr id="22" name="Rectangle: Rounded Corners 21">
            <a:extLst>
              <a:ext uri="{FF2B5EF4-FFF2-40B4-BE49-F238E27FC236}">
                <a16:creationId xmlns:a16="http://schemas.microsoft.com/office/drawing/2014/main" id="{8CAA1E1D-84D5-A376-7198-6674888A462B}"/>
              </a:ext>
            </a:extLst>
          </p:cNvPr>
          <p:cNvSpPr/>
          <p:nvPr/>
        </p:nvSpPr>
        <p:spPr>
          <a:xfrm>
            <a:off x="12754199" y="6467462"/>
            <a:ext cx="3733801" cy="1495438"/>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AF4755A6-EB97-F7EB-68D1-9F2206EBF22B}"/>
              </a:ext>
            </a:extLst>
          </p:cNvPr>
          <p:cNvSpPr txBox="1"/>
          <p:nvPr/>
        </p:nvSpPr>
        <p:spPr>
          <a:xfrm>
            <a:off x="13124822" y="6884236"/>
            <a:ext cx="3152000" cy="523220"/>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2800" b="0" i="0" u="none" strike="noStrike" kern="1200" cap="none" spc="0" normalizeH="0" baseline="0" noProof="0" dirty="0">
                <a:ln>
                  <a:noFill/>
                </a:ln>
                <a:solidFill>
                  <a:srgbClr val="002B11"/>
                </a:solidFill>
                <a:effectLst/>
                <a:uLnTx/>
                <a:uFillTx/>
                <a:latin typeface="Poppins"/>
                <a:ea typeface="+mn-ea"/>
                <a:cs typeface="Arial"/>
                <a:sym typeface="Arial"/>
              </a:rPr>
              <a:t>You’re right!</a:t>
            </a:r>
            <a:endParaRPr kumimoji="0" sz="28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14" name="TextBox 13">
            <a:extLst>
              <a:ext uri="{FF2B5EF4-FFF2-40B4-BE49-F238E27FC236}">
                <a16:creationId xmlns:a16="http://schemas.microsoft.com/office/drawing/2014/main" id="{7FA60069-8C8A-3E82-31FA-2AB7B675E7EF}"/>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 presetClass="emph" presetSubtype="2" fill="hold" nodeType="withEffect">
                                  <p:stCondLst>
                                    <p:cond delay="0"/>
                                  </p:stCondLst>
                                  <p:childTnLst>
                                    <p:animClr clrSpc="rgb" dir="cw">
                                      <p:cBhvr>
                                        <p:cTn id="15" dur="2000" fill="hold"/>
                                        <p:tgtEl>
                                          <p:spTgt spid="9"/>
                                        </p:tgtEl>
                                        <p:attrNameLst>
                                          <p:attrName>fillcolor</p:attrName>
                                        </p:attrNameLst>
                                      </p:cBhvr>
                                      <p:to>
                                        <a:srgbClr val="00B050"/>
                                      </p:to>
                                    </p:animClr>
                                    <p:set>
                                      <p:cBhvr>
                                        <p:cTn id="16" dur="2000" fill="hold"/>
                                        <p:tgtEl>
                                          <p:spTgt spid="9"/>
                                        </p:tgtEl>
                                        <p:attrNameLst>
                                          <p:attrName>fill.type</p:attrName>
                                        </p:attrNameLst>
                                      </p:cBhvr>
                                      <p:to>
                                        <p:strVal val="solid"/>
                                      </p:to>
                                    </p:set>
                                    <p:set>
                                      <p:cBhvr>
                                        <p:cTn id="17" dur="2000" fill="hold"/>
                                        <p:tgtEl>
                                          <p:spTgt spid="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997FF"/>
        </a:solidFill>
        <a:effectLst/>
      </p:bgPr>
    </p:bg>
    <p:spTree>
      <p:nvGrpSpPr>
        <p:cNvPr id="1" name="">
          <a:extLst>
            <a:ext uri="{FF2B5EF4-FFF2-40B4-BE49-F238E27FC236}">
              <a16:creationId xmlns:a16="http://schemas.microsoft.com/office/drawing/2014/main" id="{4DE5C996-C06F-BEA4-77C4-36F50F9E027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286C99-F5E2-A3A0-D750-77110B95485F}"/>
              </a:ext>
            </a:extLst>
          </p:cNvPr>
          <p:cNvSpPr txBox="1"/>
          <p:nvPr/>
        </p:nvSpPr>
        <p:spPr>
          <a:xfrm>
            <a:off x="994557" y="511955"/>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4" name="Rounded Rectangle 3">
            <a:extLst>
              <a:ext uri="{FF2B5EF4-FFF2-40B4-BE49-F238E27FC236}">
                <a16:creationId xmlns:a16="http://schemas.microsoft.com/office/drawing/2014/main" id="{F9876985-1358-AE9C-781C-11BFB24637CE}"/>
              </a:ext>
            </a:extLst>
          </p:cNvPr>
          <p:cNvSpPr/>
          <p:nvPr/>
        </p:nvSpPr>
        <p:spPr>
          <a:xfrm>
            <a:off x="1004000" y="1349948"/>
            <a:ext cx="16280000" cy="2075905"/>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a:extLst>
              <a:ext uri="{FF2B5EF4-FFF2-40B4-BE49-F238E27FC236}">
                <a16:creationId xmlns:a16="http://schemas.microsoft.com/office/drawing/2014/main" id="{6634576F-2249-980B-938F-1B789D69F5BC}"/>
              </a:ext>
            </a:extLst>
          </p:cNvPr>
          <p:cNvSpPr txBox="1"/>
          <p:nvPr/>
        </p:nvSpPr>
        <p:spPr>
          <a:xfrm>
            <a:off x="1510086" y="1680276"/>
            <a:ext cx="14680000" cy="1323439"/>
          </a:xfrm>
          <a:prstGeom prst="rect">
            <a:avLst/>
          </a:prstGeom>
          <a:noFill/>
        </p:spPr>
        <p:txBody>
          <a:bodyPr wrap="square" anchor="ctr">
            <a:spAutoFit/>
          </a:bodyPr>
          <a:lstStyle/>
          <a:p>
            <a:pPr lvl="0">
              <a:defRPr/>
            </a:pPr>
            <a:r>
              <a:rPr lang="en-US" sz="4000" b="1" dirty="0">
                <a:solidFill>
                  <a:srgbClr val="002B11"/>
                </a:solidFill>
                <a:latin typeface="Poppins"/>
                <a:cs typeface="Arial"/>
                <a:sym typeface="Arial"/>
              </a:rPr>
              <a:t>Which ticket status indicates that the case has been resolved, and no further action is required?</a:t>
            </a:r>
            <a:endParaRPr kumimoji="0" sz="4000" b="1"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11" name="TextBox 10">
            <a:extLst>
              <a:ext uri="{FF2B5EF4-FFF2-40B4-BE49-F238E27FC236}">
                <a16:creationId xmlns:a16="http://schemas.microsoft.com/office/drawing/2014/main" id="{BB0F5B3A-3075-74E9-09C2-D2681BF51CE0}"/>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
        <p:nvSpPr>
          <p:cNvPr id="10" name="Rounded Rectangle 3">
            <a:extLst>
              <a:ext uri="{FF2B5EF4-FFF2-40B4-BE49-F238E27FC236}">
                <a16:creationId xmlns:a16="http://schemas.microsoft.com/office/drawing/2014/main" id="{DD4BF052-FAF6-0E41-BDC6-6F99F5BECB5F}"/>
              </a:ext>
            </a:extLst>
          </p:cNvPr>
          <p:cNvSpPr/>
          <p:nvPr/>
        </p:nvSpPr>
        <p:spPr>
          <a:xfrm>
            <a:off x="1004000" y="383733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4" name="TextBox 13">
            <a:extLst>
              <a:ext uri="{FF2B5EF4-FFF2-40B4-BE49-F238E27FC236}">
                <a16:creationId xmlns:a16="http://schemas.microsoft.com/office/drawing/2014/main" id="{B1BE0F51-3F24-8D89-EA78-565F77E02471}"/>
              </a:ext>
            </a:extLst>
          </p:cNvPr>
          <p:cNvSpPr txBox="1"/>
          <p:nvPr/>
        </p:nvSpPr>
        <p:spPr>
          <a:xfrm>
            <a:off x="1510086" y="4093416"/>
            <a:ext cx="14680000" cy="584775"/>
          </a:xfrm>
          <a:prstGeom prst="rect">
            <a:avLst/>
          </a:prstGeom>
          <a:noFill/>
        </p:spPr>
        <p:txBody>
          <a:bodyPr wrap="square" anchor="ctr">
            <a:spAutoFit/>
          </a:bodyPr>
          <a:lstStyle/>
          <a:p>
            <a:pPr lvl="0">
              <a:defRPr/>
            </a:pPr>
            <a:r>
              <a:rPr lang="en-US" sz="3200" dirty="0">
                <a:solidFill>
                  <a:srgbClr val="002B11"/>
                </a:solidFill>
                <a:latin typeface="Poppins"/>
                <a:cs typeface="Arial"/>
                <a:sym typeface="Arial"/>
              </a:rPr>
              <a:t>New</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16" name="Rounded Rectangle 3">
            <a:extLst>
              <a:ext uri="{FF2B5EF4-FFF2-40B4-BE49-F238E27FC236}">
                <a16:creationId xmlns:a16="http://schemas.microsoft.com/office/drawing/2014/main" id="{6D3E00C6-C5D8-2F90-8FD7-8C1102934DCD}"/>
              </a:ext>
            </a:extLst>
          </p:cNvPr>
          <p:cNvSpPr/>
          <p:nvPr/>
        </p:nvSpPr>
        <p:spPr>
          <a:xfrm>
            <a:off x="1004000" y="5203639"/>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8" name="TextBox 17">
            <a:extLst>
              <a:ext uri="{FF2B5EF4-FFF2-40B4-BE49-F238E27FC236}">
                <a16:creationId xmlns:a16="http://schemas.microsoft.com/office/drawing/2014/main" id="{0A9AC0D2-3111-F37D-751D-2058E62872F0}"/>
              </a:ext>
            </a:extLst>
          </p:cNvPr>
          <p:cNvSpPr txBox="1"/>
          <p:nvPr/>
        </p:nvSpPr>
        <p:spPr>
          <a:xfrm>
            <a:off x="1510086" y="5459721"/>
            <a:ext cx="14680000" cy="584775"/>
          </a:xfrm>
          <a:prstGeom prst="rect">
            <a:avLst/>
          </a:prstGeom>
          <a:noFill/>
        </p:spPr>
        <p:txBody>
          <a:bodyPr wrap="square" anchor="ctr">
            <a:spAutoFit/>
          </a:bodyPr>
          <a:lstStyle>
            <a:defPPr marR="0" lvl="0" algn="l" rtl="0">
              <a:lnSpc>
                <a:spcPct val="100000"/>
              </a:lnSpc>
              <a:spcBef>
                <a:spcPts val="0"/>
              </a:spcBef>
              <a:spcAft>
                <a:spcPts val="0"/>
              </a:spcAft>
            </a:defPPr>
            <a:lvl1pPr>
              <a:buClrTx/>
              <a:defRPr sz="3200" kern="1200">
                <a:solidFill>
                  <a:srgbClr val="002B11"/>
                </a:solidFill>
                <a:latin typeface="Poppins"/>
                <a:ea typeface="+mn-ea"/>
              </a:defRPr>
            </a:lvl1pPr>
          </a:lstStyle>
          <a:p>
            <a:pPr lvl="0">
              <a:defRPr/>
            </a:pPr>
            <a:r>
              <a:rPr lang="en-US" dirty="0">
                <a:cs typeface="Arial"/>
                <a:sym typeface="Arial"/>
              </a:rPr>
              <a:t>Open</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20" name="Rounded Rectangle 3">
            <a:extLst>
              <a:ext uri="{FF2B5EF4-FFF2-40B4-BE49-F238E27FC236}">
                <a16:creationId xmlns:a16="http://schemas.microsoft.com/office/drawing/2014/main" id="{87FDF5CE-5CF7-33EF-0B3E-408610FE696F}"/>
              </a:ext>
            </a:extLst>
          </p:cNvPr>
          <p:cNvSpPr/>
          <p:nvPr/>
        </p:nvSpPr>
        <p:spPr>
          <a:xfrm>
            <a:off x="1000000" y="656994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2" name="TextBox 21">
            <a:extLst>
              <a:ext uri="{FF2B5EF4-FFF2-40B4-BE49-F238E27FC236}">
                <a16:creationId xmlns:a16="http://schemas.microsoft.com/office/drawing/2014/main" id="{DFEA8F93-03E6-D8FF-4C69-6EFDC44F9891}"/>
              </a:ext>
            </a:extLst>
          </p:cNvPr>
          <p:cNvSpPr txBox="1"/>
          <p:nvPr/>
        </p:nvSpPr>
        <p:spPr>
          <a:xfrm>
            <a:off x="1506086" y="6826026"/>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lvl="0">
              <a:defRPr/>
            </a:pPr>
            <a:r>
              <a:rPr lang="en-US" dirty="0">
                <a:cs typeface="Arial"/>
                <a:sym typeface="Arial"/>
              </a:rPr>
              <a:t>Solved</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24" name="Rounded Rectangle 3">
            <a:extLst>
              <a:ext uri="{FF2B5EF4-FFF2-40B4-BE49-F238E27FC236}">
                <a16:creationId xmlns:a16="http://schemas.microsoft.com/office/drawing/2014/main" id="{84864ACC-409E-3D74-8B7F-E545B0E90E76}"/>
              </a:ext>
            </a:extLst>
          </p:cNvPr>
          <p:cNvSpPr/>
          <p:nvPr/>
        </p:nvSpPr>
        <p:spPr>
          <a:xfrm>
            <a:off x="1000000" y="7949215"/>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6" name="TextBox 25">
            <a:extLst>
              <a:ext uri="{FF2B5EF4-FFF2-40B4-BE49-F238E27FC236}">
                <a16:creationId xmlns:a16="http://schemas.microsoft.com/office/drawing/2014/main" id="{5B811E85-0E75-D070-CCA5-F77DD6BA7FEE}"/>
              </a:ext>
            </a:extLst>
          </p:cNvPr>
          <p:cNvSpPr txBox="1"/>
          <p:nvPr/>
        </p:nvSpPr>
        <p:spPr>
          <a:xfrm>
            <a:off x="1506086" y="8205297"/>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2B11"/>
                </a:solidFill>
                <a:effectLst/>
                <a:uLnTx/>
                <a:uFillTx/>
                <a:latin typeface="Poppins"/>
                <a:ea typeface="+mn-ea"/>
                <a:cs typeface="Arial"/>
                <a:sym typeface="Arial"/>
              </a:rPr>
              <a:t>Pending</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pic>
        <p:nvPicPr>
          <p:cNvPr id="6" name="Picture 5">
            <a:extLst>
              <a:ext uri="{FF2B5EF4-FFF2-40B4-BE49-F238E27FC236}">
                <a16:creationId xmlns:a16="http://schemas.microsoft.com/office/drawing/2014/main" id="{E3CC7161-1B67-A922-3768-203C3CCA24C6}"/>
              </a:ext>
            </a:extLst>
          </p:cNvPr>
          <p:cNvPicPr>
            <a:picLocks noChangeAspect="1"/>
          </p:cNvPicPr>
          <p:nvPr/>
        </p:nvPicPr>
        <p:blipFill>
          <a:blip r:embed="rId2"/>
          <a:srcRect l="60461" t="63789"/>
          <a:stretch>
            <a:fillRect/>
          </a:stretch>
        </p:blipFill>
        <p:spPr>
          <a:xfrm>
            <a:off x="15687275" y="1935947"/>
            <a:ext cx="1601449" cy="1747475"/>
          </a:xfrm>
          <a:prstGeom prst="rect">
            <a:avLst/>
          </a:prstGeom>
        </p:spPr>
      </p:pic>
    </p:spTree>
    <p:extLst>
      <p:ext uri="{BB962C8B-B14F-4D97-AF65-F5344CB8AC3E}">
        <p14:creationId xmlns:p14="http://schemas.microsoft.com/office/powerpoint/2010/main" val="694765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10"/>
                                        </p:tgtEl>
                                        <p:attrNameLst>
                                          <p:attrName>style.opacity</p:attrName>
                                        </p:attrNameLst>
                                      </p:cBhvr>
                                      <p:to>
                                        <p:strVal val="0.5"/>
                                      </p:to>
                                    </p:set>
                                    <p:animEffect filter="image" prLst="opacity: 0.5">
                                      <p:cBhvr rctx="IE">
                                        <p:cTn id="7" dur="indefinite"/>
                                        <p:tgtEl>
                                          <p:spTgt spid="10"/>
                                        </p:tgtEl>
                                      </p:cBhvr>
                                    </p:animEffect>
                                  </p:childTnLst>
                                </p:cTn>
                              </p:par>
                              <p:par>
                                <p:cTn id="8" presetID="1" presetClass="emph" presetSubtype="2" fill="hold" nodeType="withEffect">
                                  <p:stCondLst>
                                    <p:cond delay="0"/>
                                  </p:stCondLst>
                                  <p:childTnLst>
                                    <p:animClr clrSpc="rgb" dir="cw">
                                      <p:cBhvr>
                                        <p:cTn id="9" dur="2000" fill="hold"/>
                                        <p:tgtEl>
                                          <p:spTgt spid="20"/>
                                        </p:tgtEl>
                                        <p:attrNameLst>
                                          <p:attrName>fillcolor</p:attrName>
                                        </p:attrNameLst>
                                      </p:cBhvr>
                                      <p:to>
                                        <a:srgbClr val="00B050"/>
                                      </p:to>
                                    </p:animClr>
                                    <p:set>
                                      <p:cBhvr>
                                        <p:cTn id="10" dur="2000" fill="hold"/>
                                        <p:tgtEl>
                                          <p:spTgt spid="20"/>
                                        </p:tgtEl>
                                        <p:attrNameLst>
                                          <p:attrName>fill.type</p:attrName>
                                        </p:attrNameLst>
                                      </p:cBhvr>
                                      <p:to>
                                        <p:strVal val="solid"/>
                                      </p:to>
                                    </p:set>
                                    <p:set>
                                      <p:cBhvr>
                                        <p:cTn id="11" dur="2000" fill="hold"/>
                                        <p:tgtEl>
                                          <p:spTgt spid="20"/>
                                        </p:tgtEl>
                                        <p:attrNameLst>
                                          <p:attrName>fill.on</p:attrName>
                                        </p:attrNameLst>
                                      </p:cBhvr>
                                      <p:to>
                                        <p:strVal val="true"/>
                                      </p:to>
                                    </p:set>
                                  </p:childTnLst>
                                </p:cTn>
                              </p:par>
                              <p:par>
                                <p:cTn id="12" presetID="9" presetClass="emph" presetSubtype="0" grpId="0" nodeType="withEffect">
                                  <p:stCondLst>
                                    <p:cond delay="0"/>
                                  </p:stCondLst>
                                  <p:childTnLst>
                                    <p:set>
                                      <p:cBhvr>
                                        <p:cTn id="13" dur="indefinite"/>
                                        <p:tgtEl>
                                          <p:spTgt spid="24"/>
                                        </p:tgtEl>
                                        <p:attrNameLst>
                                          <p:attrName>style.opacity</p:attrName>
                                        </p:attrNameLst>
                                      </p:cBhvr>
                                      <p:to>
                                        <p:strVal val="0.5"/>
                                      </p:to>
                                    </p:set>
                                    <p:animEffect filter="image" prLst="opacity: 0.5">
                                      <p:cBhvr rctx="IE">
                                        <p:cTn id="14" dur="indefinite"/>
                                        <p:tgtEl>
                                          <p:spTgt spid="24"/>
                                        </p:tgtEl>
                                      </p:cBhvr>
                                    </p:animEffect>
                                  </p:childTnLst>
                                </p:cTn>
                              </p:par>
                              <p:par>
                                <p:cTn id="15" presetID="9" presetClass="emph" presetSubtype="0" grpId="0" nodeType="withEffect">
                                  <p:stCondLst>
                                    <p:cond delay="0"/>
                                  </p:stCondLst>
                                  <p:childTnLst>
                                    <p:set>
                                      <p:cBhvr>
                                        <p:cTn id="16" dur="indefinite"/>
                                        <p:tgtEl>
                                          <p:spTgt spid="16"/>
                                        </p:tgtEl>
                                        <p:attrNameLst>
                                          <p:attrName>style.opacity</p:attrName>
                                        </p:attrNameLst>
                                      </p:cBhvr>
                                      <p:to>
                                        <p:strVal val="0.5"/>
                                      </p:to>
                                    </p:set>
                                    <p:animEffect filter="image" prLst="opacity: 0.5">
                                      <p:cBhvr rctx="IE">
                                        <p:cTn id="17" dur="indefinite"/>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2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997FF"/>
        </a:solidFill>
        <a:effectLst/>
      </p:bgPr>
    </p:bg>
    <p:spTree>
      <p:nvGrpSpPr>
        <p:cNvPr id="1" name="">
          <a:extLst>
            <a:ext uri="{FF2B5EF4-FFF2-40B4-BE49-F238E27FC236}">
              <a16:creationId xmlns:a16="http://schemas.microsoft.com/office/drawing/2014/main" id="{F941567F-D9AA-E82F-A4B9-F85C49E6C88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4B57CC-E02A-F2CD-7082-75A1E10E8409}"/>
              </a:ext>
            </a:extLst>
          </p:cNvPr>
          <p:cNvSpPr txBox="1"/>
          <p:nvPr/>
        </p:nvSpPr>
        <p:spPr>
          <a:xfrm>
            <a:off x="994557" y="511955"/>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4" name="Rounded Rectangle 3">
            <a:extLst>
              <a:ext uri="{FF2B5EF4-FFF2-40B4-BE49-F238E27FC236}">
                <a16:creationId xmlns:a16="http://schemas.microsoft.com/office/drawing/2014/main" id="{C5A5C98E-1D42-864E-8431-E54AC1BA30C3}"/>
              </a:ext>
            </a:extLst>
          </p:cNvPr>
          <p:cNvSpPr/>
          <p:nvPr/>
        </p:nvSpPr>
        <p:spPr>
          <a:xfrm>
            <a:off x="1004000" y="1349948"/>
            <a:ext cx="16280000" cy="2075905"/>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a:extLst>
              <a:ext uri="{FF2B5EF4-FFF2-40B4-BE49-F238E27FC236}">
                <a16:creationId xmlns:a16="http://schemas.microsoft.com/office/drawing/2014/main" id="{8DA67A14-E9C7-9146-A1EB-73D335086C5B}"/>
              </a:ext>
            </a:extLst>
          </p:cNvPr>
          <p:cNvSpPr txBox="1"/>
          <p:nvPr/>
        </p:nvSpPr>
        <p:spPr>
          <a:xfrm>
            <a:off x="1510086" y="1680276"/>
            <a:ext cx="14680000" cy="1323439"/>
          </a:xfrm>
          <a:prstGeom prst="rect">
            <a:avLst/>
          </a:prstGeom>
          <a:noFill/>
        </p:spPr>
        <p:txBody>
          <a:bodyPr wrap="square" anchor="ctr">
            <a:spAutoFit/>
          </a:bodyPr>
          <a:lstStyle/>
          <a:p>
            <a:pPr lvl="0">
              <a:defRPr/>
            </a:pPr>
            <a:r>
              <a:rPr lang="en-US" sz="4000" b="1" dirty="0">
                <a:solidFill>
                  <a:srgbClr val="002B11"/>
                </a:solidFill>
                <a:latin typeface="Poppins"/>
                <a:cs typeface="Arial"/>
                <a:sym typeface="Arial"/>
              </a:rPr>
              <a:t>How should agents handle duplicate inquiries from multiple staff members of the same organization?</a:t>
            </a:r>
            <a:endParaRPr kumimoji="0" sz="4000" b="1"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11" name="TextBox 10">
            <a:extLst>
              <a:ext uri="{FF2B5EF4-FFF2-40B4-BE49-F238E27FC236}">
                <a16:creationId xmlns:a16="http://schemas.microsoft.com/office/drawing/2014/main" id="{D781D288-D57E-E2C1-96E2-A5C2914D61FC}"/>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
        <p:nvSpPr>
          <p:cNvPr id="10" name="Rounded Rectangle 3">
            <a:extLst>
              <a:ext uri="{FF2B5EF4-FFF2-40B4-BE49-F238E27FC236}">
                <a16:creationId xmlns:a16="http://schemas.microsoft.com/office/drawing/2014/main" id="{C28058B8-3C2C-C640-09AD-263BF017B185}"/>
              </a:ext>
            </a:extLst>
          </p:cNvPr>
          <p:cNvSpPr/>
          <p:nvPr/>
        </p:nvSpPr>
        <p:spPr>
          <a:xfrm>
            <a:off x="1004000" y="383733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4" name="TextBox 13">
            <a:extLst>
              <a:ext uri="{FF2B5EF4-FFF2-40B4-BE49-F238E27FC236}">
                <a16:creationId xmlns:a16="http://schemas.microsoft.com/office/drawing/2014/main" id="{7267CA56-FA5B-9712-4073-17DA7ED95149}"/>
              </a:ext>
            </a:extLst>
          </p:cNvPr>
          <p:cNvSpPr txBox="1"/>
          <p:nvPr/>
        </p:nvSpPr>
        <p:spPr>
          <a:xfrm>
            <a:off x="1510086" y="4093416"/>
            <a:ext cx="14680000" cy="584775"/>
          </a:xfrm>
          <a:prstGeom prst="rect">
            <a:avLst/>
          </a:prstGeom>
          <a:noFill/>
        </p:spPr>
        <p:txBody>
          <a:bodyPr wrap="square" anchor="ctr">
            <a:spAutoFit/>
          </a:bodyPr>
          <a:lstStyle/>
          <a:p>
            <a:pPr lvl="0">
              <a:defRPr/>
            </a:pPr>
            <a:r>
              <a:rPr lang="en-US" sz="3200" dirty="0">
                <a:solidFill>
                  <a:srgbClr val="002B11"/>
                </a:solidFill>
                <a:latin typeface="Poppins"/>
                <a:cs typeface="Arial"/>
                <a:sym typeface="Arial"/>
              </a:rPr>
              <a:t>Merge all tickets</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16" name="Rounded Rectangle 3">
            <a:extLst>
              <a:ext uri="{FF2B5EF4-FFF2-40B4-BE49-F238E27FC236}">
                <a16:creationId xmlns:a16="http://schemas.microsoft.com/office/drawing/2014/main" id="{94FBB77D-AA11-4061-2E66-6310A2CE7895}"/>
              </a:ext>
            </a:extLst>
          </p:cNvPr>
          <p:cNvSpPr/>
          <p:nvPr/>
        </p:nvSpPr>
        <p:spPr>
          <a:xfrm>
            <a:off x="1004000" y="5203639"/>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8" name="TextBox 17">
            <a:extLst>
              <a:ext uri="{FF2B5EF4-FFF2-40B4-BE49-F238E27FC236}">
                <a16:creationId xmlns:a16="http://schemas.microsoft.com/office/drawing/2014/main" id="{BDCFF718-33FA-1A82-8820-81A02392C404}"/>
              </a:ext>
            </a:extLst>
          </p:cNvPr>
          <p:cNvSpPr txBox="1"/>
          <p:nvPr/>
        </p:nvSpPr>
        <p:spPr>
          <a:xfrm>
            <a:off x="1510086" y="5459721"/>
            <a:ext cx="14680000" cy="584775"/>
          </a:xfrm>
          <a:prstGeom prst="rect">
            <a:avLst/>
          </a:prstGeom>
          <a:noFill/>
        </p:spPr>
        <p:txBody>
          <a:bodyPr wrap="square" anchor="ctr">
            <a:spAutoFit/>
          </a:bodyPr>
          <a:lstStyle>
            <a:defPPr marR="0" lvl="0" algn="l" rtl="0">
              <a:lnSpc>
                <a:spcPct val="100000"/>
              </a:lnSpc>
              <a:spcBef>
                <a:spcPts val="0"/>
              </a:spcBef>
              <a:spcAft>
                <a:spcPts val="0"/>
              </a:spcAft>
            </a:defPPr>
            <a:lvl1pPr>
              <a:buClrTx/>
              <a:defRPr sz="3200" kern="1200">
                <a:solidFill>
                  <a:srgbClr val="002B11"/>
                </a:solidFill>
                <a:latin typeface="Poppins"/>
                <a:ea typeface="+mn-ea"/>
              </a:defRPr>
            </a:lvl1pPr>
          </a:lstStyle>
          <a:p>
            <a:pPr lvl="0">
              <a:defRPr/>
            </a:pPr>
            <a:r>
              <a:rPr lang="en-US" dirty="0">
                <a:cs typeface="Arial"/>
                <a:sym typeface="Arial"/>
              </a:rPr>
              <a:t>Respond to each requester individually</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20" name="Rounded Rectangle 3">
            <a:extLst>
              <a:ext uri="{FF2B5EF4-FFF2-40B4-BE49-F238E27FC236}">
                <a16:creationId xmlns:a16="http://schemas.microsoft.com/office/drawing/2014/main" id="{8C776BE4-B1F0-CDF2-1607-AC5664AA46C1}"/>
              </a:ext>
            </a:extLst>
          </p:cNvPr>
          <p:cNvSpPr/>
          <p:nvPr/>
        </p:nvSpPr>
        <p:spPr>
          <a:xfrm>
            <a:off x="1000000" y="656994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2" name="TextBox 21">
            <a:extLst>
              <a:ext uri="{FF2B5EF4-FFF2-40B4-BE49-F238E27FC236}">
                <a16:creationId xmlns:a16="http://schemas.microsoft.com/office/drawing/2014/main" id="{D5B5EA38-2745-0046-576C-D4C96EBC4D76}"/>
              </a:ext>
            </a:extLst>
          </p:cNvPr>
          <p:cNvSpPr txBox="1"/>
          <p:nvPr/>
        </p:nvSpPr>
        <p:spPr>
          <a:xfrm>
            <a:off x="1506086" y="6826026"/>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lvl="0">
              <a:defRPr/>
            </a:pPr>
            <a:r>
              <a:rPr lang="en-US" dirty="0">
                <a:cs typeface="Arial"/>
                <a:sym typeface="Arial"/>
              </a:rPr>
              <a:t>Close all tickets except the recent ticket</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24" name="Rounded Rectangle 3">
            <a:extLst>
              <a:ext uri="{FF2B5EF4-FFF2-40B4-BE49-F238E27FC236}">
                <a16:creationId xmlns:a16="http://schemas.microsoft.com/office/drawing/2014/main" id="{76BDE537-8E1B-2C82-FB9E-6AB680D5CA68}"/>
              </a:ext>
            </a:extLst>
          </p:cNvPr>
          <p:cNvSpPr/>
          <p:nvPr/>
        </p:nvSpPr>
        <p:spPr>
          <a:xfrm>
            <a:off x="1000000" y="7949215"/>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6" name="TextBox 25">
            <a:extLst>
              <a:ext uri="{FF2B5EF4-FFF2-40B4-BE49-F238E27FC236}">
                <a16:creationId xmlns:a16="http://schemas.microsoft.com/office/drawing/2014/main" id="{A39F6B56-38A5-CC7D-3504-939FDFBCB659}"/>
              </a:ext>
            </a:extLst>
          </p:cNvPr>
          <p:cNvSpPr txBox="1"/>
          <p:nvPr/>
        </p:nvSpPr>
        <p:spPr>
          <a:xfrm>
            <a:off x="1506086" y="8205297"/>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lvl="0">
              <a:defRPr/>
            </a:pPr>
            <a:r>
              <a:rPr lang="en-US" dirty="0">
                <a:cs typeface="Arial"/>
                <a:sym typeface="Arial"/>
              </a:rPr>
              <a:t>Escalate to Tier 2</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pic>
        <p:nvPicPr>
          <p:cNvPr id="6" name="Picture 5">
            <a:extLst>
              <a:ext uri="{FF2B5EF4-FFF2-40B4-BE49-F238E27FC236}">
                <a16:creationId xmlns:a16="http://schemas.microsoft.com/office/drawing/2014/main" id="{696BD397-AB38-988A-9076-9EED6F7D3601}"/>
              </a:ext>
            </a:extLst>
          </p:cNvPr>
          <p:cNvPicPr>
            <a:picLocks noChangeAspect="1"/>
          </p:cNvPicPr>
          <p:nvPr/>
        </p:nvPicPr>
        <p:blipFill>
          <a:blip r:embed="rId2"/>
          <a:srcRect l="60461" t="63789"/>
          <a:stretch>
            <a:fillRect/>
          </a:stretch>
        </p:blipFill>
        <p:spPr>
          <a:xfrm>
            <a:off x="15687275" y="1935947"/>
            <a:ext cx="1601449" cy="1747475"/>
          </a:xfrm>
          <a:prstGeom prst="rect">
            <a:avLst/>
          </a:prstGeom>
        </p:spPr>
      </p:pic>
    </p:spTree>
    <p:extLst>
      <p:ext uri="{BB962C8B-B14F-4D97-AF65-F5344CB8AC3E}">
        <p14:creationId xmlns:p14="http://schemas.microsoft.com/office/powerpoint/2010/main" val="2444666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10"/>
                                        </p:tgtEl>
                                        <p:attrNameLst>
                                          <p:attrName>style.opacity</p:attrName>
                                        </p:attrNameLst>
                                      </p:cBhvr>
                                      <p:to>
                                        <p:strVal val="0.5"/>
                                      </p:to>
                                    </p:set>
                                    <p:animEffect filter="image" prLst="opacity: 0.5">
                                      <p:cBhvr rctx="IE">
                                        <p:cTn id="7" dur="indefinite"/>
                                        <p:tgtEl>
                                          <p:spTgt spid="10"/>
                                        </p:tgtEl>
                                      </p:cBhvr>
                                    </p:animEffect>
                                  </p:childTnLst>
                                </p:cTn>
                              </p:par>
                              <p:par>
                                <p:cTn id="8" presetID="9" presetClass="emph" presetSubtype="0" nodeType="withEffect">
                                  <p:stCondLst>
                                    <p:cond delay="0"/>
                                  </p:stCondLst>
                                  <p:childTnLst>
                                    <p:set>
                                      <p:cBhvr>
                                        <p:cTn id="9" dur="indefinite"/>
                                        <p:tgtEl>
                                          <p:spTgt spid="20"/>
                                        </p:tgtEl>
                                        <p:attrNameLst>
                                          <p:attrName>style.opacity</p:attrName>
                                        </p:attrNameLst>
                                      </p:cBhvr>
                                      <p:to>
                                        <p:strVal val="0.5"/>
                                      </p:to>
                                    </p:set>
                                    <p:animEffect filter="image" prLst="opacity: 0.5">
                                      <p:cBhvr rctx="IE">
                                        <p:cTn id="10" dur="indefinite"/>
                                        <p:tgtEl>
                                          <p:spTgt spid="20"/>
                                        </p:tgtEl>
                                      </p:cBhvr>
                                    </p:animEffect>
                                  </p:childTnLst>
                                </p:cTn>
                              </p:par>
                              <p:par>
                                <p:cTn id="11" presetID="9" presetClass="emph" presetSubtype="0" grpId="0" nodeType="withEffect">
                                  <p:stCondLst>
                                    <p:cond delay="0"/>
                                  </p:stCondLst>
                                  <p:childTnLst>
                                    <p:set>
                                      <p:cBhvr>
                                        <p:cTn id="12" dur="indefinite"/>
                                        <p:tgtEl>
                                          <p:spTgt spid="24"/>
                                        </p:tgtEl>
                                        <p:attrNameLst>
                                          <p:attrName>style.opacity</p:attrName>
                                        </p:attrNameLst>
                                      </p:cBhvr>
                                      <p:to>
                                        <p:strVal val="0.5"/>
                                      </p:to>
                                    </p:set>
                                    <p:animEffect filter="image" prLst="opacity: 0.5">
                                      <p:cBhvr rctx="IE">
                                        <p:cTn id="13" dur="indefinite"/>
                                        <p:tgtEl>
                                          <p:spTgt spid="24"/>
                                        </p:tgtEl>
                                      </p:cBhvr>
                                    </p:animEffect>
                                  </p:childTnLst>
                                </p:cTn>
                              </p:par>
                              <p:par>
                                <p:cTn id="14" presetID="1" presetClass="emph" presetSubtype="2" fill="hold" grpId="0" nodeType="withEffect">
                                  <p:stCondLst>
                                    <p:cond delay="0"/>
                                  </p:stCondLst>
                                  <p:childTnLst>
                                    <p:animClr clrSpc="rgb" dir="cw">
                                      <p:cBhvr>
                                        <p:cTn id="15" dur="2000" fill="hold"/>
                                        <p:tgtEl>
                                          <p:spTgt spid="16"/>
                                        </p:tgtEl>
                                        <p:attrNameLst>
                                          <p:attrName>fillcolor</p:attrName>
                                        </p:attrNameLst>
                                      </p:cBhvr>
                                      <p:to>
                                        <a:srgbClr val="00B050"/>
                                      </p:to>
                                    </p:animClr>
                                    <p:set>
                                      <p:cBhvr>
                                        <p:cTn id="16" dur="2000" fill="hold"/>
                                        <p:tgtEl>
                                          <p:spTgt spid="16"/>
                                        </p:tgtEl>
                                        <p:attrNameLst>
                                          <p:attrName>fill.type</p:attrName>
                                        </p:attrNameLst>
                                      </p:cBhvr>
                                      <p:to>
                                        <p:strVal val="solid"/>
                                      </p:to>
                                    </p:set>
                                    <p:set>
                                      <p:cBhvr>
                                        <p:cTn id="17" dur="2000" fill="hold"/>
                                        <p:tgtEl>
                                          <p:spTgt spid="1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2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23EEBE"/>
        </a:solidFill>
        <a:effectLst/>
      </p:bgPr>
    </p:bg>
    <p:spTree>
      <p:nvGrpSpPr>
        <p:cNvPr id="1" name="">
          <a:extLst>
            <a:ext uri="{FF2B5EF4-FFF2-40B4-BE49-F238E27FC236}">
              <a16:creationId xmlns:a16="http://schemas.microsoft.com/office/drawing/2014/main" id="{DE33CEC7-4409-45E8-2741-21B29F67A741}"/>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D971B695-DE8C-0C8F-A5FF-A998D449B406}"/>
              </a:ext>
            </a:extLst>
          </p:cNvPr>
          <p:cNvSpPr/>
          <p:nvPr/>
        </p:nvSpPr>
        <p:spPr>
          <a:xfrm>
            <a:off x="5249895" y="5895958"/>
            <a:ext cx="3424009" cy="1248441"/>
          </a:xfrm>
          <a:prstGeom prst="roundRect">
            <a:avLst/>
          </a:prstGeom>
          <a:solidFill>
            <a:srgbClr val="002B1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Rounded Corners 16">
            <a:extLst>
              <a:ext uri="{FF2B5EF4-FFF2-40B4-BE49-F238E27FC236}">
                <a16:creationId xmlns:a16="http://schemas.microsoft.com/office/drawing/2014/main" id="{109858E9-4881-FFFB-8A82-880BBDD0E1A7}"/>
              </a:ext>
            </a:extLst>
          </p:cNvPr>
          <p:cNvSpPr/>
          <p:nvPr/>
        </p:nvSpPr>
        <p:spPr>
          <a:xfrm>
            <a:off x="5326095" y="6001391"/>
            <a:ext cx="3424009" cy="1248441"/>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TextBox 1">
            <a:extLst>
              <a:ext uri="{FF2B5EF4-FFF2-40B4-BE49-F238E27FC236}">
                <a16:creationId xmlns:a16="http://schemas.microsoft.com/office/drawing/2014/main" id="{721541B6-2A66-540D-D709-69A44582FCE4}"/>
              </a:ext>
            </a:extLst>
          </p:cNvPr>
          <p:cNvSpPr txBox="1"/>
          <p:nvPr/>
        </p:nvSpPr>
        <p:spPr>
          <a:xfrm>
            <a:off x="1000000" y="700001"/>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3" name="TextBox 2">
            <a:extLst>
              <a:ext uri="{FF2B5EF4-FFF2-40B4-BE49-F238E27FC236}">
                <a16:creationId xmlns:a16="http://schemas.microsoft.com/office/drawing/2014/main" id="{D8FF9639-F4D0-75FD-A043-459EDCCEBD17}"/>
              </a:ext>
            </a:extLst>
          </p:cNvPr>
          <p:cNvSpPr txBox="1"/>
          <p:nvPr/>
        </p:nvSpPr>
        <p:spPr>
          <a:xfrm>
            <a:off x="1000000" y="1395308"/>
            <a:ext cx="16200000" cy="1169551"/>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0" b="1" i="0" u="none" strike="noStrike" kern="1200" cap="none" spc="0" normalizeH="0" baseline="0" noProof="0" dirty="0">
                <a:ln>
                  <a:noFill/>
                </a:ln>
                <a:solidFill>
                  <a:srgbClr val="002B11"/>
                </a:solidFill>
                <a:effectLst/>
                <a:uLnTx/>
                <a:uFillTx/>
                <a:latin typeface="Poppins Black"/>
                <a:ea typeface="+mn-ea"/>
                <a:cs typeface="Arial"/>
                <a:sym typeface="Arial"/>
              </a:rPr>
              <a:t>True or False?</a:t>
            </a:r>
          </a:p>
        </p:txBody>
      </p:sp>
      <p:sp>
        <p:nvSpPr>
          <p:cNvPr id="4" name="Rounded Rectangle 3">
            <a:extLst>
              <a:ext uri="{FF2B5EF4-FFF2-40B4-BE49-F238E27FC236}">
                <a16:creationId xmlns:a16="http://schemas.microsoft.com/office/drawing/2014/main" id="{B193EE70-B681-A700-9768-DCAEA4EE61D1}"/>
              </a:ext>
            </a:extLst>
          </p:cNvPr>
          <p:cNvSpPr/>
          <p:nvPr/>
        </p:nvSpPr>
        <p:spPr>
          <a:xfrm>
            <a:off x="1000000" y="3048115"/>
            <a:ext cx="16280000" cy="2218544"/>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a:extLst>
              <a:ext uri="{FF2B5EF4-FFF2-40B4-BE49-F238E27FC236}">
                <a16:creationId xmlns:a16="http://schemas.microsoft.com/office/drawing/2014/main" id="{B47CB853-B83D-763A-E015-7D6F7F41524F}"/>
              </a:ext>
            </a:extLst>
          </p:cNvPr>
          <p:cNvSpPr txBox="1"/>
          <p:nvPr/>
        </p:nvSpPr>
        <p:spPr>
          <a:xfrm>
            <a:off x="1564165" y="3527988"/>
            <a:ext cx="14680000" cy="1323439"/>
          </a:xfrm>
          <a:prstGeom prst="rect">
            <a:avLst/>
          </a:prstGeom>
          <a:noFill/>
        </p:spPr>
        <p:txBody>
          <a:bodyPr wrap="square" anchor="ctr">
            <a:spAutoFit/>
          </a:bodyPr>
          <a:lstStyle/>
          <a:p>
            <a:pPr lvl="0">
              <a:defRPr/>
            </a:pPr>
            <a:r>
              <a:rPr lang="en-US" sz="4000" b="1" dirty="0">
                <a:solidFill>
                  <a:srgbClr val="002B11"/>
                </a:solidFill>
                <a:latin typeface="Poppins"/>
                <a:cs typeface="Arial"/>
                <a:sym typeface="Arial"/>
              </a:rPr>
              <a:t>Agents can include screenshots from internal files in public replies.</a:t>
            </a:r>
            <a:endParaRPr kumimoji="0" sz="4000" b="1"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7" name="Rectangle: Rounded Corners 6">
            <a:extLst>
              <a:ext uri="{FF2B5EF4-FFF2-40B4-BE49-F238E27FC236}">
                <a16:creationId xmlns:a16="http://schemas.microsoft.com/office/drawing/2014/main" id="{2AFB13C0-27E4-4E81-E1BC-7DFBFF0F24F1}"/>
              </a:ext>
            </a:extLst>
          </p:cNvPr>
          <p:cNvSpPr/>
          <p:nvPr/>
        </p:nvSpPr>
        <p:spPr>
          <a:xfrm>
            <a:off x="1080725" y="5843242"/>
            <a:ext cx="3424009" cy="1248441"/>
          </a:xfrm>
          <a:prstGeom prst="roundRect">
            <a:avLst/>
          </a:prstGeom>
          <a:solidFill>
            <a:srgbClr val="002B1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Rounded Corners 8">
            <a:extLst>
              <a:ext uri="{FF2B5EF4-FFF2-40B4-BE49-F238E27FC236}">
                <a16:creationId xmlns:a16="http://schemas.microsoft.com/office/drawing/2014/main" id="{BEB39F36-D4BA-1E31-F398-6509898CF162}"/>
              </a:ext>
            </a:extLst>
          </p:cNvPr>
          <p:cNvSpPr/>
          <p:nvPr/>
        </p:nvSpPr>
        <p:spPr>
          <a:xfrm>
            <a:off x="1156925" y="5948675"/>
            <a:ext cx="3424009" cy="1248441"/>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F94D9591-2D77-98B4-E729-E2B224C856C7}"/>
              </a:ext>
            </a:extLst>
          </p:cNvPr>
          <p:cNvSpPr txBox="1"/>
          <p:nvPr/>
        </p:nvSpPr>
        <p:spPr>
          <a:xfrm>
            <a:off x="2106929" y="6257424"/>
            <a:ext cx="1524000" cy="63094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500" b="1" i="0" u="none" strike="noStrike" kern="1200" cap="none" spc="0" normalizeH="0" baseline="0" noProof="0" dirty="0">
                <a:ln>
                  <a:noFill/>
                </a:ln>
                <a:solidFill>
                  <a:srgbClr val="002B11"/>
                </a:solidFill>
                <a:effectLst/>
                <a:uLnTx/>
                <a:uFillTx/>
                <a:latin typeface="Poppins Black"/>
                <a:ea typeface="+mn-ea"/>
                <a:cs typeface="Arial"/>
                <a:sym typeface="Arial"/>
              </a:rPr>
              <a:t>TRUE</a:t>
            </a:r>
          </a:p>
        </p:txBody>
      </p:sp>
      <p:sp>
        <p:nvSpPr>
          <p:cNvPr id="16" name="TextBox 15">
            <a:extLst>
              <a:ext uri="{FF2B5EF4-FFF2-40B4-BE49-F238E27FC236}">
                <a16:creationId xmlns:a16="http://schemas.microsoft.com/office/drawing/2014/main" id="{0A4BA17E-BFD1-9DD7-610C-AAF21724B8D8}"/>
              </a:ext>
            </a:extLst>
          </p:cNvPr>
          <p:cNvSpPr txBox="1"/>
          <p:nvPr/>
        </p:nvSpPr>
        <p:spPr>
          <a:xfrm>
            <a:off x="6236970" y="6260630"/>
            <a:ext cx="1790700" cy="63094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002B11"/>
                </a:solidFill>
                <a:effectLst/>
                <a:uLnTx/>
                <a:uFillTx/>
                <a:latin typeface="Poppins Black"/>
                <a:ea typeface="+mn-ea"/>
                <a:cs typeface="Arial"/>
                <a:sym typeface="Arial"/>
              </a:rPr>
              <a:t>FALSE</a:t>
            </a:r>
            <a:endParaRPr kumimoji="0" sz="3500" b="1" i="0" u="none" strike="noStrike" kern="1200" cap="none" spc="0" normalizeH="0" baseline="0" noProof="0" dirty="0">
              <a:ln>
                <a:noFill/>
              </a:ln>
              <a:solidFill>
                <a:srgbClr val="002B11"/>
              </a:solidFill>
              <a:effectLst/>
              <a:uLnTx/>
              <a:uFillTx/>
              <a:latin typeface="Poppins Black"/>
              <a:ea typeface="+mn-ea"/>
              <a:cs typeface="Arial"/>
              <a:sym typeface="Arial"/>
            </a:endParaRPr>
          </a:p>
        </p:txBody>
      </p:sp>
      <p:pic>
        <p:nvPicPr>
          <p:cNvPr id="19" name="Picture 18">
            <a:extLst>
              <a:ext uri="{FF2B5EF4-FFF2-40B4-BE49-F238E27FC236}">
                <a16:creationId xmlns:a16="http://schemas.microsoft.com/office/drawing/2014/main" id="{A357116C-A5A4-1257-C51E-2828B17D3FB2}"/>
              </a:ext>
            </a:extLst>
          </p:cNvPr>
          <p:cNvPicPr>
            <a:picLocks noChangeAspect="1"/>
          </p:cNvPicPr>
          <p:nvPr/>
        </p:nvPicPr>
        <p:blipFill>
          <a:blip r:embed="rId2"/>
          <a:srcRect l="60461" t="63789"/>
          <a:stretch>
            <a:fillRect/>
          </a:stretch>
        </p:blipFill>
        <p:spPr>
          <a:xfrm>
            <a:off x="15258551" y="3815726"/>
            <a:ext cx="1601449" cy="1747475"/>
          </a:xfrm>
          <a:prstGeom prst="rect">
            <a:avLst/>
          </a:prstGeom>
        </p:spPr>
      </p:pic>
      <p:pic>
        <p:nvPicPr>
          <p:cNvPr id="21" name="Picture 20">
            <a:extLst>
              <a:ext uri="{FF2B5EF4-FFF2-40B4-BE49-F238E27FC236}">
                <a16:creationId xmlns:a16="http://schemas.microsoft.com/office/drawing/2014/main" id="{1A00B18E-3BBC-2E2C-9909-9DF26347EA6B}"/>
              </a:ext>
            </a:extLst>
          </p:cNvPr>
          <p:cNvPicPr>
            <a:picLocks noChangeAspect="1"/>
          </p:cNvPicPr>
          <p:nvPr/>
        </p:nvPicPr>
        <p:blipFill>
          <a:blip r:embed="rId3"/>
          <a:srcRect l="64628" t="2587" b="65063"/>
          <a:stretch>
            <a:fillRect/>
          </a:stretch>
        </p:blipFill>
        <p:spPr>
          <a:xfrm>
            <a:off x="10695323" y="6368984"/>
            <a:ext cx="2036016" cy="2218544"/>
          </a:xfrm>
          <a:prstGeom prst="rect">
            <a:avLst/>
          </a:prstGeom>
        </p:spPr>
      </p:pic>
      <p:sp>
        <p:nvSpPr>
          <p:cNvPr id="22" name="Rectangle: Rounded Corners 21">
            <a:extLst>
              <a:ext uri="{FF2B5EF4-FFF2-40B4-BE49-F238E27FC236}">
                <a16:creationId xmlns:a16="http://schemas.microsoft.com/office/drawing/2014/main" id="{3FDFB70C-1823-F7F4-517E-83476F11C999}"/>
              </a:ext>
            </a:extLst>
          </p:cNvPr>
          <p:cNvSpPr/>
          <p:nvPr/>
        </p:nvSpPr>
        <p:spPr>
          <a:xfrm>
            <a:off x="12754199" y="6467462"/>
            <a:ext cx="3733801" cy="1495438"/>
          </a:xfrm>
          <a:prstGeom prst="roundRect">
            <a:avLst/>
          </a:prstGeom>
          <a:ln>
            <a:solidFill>
              <a:srgbClr val="002B11"/>
            </a:solidFill>
          </a:ln>
          <a:effectLst>
            <a:outerShdw blurRad="50800" dist="38100" dir="5400000" algn="t"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34246CC8-F831-1495-72E0-2B7D06A5A52F}"/>
              </a:ext>
            </a:extLst>
          </p:cNvPr>
          <p:cNvSpPr txBox="1"/>
          <p:nvPr/>
        </p:nvSpPr>
        <p:spPr>
          <a:xfrm>
            <a:off x="13124822" y="6884236"/>
            <a:ext cx="3152000" cy="523220"/>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2800" b="0" i="0" u="none" strike="noStrike" kern="1200" cap="none" spc="0" normalizeH="0" baseline="0" noProof="0" dirty="0">
                <a:ln>
                  <a:noFill/>
                </a:ln>
                <a:solidFill>
                  <a:srgbClr val="002B11"/>
                </a:solidFill>
                <a:effectLst/>
                <a:uLnTx/>
                <a:uFillTx/>
                <a:latin typeface="Poppins"/>
                <a:ea typeface="+mn-ea"/>
                <a:cs typeface="Arial"/>
                <a:sym typeface="Arial"/>
              </a:rPr>
              <a:t>You’re right!</a:t>
            </a:r>
            <a:endParaRPr kumimoji="0" sz="28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14" name="TextBox 13">
            <a:extLst>
              <a:ext uri="{FF2B5EF4-FFF2-40B4-BE49-F238E27FC236}">
                <a16:creationId xmlns:a16="http://schemas.microsoft.com/office/drawing/2014/main" id="{96F52CF6-F4F4-8128-A78F-97FED63B343D}"/>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Tree>
    <p:extLst>
      <p:ext uri="{BB962C8B-B14F-4D97-AF65-F5344CB8AC3E}">
        <p14:creationId xmlns:p14="http://schemas.microsoft.com/office/powerpoint/2010/main" val="3343321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 presetClass="emph" presetSubtype="2" fill="hold" nodeType="withEffect">
                                  <p:stCondLst>
                                    <p:cond delay="0"/>
                                  </p:stCondLst>
                                  <p:childTnLst>
                                    <p:animClr clrSpc="rgb" dir="cw">
                                      <p:cBhvr>
                                        <p:cTn id="15" dur="2000" fill="hold"/>
                                        <p:tgtEl>
                                          <p:spTgt spid="17"/>
                                        </p:tgtEl>
                                        <p:attrNameLst>
                                          <p:attrName>fillcolor</p:attrName>
                                        </p:attrNameLst>
                                      </p:cBhvr>
                                      <p:to>
                                        <a:srgbClr val="00B050"/>
                                      </p:to>
                                    </p:animClr>
                                    <p:set>
                                      <p:cBhvr>
                                        <p:cTn id="16" dur="2000" fill="hold"/>
                                        <p:tgtEl>
                                          <p:spTgt spid="17"/>
                                        </p:tgtEl>
                                        <p:attrNameLst>
                                          <p:attrName>fill.type</p:attrName>
                                        </p:attrNameLst>
                                      </p:cBhvr>
                                      <p:to>
                                        <p:strVal val="solid"/>
                                      </p:to>
                                    </p:set>
                                    <p:set>
                                      <p:cBhvr>
                                        <p:cTn id="17" dur="2000" fill="hold"/>
                                        <p:tgtEl>
                                          <p:spTgt spid="1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997FF"/>
        </a:solidFill>
        <a:effectLst/>
      </p:bgPr>
    </p:bg>
    <p:spTree>
      <p:nvGrpSpPr>
        <p:cNvPr id="1" name="">
          <a:extLst>
            <a:ext uri="{FF2B5EF4-FFF2-40B4-BE49-F238E27FC236}">
              <a16:creationId xmlns:a16="http://schemas.microsoft.com/office/drawing/2014/main" id="{05205EDF-D843-9D63-531F-7E232D630C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A6CE986-3C5B-41A6-5E0E-66EA147D9B03}"/>
              </a:ext>
            </a:extLst>
          </p:cNvPr>
          <p:cNvSpPr txBox="1"/>
          <p:nvPr/>
        </p:nvSpPr>
        <p:spPr>
          <a:xfrm>
            <a:off x="994557" y="511955"/>
            <a:ext cx="12000000" cy="43088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dirty="0">
                <a:ln>
                  <a:noFill/>
                </a:ln>
                <a:solidFill>
                  <a:srgbClr val="002B11"/>
                </a:solidFill>
                <a:effectLst/>
                <a:uLnTx/>
                <a:uFillTx/>
                <a:latin typeface="Poppins Black"/>
                <a:ea typeface="+mn-ea"/>
                <a:cs typeface="Arial"/>
                <a:sym typeface="Arial"/>
              </a:rPr>
              <a:t>KNOWLEDGE CHECK</a:t>
            </a:r>
          </a:p>
        </p:txBody>
      </p:sp>
      <p:sp>
        <p:nvSpPr>
          <p:cNvPr id="4" name="Rounded Rectangle 3">
            <a:extLst>
              <a:ext uri="{FF2B5EF4-FFF2-40B4-BE49-F238E27FC236}">
                <a16:creationId xmlns:a16="http://schemas.microsoft.com/office/drawing/2014/main" id="{3F5A5035-E257-4636-240B-A69E7D056D0A}"/>
              </a:ext>
            </a:extLst>
          </p:cNvPr>
          <p:cNvSpPr/>
          <p:nvPr/>
        </p:nvSpPr>
        <p:spPr>
          <a:xfrm>
            <a:off x="1004000" y="1349948"/>
            <a:ext cx="16280000" cy="2075905"/>
          </a:xfrm>
          <a:prstGeom prst="roundRect">
            <a:avLst/>
          </a:prstGeom>
          <a:solidFill>
            <a:srgbClr val="FFFF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5" name="TextBox 4">
            <a:extLst>
              <a:ext uri="{FF2B5EF4-FFF2-40B4-BE49-F238E27FC236}">
                <a16:creationId xmlns:a16="http://schemas.microsoft.com/office/drawing/2014/main" id="{B715F62F-F2E8-8F80-F2B6-50DF509B2553}"/>
              </a:ext>
            </a:extLst>
          </p:cNvPr>
          <p:cNvSpPr txBox="1"/>
          <p:nvPr/>
        </p:nvSpPr>
        <p:spPr>
          <a:xfrm>
            <a:off x="1510086" y="1680276"/>
            <a:ext cx="14680000" cy="1323439"/>
          </a:xfrm>
          <a:prstGeom prst="rect">
            <a:avLst/>
          </a:prstGeom>
          <a:noFill/>
        </p:spPr>
        <p:txBody>
          <a:bodyPr wrap="square" anchor="ctr">
            <a:spAutoFit/>
          </a:bodyPr>
          <a:lstStyle/>
          <a:p>
            <a:pPr lvl="0">
              <a:defRPr/>
            </a:pPr>
            <a:r>
              <a:rPr lang="en-US" sz="4000" b="1" dirty="0">
                <a:solidFill>
                  <a:srgbClr val="002B11"/>
                </a:solidFill>
                <a:latin typeface="Poppins"/>
                <a:cs typeface="Arial"/>
                <a:sym typeface="Arial"/>
              </a:rPr>
              <a:t>Which of the following should NOT be included in internal notes?</a:t>
            </a:r>
            <a:endParaRPr kumimoji="0" sz="4000" b="1"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11" name="TextBox 10">
            <a:extLst>
              <a:ext uri="{FF2B5EF4-FFF2-40B4-BE49-F238E27FC236}">
                <a16:creationId xmlns:a16="http://schemas.microsoft.com/office/drawing/2014/main" id="{63436CE9-1425-1F78-68FE-9417D6A3D957}"/>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Tripadvisor</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Fraud support</a:t>
            </a:r>
            <a:r>
              <a:rPr kumimoji="0" sz="1400" b="0" i="0" u="none" strike="noStrike" kern="1200" cap="none" spc="0" normalizeH="0" baseline="0" noProof="0" dirty="0">
                <a:ln>
                  <a:noFill/>
                </a:ln>
                <a:solidFill>
                  <a:srgbClr val="8A8272"/>
                </a:solidFill>
                <a:effectLst/>
                <a:uLnTx/>
                <a:uFillTx/>
                <a:latin typeface="Poppins"/>
                <a:ea typeface="+mn-ea"/>
                <a:cs typeface="Arial"/>
                <a:sym typeface="Arial"/>
              </a:rPr>
              <a:t> / </a:t>
            </a:r>
            <a:r>
              <a:rPr kumimoji="0" lang="en-US" sz="1400" b="0" i="0" u="none" strike="noStrike" kern="1200" cap="none" spc="0" normalizeH="0" baseline="0" noProof="0" dirty="0">
                <a:ln>
                  <a:noFill/>
                </a:ln>
                <a:solidFill>
                  <a:srgbClr val="8A8272"/>
                </a:solidFill>
                <a:effectLst/>
                <a:uLnTx/>
                <a:uFillTx/>
                <a:latin typeface="Poppins"/>
                <a:ea typeface="+mn-ea"/>
                <a:cs typeface="Arial"/>
                <a:sym typeface="Arial"/>
              </a:rPr>
              <a:t>Knowledge check</a:t>
            </a:r>
            <a:endParaRPr kumimoji="0" sz="1400" b="0" i="0" u="none" strike="noStrike" kern="1200" cap="none" spc="0" normalizeH="0" baseline="0" noProof="0" dirty="0">
              <a:ln>
                <a:noFill/>
              </a:ln>
              <a:solidFill>
                <a:srgbClr val="8A8272"/>
              </a:solidFill>
              <a:effectLst/>
              <a:uLnTx/>
              <a:uFillTx/>
              <a:latin typeface="Poppins"/>
              <a:ea typeface="+mn-ea"/>
              <a:cs typeface="Arial"/>
              <a:sym typeface="Arial"/>
            </a:endParaRPr>
          </a:p>
        </p:txBody>
      </p:sp>
      <p:sp>
        <p:nvSpPr>
          <p:cNvPr id="10" name="Rounded Rectangle 3">
            <a:extLst>
              <a:ext uri="{FF2B5EF4-FFF2-40B4-BE49-F238E27FC236}">
                <a16:creationId xmlns:a16="http://schemas.microsoft.com/office/drawing/2014/main" id="{F36C808A-A671-A4A3-0CC5-6AF48044F306}"/>
              </a:ext>
            </a:extLst>
          </p:cNvPr>
          <p:cNvSpPr/>
          <p:nvPr/>
        </p:nvSpPr>
        <p:spPr>
          <a:xfrm>
            <a:off x="1004000" y="383733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4" name="TextBox 13">
            <a:extLst>
              <a:ext uri="{FF2B5EF4-FFF2-40B4-BE49-F238E27FC236}">
                <a16:creationId xmlns:a16="http://schemas.microsoft.com/office/drawing/2014/main" id="{3B79C0C2-5877-9425-3BCE-167DF82BDE99}"/>
              </a:ext>
            </a:extLst>
          </p:cNvPr>
          <p:cNvSpPr txBox="1"/>
          <p:nvPr/>
        </p:nvSpPr>
        <p:spPr>
          <a:xfrm>
            <a:off x="1510086" y="4093416"/>
            <a:ext cx="14680000" cy="584775"/>
          </a:xfrm>
          <a:prstGeom prst="rect">
            <a:avLst/>
          </a:prstGeom>
          <a:noFill/>
        </p:spPr>
        <p:txBody>
          <a:bodyPr wrap="square" anchor="ctr">
            <a:spAutoFit/>
          </a:bodyPr>
          <a:lstStyle/>
          <a:p>
            <a:pPr lvl="0">
              <a:defRPr/>
            </a:pPr>
            <a:r>
              <a:rPr lang="en-US" sz="3200" dirty="0">
                <a:solidFill>
                  <a:srgbClr val="002B11"/>
                </a:solidFill>
                <a:latin typeface="Poppins"/>
                <a:cs typeface="Arial"/>
                <a:sym typeface="Arial"/>
              </a:rPr>
              <a:t>Explanations of research and actions</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16" name="Rounded Rectangle 3">
            <a:extLst>
              <a:ext uri="{FF2B5EF4-FFF2-40B4-BE49-F238E27FC236}">
                <a16:creationId xmlns:a16="http://schemas.microsoft.com/office/drawing/2014/main" id="{DE127740-0D47-A65A-B347-FFC0332DC7D2}"/>
              </a:ext>
            </a:extLst>
          </p:cNvPr>
          <p:cNvSpPr/>
          <p:nvPr/>
        </p:nvSpPr>
        <p:spPr>
          <a:xfrm>
            <a:off x="1004000" y="5203639"/>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18" name="TextBox 17">
            <a:extLst>
              <a:ext uri="{FF2B5EF4-FFF2-40B4-BE49-F238E27FC236}">
                <a16:creationId xmlns:a16="http://schemas.microsoft.com/office/drawing/2014/main" id="{B2469DE1-2065-4345-CC25-B382F9632E58}"/>
              </a:ext>
            </a:extLst>
          </p:cNvPr>
          <p:cNvSpPr txBox="1"/>
          <p:nvPr/>
        </p:nvSpPr>
        <p:spPr>
          <a:xfrm>
            <a:off x="1510086" y="5459721"/>
            <a:ext cx="14680000" cy="584775"/>
          </a:xfrm>
          <a:prstGeom prst="rect">
            <a:avLst/>
          </a:prstGeom>
          <a:noFill/>
        </p:spPr>
        <p:txBody>
          <a:bodyPr wrap="square" anchor="ctr">
            <a:spAutoFit/>
          </a:bodyPr>
          <a:lstStyle>
            <a:defPPr marR="0" lvl="0" algn="l" rtl="0">
              <a:lnSpc>
                <a:spcPct val="100000"/>
              </a:lnSpc>
              <a:spcBef>
                <a:spcPts val="0"/>
              </a:spcBef>
              <a:spcAft>
                <a:spcPts val="0"/>
              </a:spcAft>
            </a:defPPr>
            <a:lvl1pPr>
              <a:buClrTx/>
              <a:defRPr sz="3200" kern="1200">
                <a:solidFill>
                  <a:srgbClr val="002B11"/>
                </a:solidFill>
                <a:latin typeface="Poppins"/>
                <a:ea typeface="+mn-ea"/>
              </a:defRPr>
            </a:lvl1pPr>
          </a:lstStyle>
          <a:p>
            <a:pPr lvl="0">
              <a:defRPr/>
            </a:pPr>
            <a:r>
              <a:rPr lang="en-US" dirty="0">
                <a:cs typeface="Arial"/>
                <a:sym typeface="Arial"/>
              </a:rPr>
              <a:t>Personal opinions about the requester</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20" name="Rounded Rectangle 3">
            <a:extLst>
              <a:ext uri="{FF2B5EF4-FFF2-40B4-BE49-F238E27FC236}">
                <a16:creationId xmlns:a16="http://schemas.microsoft.com/office/drawing/2014/main" id="{FDF9D567-1A3D-F4EC-766F-CED64FAFAA90}"/>
              </a:ext>
            </a:extLst>
          </p:cNvPr>
          <p:cNvSpPr/>
          <p:nvPr/>
        </p:nvSpPr>
        <p:spPr>
          <a:xfrm>
            <a:off x="1000000" y="6569944"/>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2" name="TextBox 21">
            <a:extLst>
              <a:ext uri="{FF2B5EF4-FFF2-40B4-BE49-F238E27FC236}">
                <a16:creationId xmlns:a16="http://schemas.microsoft.com/office/drawing/2014/main" id="{287B71C7-7F72-25EF-654D-2FBBCBCC11E0}"/>
              </a:ext>
            </a:extLst>
          </p:cNvPr>
          <p:cNvSpPr txBox="1"/>
          <p:nvPr/>
        </p:nvSpPr>
        <p:spPr>
          <a:xfrm>
            <a:off x="1506086" y="6826026"/>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lvl="0">
              <a:defRPr/>
            </a:pPr>
            <a:r>
              <a:rPr lang="en-US" dirty="0">
                <a:cs typeface="Arial"/>
                <a:sym typeface="Arial"/>
              </a:rPr>
              <a:t>Review and Location IDs</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sp>
        <p:nvSpPr>
          <p:cNvPr id="24" name="Rounded Rectangle 3">
            <a:extLst>
              <a:ext uri="{FF2B5EF4-FFF2-40B4-BE49-F238E27FC236}">
                <a16:creationId xmlns:a16="http://schemas.microsoft.com/office/drawing/2014/main" id="{63FDBBF7-8D3A-ECBE-E8DB-2404142FF642}"/>
              </a:ext>
            </a:extLst>
          </p:cNvPr>
          <p:cNvSpPr/>
          <p:nvPr/>
        </p:nvSpPr>
        <p:spPr>
          <a:xfrm>
            <a:off x="1000000" y="7949215"/>
            <a:ext cx="16280000" cy="1110223"/>
          </a:xfrm>
          <a:prstGeom prst="roundRect">
            <a:avLst/>
          </a:prstGeom>
          <a:solidFill>
            <a:srgbClr val="D1FF7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endParaRPr kumimoji="0" sz="7200" b="0" i="0" u="none" strike="noStrike" kern="1200" cap="none" spc="0" normalizeH="0" baseline="0" noProof="0">
              <a:ln>
                <a:noFill/>
              </a:ln>
              <a:solidFill>
                <a:prstClr val="white"/>
              </a:solidFill>
              <a:effectLst/>
              <a:uLnTx/>
              <a:uFillTx/>
              <a:latin typeface="Calibri"/>
              <a:ea typeface="+mn-ea"/>
              <a:cs typeface="+mn-cs"/>
              <a:sym typeface="Arial"/>
            </a:endParaRPr>
          </a:p>
        </p:txBody>
      </p:sp>
      <p:sp>
        <p:nvSpPr>
          <p:cNvPr id="26" name="TextBox 25">
            <a:extLst>
              <a:ext uri="{FF2B5EF4-FFF2-40B4-BE49-F238E27FC236}">
                <a16:creationId xmlns:a16="http://schemas.microsoft.com/office/drawing/2014/main" id="{C9A12EF9-B9A9-3041-EA81-D953E6AAB2E8}"/>
              </a:ext>
            </a:extLst>
          </p:cNvPr>
          <p:cNvSpPr txBox="1"/>
          <p:nvPr/>
        </p:nvSpPr>
        <p:spPr>
          <a:xfrm>
            <a:off x="1506086" y="8205297"/>
            <a:ext cx="14680000" cy="584775"/>
          </a:xfrm>
          <a:prstGeom prst="rect">
            <a:avLst/>
          </a:prstGeom>
          <a:noFill/>
        </p:spPr>
        <p:txBody>
          <a:bodyPr wrap="square" anchor="ctr">
            <a:spAutoFit/>
          </a:bodyPr>
          <a:lstStyle>
            <a:defPPr marR="0" lvl="0" algn="l" rtl="0">
              <a:lnSpc>
                <a:spcPct val="100000"/>
              </a:lnSpc>
              <a:spcBef>
                <a:spcPts val="0"/>
              </a:spcBef>
              <a:spcAft>
                <a:spcPts val="0"/>
              </a:spcAft>
              <a:defRPr/>
            </a:defPPr>
            <a:lvl1pPr>
              <a:buClrTx/>
              <a:defRPr sz="3200" kern="1200">
                <a:solidFill>
                  <a:srgbClr val="002B11"/>
                </a:solidFill>
                <a:latin typeface="Poppins"/>
                <a:ea typeface="+mn-ea"/>
              </a:defRPr>
            </a:lvl1pPr>
          </a:lstStyle>
          <a:p>
            <a:pPr lvl="0">
              <a:defRPr/>
            </a:pPr>
            <a:r>
              <a:rPr lang="en-US" dirty="0">
                <a:cs typeface="Arial"/>
                <a:sym typeface="Arial"/>
              </a:rPr>
              <a:t>Reasons for removal and translations</a:t>
            </a:r>
            <a:endParaRPr kumimoji="0" sz="3200" b="0" i="0" u="none" strike="noStrike" kern="1200" cap="none" spc="0" normalizeH="0" baseline="0" noProof="0" dirty="0">
              <a:ln>
                <a:noFill/>
              </a:ln>
              <a:solidFill>
                <a:srgbClr val="002B11"/>
              </a:solidFill>
              <a:effectLst/>
              <a:uLnTx/>
              <a:uFillTx/>
              <a:latin typeface="Poppins"/>
              <a:ea typeface="+mn-ea"/>
              <a:cs typeface="Arial"/>
              <a:sym typeface="Arial"/>
            </a:endParaRPr>
          </a:p>
        </p:txBody>
      </p:sp>
      <p:pic>
        <p:nvPicPr>
          <p:cNvPr id="6" name="Picture 5">
            <a:extLst>
              <a:ext uri="{FF2B5EF4-FFF2-40B4-BE49-F238E27FC236}">
                <a16:creationId xmlns:a16="http://schemas.microsoft.com/office/drawing/2014/main" id="{50BD080A-FC8D-3BA2-7B25-AF88F8F96C51}"/>
              </a:ext>
            </a:extLst>
          </p:cNvPr>
          <p:cNvPicPr>
            <a:picLocks noChangeAspect="1"/>
          </p:cNvPicPr>
          <p:nvPr/>
        </p:nvPicPr>
        <p:blipFill>
          <a:blip r:embed="rId2"/>
          <a:srcRect l="60461" t="63789"/>
          <a:stretch>
            <a:fillRect/>
          </a:stretch>
        </p:blipFill>
        <p:spPr>
          <a:xfrm>
            <a:off x="15687275" y="1935947"/>
            <a:ext cx="1601449" cy="1747475"/>
          </a:xfrm>
          <a:prstGeom prst="rect">
            <a:avLst/>
          </a:prstGeom>
        </p:spPr>
      </p:pic>
    </p:spTree>
    <p:extLst>
      <p:ext uri="{BB962C8B-B14F-4D97-AF65-F5344CB8AC3E}">
        <p14:creationId xmlns:p14="http://schemas.microsoft.com/office/powerpoint/2010/main" val="679576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10"/>
                                        </p:tgtEl>
                                        <p:attrNameLst>
                                          <p:attrName>style.opacity</p:attrName>
                                        </p:attrNameLst>
                                      </p:cBhvr>
                                      <p:to>
                                        <p:strVal val="0.5"/>
                                      </p:to>
                                    </p:set>
                                    <p:animEffect filter="image" prLst="opacity: 0.5">
                                      <p:cBhvr rctx="IE">
                                        <p:cTn id="7" dur="indefinite"/>
                                        <p:tgtEl>
                                          <p:spTgt spid="10"/>
                                        </p:tgtEl>
                                      </p:cBhvr>
                                    </p:animEffect>
                                  </p:childTnLst>
                                </p:cTn>
                              </p:par>
                              <p:par>
                                <p:cTn id="8" presetID="9" presetClass="emph" presetSubtype="0" nodeType="withEffect">
                                  <p:stCondLst>
                                    <p:cond delay="0"/>
                                  </p:stCondLst>
                                  <p:childTnLst>
                                    <p:set>
                                      <p:cBhvr>
                                        <p:cTn id="9" dur="indefinite"/>
                                        <p:tgtEl>
                                          <p:spTgt spid="20"/>
                                        </p:tgtEl>
                                        <p:attrNameLst>
                                          <p:attrName>style.opacity</p:attrName>
                                        </p:attrNameLst>
                                      </p:cBhvr>
                                      <p:to>
                                        <p:strVal val="0.5"/>
                                      </p:to>
                                    </p:set>
                                    <p:animEffect filter="image" prLst="opacity: 0.5">
                                      <p:cBhvr rctx="IE">
                                        <p:cTn id="10" dur="indefinite"/>
                                        <p:tgtEl>
                                          <p:spTgt spid="20"/>
                                        </p:tgtEl>
                                      </p:cBhvr>
                                    </p:animEffect>
                                  </p:childTnLst>
                                </p:cTn>
                              </p:par>
                              <p:par>
                                <p:cTn id="11" presetID="9" presetClass="emph" presetSubtype="0" grpId="0" nodeType="withEffect">
                                  <p:stCondLst>
                                    <p:cond delay="0"/>
                                  </p:stCondLst>
                                  <p:childTnLst>
                                    <p:set>
                                      <p:cBhvr>
                                        <p:cTn id="12" dur="indefinite"/>
                                        <p:tgtEl>
                                          <p:spTgt spid="24"/>
                                        </p:tgtEl>
                                        <p:attrNameLst>
                                          <p:attrName>style.opacity</p:attrName>
                                        </p:attrNameLst>
                                      </p:cBhvr>
                                      <p:to>
                                        <p:strVal val="0.5"/>
                                      </p:to>
                                    </p:set>
                                    <p:animEffect filter="image" prLst="opacity: 0.5">
                                      <p:cBhvr rctx="IE">
                                        <p:cTn id="13" dur="indefinite"/>
                                        <p:tgtEl>
                                          <p:spTgt spid="24"/>
                                        </p:tgtEl>
                                      </p:cBhvr>
                                    </p:animEffect>
                                  </p:childTnLst>
                                </p:cTn>
                              </p:par>
                              <p:par>
                                <p:cTn id="14" presetID="1" presetClass="emph" presetSubtype="2" fill="hold" grpId="0" nodeType="withEffect">
                                  <p:stCondLst>
                                    <p:cond delay="0"/>
                                  </p:stCondLst>
                                  <p:childTnLst>
                                    <p:animClr clrSpc="rgb" dir="cw">
                                      <p:cBhvr>
                                        <p:cTn id="15" dur="2000" fill="hold"/>
                                        <p:tgtEl>
                                          <p:spTgt spid="16"/>
                                        </p:tgtEl>
                                        <p:attrNameLst>
                                          <p:attrName>fillcolor</p:attrName>
                                        </p:attrNameLst>
                                      </p:cBhvr>
                                      <p:to>
                                        <a:srgbClr val="00B050"/>
                                      </p:to>
                                    </p:animClr>
                                    <p:set>
                                      <p:cBhvr>
                                        <p:cTn id="16" dur="2000" fill="hold"/>
                                        <p:tgtEl>
                                          <p:spTgt spid="16"/>
                                        </p:tgtEl>
                                        <p:attrNameLst>
                                          <p:attrName>fill.type</p:attrName>
                                        </p:attrNameLst>
                                      </p:cBhvr>
                                      <p:to>
                                        <p:strVal val="solid"/>
                                      </p:to>
                                    </p:set>
                                    <p:set>
                                      <p:cBhvr>
                                        <p:cTn id="17" dur="2000" fill="hold"/>
                                        <p:tgtEl>
                                          <p:spTgt spid="1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24" grpId="0" animBg="1"/>
    </p:bldLst>
  </p:timing>
</p:sld>
</file>

<file path=ppt/theme/_rels/theme3.xml.rels><?xml version="1.0" encoding="UTF-8" standalone="yes"?>
<Relationships xmlns="http://schemas.openxmlformats.org/package/2006/relationships"><Relationship Id="rId1" Type="http://schemas.openxmlformats.org/officeDocument/2006/relationships/image" Target="../media/image1.sv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lipFill>
          <a:blip xmlns:r="http://schemas.openxmlformats.org/officeDocument/2006/relationships">
            <a:extLst>
              <a:ext uri="{96DAC541-7B7A-43D3-8B79-37D633B846F1}">
                <asvg:svgBlip xmlns:asvg="http://schemas.microsoft.com/office/drawing/2016/SVG/main" r:embed="rId1"/>
              </a:ext>
            </a:extLst>
          </a:blip>
          <a:stretch>
            <a:fillRect/>
          </a:stretch>
        </a:blipFill>
      </a:spPr>
      <a:bodyPr/>
      <a:lstStyle>
        <a:defPPr algn="l">
          <a:defRPr dirty="0"/>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0EE4AE8D3AC874580C728DBD6C58F20" ma:contentTypeVersion="16" ma:contentTypeDescription="Create a new document." ma:contentTypeScope="" ma:versionID="006169719bc193b9aed0450dc1fb951c">
  <xsd:schema xmlns:xsd="http://www.w3.org/2001/XMLSchema" xmlns:xs="http://www.w3.org/2001/XMLSchema" xmlns:p="http://schemas.microsoft.com/office/2006/metadata/properties" xmlns:ns2="363a3933-3acd-4138-81fd-92928eeda287" xmlns:ns3="55fb9b3e-a026-48a2-bdfc-bbf57372bf68" targetNamespace="http://schemas.microsoft.com/office/2006/metadata/properties" ma:root="true" ma:fieldsID="dad33e39320f44d79dd0383e43ad2fe2" ns2:_="" ns3:_="">
    <xsd:import namespace="363a3933-3acd-4138-81fd-92928eeda287"/>
    <xsd:import namespace="55fb9b3e-a026-48a2-bdfc-bbf57372bf6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OCR" minOccurs="0"/>
                <xsd:element ref="ns3:MediaServiceLocatio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3a3933-3acd-4138-81fd-92928eeda28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6b6606f3-8e38-4bb2-982d-ae60526f985d}" ma:internalName="TaxCatchAll" ma:showField="CatchAllData" ma:web="363a3933-3acd-4138-81fd-92928eeda28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5fb9b3e-a026-48a2-bdfc-bbf57372bf6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d924c95-84b7-4d1c-8a87-b591b54e0cf6"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5fb9b3e-a026-48a2-bdfc-bbf57372bf68">
      <Terms xmlns="http://schemas.microsoft.com/office/infopath/2007/PartnerControls"/>
    </lcf76f155ced4ddcb4097134ff3c332f>
    <TaxCatchAll xmlns="363a3933-3acd-4138-81fd-92928eeda287" xsi:nil="true"/>
  </documentManagement>
</p:properties>
</file>

<file path=customXml/itemProps1.xml><?xml version="1.0" encoding="utf-8"?>
<ds:datastoreItem xmlns:ds="http://schemas.openxmlformats.org/officeDocument/2006/customXml" ds:itemID="{1E9506E7-144C-4060-BC92-2F1D4455E342}">
  <ds:schemaRefs>
    <ds:schemaRef ds:uri="http://schemas.microsoft.com/sharepoint/v3/contenttype/forms"/>
  </ds:schemaRefs>
</ds:datastoreItem>
</file>

<file path=customXml/itemProps2.xml><?xml version="1.0" encoding="utf-8"?>
<ds:datastoreItem xmlns:ds="http://schemas.openxmlformats.org/officeDocument/2006/customXml" ds:itemID="{3A2D1D8F-9C7C-4583-BB0A-9401CA95AC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63a3933-3acd-4138-81fd-92928eeda287"/>
    <ds:schemaRef ds:uri="55fb9b3e-a026-48a2-bdfc-bbf57372bf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1C7F919-259F-41B6-96D0-BF77BDF8CF09}">
  <ds:schemaRefs>
    <ds:schemaRef ds:uri="http://schemas.microsoft.com/office/2006/metadata/properties"/>
    <ds:schemaRef ds:uri="http://schemas.microsoft.com/office/infopath/2007/PartnerControls"/>
    <ds:schemaRef ds:uri="55fb9b3e-a026-48a2-bdfc-bbf57372bf68"/>
    <ds:schemaRef ds:uri="363a3933-3acd-4138-81fd-92928eeda287"/>
  </ds:schemaRefs>
</ds:datastoreItem>
</file>

<file path=docProps/app.xml><?xml version="1.0" encoding="utf-8"?>
<Properties xmlns="http://schemas.openxmlformats.org/officeDocument/2006/extended-properties" xmlns:vt="http://schemas.openxmlformats.org/officeDocument/2006/docPropsVTypes">
  <TotalTime>4218</TotalTime>
  <Words>1624</Words>
  <Application>Microsoft Office PowerPoint</Application>
  <PresentationFormat>Custom</PresentationFormat>
  <Paragraphs>247</Paragraphs>
  <Slides>31</Slides>
  <Notes>15</Notes>
  <HiddenSlides>5</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31</vt:i4>
      </vt:variant>
    </vt:vector>
  </HeadingPairs>
  <TitlesOfParts>
    <vt:vector size="40" baseType="lpstr">
      <vt:lpstr>Poppins</vt:lpstr>
      <vt:lpstr>Aptos</vt:lpstr>
      <vt:lpstr>Arial</vt:lpstr>
      <vt:lpstr>Calibri</vt:lpstr>
      <vt:lpstr>Poppins Bold</vt:lpstr>
      <vt:lpstr>Poppins Black</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GTS Focus</dc:title>
  <cp:lastModifiedBy>Anoop Krishnan</cp:lastModifiedBy>
  <cp:revision>78</cp:revision>
  <dcterms:created xsi:type="dcterms:W3CDTF">2006-08-16T00:00:00Z</dcterms:created>
  <dcterms:modified xsi:type="dcterms:W3CDTF">2026-09-18T11:49:54Z</dcterms:modified>
  <dc:identifier>DAHJphC7R98</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0x01010080EE4AE8D3AC874580C728DBD6C58F20</vt:lpwstr>
  </property>
</Properties>
</file>