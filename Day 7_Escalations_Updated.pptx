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omments/modernComment_10C_0.xml" ContentType="application/vnd.ms-powerpoint.comments+xml"/>
  <Override PartName="/ppt/comments/modernComment_110_0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  <p:sldMasterId id="2147483696" r:id="rId5"/>
    <p:sldMasterId id="2147483708" r:id="rId6"/>
    <p:sldMasterId id="2147483720" r:id="rId7"/>
  </p:sldMasterIdLst>
  <p:notesMasterIdLst>
    <p:notesMasterId r:id="rId37"/>
  </p:notesMasterIdLst>
  <p:sldIdLst>
    <p:sldId id="372" r:id="rId8"/>
    <p:sldId id="332" r:id="rId9"/>
    <p:sldId id="257" r:id="rId10"/>
    <p:sldId id="258" r:id="rId11"/>
    <p:sldId id="322" r:id="rId12"/>
    <p:sldId id="261" r:id="rId13"/>
    <p:sldId id="375" r:id="rId14"/>
    <p:sldId id="263" r:id="rId15"/>
    <p:sldId id="373" r:id="rId16"/>
    <p:sldId id="371" r:id="rId17"/>
    <p:sldId id="376" r:id="rId18"/>
    <p:sldId id="266" r:id="rId19"/>
    <p:sldId id="267" r:id="rId20"/>
    <p:sldId id="268" r:id="rId21"/>
    <p:sldId id="270" r:id="rId22"/>
    <p:sldId id="272" r:id="rId23"/>
    <p:sldId id="374" r:id="rId24"/>
    <p:sldId id="276" r:id="rId25"/>
    <p:sldId id="256" r:id="rId26"/>
    <p:sldId id="368" r:id="rId27"/>
    <p:sldId id="369" r:id="rId28"/>
    <p:sldId id="300" r:id="rId29"/>
    <p:sldId id="370" r:id="rId30"/>
    <p:sldId id="361" r:id="rId31"/>
    <p:sldId id="364" r:id="rId32"/>
    <p:sldId id="363" r:id="rId33"/>
    <p:sldId id="367" r:id="rId34"/>
    <p:sldId id="366" r:id="rId35"/>
    <p:sldId id="362" r:id="rId36"/>
  </p:sldIdLst>
  <p:sldSz cx="18288000" cy="10287000"/>
  <p:notesSz cx="6858000" cy="9144000"/>
  <p:embeddedFontLst>
    <p:embeddedFont>
      <p:font typeface="Poppins" panose="00000500000000000000" pitchFamily="2" charset="0"/>
      <p:regular r:id="rId38"/>
      <p:bold r:id="rId39"/>
      <p:italic r:id="rId40"/>
      <p:boldItalic r:id="rId41"/>
    </p:embeddedFont>
    <p:embeddedFont>
      <p:font typeface="Poppins Black" panose="00000A00000000000000" pitchFamily="2" charset="0"/>
      <p:bold r:id="rId42"/>
      <p:boldItalic r:id="rId43"/>
    </p:embeddedFont>
    <p:embeddedFont>
      <p:font typeface="Poppins Bold" panose="00000800000000000000" pitchFamily="2" charset="0"/>
      <p:regular r:id="rId44"/>
      <p:bold r:id="rId4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01739CD-6BD1-BAA4-2804-D2A8DA1BC46A}" name="Anupama Chatti" initials="AC" userId="S::chaanupa@sutherlandglobal.com::8d317b31-7766-4d69-bc0a-0192281c33a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2CF00"/>
    <a:srgbClr val="CFFF21"/>
    <a:srgbClr val="5FEAFF"/>
    <a:srgbClr val="E9EDED"/>
    <a:srgbClr val="6EA56C"/>
    <a:srgbClr val="FBA91E"/>
    <a:srgbClr val="3AC6E1"/>
    <a:srgbClr val="FF97F5"/>
    <a:srgbClr val="00D7BB"/>
    <a:srgbClr val="23E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D57E7C-D32C-5034-7599-91E96DE7EC7A}" v="3" dt="2026-10-05T07:53:09.6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3969" autoAdjust="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font" Target="fonts/font2.fntdata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font" Target="fonts/font5.fntdata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tableStyles" Target="tableStyle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openxmlformats.org/officeDocument/2006/relationships/font" Target="fonts/font7.fntdata"/><Relationship Id="rId52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font" Target="fonts/font6.fntdata"/><Relationship Id="rId48" Type="http://schemas.openxmlformats.org/officeDocument/2006/relationships/theme" Target="theme/theme1.xml"/><Relationship Id="rId8" Type="http://schemas.openxmlformats.org/officeDocument/2006/relationships/slide" Target="slides/slide1.xml"/><Relationship Id="rId51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font" Target="fonts/font1.fntdata"/><Relationship Id="rId46" Type="http://schemas.openxmlformats.org/officeDocument/2006/relationships/presProps" Target="presProps.xml"/><Relationship Id="rId20" Type="http://schemas.openxmlformats.org/officeDocument/2006/relationships/slide" Target="slides/slide13.xml"/><Relationship Id="rId41" Type="http://schemas.openxmlformats.org/officeDocument/2006/relationships/font" Target="fonts/font4.fntdata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pama Chatti" userId="S::chaanupa@sutherlandglobal.com::8d317b31-7766-4d69-bc0a-0192281c33af" providerId="AD" clId="Web-{29D57E7C-D32C-5034-7599-91E96DE7EC7A}"/>
    <pc:docChg chg="modSld">
      <pc:chgData name="Anupama Chatti" userId="S::chaanupa@sutherlandglobal.com::8d317b31-7766-4d69-bc0a-0192281c33af" providerId="AD" clId="Web-{29D57E7C-D32C-5034-7599-91E96DE7EC7A}" dt="2026-10-05T07:53:09.638" v="2" actId="1076"/>
      <pc:docMkLst>
        <pc:docMk/>
      </pc:docMkLst>
      <pc:sldChg chg="modSp">
        <pc:chgData name="Anupama Chatti" userId="S::chaanupa@sutherlandglobal.com::8d317b31-7766-4d69-bc0a-0192281c33af" providerId="AD" clId="Web-{29D57E7C-D32C-5034-7599-91E96DE7EC7A}" dt="2026-10-05T07:53:09.638" v="2" actId="1076"/>
        <pc:sldMkLst>
          <pc:docMk/>
          <pc:sldMk cId="0" sldId="261"/>
        </pc:sldMkLst>
        <pc:spChg chg="mod">
          <ac:chgData name="Anupama Chatti" userId="S::chaanupa@sutherlandglobal.com::8d317b31-7766-4d69-bc0a-0192281c33af" providerId="AD" clId="Web-{29D57E7C-D32C-5034-7599-91E96DE7EC7A}" dt="2026-10-05T07:53:01.404" v="1" actId="1076"/>
          <ac:spMkLst>
            <pc:docMk/>
            <pc:sldMk cId="0" sldId="261"/>
            <ac:spMk id="25" creationId="{00000000-0000-0000-0000-000000000000}"/>
          </ac:spMkLst>
        </pc:spChg>
        <pc:spChg chg="mod">
          <ac:chgData name="Anupama Chatti" userId="S::chaanupa@sutherlandglobal.com::8d317b31-7766-4d69-bc0a-0192281c33af" providerId="AD" clId="Web-{29D57E7C-D32C-5034-7599-91E96DE7EC7A}" dt="2026-10-05T07:53:09.638" v="2" actId="1076"/>
          <ac:spMkLst>
            <pc:docMk/>
            <pc:sldMk cId="0" sldId="261"/>
            <ac:spMk id="26" creationId="{00000000-0000-0000-0000-000000000000}"/>
          </ac:spMkLst>
        </pc:spChg>
      </pc:sldChg>
    </pc:docChg>
  </pc:docChgLst>
</pc:chgInfo>
</file>

<file path=ppt/comments/modernComment_10C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75488A0-D437-4B88-B8FD-2F980632AB8E}" authorId="{601739CD-6BD1-BAA4-2804-D2A8DA1BC46A}" created="2026-09-10T15:56:31.28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8"/>
      <ac:spMk id="2" creationId="{00000000-0000-0000-0000-000000000000}"/>
      <ac:txMk cp="0" len="3">
        <ac:context len="23" hash="4218069904"/>
      </ac:txMk>
    </ac:txMkLst>
    <p188:pos x="1570960" y="541266"/>
    <p188:txBody>
      <a:bodyPr/>
      <a:lstStyle/>
      <a:p>
        <a:r>
          <a:rPr lang="en-US"/>
          <a:t>Need Image from Poc</a:t>
        </a:r>
      </a:p>
    </p188:txBody>
  </p188:cm>
</p188:cmLst>
</file>

<file path=ppt/comments/modernComment_11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54E8516-EEC8-4BF0-810E-B7BC9D4494C8}" authorId="{601739CD-6BD1-BAA4-2804-D2A8DA1BC46A}" created="2026-09-10T14:19:20.53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72"/>
      <ac:spMk id="12" creationId="{00000000-0000-0000-0000-000000000000}"/>
      <ac:txMk cp="89" len="6">
        <ac:context len="107" hash="3771589259"/>
      </ac:txMk>
    </ac:txMkLst>
    <p188:pos x="1118920" y="2616275"/>
    <p188:txBody>
      <a:bodyPr/>
      <a:lstStyle/>
      <a:p>
        <a:r>
          <a:rPr lang="en-US"/>
          <a:t>Need to find out the action from POC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4E6722-D74A-4763-B4C1-06F02889871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41BC73-72EA-413E-AFCB-4E6CDC640B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688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5F239-A7E3-E030-B830-64E732B78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03FB60-3620-8A58-F1A7-D0DE358F86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EEEFCD-04C4-B1E5-F2F7-3D4673A247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The important takeaway is not memorizing every label—it is understanding that different URD selections route cases differently.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B3A963-E6F9-67D0-50C6-673B244C05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1BC73-72EA-413E-AFCB-4E6CDC640BF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5228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FC82D-EB2B-46FA-A37C-06AFD86604D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EE626-E024-4235-B67A-6385AA427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7556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FC82D-EB2B-46FA-A37C-06AFD86604D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EE626-E024-4235-B67A-6385AA427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9308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82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82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FC82D-EB2B-46FA-A37C-06AFD86604D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EE626-E024-4235-B67A-6385AA427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7117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FC82D-EB2B-46FA-A37C-06AFD86604D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EE626-E024-4235-B67A-6385AA427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5593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FC82D-EB2B-46FA-A37C-06AFD86604D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EE626-E024-4235-B67A-6385AA427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7342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FC82D-EB2B-46FA-A37C-06AFD86604D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EE626-E024-4235-B67A-6385AA427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3505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FC82D-EB2B-46FA-A37C-06AFD86604D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EE626-E024-4235-B67A-6385AA427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5687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FC82D-EB2B-46FA-A37C-06AFD86604D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EE626-E024-4235-B67A-6385AA427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7786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FC82D-EB2B-46FA-A37C-06AFD86604D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EE626-E024-4235-B67A-6385AA427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9926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FC82D-EB2B-46FA-A37C-06AFD86604D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EE626-E024-4235-B67A-6385AA427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319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FC82D-EB2B-46FA-A37C-06AFD86604D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EE626-E024-4235-B67A-6385AA427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1015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4260851"/>
            <a:ext cx="15544800" cy="29400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7772400"/>
            <a:ext cx="12801600" cy="35052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9144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3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7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2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6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1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2206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3455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26" y="8813801"/>
            <a:ext cx="15544800" cy="2724150"/>
          </a:xfrm>
        </p:spPr>
        <p:txBody>
          <a:bodyPr anchor="t"/>
          <a:lstStyle>
            <a:lvl1pPr algn="l">
              <a:defRPr sz="8001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4626" y="5813428"/>
            <a:ext cx="15544800" cy="3000374"/>
          </a:xfrm>
        </p:spPr>
        <p:txBody>
          <a:bodyPr anchor="b"/>
          <a:lstStyle>
            <a:lvl1pPr marL="0" indent="0">
              <a:buNone/>
              <a:defRPr sz="4001">
                <a:solidFill>
                  <a:schemeClr val="tx1">
                    <a:tint val="75000"/>
                  </a:schemeClr>
                </a:solidFill>
              </a:defRPr>
            </a:lvl1pPr>
            <a:lvl2pPr marL="914445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2pPr>
            <a:lvl3pPr marL="1828892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743337" indent="0">
              <a:buNone/>
              <a:defRPr sz="2801">
                <a:solidFill>
                  <a:schemeClr val="tx1">
                    <a:tint val="75000"/>
                  </a:schemeClr>
                </a:solidFill>
              </a:defRPr>
            </a:lvl4pPr>
            <a:lvl5pPr marL="3657783" indent="0">
              <a:buNone/>
              <a:defRPr sz="2801">
                <a:solidFill>
                  <a:schemeClr val="tx1">
                    <a:tint val="75000"/>
                  </a:schemeClr>
                </a:solidFill>
              </a:defRPr>
            </a:lvl5pPr>
            <a:lvl6pPr marL="4572228" indent="0">
              <a:buNone/>
              <a:defRPr sz="2801">
                <a:solidFill>
                  <a:schemeClr val="tx1">
                    <a:tint val="75000"/>
                  </a:schemeClr>
                </a:solidFill>
              </a:defRPr>
            </a:lvl6pPr>
            <a:lvl7pPr marL="5486675" indent="0">
              <a:buNone/>
              <a:defRPr sz="2801">
                <a:solidFill>
                  <a:schemeClr val="tx1">
                    <a:tint val="75000"/>
                  </a:schemeClr>
                </a:solidFill>
              </a:defRPr>
            </a:lvl7pPr>
            <a:lvl8pPr marL="6401120" indent="0">
              <a:buNone/>
              <a:defRPr sz="2801">
                <a:solidFill>
                  <a:schemeClr val="tx1">
                    <a:tint val="75000"/>
                  </a:schemeClr>
                </a:solidFill>
              </a:defRPr>
            </a:lvl8pPr>
            <a:lvl9pPr marL="7315566" indent="0">
              <a:buNone/>
              <a:defRPr sz="28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71544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3200402"/>
            <a:ext cx="8077200" cy="9051926"/>
          </a:xfrm>
        </p:spPr>
        <p:txBody>
          <a:bodyPr/>
          <a:lstStyle>
            <a:lvl1pPr>
              <a:defRPr sz="5601"/>
            </a:lvl1pPr>
            <a:lvl2pPr>
              <a:defRPr sz="4800"/>
            </a:lvl2pPr>
            <a:lvl3pPr>
              <a:defRPr sz="4001"/>
            </a:lvl3pPr>
            <a:lvl4pPr>
              <a:defRPr sz="3600"/>
            </a:lvl4pPr>
            <a:lvl5pPr>
              <a:defRPr sz="36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96400" y="3200402"/>
            <a:ext cx="8077200" cy="9051926"/>
          </a:xfrm>
        </p:spPr>
        <p:txBody>
          <a:bodyPr/>
          <a:lstStyle>
            <a:lvl1pPr>
              <a:defRPr sz="5601"/>
            </a:lvl1pPr>
            <a:lvl2pPr>
              <a:defRPr sz="4800"/>
            </a:lvl2pPr>
            <a:lvl3pPr>
              <a:defRPr sz="4001"/>
            </a:lvl3pPr>
            <a:lvl4pPr>
              <a:defRPr sz="3600"/>
            </a:lvl4pPr>
            <a:lvl5pPr>
              <a:defRPr sz="36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1963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1" y="3070226"/>
            <a:ext cx="8080376" cy="12795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45" indent="0">
              <a:buNone/>
              <a:defRPr sz="4001" b="1"/>
            </a:lvl2pPr>
            <a:lvl3pPr marL="1828892" indent="0">
              <a:buNone/>
              <a:defRPr sz="3600" b="1"/>
            </a:lvl3pPr>
            <a:lvl4pPr marL="2743337" indent="0">
              <a:buNone/>
              <a:defRPr sz="3200" b="1"/>
            </a:lvl4pPr>
            <a:lvl5pPr marL="3657783" indent="0">
              <a:buNone/>
              <a:defRPr sz="3200" b="1"/>
            </a:lvl5pPr>
            <a:lvl6pPr marL="4572228" indent="0">
              <a:buNone/>
              <a:defRPr sz="3200" b="1"/>
            </a:lvl6pPr>
            <a:lvl7pPr marL="5486675" indent="0">
              <a:buNone/>
              <a:defRPr sz="3200" b="1"/>
            </a:lvl7pPr>
            <a:lvl8pPr marL="6401120" indent="0">
              <a:buNone/>
              <a:defRPr sz="3200" b="1"/>
            </a:lvl8pPr>
            <a:lvl9pPr marL="7315566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1" y="4349750"/>
            <a:ext cx="8080376" cy="7902576"/>
          </a:xfrm>
        </p:spPr>
        <p:txBody>
          <a:bodyPr/>
          <a:lstStyle>
            <a:lvl1pPr>
              <a:defRPr sz="4800"/>
            </a:lvl1pPr>
            <a:lvl2pPr>
              <a:defRPr sz="4001"/>
            </a:lvl2pPr>
            <a:lvl3pPr>
              <a:defRPr sz="360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90053" y="3070226"/>
            <a:ext cx="8083550" cy="12795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45" indent="0">
              <a:buNone/>
              <a:defRPr sz="4001" b="1"/>
            </a:lvl2pPr>
            <a:lvl3pPr marL="1828892" indent="0">
              <a:buNone/>
              <a:defRPr sz="3600" b="1"/>
            </a:lvl3pPr>
            <a:lvl4pPr marL="2743337" indent="0">
              <a:buNone/>
              <a:defRPr sz="3200" b="1"/>
            </a:lvl4pPr>
            <a:lvl5pPr marL="3657783" indent="0">
              <a:buNone/>
              <a:defRPr sz="3200" b="1"/>
            </a:lvl5pPr>
            <a:lvl6pPr marL="4572228" indent="0">
              <a:buNone/>
              <a:defRPr sz="3200" b="1"/>
            </a:lvl6pPr>
            <a:lvl7pPr marL="5486675" indent="0">
              <a:buNone/>
              <a:defRPr sz="3200" b="1"/>
            </a:lvl7pPr>
            <a:lvl8pPr marL="6401120" indent="0">
              <a:buNone/>
              <a:defRPr sz="3200" b="1"/>
            </a:lvl8pPr>
            <a:lvl9pPr marL="7315566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90053" y="4349750"/>
            <a:ext cx="8083550" cy="7902576"/>
          </a:xfrm>
        </p:spPr>
        <p:txBody>
          <a:bodyPr/>
          <a:lstStyle>
            <a:lvl1pPr>
              <a:defRPr sz="4800"/>
            </a:lvl1pPr>
            <a:lvl2pPr>
              <a:defRPr sz="4001"/>
            </a:lvl2pPr>
            <a:lvl3pPr>
              <a:defRPr sz="360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22635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13463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8521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2" y="546101"/>
            <a:ext cx="6016626" cy="2324100"/>
          </a:xfrm>
        </p:spPr>
        <p:txBody>
          <a:bodyPr anchor="b"/>
          <a:lstStyle>
            <a:lvl1pPr algn="l">
              <a:defRPr sz="4001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50100" y="546101"/>
            <a:ext cx="10223501" cy="11706227"/>
          </a:xfrm>
        </p:spPr>
        <p:txBody>
          <a:bodyPr/>
          <a:lstStyle>
            <a:lvl1pPr>
              <a:defRPr sz="6401"/>
            </a:lvl1pPr>
            <a:lvl2pPr>
              <a:defRPr sz="5601"/>
            </a:lvl2pPr>
            <a:lvl3pPr>
              <a:defRPr sz="4800"/>
            </a:lvl3pPr>
            <a:lvl4pPr>
              <a:defRPr sz="4001"/>
            </a:lvl4pPr>
            <a:lvl5pPr>
              <a:defRPr sz="4001"/>
            </a:lvl5pPr>
            <a:lvl6pPr>
              <a:defRPr sz="4001"/>
            </a:lvl6pPr>
            <a:lvl7pPr>
              <a:defRPr sz="4001"/>
            </a:lvl7pPr>
            <a:lvl8pPr>
              <a:defRPr sz="4001"/>
            </a:lvl8pPr>
            <a:lvl9pPr>
              <a:defRPr sz="400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2" y="2870201"/>
            <a:ext cx="6016626" cy="9382127"/>
          </a:xfrm>
        </p:spPr>
        <p:txBody>
          <a:bodyPr/>
          <a:lstStyle>
            <a:lvl1pPr marL="0" indent="0">
              <a:buNone/>
              <a:defRPr sz="2801"/>
            </a:lvl1pPr>
            <a:lvl2pPr marL="914445" indent="0">
              <a:buNone/>
              <a:defRPr sz="2400"/>
            </a:lvl2pPr>
            <a:lvl3pPr marL="1828892" indent="0">
              <a:buNone/>
              <a:defRPr sz="2000"/>
            </a:lvl3pPr>
            <a:lvl4pPr marL="2743337" indent="0">
              <a:buNone/>
              <a:defRPr sz="1800"/>
            </a:lvl4pPr>
            <a:lvl5pPr marL="3657783" indent="0">
              <a:buNone/>
              <a:defRPr sz="1800"/>
            </a:lvl5pPr>
            <a:lvl6pPr marL="4572228" indent="0">
              <a:buNone/>
              <a:defRPr sz="1800"/>
            </a:lvl6pPr>
            <a:lvl7pPr marL="5486675" indent="0">
              <a:buNone/>
              <a:defRPr sz="1800"/>
            </a:lvl7pPr>
            <a:lvl8pPr marL="6401120" indent="0">
              <a:buNone/>
              <a:defRPr sz="1800"/>
            </a:lvl8pPr>
            <a:lvl9pPr marL="7315566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31961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4576" y="9601201"/>
            <a:ext cx="10972800" cy="1133477"/>
          </a:xfrm>
        </p:spPr>
        <p:txBody>
          <a:bodyPr anchor="b"/>
          <a:lstStyle>
            <a:lvl1pPr algn="l">
              <a:defRPr sz="4001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84576" y="1225549"/>
            <a:ext cx="10972800" cy="8229600"/>
          </a:xfrm>
        </p:spPr>
        <p:txBody>
          <a:bodyPr/>
          <a:lstStyle>
            <a:lvl1pPr marL="0" indent="0">
              <a:buNone/>
              <a:defRPr sz="6401"/>
            </a:lvl1pPr>
            <a:lvl2pPr marL="914445" indent="0">
              <a:buNone/>
              <a:defRPr sz="5601"/>
            </a:lvl2pPr>
            <a:lvl3pPr marL="1828892" indent="0">
              <a:buNone/>
              <a:defRPr sz="4800"/>
            </a:lvl3pPr>
            <a:lvl4pPr marL="2743337" indent="0">
              <a:buNone/>
              <a:defRPr sz="4001"/>
            </a:lvl4pPr>
            <a:lvl5pPr marL="3657783" indent="0">
              <a:buNone/>
              <a:defRPr sz="4001"/>
            </a:lvl5pPr>
            <a:lvl6pPr marL="4572228" indent="0">
              <a:buNone/>
              <a:defRPr sz="4001"/>
            </a:lvl6pPr>
            <a:lvl7pPr marL="5486675" indent="0">
              <a:buNone/>
              <a:defRPr sz="4001"/>
            </a:lvl7pPr>
            <a:lvl8pPr marL="6401120" indent="0">
              <a:buNone/>
              <a:defRPr sz="4001"/>
            </a:lvl8pPr>
            <a:lvl9pPr marL="7315566" indent="0">
              <a:buNone/>
              <a:defRPr sz="4001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84576" y="10734677"/>
            <a:ext cx="10972800" cy="1609724"/>
          </a:xfrm>
        </p:spPr>
        <p:txBody>
          <a:bodyPr/>
          <a:lstStyle>
            <a:lvl1pPr marL="0" indent="0">
              <a:buNone/>
              <a:defRPr sz="2801"/>
            </a:lvl1pPr>
            <a:lvl2pPr marL="914445" indent="0">
              <a:buNone/>
              <a:defRPr sz="2400"/>
            </a:lvl2pPr>
            <a:lvl3pPr marL="1828892" indent="0">
              <a:buNone/>
              <a:defRPr sz="2000"/>
            </a:lvl3pPr>
            <a:lvl4pPr marL="2743337" indent="0">
              <a:buNone/>
              <a:defRPr sz="1800"/>
            </a:lvl4pPr>
            <a:lvl5pPr marL="3657783" indent="0">
              <a:buNone/>
              <a:defRPr sz="1800"/>
            </a:lvl5pPr>
            <a:lvl6pPr marL="4572228" indent="0">
              <a:buNone/>
              <a:defRPr sz="1800"/>
            </a:lvl6pPr>
            <a:lvl7pPr marL="5486675" indent="0">
              <a:buNone/>
              <a:defRPr sz="1800"/>
            </a:lvl7pPr>
            <a:lvl8pPr marL="6401120" indent="0">
              <a:buNone/>
              <a:defRPr sz="1800"/>
            </a:lvl8pPr>
            <a:lvl9pPr marL="7315566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1903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7942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258800" y="549278"/>
            <a:ext cx="4114800" cy="117030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549278"/>
            <a:ext cx="12039600" cy="117030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9471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0655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8011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28372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77878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54243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81467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83647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21200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32634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33040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800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EFC82D-EB2B-46FA-A37C-06AFD86604D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9EE626-E024-4235-B67A-6385AA427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152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549276"/>
            <a:ext cx="16459200" cy="2286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3200402"/>
            <a:ext cx="16459200" cy="90519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4400" y="12712702"/>
            <a:ext cx="42672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8400" y="12712702"/>
            <a:ext cx="57912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106400" y="12712702"/>
            <a:ext cx="42672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55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914445" rtl="0" eaLnBrk="1" latinLnBrk="0" hangingPunct="1">
        <a:spcBef>
          <a:spcPct val="0"/>
        </a:spcBef>
        <a:buNone/>
        <a:defRPr sz="88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85835" indent="-685835" algn="l" defTabSz="914445" rtl="0" eaLnBrk="1" latinLnBrk="0" hangingPunct="1">
        <a:spcBef>
          <a:spcPct val="20000"/>
        </a:spcBef>
        <a:buFont typeface="Arial"/>
        <a:buChar char="•"/>
        <a:defRPr sz="6401" kern="1200">
          <a:solidFill>
            <a:schemeClr val="tx1"/>
          </a:solidFill>
          <a:latin typeface="+mn-lt"/>
          <a:ea typeface="+mn-ea"/>
          <a:cs typeface="+mn-cs"/>
        </a:defRPr>
      </a:lvl1pPr>
      <a:lvl2pPr marL="1485975" indent="-571529" algn="l" defTabSz="914445" rtl="0" eaLnBrk="1" latinLnBrk="0" hangingPunct="1">
        <a:spcBef>
          <a:spcPct val="20000"/>
        </a:spcBef>
        <a:buFont typeface="Arial"/>
        <a:buChar char="–"/>
        <a:defRPr sz="5601" kern="1200">
          <a:solidFill>
            <a:schemeClr val="tx1"/>
          </a:solidFill>
          <a:latin typeface="+mn-lt"/>
          <a:ea typeface="+mn-ea"/>
          <a:cs typeface="+mn-cs"/>
        </a:defRPr>
      </a:lvl2pPr>
      <a:lvl3pPr marL="2286114" indent="-457223" algn="l" defTabSz="914445" rtl="0" eaLnBrk="1" latinLnBrk="0" hangingPunct="1">
        <a:spcBef>
          <a:spcPct val="20000"/>
        </a:spcBef>
        <a:buFont typeface="Arial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561" indent="-457223" algn="l" defTabSz="914445" rtl="0" eaLnBrk="1" latinLnBrk="0" hangingPunct="1">
        <a:spcBef>
          <a:spcPct val="20000"/>
        </a:spcBef>
        <a:buFont typeface="Arial"/>
        <a:buChar char="–"/>
        <a:defRPr sz="4001" kern="1200">
          <a:solidFill>
            <a:schemeClr val="tx1"/>
          </a:solidFill>
          <a:latin typeface="+mn-lt"/>
          <a:ea typeface="+mn-ea"/>
          <a:cs typeface="+mn-cs"/>
        </a:defRPr>
      </a:lvl4pPr>
      <a:lvl5pPr marL="4115006" indent="-457223" algn="l" defTabSz="914445" rtl="0" eaLnBrk="1" latinLnBrk="0" hangingPunct="1">
        <a:spcBef>
          <a:spcPct val="20000"/>
        </a:spcBef>
        <a:buFont typeface="Arial"/>
        <a:buChar char="»"/>
        <a:defRPr sz="4001" kern="1200">
          <a:solidFill>
            <a:schemeClr val="tx1"/>
          </a:solidFill>
          <a:latin typeface="+mn-lt"/>
          <a:ea typeface="+mn-ea"/>
          <a:cs typeface="+mn-cs"/>
        </a:defRPr>
      </a:lvl5pPr>
      <a:lvl6pPr marL="5029452" indent="-457223" algn="l" defTabSz="914445" rtl="0" eaLnBrk="1" latinLnBrk="0" hangingPunct="1">
        <a:spcBef>
          <a:spcPct val="20000"/>
        </a:spcBef>
        <a:buFont typeface="Arial"/>
        <a:buChar char="•"/>
        <a:defRPr sz="4001" kern="1200">
          <a:solidFill>
            <a:schemeClr val="tx1"/>
          </a:solidFill>
          <a:latin typeface="+mn-lt"/>
          <a:ea typeface="+mn-ea"/>
          <a:cs typeface="+mn-cs"/>
        </a:defRPr>
      </a:lvl6pPr>
      <a:lvl7pPr marL="5943897" indent="-457223" algn="l" defTabSz="914445" rtl="0" eaLnBrk="1" latinLnBrk="0" hangingPunct="1">
        <a:spcBef>
          <a:spcPct val="20000"/>
        </a:spcBef>
        <a:buFont typeface="Arial"/>
        <a:buChar char="•"/>
        <a:defRPr sz="4001" kern="1200">
          <a:solidFill>
            <a:schemeClr val="tx1"/>
          </a:solidFill>
          <a:latin typeface="+mn-lt"/>
          <a:ea typeface="+mn-ea"/>
          <a:cs typeface="+mn-cs"/>
        </a:defRPr>
      </a:lvl7pPr>
      <a:lvl8pPr marL="6858344" indent="-457223" algn="l" defTabSz="914445" rtl="0" eaLnBrk="1" latinLnBrk="0" hangingPunct="1">
        <a:spcBef>
          <a:spcPct val="20000"/>
        </a:spcBef>
        <a:buFont typeface="Arial"/>
        <a:buChar char="•"/>
        <a:defRPr sz="4001" kern="1200">
          <a:solidFill>
            <a:schemeClr val="tx1"/>
          </a:solidFill>
          <a:latin typeface="+mn-lt"/>
          <a:ea typeface="+mn-ea"/>
          <a:cs typeface="+mn-cs"/>
        </a:defRPr>
      </a:lvl8pPr>
      <a:lvl9pPr marL="7772789" indent="-457223" algn="l" defTabSz="914445" rtl="0" eaLnBrk="1" latinLnBrk="0" hangingPunct="1">
        <a:spcBef>
          <a:spcPct val="20000"/>
        </a:spcBef>
        <a:buFont typeface="Arial"/>
        <a:buChar char="•"/>
        <a:defRPr sz="40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5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45" algn="l" defTabSz="914445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92" algn="l" defTabSz="914445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337" algn="l" defTabSz="914445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783" algn="l" defTabSz="914445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228" algn="l" defTabSz="914445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675" algn="l" defTabSz="914445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1120" algn="l" defTabSz="914445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566" algn="l" defTabSz="914445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035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svg"/><Relationship Id="rId3" Type="http://schemas.openxmlformats.org/officeDocument/2006/relationships/image" Target="../media/image5.sv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svg"/><Relationship Id="rId10" Type="http://schemas.openxmlformats.org/officeDocument/2006/relationships/image" Target="../media/image12.svg"/><Relationship Id="rId4" Type="http://schemas.openxmlformats.org/officeDocument/2006/relationships/image" Target="../media/image6.png"/><Relationship Id="rId9" Type="http://schemas.openxmlformats.org/officeDocument/2006/relationships/image" Target="../media/image11.svg"/><Relationship Id="rId1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sv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C_0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7" Type="http://schemas.microsoft.com/office/2007/relationships/hdphoto" Target="../media/hdphoto1.wdp"/><Relationship Id="rId2" Type="http://schemas.microsoft.com/office/2018/10/relationships/comments" Target="../comments/modernComment_110_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hyperlink" Target="mailto:exp-cscare@viator.com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5" Type="http://schemas.openxmlformats.org/officeDocument/2006/relationships/image" Target="../media/image16.png"/><Relationship Id="rId4" Type="http://schemas.openxmlformats.org/officeDocument/2006/relationships/image" Target="../media/image4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2.wd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2.wd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2.wdp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1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8FB831-B1DE-0417-9D86-60384F3B4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3EF7ED-C245-7985-9CD6-33F5E95AE233}"/>
              </a:ext>
            </a:extLst>
          </p:cNvPr>
          <p:cNvSpPr txBox="1"/>
          <p:nvPr/>
        </p:nvSpPr>
        <p:spPr>
          <a:xfrm>
            <a:off x="1000000" y="919524"/>
            <a:ext cx="16200000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Black"/>
                <a:ea typeface="+mn-ea"/>
                <a:cs typeface="+mn-cs"/>
              </a:rPr>
              <a:t>Agenda</a:t>
            </a:r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554ED70A-CE9E-26F1-329E-9F396DED41ED}"/>
              </a:ext>
            </a:extLst>
          </p:cNvPr>
          <p:cNvSpPr/>
          <p:nvPr/>
        </p:nvSpPr>
        <p:spPr>
          <a:xfrm>
            <a:off x="988848" y="2225301"/>
            <a:ext cx="16200000" cy="1015663"/>
          </a:xfrm>
          <a:prstGeom prst="roundRect">
            <a:avLst/>
          </a:prstGeom>
          <a:solidFill>
            <a:srgbClr val="CFFF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803750-50CB-AB5A-F995-51899F12CD32}"/>
              </a:ext>
            </a:extLst>
          </p:cNvPr>
          <p:cNvSpPr txBox="1"/>
          <p:nvPr/>
        </p:nvSpPr>
        <p:spPr>
          <a:xfrm>
            <a:off x="1527716" y="2247900"/>
            <a:ext cx="140000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>
              <a:defRPr/>
            </a:pPr>
            <a:r>
              <a:rPr lang="en-US" sz="2800" b="1" dirty="0">
                <a:solidFill>
                  <a:srgbClr val="002B11"/>
                </a:solidFill>
                <a:latin typeface="Poppins Black" panose="00000A00000000000000" pitchFamily="2" charset="0"/>
                <a:cs typeface="Poppins Black" panose="00000A00000000000000" pitchFamily="2" charset="0"/>
              </a:rPr>
              <a:t>Escalation</a:t>
            </a:r>
            <a:r>
              <a:rPr lang="en-US" sz="2800" b="1" dirty="0">
                <a:solidFill>
                  <a:srgbClr val="002B11"/>
                </a:solidFill>
              </a:rPr>
              <a:t> </a:t>
            </a:r>
            <a:r>
              <a:rPr lang="en-US" sz="2800" b="1" dirty="0">
                <a:solidFill>
                  <a:srgbClr val="002B11"/>
                </a:solidFill>
                <a:latin typeface="Poppins Black" panose="00000A00000000000000" pitchFamily="2" charset="0"/>
                <a:cs typeface="Poppins Black" panose="00000A00000000000000" pitchFamily="2" charset="0"/>
              </a:rPr>
              <a:t>Paths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 Black" panose="00000A00000000000000" pitchFamily="2" charset="0"/>
              <a:cs typeface="Poppins Black" panose="00000A00000000000000" pitchFamily="2" charset="0"/>
            </a:endParaRPr>
          </a:p>
        </p:txBody>
      </p:sp>
      <p:sp>
        <p:nvSpPr>
          <p:cNvPr id="25" name="Rounded Rectangle 5">
            <a:extLst>
              <a:ext uri="{FF2B5EF4-FFF2-40B4-BE49-F238E27FC236}">
                <a16:creationId xmlns:a16="http://schemas.microsoft.com/office/drawing/2014/main" id="{F4E75B93-0E06-02BE-DC70-862136BAF5CE}"/>
              </a:ext>
            </a:extLst>
          </p:cNvPr>
          <p:cNvSpPr/>
          <p:nvPr/>
        </p:nvSpPr>
        <p:spPr>
          <a:xfrm>
            <a:off x="961368" y="3656871"/>
            <a:ext cx="16200000" cy="1015663"/>
          </a:xfrm>
          <a:prstGeom prst="roundRect">
            <a:avLst/>
          </a:prstGeom>
          <a:solidFill>
            <a:srgbClr val="FF86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ounded Rectangle 7">
            <a:extLst>
              <a:ext uri="{FF2B5EF4-FFF2-40B4-BE49-F238E27FC236}">
                <a16:creationId xmlns:a16="http://schemas.microsoft.com/office/drawing/2014/main" id="{C155AA8B-AE66-1F0D-4B84-4E93EC3EFC5E}"/>
              </a:ext>
            </a:extLst>
          </p:cNvPr>
          <p:cNvSpPr/>
          <p:nvPr/>
        </p:nvSpPr>
        <p:spPr>
          <a:xfrm>
            <a:off x="977697" y="6453729"/>
            <a:ext cx="16200000" cy="1015663"/>
          </a:xfrm>
          <a:prstGeom prst="roundRect">
            <a:avLst/>
          </a:prstGeom>
          <a:solidFill>
            <a:srgbClr val="9B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7DA9C2A-6325-8417-6E43-A767B7032668}"/>
              </a:ext>
            </a:extLst>
          </p:cNvPr>
          <p:cNvSpPr txBox="1"/>
          <p:nvPr/>
        </p:nvSpPr>
        <p:spPr>
          <a:xfrm>
            <a:off x="1295400" y="2735280"/>
            <a:ext cx="12493084" cy="4755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37489" lvl="1">
              <a:lnSpc>
                <a:spcPts val="3079"/>
              </a:lnSpc>
            </a:pPr>
            <a:r>
              <a:rPr lang="en-US" sz="2199" dirty="0">
                <a:solidFill>
                  <a:srgbClr val="002B11"/>
                </a:solidFill>
                <a:latin typeface="Poppins"/>
                <a:ea typeface="Poppins"/>
                <a:cs typeface="Poppins"/>
                <a:sym typeface="Poppins"/>
              </a:rPr>
              <a:t>Let’s identify </a:t>
            </a:r>
            <a:r>
              <a:rPr lang="en-US" sz="2400" dirty="0">
                <a:solidFill>
                  <a:srgbClr val="002B11"/>
                </a:solidFill>
              </a:rPr>
              <a:t>where different cases should be escalated</a:t>
            </a:r>
            <a:endParaRPr lang="en-US" sz="2199" dirty="0">
              <a:solidFill>
                <a:srgbClr val="002B1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74751E8-639A-4D8B-4B28-1D9D54EA2C0F}"/>
              </a:ext>
            </a:extLst>
          </p:cNvPr>
          <p:cNvSpPr txBox="1"/>
          <p:nvPr/>
        </p:nvSpPr>
        <p:spPr>
          <a:xfrm>
            <a:off x="1496519" y="3705880"/>
            <a:ext cx="140000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>
              <a:defRPr/>
            </a:pPr>
            <a:r>
              <a:rPr lang="en-US" sz="2800" dirty="0">
                <a:solidFill>
                  <a:srgbClr val="002B11"/>
                </a:solidFill>
                <a:latin typeface="Poppins Black" panose="00000A00000000000000" pitchFamily="2" charset="0"/>
                <a:cs typeface="Poppins Black" panose="00000A00000000000000" pitchFamily="2" charset="0"/>
              </a:rPr>
              <a:t>Mandatory INV Escalations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 Black" panose="00000A00000000000000" pitchFamily="2" charset="0"/>
              <a:cs typeface="Poppins Black" panose="00000A00000000000000" pitchFamily="2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7DF6C73-B583-37CA-C6D3-165135A0F2CA}"/>
              </a:ext>
            </a:extLst>
          </p:cNvPr>
          <p:cNvSpPr txBox="1"/>
          <p:nvPr/>
        </p:nvSpPr>
        <p:spPr>
          <a:xfrm>
            <a:off x="1496519" y="4184608"/>
            <a:ext cx="140000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>
              <a:defRPr/>
            </a:pPr>
            <a:r>
              <a:rPr lang="en-US" sz="2400" dirty="0">
                <a:solidFill>
                  <a:srgbClr val="002B11"/>
                </a:solidFill>
              </a:rPr>
              <a:t>Let’s learn how to recognize cases that must go to INV escalations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331AF46-B590-BB7A-29BD-A1BD3D2E5F66}"/>
              </a:ext>
            </a:extLst>
          </p:cNvPr>
          <p:cNvSpPr txBox="1"/>
          <p:nvPr/>
        </p:nvSpPr>
        <p:spPr>
          <a:xfrm>
            <a:off x="1527716" y="6525280"/>
            <a:ext cx="140000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>
              <a:defRPr/>
            </a:pPr>
            <a:r>
              <a:rPr lang="en-US" sz="2800" dirty="0">
                <a:solidFill>
                  <a:srgbClr val="002B11"/>
                </a:solidFill>
                <a:latin typeface="Poppins Black" panose="00000A00000000000000" pitchFamily="2" charset="0"/>
                <a:cs typeface="Poppins Black" panose="00000A00000000000000" pitchFamily="2" charset="0"/>
              </a:rPr>
              <a:t>Writing Clear Escalations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 Black" panose="00000A00000000000000" pitchFamily="2" charset="0"/>
              <a:cs typeface="Poppins Black" panose="00000A00000000000000" pitchFamily="2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B6C1976-BE36-60C5-3725-3196B91E67A5}"/>
              </a:ext>
            </a:extLst>
          </p:cNvPr>
          <p:cNvSpPr txBox="1"/>
          <p:nvPr/>
        </p:nvSpPr>
        <p:spPr>
          <a:xfrm>
            <a:off x="1527716" y="6984116"/>
            <a:ext cx="140000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>
              <a:defRPr/>
            </a:pPr>
            <a:r>
              <a:rPr lang="en-US" sz="2400" dirty="0">
                <a:solidFill>
                  <a:srgbClr val="002B11"/>
                </a:solidFill>
              </a:rPr>
              <a:t>Let’s learn how to provide the right context and proposed action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40" name="Rounded Rectangle 5">
            <a:extLst>
              <a:ext uri="{FF2B5EF4-FFF2-40B4-BE49-F238E27FC236}">
                <a16:creationId xmlns:a16="http://schemas.microsoft.com/office/drawing/2014/main" id="{04079997-B11F-769F-F53B-71FCE7A796C1}"/>
              </a:ext>
            </a:extLst>
          </p:cNvPr>
          <p:cNvSpPr/>
          <p:nvPr/>
        </p:nvSpPr>
        <p:spPr>
          <a:xfrm>
            <a:off x="999734" y="5043018"/>
            <a:ext cx="16200000" cy="1015663"/>
          </a:xfrm>
          <a:prstGeom prst="roundRect">
            <a:avLst/>
          </a:prstGeom>
          <a:solidFill>
            <a:srgbClr val="23E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23C021F-F4EC-1D8C-3A8E-1424BFF447FA}"/>
              </a:ext>
            </a:extLst>
          </p:cNvPr>
          <p:cNvSpPr txBox="1"/>
          <p:nvPr/>
        </p:nvSpPr>
        <p:spPr>
          <a:xfrm>
            <a:off x="1534885" y="5077480"/>
            <a:ext cx="140000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>
              <a:defRPr/>
            </a:pPr>
            <a:r>
              <a:rPr lang="en-US" sz="2800" dirty="0">
                <a:solidFill>
                  <a:srgbClr val="002B11"/>
                </a:solidFill>
                <a:latin typeface="Poppins Black" panose="00000A00000000000000" pitchFamily="2" charset="0"/>
                <a:cs typeface="Poppins Black" panose="00000A00000000000000" pitchFamily="2" charset="0"/>
              </a:rPr>
              <a:t>Handling Escalations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 Black" panose="00000A00000000000000" pitchFamily="2" charset="0"/>
              <a:cs typeface="Poppins Black" panose="00000A00000000000000" pitchFamily="2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F5C0C8B-DD88-C56F-F9E6-D0B767934196}"/>
              </a:ext>
            </a:extLst>
          </p:cNvPr>
          <p:cNvSpPr txBox="1"/>
          <p:nvPr/>
        </p:nvSpPr>
        <p:spPr>
          <a:xfrm>
            <a:off x="1534885" y="5570755"/>
            <a:ext cx="140000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>
              <a:defRPr/>
            </a:pPr>
            <a:r>
              <a:rPr lang="en-US" sz="2400" dirty="0">
                <a:solidFill>
                  <a:srgbClr val="002B11"/>
                </a:solidFill>
              </a:rPr>
              <a:t>Let’s learn how to safely handle escalations from CS and other TA employees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46" name="Rounded Rectangle 9">
            <a:extLst>
              <a:ext uri="{FF2B5EF4-FFF2-40B4-BE49-F238E27FC236}">
                <a16:creationId xmlns:a16="http://schemas.microsoft.com/office/drawing/2014/main" id="{537E71A1-4C11-40FC-A93F-8FC8BB370109}"/>
              </a:ext>
            </a:extLst>
          </p:cNvPr>
          <p:cNvSpPr/>
          <p:nvPr/>
        </p:nvSpPr>
        <p:spPr>
          <a:xfrm>
            <a:off x="977697" y="7873577"/>
            <a:ext cx="16200000" cy="1015663"/>
          </a:xfrm>
          <a:prstGeom prst="roundRect">
            <a:avLst/>
          </a:prstGeom>
          <a:solidFill>
            <a:srgbClr val="D95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EFBD8C2-479C-89E5-6350-84CBE77128C2}"/>
              </a:ext>
            </a:extLst>
          </p:cNvPr>
          <p:cNvSpPr txBox="1"/>
          <p:nvPr/>
        </p:nvSpPr>
        <p:spPr>
          <a:xfrm>
            <a:off x="1496519" y="7946627"/>
            <a:ext cx="140000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>
              <a:defRPr/>
            </a:pPr>
            <a:r>
              <a:rPr lang="en-US" sz="2800" dirty="0">
                <a:solidFill>
                  <a:srgbClr val="002B11"/>
                </a:solidFill>
                <a:latin typeface="Poppins Black" panose="00000A00000000000000" pitchFamily="2" charset="0"/>
                <a:cs typeface="Poppins Black" panose="00000A00000000000000" pitchFamily="2" charset="0"/>
              </a:rPr>
              <a:t>Avoiding Escalation Mistakes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 Black" panose="00000A00000000000000" pitchFamily="2" charset="0"/>
              <a:cs typeface="Poppins Black" panose="00000A00000000000000" pitchFamily="2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768CB85-EFC8-48A4-5E42-80A01103FD7B}"/>
              </a:ext>
            </a:extLst>
          </p:cNvPr>
          <p:cNvSpPr txBox="1"/>
          <p:nvPr/>
        </p:nvSpPr>
        <p:spPr>
          <a:xfrm>
            <a:off x="1524000" y="8410329"/>
            <a:ext cx="140000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>
              <a:defRPr/>
            </a:pPr>
            <a:r>
              <a:rPr lang="en-US" sz="2400" dirty="0">
                <a:solidFill>
                  <a:srgbClr val="002B11"/>
                </a:solidFill>
              </a:rPr>
              <a:t>Let’s identify which mistakes to avoid when handling escalations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73FA69A-9D92-CA24-BEB4-A8F12B6BCAEF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Tripadvisor / Fraud support / Agenda</a:t>
            </a:r>
          </a:p>
        </p:txBody>
      </p:sp>
    </p:spTree>
    <p:extLst>
      <p:ext uri="{BB962C8B-B14F-4D97-AF65-F5344CB8AC3E}">
        <p14:creationId xmlns:p14="http://schemas.microsoft.com/office/powerpoint/2010/main" val="2030437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518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32CAEF-AB96-91C2-8075-99EE2E311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60C987CE-946D-C30A-5777-9882A80A4E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8385" y="190500"/>
            <a:ext cx="17331231" cy="8229600"/>
          </a:xfrm>
          <a:prstGeom prst="rect">
            <a:avLst/>
          </a:prstGeom>
        </p:spPr>
      </p:pic>
      <p:sp>
        <p:nvSpPr>
          <p:cNvPr id="3" name="AutoShape 3">
            <a:extLst>
              <a:ext uri="{FF2B5EF4-FFF2-40B4-BE49-F238E27FC236}">
                <a16:creationId xmlns:a16="http://schemas.microsoft.com/office/drawing/2014/main" id="{B22C2110-94AE-59B9-CB3D-E32EF3A8F670}"/>
              </a:ext>
            </a:extLst>
          </p:cNvPr>
          <p:cNvSpPr/>
          <p:nvPr/>
        </p:nvSpPr>
        <p:spPr>
          <a:xfrm>
            <a:off x="478385" y="8703951"/>
            <a:ext cx="17331231" cy="0"/>
          </a:xfrm>
          <a:prstGeom prst="line">
            <a:avLst/>
          </a:prstGeom>
          <a:ln w="38100" cap="flat">
            <a:solidFill>
              <a:srgbClr val="002B1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25215F4A-8514-9DCA-9672-AF01F1A12E97}"/>
              </a:ext>
            </a:extLst>
          </p:cNvPr>
          <p:cNvGrpSpPr/>
          <p:nvPr/>
        </p:nvGrpSpPr>
        <p:grpSpPr>
          <a:xfrm>
            <a:off x="1028700" y="671195"/>
            <a:ext cx="2239382" cy="670446"/>
            <a:chOff x="0" y="0"/>
            <a:chExt cx="589796" cy="176578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0AB800A-3DF2-D222-E91D-8667D0D28093}"/>
                </a:ext>
              </a:extLst>
            </p:cNvPr>
            <p:cNvSpPr/>
            <p:nvPr/>
          </p:nvSpPr>
          <p:spPr>
            <a:xfrm>
              <a:off x="0" y="0"/>
              <a:ext cx="589796" cy="176578"/>
            </a:xfrm>
            <a:custGeom>
              <a:avLst/>
              <a:gdLst/>
              <a:ahLst/>
              <a:cxnLst/>
              <a:rect l="l" t="t" r="r" b="b"/>
              <a:pathLst>
                <a:path w="589796" h="176578">
                  <a:moveTo>
                    <a:pt x="88289" y="0"/>
                  </a:moveTo>
                  <a:lnTo>
                    <a:pt x="501507" y="0"/>
                  </a:lnTo>
                  <a:cubicBezTo>
                    <a:pt x="524923" y="0"/>
                    <a:pt x="547379" y="9302"/>
                    <a:pt x="563937" y="25859"/>
                  </a:cubicBezTo>
                  <a:cubicBezTo>
                    <a:pt x="580494" y="42417"/>
                    <a:pt x="589796" y="64873"/>
                    <a:pt x="589796" y="88289"/>
                  </a:cubicBezTo>
                  <a:lnTo>
                    <a:pt x="589796" y="88289"/>
                  </a:lnTo>
                  <a:cubicBezTo>
                    <a:pt x="589796" y="137050"/>
                    <a:pt x="550268" y="176578"/>
                    <a:pt x="501507" y="176578"/>
                  </a:cubicBezTo>
                  <a:lnTo>
                    <a:pt x="88289" y="176578"/>
                  </a:lnTo>
                  <a:cubicBezTo>
                    <a:pt x="39528" y="176578"/>
                    <a:pt x="0" y="137050"/>
                    <a:pt x="0" y="88289"/>
                  </a:cubicBezTo>
                  <a:lnTo>
                    <a:pt x="0" y="88289"/>
                  </a:lnTo>
                  <a:cubicBezTo>
                    <a:pt x="0" y="39528"/>
                    <a:pt x="39528" y="0"/>
                    <a:pt x="88289" y="0"/>
                  </a:cubicBezTo>
                  <a:close/>
                </a:path>
              </a:pathLst>
            </a:custGeom>
            <a:solidFill>
              <a:srgbClr val="FB5184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8B3A8175-27A6-7563-D58D-36AC5C29E575}"/>
                </a:ext>
              </a:extLst>
            </p:cNvPr>
            <p:cNvSpPr txBox="1"/>
            <p:nvPr/>
          </p:nvSpPr>
          <p:spPr>
            <a:xfrm>
              <a:off x="0" y="-47625"/>
              <a:ext cx="589796" cy="2242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22E6961E-690B-996C-315B-8492CF20BBE8}"/>
              </a:ext>
            </a:extLst>
          </p:cNvPr>
          <p:cNvGrpSpPr/>
          <p:nvPr/>
        </p:nvGrpSpPr>
        <p:grpSpPr>
          <a:xfrm>
            <a:off x="14684028" y="574219"/>
            <a:ext cx="2725614" cy="622382"/>
            <a:chOff x="0" y="0"/>
            <a:chExt cx="717857" cy="16392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7E4E7FB-2529-0541-8812-AF4299BB931E}"/>
                </a:ext>
              </a:extLst>
            </p:cNvPr>
            <p:cNvSpPr/>
            <p:nvPr/>
          </p:nvSpPr>
          <p:spPr>
            <a:xfrm>
              <a:off x="0" y="0"/>
              <a:ext cx="717857" cy="163920"/>
            </a:xfrm>
            <a:custGeom>
              <a:avLst/>
              <a:gdLst/>
              <a:ahLst/>
              <a:cxnLst/>
              <a:rect l="l" t="t" r="r" b="b"/>
              <a:pathLst>
                <a:path w="717857" h="163920">
                  <a:moveTo>
                    <a:pt x="81960" y="0"/>
                  </a:moveTo>
                  <a:lnTo>
                    <a:pt x="635897" y="0"/>
                  </a:lnTo>
                  <a:cubicBezTo>
                    <a:pt x="681163" y="0"/>
                    <a:pt x="717857" y="36695"/>
                    <a:pt x="717857" y="81960"/>
                  </a:cubicBezTo>
                  <a:lnTo>
                    <a:pt x="717857" y="81960"/>
                  </a:lnTo>
                  <a:cubicBezTo>
                    <a:pt x="717857" y="103697"/>
                    <a:pt x="709222" y="124544"/>
                    <a:pt x="693852" y="139914"/>
                  </a:cubicBezTo>
                  <a:cubicBezTo>
                    <a:pt x="678481" y="155285"/>
                    <a:pt x="657634" y="163920"/>
                    <a:pt x="635897" y="163920"/>
                  </a:cubicBezTo>
                  <a:lnTo>
                    <a:pt x="81960" y="163920"/>
                  </a:lnTo>
                  <a:cubicBezTo>
                    <a:pt x="36695" y="163920"/>
                    <a:pt x="0" y="127225"/>
                    <a:pt x="0" y="81960"/>
                  </a:cubicBezTo>
                  <a:lnTo>
                    <a:pt x="0" y="81960"/>
                  </a:lnTo>
                  <a:cubicBezTo>
                    <a:pt x="0" y="36695"/>
                    <a:pt x="36695" y="0"/>
                    <a:pt x="81960" y="0"/>
                  </a:cubicBezTo>
                  <a:close/>
                </a:path>
              </a:pathLst>
            </a:custGeom>
            <a:solidFill>
              <a:srgbClr val="FB5184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FAD0CF6-E729-5D8D-6386-0BD730631483}"/>
                </a:ext>
              </a:extLst>
            </p:cNvPr>
            <p:cNvSpPr txBox="1"/>
            <p:nvPr/>
          </p:nvSpPr>
          <p:spPr>
            <a:xfrm>
              <a:off x="0" y="-47625"/>
              <a:ext cx="717857" cy="2115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ADF88D0C-EC67-BDCF-C8AB-FAA60F8BAA46}"/>
              </a:ext>
            </a:extLst>
          </p:cNvPr>
          <p:cNvSpPr txBox="1"/>
          <p:nvPr/>
        </p:nvSpPr>
        <p:spPr>
          <a:xfrm>
            <a:off x="478385" y="8719968"/>
            <a:ext cx="17331231" cy="12791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0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01. FS - Internal Escalations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CD0912C-5341-493A-7178-51E36A054D28}"/>
              </a:ext>
            </a:extLst>
          </p:cNvPr>
          <p:cNvSpPr txBox="1"/>
          <p:nvPr/>
        </p:nvSpPr>
        <p:spPr>
          <a:xfrm>
            <a:off x="1141613" y="801147"/>
            <a:ext cx="2013556" cy="3770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07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99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Canada</a:t>
            </a:r>
          </a:p>
        </p:txBody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BA8285A3-F15D-86E3-901F-07F2F7442781}"/>
              </a:ext>
            </a:extLst>
          </p:cNvPr>
          <p:cNvGrpSpPr/>
          <p:nvPr/>
        </p:nvGrpSpPr>
        <p:grpSpPr>
          <a:xfrm>
            <a:off x="14869769" y="660457"/>
            <a:ext cx="2354131" cy="449905"/>
            <a:chOff x="0" y="0"/>
            <a:chExt cx="3138841" cy="599873"/>
          </a:xfrm>
        </p:grpSpPr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6670B03B-927B-F542-DEA7-7C79099C62EB}"/>
                </a:ext>
              </a:extLst>
            </p:cNvPr>
            <p:cNvGrpSpPr/>
            <p:nvPr/>
          </p:nvGrpSpPr>
          <p:grpSpPr>
            <a:xfrm>
              <a:off x="0" y="9544"/>
              <a:ext cx="590328" cy="590328"/>
              <a:chOff x="0" y="0"/>
              <a:chExt cx="812800" cy="812800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E49615ED-22ED-FC89-BB04-EC861AA76BBC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" name="TextBox 15">
                <a:extLst>
                  <a:ext uri="{FF2B5EF4-FFF2-40B4-BE49-F238E27FC236}">
                    <a16:creationId xmlns:a16="http://schemas.microsoft.com/office/drawing/2014/main" id="{D06A9F5B-B360-DB1B-B73A-DA9689556A70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6">
              <a:extLst>
                <a:ext uri="{FF2B5EF4-FFF2-40B4-BE49-F238E27FC236}">
                  <a16:creationId xmlns:a16="http://schemas.microsoft.com/office/drawing/2014/main" id="{54ED91C7-9E21-68D6-7CDA-E4B021BE5535}"/>
                </a:ext>
              </a:extLst>
            </p:cNvPr>
            <p:cNvGrpSpPr/>
            <p:nvPr/>
          </p:nvGrpSpPr>
          <p:grpSpPr>
            <a:xfrm>
              <a:off x="634797" y="9544"/>
              <a:ext cx="590328" cy="590328"/>
              <a:chOff x="0" y="0"/>
              <a:chExt cx="812800" cy="812800"/>
            </a:xfrm>
          </p:grpSpPr>
          <p:sp>
            <p:nvSpPr>
              <p:cNvPr id="17" name="Freeform 17">
                <a:extLst>
                  <a:ext uri="{FF2B5EF4-FFF2-40B4-BE49-F238E27FC236}">
                    <a16:creationId xmlns:a16="http://schemas.microsoft.com/office/drawing/2014/main" id="{94B24942-27DA-5BC5-FDB2-B4FB39822843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F132111F-1F63-808E-68CE-6CDF01BCD89A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id="{D6D0DAC6-59A4-BA3C-D06C-E269E6C6EBAE}"/>
                </a:ext>
              </a:extLst>
            </p:cNvPr>
            <p:cNvGrpSpPr/>
            <p:nvPr/>
          </p:nvGrpSpPr>
          <p:grpSpPr>
            <a:xfrm>
              <a:off x="1275925" y="9544"/>
              <a:ext cx="590328" cy="590328"/>
              <a:chOff x="0" y="0"/>
              <a:chExt cx="812800" cy="812800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FF9D5ACA-10B2-DAA8-AD5A-DDAEE1B47B04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1" name="TextBox 21">
                <a:extLst>
                  <a:ext uri="{FF2B5EF4-FFF2-40B4-BE49-F238E27FC236}">
                    <a16:creationId xmlns:a16="http://schemas.microsoft.com/office/drawing/2014/main" id="{0F5C02DD-AA84-690F-DDEC-5BFADED646CA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2" name="Group 22">
              <a:extLst>
                <a:ext uri="{FF2B5EF4-FFF2-40B4-BE49-F238E27FC236}">
                  <a16:creationId xmlns:a16="http://schemas.microsoft.com/office/drawing/2014/main" id="{22ED8D2D-F56A-60C1-D417-20E7D2D3CD34}"/>
                </a:ext>
              </a:extLst>
            </p:cNvPr>
            <p:cNvGrpSpPr/>
            <p:nvPr/>
          </p:nvGrpSpPr>
          <p:grpSpPr>
            <a:xfrm>
              <a:off x="1917053" y="0"/>
              <a:ext cx="590328" cy="590328"/>
              <a:chOff x="0" y="0"/>
              <a:chExt cx="812800" cy="812800"/>
            </a:xfrm>
          </p:grpSpPr>
          <p:sp>
            <p:nvSpPr>
              <p:cNvPr id="23" name="Freeform 23">
                <a:extLst>
                  <a:ext uri="{FF2B5EF4-FFF2-40B4-BE49-F238E27FC236}">
                    <a16:creationId xmlns:a16="http://schemas.microsoft.com/office/drawing/2014/main" id="{D8B7E3D8-3F33-95D6-E70F-C779EA69CBC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4" name="TextBox 24">
                <a:extLst>
                  <a:ext uri="{FF2B5EF4-FFF2-40B4-BE49-F238E27FC236}">
                    <a16:creationId xmlns:a16="http://schemas.microsoft.com/office/drawing/2014/main" id="{3B231E43-28D8-507C-F462-DB2220812750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5" name="Group 25">
              <a:extLst>
                <a:ext uri="{FF2B5EF4-FFF2-40B4-BE49-F238E27FC236}">
                  <a16:creationId xmlns:a16="http://schemas.microsoft.com/office/drawing/2014/main" id="{B8FADC71-B61C-A247-89D1-607625430C7F}"/>
                </a:ext>
              </a:extLst>
            </p:cNvPr>
            <p:cNvGrpSpPr/>
            <p:nvPr/>
          </p:nvGrpSpPr>
          <p:grpSpPr>
            <a:xfrm>
              <a:off x="2548513" y="9544"/>
              <a:ext cx="590328" cy="590328"/>
              <a:chOff x="0" y="0"/>
              <a:chExt cx="812800" cy="812800"/>
            </a:xfrm>
          </p:grpSpPr>
          <p:sp>
            <p:nvSpPr>
              <p:cNvPr id="26" name="Freeform 26">
                <a:extLst>
                  <a:ext uri="{FF2B5EF4-FFF2-40B4-BE49-F238E27FC236}">
                    <a16:creationId xmlns:a16="http://schemas.microsoft.com/office/drawing/2014/main" id="{FC4D4A55-048D-BD7F-4DB3-942E0BC07021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7" name="TextBox 27">
                <a:extLst>
                  <a:ext uri="{FF2B5EF4-FFF2-40B4-BE49-F238E27FC236}">
                    <a16:creationId xmlns:a16="http://schemas.microsoft.com/office/drawing/2014/main" id="{8E8110E5-9B21-725C-479B-28CE8205247F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84443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1997272" y="3875063"/>
            <a:ext cx="1520727" cy="4715787"/>
          </a:xfrm>
          <a:custGeom>
            <a:avLst/>
            <a:gdLst/>
            <a:ahLst/>
            <a:cxnLst/>
            <a:rect l="l" t="t" r="r" b="b"/>
            <a:pathLst>
              <a:path w="1520727" h="4958894">
                <a:moveTo>
                  <a:pt x="0" y="4958893"/>
                </a:moveTo>
                <a:lnTo>
                  <a:pt x="1520727" y="4958893"/>
                </a:lnTo>
                <a:lnTo>
                  <a:pt x="1520727" y="0"/>
                </a:lnTo>
                <a:lnTo>
                  <a:pt x="0" y="0"/>
                </a:lnTo>
                <a:lnTo>
                  <a:pt x="0" y="495889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250497" y="4697685"/>
            <a:ext cx="383502" cy="383502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-95250"/>
              <a:ext cx="6604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1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217840" y="1062319"/>
            <a:ext cx="7633990" cy="934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sz="51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What Is an Escalation?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17840" y="2377888"/>
            <a:ext cx="12790220" cy="78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When you encounter an uncertain case and need more clarity, an escalation moves a case to someone with the right expertise, authority, or access to resolve it.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19338" y="3445345"/>
            <a:ext cx="9117806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Think of escalation as answering three questions: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892534" y="4620166"/>
            <a:ext cx="4716810" cy="850134"/>
            <a:chOff x="0" y="0"/>
            <a:chExt cx="6289080" cy="1133513"/>
          </a:xfrm>
        </p:grpSpPr>
        <p:sp>
          <p:nvSpPr>
            <p:cNvPr id="10" name="TextBox 10"/>
            <p:cNvSpPr txBox="1"/>
            <p:nvPr/>
          </p:nvSpPr>
          <p:spPr>
            <a:xfrm>
              <a:off x="76200" y="-57150"/>
              <a:ext cx="3048595" cy="5033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79"/>
                </a:lnSpc>
                <a:spcBef>
                  <a:spcPct val="0"/>
                </a:spcBef>
              </a:pPr>
              <a:r>
                <a:rPr lang="en-US" sz="2199" b="1" dirty="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Can I handle it?.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630169"/>
              <a:ext cx="6289080" cy="5033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Use the available KB and policies.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892534" y="5752978"/>
            <a:ext cx="6426873" cy="11308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685"/>
              </a:lnSpc>
            </a:pPr>
            <a:r>
              <a:rPr lang="en-US" sz="219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Do I need a second opinion?</a:t>
            </a:r>
          </a:p>
          <a:p>
            <a:pPr algn="l">
              <a:lnSpc>
                <a:spcPts val="4685"/>
              </a:lnSpc>
            </a:pPr>
            <a:r>
              <a:rPr lang="en-US" sz="21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Send to SGS Second Opinion / Team Lead.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35384" y="7062109"/>
            <a:ext cx="9442216" cy="11308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685"/>
              </a:lnSpc>
            </a:pPr>
            <a:r>
              <a:rPr lang="en-US" sz="219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Does it require specialist handling?</a:t>
            </a:r>
          </a:p>
          <a:p>
            <a:pPr algn="l">
              <a:lnSpc>
                <a:spcPts val="4685"/>
              </a:lnSpc>
            </a:pPr>
            <a:r>
              <a:rPr lang="en-US" sz="21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Send to Tier 2, INV, CS, Community, Places, or the relevant partner.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703122" y="4134331"/>
            <a:ext cx="3365540" cy="6102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47"/>
              </a:lnSpc>
              <a:spcBef>
                <a:spcPct val="0"/>
              </a:spcBef>
            </a:pPr>
            <a:r>
              <a:rPr lang="en-US" sz="279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Handle yourself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948286" y="5787769"/>
            <a:ext cx="2875211" cy="6102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47"/>
              </a:lnSpc>
              <a:spcBef>
                <a:spcPct val="0"/>
              </a:spcBef>
            </a:pPr>
            <a:r>
              <a:rPr lang="en-US" sz="279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Second opinion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948286" y="7685674"/>
            <a:ext cx="3804345" cy="6102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47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Specialist escalation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250497" y="5934880"/>
            <a:ext cx="383502" cy="38350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-95250"/>
              <a:ext cx="6604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1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50497" y="7239462"/>
            <a:ext cx="383502" cy="38350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0514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-95250"/>
              <a:ext cx="6604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1"/>
                </a:lnSpc>
              </a:pPr>
              <a:endParaRPr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F371E6C5-3B19-69B1-26B1-72C57C981B22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Tripadvisor / Fraud support / What is an escalation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00406" y="3388961"/>
            <a:ext cx="6843275" cy="4983922"/>
            <a:chOff x="0" y="0"/>
            <a:chExt cx="9124367" cy="664523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9124367" cy="6645230"/>
              <a:chOff x="0" y="0"/>
              <a:chExt cx="1802344" cy="1312638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802344" cy="1312638"/>
              </a:xfrm>
              <a:custGeom>
                <a:avLst/>
                <a:gdLst/>
                <a:ahLst/>
                <a:cxnLst/>
                <a:rect l="l" t="t" r="r" b="b"/>
                <a:pathLst>
                  <a:path w="1802344" h="1312638">
                    <a:moveTo>
                      <a:pt x="57697" y="0"/>
                    </a:moveTo>
                    <a:lnTo>
                      <a:pt x="1744647" y="0"/>
                    </a:lnTo>
                    <a:cubicBezTo>
                      <a:pt x="1759949" y="0"/>
                      <a:pt x="1774625" y="6079"/>
                      <a:pt x="1785445" y="16899"/>
                    </a:cubicBezTo>
                    <a:cubicBezTo>
                      <a:pt x="1796265" y="27719"/>
                      <a:pt x="1802344" y="42395"/>
                      <a:pt x="1802344" y="57697"/>
                    </a:cubicBezTo>
                    <a:lnTo>
                      <a:pt x="1802344" y="1254941"/>
                    </a:lnTo>
                    <a:cubicBezTo>
                      <a:pt x="1802344" y="1270243"/>
                      <a:pt x="1796265" y="1284919"/>
                      <a:pt x="1785445" y="1295739"/>
                    </a:cubicBezTo>
                    <a:cubicBezTo>
                      <a:pt x="1774625" y="1306559"/>
                      <a:pt x="1759949" y="1312638"/>
                      <a:pt x="1744647" y="1312638"/>
                    </a:cubicBezTo>
                    <a:lnTo>
                      <a:pt x="57697" y="1312638"/>
                    </a:lnTo>
                    <a:cubicBezTo>
                      <a:pt x="42395" y="1312638"/>
                      <a:pt x="27719" y="1306559"/>
                      <a:pt x="16899" y="1295739"/>
                    </a:cubicBezTo>
                    <a:cubicBezTo>
                      <a:pt x="6079" y="1284919"/>
                      <a:pt x="0" y="1270243"/>
                      <a:pt x="0" y="1254941"/>
                    </a:cubicBezTo>
                    <a:lnTo>
                      <a:pt x="0" y="57697"/>
                    </a:lnTo>
                    <a:cubicBezTo>
                      <a:pt x="0" y="42395"/>
                      <a:pt x="6079" y="27719"/>
                      <a:pt x="16899" y="16899"/>
                    </a:cubicBezTo>
                    <a:cubicBezTo>
                      <a:pt x="27719" y="6079"/>
                      <a:pt x="42395" y="0"/>
                      <a:pt x="57697" y="0"/>
                    </a:cubicBezTo>
                    <a:close/>
                  </a:path>
                </a:pathLst>
              </a:custGeom>
              <a:solidFill>
                <a:srgbClr val="145F49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1802344" cy="136026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6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209697" y="221154"/>
              <a:ext cx="8704974" cy="6202921"/>
              <a:chOff x="0" y="0"/>
              <a:chExt cx="1719501" cy="122526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719501" cy="1225268"/>
              </a:xfrm>
              <a:custGeom>
                <a:avLst/>
                <a:gdLst/>
                <a:ahLst/>
                <a:cxnLst/>
                <a:rect l="l" t="t" r="r" b="b"/>
                <a:pathLst>
                  <a:path w="1719501" h="1225268">
                    <a:moveTo>
                      <a:pt x="60477" y="0"/>
                    </a:moveTo>
                    <a:lnTo>
                      <a:pt x="1659024" y="0"/>
                    </a:lnTo>
                    <a:cubicBezTo>
                      <a:pt x="1692425" y="0"/>
                      <a:pt x="1719501" y="27076"/>
                      <a:pt x="1719501" y="60477"/>
                    </a:cubicBezTo>
                    <a:lnTo>
                      <a:pt x="1719501" y="1164791"/>
                    </a:lnTo>
                    <a:cubicBezTo>
                      <a:pt x="1719501" y="1198192"/>
                      <a:pt x="1692425" y="1225268"/>
                      <a:pt x="1659024" y="1225268"/>
                    </a:cubicBezTo>
                    <a:lnTo>
                      <a:pt x="60477" y="1225268"/>
                    </a:lnTo>
                    <a:cubicBezTo>
                      <a:pt x="27076" y="1225268"/>
                      <a:pt x="0" y="1198192"/>
                      <a:pt x="0" y="1164791"/>
                    </a:cubicBezTo>
                    <a:lnTo>
                      <a:pt x="0" y="60477"/>
                    </a:lnTo>
                    <a:cubicBezTo>
                      <a:pt x="0" y="27076"/>
                      <a:pt x="27076" y="0"/>
                      <a:pt x="60477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1719501" cy="12728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6"/>
                  </a:lnSpc>
                </a:pPr>
                <a:endParaRPr/>
              </a:p>
            </p:txBody>
          </p:sp>
        </p:grpSp>
      </p:grpSp>
      <p:sp>
        <p:nvSpPr>
          <p:cNvPr id="9" name="Freeform 9"/>
          <p:cNvSpPr/>
          <p:nvPr/>
        </p:nvSpPr>
        <p:spPr>
          <a:xfrm>
            <a:off x="11539786" y="5075684"/>
            <a:ext cx="528055" cy="457648"/>
          </a:xfrm>
          <a:custGeom>
            <a:avLst/>
            <a:gdLst/>
            <a:ahLst/>
            <a:cxnLst/>
            <a:rect l="l" t="t" r="r" b="b"/>
            <a:pathLst>
              <a:path w="528055" h="457648">
                <a:moveTo>
                  <a:pt x="0" y="0"/>
                </a:moveTo>
                <a:lnTo>
                  <a:pt x="528055" y="0"/>
                </a:lnTo>
                <a:lnTo>
                  <a:pt x="528055" y="457648"/>
                </a:lnTo>
                <a:lnTo>
                  <a:pt x="0" y="4576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210827" y="912041"/>
            <a:ext cx="9489579" cy="1188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31"/>
              </a:lnSpc>
              <a:spcBef>
                <a:spcPct val="0"/>
              </a:spcBef>
            </a:pPr>
            <a:r>
              <a:rPr lang="en-US" sz="51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What is SGS Second Opinion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0826" y="2355590"/>
            <a:ext cx="16696173" cy="10214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1"/>
              </a:lnSpc>
              <a:spcBef>
                <a:spcPct val="0"/>
              </a:spcBef>
            </a:pPr>
            <a:r>
              <a:rPr lang="en-US" sz="21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Give the abbreviation for SGS and what happens what we escalate to SGS - like agents escalates to TLs for more clarity?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10827" y="3968901"/>
            <a:ext cx="6917234" cy="642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47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Escalate to SGS Second Opinion when: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10827" y="4764175"/>
            <a:ext cx="8747922" cy="2605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5301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KB does not provide an answer.</a:t>
            </a:r>
          </a:p>
          <a:p>
            <a:pPr marL="474979" lvl="1" indent="-237490" algn="l">
              <a:lnSpc>
                <a:spcPts val="5301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case is highly complex or an edge case.</a:t>
            </a:r>
          </a:p>
          <a:p>
            <a:pPr marL="474979" lvl="1" indent="-237490" algn="l">
              <a:lnSpc>
                <a:spcPts val="5301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issue is a general inquiry that is not already directed to Tier 2.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067841" y="3965163"/>
            <a:ext cx="4216003" cy="50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Every Escalation Needs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963400" y="5006412"/>
            <a:ext cx="3465877" cy="4828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1"/>
              </a:lnSpc>
              <a:spcBef>
                <a:spcPct val="0"/>
              </a:spcBef>
            </a:pPr>
            <a:r>
              <a:rPr lang="en-US" sz="21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What you checked</a:t>
            </a:r>
          </a:p>
        </p:txBody>
      </p:sp>
      <p:sp>
        <p:nvSpPr>
          <p:cNvPr id="16" name="Freeform 16"/>
          <p:cNvSpPr/>
          <p:nvPr/>
        </p:nvSpPr>
        <p:spPr>
          <a:xfrm>
            <a:off x="11539786" y="6011505"/>
            <a:ext cx="528055" cy="457648"/>
          </a:xfrm>
          <a:custGeom>
            <a:avLst/>
            <a:gdLst/>
            <a:ahLst/>
            <a:cxnLst/>
            <a:rect l="l" t="t" r="r" b="b"/>
            <a:pathLst>
              <a:path w="528055" h="457648">
                <a:moveTo>
                  <a:pt x="0" y="0"/>
                </a:moveTo>
                <a:lnTo>
                  <a:pt x="528055" y="0"/>
                </a:lnTo>
                <a:lnTo>
                  <a:pt x="528055" y="457648"/>
                </a:lnTo>
                <a:lnTo>
                  <a:pt x="0" y="4576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11539786" y="6947326"/>
            <a:ext cx="528055" cy="457648"/>
          </a:xfrm>
          <a:custGeom>
            <a:avLst/>
            <a:gdLst/>
            <a:ahLst/>
            <a:cxnLst/>
            <a:rect l="l" t="t" r="r" b="b"/>
            <a:pathLst>
              <a:path w="528055" h="457648">
                <a:moveTo>
                  <a:pt x="0" y="0"/>
                </a:moveTo>
                <a:lnTo>
                  <a:pt x="528055" y="0"/>
                </a:lnTo>
                <a:lnTo>
                  <a:pt x="528055" y="457648"/>
                </a:lnTo>
                <a:lnTo>
                  <a:pt x="0" y="4576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12395361" y="5901366"/>
            <a:ext cx="3465877" cy="506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1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Your specific question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395361" y="6717426"/>
            <a:ext cx="4681812" cy="8419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5"/>
              </a:lnSpc>
            </a:pPr>
            <a:r>
              <a:rPr lang="en-US" sz="21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Your proposed action (If applicable)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45F5A35-8072-DF0A-DD44-358064881614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Tripadvisor / Fraud support / What is SGS second opinion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5854313" y="2876187"/>
            <a:ext cx="5896350" cy="5896350"/>
            <a:chOff x="0" y="0"/>
            <a:chExt cx="812800" cy="81280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EDED"/>
            </a:solidFill>
          </p:spPr>
          <p:txBody>
            <a:bodyPr/>
            <a:lstStyle/>
            <a:p>
              <a:endParaRPr lang="en-US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0"/>
                </a:lnSpc>
              </a:pPr>
              <a:endParaRPr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6" name="Freeform 6"/>
          <p:cNvSpPr/>
          <p:nvPr/>
        </p:nvSpPr>
        <p:spPr>
          <a:xfrm rot="-5400000">
            <a:off x="9176250" y="2422820"/>
            <a:ext cx="3402887" cy="2956258"/>
          </a:xfrm>
          <a:custGeom>
            <a:avLst/>
            <a:gdLst/>
            <a:ahLst/>
            <a:cxnLst/>
            <a:rect l="l" t="t" r="r" b="b"/>
            <a:pathLst>
              <a:path w="3402887" h="2956258">
                <a:moveTo>
                  <a:pt x="0" y="0"/>
                </a:moveTo>
                <a:lnTo>
                  <a:pt x="3402887" y="0"/>
                </a:lnTo>
                <a:lnTo>
                  <a:pt x="3402887" y="2956258"/>
                </a:lnTo>
                <a:lnTo>
                  <a:pt x="0" y="2956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Freeform 7"/>
          <p:cNvSpPr/>
          <p:nvPr/>
        </p:nvSpPr>
        <p:spPr>
          <a:xfrm rot="-5400000" flipH="1">
            <a:off x="9176250" y="6069384"/>
            <a:ext cx="3402887" cy="2956258"/>
          </a:xfrm>
          <a:custGeom>
            <a:avLst/>
            <a:gdLst/>
            <a:ahLst/>
            <a:cxnLst/>
            <a:rect l="l" t="t" r="r" b="b"/>
            <a:pathLst>
              <a:path w="3402887" h="2956258">
                <a:moveTo>
                  <a:pt x="3402887" y="0"/>
                </a:moveTo>
                <a:lnTo>
                  <a:pt x="0" y="0"/>
                </a:lnTo>
                <a:lnTo>
                  <a:pt x="0" y="2956258"/>
                </a:lnTo>
                <a:lnTo>
                  <a:pt x="3402887" y="2956258"/>
                </a:lnTo>
                <a:lnTo>
                  <a:pt x="340288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Freeform 9"/>
          <p:cNvSpPr/>
          <p:nvPr/>
        </p:nvSpPr>
        <p:spPr>
          <a:xfrm rot="16200000" flipV="1">
            <a:off x="5025839" y="2422820"/>
            <a:ext cx="3402887" cy="2956258"/>
          </a:xfrm>
          <a:custGeom>
            <a:avLst/>
            <a:gdLst/>
            <a:ahLst/>
            <a:cxnLst/>
            <a:rect l="l" t="t" r="r" b="b"/>
            <a:pathLst>
              <a:path w="4537183" h="3941678">
                <a:moveTo>
                  <a:pt x="0" y="3941677"/>
                </a:moveTo>
                <a:lnTo>
                  <a:pt x="4537183" y="3941677"/>
                </a:lnTo>
                <a:lnTo>
                  <a:pt x="4537183" y="0"/>
                </a:lnTo>
                <a:lnTo>
                  <a:pt x="0" y="0"/>
                </a:lnTo>
                <a:lnTo>
                  <a:pt x="0" y="394167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Freeform 10"/>
          <p:cNvSpPr/>
          <p:nvPr/>
        </p:nvSpPr>
        <p:spPr>
          <a:xfrm rot="16200000" flipH="1" flipV="1">
            <a:off x="5025839" y="6069384"/>
            <a:ext cx="3402887" cy="2956258"/>
          </a:xfrm>
          <a:custGeom>
            <a:avLst/>
            <a:gdLst/>
            <a:ahLst/>
            <a:cxnLst/>
            <a:rect l="l" t="t" r="r" b="b"/>
            <a:pathLst>
              <a:path w="4537183" h="3941678">
                <a:moveTo>
                  <a:pt x="4537183" y="3941678"/>
                </a:moveTo>
                <a:lnTo>
                  <a:pt x="0" y="3941678"/>
                </a:lnTo>
                <a:lnTo>
                  <a:pt x="0" y="0"/>
                </a:lnTo>
                <a:lnTo>
                  <a:pt x="4537183" y="0"/>
                </a:lnTo>
                <a:lnTo>
                  <a:pt x="4537183" y="394167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6417874" y="3439748"/>
            <a:ext cx="4769227" cy="476922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0"/>
                </a:lnSpc>
              </a:pPr>
              <a:endParaRPr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647205" y="4500259"/>
            <a:ext cx="4265758" cy="1473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1" dirty="0">
                <a:solidFill>
                  <a:srgbClr val="000000"/>
                </a:solidFill>
                <a:latin typeface="Poppins" panose="00000500000000000000" pitchFamily="2" charset="0"/>
                <a:ea typeface="Open Sauce Bold"/>
                <a:cs typeface="Poppins" panose="00000500000000000000" pitchFamily="2" charset="0"/>
                <a:sym typeface="Open Sauce Bold"/>
              </a:rPr>
              <a:t>Escalate to Tier 2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918758" y="4755687"/>
            <a:ext cx="3892666" cy="302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399"/>
              </a:lnSpc>
            </a:pPr>
            <a:r>
              <a:rPr lang="en-US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Incentives</a:t>
            </a:r>
            <a:endParaRPr lang="en-US" b="1" dirty="0">
              <a:solidFill>
                <a:srgbClr val="383B3B"/>
              </a:solidFill>
              <a:latin typeface="Poppins" panose="00000500000000000000" pitchFamily="2" charset="0"/>
              <a:ea typeface="Open Sauce"/>
              <a:cs typeface="Poppins" panose="00000500000000000000" pitchFamily="2" charset="0"/>
              <a:sym typeface="Open Sauce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411614" y="6124303"/>
            <a:ext cx="4604642" cy="5237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15900" lvl="1">
              <a:lnSpc>
                <a:spcPts val="4739"/>
              </a:lnSpc>
            </a:pPr>
            <a:r>
              <a:rPr lang="en-US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Legal / Police correspondence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163021" y="1790700"/>
            <a:ext cx="6216766" cy="5237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15900" lvl="1">
              <a:lnSpc>
                <a:spcPts val="4739"/>
              </a:lnSpc>
            </a:pPr>
            <a:r>
              <a:rPr lang="en-US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Undocumented edge cases — Team Lead only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717" y="2936825"/>
            <a:ext cx="5560597" cy="6103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399"/>
              </a:lnSpc>
            </a:pPr>
            <a:r>
              <a:rPr lang="en-US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Sensitive subjects:</a:t>
            </a:r>
            <a:r>
              <a:rPr lang="en-US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Death, sexual assault, drugging, animal cruelty, violence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487121" y="4635212"/>
            <a:ext cx="3892666" cy="302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399"/>
              </a:lnSpc>
            </a:pPr>
            <a:r>
              <a:rPr lang="en-US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Exhausted resources</a:t>
            </a:r>
            <a:endParaRPr lang="en-US" b="1" dirty="0">
              <a:solidFill>
                <a:srgbClr val="383B3B"/>
              </a:solidFill>
              <a:latin typeface="Poppins" panose="00000500000000000000" pitchFamily="2" charset="0"/>
              <a:ea typeface="Open Sauce"/>
              <a:cs typeface="Poppins" panose="00000500000000000000" pitchFamily="2" charset="0"/>
              <a:sym typeface="Open Sauce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599453" y="1852581"/>
            <a:ext cx="6265536" cy="6103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399"/>
              </a:lnSpc>
            </a:pPr>
            <a:r>
              <a:rPr lang="en-US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Extreme bullying:</a:t>
            </a:r>
            <a:r>
              <a:rPr lang="en-US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Threats or interference with personal/professional life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306285" y="6005571"/>
            <a:ext cx="5123755" cy="5237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15900" lvl="1">
              <a:lnSpc>
                <a:spcPts val="4739"/>
              </a:lnSpc>
            </a:pPr>
            <a:r>
              <a:rPr lang="en-US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Wider technical bugs/system failures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68523" y="7942755"/>
            <a:ext cx="4745034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15900" lvl="1" algn="r"/>
            <a:r>
              <a:rPr lang="en-US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Press / Media inquiries or credible media threats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588720" y="7791678"/>
            <a:ext cx="5843218" cy="5237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15900" lvl="1">
              <a:lnSpc>
                <a:spcPts val="4739"/>
              </a:lnSpc>
            </a:pPr>
            <a:r>
              <a:rPr lang="en-US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Unclear escalations from CS or Community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180123" y="8984904"/>
            <a:ext cx="3892666" cy="523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0" lvl="1">
              <a:lnSpc>
                <a:spcPts val="4739"/>
              </a:lnSpc>
            </a:pPr>
            <a:r>
              <a:rPr lang="en-US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GDPR / Privacy concerns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050817" y="3101734"/>
            <a:ext cx="6268252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15900" lvl="1" algn="r"/>
            <a:r>
              <a:rPr lang="en-US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Technical issues: </a:t>
            </a:r>
            <a:r>
              <a:rPr lang="en-US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Repeated verification failures or AI/ChatGPT filtering errors</a:t>
            </a:r>
          </a:p>
        </p:txBody>
      </p:sp>
      <p:sp>
        <p:nvSpPr>
          <p:cNvPr id="39" name="TextBox 2">
            <a:extLst>
              <a:ext uri="{FF2B5EF4-FFF2-40B4-BE49-F238E27FC236}">
                <a16:creationId xmlns:a16="http://schemas.microsoft.com/office/drawing/2014/main" id="{32200F76-207E-106F-CF4C-ABD6F6FDB361}"/>
              </a:ext>
            </a:extLst>
          </p:cNvPr>
          <p:cNvSpPr txBox="1"/>
          <p:nvPr/>
        </p:nvSpPr>
        <p:spPr>
          <a:xfrm>
            <a:off x="1038400" y="221292"/>
            <a:ext cx="8612535" cy="1188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31"/>
              </a:lnSpc>
              <a:spcBef>
                <a:spcPct val="0"/>
              </a:spcBef>
            </a:pPr>
            <a:r>
              <a:rPr lang="en-US" sz="519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When to Escalate to Tier 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7CE38CF-932D-B1A6-63DC-BA4DE9BDFE9D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Tripadvisor / Fraud support / When to escalate to Tier 2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2062E845-B0C6-7039-1F36-B666BA2B270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4170" y="2550496"/>
            <a:ext cx="964251" cy="87847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A8825783-C123-2880-432F-4998B45C00C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4572" y="5982076"/>
            <a:ext cx="742078" cy="74169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4DDAB816-B93F-CD83-15AA-33692925E3A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2193" y="4751828"/>
            <a:ext cx="897173" cy="76158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3E464C35-5FD6-057A-A2B2-00E38D59D79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1468" y="3445511"/>
            <a:ext cx="933805" cy="85344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E0410494-4779-7C3A-D1DF-D3012D4F793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44759" y="8082769"/>
            <a:ext cx="913326" cy="91332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50" name="Freeform 6">
            <a:extLst>
              <a:ext uri="{FF2B5EF4-FFF2-40B4-BE49-F238E27FC236}">
                <a16:creationId xmlns:a16="http://schemas.microsoft.com/office/drawing/2014/main" id="{9CDD3695-1FBB-4C7D-D115-0E0804D1DC4F}"/>
              </a:ext>
            </a:extLst>
          </p:cNvPr>
          <p:cNvSpPr/>
          <p:nvPr/>
        </p:nvSpPr>
        <p:spPr>
          <a:xfrm>
            <a:off x="9500676" y="2406563"/>
            <a:ext cx="1039368" cy="97217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2" name="Freeform 7">
            <a:extLst>
              <a:ext uri="{FF2B5EF4-FFF2-40B4-BE49-F238E27FC236}">
                <a16:creationId xmlns:a16="http://schemas.microsoft.com/office/drawing/2014/main" id="{DF3023D7-8A6F-A71D-5FF5-17359C3612AD}"/>
              </a:ext>
            </a:extLst>
          </p:cNvPr>
          <p:cNvSpPr/>
          <p:nvPr/>
        </p:nvSpPr>
        <p:spPr>
          <a:xfrm>
            <a:off x="10766453" y="3309687"/>
            <a:ext cx="950047" cy="972170"/>
          </a:xfrm>
          <a:custGeom>
            <a:avLst/>
            <a:gdLst/>
            <a:ahLst/>
            <a:cxnLst/>
            <a:rect l="l" t="t" r="r" b="b"/>
            <a:pathLst>
              <a:path w="4377447" h="4114800">
                <a:moveTo>
                  <a:pt x="0" y="0"/>
                </a:moveTo>
                <a:lnTo>
                  <a:pt x="4377447" y="0"/>
                </a:lnTo>
                <a:lnTo>
                  <a:pt x="43774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4" name="Freeform 2">
            <a:extLst>
              <a:ext uri="{FF2B5EF4-FFF2-40B4-BE49-F238E27FC236}">
                <a16:creationId xmlns:a16="http://schemas.microsoft.com/office/drawing/2014/main" id="{09062E79-4B50-68CD-D870-A869FF27D603}"/>
              </a:ext>
            </a:extLst>
          </p:cNvPr>
          <p:cNvSpPr/>
          <p:nvPr/>
        </p:nvSpPr>
        <p:spPr>
          <a:xfrm>
            <a:off x="11314241" y="4636320"/>
            <a:ext cx="804518" cy="779124"/>
          </a:xfrm>
          <a:custGeom>
            <a:avLst/>
            <a:gdLst/>
            <a:ahLst/>
            <a:cxnLst/>
            <a:rect l="l" t="t" r="r" b="b"/>
            <a:pathLst>
              <a:path w="4351381" h="3981513">
                <a:moveTo>
                  <a:pt x="0" y="0"/>
                </a:moveTo>
                <a:lnTo>
                  <a:pt x="4351380" y="0"/>
                </a:lnTo>
                <a:lnTo>
                  <a:pt x="4351380" y="3981513"/>
                </a:lnTo>
                <a:lnTo>
                  <a:pt x="0" y="398151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6" name="Freeform 4">
            <a:extLst>
              <a:ext uri="{FF2B5EF4-FFF2-40B4-BE49-F238E27FC236}">
                <a16:creationId xmlns:a16="http://schemas.microsoft.com/office/drawing/2014/main" id="{4943AD5A-959A-D1D1-1041-74B1891038D7}"/>
              </a:ext>
            </a:extLst>
          </p:cNvPr>
          <p:cNvSpPr/>
          <p:nvPr/>
        </p:nvSpPr>
        <p:spPr>
          <a:xfrm>
            <a:off x="10721723" y="7228569"/>
            <a:ext cx="912493" cy="996627"/>
          </a:xfrm>
          <a:custGeom>
            <a:avLst/>
            <a:gdLst/>
            <a:ahLst/>
            <a:cxnLst/>
            <a:rect l="l" t="t" r="r" b="b"/>
            <a:pathLst>
              <a:path w="3703320" h="4114800">
                <a:moveTo>
                  <a:pt x="0" y="0"/>
                </a:moveTo>
                <a:lnTo>
                  <a:pt x="3703320" y="0"/>
                </a:lnTo>
                <a:lnTo>
                  <a:pt x="370332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Freeform 4">
            <a:extLst>
              <a:ext uri="{FF2B5EF4-FFF2-40B4-BE49-F238E27FC236}">
                <a16:creationId xmlns:a16="http://schemas.microsoft.com/office/drawing/2014/main" id="{E7BA3502-10F0-5D49-D71B-4034FD5FC881}"/>
              </a:ext>
            </a:extLst>
          </p:cNvPr>
          <p:cNvSpPr/>
          <p:nvPr/>
        </p:nvSpPr>
        <p:spPr>
          <a:xfrm>
            <a:off x="5953155" y="7180691"/>
            <a:ext cx="899958" cy="970094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E98DDA2A-6A97-77A7-3E41-B520A7E82E2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51286" y="5994016"/>
            <a:ext cx="1902401" cy="156969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8" name="Freeform 8">
            <a:extLst>
              <a:ext uri="{FF2B5EF4-FFF2-40B4-BE49-F238E27FC236}">
                <a16:creationId xmlns:a16="http://schemas.microsoft.com/office/drawing/2014/main" id="{132750CF-F388-E0A3-358C-8BCF354B6A81}"/>
              </a:ext>
            </a:extLst>
          </p:cNvPr>
          <p:cNvSpPr/>
          <p:nvPr/>
        </p:nvSpPr>
        <p:spPr>
          <a:xfrm>
            <a:off x="11355009" y="5956921"/>
            <a:ext cx="829168" cy="766540"/>
          </a:xfrm>
          <a:custGeom>
            <a:avLst/>
            <a:gdLst/>
            <a:ahLst/>
            <a:cxnLst/>
            <a:rect l="l" t="t" r="r" b="b"/>
            <a:pathLst>
              <a:path w="4927904" h="4114800">
                <a:moveTo>
                  <a:pt x="0" y="0"/>
                </a:moveTo>
                <a:lnTo>
                  <a:pt x="4927904" y="0"/>
                </a:lnTo>
                <a:lnTo>
                  <a:pt x="49279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31889" y="981075"/>
            <a:ext cx="8651528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39"/>
              </a:lnSpc>
              <a:spcBef>
                <a:spcPct val="0"/>
              </a:spcBef>
            </a:pPr>
            <a:r>
              <a:rPr lang="en-US" sz="519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How to Escalate Correctly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39053" y="2479913"/>
            <a:ext cx="5449371" cy="6557161"/>
            <a:chOff x="0" y="0"/>
            <a:chExt cx="7265828" cy="8742881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7265828" cy="8742881"/>
              <a:chOff x="0" y="0"/>
              <a:chExt cx="1435225" cy="1726989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435225" cy="1726989"/>
              </a:xfrm>
              <a:custGeom>
                <a:avLst/>
                <a:gdLst/>
                <a:ahLst/>
                <a:cxnLst/>
                <a:rect l="l" t="t" r="r" b="b"/>
                <a:pathLst>
                  <a:path w="1435225" h="1726989">
                    <a:moveTo>
                      <a:pt x="72456" y="0"/>
                    </a:moveTo>
                    <a:lnTo>
                      <a:pt x="1362770" y="0"/>
                    </a:lnTo>
                    <a:cubicBezTo>
                      <a:pt x="1402786" y="0"/>
                      <a:pt x="1435225" y="32440"/>
                      <a:pt x="1435225" y="72456"/>
                    </a:cubicBezTo>
                    <a:lnTo>
                      <a:pt x="1435225" y="1654533"/>
                    </a:lnTo>
                    <a:cubicBezTo>
                      <a:pt x="1435225" y="1694549"/>
                      <a:pt x="1402786" y="1726989"/>
                      <a:pt x="1362770" y="1726989"/>
                    </a:cubicBezTo>
                    <a:lnTo>
                      <a:pt x="72456" y="1726989"/>
                    </a:lnTo>
                    <a:cubicBezTo>
                      <a:pt x="32440" y="1726989"/>
                      <a:pt x="0" y="1694549"/>
                      <a:pt x="0" y="1654533"/>
                    </a:cubicBezTo>
                    <a:lnTo>
                      <a:pt x="0" y="72456"/>
                    </a:lnTo>
                    <a:cubicBezTo>
                      <a:pt x="0" y="32440"/>
                      <a:pt x="32440" y="0"/>
                      <a:pt x="72456" y="0"/>
                    </a:cubicBezTo>
                    <a:close/>
                  </a:path>
                </a:pathLst>
              </a:custGeom>
              <a:solidFill>
                <a:srgbClr val="00B74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47625"/>
                <a:ext cx="1435225" cy="177461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6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31324" y="49862"/>
              <a:ext cx="6967521" cy="8402054"/>
              <a:chOff x="-7044" y="-47625"/>
              <a:chExt cx="1376300" cy="165966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-7044" y="0"/>
                <a:ext cx="1369256" cy="1612040"/>
              </a:xfrm>
              <a:custGeom>
                <a:avLst/>
                <a:gdLst/>
                <a:ahLst/>
                <a:cxnLst/>
                <a:rect l="l" t="t" r="r" b="b"/>
                <a:pathLst>
                  <a:path w="1369256" h="1612040">
                    <a:moveTo>
                      <a:pt x="75947" y="0"/>
                    </a:moveTo>
                    <a:lnTo>
                      <a:pt x="1293310" y="0"/>
                    </a:lnTo>
                    <a:cubicBezTo>
                      <a:pt x="1335254" y="0"/>
                      <a:pt x="1369256" y="34002"/>
                      <a:pt x="1369256" y="75947"/>
                    </a:cubicBezTo>
                    <a:lnTo>
                      <a:pt x="1369256" y="1536093"/>
                    </a:lnTo>
                    <a:cubicBezTo>
                      <a:pt x="1369256" y="1578037"/>
                      <a:pt x="1335254" y="1612040"/>
                      <a:pt x="1293310" y="1612040"/>
                    </a:cubicBezTo>
                    <a:lnTo>
                      <a:pt x="75947" y="1612040"/>
                    </a:lnTo>
                    <a:cubicBezTo>
                      <a:pt x="34002" y="1612040"/>
                      <a:pt x="0" y="1578037"/>
                      <a:pt x="0" y="1536093"/>
                    </a:cubicBezTo>
                    <a:lnTo>
                      <a:pt x="0" y="75947"/>
                    </a:lnTo>
                    <a:cubicBezTo>
                      <a:pt x="0" y="34002"/>
                      <a:pt x="34002" y="0"/>
                      <a:pt x="75947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47625"/>
                <a:ext cx="1369256" cy="165966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6"/>
                  </a:lnSpc>
                </a:pPr>
                <a:endParaRPr/>
              </a:p>
            </p:txBody>
          </p:sp>
        </p:grpSp>
      </p:grpSp>
      <p:grpSp>
        <p:nvGrpSpPr>
          <p:cNvPr id="10" name="Group 10"/>
          <p:cNvGrpSpPr/>
          <p:nvPr/>
        </p:nvGrpSpPr>
        <p:grpSpPr>
          <a:xfrm>
            <a:off x="6419315" y="2479913"/>
            <a:ext cx="5449371" cy="6557161"/>
            <a:chOff x="0" y="0"/>
            <a:chExt cx="7265828" cy="8742881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7265828" cy="8742881"/>
              <a:chOff x="0" y="0"/>
              <a:chExt cx="1435225" cy="1726989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435225" cy="1726989"/>
              </a:xfrm>
              <a:custGeom>
                <a:avLst/>
                <a:gdLst/>
                <a:ahLst/>
                <a:cxnLst/>
                <a:rect l="l" t="t" r="r" b="b"/>
                <a:pathLst>
                  <a:path w="1435225" h="1726989">
                    <a:moveTo>
                      <a:pt x="72456" y="0"/>
                    </a:moveTo>
                    <a:lnTo>
                      <a:pt x="1362770" y="0"/>
                    </a:lnTo>
                    <a:cubicBezTo>
                      <a:pt x="1402786" y="0"/>
                      <a:pt x="1435225" y="32440"/>
                      <a:pt x="1435225" y="72456"/>
                    </a:cubicBezTo>
                    <a:lnTo>
                      <a:pt x="1435225" y="1654533"/>
                    </a:lnTo>
                    <a:cubicBezTo>
                      <a:pt x="1435225" y="1694549"/>
                      <a:pt x="1402786" y="1726989"/>
                      <a:pt x="1362770" y="1726989"/>
                    </a:cubicBezTo>
                    <a:lnTo>
                      <a:pt x="72456" y="1726989"/>
                    </a:lnTo>
                    <a:cubicBezTo>
                      <a:pt x="32440" y="1726989"/>
                      <a:pt x="0" y="1694549"/>
                      <a:pt x="0" y="1654533"/>
                    </a:cubicBezTo>
                    <a:lnTo>
                      <a:pt x="0" y="72456"/>
                    </a:lnTo>
                    <a:cubicBezTo>
                      <a:pt x="0" y="32440"/>
                      <a:pt x="32440" y="0"/>
                      <a:pt x="72456" y="0"/>
                    </a:cubicBezTo>
                    <a:close/>
                  </a:path>
                </a:pathLst>
              </a:custGeom>
              <a:solidFill>
                <a:srgbClr val="00B74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47625"/>
                <a:ext cx="1435225" cy="177461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6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166984" y="49862"/>
              <a:ext cx="6931861" cy="8402053"/>
              <a:chOff x="0" y="-47625"/>
              <a:chExt cx="1369256" cy="1659665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369256" cy="1612040"/>
              </a:xfrm>
              <a:custGeom>
                <a:avLst/>
                <a:gdLst/>
                <a:ahLst/>
                <a:cxnLst/>
                <a:rect l="l" t="t" r="r" b="b"/>
                <a:pathLst>
                  <a:path w="1369256" h="1612040">
                    <a:moveTo>
                      <a:pt x="75947" y="0"/>
                    </a:moveTo>
                    <a:lnTo>
                      <a:pt x="1293310" y="0"/>
                    </a:lnTo>
                    <a:cubicBezTo>
                      <a:pt x="1335254" y="0"/>
                      <a:pt x="1369256" y="34002"/>
                      <a:pt x="1369256" y="75947"/>
                    </a:cubicBezTo>
                    <a:lnTo>
                      <a:pt x="1369256" y="1536093"/>
                    </a:lnTo>
                    <a:cubicBezTo>
                      <a:pt x="1369256" y="1578037"/>
                      <a:pt x="1335254" y="1612040"/>
                      <a:pt x="1293310" y="1612040"/>
                    </a:cubicBezTo>
                    <a:lnTo>
                      <a:pt x="75947" y="1612040"/>
                    </a:lnTo>
                    <a:cubicBezTo>
                      <a:pt x="34002" y="1612040"/>
                      <a:pt x="0" y="1578037"/>
                      <a:pt x="0" y="1536093"/>
                    </a:cubicBezTo>
                    <a:lnTo>
                      <a:pt x="0" y="75947"/>
                    </a:lnTo>
                    <a:cubicBezTo>
                      <a:pt x="0" y="34002"/>
                      <a:pt x="34002" y="0"/>
                      <a:pt x="75947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47625"/>
                <a:ext cx="1369256" cy="165966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6"/>
                  </a:lnSpc>
                </a:pPr>
                <a:endParaRPr/>
              </a:p>
            </p:txBody>
          </p:sp>
        </p:grpSp>
      </p:grpSp>
      <p:grpSp>
        <p:nvGrpSpPr>
          <p:cNvPr id="17" name="Group 17"/>
          <p:cNvGrpSpPr/>
          <p:nvPr/>
        </p:nvGrpSpPr>
        <p:grpSpPr>
          <a:xfrm>
            <a:off x="12199576" y="2479913"/>
            <a:ext cx="5449371" cy="6557161"/>
            <a:chOff x="0" y="0"/>
            <a:chExt cx="7265828" cy="8742881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0"/>
              <a:ext cx="7265828" cy="8742881"/>
              <a:chOff x="0" y="0"/>
              <a:chExt cx="1435225" cy="1726989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435225" cy="1726989"/>
              </a:xfrm>
              <a:custGeom>
                <a:avLst/>
                <a:gdLst/>
                <a:ahLst/>
                <a:cxnLst/>
                <a:rect l="l" t="t" r="r" b="b"/>
                <a:pathLst>
                  <a:path w="1435225" h="1726989">
                    <a:moveTo>
                      <a:pt x="72456" y="0"/>
                    </a:moveTo>
                    <a:lnTo>
                      <a:pt x="1362770" y="0"/>
                    </a:lnTo>
                    <a:cubicBezTo>
                      <a:pt x="1402786" y="0"/>
                      <a:pt x="1435225" y="32440"/>
                      <a:pt x="1435225" y="72456"/>
                    </a:cubicBezTo>
                    <a:lnTo>
                      <a:pt x="1435225" y="1654533"/>
                    </a:lnTo>
                    <a:cubicBezTo>
                      <a:pt x="1435225" y="1694549"/>
                      <a:pt x="1402786" y="1726989"/>
                      <a:pt x="1362770" y="1726989"/>
                    </a:cubicBezTo>
                    <a:lnTo>
                      <a:pt x="72456" y="1726989"/>
                    </a:lnTo>
                    <a:cubicBezTo>
                      <a:pt x="32440" y="1726989"/>
                      <a:pt x="0" y="1694549"/>
                      <a:pt x="0" y="1654533"/>
                    </a:cubicBezTo>
                    <a:lnTo>
                      <a:pt x="0" y="72456"/>
                    </a:lnTo>
                    <a:cubicBezTo>
                      <a:pt x="0" y="32440"/>
                      <a:pt x="32440" y="0"/>
                      <a:pt x="72456" y="0"/>
                    </a:cubicBezTo>
                    <a:close/>
                  </a:path>
                </a:pathLst>
              </a:custGeom>
              <a:solidFill>
                <a:srgbClr val="00B74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47625"/>
                <a:ext cx="1435225" cy="177461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6"/>
                  </a:lnSpc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166984" y="49862"/>
              <a:ext cx="6931861" cy="8451914"/>
              <a:chOff x="0" y="-47625"/>
              <a:chExt cx="1369256" cy="1669514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9849"/>
                <a:ext cx="1369256" cy="1612040"/>
              </a:xfrm>
              <a:custGeom>
                <a:avLst/>
                <a:gdLst/>
                <a:ahLst/>
                <a:cxnLst/>
                <a:rect l="l" t="t" r="r" b="b"/>
                <a:pathLst>
                  <a:path w="1369256" h="1612040">
                    <a:moveTo>
                      <a:pt x="75947" y="0"/>
                    </a:moveTo>
                    <a:lnTo>
                      <a:pt x="1293310" y="0"/>
                    </a:lnTo>
                    <a:cubicBezTo>
                      <a:pt x="1335254" y="0"/>
                      <a:pt x="1369256" y="34002"/>
                      <a:pt x="1369256" y="75947"/>
                    </a:cubicBezTo>
                    <a:lnTo>
                      <a:pt x="1369256" y="1536093"/>
                    </a:lnTo>
                    <a:cubicBezTo>
                      <a:pt x="1369256" y="1578037"/>
                      <a:pt x="1335254" y="1612040"/>
                      <a:pt x="1293310" y="1612040"/>
                    </a:cubicBezTo>
                    <a:lnTo>
                      <a:pt x="75947" y="1612040"/>
                    </a:lnTo>
                    <a:cubicBezTo>
                      <a:pt x="34002" y="1612040"/>
                      <a:pt x="0" y="1578037"/>
                      <a:pt x="0" y="1536093"/>
                    </a:cubicBezTo>
                    <a:lnTo>
                      <a:pt x="0" y="75947"/>
                    </a:lnTo>
                    <a:cubicBezTo>
                      <a:pt x="0" y="34002"/>
                      <a:pt x="34002" y="0"/>
                      <a:pt x="75947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47625"/>
                <a:ext cx="1369256" cy="165966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6"/>
                  </a:lnSpc>
                </a:pPr>
                <a:endParaRPr/>
              </a:p>
            </p:txBody>
          </p:sp>
        </p:grpSp>
      </p:grpSp>
      <p:sp>
        <p:nvSpPr>
          <p:cNvPr id="24" name="TextBox 24"/>
          <p:cNvSpPr txBox="1"/>
          <p:nvPr/>
        </p:nvSpPr>
        <p:spPr>
          <a:xfrm>
            <a:off x="1143000" y="2916198"/>
            <a:ext cx="4179243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SGS Second Opinion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88671" y="3921403"/>
            <a:ext cx="4703560" cy="29709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2806" lvl="1" indent="-216403" algn="l">
              <a:lnSpc>
                <a:spcPts val="3828"/>
              </a:lnSpc>
              <a:buAutoNum type="arabicPeriod"/>
            </a:pPr>
            <a:r>
              <a:rPr lang="en-US" sz="200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Apply “</a:t>
            </a:r>
            <a:r>
              <a:rPr lang="en-US" sz="2004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Escalate/Transfer::To SGS Second Opinion</a:t>
            </a:r>
            <a:r>
              <a:rPr lang="en-US" sz="200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”</a:t>
            </a:r>
          </a:p>
          <a:p>
            <a:pPr marL="432806" lvl="1" indent="-216403" algn="l">
              <a:lnSpc>
                <a:spcPts val="3828"/>
              </a:lnSpc>
              <a:buAutoNum type="arabicPeriod"/>
            </a:pPr>
            <a:r>
              <a:rPr lang="en-US" sz="200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Complete the internal comment with relevant information.</a:t>
            </a:r>
          </a:p>
          <a:p>
            <a:pPr marL="475985" lvl="1" indent="-237993" algn="l">
              <a:lnSpc>
                <a:spcPts val="4210"/>
              </a:lnSpc>
              <a:buAutoNum type="arabicPeriod"/>
            </a:pPr>
            <a:r>
              <a:rPr lang="en-US" sz="220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Team Leads process the queue within 72 hours.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661648" y="2926622"/>
            <a:ext cx="964704" cy="50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Tier 2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027423" y="4188059"/>
            <a:ext cx="4233154" cy="1588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2806" lvl="1" indent="-216403" algn="l">
              <a:lnSpc>
                <a:spcPts val="4289"/>
              </a:lnSpc>
              <a:buAutoNum type="arabicPeriod"/>
            </a:pPr>
            <a:r>
              <a:rPr lang="en-US" sz="200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Apply “To FS Tier 2”</a:t>
            </a:r>
          </a:p>
          <a:p>
            <a:pPr marL="432806" lvl="1" indent="-216403" algn="l">
              <a:lnSpc>
                <a:spcPts val="4289"/>
              </a:lnSpc>
              <a:buAutoNum type="arabicPeriod"/>
            </a:pPr>
            <a:r>
              <a:rPr lang="en-US" sz="200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Add all relevant information to the internal comment.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491480" y="2916198"/>
            <a:ext cx="4865563" cy="1005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Returning a Second Opinion ticket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408147" y="3983073"/>
            <a:ext cx="5032228" cy="25764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79" lvl="1" indent="-237490" algn="l">
              <a:lnSpc>
                <a:spcPts val="4135"/>
              </a:lnSpc>
              <a:buFont typeface="Arial"/>
              <a:buChar char="•"/>
            </a:pPr>
            <a:r>
              <a:rPr lang="en-US" sz="21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Reassign to the original agent</a:t>
            </a:r>
          </a:p>
          <a:p>
            <a:pPr marL="474979" lvl="1" indent="-237490" algn="l">
              <a:lnSpc>
                <a:spcPts val="4135"/>
              </a:lnSpc>
              <a:buFont typeface="Arial"/>
              <a:buChar char="•"/>
            </a:pPr>
            <a:r>
              <a:rPr lang="en-US" sz="21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Select the Fraud Support Group</a:t>
            </a:r>
          </a:p>
          <a:p>
            <a:pPr marL="474979" lvl="1" indent="-237490" algn="l">
              <a:lnSpc>
                <a:spcPts val="4135"/>
              </a:lnSpc>
              <a:buFont typeface="Arial"/>
              <a:buChar char="•"/>
            </a:pPr>
            <a:r>
              <a:rPr lang="en-US" sz="21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Uncheck “Escalate to SGS Second Opinion”</a:t>
            </a:r>
          </a:p>
          <a:p>
            <a:pPr marL="474979" lvl="1" indent="-237490" algn="l">
              <a:lnSpc>
                <a:spcPts val="4135"/>
              </a:lnSpc>
              <a:buFont typeface="Arial"/>
              <a:buChar char="•"/>
            </a:pPr>
            <a:r>
              <a:rPr lang="en-US" sz="21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Submit as Open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6E529C5-AABD-8468-3A56-01D9F7E34445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Tripadvisor / Fraud support / </a:t>
            </a:r>
            <a:r>
              <a:rPr lang="en-US" sz="1400" dirty="0">
                <a:solidFill>
                  <a:srgbClr val="8A8272"/>
                </a:solidFill>
                <a:latin typeface="Poppins"/>
              </a:rPr>
              <a:t>How to escalate correctly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sp>
        <p:nvSpPr>
          <p:cNvPr id="32" name="Freeform 5">
            <a:extLst>
              <a:ext uri="{FF2B5EF4-FFF2-40B4-BE49-F238E27FC236}">
                <a16:creationId xmlns:a16="http://schemas.microsoft.com/office/drawing/2014/main" id="{37C13CA8-9487-AEAE-E0DD-19EB235FCC6C}"/>
              </a:ext>
            </a:extLst>
          </p:cNvPr>
          <p:cNvSpPr/>
          <p:nvPr/>
        </p:nvSpPr>
        <p:spPr>
          <a:xfrm>
            <a:off x="3657600" y="7023357"/>
            <a:ext cx="1991650" cy="1477079"/>
          </a:xfrm>
          <a:custGeom>
            <a:avLst/>
            <a:gdLst/>
            <a:ahLst/>
            <a:cxnLst/>
            <a:rect l="l" t="t" r="r" b="b"/>
            <a:pathLst>
              <a:path w="4597542" h="4114800">
                <a:moveTo>
                  <a:pt x="0" y="0"/>
                </a:moveTo>
                <a:lnTo>
                  <a:pt x="4597542" y="0"/>
                </a:lnTo>
                <a:lnTo>
                  <a:pt x="45975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4" name="Freeform 7">
            <a:extLst>
              <a:ext uri="{FF2B5EF4-FFF2-40B4-BE49-F238E27FC236}">
                <a16:creationId xmlns:a16="http://schemas.microsoft.com/office/drawing/2014/main" id="{0E9BC3DB-F7B3-E86B-3DE0-0883D56E655E}"/>
              </a:ext>
            </a:extLst>
          </p:cNvPr>
          <p:cNvSpPr/>
          <p:nvPr/>
        </p:nvSpPr>
        <p:spPr>
          <a:xfrm>
            <a:off x="9764940" y="7023357"/>
            <a:ext cx="1794719" cy="1637232"/>
          </a:xfrm>
          <a:custGeom>
            <a:avLst/>
            <a:gdLst/>
            <a:ahLst/>
            <a:cxnLst/>
            <a:rect l="l" t="t" r="r" b="b"/>
            <a:pathLst>
              <a:path w="4354286" h="4114800">
                <a:moveTo>
                  <a:pt x="0" y="0"/>
                </a:moveTo>
                <a:lnTo>
                  <a:pt x="4354286" y="0"/>
                </a:lnTo>
                <a:lnTo>
                  <a:pt x="435428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Freeform 3">
            <a:extLst>
              <a:ext uri="{FF2B5EF4-FFF2-40B4-BE49-F238E27FC236}">
                <a16:creationId xmlns:a16="http://schemas.microsoft.com/office/drawing/2014/main" id="{E03CBCF9-B5ED-CDA6-9CB4-321219299046}"/>
              </a:ext>
            </a:extLst>
          </p:cNvPr>
          <p:cNvSpPr/>
          <p:nvPr/>
        </p:nvSpPr>
        <p:spPr>
          <a:xfrm>
            <a:off x="15127173" y="6842531"/>
            <a:ext cx="2278385" cy="18742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0" y="0"/>
                </a:moveTo>
                <a:lnTo>
                  <a:pt x="3867912" y="0"/>
                </a:lnTo>
                <a:lnTo>
                  <a:pt x="38679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518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FCE573-0A88-56E6-283E-9A7264DAB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35FC2E49-0C97-7DDE-38EA-4BAD127888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8385" y="190500"/>
            <a:ext cx="17331231" cy="8229600"/>
          </a:xfrm>
          <a:prstGeom prst="rect">
            <a:avLst/>
          </a:prstGeom>
        </p:spPr>
      </p:pic>
      <p:sp>
        <p:nvSpPr>
          <p:cNvPr id="3" name="AutoShape 3">
            <a:extLst>
              <a:ext uri="{FF2B5EF4-FFF2-40B4-BE49-F238E27FC236}">
                <a16:creationId xmlns:a16="http://schemas.microsoft.com/office/drawing/2014/main" id="{7E2E9FBA-2CBD-4CC9-CDA2-B1C15128B53D}"/>
              </a:ext>
            </a:extLst>
          </p:cNvPr>
          <p:cNvSpPr/>
          <p:nvPr/>
        </p:nvSpPr>
        <p:spPr>
          <a:xfrm>
            <a:off x="478385" y="8703951"/>
            <a:ext cx="17331231" cy="0"/>
          </a:xfrm>
          <a:prstGeom prst="line">
            <a:avLst/>
          </a:prstGeom>
          <a:ln w="38100" cap="flat">
            <a:solidFill>
              <a:srgbClr val="002B1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C62B80DC-CD6E-6A1C-C43E-E76BB44A7194}"/>
              </a:ext>
            </a:extLst>
          </p:cNvPr>
          <p:cNvGrpSpPr/>
          <p:nvPr/>
        </p:nvGrpSpPr>
        <p:grpSpPr>
          <a:xfrm>
            <a:off x="1028700" y="671195"/>
            <a:ext cx="2239382" cy="670446"/>
            <a:chOff x="0" y="0"/>
            <a:chExt cx="589796" cy="176578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3EC1CD2-D506-12DD-D2F8-2265475884F9}"/>
                </a:ext>
              </a:extLst>
            </p:cNvPr>
            <p:cNvSpPr/>
            <p:nvPr/>
          </p:nvSpPr>
          <p:spPr>
            <a:xfrm>
              <a:off x="0" y="0"/>
              <a:ext cx="589796" cy="176578"/>
            </a:xfrm>
            <a:custGeom>
              <a:avLst/>
              <a:gdLst/>
              <a:ahLst/>
              <a:cxnLst/>
              <a:rect l="l" t="t" r="r" b="b"/>
              <a:pathLst>
                <a:path w="589796" h="176578">
                  <a:moveTo>
                    <a:pt x="88289" y="0"/>
                  </a:moveTo>
                  <a:lnTo>
                    <a:pt x="501507" y="0"/>
                  </a:lnTo>
                  <a:cubicBezTo>
                    <a:pt x="524923" y="0"/>
                    <a:pt x="547379" y="9302"/>
                    <a:pt x="563937" y="25859"/>
                  </a:cubicBezTo>
                  <a:cubicBezTo>
                    <a:pt x="580494" y="42417"/>
                    <a:pt x="589796" y="64873"/>
                    <a:pt x="589796" y="88289"/>
                  </a:cubicBezTo>
                  <a:lnTo>
                    <a:pt x="589796" y="88289"/>
                  </a:lnTo>
                  <a:cubicBezTo>
                    <a:pt x="589796" y="137050"/>
                    <a:pt x="550268" y="176578"/>
                    <a:pt x="501507" y="176578"/>
                  </a:cubicBezTo>
                  <a:lnTo>
                    <a:pt x="88289" y="176578"/>
                  </a:lnTo>
                  <a:cubicBezTo>
                    <a:pt x="39528" y="176578"/>
                    <a:pt x="0" y="137050"/>
                    <a:pt x="0" y="88289"/>
                  </a:cubicBezTo>
                  <a:lnTo>
                    <a:pt x="0" y="88289"/>
                  </a:lnTo>
                  <a:cubicBezTo>
                    <a:pt x="0" y="39528"/>
                    <a:pt x="39528" y="0"/>
                    <a:pt x="88289" y="0"/>
                  </a:cubicBezTo>
                  <a:close/>
                </a:path>
              </a:pathLst>
            </a:custGeom>
            <a:solidFill>
              <a:srgbClr val="FB5184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AFA1AF46-907B-DA48-DFA8-28BF864975D1}"/>
                </a:ext>
              </a:extLst>
            </p:cNvPr>
            <p:cNvSpPr txBox="1"/>
            <p:nvPr/>
          </p:nvSpPr>
          <p:spPr>
            <a:xfrm>
              <a:off x="0" y="-47625"/>
              <a:ext cx="589796" cy="2242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31E201A6-0D94-E040-2B9A-4E1F18D0AD08}"/>
              </a:ext>
            </a:extLst>
          </p:cNvPr>
          <p:cNvGrpSpPr/>
          <p:nvPr/>
        </p:nvGrpSpPr>
        <p:grpSpPr>
          <a:xfrm>
            <a:off x="14684028" y="574219"/>
            <a:ext cx="2725614" cy="622382"/>
            <a:chOff x="0" y="0"/>
            <a:chExt cx="717857" cy="16392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BE165D63-F270-8F0B-578A-EC7B2CE54B89}"/>
                </a:ext>
              </a:extLst>
            </p:cNvPr>
            <p:cNvSpPr/>
            <p:nvPr/>
          </p:nvSpPr>
          <p:spPr>
            <a:xfrm>
              <a:off x="0" y="0"/>
              <a:ext cx="717857" cy="163920"/>
            </a:xfrm>
            <a:custGeom>
              <a:avLst/>
              <a:gdLst/>
              <a:ahLst/>
              <a:cxnLst/>
              <a:rect l="l" t="t" r="r" b="b"/>
              <a:pathLst>
                <a:path w="717857" h="163920">
                  <a:moveTo>
                    <a:pt x="81960" y="0"/>
                  </a:moveTo>
                  <a:lnTo>
                    <a:pt x="635897" y="0"/>
                  </a:lnTo>
                  <a:cubicBezTo>
                    <a:pt x="681163" y="0"/>
                    <a:pt x="717857" y="36695"/>
                    <a:pt x="717857" y="81960"/>
                  </a:cubicBezTo>
                  <a:lnTo>
                    <a:pt x="717857" y="81960"/>
                  </a:lnTo>
                  <a:cubicBezTo>
                    <a:pt x="717857" y="103697"/>
                    <a:pt x="709222" y="124544"/>
                    <a:pt x="693852" y="139914"/>
                  </a:cubicBezTo>
                  <a:cubicBezTo>
                    <a:pt x="678481" y="155285"/>
                    <a:pt x="657634" y="163920"/>
                    <a:pt x="635897" y="163920"/>
                  </a:cubicBezTo>
                  <a:lnTo>
                    <a:pt x="81960" y="163920"/>
                  </a:lnTo>
                  <a:cubicBezTo>
                    <a:pt x="36695" y="163920"/>
                    <a:pt x="0" y="127225"/>
                    <a:pt x="0" y="81960"/>
                  </a:cubicBezTo>
                  <a:lnTo>
                    <a:pt x="0" y="81960"/>
                  </a:lnTo>
                  <a:cubicBezTo>
                    <a:pt x="0" y="36695"/>
                    <a:pt x="36695" y="0"/>
                    <a:pt x="81960" y="0"/>
                  </a:cubicBezTo>
                  <a:close/>
                </a:path>
              </a:pathLst>
            </a:custGeom>
            <a:solidFill>
              <a:srgbClr val="FB5184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044C4BB-1A2E-0C67-A0DA-98FF81F9E0A4}"/>
                </a:ext>
              </a:extLst>
            </p:cNvPr>
            <p:cNvSpPr txBox="1"/>
            <p:nvPr/>
          </p:nvSpPr>
          <p:spPr>
            <a:xfrm>
              <a:off x="0" y="-47625"/>
              <a:ext cx="717857" cy="2115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978777D5-7A45-C011-8C38-A46EEA64C68E}"/>
              </a:ext>
            </a:extLst>
          </p:cNvPr>
          <p:cNvSpPr txBox="1"/>
          <p:nvPr/>
        </p:nvSpPr>
        <p:spPr>
          <a:xfrm>
            <a:off x="478385" y="8719968"/>
            <a:ext cx="17331231" cy="12791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0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02. Escalations from Other Teams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B29770ED-1B90-5B96-7FD2-CF632E1D47BA}"/>
              </a:ext>
            </a:extLst>
          </p:cNvPr>
          <p:cNvSpPr txBox="1"/>
          <p:nvPr/>
        </p:nvSpPr>
        <p:spPr>
          <a:xfrm>
            <a:off x="1141613" y="801147"/>
            <a:ext cx="2013556" cy="3770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07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99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Canada</a:t>
            </a:r>
          </a:p>
        </p:txBody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2ACA9B2F-B39B-5450-1850-8CFCDC591679}"/>
              </a:ext>
            </a:extLst>
          </p:cNvPr>
          <p:cNvGrpSpPr/>
          <p:nvPr/>
        </p:nvGrpSpPr>
        <p:grpSpPr>
          <a:xfrm>
            <a:off x="14869769" y="660457"/>
            <a:ext cx="2354131" cy="449905"/>
            <a:chOff x="0" y="0"/>
            <a:chExt cx="3138841" cy="599873"/>
          </a:xfrm>
        </p:grpSpPr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EF2F7BDD-E445-337F-0D7C-CBABE8EC88F7}"/>
                </a:ext>
              </a:extLst>
            </p:cNvPr>
            <p:cNvGrpSpPr/>
            <p:nvPr/>
          </p:nvGrpSpPr>
          <p:grpSpPr>
            <a:xfrm>
              <a:off x="0" y="9544"/>
              <a:ext cx="590328" cy="590328"/>
              <a:chOff x="0" y="0"/>
              <a:chExt cx="812800" cy="812800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61A23E0A-C1C4-F334-663A-B7427CEE3863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" name="TextBox 15">
                <a:extLst>
                  <a:ext uri="{FF2B5EF4-FFF2-40B4-BE49-F238E27FC236}">
                    <a16:creationId xmlns:a16="http://schemas.microsoft.com/office/drawing/2014/main" id="{1FCAB800-0060-05E6-5157-FBEE03559BC5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6">
              <a:extLst>
                <a:ext uri="{FF2B5EF4-FFF2-40B4-BE49-F238E27FC236}">
                  <a16:creationId xmlns:a16="http://schemas.microsoft.com/office/drawing/2014/main" id="{B9E09FAC-1E6A-765D-8A54-EE8FFF49198A}"/>
                </a:ext>
              </a:extLst>
            </p:cNvPr>
            <p:cNvGrpSpPr/>
            <p:nvPr/>
          </p:nvGrpSpPr>
          <p:grpSpPr>
            <a:xfrm>
              <a:off x="634797" y="9544"/>
              <a:ext cx="590328" cy="590328"/>
              <a:chOff x="0" y="0"/>
              <a:chExt cx="812800" cy="812800"/>
            </a:xfrm>
          </p:grpSpPr>
          <p:sp>
            <p:nvSpPr>
              <p:cNvPr id="17" name="Freeform 17">
                <a:extLst>
                  <a:ext uri="{FF2B5EF4-FFF2-40B4-BE49-F238E27FC236}">
                    <a16:creationId xmlns:a16="http://schemas.microsoft.com/office/drawing/2014/main" id="{F0EC53CC-AE5B-7ACF-2C14-6AEAD31E4A88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FDB19B3D-FAC9-21FB-7CE4-7FDDB5FBAD04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id="{52461AF9-B4D9-2370-F1EE-1728242EC127}"/>
                </a:ext>
              </a:extLst>
            </p:cNvPr>
            <p:cNvGrpSpPr/>
            <p:nvPr/>
          </p:nvGrpSpPr>
          <p:grpSpPr>
            <a:xfrm>
              <a:off x="1275925" y="9544"/>
              <a:ext cx="590328" cy="590328"/>
              <a:chOff x="0" y="0"/>
              <a:chExt cx="812800" cy="812800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C2B7E347-5E34-3755-6C87-FD31BECCE604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1" name="TextBox 21">
                <a:extLst>
                  <a:ext uri="{FF2B5EF4-FFF2-40B4-BE49-F238E27FC236}">
                    <a16:creationId xmlns:a16="http://schemas.microsoft.com/office/drawing/2014/main" id="{323A072E-905E-853A-D646-DCBE99180CA0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2" name="Group 22">
              <a:extLst>
                <a:ext uri="{FF2B5EF4-FFF2-40B4-BE49-F238E27FC236}">
                  <a16:creationId xmlns:a16="http://schemas.microsoft.com/office/drawing/2014/main" id="{1BB71346-9F0C-27AC-0B33-C1603C39B611}"/>
                </a:ext>
              </a:extLst>
            </p:cNvPr>
            <p:cNvGrpSpPr/>
            <p:nvPr/>
          </p:nvGrpSpPr>
          <p:grpSpPr>
            <a:xfrm>
              <a:off x="1917053" y="0"/>
              <a:ext cx="590328" cy="590328"/>
              <a:chOff x="0" y="0"/>
              <a:chExt cx="812800" cy="812800"/>
            </a:xfrm>
          </p:grpSpPr>
          <p:sp>
            <p:nvSpPr>
              <p:cNvPr id="23" name="Freeform 23">
                <a:extLst>
                  <a:ext uri="{FF2B5EF4-FFF2-40B4-BE49-F238E27FC236}">
                    <a16:creationId xmlns:a16="http://schemas.microsoft.com/office/drawing/2014/main" id="{437D201D-E251-7C06-4D76-CC824B4EE828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4" name="TextBox 24">
                <a:extLst>
                  <a:ext uri="{FF2B5EF4-FFF2-40B4-BE49-F238E27FC236}">
                    <a16:creationId xmlns:a16="http://schemas.microsoft.com/office/drawing/2014/main" id="{C89C8583-F489-54FA-A309-16C26B17C869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5" name="Group 25">
              <a:extLst>
                <a:ext uri="{FF2B5EF4-FFF2-40B4-BE49-F238E27FC236}">
                  <a16:creationId xmlns:a16="http://schemas.microsoft.com/office/drawing/2014/main" id="{EB078E2B-82EE-DC62-74FE-4A0060B23D70}"/>
                </a:ext>
              </a:extLst>
            </p:cNvPr>
            <p:cNvGrpSpPr/>
            <p:nvPr/>
          </p:nvGrpSpPr>
          <p:grpSpPr>
            <a:xfrm>
              <a:off x="2548513" y="9544"/>
              <a:ext cx="590328" cy="590328"/>
              <a:chOff x="0" y="0"/>
              <a:chExt cx="812800" cy="812800"/>
            </a:xfrm>
          </p:grpSpPr>
          <p:sp>
            <p:nvSpPr>
              <p:cNvPr id="26" name="Freeform 26">
                <a:extLst>
                  <a:ext uri="{FF2B5EF4-FFF2-40B4-BE49-F238E27FC236}">
                    <a16:creationId xmlns:a16="http://schemas.microsoft.com/office/drawing/2014/main" id="{89F42D92-490B-E8DB-31E6-764E1961B892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7" name="TextBox 27">
                <a:extLst>
                  <a:ext uri="{FF2B5EF4-FFF2-40B4-BE49-F238E27FC236}">
                    <a16:creationId xmlns:a16="http://schemas.microsoft.com/office/drawing/2014/main" id="{6E11B3B2-817B-F7F0-7897-E835864AC199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11342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49469" y="3734093"/>
            <a:ext cx="5147068" cy="2138216"/>
            <a:chOff x="0" y="0"/>
            <a:chExt cx="6862758" cy="285095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6768860" cy="2715864"/>
              <a:chOff x="0" y="0"/>
              <a:chExt cx="1825079" cy="732275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825079" cy="732275"/>
              </a:xfrm>
              <a:custGeom>
                <a:avLst/>
                <a:gdLst/>
                <a:ahLst/>
                <a:cxnLst/>
                <a:rect l="l" t="t" r="r" b="b"/>
                <a:pathLst>
                  <a:path w="1825079" h="732275">
                    <a:moveTo>
                      <a:pt x="56978" y="0"/>
                    </a:moveTo>
                    <a:lnTo>
                      <a:pt x="1768100" y="0"/>
                    </a:lnTo>
                    <a:cubicBezTo>
                      <a:pt x="1799568" y="0"/>
                      <a:pt x="1825079" y="25510"/>
                      <a:pt x="1825079" y="56978"/>
                    </a:cubicBezTo>
                    <a:lnTo>
                      <a:pt x="1825079" y="675296"/>
                    </a:lnTo>
                    <a:cubicBezTo>
                      <a:pt x="1825079" y="690408"/>
                      <a:pt x="1819075" y="704900"/>
                      <a:pt x="1808390" y="715586"/>
                    </a:cubicBezTo>
                    <a:cubicBezTo>
                      <a:pt x="1797704" y="726272"/>
                      <a:pt x="1783212" y="732275"/>
                      <a:pt x="1768100" y="732275"/>
                    </a:cubicBezTo>
                    <a:lnTo>
                      <a:pt x="56978" y="732275"/>
                    </a:lnTo>
                    <a:cubicBezTo>
                      <a:pt x="41867" y="732275"/>
                      <a:pt x="27374" y="726272"/>
                      <a:pt x="16689" y="715586"/>
                    </a:cubicBezTo>
                    <a:cubicBezTo>
                      <a:pt x="6003" y="704900"/>
                      <a:pt x="0" y="690408"/>
                      <a:pt x="0" y="675296"/>
                    </a:cubicBezTo>
                    <a:lnTo>
                      <a:pt x="0" y="56978"/>
                    </a:lnTo>
                    <a:cubicBezTo>
                      <a:pt x="0" y="41867"/>
                      <a:pt x="6003" y="27374"/>
                      <a:pt x="16689" y="16689"/>
                    </a:cubicBezTo>
                    <a:cubicBezTo>
                      <a:pt x="27374" y="6003"/>
                      <a:pt x="41867" y="0"/>
                      <a:pt x="56978" y="0"/>
                    </a:cubicBezTo>
                    <a:close/>
                  </a:path>
                </a:pathLst>
              </a:custGeom>
              <a:solidFill>
                <a:srgbClr val="00BF6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1825079" cy="779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6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93898" y="135091"/>
              <a:ext cx="6768860" cy="2715864"/>
              <a:chOff x="0" y="0"/>
              <a:chExt cx="1825079" cy="732275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825079" cy="732275"/>
              </a:xfrm>
              <a:custGeom>
                <a:avLst/>
                <a:gdLst/>
                <a:ahLst/>
                <a:cxnLst/>
                <a:rect l="l" t="t" r="r" b="b"/>
                <a:pathLst>
                  <a:path w="1825079" h="732275">
                    <a:moveTo>
                      <a:pt x="56978" y="0"/>
                    </a:moveTo>
                    <a:lnTo>
                      <a:pt x="1768100" y="0"/>
                    </a:lnTo>
                    <a:cubicBezTo>
                      <a:pt x="1799568" y="0"/>
                      <a:pt x="1825079" y="25510"/>
                      <a:pt x="1825079" y="56978"/>
                    </a:cubicBezTo>
                    <a:lnTo>
                      <a:pt x="1825079" y="675296"/>
                    </a:lnTo>
                    <a:cubicBezTo>
                      <a:pt x="1825079" y="690408"/>
                      <a:pt x="1819075" y="704900"/>
                      <a:pt x="1808390" y="715586"/>
                    </a:cubicBezTo>
                    <a:cubicBezTo>
                      <a:pt x="1797704" y="726272"/>
                      <a:pt x="1783212" y="732275"/>
                      <a:pt x="1768100" y="732275"/>
                    </a:cubicBezTo>
                    <a:lnTo>
                      <a:pt x="56978" y="732275"/>
                    </a:lnTo>
                    <a:cubicBezTo>
                      <a:pt x="41867" y="732275"/>
                      <a:pt x="27374" y="726272"/>
                      <a:pt x="16689" y="715586"/>
                    </a:cubicBezTo>
                    <a:cubicBezTo>
                      <a:pt x="6003" y="704900"/>
                      <a:pt x="0" y="690408"/>
                      <a:pt x="0" y="675296"/>
                    </a:cubicBezTo>
                    <a:lnTo>
                      <a:pt x="0" y="56978"/>
                    </a:lnTo>
                    <a:cubicBezTo>
                      <a:pt x="0" y="41867"/>
                      <a:pt x="6003" y="27374"/>
                      <a:pt x="16689" y="16689"/>
                    </a:cubicBezTo>
                    <a:cubicBezTo>
                      <a:pt x="27374" y="6003"/>
                      <a:pt x="41867" y="0"/>
                      <a:pt x="569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40A635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1825079" cy="779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6"/>
                  </a:lnSpc>
                </a:pPr>
                <a:endParaRPr/>
              </a:p>
            </p:txBody>
          </p:sp>
        </p:grpSp>
      </p:grpSp>
      <p:sp>
        <p:nvSpPr>
          <p:cNvPr id="9" name="Freeform 9"/>
          <p:cNvSpPr/>
          <p:nvPr/>
        </p:nvSpPr>
        <p:spPr>
          <a:xfrm>
            <a:off x="5299490" y="4365159"/>
            <a:ext cx="1032668" cy="1099053"/>
          </a:xfrm>
          <a:custGeom>
            <a:avLst/>
            <a:gdLst/>
            <a:ahLst/>
            <a:cxnLst/>
            <a:rect l="l" t="t" r="r" b="b"/>
            <a:pathLst>
              <a:path w="914443" h="914443">
                <a:moveTo>
                  <a:pt x="0" y="0"/>
                </a:moveTo>
                <a:lnTo>
                  <a:pt x="914442" y="0"/>
                </a:lnTo>
                <a:lnTo>
                  <a:pt x="914442" y="914443"/>
                </a:lnTo>
                <a:lnTo>
                  <a:pt x="0" y="9144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6890084" y="3734093"/>
            <a:ext cx="5147068" cy="2138216"/>
            <a:chOff x="0" y="0"/>
            <a:chExt cx="6862758" cy="285095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6768860" cy="2715864"/>
              <a:chOff x="0" y="0"/>
              <a:chExt cx="1825079" cy="73227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825079" cy="732275"/>
              </a:xfrm>
              <a:custGeom>
                <a:avLst/>
                <a:gdLst/>
                <a:ahLst/>
                <a:cxnLst/>
                <a:rect l="l" t="t" r="r" b="b"/>
                <a:pathLst>
                  <a:path w="1825079" h="732275">
                    <a:moveTo>
                      <a:pt x="56978" y="0"/>
                    </a:moveTo>
                    <a:lnTo>
                      <a:pt x="1768100" y="0"/>
                    </a:lnTo>
                    <a:cubicBezTo>
                      <a:pt x="1799568" y="0"/>
                      <a:pt x="1825079" y="25510"/>
                      <a:pt x="1825079" y="56978"/>
                    </a:cubicBezTo>
                    <a:lnTo>
                      <a:pt x="1825079" y="675296"/>
                    </a:lnTo>
                    <a:cubicBezTo>
                      <a:pt x="1825079" y="690408"/>
                      <a:pt x="1819075" y="704900"/>
                      <a:pt x="1808390" y="715586"/>
                    </a:cubicBezTo>
                    <a:cubicBezTo>
                      <a:pt x="1797704" y="726272"/>
                      <a:pt x="1783212" y="732275"/>
                      <a:pt x="1768100" y="732275"/>
                    </a:cubicBezTo>
                    <a:lnTo>
                      <a:pt x="56978" y="732275"/>
                    </a:lnTo>
                    <a:cubicBezTo>
                      <a:pt x="41867" y="732275"/>
                      <a:pt x="27374" y="726272"/>
                      <a:pt x="16689" y="715586"/>
                    </a:cubicBezTo>
                    <a:cubicBezTo>
                      <a:pt x="6003" y="704900"/>
                      <a:pt x="0" y="690408"/>
                      <a:pt x="0" y="675296"/>
                    </a:cubicBezTo>
                    <a:lnTo>
                      <a:pt x="0" y="56978"/>
                    </a:lnTo>
                    <a:cubicBezTo>
                      <a:pt x="0" y="41867"/>
                      <a:pt x="6003" y="27374"/>
                      <a:pt x="16689" y="16689"/>
                    </a:cubicBezTo>
                    <a:cubicBezTo>
                      <a:pt x="27374" y="6003"/>
                      <a:pt x="41867" y="0"/>
                      <a:pt x="56978" y="0"/>
                    </a:cubicBezTo>
                    <a:close/>
                  </a:path>
                </a:pathLst>
              </a:custGeom>
              <a:solidFill>
                <a:srgbClr val="00BF6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47625"/>
                <a:ext cx="1825079" cy="779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6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93898" y="135091"/>
              <a:ext cx="6768860" cy="2715864"/>
              <a:chOff x="0" y="0"/>
              <a:chExt cx="1825079" cy="732275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825079" cy="732275"/>
              </a:xfrm>
              <a:custGeom>
                <a:avLst/>
                <a:gdLst/>
                <a:ahLst/>
                <a:cxnLst/>
                <a:rect l="l" t="t" r="r" b="b"/>
                <a:pathLst>
                  <a:path w="1825079" h="732275">
                    <a:moveTo>
                      <a:pt x="56978" y="0"/>
                    </a:moveTo>
                    <a:lnTo>
                      <a:pt x="1768100" y="0"/>
                    </a:lnTo>
                    <a:cubicBezTo>
                      <a:pt x="1799568" y="0"/>
                      <a:pt x="1825079" y="25510"/>
                      <a:pt x="1825079" y="56978"/>
                    </a:cubicBezTo>
                    <a:lnTo>
                      <a:pt x="1825079" y="675296"/>
                    </a:lnTo>
                    <a:cubicBezTo>
                      <a:pt x="1825079" y="690408"/>
                      <a:pt x="1819075" y="704900"/>
                      <a:pt x="1808390" y="715586"/>
                    </a:cubicBezTo>
                    <a:cubicBezTo>
                      <a:pt x="1797704" y="726272"/>
                      <a:pt x="1783212" y="732275"/>
                      <a:pt x="1768100" y="732275"/>
                    </a:cubicBezTo>
                    <a:lnTo>
                      <a:pt x="56978" y="732275"/>
                    </a:lnTo>
                    <a:cubicBezTo>
                      <a:pt x="41867" y="732275"/>
                      <a:pt x="27374" y="726272"/>
                      <a:pt x="16689" y="715586"/>
                    </a:cubicBezTo>
                    <a:cubicBezTo>
                      <a:pt x="6003" y="704900"/>
                      <a:pt x="0" y="690408"/>
                      <a:pt x="0" y="675296"/>
                    </a:cubicBezTo>
                    <a:lnTo>
                      <a:pt x="0" y="56978"/>
                    </a:lnTo>
                    <a:cubicBezTo>
                      <a:pt x="0" y="41867"/>
                      <a:pt x="6003" y="27374"/>
                      <a:pt x="16689" y="16689"/>
                    </a:cubicBezTo>
                    <a:cubicBezTo>
                      <a:pt x="27374" y="6003"/>
                      <a:pt x="41867" y="0"/>
                      <a:pt x="569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40A635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47625"/>
                <a:ext cx="1825079" cy="779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6"/>
                  </a:lnSpc>
                </a:pPr>
                <a:endParaRPr/>
              </a:p>
            </p:txBody>
          </p:sp>
        </p:grpSp>
      </p:grpSp>
      <p:sp>
        <p:nvSpPr>
          <p:cNvPr id="17" name="Freeform 17"/>
          <p:cNvSpPr/>
          <p:nvPr/>
        </p:nvSpPr>
        <p:spPr>
          <a:xfrm>
            <a:off x="10823332" y="4314961"/>
            <a:ext cx="1088238" cy="1077798"/>
          </a:xfrm>
          <a:custGeom>
            <a:avLst/>
            <a:gdLst/>
            <a:ahLst/>
            <a:cxnLst/>
            <a:rect l="l" t="t" r="r" b="b"/>
            <a:pathLst>
              <a:path w="746480" h="746480">
                <a:moveTo>
                  <a:pt x="0" y="0"/>
                </a:moveTo>
                <a:lnTo>
                  <a:pt x="746480" y="0"/>
                </a:lnTo>
                <a:lnTo>
                  <a:pt x="746480" y="746481"/>
                </a:lnTo>
                <a:lnTo>
                  <a:pt x="0" y="7464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2751652" y="3218998"/>
            <a:ext cx="4283876" cy="4210502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1287684" y="803051"/>
            <a:ext cx="14257116" cy="79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239"/>
              </a:lnSpc>
              <a:spcBef>
                <a:spcPct val="0"/>
              </a:spcBef>
            </a:pPr>
            <a:r>
              <a:rPr lang="en-US" sz="519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Handling Customer Support Escalations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363631" y="2155578"/>
            <a:ext cx="4604863" cy="3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sz="22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help@tripadvisorsupport.com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52473" y="2103233"/>
            <a:ext cx="5111158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CS escalations arrive from: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87362" y="2909863"/>
            <a:ext cx="4746129" cy="50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Before responding, check: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065078" y="4288758"/>
            <a:ext cx="1465362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Requester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065078" y="4840811"/>
            <a:ext cx="2940865" cy="391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6"/>
              </a:lnSpc>
              <a:spcBef>
                <a:spcPct val="0"/>
              </a:spcBef>
            </a:pPr>
            <a:r>
              <a:rPr lang="en-US" sz="22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Is it the owner/user?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580065" y="4131257"/>
            <a:ext cx="1384697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Note type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580065" y="4674898"/>
            <a:ext cx="2857526" cy="782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6"/>
              </a:lnSpc>
              <a:spcBef>
                <a:spcPct val="0"/>
              </a:spcBef>
            </a:pPr>
            <a:r>
              <a:rPr lang="en-US" sz="22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Is the CS message an Internal Note?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87362" y="6311797"/>
            <a:ext cx="5949107" cy="50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If Zendesk fails to set it correctly: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40306" y="7098433"/>
            <a:ext cx="7412590" cy="16659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79" lvl="1" indent="-237490" algn="l">
              <a:lnSpc>
                <a:spcPts val="4465"/>
              </a:lnSpc>
              <a:buFont typeface="Arial"/>
              <a:buChar char="•"/>
            </a:pPr>
            <a:r>
              <a:rPr lang="en-US" sz="21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Events → “Make this comment an internal note”</a:t>
            </a:r>
          </a:p>
          <a:p>
            <a:pPr marL="474979" lvl="1" indent="-237490" algn="l">
              <a:lnSpc>
                <a:spcPts val="4465"/>
              </a:lnSpc>
              <a:buFont typeface="Arial"/>
              <a:buChar char="•"/>
            </a:pPr>
            <a:r>
              <a:rPr lang="en-US" sz="21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Copy the owner's email from the ticket</a:t>
            </a:r>
          </a:p>
          <a:p>
            <a:pPr marL="474979" lvl="1" indent="-237490" algn="l">
              <a:lnSpc>
                <a:spcPts val="4465"/>
              </a:lnSpc>
              <a:buFont typeface="Arial"/>
              <a:buChar char="•"/>
            </a:pPr>
            <a:r>
              <a:rPr lang="en-US" sz="21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Replace the requester with the owner's email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E62E2DE-E8BE-CAAD-8889-C06E87A2B421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Tripadvisor / Fraud support / Handling CS escalations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B8B6C-F7EF-DD60-4F33-5E7BC9A8C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Freeform 7">
            <a:extLst>
              <a:ext uri="{FF2B5EF4-FFF2-40B4-BE49-F238E27FC236}">
                <a16:creationId xmlns:a16="http://schemas.microsoft.com/office/drawing/2014/main" id="{83ACDD85-C3E6-155F-150D-4BFFF2C13139}"/>
              </a:ext>
            </a:extLst>
          </p:cNvPr>
          <p:cNvSpPr/>
          <p:nvPr/>
        </p:nvSpPr>
        <p:spPr>
          <a:xfrm>
            <a:off x="1295342" y="5439149"/>
            <a:ext cx="4206240" cy="1956816"/>
          </a:xfrm>
          <a:custGeom>
            <a:avLst/>
            <a:gdLst/>
            <a:ahLst/>
            <a:cxnLst/>
            <a:rect l="l" t="t" r="r" b="b"/>
            <a:pathLst>
              <a:path w="1825079" h="732275">
                <a:moveTo>
                  <a:pt x="56978" y="0"/>
                </a:moveTo>
                <a:lnTo>
                  <a:pt x="1768100" y="0"/>
                </a:lnTo>
                <a:cubicBezTo>
                  <a:pt x="1799568" y="0"/>
                  <a:pt x="1825079" y="25510"/>
                  <a:pt x="1825079" y="56978"/>
                </a:cubicBezTo>
                <a:lnTo>
                  <a:pt x="1825079" y="675296"/>
                </a:lnTo>
                <a:cubicBezTo>
                  <a:pt x="1825079" y="690408"/>
                  <a:pt x="1819075" y="704900"/>
                  <a:pt x="1808390" y="715586"/>
                </a:cubicBezTo>
                <a:cubicBezTo>
                  <a:pt x="1797704" y="726272"/>
                  <a:pt x="1783212" y="732275"/>
                  <a:pt x="1768100" y="732275"/>
                </a:cubicBezTo>
                <a:lnTo>
                  <a:pt x="56978" y="732275"/>
                </a:lnTo>
                <a:cubicBezTo>
                  <a:pt x="41867" y="732275"/>
                  <a:pt x="27374" y="726272"/>
                  <a:pt x="16689" y="715586"/>
                </a:cubicBezTo>
                <a:cubicBezTo>
                  <a:pt x="6003" y="704900"/>
                  <a:pt x="0" y="690408"/>
                  <a:pt x="0" y="675296"/>
                </a:cubicBezTo>
                <a:lnTo>
                  <a:pt x="0" y="56978"/>
                </a:lnTo>
                <a:cubicBezTo>
                  <a:pt x="0" y="41867"/>
                  <a:pt x="6003" y="27374"/>
                  <a:pt x="16689" y="16689"/>
                </a:cubicBezTo>
                <a:cubicBezTo>
                  <a:pt x="27374" y="6003"/>
                  <a:pt x="41867" y="0"/>
                  <a:pt x="56978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00C6E5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41" name="TextBox 24">
            <a:extLst>
              <a:ext uri="{FF2B5EF4-FFF2-40B4-BE49-F238E27FC236}">
                <a16:creationId xmlns:a16="http://schemas.microsoft.com/office/drawing/2014/main" id="{8985311E-73D0-F8A6-B197-D6646D9967D4}"/>
              </a:ext>
            </a:extLst>
          </p:cNvPr>
          <p:cNvSpPr txBox="1"/>
          <p:nvPr/>
        </p:nvSpPr>
        <p:spPr>
          <a:xfrm>
            <a:off x="1206302" y="5572819"/>
            <a:ext cx="4267200" cy="1463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2800" kern="100" dirty="0">
                <a:latin typeface="Poppins" panose="00000500000000000000" pitchFamily="2" charset="0"/>
                <a:cs typeface="Poppins" panose="00000500000000000000" pitchFamily="2" charset="0"/>
              </a:rPr>
              <a:t>Search Zendesk for an existing owner conversation</a:t>
            </a:r>
            <a:endParaRPr lang="en-US" sz="2800" kern="100" dirty="0">
              <a:latin typeface="Poppins" panose="00000500000000000000" pitchFamily="2" charset="0"/>
              <a:ea typeface="Aptos" panose="020B0004020202020204" pitchFamily="34" charset="0"/>
              <a:cs typeface="Poppins" panose="00000500000000000000" pitchFamily="2" charset="0"/>
            </a:endParaRPr>
          </a:p>
        </p:txBody>
      </p:sp>
      <p:sp>
        <p:nvSpPr>
          <p:cNvPr id="21" name="Freeform 7">
            <a:extLst>
              <a:ext uri="{FF2B5EF4-FFF2-40B4-BE49-F238E27FC236}">
                <a16:creationId xmlns:a16="http://schemas.microsoft.com/office/drawing/2014/main" id="{91AAD959-5709-640D-8E78-A92EF07FB648}"/>
              </a:ext>
            </a:extLst>
          </p:cNvPr>
          <p:cNvSpPr/>
          <p:nvPr/>
        </p:nvSpPr>
        <p:spPr>
          <a:xfrm>
            <a:off x="1299894" y="2809115"/>
            <a:ext cx="4206240" cy="1956816"/>
          </a:xfrm>
          <a:custGeom>
            <a:avLst/>
            <a:gdLst/>
            <a:ahLst/>
            <a:cxnLst/>
            <a:rect l="l" t="t" r="r" b="b"/>
            <a:pathLst>
              <a:path w="1825079" h="732275">
                <a:moveTo>
                  <a:pt x="56978" y="0"/>
                </a:moveTo>
                <a:lnTo>
                  <a:pt x="1768100" y="0"/>
                </a:lnTo>
                <a:cubicBezTo>
                  <a:pt x="1799568" y="0"/>
                  <a:pt x="1825079" y="25510"/>
                  <a:pt x="1825079" y="56978"/>
                </a:cubicBezTo>
                <a:lnTo>
                  <a:pt x="1825079" y="675296"/>
                </a:lnTo>
                <a:cubicBezTo>
                  <a:pt x="1825079" y="690408"/>
                  <a:pt x="1819075" y="704900"/>
                  <a:pt x="1808390" y="715586"/>
                </a:cubicBezTo>
                <a:cubicBezTo>
                  <a:pt x="1797704" y="726272"/>
                  <a:pt x="1783212" y="732275"/>
                  <a:pt x="1768100" y="732275"/>
                </a:cubicBezTo>
                <a:lnTo>
                  <a:pt x="56978" y="732275"/>
                </a:lnTo>
                <a:cubicBezTo>
                  <a:pt x="41867" y="732275"/>
                  <a:pt x="27374" y="726272"/>
                  <a:pt x="16689" y="715586"/>
                </a:cubicBezTo>
                <a:cubicBezTo>
                  <a:pt x="6003" y="704900"/>
                  <a:pt x="0" y="690408"/>
                  <a:pt x="0" y="675296"/>
                </a:cubicBezTo>
                <a:lnTo>
                  <a:pt x="0" y="56978"/>
                </a:lnTo>
                <a:cubicBezTo>
                  <a:pt x="0" y="41867"/>
                  <a:pt x="6003" y="27374"/>
                  <a:pt x="16689" y="16689"/>
                </a:cubicBezTo>
                <a:cubicBezTo>
                  <a:pt x="27374" y="6003"/>
                  <a:pt x="41867" y="0"/>
                  <a:pt x="56978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00C6E5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TextBox 24">
            <a:extLst>
              <a:ext uri="{FF2B5EF4-FFF2-40B4-BE49-F238E27FC236}">
                <a16:creationId xmlns:a16="http://schemas.microsoft.com/office/drawing/2014/main" id="{9C8E339A-7F8A-B472-A08B-76158AC7D891}"/>
              </a:ext>
            </a:extLst>
          </p:cNvPr>
          <p:cNvSpPr txBox="1"/>
          <p:nvPr/>
        </p:nvSpPr>
        <p:spPr>
          <a:xfrm>
            <a:off x="1049335" y="2955533"/>
            <a:ext cx="4267200" cy="1463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2800" kern="100" dirty="0">
                <a:latin typeface="Poppins" panose="00000500000000000000" pitchFamily="2" charset="0"/>
                <a:cs typeface="Poppins" panose="00000500000000000000" pitchFamily="2" charset="0"/>
              </a:rPr>
              <a:t>Acknowledge the colleague and thank them</a:t>
            </a:r>
            <a:endParaRPr lang="en-US" sz="2800" kern="100" dirty="0">
              <a:latin typeface="Poppins" panose="00000500000000000000" pitchFamily="2" charset="0"/>
              <a:ea typeface="Aptos" panose="020B0004020202020204" pitchFamily="34" charset="0"/>
              <a:cs typeface="Poppins" panose="00000500000000000000" pitchFamily="2" charset="0"/>
            </a:endParaRPr>
          </a:p>
        </p:txBody>
      </p:sp>
      <p:sp>
        <p:nvSpPr>
          <p:cNvPr id="25" name="Freeform 7">
            <a:extLst>
              <a:ext uri="{FF2B5EF4-FFF2-40B4-BE49-F238E27FC236}">
                <a16:creationId xmlns:a16="http://schemas.microsoft.com/office/drawing/2014/main" id="{AC12F7CB-7768-C178-059A-CD2102136B14}"/>
              </a:ext>
            </a:extLst>
          </p:cNvPr>
          <p:cNvSpPr/>
          <p:nvPr/>
        </p:nvSpPr>
        <p:spPr>
          <a:xfrm>
            <a:off x="10820081" y="2855969"/>
            <a:ext cx="4206240" cy="1956816"/>
          </a:xfrm>
          <a:custGeom>
            <a:avLst/>
            <a:gdLst/>
            <a:ahLst/>
            <a:cxnLst/>
            <a:rect l="l" t="t" r="r" b="b"/>
            <a:pathLst>
              <a:path w="1825079" h="732275">
                <a:moveTo>
                  <a:pt x="56978" y="0"/>
                </a:moveTo>
                <a:lnTo>
                  <a:pt x="1768100" y="0"/>
                </a:lnTo>
                <a:cubicBezTo>
                  <a:pt x="1799568" y="0"/>
                  <a:pt x="1825079" y="25510"/>
                  <a:pt x="1825079" y="56978"/>
                </a:cubicBezTo>
                <a:lnTo>
                  <a:pt x="1825079" y="675296"/>
                </a:lnTo>
                <a:cubicBezTo>
                  <a:pt x="1825079" y="690408"/>
                  <a:pt x="1819075" y="704900"/>
                  <a:pt x="1808390" y="715586"/>
                </a:cubicBezTo>
                <a:cubicBezTo>
                  <a:pt x="1797704" y="726272"/>
                  <a:pt x="1783212" y="732275"/>
                  <a:pt x="1768100" y="732275"/>
                </a:cubicBezTo>
                <a:lnTo>
                  <a:pt x="56978" y="732275"/>
                </a:lnTo>
                <a:cubicBezTo>
                  <a:pt x="41867" y="732275"/>
                  <a:pt x="27374" y="726272"/>
                  <a:pt x="16689" y="715586"/>
                </a:cubicBezTo>
                <a:cubicBezTo>
                  <a:pt x="6003" y="704900"/>
                  <a:pt x="0" y="690408"/>
                  <a:pt x="0" y="675296"/>
                </a:cubicBezTo>
                <a:lnTo>
                  <a:pt x="0" y="56978"/>
                </a:lnTo>
                <a:cubicBezTo>
                  <a:pt x="0" y="41867"/>
                  <a:pt x="6003" y="27374"/>
                  <a:pt x="16689" y="16689"/>
                </a:cubicBezTo>
                <a:cubicBezTo>
                  <a:pt x="27374" y="6003"/>
                  <a:pt x="41867" y="0"/>
                  <a:pt x="56978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00C6E5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TextBox 24">
            <a:extLst>
              <a:ext uri="{FF2B5EF4-FFF2-40B4-BE49-F238E27FC236}">
                <a16:creationId xmlns:a16="http://schemas.microsoft.com/office/drawing/2014/main" id="{6BAF9B37-DC4A-2A01-CD85-D653C6DEE4D1}"/>
              </a:ext>
            </a:extLst>
          </p:cNvPr>
          <p:cNvSpPr txBox="1"/>
          <p:nvPr/>
        </p:nvSpPr>
        <p:spPr>
          <a:xfrm>
            <a:off x="11000905" y="2976089"/>
            <a:ext cx="4267200" cy="1463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2800" kern="100" dirty="0">
                <a:latin typeface="Poppins" panose="00000500000000000000" pitchFamily="2" charset="0"/>
                <a:cs typeface="Poppins" panose="00000500000000000000" pitchFamily="2" charset="0"/>
              </a:rPr>
              <a:t>Do not provide further case details to the employee</a:t>
            </a:r>
            <a:endParaRPr lang="en-US" sz="2800" kern="100" dirty="0">
              <a:latin typeface="Poppins" panose="00000500000000000000" pitchFamily="2" charset="0"/>
              <a:ea typeface="Aptos" panose="020B0004020202020204" pitchFamily="34" charset="0"/>
              <a:cs typeface="Poppins" panose="00000500000000000000" pitchFamily="2" charset="0"/>
            </a:endParaRPr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60FA86D8-3657-6D65-EFE5-B120CC796608}"/>
              </a:ext>
            </a:extLst>
          </p:cNvPr>
          <p:cNvSpPr/>
          <p:nvPr/>
        </p:nvSpPr>
        <p:spPr>
          <a:xfrm>
            <a:off x="6037617" y="2863920"/>
            <a:ext cx="4206240" cy="1956816"/>
          </a:xfrm>
          <a:custGeom>
            <a:avLst/>
            <a:gdLst/>
            <a:ahLst/>
            <a:cxnLst/>
            <a:rect l="l" t="t" r="r" b="b"/>
            <a:pathLst>
              <a:path w="1825079" h="732275">
                <a:moveTo>
                  <a:pt x="56978" y="0"/>
                </a:moveTo>
                <a:lnTo>
                  <a:pt x="1768100" y="0"/>
                </a:lnTo>
                <a:cubicBezTo>
                  <a:pt x="1799568" y="0"/>
                  <a:pt x="1825079" y="25510"/>
                  <a:pt x="1825079" y="56978"/>
                </a:cubicBezTo>
                <a:lnTo>
                  <a:pt x="1825079" y="675296"/>
                </a:lnTo>
                <a:cubicBezTo>
                  <a:pt x="1825079" y="690408"/>
                  <a:pt x="1819075" y="704900"/>
                  <a:pt x="1808390" y="715586"/>
                </a:cubicBezTo>
                <a:cubicBezTo>
                  <a:pt x="1797704" y="726272"/>
                  <a:pt x="1783212" y="732275"/>
                  <a:pt x="1768100" y="732275"/>
                </a:cubicBezTo>
                <a:lnTo>
                  <a:pt x="56978" y="732275"/>
                </a:lnTo>
                <a:cubicBezTo>
                  <a:pt x="41867" y="732275"/>
                  <a:pt x="27374" y="726272"/>
                  <a:pt x="16689" y="715586"/>
                </a:cubicBezTo>
                <a:cubicBezTo>
                  <a:pt x="6003" y="704900"/>
                  <a:pt x="0" y="690408"/>
                  <a:pt x="0" y="675296"/>
                </a:cubicBezTo>
                <a:lnTo>
                  <a:pt x="0" y="56978"/>
                </a:lnTo>
                <a:cubicBezTo>
                  <a:pt x="0" y="41867"/>
                  <a:pt x="6003" y="27374"/>
                  <a:pt x="16689" y="16689"/>
                </a:cubicBezTo>
                <a:cubicBezTo>
                  <a:pt x="27374" y="6003"/>
                  <a:pt x="41867" y="0"/>
                  <a:pt x="56978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00C6E5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4112415E-9D98-E707-CB79-E95A6EF09FE2}"/>
              </a:ext>
            </a:extLst>
          </p:cNvPr>
          <p:cNvSpPr txBox="1"/>
          <p:nvPr/>
        </p:nvSpPr>
        <p:spPr>
          <a:xfrm>
            <a:off x="6148942" y="2979690"/>
            <a:ext cx="4267200" cy="1463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2800" kern="100" dirty="0">
                <a:latin typeface="Poppins" panose="00000500000000000000" pitchFamily="2" charset="0"/>
                <a:cs typeface="Poppins" panose="00000500000000000000" pitchFamily="2" charset="0"/>
              </a:rPr>
              <a:t>Say you'll continue the conversation directly with the owner</a:t>
            </a:r>
            <a:endParaRPr lang="en-US" sz="2800" kern="100" dirty="0">
              <a:latin typeface="Poppins" panose="00000500000000000000" pitchFamily="2" charset="0"/>
              <a:ea typeface="Aptos" panose="020B0004020202020204" pitchFamily="34" charset="0"/>
              <a:cs typeface="Poppins" panose="00000500000000000000" pitchFamily="2" charset="0"/>
            </a:endParaRP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9A01A2D7-A4D7-6183-1EFC-5F46E813AD9B}"/>
              </a:ext>
            </a:extLst>
          </p:cNvPr>
          <p:cNvSpPr txBox="1"/>
          <p:nvPr/>
        </p:nvSpPr>
        <p:spPr>
          <a:xfrm>
            <a:off x="1249710" y="748511"/>
            <a:ext cx="12632978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39"/>
              </a:lnSpc>
              <a:spcBef>
                <a:spcPct val="0"/>
              </a:spcBef>
            </a:pPr>
            <a:r>
              <a:rPr lang="en-US" sz="519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Escalations from Other TA Employees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F3E76FD4-2385-3105-EE33-4438E4FB017F}"/>
              </a:ext>
            </a:extLst>
          </p:cNvPr>
          <p:cNvSpPr txBox="1"/>
          <p:nvPr/>
        </p:nvSpPr>
        <p:spPr>
          <a:xfrm>
            <a:off x="1249710" y="1806145"/>
            <a:ext cx="8427690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79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When a TA employee emails about a property: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B84A37-484E-FDD1-243B-9F6BED1D4D18}"/>
              </a:ext>
            </a:extLst>
          </p:cNvPr>
          <p:cNvSpPr/>
          <p:nvPr/>
        </p:nvSpPr>
        <p:spPr>
          <a:xfrm>
            <a:off x="1196658" y="8039397"/>
            <a:ext cx="8340353" cy="1407133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ts val="2399"/>
              </a:lnSpc>
            </a:pPr>
            <a:r>
              <a:rPr lang="en-US" sz="2200" b="1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Note: </a:t>
            </a:r>
            <a:r>
              <a:rPr lang="en-US" sz="2200" i="1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“Why do we document the original colleague inquiry internally? ”Because it preserves context without exposing internal information externally.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8D98B5-35CA-C26F-252F-ECCA26C17D66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Tripadvisor / Fraud support / Escalations from Other TA employees</a:t>
            </a:r>
          </a:p>
        </p:txBody>
      </p:sp>
      <p:sp>
        <p:nvSpPr>
          <p:cNvPr id="48" name="Freeform 7">
            <a:extLst>
              <a:ext uri="{FF2B5EF4-FFF2-40B4-BE49-F238E27FC236}">
                <a16:creationId xmlns:a16="http://schemas.microsoft.com/office/drawing/2014/main" id="{2BD27E97-F266-80EE-FC23-DBE516643906}"/>
              </a:ext>
            </a:extLst>
          </p:cNvPr>
          <p:cNvSpPr/>
          <p:nvPr/>
        </p:nvSpPr>
        <p:spPr>
          <a:xfrm>
            <a:off x="6025754" y="5410931"/>
            <a:ext cx="4206240" cy="1956816"/>
          </a:xfrm>
          <a:custGeom>
            <a:avLst/>
            <a:gdLst/>
            <a:ahLst/>
            <a:cxnLst/>
            <a:rect l="l" t="t" r="r" b="b"/>
            <a:pathLst>
              <a:path w="1825079" h="732275">
                <a:moveTo>
                  <a:pt x="56978" y="0"/>
                </a:moveTo>
                <a:lnTo>
                  <a:pt x="1768100" y="0"/>
                </a:lnTo>
                <a:cubicBezTo>
                  <a:pt x="1799568" y="0"/>
                  <a:pt x="1825079" y="25510"/>
                  <a:pt x="1825079" y="56978"/>
                </a:cubicBezTo>
                <a:lnTo>
                  <a:pt x="1825079" y="675296"/>
                </a:lnTo>
                <a:cubicBezTo>
                  <a:pt x="1825079" y="690408"/>
                  <a:pt x="1819075" y="704900"/>
                  <a:pt x="1808390" y="715586"/>
                </a:cubicBezTo>
                <a:cubicBezTo>
                  <a:pt x="1797704" y="726272"/>
                  <a:pt x="1783212" y="732275"/>
                  <a:pt x="1768100" y="732275"/>
                </a:cubicBezTo>
                <a:lnTo>
                  <a:pt x="56978" y="732275"/>
                </a:lnTo>
                <a:cubicBezTo>
                  <a:pt x="41867" y="732275"/>
                  <a:pt x="27374" y="726272"/>
                  <a:pt x="16689" y="715586"/>
                </a:cubicBezTo>
                <a:cubicBezTo>
                  <a:pt x="6003" y="704900"/>
                  <a:pt x="0" y="690408"/>
                  <a:pt x="0" y="675296"/>
                </a:cubicBezTo>
                <a:lnTo>
                  <a:pt x="0" y="56978"/>
                </a:lnTo>
                <a:cubicBezTo>
                  <a:pt x="0" y="41867"/>
                  <a:pt x="6003" y="27374"/>
                  <a:pt x="16689" y="16689"/>
                </a:cubicBezTo>
                <a:cubicBezTo>
                  <a:pt x="27374" y="6003"/>
                  <a:pt x="41867" y="0"/>
                  <a:pt x="56978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00C6E5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49" name="TextBox 24">
            <a:extLst>
              <a:ext uri="{FF2B5EF4-FFF2-40B4-BE49-F238E27FC236}">
                <a16:creationId xmlns:a16="http://schemas.microsoft.com/office/drawing/2014/main" id="{0403E86E-9A42-012E-220E-A5C45FE6F354}"/>
              </a:ext>
            </a:extLst>
          </p:cNvPr>
          <p:cNvSpPr txBox="1"/>
          <p:nvPr/>
        </p:nvSpPr>
        <p:spPr>
          <a:xfrm>
            <a:off x="5987141" y="5559123"/>
            <a:ext cx="4267200" cy="9677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2800" kern="100" dirty="0">
                <a:latin typeface="Poppins" panose="00000500000000000000" pitchFamily="2" charset="0"/>
                <a:cs typeface="Poppins" panose="00000500000000000000" pitchFamily="2" charset="0"/>
              </a:rPr>
              <a:t>If none exists, create a ticket for the owner</a:t>
            </a:r>
            <a:endParaRPr lang="en-US" sz="2800" kern="100" dirty="0">
              <a:latin typeface="Poppins" panose="00000500000000000000" pitchFamily="2" charset="0"/>
              <a:ea typeface="Aptos" panose="020B0004020202020204" pitchFamily="34" charset="0"/>
              <a:cs typeface="Poppins" panose="00000500000000000000" pitchFamily="2" charset="0"/>
            </a:endParaRPr>
          </a:p>
        </p:txBody>
      </p:sp>
      <p:sp>
        <p:nvSpPr>
          <p:cNvPr id="56" name="Freeform 7">
            <a:extLst>
              <a:ext uri="{FF2B5EF4-FFF2-40B4-BE49-F238E27FC236}">
                <a16:creationId xmlns:a16="http://schemas.microsoft.com/office/drawing/2014/main" id="{B3A4BA04-DD9A-0F0F-20A9-99362BB77003}"/>
              </a:ext>
            </a:extLst>
          </p:cNvPr>
          <p:cNvSpPr/>
          <p:nvPr/>
        </p:nvSpPr>
        <p:spPr>
          <a:xfrm>
            <a:off x="10832345" y="5432848"/>
            <a:ext cx="4206240" cy="1956816"/>
          </a:xfrm>
          <a:custGeom>
            <a:avLst/>
            <a:gdLst/>
            <a:ahLst/>
            <a:cxnLst/>
            <a:rect l="l" t="t" r="r" b="b"/>
            <a:pathLst>
              <a:path w="1825079" h="732275">
                <a:moveTo>
                  <a:pt x="56978" y="0"/>
                </a:moveTo>
                <a:lnTo>
                  <a:pt x="1768100" y="0"/>
                </a:lnTo>
                <a:cubicBezTo>
                  <a:pt x="1799568" y="0"/>
                  <a:pt x="1825079" y="25510"/>
                  <a:pt x="1825079" y="56978"/>
                </a:cubicBezTo>
                <a:lnTo>
                  <a:pt x="1825079" y="675296"/>
                </a:lnTo>
                <a:cubicBezTo>
                  <a:pt x="1825079" y="690408"/>
                  <a:pt x="1819075" y="704900"/>
                  <a:pt x="1808390" y="715586"/>
                </a:cubicBezTo>
                <a:cubicBezTo>
                  <a:pt x="1797704" y="726272"/>
                  <a:pt x="1783212" y="732275"/>
                  <a:pt x="1768100" y="732275"/>
                </a:cubicBezTo>
                <a:lnTo>
                  <a:pt x="56978" y="732275"/>
                </a:lnTo>
                <a:cubicBezTo>
                  <a:pt x="41867" y="732275"/>
                  <a:pt x="27374" y="726272"/>
                  <a:pt x="16689" y="715586"/>
                </a:cubicBezTo>
                <a:cubicBezTo>
                  <a:pt x="6003" y="704900"/>
                  <a:pt x="0" y="690408"/>
                  <a:pt x="0" y="675296"/>
                </a:cubicBezTo>
                <a:lnTo>
                  <a:pt x="0" y="56978"/>
                </a:lnTo>
                <a:cubicBezTo>
                  <a:pt x="0" y="41867"/>
                  <a:pt x="6003" y="27374"/>
                  <a:pt x="16689" y="16689"/>
                </a:cubicBezTo>
                <a:cubicBezTo>
                  <a:pt x="27374" y="6003"/>
                  <a:pt x="41867" y="0"/>
                  <a:pt x="56978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00C6E5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57" name="TextBox 24">
            <a:extLst>
              <a:ext uri="{FF2B5EF4-FFF2-40B4-BE49-F238E27FC236}">
                <a16:creationId xmlns:a16="http://schemas.microsoft.com/office/drawing/2014/main" id="{29596E49-BCF4-5432-78B4-995D97535874}"/>
              </a:ext>
            </a:extLst>
          </p:cNvPr>
          <p:cNvSpPr txBox="1"/>
          <p:nvPr/>
        </p:nvSpPr>
        <p:spPr>
          <a:xfrm>
            <a:off x="11011791" y="5491596"/>
            <a:ext cx="4267200" cy="1463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2800" kern="100" dirty="0">
                <a:latin typeface="Poppins" panose="00000500000000000000" pitchFamily="2" charset="0"/>
                <a:cs typeface="Poppins" panose="00000500000000000000" pitchFamily="2" charset="0"/>
              </a:rPr>
              <a:t>Quote the employee's original inquiry in Internal notes</a:t>
            </a:r>
            <a:endParaRPr lang="en-US" sz="2800" kern="100" dirty="0">
              <a:latin typeface="Poppins" panose="00000500000000000000" pitchFamily="2" charset="0"/>
              <a:ea typeface="Aptos" panose="020B0004020202020204" pitchFamily="34" charset="0"/>
              <a:cs typeface="Poppins" panose="00000500000000000000" pitchFamily="2" charset="0"/>
            </a:endParaRPr>
          </a:p>
        </p:txBody>
      </p:sp>
      <p:grpSp>
        <p:nvGrpSpPr>
          <p:cNvPr id="64" name="Group 5">
            <a:extLst>
              <a:ext uri="{FF2B5EF4-FFF2-40B4-BE49-F238E27FC236}">
                <a16:creationId xmlns:a16="http://schemas.microsoft.com/office/drawing/2014/main" id="{F6524194-26B1-4BDE-3574-24D97E34CC22}"/>
              </a:ext>
            </a:extLst>
          </p:cNvPr>
          <p:cNvGrpSpPr/>
          <p:nvPr/>
        </p:nvGrpSpPr>
        <p:grpSpPr>
          <a:xfrm>
            <a:off x="10168787" y="7610555"/>
            <a:ext cx="7870372" cy="2382675"/>
            <a:chOff x="0" y="-47625"/>
            <a:chExt cx="1866748" cy="1066483"/>
          </a:xfrm>
        </p:grpSpPr>
        <p:sp>
          <p:nvSpPr>
            <p:cNvPr id="65" name="Freeform 6">
              <a:extLst>
                <a:ext uri="{FF2B5EF4-FFF2-40B4-BE49-F238E27FC236}">
                  <a16:creationId xmlns:a16="http://schemas.microsoft.com/office/drawing/2014/main" id="{E6C55502-5998-6236-2CAF-C8267EE22EC3}"/>
                </a:ext>
              </a:extLst>
            </p:cNvPr>
            <p:cNvSpPr/>
            <p:nvPr/>
          </p:nvSpPr>
          <p:spPr>
            <a:xfrm>
              <a:off x="0" y="0"/>
              <a:ext cx="1760156" cy="1018858"/>
            </a:xfrm>
            <a:custGeom>
              <a:avLst/>
              <a:gdLst/>
              <a:ahLst/>
              <a:cxnLst/>
              <a:rect l="l" t="t" r="r" b="b"/>
              <a:pathLst>
                <a:path w="1866748" h="1018858">
                  <a:moveTo>
                    <a:pt x="55707" y="0"/>
                  </a:moveTo>
                  <a:lnTo>
                    <a:pt x="1811042" y="0"/>
                  </a:lnTo>
                  <a:cubicBezTo>
                    <a:pt x="1825816" y="0"/>
                    <a:pt x="1839985" y="5869"/>
                    <a:pt x="1850432" y="16316"/>
                  </a:cubicBezTo>
                  <a:cubicBezTo>
                    <a:pt x="1860879" y="26763"/>
                    <a:pt x="1866748" y="40932"/>
                    <a:pt x="1866748" y="55707"/>
                  </a:cubicBezTo>
                  <a:lnTo>
                    <a:pt x="1866748" y="963152"/>
                  </a:lnTo>
                  <a:cubicBezTo>
                    <a:pt x="1866748" y="993918"/>
                    <a:pt x="1841808" y="1018858"/>
                    <a:pt x="1811042" y="1018858"/>
                  </a:cubicBezTo>
                  <a:lnTo>
                    <a:pt x="55707" y="1018858"/>
                  </a:lnTo>
                  <a:cubicBezTo>
                    <a:pt x="24941" y="1018858"/>
                    <a:pt x="0" y="993918"/>
                    <a:pt x="0" y="963152"/>
                  </a:cubicBezTo>
                  <a:lnTo>
                    <a:pt x="0" y="55707"/>
                  </a:lnTo>
                  <a:cubicBezTo>
                    <a:pt x="0" y="24941"/>
                    <a:pt x="24941" y="0"/>
                    <a:pt x="55707" y="0"/>
                  </a:cubicBezTo>
                  <a:close/>
                </a:path>
              </a:pathLst>
            </a:custGeom>
            <a:solidFill>
              <a:srgbClr val="FFDE59">
                <a:alpha val="61569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TextBox 7">
              <a:extLst>
                <a:ext uri="{FF2B5EF4-FFF2-40B4-BE49-F238E27FC236}">
                  <a16:creationId xmlns:a16="http://schemas.microsoft.com/office/drawing/2014/main" id="{DF1E1572-0571-AEB8-7BFB-6B4A557C23B2}"/>
                </a:ext>
              </a:extLst>
            </p:cNvPr>
            <p:cNvSpPr txBox="1"/>
            <p:nvPr/>
          </p:nvSpPr>
          <p:spPr>
            <a:xfrm>
              <a:off x="0" y="-47625"/>
              <a:ext cx="1866748" cy="10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6"/>
                </a:lnSpc>
              </a:pPr>
              <a:endParaRPr/>
            </a:p>
          </p:txBody>
        </p:sp>
      </p:grpSp>
      <p:sp>
        <p:nvSpPr>
          <p:cNvPr id="68" name="TextBox 12">
            <a:extLst>
              <a:ext uri="{FF2B5EF4-FFF2-40B4-BE49-F238E27FC236}">
                <a16:creationId xmlns:a16="http://schemas.microsoft.com/office/drawing/2014/main" id="{21CF8DCD-C2A8-37BF-071D-FCE6B15846FA}"/>
              </a:ext>
            </a:extLst>
          </p:cNvPr>
          <p:cNvSpPr txBox="1"/>
          <p:nvPr/>
        </p:nvSpPr>
        <p:spPr>
          <a:xfrm>
            <a:off x="11853316" y="7907762"/>
            <a:ext cx="3765947" cy="406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2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Important Exception</a:t>
            </a:r>
          </a:p>
        </p:txBody>
      </p:sp>
      <p:sp>
        <p:nvSpPr>
          <p:cNvPr id="70" name="TextBox 13">
            <a:extLst>
              <a:ext uri="{FF2B5EF4-FFF2-40B4-BE49-F238E27FC236}">
                <a16:creationId xmlns:a16="http://schemas.microsoft.com/office/drawing/2014/main" id="{EF794458-A007-B199-3938-44B436EC3B1F}"/>
              </a:ext>
            </a:extLst>
          </p:cNvPr>
          <p:cNvSpPr txBox="1"/>
          <p:nvPr/>
        </p:nvSpPr>
        <p:spPr>
          <a:xfrm>
            <a:off x="10285126" y="8468762"/>
            <a:ext cx="7157374" cy="13694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39"/>
              </a:lnSpc>
            </a:pPr>
            <a:r>
              <a:rPr lang="en-US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If a verified/registered owner uses an </a:t>
            </a:r>
            <a:r>
              <a:rPr lang="en-US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@tripadvisor.com </a:t>
            </a:r>
            <a:r>
              <a:rPr lang="en-US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address, don't reply to that address as though they are the colleague, communicate with the </a:t>
            </a:r>
            <a:r>
              <a:rPr lang="en-US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actual owner.</a:t>
            </a:r>
          </a:p>
        </p:txBody>
      </p:sp>
      <p:sp>
        <p:nvSpPr>
          <p:cNvPr id="72" name="Freeform 9">
            <a:extLst>
              <a:ext uri="{FF2B5EF4-FFF2-40B4-BE49-F238E27FC236}">
                <a16:creationId xmlns:a16="http://schemas.microsoft.com/office/drawing/2014/main" id="{3968DEEF-3E8D-6FBA-419B-C9C413C32F41}"/>
              </a:ext>
            </a:extLst>
          </p:cNvPr>
          <p:cNvSpPr/>
          <p:nvPr/>
        </p:nvSpPr>
        <p:spPr>
          <a:xfrm>
            <a:off x="9888170" y="7519044"/>
            <a:ext cx="822960" cy="82296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76" name="Freeform 3">
            <a:extLst>
              <a:ext uri="{FF2B5EF4-FFF2-40B4-BE49-F238E27FC236}">
                <a16:creationId xmlns:a16="http://schemas.microsoft.com/office/drawing/2014/main" id="{4E6F2F95-864C-7B06-A9E6-D6012B6CE454}"/>
              </a:ext>
            </a:extLst>
          </p:cNvPr>
          <p:cNvSpPr/>
          <p:nvPr/>
        </p:nvSpPr>
        <p:spPr>
          <a:xfrm>
            <a:off x="4575956" y="3911774"/>
            <a:ext cx="811047" cy="811050"/>
          </a:xfrm>
          <a:custGeom>
            <a:avLst/>
            <a:gdLst/>
            <a:ahLst/>
            <a:cxnLst/>
            <a:rect l="l" t="t" r="r" b="b"/>
            <a:pathLst>
              <a:path w="3847338" h="4114800">
                <a:moveTo>
                  <a:pt x="0" y="0"/>
                </a:moveTo>
                <a:lnTo>
                  <a:pt x="3847338" y="0"/>
                </a:lnTo>
                <a:lnTo>
                  <a:pt x="38473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2">
            <a:extLst>
              <a:ext uri="{FF2B5EF4-FFF2-40B4-BE49-F238E27FC236}">
                <a16:creationId xmlns:a16="http://schemas.microsoft.com/office/drawing/2014/main" id="{57817D77-32A6-1E3A-17C8-CCD1987BCDFD}"/>
              </a:ext>
            </a:extLst>
          </p:cNvPr>
          <p:cNvGrpSpPr/>
          <p:nvPr/>
        </p:nvGrpSpPr>
        <p:grpSpPr>
          <a:xfrm>
            <a:off x="1230339" y="2577140"/>
            <a:ext cx="4267201" cy="2180389"/>
            <a:chOff x="0" y="-176632"/>
            <a:chExt cx="6862758" cy="3027587"/>
          </a:xfrm>
        </p:grpSpPr>
        <p:sp>
          <p:nvSpPr>
            <p:cNvPr id="16" name="TextBox 5">
              <a:extLst>
                <a:ext uri="{FF2B5EF4-FFF2-40B4-BE49-F238E27FC236}">
                  <a16:creationId xmlns:a16="http://schemas.microsoft.com/office/drawing/2014/main" id="{A01E9641-8FAD-C370-B91D-65ADC107E44B}"/>
                </a:ext>
              </a:extLst>
            </p:cNvPr>
            <p:cNvSpPr txBox="1"/>
            <p:nvPr/>
          </p:nvSpPr>
          <p:spPr>
            <a:xfrm>
              <a:off x="0" y="-176632"/>
              <a:ext cx="6768861" cy="28924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6"/>
                </a:lnSpc>
              </a:pPr>
              <a:endParaRPr/>
            </a:p>
          </p:txBody>
        </p:sp>
        <p:grpSp>
          <p:nvGrpSpPr>
            <p:cNvPr id="17" name="Group 6">
              <a:extLst>
                <a:ext uri="{FF2B5EF4-FFF2-40B4-BE49-F238E27FC236}">
                  <a16:creationId xmlns:a16="http://schemas.microsoft.com/office/drawing/2014/main" id="{0C5C4D6E-4EAA-FC15-789C-51C72CC802AC}"/>
                </a:ext>
              </a:extLst>
            </p:cNvPr>
            <p:cNvGrpSpPr/>
            <p:nvPr/>
          </p:nvGrpSpPr>
          <p:grpSpPr>
            <a:xfrm>
              <a:off x="93898" y="-41541"/>
              <a:ext cx="6768860" cy="2892496"/>
              <a:chOff x="0" y="-47625"/>
              <a:chExt cx="1825079" cy="779900"/>
            </a:xfrm>
          </p:grpSpPr>
          <p:sp>
            <p:nvSpPr>
              <p:cNvPr id="18" name="Freeform 7">
                <a:extLst>
                  <a:ext uri="{FF2B5EF4-FFF2-40B4-BE49-F238E27FC236}">
                    <a16:creationId xmlns:a16="http://schemas.microsoft.com/office/drawing/2014/main" id="{8FD7859F-358E-91AF-6C6C-C9F3E7DC6704}"/>
                  </a:ext>
                </a:extLst>
              </p:cNvPr>
              <p:cNvSpPr/>
              <p:nvPr/>
            </p:nvSpPr>
            <p:spPr>
              <a:xfrm>
                <a:off x="0" y="0"/>
                <a:ext cx="1825079" cy="732275"/>
              </a:xfrm>
              <a:custGeom>
                <a:avLst/>
                <a:gdLst/>
                <a:ahLst/>
                <a:cxnLst/>
                <a:rect l="l" t="t" r="r" b="b"/>
                <a:pathLst>
                  <a:path w="1825079" h="732275">
                    <a:moveTo>
                      <a:pt x="56978" y="0"/>
                    </a:moveTo>
                    <a:lnTo>
                      <a:pt x="1768100" y="0"/>
                    </a:lnTo>
                    <a:cubicBezTo>
                      <a:pt x="1799568" y="0"/>
                      <a:pt x="1825079" y="25510"/>
                      <a:pt x="1825079" y="56978"/>
                    </a:cubicBezTo>
                    <a:lnTo>
                      <a:pt x="1825079" y="675296"/>
                    </a:lnTo>
                    <a:cubicBezTo>
                      <a:pt x="1825079" y="690408"/>
                      <a:pt x="1819075" y="704900"/>
                      <a:pt x="1808390" y="715586"/>
                    </a:cubicBezTo>
                    <a:cubicBezTo>
                      <a:pt x="1797704" y="726272"/>
                      <a:pt x="1783212" y="732275"/>
                      <a:pt x="1768100" y="732275"/>
                    </a:cubicBezTo>
                    <a:lnTo>
                      <a:pt x="56978" y="732275"/>
                    </a:lnTo>
                    <a:cubicBezTo>
                      <a:pt x="41867" y="732275"/>
                      <a:pt x="27374" y="726272"/>
                      <a:pt x="16689" y="715586"/>
                    </a:cubicBezTo>
                    <a:cubicBezTo>
                      <a:pt x="6003" y="704900"/>
                      <a:pt x="0" y="690408"/>
                      <a:pt x="0" y="675296"/>
                    </a:cubicBezTo>
                    <a:lnTo>
                      <a:pt x="0" y="56978"/>
                    </a:lnTo>
                    <a:cubicBezTo>
                      <a:pt x="0" y="41867"/>
                      <a:pt x="6003" y="27374"/>
                      <a:pt x="16689" y="16689"/>
                    </a:cubicBezTo>
                    <a:cubicBezTo>
                      <a:pt x="27374" y="6003"/>
                      <a:pt x="41867" y="0"/>
                      <a:pt x="56978" y="0"/>
                    </a:cubicBezTo>
                    <a:close/>
                  </a:path>
                </a:pathLst>
              </a:custGeom>
              <a:solidFill>
                <a:srgbClr val="5FEAFF"/>
              </a:solidFill>
              <a:ln w="38100" cap="rnd">
                <a:solidFill>
                  <a:srgbClr val="00C6E5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9" name="TextBox 8">
                <a:extLst>
                  <a:ext uri="{FF2B5EF4-FFF2-40B4-BE49-F238E27FC236}">
                    <a16:creationId xmlns:a16="http://schemas.microsoft.com/office/drawing/2014/main" id="{4CFEE456-49F7-2DC7-7155-F13607A6B8CC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825079" cy="779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6"/>
                  </a:lnSpc>
                </a:pPr>
                <a:endParaRPr dirty="0"/>
              </a:p>
            </p:txBody>
          </p:sp>
        </p:grpSp>
      </p:grpSp>
      <p:sp>
        <p:nvSpPr>
          <p:cNvPr id="20" name="TextBox 24">
            <a:extLst>
              <a:ext uri="{FF2B5EF4-FFF2-40B4-BE49-F238E27FC236}">
                <a16:creationId xmlns:a16="http://schemas.microsoft.com/office/drawing/2014/main" id="{19007063-EBBA-134F-CECC-7619CBD65F0C}"/>
              </a:ext>
            </a:extLst>
          </p:cNvPr>
          <p:cNvSpPr txBox="1"/>
          <p:nvPr/>
        </p:nvSpPr>
        <p:spPr>
          <a:xfrm>
            <a:off x="1204613" y="3524956"/>
            <a:ext cx="4267200" cy="472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2800" b="1" kern="100" dirty="0">
                <a:latin typeface="Poppins" panose="00000500000000000000" pitchFamily="2" charset="0"/>
                <a:cs typeface="Poppins" panose="00000500000000000000" pitchFamily="2" charset="0"/>
              </a:rPr>
              <a:t>Acknowledge</a:t>
            </a:r>
            <a:endParaRPr lang="en-US" sz="2800" b="1" kern="100" dirty="0">
              <a:latin typeface="Poppins" panose="00000500000000000000" pitchFamily="2" charset="0"/>
              <a:ea typeface="Aptos" panose="020B0004020202020204" pitchFamily="34" charset="0"/>
              <a:cs typeface="Poppins" panose="00000500000000000000" pitchFamily="2" charset="0"/>
            </a:endParaRPr>
          </a:p>
        </p:txBody>
      </p:sp>
      <p:sp>
        <p:nvSpPr>
          <p:cNvPr id="78" name="Freeform 4">
            <a:extLst>
              <a:ext uri="{FF2B5EF4-FFF2-40B4-BE49-F238E27FC236}">
                <a16:creationId xmlns:a16="http://schemas.microsoft.com/office/drawing/2014/main" id="{2BCF46ED-0B6A-E47F-D650-64A515F50948}"/>
              </a:ext>
            </a:extLst>
          </p:cNvPr>
          <p:cNvSpPr/>
          <p:nvPr/>
        </p:nvSpPr>
        <p:spPr>
          <a:xfrm>
            <a:off x="9496272" y="3911774"/>
            <a:ext cx="635023" cy="790712"/>
          </a:xfrm>
          <a:custGeom>
            <a:avLst/>
            <a:gdLst/>
            <a:ahLst/>
            <a:cxnLst/>
            <a:rect l="l" t="t" r="r" b="b"/>
            <a:pathLst>
              <a:path w="3312414" h="4114800">
                <a:moveTo>
                  <a:pt x="0" y="0"/>
                </a:moveTo>
                <a:lnTo>
                  <a:pt x="3312414" y="0"/>
                </a:lnTo>
                <a:lnTo>
                  <a:pt x="33124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7" name="Group 2">
            <a:extLst>
              <a:ext uri="{FF2B5EF4-FFF2-40B4-BE49-F238E27FC236}">
                <a16:creationId xmlns:a16="http://schemas.microsoft.com/office/drawing/2014/main" id="{5D0CEF70-3C81-7BDF-46D9-694CAF6A75F1}"/>
              </a:ext>
            </a:extLst>
          </p:cNvPr>
          <p:cNvGrpSpPr/>
          <p:nvPr/>
        </p:nvGrpSpPr>
        <p:grpSpPr>
          <a:xfrm>
            <a:off x="5968117" y="2637440"/>
            <a:ext cx="4267201" cy="2180389"/>
            <a:chOff x="0" y="-176632"/>
            <a:chExt cx="6862758" cy="3027587"/>
          </a:xfrm>
        </p:grpSpPr>
        <p:sp>
          <p:nvSpPr>
            <p:cNvPr id="28" name="TextBox 5">
              <a:extLst>
                <a:ext uri="{FF2B5EF4-FFF2-40B4-BE49-F238E27FC236}">
                  <a16:creationId xmlns:a16="http://schemas.microsoft.com/office/drawing/2014/main" id="{9D7351CA-884F-FD00-34F1-553B4222F705}"/>
                </a:ext>
              </a:extLst>
            </p:cNvPr>
            <p:cNvSpPr txBox="1"/>
            <p:nvPr/>
          </p:nvSpPr>
          <p:spPr>
            <a:xfrm>
              <a:off x="0" y="-176632"/>
              <a:ext cx="6768861" cy="28924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6"/>
                </a:lnSpc>
              </a:pPr>
              <a:endParaRPr/>
            </a:p>
          </p:txBody>
        </p:sp>
        <p:grpSp>
          <p:nvGrpSpPr>
            <p:cNvPr id="30" name="Group 6">
              <a:extLst>
                <a:ext uri="{FF2B5EF4-FFF2-40B4-BE49-F238E27FC236}">
                  <a16:creationId xmlns:a16="http://schemas.microsoft.com/office/drawing/2014/main" id="{7862277E-48B9-74B3-5FC2-6CB232B0303E}"/>
                </a:ext>
              </a:extLst>
            </p:cNvPr>
            <p:cNvGrpSpPr/>
            <p:nvPr/>
          </p:nvGrpSpPr>
          <p:grpSpPr>
            <a:xfrm>
              <a:off x="93898" y="-41541"/>
              <a:ext cx="6768860" cy="2892496"/>
              <a:chOff x="0" y="-47625"/>
              <a:chExt cx="1825079" cy="779900"/>
            </a:xfrm>
          </p:grpSpPr>
          <p:sp>
            <p:nvSpPr>
              <p:cNvPr id="31" name="Freeform 7">
                <a:extLst>
                  <a:ext uri="{FF2B5EF4-FFF2-40B4-BE49-F238E27FC236}">
                    <a16:creationId xmlns:a16="http://schemas.microsoft.com/office/drawing/2014/main" id="{6089F73F-A542-4D79-C80D-AC8E2DFA0A4A}"/>
                  </a:ext>
                </a:extLst>
              </p:cNvPr>
              <p:cNvSpPr/>
              <p:nvPr/>
            </p:nvSpPr>
            <p:spPr>
              <a:xfrm>
                <a:off x="0" y="0"/>
                <a:ext cx="1825079" cy="732275"/>
              </a:xfrm>
              <a:custGeom>
                <a:avLst/>
                <a:gdLst/>
                <a:ahLst/>
                <a:cxnLst/>
                <a:rect l="l" t="t" r="r" b="b"/>
                <a:pathLst>
                  <a:path w="1825079" h="732275">
                    <a:moveTo>
                      <a:pt x="56978" y="0"/>
                    </a:moveTo>
                    <a:lnTo>
                      <a:pt x="1768100" y="0"/>
                    </a:lnTo>
                    <a:cubicBezTo>
                      <a:pt x="1799568" y="0"/>
                      <a:pt x="1825079" y="25510"/>
                      <a:pt x="1825079" y="56978"/>
                    </a:cubicBezTo>
                    <a:lnTo>
                      <a:pt x="1825079" y="675296"/>
                    </a:lnTo>
                    <a:cubicBezTo>
                      <a:pt x="1825079" y="690408"/>
                      <a:pt x="1819075" y="704900"/>
                      <a:pt x="1808390" y="715586"/>
                    </a:cubicBezTo>
                    <a:cubicBezTo>
                      <a:pt x="1797704" y="726272"/>
                      <a:pt x="1783212" y="732275"/>
                      <a:pt x="1768100" y="732275"/>
                    </a:cubicBezTo>
                    <a:lnTo>
                      <a:pt x="56978" y="732275"/>
                    </a:lnTo>
                    <a:cubicBezTo>
                      <a:pt x="41867" y="732275"/>
                      <a:pt x="27374" y="726272"/>
                      <a:pt x="16689" y="715586"/>
                    </a:cubicBezTo>
                    <a:cubicBezTo>
                      <a:pt x="6003" y="704900"/>
                      <a:pt x="0" y="690408"/>
                      <a:pt x="0" y="675296"/>
                    </a:cubicBezTo>
                    <a:lnTo>
                      <a:pt x="0" y="56978"/>
                    </a:lnTo>
                    <a:cubicBezTo>
                      <a:pt x="0" y="41867"/>
                      <a:pt x="6003" y="27374"/>
                      <a:pt x="16689" y="16689"/>
                    </a:cubicBezTo>
                    <a:cubicBezTo>
                      <a:pt x="27374" y="6003"/>
                      <a:pt x="41867" y="0"/>
                      <a:pt x="56978" y="0"/>
                    </a:cubicBezTo>
                    <a:close/>
                  </a:path>
                </a:pathLst>
              </a:custGeom>
              <a:solidFill>
                <a:srgbClr val="5FEAFF"/>
              </a:solidFill>
              <a:ln w="38100" cap="rnd">
                <a:solidFill>
                  <a:srgbClr val="00C6E5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2" name="TextBox 8">
                <a:extLst>
                  <a:ext uri="{FF2B5EF4-FFF2-40B4-BE49-F238E27FC236}">
                    <a16:creationId xmlns:a16="http://schemas.microsoft.com/office/drawing/2014/main" id="{C1E8A04D-7759-9C40-1C11-2E099B8A3634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825079" cy="779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6"/>
                  </a:lnSpc>
                </a:pPr>
                <a:endParaRPr dirty="0"/>
              </a:p>
            </p:txBody>
          </p:sp>
        </p:grpSp>
      </p:grpSp>
      <p:sp>
        <p:nvSpPr>
          <p:cNvPr id="33" name="TextBox 24">
            <a:extLst>
              <a:ext uri="{FF2B5EF4-FFF2-40B4-BE49-F238E27FC236}">
                <a16:creationId xmlns:a16="http://schemas.microsoft.com/office/drawing/2014/main" id="{927E54A4-636A-4CD1-9AA3-480E25E670E3}"/>
              </a:ext>
            </a:extLst>
          </p:cNvPr>
          <p:cNvSpPr txBox="1"/>
          <p:nvPr/>
        </p:nvSpPr>
        <p:spPr>
          <a:xfrm>
            <a:off x="5942391" y="3585256"/>
            <a:ext cx="4267200" cy="472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2800" b="1" kern="100" dirty="0">
                <a:latin typeface="Poppins" panose="00000500000000000000" pitchFamily="2" charset="0"/>
                <a:cs typeface="Poppins" panose="00000500000000000000" pitchFamily="2" charset="0"/>
              </a:rPr>
              <a:t>Speak</a:t>
            </a:r>
            <a:endParaRPr lang="en-US" sz="2800" b="1" kern="100" dirty="0">
              <a:latin typeface="Poppins" panose="00000500000000000000" pitchFamily="2" charset="0"/>
              <a:ea typeface="Aptos" panose="020B0004020202020204" pitchFamily="34" charset="0"/>
              <a:cs typeface="Poppins" panose="00000500000000000000" pitchFamily="2" charset="0"/>
            </a:endParaRPr>
          </a:p>
        </p:txBody>
      </p:sp>
      <p:sp>
        <p:nvSpPr>
          <p:cNvPr id="80" name="Freeform 6">
            <a:extLst>
              <a:ext uri="{FF2B5EF4-FFF2-40B4-BE49-F238E27FC236}">
                <a16:creationId xmlns:a16="http://schemas.microsoft.com/office/drawing/2014/main" id="{A8DECE19-B861-3049-1F68-180923378013}"/>
              </a:ext>
            </a:extLst>
          </p:cNvPr>
          <p:cNvSpPr/>
          <p:nvPr/>
        </p:nvSpPr>
        <p:spPr>
          <a:xfrm>
            <a:off x="14136952" y="3749739"/>
            <a:ext cx="834697" cy="985107"/>
          </a:xfrm>
          <a:custGeom>
            <a:avLst/>
            <a:gdLst/>
            <a:ahLst/>
            <a:cxnLst/>
            <a:rect l="l" t="t" r="r" b="b"/>
            <a:pathLst>
              <a:path w="3230554" h="3473714">
                <a:moveTo>
                  <a:pt x="0" y="0"/>
                </a:moveTo>
                <a:lnTo>
                  <a:pt x="3230554" y="0"/>
                </a:lnTo>
                <a:lnTo>
                  <a:pt x="3230554" y="3473714"/>
                </a:lnTo>
                <a:lnTo>
                  <a:pt x="0" y="34737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4" name="Group 2">
            <a:extLst>
              <a:ext uri="{FF2B5EF4-FFF2-40B4-BE49-F238E27FC236}">
                <a16:creationId xmlns:a16="http://schemas.microsoft.com/office/drawing/2014/main" id="{47EB5877-2D14-DB02-FD29-2845368FBA63}"/>
              </a:ext>
            </a:extLst>
          </p:cNvPr>
          <p:cNvGrpSpPr/>
          <p:nvPr/>
        </p:nvGrpSpPr>
        <p:grpSpPr>
          <a:xfrm>
            <a:off x="10746403" y="2631353"/>
            <a:ext cx="4267201" cy="2194345"/>
            <a:chOff x="0" y="-176632"/>
            <a:chExt cx="6862758" cy="3027587"/>
          </a:xfrm>
        </p:grpSpPr>
        <p:sp>
          <p:nvSpPr>
            <p:cNvPr id="35" name="TextBox 5">
              <a:extLst>
                <a:ext uri="{FF2B5EF4-FFF2-40B4-BE49-F238E27FC236}">
                  <a16:creationId xmlns:a16="http://schemas.microsoft.com/office/drawing/2014/main" id="{773E84A1-B179-D4EB-686D-9A2D474A2E2E}"/>
                </a:ext>
              </a:extLst>
            </p:cNvPr>
            <p:cNvSpPr txBox="1"/>
            <p:nvPr/>
          </p:nvSpPr>
          <p:spPr>
            <a:xfrm>
              <a:off x="0" y="-176632"/>
              <a:ext cx="6768861" cy="28924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6"/>
                </a:lnSpc>
              </a:pPr>
              <a:endParaRPr/>
            </a:p>
          </p:txBody>
        </p:sp>
        <p:grpSp>
          <p:nvGrpSpPr>
            <p:cNvPr id="36" name="Group 6">
              <a:extLst>
                <a:ext uri="{FF2B5EF4-FFF2-40B4-BE49-F238E27FC236}">
                  <a16:creationId xmlns:a16="http://schemas.microsoft.com/office/drawing/2014/main" id="{125D269B-F2E5-2B80-0172-6B6C400BFA36}"/>
                </a:ext>
              </a:extLst>
            </p:cNvPr>
            <p:cNvGrpSpPr/>
            <p:nvPr/>
          </p:nvGrpSpPr>
          <p:grpSpPr>
            <a:xfrm>
              <a:off x="93898" y="-41541"/>
              <a:ext cx="6768860" cy="2892496"/>
              <a:chOff x="0" y="-47625"/>
              <a:chExt cx="1825079" cy="779900"/>
            </a:xfrm>
          </p:grpSpPr>
          <p:sp>
            <p:nvSpPr>
              <p:cNvPr id="37" name="Freeform 7">
                <a:extLst>
                  <a:ext uri="{FF2B5EF4-FFF2-40B4-BE49-F238E27FC236}">
                    <a16:creationId xmlns:a16="http://schemas.microsoft.com/office/drawing/2014/main" id="{192D5EBA-0C5E-EE0E-C030-245C38A08CC8}"/>
                  </a:ext>
                </a:extLst>
              </p:cNvPr>
              <p:cNvSpPr/>
              <p:nvPr/>
            </p:nvSpPr>
            <p:spPr>
              <a:xfrm>
                <a:off x="0" y="0"/>
                <a:ext cx="1825079" cy="732275"/>
              </a:xfrm>
              <a:custGeom>
                <a:avLst/>
                <a:gdLst/>
                <a:ahLst/>
                <a:cxnLst/>
                <a:rect l="l" t="t" r="r" b="b"/>
                <a:pathLst>
                  <a:path w="1825079" h="732275">
                    <a:moveTo>
                      <a:pt x="56978" y="0"/>
                    </a:moveTo>
                    <a:lnTo>
                      <a:pt x="1768100" y="0"/>
                    </a:lnTo>
                    <a:cubicBezTo>
                      <a:pt x="1799568" y="0"/>
                      <a:pt x="1825079" y="25510"/>
                      <a:pt x="1825079" y="56978"/>
                    </a:cubicBezTo>
                    <a:lnTo>
                      <a:pt x="1825079" y="675296"/>
                    </a:lnTo>
                    <a:cubicBezTo>
                      <a:pt x="1825079" y="690408"/>
                      <a:pt x="1819075" y="704900"/>
                      <a:pt x="1808390" y="715586"/>
                    </a:cubicBezTo>
                    <a:cubicBezTo>
                      <a:pt x="1797704" y="726272"/>
                      <a:pt x="1783212" y="732275"/>
                      <a:pt x="1768100" y="732275"/>
                    </a:cubicBezTo>
                    <a:lnTo>
                      <a:pt x="56978" y="732275"/>
                    </a:lnTo>
                    <a:cubicBezTo>
                      <a:pt x="41867" y="732275"/>
                      <a:pt x="27374" y="726272"/>
                      <a:pt x="16689" y="715586"/>
                    </a:cubicBezTo>
                    <a:cubicBezTo>
                      <a:pt x="6003" y="704900"/>
                      <a:pt x="0" y="690408"/>
                      <a:pt x="0" y="675296"/>
                    </a:cubicBezTo>
                    <a:lnTo>
                      <a:pt x="0" y="56978"/>
                    </a:lnTo>
                    <a:cubicBezTo>
                      <a:pt x="0" y="41867"/>
                      <a:pt x="6003" y="27374"/>
                      <a:pt x="16689" y="16689"/>
                    </a:cubicBezTo>
                    <a:cubicBezTo>
                      <a:pt x="27374" y="6003"/>
                      <a:pt x="41867" y="0"/>
                      <a:pt x="56978" y="0"/>
                    </a:cubicBezTo>
                    <a:close/>
                  </a:path>
                </a:pathLst>
              </a:custGeom>
              <a:solidFill>
                <a:srgbClr val="5FEAFF"/>
              </a:solidFill>
              <a:ln w="38100" cap="rnd">
                <a:solidFill>
                  <a:srgbClr val="00C6E5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8" name="TextBox 8">
                <a:extLst>
                  <a:ext uri="{FF2B5EF4-FFF2-40B4-BE49-F238E27FC236}">
                    <a16:creationId xmlns:a16="http://schemas.microsoft.com/office/drawing/2014/main" id="{8475BEA2-587D-9B7F-A6CE-CD3C42953875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825079" cy="779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6"/>
                  </a:lnSpc>
                </a:pPr>
                <a:endParaRPr dirty="0"/>
              </a:p>
            </p:txBody>
          </p:sp>
        </p:grpSp>
      </p:grpSp>
      <p:sp>
        <p:nvSpPr>
          <p:cNvPr id="39" name="TextBox 24">
            <a:extLst>
              <a:ext uri="{FF2B5EF4-FFF2-40B4-BE49-F238E27FC236}">
                <a16:creationId xmlns:a16="http://schemas.microsoft.com/office/drawing/2014/main" id="{85D5A539-7D3A-FE6F-97C2-31BD8FEE22D9}"/>
              </a:ext>
            </a:extLst>
          </p:cNvPr>
          <p:cNvSpPr txBox="1"/>
          <p:nvPr/>
        </p:nvSpPr>
        <p:spPr>
          <a:xfrm>
            <a:off x="10722224" y="3579731"/>
            <a:ext cx="4267200" cy="472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2800" b="1" kern="100" dirty="0">
                <a:latin typeface="Poppins" panose="00000500000000000000" pitchFamily="2" charset="0"/>
                <a:cs typeface="Poppins" panose="00000500000000000000" pitchFamily="2" charset="0"/>
              </a:rPr>
              <a:t>Do not provide</a:t>
            </a:r>
          </a:p>
        </p:txBody>
      </p:sp>
      <p:sp>
        <p:nvSpPr>
          <p:cNvPr id="82" name="Freeform 7">
            <a:extLst>
              <a:ext uri="{FF2B5EF4-FFF2-40B4-BE49-F238E27FC236}">
                <a16:creationId xmlns:a16="http://schemas.microsoft.com/office/drawing/2014/main" id="{59C7BDC8-5C3A-ACAB-26BA-D0B63580C18F}"/>
              </a:ext>
            </a:extLst>
          </p:cNvPr>
          <p:cNvSpPr/>
          <p:nvPr/>
        </p:nvSpPr>
        <p:spPr>
          <a:xfrm>
            <a:off x="4697708" y="6138476"/>
            <a:ext cx="712492" cy="1148721"/>
          </a:xfrm>
          <a:custGeom>
            <a:avLst/>
            <a:gdLst/>
            <a:ahLst/>
            <a:cxnLst/>
            <a:rect l="l" t="t" r="r" b="b"/>
            <a:pathLst>
              <a:path w="1739421" h="2635486">
                <a:moveTo>
                  <a:pt x="0" y="0"/>
                </a:moveTo>
                <a:lnTo>
                  <a:pt x="1739421" y="0"/>
                </a:lnTo>
                <a:lnTo>
                  <a:pt x="1739421" y="2635486"/>
                </a:lnTo>
                <a:lnTo>
                  <a:pt x="0" y="26354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2" name="Group 2">
            <a:extLst>
              <a:ext uri="{FF2B5EF4-FFF2-40B4-BE49-F238E27FC236}">
                <a16:creationId xmlns:a16="http://schemas.microsoft.com/office/drawing/2014/main" id="{75D473BF-C3F2-8F87-9C65-CAE7EB720BB0}"/>
              </a:ext>
            </a:extLst>
          </p:cNvPr>
          <p:cNvGrpSpPr/>
          <p:nvPr/>
        </p:nvGrpSpPr>
        <p:grpSpPr>
          <a:xfrm>
            <a:off x="1236496" y="5207354"/>
            <a:ext cx="4320363" cy="2210196"/>
            <a:chOff x="0" y="-176632"/>
            <a:chExt cx="6862758" cy="3027587"/>
          </a:xfrm>
        </p:grpSpPr>
        <p:sp>
          <p:nvSpPr>
            <p:cNvPr id="43" name="TextBox 5">
              <a:extLst>
                <a:ext uri="{FF2B5EF4-FFF2-40B4-BE49-F238E27FC236}">
                  <a16:creationId xmlns:a16="http://schemas.microsoft.com/office/drawing/2014/main" id="{91BFA1D4-8D9C-97C1-CE8E-CAB439C0EF81}"/>
                </a:ext>
              </a:extLst>
            </p:cNvPr>
            <p:cNvSpPr txBox="1"/>
            <p:nvPr/>
          </p:nvSpPr>
          <p:spPr>
            <a:xfrm>
              <a:off x="0" y="-176632"/>
              <a:ext cx="6768861" cy="28924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6"/>
                </a:lnSpc>
              </a:pPr>
              <a:endParaRPr/>
            </a:p>
          </p:txBody>
        </p:sp>
        <p:grpSp>
          <p:nvGrpSpPr>
            <p:cNvPr id="44" name="Group 6">
              <a:extLst>
                <a:ext uri="{FF2B5EF4-FFF2-40B4-BE49-F238E27FC236}">
                  <a16:creationId xmlns:a16="http://schemas.microsoft.com/office/drawing/2014/main" id="{2A613709-1111-1632-C08E-C7B08173877B}"/>
                </a:ext>
              </a:extLst>
            </p:cNvPr>
            <p:cNvGrpSpPr/>
            <p:nvPr/>
          </p:nvGrpSpPr>
          <p:grpSpPr>
            <a:xfrm>
              <a:off x="93898" y="-41541"/>
              <a:ext cx="6768860" cy="2892496"/>
              <a:chOff x="0" y="-47625"/>
              <a:chExt cx="1825079" cy="779900"/>
            </a:xfrm>
          </p:grpSpPr>
          <p:sp>
            <p:nvSpPr>
              <p:cNvPr id="45" name="Freeform 7">
                <a:extLst>
                  <a:ext uri="{FF2B5EF4-FFF2-40B4-BE49-F238E27FC236}">
                    <a16:creationId xmlns:a16="http://schemas.microsoft.com/office/drawing/2014/main" id="{E5A26EBE-8994-261B-5004-BA453CF5ECE3}"/>
                  </a:ext>
                </a:extLst>
              </p:cNvPr>
              <p:cNvSpPr/>
              <p:nvPr/>
            </p:nvSpPr>
            <p:spPr>
              <a:xfrm>
                <a:off x="0" y="0"/>
                <a:ext cx="1825079" cy="732275"/>
              </a:xfrm>
              <a:custGeom>
                <a:avLst/>
                <a:gdLst/>
                <a:ahLst/>
                <a:cxnLst/>
                <a:rect l="l" t="t" r="r" b="b"/>
                <a:pathLst>
                  <a:path w="1825079" h="732275">
                    <a:moveTo>
                      <a:pt x="56978" y="0"/>
                    </a:moveTo>
                    <a:lnTo>
                      <a:pt x="1768100" y="0"/>
                    </a:lnTo>
                    <a:cubicBezTo>
                      <a:pt x="1799568" y="0"/>
                      <a:pt x="1825079" y="25510"/>
                      <a:pt x="1825079" y="56978"/>
                    </a:cubicBezTo>
                    <a:lnTo>
                      <a:pt x="1825079" y="675296"/>
                    </a:lnTo>
                    <a:cubicBezTo>
                      <a:pt x="1825079" y="690408"/>
                      <a:pt x="1819075" y="704900"/>
                      <a:pt x="1808390" y="715586"/>
                    </a:cubicBezTo>
                    <a:cubicBezTo>
                      <a:pt x="1797704" y="726272"/>
                      <a:pt x="1783212" y="732275"/>
                      <a:pt x="1768100" y="732275"/>
                    </a:cubicBezTo>
                    <a:lnTo>
                      <a:pt x="56978" y="732275"/>
                    </a:lnTo>
                    <a:cubicBezTo>
                      <a:pt x="41867" y="732275"/>
                      <a:pt x="27374" y="726272"/>
                      <a:pt x="16689" y="715586"/>
                    </a:cubicBezTo>
                    <a:cubicBezTo>
                      <a:pt x="6003" y="704900"/>
                      <a:pt x="0" y="690408"/>
                      <a:pt x="0" y="675296"/>
                    </a:cubicBezTo>
                    <a:lnTo>
                      <a:pt x="0" y="56978"/>
                    </a:lnTo>
                    <a:cubicBezTo>
                      <a:pt x="0" y="41867"/>
                      <a:pt x="6003" y="27374"/>
                      <a:pt x="16689" y="16689"/>
                    </a:cubicBezTo>
                    <a:cubicBezTo>
                      <a:pt x="27374" y="6003"/>
                      <a:pt x="41867" y="0"/>
                      <a:pt x="56978" y="0"/>
                    </a:cubicBezTo>
                    <a:close/>
                  </a:path>
                </a:pathLst>
              </a:custGeom>
              <a:solidFill>
                <a:srgbClr val="5FEAFF"/>
              </a:solidFill>
              <a:ln w="38100" cap="rnd">
                <a:solidFill>
                  <a:srgbClr val="00C6E5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6" name="TextBox 8">
                <a:extLst>
                  <a:ext uri="{FF2B5EF4-FFF2-40B4-BE49-F238E27FC236}">
                    <a16:creationId xmlns:a16="http://schemas.microsoft.com/office/drawing/2014/main" id="{E75CB4C4-1BAA-57AC-B3EB-5317AD284916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825079" cy="779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6"/>
                  </a:lnSpc>
                </a:pPr>
                <a:endParaRPr dirty="0"/>
              </a:p>
            </p:txBody>
          </p:sp>
        </p:grpSp>
      </p:grpSp>
      <p:sp>
        <p:nvSpPr>
          <p:cNvPr id="47" name="TextBox 24">
            <a:extLst>
              <a:ext uri="{FF2B5EF4-FFF2-40B4-BE49-F238E27FC236}">
                <a16:creationId xmlns:a16="http://schemas.microsoft.com/office/drawing/2014/main" id="{301CC2E2-FDDB-71FB-4188-B5C7D8D7B3D3}"/>
              </a:ext>
            </a:extLst>
          </p:cNvPr>
          <p:cNvSpPr txBox="1"/>
          <p:nvPr/>
        </p:nvSpPr>
        <p:spPr>
          <a:xfrm>
            <a:off x="1150030" y="6201811"/>
            <a:ext cx="4267200" cy="472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2800" b="1" kern="100" dirty="0">
                <a:latin typeface="Poppins" panose="00000500000000000000" pitchFamily="2" charset="0"/>
                <a:cs typeface="Poppins" panose="00000500000000000000" pitchFamily="2" charset="0"/>
              </a:rPr>
              <a:t>Search</a:t>
            </a:r>
          </a:p>
        </p:txBody>
      </p:sp>
      <p:sp>
        <p:nvSpPr>
          <p:cNvPr id="84" name="Freeform 8">
            <a:extLst>
              <a:ext uri="{FF2B5EF4-FFF2-40B4-BE49-F238E27FC236}">
                <a16:creationId xmlns:a16="http://schemas.microsoft.com/office/drawing/2014/main" id="{02186375-E0AC-6E41-38DF-298EB8ABE378}"/>
              </a:ext>
            </a:extLst>
          </p:cNvPr>
          <p:cNvSpPr/>
          <p:nvPr/>
        </p:nvSpPr>
        <p:spPr>
          <a:xfrm>
            <a:off x="9185959" y="6521678"/>
            <a:ext cx="857692" cy="767837"/>
          </a:xfrm>
          <a:custGeom>
            <a:avLst/>
            <a:gdLst/>
            <a:ahLst/>
            <a:cxnLst/>
            <a:rect l="l" t="t" r="r" b="b"/>
            <a:pathLst>
              <a:path w="4448432" h="4114800">
                <a:moveTo>
                  <a:pt x="0" y="0"/>
                </a:moveTo>
                <a:lnTo>
                  <a:pt x="4448433" y="0"/>
                </a:lnTo>
                <a:lnTo>
                  <a:pt x="444843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0" name="Group 2">
            <a:extLst>
              <a:ext uri="{FF2B5EF4-FFF2-40B4-BE49-F238E27FC236}">
                <a16:creationId xmlns:a16="http://schemas.microsoft.com/office/drawing/2014/main" id="{34953B09-2B5D-FC92-05EB-CF8C2978C086}"/>
              </a:ext>
            </a:extLst>
          </p:cNvPr>
          <p:cNvGrpSpPr/>
          <p:nvPr/>
        </p:nvGrpSpPr>
        <p:grpSpPr>
          <a:xfrm>
            <a:off x="6006107" y="5163377"/>
            <a:ext cx="4269778" cy="2247103"/>
            <a:chOff x="0" y="-176632"/>
            <a:chExt cx="6862758" cy="3027587"/>
          </a:xfrm>
        </p:grpSpPr>
        <p:sp>
          <p:nvSpPr>
            <p:cNvPr id="51" name="TextBox 5">
              <a:extLst>
                <a:ext uri="{FF2B5EF4-FFF2-40B4-BE49-F238E27FC236}">
                  <a16:creationId xmlns:a16="http://schemas.microsoft.com/office/drawing/2014/main" id="{A8CD5122-0439-DFD2-5237-AC5B495F283A}"/>
                </a:ext>
              </a:extLst>
            </p:cNvPr>
            <p:cNvSpPr txBox="1"/>
            <p:nvPr/>
          </p:nvSpPr>
          <p:spPr>
            <a:xfrm>
              <a:off x="0" y="-176632"/>
              <a:ext cx="6768861" cy="28924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6"/>
                </a:lnSpc>
              </a:pPr>
              <a:endParaRPr/>
            </a:p>
          </p:txBody>
        </p:sp>
        <p:grpSp>
          <p:nvGrpSpPr>
            <p:cNvPr id="52" name="Group 6">
              <a:extLst>
                <a:ext uri="{FF2B5EF4-FFF2-40B4-BE49-F238E27FC236}">
                  <a16:creationId xmlns:a16="http://schemas.microsoft.com/office/drawing/2014/main" id="{31E42BCD-5E71-06EF-8C53-DF09A0B2B6B1}"/>
                </a:ext>
              </a:extLst>
            </p:cNvPr>
            <p:cNvGrpSpPr/>
            <p:nvPr/>
          </p:nvGrpSpPr>
          <p:grpSpPr>
            <a:xfrm>
              <a:off x="40743" y="-41541"/>
              <a:ext cx="6822015" cy="2892496"/>
              <a:chOff x="-14332" y="-47625"/>
              <a:chExt cx="1839411" cy="779900"/>
            </a:xfrm>
          </p:grpSpPr>
          <p:sp>
            <p:nvSpPr>
              <p:cNvPr id="53" name="Freeform 7">
                <a:extLst>
                  <a:ext uri="{FF2B5EF4-FFF2-40B4-BE49-F238E27FC236}">
                    <a16:creationId xmlns:a16="http://schemas.microsoft.com/office/drawing/2014/main" id="{5B830ECB-C3F4-B11E-0FEE-93848EBF5EC3}"/>
                  </a:ext>
                </a:extLst>
              </p:cNvPr>
              <p:cNvSpPr/>
              <p:nvPr/>
            </p:nvSpPr>
            <p:spPr>
              <a:xfrm>
                <a:off x="-14332" y="-452"/>
                <a:ext cx="1825079" cy="732275"/>
              </a:xfrm>
              <a:custGeom>
                <a:avLst/>
                <a:gdLst/>
                <a:ahLst/>
                <a:cxnLst/>
                <a:rect l="l" t="t" r="r" b="b"/>
                <a:pathLst>
                  <a:path w="1825079" h="732275">
                    <a:moveTo>
                      <a:pt x="56978" y="0"/>
                    </a:moveTo>
                    <a:lnTo>
                      <a:pt x="1768100" y="0"/>
                    </a:lnTo>
                    <a:cubicBezTo>
                      <a:pt x="1799568" y="0"/>
                      <a:pt x="1825079" y="25510"/>
                      <a:pt x="1825079" y="56978"/>
                    </a:cubicBezTo>
                    <a:lnTo>
                      <a:pt x="1825079" y="675296"/>
                    </a:lnTo>
                    <a:cubicBezTo>
                      <a:pt x="1825079" y="690408"/>
                      <a:pt x="1819075" y="704900"/>
                      <a:pt x="1808390" y="715586"/>
                    </a:cubicBezTo>
                    <a:cubicBezTo>
                      <a:pt x="1797704" y="726272"/>
                      <a:pt x="1783212" y="732275"/>
                      <a:pt x="1768100" y="732275"/>
                    </a:cubicBezTo>
                    <a:lnTo>
                      <a:pt x="56978" y="732275"/>
                    </a:lnTo>
                    <a:cubicBezTo>
                      <a:pt x="41867" y="732275"/>
                      <a:pt x="27374" y="726272"/>
                      <a:pt x="16689" y="715586"/>
                    </a:cubicBezTo>
                    <a:cubicBezTo>
                      <a:pt x="6003" y="704900"/>
                      <a:pt x="0" y="690408"/>
                      <a:pt x="0" y="675296"/>
                    </a:cubicBezTo>
                    <a:lnTo>
                      <a:pt x="0" y="56978"/>
                    </a:lnTo>
                    <a:cubicBezTo>
                      <a:pt x="0" y="41867"/>
                      <a:pt x="6003" y="27374"/>
                      <a:pt x="16689" y="16689"/>
                    </a:cubicBezTo>
                    <a:cubicBezTo>
                      <a:pt x="27374" y="6003"/>
                      <a:pt x="41867" y="0"/>
                      <a:pt x="56978" y="0"/>
                    </a:cubicBezTo>
                    <a:close/>
                  </a:path>
                </a:pathLst>
              </a:custGeom>
              <a:solidFill>
                <a:srgbClr val="5FEAFF"/>
              </a:solidFill>
              <a:ln w="38100" cap="rnd">
                <a:solidFill>
                  <a:srgbClr val="00C6E5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4" name="TextBox 8">
                <a:extLst>
                  <a:ext uri="{FF2B5EF4-FFF2-40B4-BE49-F238E27FC236}">
                    <a16:creationId xmlns:a16="http://schemas.microsoft.com/office/drawing/2014/main" id="{63681550-3DBE-C269-8E39-AF3F371690C0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825079" cy="779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6"/>
                  </a:lnSpc>
                </a:pPr>
                <a:endParaRPr dirty="0"/>
              </a:p>
            </p:txBody>
          </p:sp>
        </p:grpSp>
      </p:grpSp>
      <p:sp>
        <p:nvSpPr>
          <p:cNvPr id="55" name="TextBox 24">
            <a:extLst>
              <a:ext uri="{FF2B5EF4-FFF2-40B4-BE49-F238E27FC236}">
                <a16:creationId xmlns:a16="http://schemas.microsoft.com/office/drawing/2014/main" id="{59EA23CB-024D-BD74-A124-CB686BB30830}"/>
              </a:ext>
            </a:extLst>
          </p:cNvPr>
          <p:cNvSpPr txBox="1"/>
          <p:nvPr/>
        </p:nvSpPr>
        <p:spPr>
          <a:xfrm>
            <a:off x="5901587" y="6177907"/>
            <a:ext cx="4267200" cy="472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2800" b="1" kern="100" dirty="0">
                <a:latin typeface="Poppins" panose="00000500000000000000" pitchFamily="2" charset="0"/>
                <a:cs typeface="Poppins" panose="00000500000000000000" pitchFamily="2" charset="0"/>
              </a:rPr>
              <a:t>Create</a:t>
            </a:r>
          </a:p>
        </p:txBody>
      </p:sp>
      <p:pic>
        <p:nvPicPr>
          <p:cNvPr id="86" name="Picture 85">
            <a:extLst>
              <a:ext uri="{FF2B5EF4-FFF2-40B4-BE49-F238E27FC236}">
                <a16:creationId xmlns:a16="http://schemas.microsoft.com/office/drawing/2014/main" id="{17270189-EFED-9930-196C-03721B12606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88433" y="6354451"/>
            <a:ext cx="825171" cy="877134"/>
          </a:xfrm>
          <a:prstGeom prst="rect">
            <a:avLst/>
          </a:prstGeom>
        </p:spPr>
      </p:pic>
      <p:grpSp>
        <p:nvGrpSpPr>
          <p:cNvPr id="58" name="Group 2">
            <a:extLst>
              <a:ext uri="{FF2B5EF4-FFF2-40B4-BE49-F238E27FC236}">
                <a16:creationId xmlns:a16="http://schemas.microsoft.com/office/drawing/2014/main" id="{5C04A5E8-7995-E9DF-BDB1-209314DE132C}"/>
              </a:ext>
            </a:extLst>
          </p:cNvPr>
          <p:cNvGrpSpPr/>
          <p:nvPr/>
        </p:nvGrpSpPr>
        <p:grpSpPr>
          <a:xfrm>
            <a:off x="10766994" y="5182910"/>
            <a:ext cx="4267201" cy="2213229"/>
            <a:chOff x="0" y="-176632"/>
            <a:chExt cx="6862758" cy="3027587"/>
          </a:xfrm>
        </p:grpSpPr>
        <p:sp>
          <p:nvSpPr>
            <p:cNvPr id="59" name="TextBox 5">
              <a:extLst>
                <a:ext uri="{FF2B5EF4-FFF2-40B4-BE49-F238E27FC236}">
                  <a16:creationId xmlns:a16="http://schemas.microsoft.com/office/drawing/2014/main" id="{C6E39998-5BB7-7CC9-0DD2-E29A3497B877}"/>
                </a:ext>
              </a:extLst>
            </p:cNvPr>
            <p:cNvSpPr txBox="1"/>
            <p:nvPr/>
          </p:nvSpPr>
          <p:spPr>
            <a:xfrm>
              <a:off x="0" y="-176632"/>
              <a:ext cx="6768861" cy="28924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6"/>
                </a:lnSpc>
              </a:pPr>
              <a:endParaRPr/>
            </a:p>
          </p:txBody>
        </p:sp>
        <p:grpSp>
          <p:nvGrpSpPr>
            <p:cNvPr id="60" name="Group 6">
              <a:extLst>
                <a:ext uri="{FF2B5EF4-FFF2-40B4-BE49-F238E27FC236}">
                  <a16:creationId xmlns:a16="http://schemas.microsoft.com/office/drawing/2014/main" id="{891EA38D-00F3-C914-7EB3-49EAFB0FDEB2}"/>
                </a:ext>
              </a:extLst>
            </p:cNvPr>
            <p:cNvGrpSpPr/>
            <p:nvPr/>
          </p:nvGrpSpPr>
          <p:grpSpPr>
            <a:xfrm>
              <a:off x="93898" y="-41541"/>
              <a:ext cx="6768860" cy="2892496"/>
              <a:chOff x="0" y="-47625"/>
              <a:chExt cx="1825079" cy="779900"/>
            </a:xfrm>
          </p:grpSpPr>
          <p:sp>
            <p:nvSpPr>
              <p:cNvPr id="61" name="Freeform 7">
                <a:extLst>
                  <a:ext uri="{FF2B5EF4-FFF2-40B4-BE49-F238E27FC236}">
                    <a16:creationId xmlns:a16="http://schemas.microsoft.com/office/drawing/2014/main" id="{712F5856-F473-0B69-DED1-81B4B1DCC11E}"/>
                  </a:ext>
                </a:extLst>
              </p:cNvPr>
              <p:cNvSpPr/>
              <p:nvPr/>
            </p:nvSpPr>
            <p:spPr>
              <a:xfrm>
                <a:off x="0" y="0"/>
                <a:ext cx="1825079" cy="732275"/>
              </a:xfrm>
              <a:custGeom>
                <a:avLst/>
                <a:gdLst/>
                <a:ahLst/>
                <a:cxnLst/>
                <a:rect l="l" t="t" r="r" b="b"/>
                <a:pathLst>
                  <a:path w="1825079" h="732275">
                    <a:moveTo>
                      <a:pt x="56978" y="0"/>
                    </a:moveTo>
                    <a:lnTo>
                      <a:pt x="1768100" y="0"/>
                    </a:lnTo>
                    <a:cubicBezTo>
                      <a:pt x="1799568" y="0"/>
                      <a:pt x="1825079" y="25510"/>
                      <a:pt x="1825079" y="56978"/>
                    </a:cubicBezTo>
                    <a:lnTo>
                      <a:pt x="1825079" y="675296"/>
                    </a:lnTo>
                    <a:cubicBezTo>
                      <a:pt x="1825079" y="690408"/>
                      <a:pt x="1819075" y="704900"/>
                      <a:pt x="1808390" y="715586"/>
                    </a:cubicBezTo>
                    <a:cubicBezTo>
                      <a:pt x="1797704" y="726272"/>
                      <a:pt x="1783212" y="732275"/>
                      <a:pt x="1768100" y="732275"/>
                    </a:cubicBezTo>
                    <a:lnTo>
                      <a:pt x="56978" y="732275"/>
                    </a:lnTo>
                    <a:cubicBezTo>
                      <a:pt x="41867" y="732275"/>
                      <a:pt x="27374" y="726272"/>
                      <a:pt x="16689" y="715586"/>
                    </a:cubicBezTo>
                    <a:cubicBezTo>
                      <a:pt x="6003" y="704900"/>
                      <a:pt x="0" y="690408"/>
                      <a:pt x="0" y="675296"/>
                    </a:cubicBezTo>
                    <a:lnTo>
                      <a:pt x="0" y="56978"/>
                    </a:lnTo>
                    <a:cubicBezTo>
                      <a:pt x="0" y="41867"/>
                      <a:pt x="6003" y="27374"/>
                      <a:pt x="16689" y="16689"/>
                    </a:cubicBezTo>
                    <a:cubicBezTo>
                      <a:pt x="27374" y="6003"/>
                      <a:pt x="41867" y="0"/>
                      <a:pt x="56978" y="0"/>
                    </a:cubicBezTo>
                    <a:close/>
                  </a:path>
                </a:pathLst>
              </a:custGeom>
              <a:solidFill>
                <a:srgbClr val="5FEAFF"/>
              </a:solidFill>
              <a:ln w="38100" cap="rnd">
                <a:solidFill>
                  <a:srgbClr val="00C6E5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2" name="TextBox 8">
                <a:extLst>
                  <a:ext uri="{FF2B5EF4-FFF2-40B4-BE49-F238E27FC236}">
                    <a16:creationId xmlns:a16="http://schemas.microsoft.com/office/drawing/2014/main" id="{CDB119B7-4416-F314-0F21-BEEBA4438173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825079" cy="779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6"/>
                  </a:lnSpc>
                </a:pPr>
                <a:endParaRPr dirty="0"/>
              </a:p>
            </p:txBody>
          </p:sp>
        </p:grpSp>
      </p:grpSp>
      <p:sp>
        <p:nvSpPr>
          <p:cNvPr id="63" name="TextBox 24">
            <a:extLst>
              <a:ext uri="{FF2B5EF4-FFF2-40B4-BE49-F238E27FC236}">
                <a16:creationId xmlns:a16="http://schemas.microsoft.com/office/drawing/2014/main" id="{07127947-7592-AA62-172A-52768F543525}"/>
              </a:ext>
            </a:extLst>
          </p:cNvPr>
          <p:cNvSpPr txBox="1"/>
          <p:nvPr/>
        </p:nvSpPr>
        <p:spPr>
          <a:xfrm>
            <a:off x="10741268" y="6163566"/>
            <a:ext cx="4267200" cy="472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2800" b="1" kern="100" dirty="0">
                <a:latin typeface="Poppins" panose="00000500000000000000" pitchFamily="2" charset="0"/>
                <a:cs typeface="Poppins" panose="00000500000000000000" pitchFamily="2" charset="0"/>
              </a:rPr>
              <a:t>Quote</a:t>
            </a:r>
          </a:p>
        </p:txBody>
      </p:sp>
      <p:sp>
        <p:nvSpPr>
          <p:cNvPr id="6" name="Freeform 11">
            <a:extLst>
              <a:ext uri="{FF2B5EF4-FFF2-40B4-BE49-F238E27FC236}">
                <a16:creationId xmlns:a16="http://schemas.microsoft.com/office/drawing/2014/main" id="{16773C15-4951-FAF3-1C48-5B83EA717EAF}"/>
              </a:ext>
            </a:extLst>
          </p:cNvPr>
          <p:cNvSpPr/>
          <p:nvPr/>
        </p:nvSpPr>
        <p:spPr>
          <a:xfrm>
            <a:off x="10001245" y="7700598"/>
            <a:ext cx="517856" cy="462618"/>
          </a:xfrm>
          <a:custGeom>
            <a:avLst/>
            <a:gdLst/>
            <a:ahLst/>
            <a:cxnLst/>
            <a:rect l="l" t="t" r="r" b="b"/>
            <a:pathLst>
              <a:path w="517856" h="462618">
                <a:moveTo>
                  <a:pt x="0" y="0"/>
                </a:moveTo>
                <a:lnTo>
                  <a:pt x="517855" y="0"/>
                </a:lnTo>
                <a:lnTo>
                  <a:pt x="517855" y="462617"/>
                </a:lnTo>
                <a:lnTo>
                  <a:pt x="0" y="4626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284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7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20"/>
                            </p:stCondLst>
                            <p:childTnLst>
                              <p:par>
                                <p:cTn id="24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7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7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10"/>
                            </p:stCondLst>
                            <p:childTnLst>
                              <p:par>
                                <p:cTn id="49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7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6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7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0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7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0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7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4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000"/>
                            </p:stCondLst>
                            <p:childTnLst>
                              <p:par>
                                <p:cTn id="97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7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4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7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8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500"/>
                            </p:stCondLst>
                            <p:childTnLst>
                              <p:par>
                                <p:cTn id="112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000"/>
                            </p:stCondLst>
                            <p:childTnLst>
                              <p:par>
                                <p:cTn id="121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7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8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7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2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500"/>
                            </p:stCondLst>
                            <p:childTnLst>
                              <p:par>
                                <p:cTn id="136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1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1000"/>
                            </p:stCondLst>
                            <p:childTnLst>
                              <p:par>
                                <p:cTn id="14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1" grpId="0"/>
      <p:bldP spid="21" grpId="0" animBg="1"/>
      <p:bldP spid="22" grpId="0"/>
      <p:bldP spid="25" grpId="0" animBg="1"/>
      <p:bldP spid="26" grpId="0"/>
      <p:bldP spid="23" grpId="0" animBg="1"/>
      <p:bldP spid="24" grpId="0"/>
      <p:bldP spid="48" grpId="0" animBg="1"/>
      <p:bldP spid="49" grpId="0"/>
      <p:bldP spid="56" grpId="0" animBg="1"/>
      <p:bldP spid="57" grpId="0"/>
      <p:bldP spid="76" grpId="0" animBg="1"/>
      <p:bldP spid="20" grpId="0"/>
      <p:bldP spid="78" grpId="0" animBg="1"/>
      <p:bldP spid="33" grpId="0"/>
      <p:bldP spid="80" grpId="0" animBg="1"/>
      <p:bldP spid="39" grpId="0"/>
      <p:bldP spid="82" grpId="0" animBg="1"/>
      <p:bldP spid="47" grpId="0"/>
      <p:bldP spid="84" grpId="0" animBg="1"/>
      <p:bldP spid="55" grpId="0"/>
      <p:bldP spid="6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4EABB-1F80-14B4-39F5-4DC350C83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Freeform 7">
            <a:extLst>
              <a:ext uri="{FF2B5EF4-FFF2-40B4-BE49-F238E27FC236}">
                <a16:creationId xmlns:a16="http://schemas.microsoft.com/office/drawing/2014/main" id="{59A686EB-C0D9-DB72-0F7E-80FF94127169}"/>
              </a:ext>
            </a:extLst>
          </p:cNvPr>
          <p:cNvSpPr/>
          <p:nvPr/>
        </p:nvSpPr>
        <p:spPr>
          <a:xfrm>
            <a:off x="1357800" y="4683131"/>
            <a:ext cx="4498255" cy="2627934"/>
          </a:xfrm>
          <a:custGeom>
            <a:avLst/>
            <a:gdLst/>
            <a:ahLst/>
            <a:cxnLst/>
            <a:rect l="l" t="t" r="r" b="b"/>
            <a:pathLst>
              <a:path w="1825079" h="732275">
                <a:moveTo>
                  <a:pt x="56978" y="0"/>
                </a:moveTo>
                <a:lnTo>
                  <a:pt x="1768100" y="0"/>
                </a:lnTo>
                <a:cubicBezTo>
                  <a:pt x="1799568" y="0"/>
                  <a:pt x="1825079" y="25510"/>
                  <a:pt x="1825079" y="56978"/>
                </a:cubicBezTo>
                <a:lnTo>
                  <a:pt x="1825079" y="675296"/>
                </a:lnTo>
                <a:cubicBezTo>
                  <a:pt x="1825079" y="690408"/>
                  <a:pt x="1819075" y="704900"/>
                  <a:pt x="1808390" y="715586"/>
                </a:cubicBezTo>
                <a:cubicBezTo>
                  <a:pt x="1797704" y="726272"/>
                  <a:pt x="1783212" y="732275"/>
                  <a:pt x="1768100" y="732275"/>
                </a:cubicBezTo>
                <a:lnTo>
                  <a:pt x="56978" y="732275"/>
                </a:lnTo>
                <a:cubicBezTo>
                  <a:pt x="41867" y="732275"/>
                  <a:pt x="27374" y="726272"/>
                  <a:pt x="16689" y="715586"/>
                </a:cubicBezTo>
                <a:cubicBezTo>
                  <a:pt x="6003" y="704900"/>
                  <a:pt x="0" y="690408"/>
                  <a:pt x="0" y="675296"/>
                </a:cubicBezTo>
                <a:lnTo>
                  <a:pt x="0" y="56978"/>
                </a:lnTo>
                <a:cubicBezTo>
                  <a:pt x="0" y="41867"/>
                  <a:pt x="6003" y="27374"/>
                  <a:pt x="16689" y="16689"/>
                </a:cubicBezTo>
                <a:cubicBezTo>
                  <a:pt x="27374" y="6003"/>
                  <a:pt x="41867" y="0"/>
                  <a:pt x="56978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A2CF00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42" name="TextBox 24">
            <a:extLst>
              <a:ext uri="{FF2B5EF4-FFF2-40B4-BE49-F238E27FC236}">
                <a16:creationId xmlns:a16="http://schemas.microsoft.com/office/drawing/2014/main" id="{33CBE91A-2746-20AD-9195-ED2758803C7D}"/>
              </a:ext>
            </a:extLst>
          </p:cNvPr>
          <p:cNvSpPr txBox="1"/>
          <p:nvPr/>
        </p:nvSpPr>
        <p:spPr>
          <a:xfrm>
            <a:off x="1473327" y="5060717"/>
            <a:ext cx="4267200" cy="9677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2800" kern="100" dirty="0">
                <a:latin typeface="Poppins" panose="00000500000000000000" pitchFamily="2" charset="0"/>
                <a:cs typeface="Poppins" panose="00000500000000000000" pitchFamily="2" charset="0"/>
              </a:rPr>
              <a:t>Create Investigation Case</a:t>
            </a:r>
            <a:endParaRPr lang="en-US" sz="2800" kern="100" dirty="0">
              <a:latin typeface="Poppins" panose="00000500000000000000" pitchFamily="2" charset="0"/>
              <a:ea typeface="Aptos" panose="020B0004020202020204" pitchFamily="34" charset="0"/>
              <a:cs typeface="Poppins" panose="00000500000000000000" pitchFamily="2" charset="0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0B980262-2C4B-F3A1-6386-31CA3E1B26E4}"/>
              </a:ext>
            </a:extLst>
          </p:cNvPr>
          <p:cNvSpPr txBox="1"/>
          <p:nvPr/>
        </p:nvSpPr>
        <p:spPr>
          <a:xfrm>
            <a:off x="583671" y="1510817"/>
            <a:ext cx="15783000" cy="79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39"/>
              </a:lnSpc>
              <a:spcBef>
                <a:spcPct val="0"/>
              </a:spcBef>
            </a:pPr>
            <a:r>
              <a:rPr lang="en-US" sz="519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URD Escalations: Know What the Ticket Means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995C21A-0332-84A3-1A20-AF5E65B41F78}"/>
              </a:ext>
            </a:extLst>
          </p:cNvPr>
          <p:cNvSpPr txBox="1"/>
          <p:nvPr/>
        </p:nvSpPr>
        <p:spPr>
          <a:xfrm>
            <a:off x="600000" y="2849862"/>
            <a:ext cx="13579971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URD escalation option determines what kind of Zendesk ticket is created.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DEC336-E8FB-6F99-BA56-036C88AAF283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Tripadvisor / Fraud support / URD escalations</a:t>
            </a:r>
          </a:p>
        </p:txBody>
      </p:sp>
      <p:sp>
        <p:nvSpPr>
          <p:cNvPr id="43" name="Freeform 7">
            <a:extLst>
              <a:ext uri="{FF2B5EF4-FFF2-40B4-BE49-F238E27FC236}">
                <a16:creationId xmlns:a16="http://schemas.microsoft.com/office/drawing/2014/main" id="{CA4710EA-0C49-2DC4-C819-82EC3BFA2FC7}"/>
              </a:ext>
            </a:extLst>
          </p:cNvPr>
          <p:cNvSpPr/>
          <p:nvPr/>
        </p:nvSpPr>
        <p:spPr>
          <a:xfrm>
            <a:off x="6817852" y="4649188"/>
            <a:ext cx="4498255" cy="2627934"/>
          </a:xfrm>
          <a:custGeom>
            <a:avLst/>
            <a:gdLst/>
            <a:ahLst/>
            <a:cxnLst/>
            <a:rect l="l" t="t" r="r" b="b"/>
            <a:pathLst>
              <a:path w="1825079" h="732275">
                <a:moveTo>
                  <a:pt x="56978" y="0"/>
                </a:moveTo>
                <a:lnTo>
                  <a:pt x="1768100" y="0"/>
                </a:lnTo>
                <a:cubicBezTo>
                  <a:pt x="1799568" y="0"/>
                  <a:pt x="1825079" y="25510"/>
                  <a:pt x="1825079" y="56978"/>
                </a:cubicBezTo>
                <a:lnTo>
                  <a:pt x="1825079" y="675296"/>
                </a:lnTo>
                <a:cubicBezTo>
                  <a:pt x="1825079" y="690408"/>
                  <a:pt x="1819075" y="704900"/>
                  <a:pt x="1808390" y="715586"/>
                </a:cubicBezTo>
                <a:cubicBezTo>
                  <a:pt x="1797704" y="726272"/>
                  <a:pt x="1783212" y="732275"/>
                  <a:pt x="1768100" y="732275"/>
                </a:cubicBezTo>
                <a:lnTo>
                  <a:pt x="56978" y="732275"/>
                </a:lnTo>
                <a:cubicBezTo>
                  <a:pt x="41867" y="732275"/>
                  <a:pt x="27374" y="726272"/>
                  <a:pt x="16689" y="715586"/>
                </a:cubicBezTo>
                <a:cubicBezTo>
                  <a:pt x="6003" y="704900"/>
                  <a:pt x="0" y="690408"/>
                  <a:pt x="0" y="675296"/>
                </a:cubicBezTo>
                <a:lnTo>
                  <a:pt x="0" y="56978"/>
                </a:lnTo>
                <a:cubicBezTo>
                  <a:pt x="0" y="41867"/>
                  <a:pt x="6003" y="27374"/>
                  <a:pt x="16689" y="16689"/>
                </a:cubicBezTo>
                <a:cubicBezTo>
                  <a:pt x="27374" y="6003"/>
                  <a:pt x="41867" y="0"/>
                  <a:pt x="56978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A2CF00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44" name="TextBox 24">
            <a:extLst>
              <a:ext uri="{FF2B5EF4-FFF2-40B4-BE49-F238E27FC236}">
                <a16:creationId xmlns:a16="http://schemas.microsoft.com/office/drawing/2014/main" id="{C284B5E8-8409-2E1F-9212-95DF2BA18112}"/>
              </a:ext>
            </a:extLst>
          </p:cNvPr>
          <p:cNvSpPr txBox="1"/>
          <p:nvPr/>
        </p:nvSpPr>
        <p:spPr>
          <a:xfrm>
            <a:off x="6876422" y="5062369"/>
            <a:ext cx="4267200" cy="9677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2800" kern="100" dirty="0">
                <a:latin typeface="Poppins" panose="00000500000000000000" pitchFamily="2" charset="0"/>
                <a:cs typeface="Poppins" panose="00000500000000000000" pitchFamily="2" charset="0"/>
              </a:rPr>
              <a:t>Fraud – Escalated Review</a:t>
            </a:r>
            <a:endParaRPr lang="en-US" sz="2800" kern="100" dirty="0">
              <a:latin typeface="Poppins" panose="00000500000000000000" pitchFamily="2" charset="0"/>
              <a:ea typeface="Aptos" panose="020B0004020202020204" pitchFamily="34" charset="0"/>
              <a:cs typeface="Poppins" panose="00000500000000000000" pitchFamily="2" charset="0"/>
            </a:endParaRPr>
          </a:p>
        </p:txBody>
      </p:sp>
      <p:sp>
        <p:nvSpPr>
          <p:cNvPr id="51" name="Freeform 7">
            <a:extLst>
              <a:ext uri="{FF2B5EF4-FFF2-40B4-BE49-F238E27FC236}">
                <a16:creationId xmlns:a16="http://schemas.microsoft.com/office/drawing/2014/main" id="{763EB709-F871-205A-36E2-267241840BDF}"/>
              </a:ext>
            </a:extLst>
          </p:cNvPr>
          <p:cNvSpPr/>
          <p:nvPr/>
        </p:nvSpPr>
        <p:spPr>
          <a:xfrm>
            <a:off x="12210061" y="4641853"/>
            <a:ext cx="4498255" cy="2627934"/>
          </a:xfrm>
          <a:custGeom>
            <a:avLst/>
            <a:gdLst/>
            <a:ahLst/>
            <a:cxnLst/>
            <a:rect l="l" t="t" r="r" b="b"/>
            <a:pathLst>
              <a:path w="1825079" h="732275">
                <a:moveTo>
                  <a:pt x="56978" y="0"/>
                </a:moveTo>
                <a:lnTo>
                  <a:pt x="1768100" y="0"/>
                </a:lnTo>
                <a:cubicBezTo>
                  <a:pt x="1799568" y="0"/>
                  <a:pt x="1825079" y="25510"/>
                  <a:pt x="1825079" y="56978"/>
                </a:cubicBezTo>
                <a:lnTo>
                  <a:pt x="1825079" y="675296"/>
                </a:lnTo>
                <a:cubicBezTo>
                  <a:pt x="1825079" y="690408"/>
                  <a:pt x="1819075" y="704900"/>
                  <a:pt x="1808390" y="715586"/>
                </a:cubicBezTo>
                <a:cubicBezTo>
                  <a:pt x="1797704" y="726272"/>
                  <a:pt x="1783212" y="732275"/>
                  <a:pt x="1768100" y="732275"/>
                </a:cubicBezTo>
                <a:lnTo>
                  <a:pt x="56978" y="732275"/>
                </a:lnTo>
                <a:cubicBezTo>
                  <a:pt x="41867" y="732275"/>
                  <a:pt x="27374" y="726272"/>
                  <a:pt x="16689" y="715586"/>
                </a:cubicBezTo>
                <a:cubicBezTo>
                  <a:pt x="6003" y="704900"/>
                  <a:pt x="0" y="690408"/>
                  <a:pt x="0" y="675296"/>
                </a:cubicBezTo>
                <a:lnTo>
                  <a:pt x="0" y="56978"/>
                </a:lnTo>
                <a:cubicBezTo>
                  <a:pt x="0" y="41867"/>
                  <a:pt x="6003" y="27374"/>
                  <a:pt x="16689" y="16689"/>
                </a:cubicBezTo>
                <a:cubicBezTo>
                  <a:pt x="27374" y="6003"/>
                  <a:pt x="41867" y="0"/>
                  <a:pt x="56978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A2CF00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52" name="TextBox 24">
            <a:extLst>
              <a:ext uri="{FF2B5EF4-FFF2-40B4-BE49-F238E27FC236}">
                <a16:creationId xmlns:a16="http://schemas.microsoft.com/office/drawing/2014/main" id="{A37780FB-6200-11F3-0FF1-E3F843CA159E}"/>
              </a:ext>
            </a:extLst>
          </p:cNvPr>
          <p:cNvSpPr txBox="1"/>
          <p:nvPr/>
        </p:nvSpPr>
        <p:spPr>
          <a:xfrm>
            <a:off x="12325588" y="5108591"/>
            <a:ext cx="4267200" cy="472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2800" kern="100" dirty="0">
                <a:latin typeface="Poppins" panose="00000500000000000000" pitchFamily="2" charset="0"/>
                <a:cs typeface="Poppins" panose="00000500000000000000" pitchFamily="2" charset="0"/>
              </a:rPr>
              <a:t>Investigations Team</a:t>
            </a:r>
            <a:endParaRPr lang="en-US" sz="2800" kern="100" dirty="0">
              <a:latin typeface="Poppins" panose="00000500000000000000" pitchFamily="2" charset="0"/>
              <a:ea typeface="Aptos" panose="020B0004020202020204" pitchFamily="34" charset="0"/>
              <a:cs typeface="Poppins" panose="00000500000000000000" pitchFamily="2" charset="0"/>
            </a:endParaRPr>
          </a:p>
        </p:txBody>
      </p:sp>
      <p:sp>
        <p:nvSpPr>
          <p:cNvPr id="8" name="Freeform 2">
            <a:extLst>
              <a:ext uri="{FF2B5EF4-FFF2-40B4-BE49-F238E27FC236}">
                <a16:creationId xmlns:a16="http://schemas.microsoft.com/office/drawing/2014/main" id="{A5D85F16-AAC2-9A01-FAC3-8B090398CCF7}"/>
              </a:ext>
            </a:extLst>
          </p:cNvPr>
          <p:cNvSpPr/>
          <p:nvPr/>
        </p:nvSpPr>
        <p:spPr>
          <a:xfrm>
            <a:off x="3617191" y="5795444"/>
            <a:ext cx="2114550" cy="1320875"/>
          </a:xfrm>
          <a:custGeom>
            <a:avLst/>
            <a:gdLst/>
            <a:ahLst/>
            <a:cxnLst/>
            <a:rect l="l" t="t" r="r" b="b"/>
            <a:pathLst>
              <a:path w="5143500" h="4114800">
                <a:moveTo>
                  <a:pt x="0" y="0"/>
                </a:moveTo>
                <a:lnTo>
                  <a:pt x="5143500" y="0"/>
                </a:lnTo>
                <a:lnTo>
                  <a:pt x="51435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D83B97EB-0DBC-AAA4-B4E7-D88AA76EEE7C}"/>
              </a:ext>
            </a:extLst>
          </p:cNvPr>
          <p:cNvGrpSpPr/>
          <p:nvPr/>
        </p:nvGrpSpPr>
        <p:grpSpPr>
          <a:xfrm>
            <a:off x="1295399" y="4353000"/>
            <a:ext cx="4571541" cy="2929565"/>
            <a:chOff x="0" y="-176632"/>
            <a:chExt cx="6862758" cy="302758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3" name="TextBox 5">
              <a:extLst>
                <a:ext uri="{FF2B5EF4-FFF2-40B4-BE49-F238E27FC236}">
                  <a16:creationId xmlns:a16="http://schemas.microsoft.com/office/drawing/2014/main" id="{3681D855-E55F-6AD7-76D1-8D300725E800}"/>
                </a:ext>
              </a:extLst>
            </p:cNvPr>
            <p:cNvSpPr txBox="1"/>
            <p:nvPr/>
          </p:nvSpPr>
          <p:spPr>
            <a:xfrm>
              <a:off x="0" y="-176632"/>
              <a:ext cx="6768861" cy="28924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6"/>
                </a:lnSpc>
              </a:pPr>
              <a:endParaRPr/>
            </a:p>
          </p:txBody>
        </p:sp>
        <p:grpSp>
          <p:nvGrpSpPr>
            <p:cNvPr id="9" name="Group 6">
              <a:extLst>
                <a:ext uri="{FF2B5EF4-FFF2-40B4-BE49-F238E27FC236}">
                  <a16:creationId xmlns:a16="http://schemas.microsoft.com/office/drawing/2014/main" id="{B6632CD2-F051-01E2-F92C-E9C12316559A}"/>
                </a:ext>
              </a:extLst>
            </p:cNvPr>
            <p:cNvGrpSpPr/>
            <p:nvPr/>
          </p:nvGrpSpPr>
          <p:grpSpPr>
            <a:xfrm>
              <a:off x="93898" y="-41541"/>
              <a:ext cx="6768860" cy="2892496"/>
              <a:chOff x="0" y="-47625"/>
              <a:chExt cx="1825079" cy="779900"/>
            </a:xfrm>
          </p:grpSpPr>
          <p:sp>
            <p:nvSpPr>
              <p:cNvPr id="10" name="Freeform 7">
                <a:extLst>
                  <a:ext uri="{FF2B5EF4-FFF2-40B4-BE49-F238E27FC236}">
                    <a16:creationId xmlns:a16="http://schemas.microsoft.com/office/drawing/2014/main" id="{CF0C6CDB-2F85-7D08-DA71-04162E69A76D}"/>
                  </a:ext>
                </a:extLst>
              </p:cNvPr>
              <p:cNvSpPr/>
              <p:nvPr/>
            </p:nvSpPr>
            <p:spPr>
              <a:xfrm>
                <a:off x="0" y="0"/>
                <a:ext cx="1825079" cy="732275"/>
              </a:xfrm>
              <a:custGeom>
                <a:avLst/>
                <a:gdLst/>
                <a:ahLst/>
                <a:cxnLst/>
                <a:rect l="l" t="t" r="r" b="b"/>
                <a:pathLst>
                  <a:path w="1825079" h="732275">
                    <a:moveTo>
                      <a:pt x="56978" y="0"/>
                    </a:moveTo>
                    <a:lnTo>
                      <a:pt x="1768100" y="0"/>
                    </a:lnTo>
                    <a:cubicBezTo>
                      <a:pt x="1799568" y="0"/>
                      <a:pt x="1825079" y="25510"/>
                      <a:pt x="1825079" y="56978"/>
                    </a:cubicBezTo>
                    <a:lnTo>
                      <a:pt x="1825079" y="675296"/>
                    </a:lnTo>
                    <a:cubicBezTo>
                      <a:pt x="1825079" y="690408"/>
                      <a:pt x="1819075" y="704900"/>
                      <a:pt x="1808390" y="715586"/>
                    </a:cubicBezTo>
                    <a:cubicBezTo>
                      <a:pt x="1797704" y="726272"/>
                      <a:pt x="1783212" y="732275"/>
                      <a:pt x="1768100" y="732275"/>
                    </a:cubicBezTo>
                    <a:lnTo>
                      <a:pt x="56978" y="732275"/>
                    </a:lnTo>
                    <a:cubicBezTo>
                      <a:pt x="41867" y="732275"/>
                      <a:pt x="27374" y="726272"/>
                      <a:pt x="16689" y="715586"/>
                    </a:cubicBezTo>
                    <a:cubicBezTo>
                      <a:pt x="6003" y="704900"/>
                      <a:pt x="0" y="690408"/>
                      <a:pt x="0" y="675296"/>
                    </a:cubicBezTo>
                    <a:lnTo>
                      <a:pt x="0" y="56978"/>
                    </a:lnTo>
                    <a:cubicBezTo>
                      <a:pt x="0" y="41867"/>
                      <a:pt x="6003" y="27374"/>
                      <a:pt x="16689" y="16689"/>
                    </a:cubicBezTo>
                    <a:cubicBezTo>
                      <a:pt x="27374" y="6003"/>
                      <a:pt x="41867" y="0"/>
                      <a:pt x="56978" y="0"/>
                    </a:cubicBezTo>
                    <a:close/>
                  </a:path>
                </a:pathLst>
              </a:custGeom>
              <a:solidFill>
                <a:srgbClr val="CFFF21"/>
              </a:solidFill>
              <a:ln w="38100" cap="rnd">
                <a:solidFill>
                  <a:srgbClr val="A2CF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1" name="TextBox 8">
                <a:extLst>
                  <a:ext uri="{FF2B5EF4-FFF2-40B4-BE49-F238E27FC236}">
                    <a16:creationId xmlns:a16="http://schemas.microsoft.com/office/drawing/2014/main" id="{7EF5170B-36E0-6AF5-6FC7-8FAE4E790933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825079" cy="779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6"/>
                  </a:lnSpc>
                </a:pPr>
                <a:endParaRPr dirty="0"/>
              </a:p>
            </p:txBody>
          </p:sp>
        </p:grpSp>
      </p:grpSp>
      <p:sp>
        <p:nvSpPr>
          <p:cNvPr id="15" name="TextBox 24">
            <a:extLst>
              <a:ext uri="{FF2B5EF4-FFF2-40B4-BE49-F238E27FC236}">
                <a16:creationId xmlns:a16="http://schemas.microsoft.com/office/drawing/2014/main" id="{3F9D9B8E-58D2-7E38-8E69-53250057CAE8}"/>
              </a:ext>
            </a:extLst>
          </p:cNvPr>
          <p:cNvSpPr txBox="1"/>
          <p:nvPr/>
        </p:nvSpPr>
        <p:spPr>
          <a:xfrm>
            <a:off x="1504526" y="5341095"/>
            <a:ext cx="4267200" cy="9677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2800" kern="100" dirty="0">
                <a:latin typeface="Poppins" panose="00000500000000000000" pitchFamily="2" charset="0"/>
                <a:cs typeface="Poppins" panose="00000500000000000000" pitchFamily="2" charset="0"/>
              </a:rPr>
              <a:t>Potential CI Investigation Lead</a:t>
            </a:r>
            <a:endParaRPr lang="en-US" sz="2800" kern="100" dirty="0">
              <a:latin typeface="Poppins" panose="00000500000000000000" pitchFamily="2" charset="0"/>
              <a:ea typeface="Aptos" panose="020B0004020202020204" pitchFamily="34" charset="0"/>
              <a:cs typeface="Poppins" panose="00000500000000000000" pitchFamily="2" charset="0"/>
            </a:endParaRPr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A90FE4B5-3ECE-3E55-F7AF-E01A75B8039E}"/>
              </a:ext>
            </a:extLst>
          </p:cNvPr>
          <p:cNvSpPr/>
          <p:nvPr/>
        </p:nvSpPr>
        <p:spPr>
          <a:xfrm>
            <a:off x="9584294" y="5872690"/>
            <a:ext cx="1656083" cy="1268907"/>
          </a:xfrm>
          <a:custGeom>
            <a:avLst/>
            <a:gdLst/>
            <a:ahLst/>
            <a:cxnLst/>
            <a:rect l="l" t="t" r="r" b="b"/>
            <a:pathLst>
              <a:path w="5378824" h="4114800">
                <a:moveTo>
                  <a:pt x="0" y="0"/>
                </a:moveTo>
                <a:lnTo>
                  <a:pt x="5378824" y="0"/>
                </a:lnTo>
                <a:lnTo>
                  <a:pt x="53788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grpSp>
        <p:nvGrpSpPr>
          <p:cNvPr id="45" name="Group 2">
            <a:extLst>
              <a:ext uri="{FF2B5EF4-FFF2-40B4-BE49-F238E27FC236}">
                <a16:creationId xmlns:a16="http://schemas.microsoft.com/office/drawing/2014/main" id="{8633D0CE-162B-DAFA-A990-99B3E3399BF4}"/>
              </a:ext>
            </a:extLst>
          </p:cNvPr>
          <p:cNvGrpSpPr/>
          <p:nvPr/>
        </p:nvGrpSpPr>
        <p:grpSpPr>
          <a:xfrm>
            <a:off x="6760894" y="4332821"/>
            <a:ext cx="4560655" cy="2929566"/>
            <a:chOff x="0" y="-176632"/>
            <a:chExt cx="6862758" cy="3027588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46" name="TextBox 5">
              <a:extLst>
                <a:ext uri="{FF2B5EF4-FFF2-40B4-BE49-F238E27FC236}">
                  <a16:creationId xmlns:a16="http://schemas.microsoft.com/office/drawing/2014/main" id="{5336ED86-4212-93CC-1D41-5F2E662D6ACC}"/>
                </a:ext>
              </a:extLst>
            </p:cNvPr>
            <p:cNvSpPr txBox="1"/>
            <p:nvPr/>
          </p:nvSpPr>
          <p:spPr>
            <a:xfrm>
              <a:off x="0" y="-176632"/>
              <a:ext cx="6768861" cy="28924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6"/>
                </a:lnSpc>
              </a:pPr>
              <a:endParaRPr/>
            </a:p>
          </p:txBody>
        </p:sp>
        <p:grpSp>
          <p:nvGrpSpPr>
            <p:cNvPr id="47" name="Group 6">
              <a:extLst>
                <a:ext uri="{FF2B5EF4-FFF2-40B4-BE49-F238E27FC236}">
                  <a16:creationId xmlns:a16="http://schemas.microsoft.com/office/drawing/2014/main" id="{55B82FD8-65CB-1998-1967-1C3489FBF5BF}"/>
                </a:ext>
              </a:extLst>
            </p:cNvPr>
            <p:cNvGrpSpPr/>
            <p:nvPr/>
          </p:nvGrpSpPr>
          <p:grpSpPr>
            <a:xfrm>
              <a:off x="93898" y="-41541"/>
              <a:ext cx="6768860" cy="2892497"/>
              <a:chOff x="0" y="-47625"/>
              <a:chExt cx="1825079" cy="779900"/>
            </a:xfrm>
          </p:grpSpPr>
          <p:sp>
            <p:nvSpPr>
              <p:cNvPr id="48" name="Freeform 7">
                <a:extLst>
                  <a:ext uri="{FF2B5EF4-FFF2-40B4-BE49-F238E27FC236}">
                    <a16:creationId xmlns:a16="http://schemas.microsoft.com/office/drawing/2014/main" id="{7653A288-3F6A-1B02-1EEB-CAA004625314}"/>
                  </a:ext>
                </a:extLst>
              </p:cNvPr>
              <p:cNvSpPr/>
              <p:nvPr/>
            </p:nvSpPr>
            <p:spPr>
              <a:xfrm>
                <a:off x="0" y="0"/>
                <a:ext cx="1825079" cy="732275"/>
              </a:xfrm>
              <a:custGeom>
                <a:avLst/>
                <a:gdLst/>
                <a:ahLst/>
                <a:cxnLst/>
                <a:rect l="l" t="t" r="r" b="b"/>
                <a:pathLst>
                  <a:path w="1825079" h="732275">
                    <a:moveTo>
                      <a:pt x="56978" y="0"/>
                    </a:moveTo>
                    <a:lnTo>
                      <a:pt x="1768100" y="0"/>
                    </a:lnTo>
                    <a:cubicBezTo>
                      <a:pt x="1799568" y="0"/>
                      <a:pt x="1825079" y="25510"/>
                      <a:pt x="1825079" y="56978"/>
                    </a:cubicBezTo>
                    <a:lnTo>
                      <a:pt x="1825079" y="675296"/>
                    </a:lnTo>
                    <a:cubicBezTo>
                      <a:pt x="1825079" y="690408"/>
                      <a:pt x="1819075" y="704900"/>
                      <a:pt x="1808390" y="715586"/>
                    </a:cubicBezTo>
                    <a:cubicBezTo>
                      <a:pt x="1797704" y="726272"/>
                      <a:pt x="1783212" y="732275"/>
                      <a:pt x="1768100" y="732275"/>
                    </a:cubicBezTo>
                    <a:lnTo>
                      <a:pt x="56978" y="732275"/>
                    </a:lnTo>
                    <a:cubicBezTo>
                      <a:pt x="41867" y="732275"/>
                      <a:pt x="27374" y="726272"/>
                      <a:pt x="16689" y="715586"/>
                    </a:cubicBezTo>
                    <a:cubicBezTo>
                      <a:pt x="6003" y="704900"/>
                      <a:pt x="0" y="690408"/>
                      <a:pt x="0" y="675296"/>
                    </a:cubicBezTo>
                    <a:lnTo>
                      <a:pt x="0" y="56978"/>
                    </a:lnTo>
                    <a:cubicBezTo>
                      <a:pt x="0" y="41867"/>
                      <a:pt x="6003" y="27374"/>
                      <a:pt x="16689" y="16689"/>
                    </a:cubicBezTo>
                    <a:cubicBezTo>
                      <a:pt x="27374" y="6003"/>
                      <a:pt x="41867" y="0"/>
                      <a:pt x="56978" y="0"/>
                    </a:cubicBezTo>
                    <a:close/>
                  </a:path>
                </a:pathLst>
              </a:custGeom>
              <a:solidFill>
                <a:srgbClr val="CFFF21"/>
              </a:solidFill>
              <a:ln w="38100" cap="rnd">
                <a:solidFill>
                  <a:srgbClr val="A2CF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" name="TextBox 8">
                <a:extLst>
                  <a:ext uri="{FF2B5EF4-FFF2-40B4-BE49-F238E27FC236}">
                    <a16:creationId xmlns:a16="http://schemas.microsoft.com/office/drawing/2014/main" id="{0DE31CB5-0684-506D-A72E-78CBC0CD5729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825079" cy="779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6"/>
                  </a:lnSpc>
                </a:pPr>
                <a:endParaRPr dirty="0"/>
              </a:p>
            </p:txBody>
          </p:sp>
        </p:grpSp>
      </p:grpSp>
      <p:sp>
        <p:nvSpPr>
          <p:cNvPr id="50" name="TextBox 24">
            <a:extLst>
              <a:ext uri="{FF2B5EF4-FFF2-40B4-BE49-F238E27FC236}">
                <a16:creationId xmlns:a16="http://schemas.microsoft.com/office/drawing/2014/main" id="{68F81503-99DE-B3F9-2FFF-56306FA8FF5F}"/>
              </a:ext>
            </a:extLst>
          </p:cNvPr>
          <p:cNvSpPr txBox="1"/>
          <p:nvPr/>
        </p:nvSpPr>
        <p:spPr>
          <a:xfrm>
            <a:off x="6937463" y="5664903"/>
            <a:ext cx="4267200" cy="472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2800" kern="100" dirty="0">
                <a:latin typeface="Poppins" panose="00000500000000000000" pitchFamily="2" charset="0"/>
                <a:cs typeface="Poppins" panose="00000500000000000000" pitchFamily="2" charset="0"/>
              </a:rPr>
              <a:t>General Escalation</a:t>
            </a:r>
            <a:endParaRPr lang="en-US" sz="2800" kern="100" dirty="0">
              <a:latin typeface="Poppins" panose="00000500000000000000" pitchFamily="2" charset="0"/>
              <a:ea typeface="Aptos" panose="020B0004020202020204" pitchFamily="34" charset="0"/>
              <a:cs typeface="Poppins" panose="00000500000000000000" pitchFamily="2" charset="0"/>
            </a:endParaRPr>
          </a:p>
        </p:txBody>
      </p:sp>
      <p:sp>
        <p:nvSpPr>
          <p:cNvPr id="19" name="Freeform 4">
            <a:extLst>
              <a:ext uri="{FF2B5EF4-FFF2-40B4-BE49-F238E27FC236}">
                <a16:creationId xmlns:a16="http://schemas.microsoft.com/office/drawing/2014/main" id="{FAD9F440-9889-1A3D-04E0-F3586F60A13F}"/>
              </a:ext>
            </a:extLst>
          </p:cNvPr>
          <p:cNvSpPr/>
          <p:nvPr/>
        </p:nvSpPr>
        <p:spPr>
          <a:xfrm>
            <a:off x="15439223" y="5704707"/>
            <a:ext cx="1142679" cy="1447141"/>
          </a:xfrm>
          <a:custGeom>
            <a:avLst/>
            <a:gdLst/>
            <a:ahLst/>
            <a:cxnLst/>
            <a:rect l="l" t="t" r="r" b="b"/>
            <a:pathLst>
              <a:path w="2934943" h="3715118">
                <a:moveTo>
                  <a:pt x="0" y="0"/>
                </a:moveTo>
                <a:lnTo>
                  <a:pt x="2934943" y="0"/>
                </a:lnTo>
                <a:lnTo>
                  <a:pt x="2934943" y="3715118"/>
                </a:lnTo>
                <a:lnTo>
                  <a:pt x="0" y="37151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Freeform 3">
            <a:extLst>
              <a:ext uri="{FF2B5EF4-FFF2-40B4-BE49-F238E27FC236}">
                <a16:creationId xmlns:a16="http://schemas.microsoft.com/office/drawing/2014/main" id="{FF2206D9-782B-420A-8993-E95C062630A2}"/>
              </a:ext>
            </a:extLst>
          </p:cNvPr>
          <p:cNvSpPr/>
          <p:nvPr/>
        </p:nvSpPr>
        <p:spPr>
          <a:xfrm>
            <a:off x="15610368" y="5938126"/>
            <a:ext cx="756303" cy="699753"/>
          </a:xfrm>
          <a:custGeom>
            <a:avLst/>
            <a:gdLst/>
            <a:ahLst/>
            <a:cxnLst/>
            <a:rect l="l" t="t" r="r" b="b"/>
            <a:pathLst>
              <a:path w="4572000" h="4114800">
                <a:moveTo>
                  <a:pt x="0" y="0"/>
                </a:moveTo>
                <a:lnTo>
                  <a:pt x="4572000" y="0"/>
                </a:lnTo>
                <a:lnTo>
                  <a:pt x="4572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grpSp>
        <p:nvGrpSpPr>
          <p:cNvPr id="53" name="Group 2">
            <a:extLst>
              <a:ext uri="{FF2B5EF4-FFF2-40B4-BE49-F238E27FC236}">
                <a16:creationId xmlns:a16="http://schemas.microsoft.com/office/drawing/2014/main" id="{D746EB11-B1FC-BB0B-033B-E64D6FB7611F}"/>
              </a:ext>
            </a:extLst>
          </p:cNvPr>
          <p:cNvGrpSpPr/>
          <p:nvPr/>
        </p:nvGrpSpPr>
        <p:grpSpPr>
          <a:xfrm>
            <a:off x="12147661" y="4332822"/>
            <a:ext cx="4560655" cy="2929565"/>
            <a:chOff x="0" y="-176632"/>
            <a:chExt cx="6862758" cy="302758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4" name="TextBox 5">
              <a:extLst>
                <a:ext uri="{FF2B5EF4-FFF2-40B4-BE49-F238E27FC236}">
                  <a16:creationId xmlns:a16="http://schemas.microsoft.com/office/drawing/2014/main" id="{3770BF75-36AF-8AD5-0F31-97A4E0EAFF7D}"/>
                </a:ext>
              </a:extLst>
            </p:cNvPr>
            <p:cNvSpPr txBox="1"/>
            <p:nvPr/>
          </p:nvSpPr>
          <p:spPr>
            <a:xfrm>
              <a:off x="0" y="-176632"/>
              <a:ext cx="6768861" cy="28924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6"/>
                </a:lnSpc>
              </a:pPr>
              <a:endParaRPr/>
            </a:p>
          </p:txBody>
        </p:sp>
        <p:grpSp>
          <p:nvGrpSpPr>
            <p:cNvPr id="55" name="Group 6">
              <a:extLst>
                <a:ext uri="{FF2B5EF4-FFF2-40B4-BE49-F238E27FC236}">
                  <a16:creationId xmlns:a16="http://schemas.microsoft.com/office/drawing/2014/main" id="{954A6155-0E0F-08CB-1E33-09822CA2A2D4}"/>
                </a:ext>
              </a:extLst>
            </p:cNvPr>
            <p:cNvGrpSpPr/>
            <p:nvPr/>
          </p:nvGrpSpPr>
          <p:grpSpPr>
            <a:xfrm>
              <a:off x="93898" y="-41541"/>
              <a:ext cx="6768860" cy="2892496"/>
              <a:chOff x="0" y="-47625"/>
              <a:chExt cx="1825079" cy="779900"/>
            </a:xfrm>
          </p:grpSpPr>
          <p:sp>
            <p:nvSpPr>
              <p:cNvPr id="56" name="Freeform 7">
                <a:extLst>
                  <a:ext uri="{FF2B5EF4-FFF2-40B4-BE49-F238E27FC236}">
                    <a16:creationId xmlns:a16="http://schemas.microsoft.com/office/drawing/2014/main" id="{9AE706EA-F3B9-EB1E-3F29-E374EE3D7621}"/>
                  </a:ext>
                </a:extLst>
              </p:cNvPr>
              <p:cNvSpPr/>
              <p:nvPr/>
            </p:nvSpPr>
            <p:spPr>
              <a:xfrm>
                <a:off x="0" y="0"/>
                <a:ext cx="1825079" cy="732275"/>
              </a:xfrm>
              <a:custGeom>
                <a:avLst/>
                <a:gdLst/>
                <a:ahLst/>
                <a:cxnLst/>
                <a:rect l="l" t="t" r="r" b="b"/>
                <a:pathLst>
                  <a:path w="1825079" h="732275">
                    <a:moveTo>
                      <a:pt x="56978" y="0"/>
                    </a:moveTo>
                    <a:lnTo>
                      <a:pt x="1768100" y="0"/>
                    </a:lnTo>
                    <a:cubicBezTo>
                      <a:pt x="1799568" y="0"/>
                      <a:pt x="1825079" y="25510"/>
                      <a:pt x="1825079" y="56978"/>
                    </a:cubicBezTo>
                    <a:lnTo>
                      <a:pt x="1825079" y="675296"/>
                    </a:lnTo>
                    <a:cubicBezTo>
                      <a:pt x="1825079" y="690408"/>
                      <a:pt x="1819075" y="704900"/>
                      <a:pt x="1808390" y="715586"/>
                    </a:cubicBezTo>
                    <a:cubicBezTo>
                      <a:pt x="1797704" y="726272"/>
                      <a:pt x="1783212" y="732275"/>
                      <a:pt x="1768100" y="732275"/>
                    </a:cubicBezTo>
                    <a:lnTo>
                      <a:pt x="56978" y="732275"/>
                    </a:lnTo>
                    <a:cubicBezTo>
                      <a:pt x="41867" y="732275"/>
                      <a:pt x="27374" y="726272"/>
                      <a:pt x="16689" y="715586"/>
                    </a:cubicBezTo>
                    <a:cubicBezTo>
                      <a:pt x="6003" y="704900"/>
                      <a:pt x="0" y="690408"/>
                      <a:pt x="0" y="675296"/>
                    </a:cubicBezTo>
                    <a:lnTo>
                      <a:pt x="0" y="56978"/>
                    </a:lnTo>
                    <a:cubicBezTo>
                      <a:pt x="0" y="41867"/>
                      <a:pt x="6003" y="27374"/>
                      <a:pt x="16689" y="16689"/>
                    </a:cubicBezTo>
                    <a:cubicBezTo>
                      <a:pt x="27374" y="6003"/>
                      <a:pt x="41867" y="0"/>
                      <a:pt x="56978" y="0"/>
                    </a:cubicBezTo>
                    <a:close/>
                  </a:path>
                </a:pathLst>
              </a:custGeom>
              <a:solidFill>
                <a:srgbClr val="CFFF21"/>
              </a:solidFill>
              <a:ln w="38100" cap="rnd">
                <a:solidFill>
                  <a:srgbClr val="A2CF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7" name="TextBox 8">
                <a:extLst>
                  <a:ext uri="{FF2B5EF4-FFF2-40B4-BE49-F238E27FC236}">
                    <a16:creationId xmlns:a16="http://schemas.microsoft.com/office/drawing/2014/main" id="{387C9E66-8587-9B4A-2A46-DE040E365752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825079" cy="779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6"/>
                  </a:lnSpc>
                </a:pPr>
                <a:endParaRPr dirty="0"/>
              </a:p>
            </p:txBody>
          </p:sp>
        </p:grpSp>
      </p:grpSp>
      <p:sp>
        <p:nvSpPr>
          <p:cNvPr id="58" name="TextBox 24">
            <a:extLst>
              <a:ext uri="{FF2B5EF4-FFF2-40B4-BE49-F238E27FC236}">
                <a16:creationId xmlns:a16="http://schemas.microsoft.com/office/drawing/2014/main" id="{201C1A5E-30B3-130B-C3F9-7C2A5171D817}"/>
              </a:ext>
            </a:extLst>
          </p:cNvPr>
          <p:cNvSpPr txBox="1"/>
          <p:nvPr/>
        </p:nvSpPr>
        <p:spPr>
          <a:xfrm>
            <a:off x="12379435" y="5265487"/>
            <a:ext cx="4267200" cy="1463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2800" kern="100" dirty="0">
                <a:latin typeface="Poppins" panose="00000500000000000000" pitchFamily="2" charset="0"/>
                <a:cs typeface="Poppins" panose="00000500000000000000" pitchFamily="2" charset="0"/>
              </a:rPr>
              <a:t>Fraud Escalation – Red Badge Recommendation</a:t>
            </a:r>
            <a:endParaRPr lang="en-US" sz="2800" kern="100" dirty="0">
              <a:latin typeface="Poppins" panose="00000500000000000000" pitchFamily="2" charset="0"/>
              <a:ea typeface="Aptos" panose="020B0004020202020204" pitchFamily="34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077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7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7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7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4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7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8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2" grpId="0"/>
      <p:bldP spid="43" grpId="0" animBg="1"/>
      <p:bldP spid="44" grpId="0"/>
      <p:bldP spid="51" grpId="0" animBg="1"/>
      <p:bldP spid="52" grpId="0"/>
      <p:bldP spid="8" grpId="0" animBg="1"/>
      <p:bldP spid="15" grpId="0"/>
      <p:bldP spid="14" grpId="0" animBg="1"/>
      <p:bldP spid="50" grpId="0"/>
      <p:bldP spid="19" grpId="0" animBg="1"/>
      <p:bldP spid="25" grpId="0" animBg="1"/>
      <p:bldP spid="5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518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86F95B-D765-D795-B006-1D174EAEA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D6B8393E-3F2B-0A8F-E227-E3AED5F603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8385" y="190500"/>
            <a:ext cx="17331231" cy="8229600"/>
          </a:xfrm>
          <a:prstGeom prst="rect">
            <a:avLst/>
          </a:prstGeom>
        </p:spPr>
      </p:pic>
      <p:sp>
        <p:nvSpPr>
          <p:cNvPr id="3" name="AutoShape 3">
            <a:extLst>
              <a:ext uri="{FF2B5EF4-FFF2-40B4-BE49-F238E27FC236}">
                <a16:creationId xmlns:a16="http://schemas.microsoft.com/office/drawing/2014/main" id="{0E8DDD5D-9385-E722-F169-2BB4503EBF9D}"/>
              </a:ext>
            </a:extLst>
          </p:cNvPr>
          <p:cNvSpPr/>
          <p:nvPr/>
        </p:nvSpPr>
        <p:spPr>
          <a:xfrm>
            <a:off x="478385" y="8703951"/>
            <a:ext cx="17331231" cy="0"/>
          </a:xfrm>
          <a:prstGeom prst="line">
            <a:avLst/>
          </a:prstGeom>
          <a:ln w="38100" cap="flat">
            <a:solidFill>
              <a:srgbClr val="002B1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14CD603A-9B32-8311-4522-36C2E7BE621A}"/>
              </a:ext>
            </a:extLst>
          </p:cNvPr>
          <p:cNvGrpSpPr/>
          <p:nvPr/>
        </p:nvGrpSpPr>
        <p:grpSpPr>
          <a:xfrm>
            <a:off x="1028700" y="671195"/>
            <a:ext cx="2239382" cy="670446"/>
            <a:chOff x="0" y="0"/>
            <a:chExt cx="589796" cy="176578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4A09A52-CF6A-4482-C90C-82EA4076CBCE}"/>
                </a:ext>
              </a:extLst>
            </p:cNvPr>
            <p:cNvSpPr/>
            <p:nvPr/>
          </p:nvSpPr>
          <p:spPr>
            <a:xfrm>
              <a:off x="0" y="0"/>
              <a:ext cx="589796" cy="176578"/>
            </a:xfrm>
            <a:custGeom>
              <a:avLst/>
              <a:gdLst/>
              <a:ahLst/>
              <a:cxnLst/>
              <a:rect l="l" t="t" r="r" b="b"/>
              <a:pathLst>
                <a:path w="589796" h="176578">
                  <a:moveTo>
                    <a:pt x="88289" y="0"/>
                  </a:moveTo>
                  <a:lnTo>
                    <a:pt x="501507" y="0"/>
                  </a:lnTo>
                  <a:cubicBezTo>
                    <a:pt x="524923" y="0"/>
                    <a:pt x="547379" y="9302"/>
                    <a:pt x="563937" y="25859"/>
                  </a:cubicBezTo>
                  <a:cubicBezTo>
                    <a:pt x="580494" y="42417"/>
                    <a:pt x="589796" y="64873"/>
                    <a:pt x="589796" y="88289"/>
                  </a:cubicBezTo>
                  <a:lnTo>
                    <a:pt x="589796" y="88289"/>
                  </a:lnTo>
                  <a:cubicBezTo>
                    <a:pt x="589796" y="137050"/>
                    <a:pt x="550268" y="176578"/>
                    <a:pt x="501507" y="176578"/>
                  </a:cubicBezTo>
                  <a:lnTo>
                    <a:pt x="88289" y="176578"/>
                  </a:lnTo>
                  <a:cubicBezTo>
                    <a:pt x="39528" y="176578"/>
                    <a:pt x="0" y="137050"/>
                    <a:pt x="0" y="88289"/>
                  </a:cubicBezTo>
                  <a:lnTo>
                    <a:pt x="0" y="88289"/>
                  </a:lnTo>
                  <a:cubicBezTo>
                    <a:pt x="0" y="39528"/>
                    <a:pt x="39528" y="0"/>
                    <a:pt x="88289" y="0"/>
                  </a:cubicBezTo>
                  <a:close/>
                </a:path>
              </a:pathLst>
            </a:custGeom>
            <a:solidFill>
              <a:srgbClr val="FB5184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FBD771F8-68A6-7DB6-00C0-0CBA33C168C6}"/>
                </a:ext>
              </a:extLst>
            </p:cNvPr>
            <p:cNvSpPr txBox="1"/>
            <p:nvPr/>
          </p:nvSpPr>
          <p:spPr>
            <a:xfrm>
              <a:off x="0" y="-47625"/>
              <a:ext cx="589796" cy="2242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7C3B0D04-3982-A444-DEBC-C8EC1671C23B}"/>
              </a:ext>
            </a:extLst>
          </p:cNvPr>
          <p:cNvGrpSpPr/>
          <p:nvPr/>
        </p:nvGrpSpPr>
        <p:grpSpPr>
          <a:xfrm>
            <a:off x="14684028" y="574219"/>
            <a:ext cx="2725614" cy="622382"/>
            <a:chOff x="0" y="0"/>
            <a:chExt cx="717857" cy="16392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45B9CA4-7F2F-6A19-6C90-B4DE02449B55}"/>
                </a:ext>
              </a:extLst>
            </p:cNvPr>
            <p:cNvSpPr/>
            <p:nvPr/>
          </p:nvSpPr>
          <p:spPr>
            <a:xfrm>
              <a:off x="0" y="0"/>
              <a:ext cx="717857" cy="163920"/>
            </a:xfrm>
            <a:custGeom>
              <a:avLst/>
              <a:gdLst/>
              <a:ahLst/>
              <a:cxnLst/>
              <a:rect l="l" t="t" r="r" b="b"/>
              <a:pathLst>
                <a:path w="717857" h="163920">
                  <a:moveTo>
                    <a:pt x="81960" y="0"/>
                  </a:moveTo>
                  <a:lnTo>
                    <a:pt x="635897" y="0"/>
                  </a:lnTo>
                  <a:cubicBezTo>
                    <a:pt x="681163" y="0"/>
                    <a:pt x="717857" y="36695"/>
                    <a:pt x="717857" y="81960"/>
                  </a:cubicBezTo>
                  <a:lnTo>
                    <a:pt x="717857" y="81960"/>
                  </a:lnTo>
                  <a:cubicBezTo>
                    <a:pt x="717857" y="103697"/>
                    <a:pt x="709222" y="124544"/>
                    <a:pt x="693852" y="139914"/>
                  </a:cubicBezTo>
                  <a:cubicBezTo>
                    <a:pt x="678481" y="155285"/>
                    <a:pt x="657634" y="163920"/>
                    <a:pt x="635897" y="163920"/>
                  </a:cubicBezTo>
                  <a:lnTo>
                    <a:pt x="81960" y="163920"/>
                  </a:lnTo>
                  <a:cubicBezTo>
                    <a:pt x="36695" y="163920"/>
                    <a:pt x="0" y="127225"/>
                    <a:pt x="0" y="81960"/>
                  </a:cubicBezTo>
                  <a:lnTo>
                    <a:pt x="0" y="81960"/>
                  </a:lnTo>
                  <a:cubicBezTo>
                    <a:pt x="0" y="36695"/>
                    <a:pt x="36695" y="0"/>
                    <a:pt x="81960" y="0"/>
                  </a:cubicBezTo>
                  <a:close/>
                </a:path>
              </a:pathLst>
            </a:custGeom>
            <a:solidFill>
              <a:srgbClr val="FB5184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A0B46122-2309-8210-4E2C-753577893540}"/>
                </a:ext>
              </a:extLst>
            </p:cNvPr>
            <p:cNvSpPr txBox="1"/>
            <p:nvPr/>
          </p:nvSpPr>
          <p:spPr>
            <a:xfrm>
              <a:off x="0" y="-47625"/>
              <a:ext cx="717857" cy="2115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54A7DA0E-E55C-CD9D-3027-DF58CDC67FED}"/>
              </a:ext>
            </a:extLst>
          </p:cNvPr>
          <p:cNvSpPr txBox="1"/>
          <p:nvPr/>
        </p:nvSpPr>
        <p:spPr>
          <a:xfrm>
            <a:off x="478385" y="8719968"/>
            <a:ext cx="17331231" cy="12791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0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0</a:t>
            </a:r>
            <a:r>
              <a:rPr lang="en-US" sz="7500" b="1" dirty="0">
                <a:solidFill>
                  <a:srgbClr val="002B11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  <a:r>
              <a:rPr kumimoji="0" lang="en-US" sz="75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. Escalations to Other Teams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E11125EE-06AA-B331-56AC-065D9556003E}"/>
              </a:ext>
            </a:extLst>
          </p:cNvPr>
          <p:cNvSpPr txBox="1"/>
          <p:nvPr/>
        </p:nvSpPr>
        <p:spPr>
          <a:xfrm>
            <a:off x="1141613" y="801147"/>
            <a:ext cx="2013556" cy="3770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07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99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Canada</a:t>
            </a:r>
          </a:p>
        </p:txBody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FCA284D4-77A1-41BC-3D28-E5E0F6A3CEAD}"/>
              </a:ext>
            </a:extLst>
          </p:cNvPr>
          <p:cNvGrpSpPr/>
          <p:nvPr/>
        </p:nvGrpSpPr>
        <p:grpSpPr>
          <a:xfrm>
            <a:off x="14869769" y="660457"/>
            <a:ext cx="2354131" cy="449905"/>
            <a:chOff x="0" y="0"/>
            <a:chExt cx="3138841" cy="599873"/>
          </a:xfrm>
        </p:grpSpPr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61AB2F1A-01C5-5DEE-737C-5530989DB0A5}"/>
                </a:ext>
              </a:extLst>
            </p:cNvPr>
            <p:cNvGrpSpPr/>
            <p:nvPr/>
          </p:nvGrpSpPr>
          <p:grpSpPr>
            <a:xfrm>
              <a:off x="0" y="9544"/>
              <a:ext cx="590328" cy="590328"/>
              <a:chOff x="0" y="0"/>
              <a:chExt cx="812800" cy="812800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1CD21C86-3FA1-4EC3-517F-7AB345F9AF5E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" name="TextBox 15">
                <a:extLst>
                  <a:ext uri="{FF2B5EF4-FFF2-40B4-BE49-F238E27FC236}">
                    <a16:creationId xmlns:a16="http://schemas.microsoft.com/office/drawing/2014/main" id="{6DF84FFB-F023-C27A-2FCE-6B682437677E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6">
              <a:extLst>
                <a:ext uri="{FF2B5EF4-FFF2-40B4-BE49-F238E27FC236}">
                  <a16:creationId xmlns:a16="http://schemas.microsoft.com/office/drawing/2014/main" id="{9A0E51FD-08EC-628B-2774-64DB6413C94B}"/>
                </a:ext>
              </a:extLst>
            </p:cNvPr>
            <p:cNvGrpSpPr/>
            <p:nvPr/>
          </p:nvGrpSpPr>
          <p:grpSpPr>
            <a:xfrm>
              <a:off x="634797" y="9544"/>
              <a:ext cx="590328" cy="590328"/>
              <a:chOff x="0" y="0"/>
              <a:chExt cx="812800" cy="812800"/>
            </a:xfrm>
          </p:grpSpPr>
          <p:sp>
            <p:nvSpPr>
              <p:cNvPr id="17" name="Freeform 17">
                <a:extLst>
                  <a:ext uri="{FF2B5EF4-FFF2-40B4-BE49-F238E27FC236}">
                    <a16:creationId xmlns:a16="http://schemas.microsoft.com/office/drawing/2014/main" id="{63803AE0-9F60-2A23-0589-EA453D884E88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6DF69A2A-4FB9-5C2B-EAAD-4BDA5DDE49E8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id="{8A3E39BB-1B01-F65C-268C-6471E0F7D7D6}"/>
                </a:ext>
              </a:extLst>
            </p:cNvPr>
            <p:cNvGrpSpPr/>
            <p:nvPr/>
          </p:nvGrpSpPr>
          <p:grpSpPr>
            <a:xfrm>
              <a:off x="1275925" y="9544"/>
              <a:ext cx="590328" cy="590328"/>
              <a:chOff x="0" y="0"/>
              <a:chExt cx="812800" cy="812800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DEDB2877-6E2A-C7E9-0AFF-7928DDE6776D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1" name="TextBox 21">
                <a:extLst>
                  <a:ext uri="{FF2B5EF4-FFF2-40B4-BE49-F238E27FC236}">
                    <a16:creationId xmlns:a16="http://schemas.microsoft.com/office/drawing/2014/main" id="{FB7524FC-C974-6B6F-0252-20FC711D111F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2" name="Group 22">
              <a:extLst>
                <a:ext uri="{FF2B5EF4-FFF2-40B4-BE49-F238E27FC236}">
                  <a16:creationId xmlns:a16="http://schemas.microsoft.com/office/drawing/2014/main" id="{74F862AC-4883-FBEF-4EF7-283DE63B3D21}"/>
                </a:ext>
              </a:extLst>
            </p:cNvPr>
            <p:cNvGrpSpPr/>
            <p:nvPr/>
          </p:nvGrpSpPr>
          <p:grpSpPr>
            <a:xfrm>
              <a:off x="1917053" y="0"/>
              <a:ext cx="590328" cy="590328"/>
              <a:chOff x="0" y="0"/>
              <a:chExt cx="812800" cy="812800"/>
            </a:xfrm>
          </p:grpSpPr>
          <p:sp>
            <p:nvSpPr>
              <p:cNvPr id="23" name="Freeform 23">
                <a:extLst>
                  <a:ext uri="{FF2B5EF4-FFF2-40B4-BE49-F238E27FC236}">
                    <a16:creationId xmlns:a16="http://schemas.microsoft.com/office/drawing/2014/main" id="{07ED7E5E-D1E4-1953-C392-CD1C4B33290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4" name="TextBox 24">
                <a:extLst>
                  <a:ext uri="{FF2B5EF4-FFF2-40B4-BE49-F238E27FC236}">
                    <a16:creationId xmlns:a16="http://schemas.microsoft.com/office/drawing/2014/main" id="{8179B54E-CB0E-7FCA-D658-6E8FEE147208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5" name="Group 25">
              <a:extLst>
                <a:ext uri="{FF2B5EF4-FFF2-40B4-BE49-F238E27FC236}">
                  <a16:creationId xmlns:a16="http://schemas.microsoft.com/office/drawing/2014/main" id="{227BF6B7-AFE5-495B-CB21-CBD95EA550BA}"/>
                </a:ext>
              </a:extLst>
            </p:cNvPr>
            <p:cNvGrpSpPr/>
            <p:nvPr/>
          </p:nvGrpSpPr>
          <p:grpSpPr>
            <a:xfrm>
              <a:off x="2548513" y="9544"/>
              <a:ext cx="590328" cy="590328"/>
              <a:chOff x="0" y="0"/>
              <a:chExt cx="812800" cy="812800"/>
            </a:xfrm>
          </p:grpSpPr>
          <p:sp>
            <p:nvSpPr>
              <p:cNvPr id="26" name="Freeform 26">
                <a:extLst>
                  <a:ext uri="{FF2B5EF4-FFF2-40B4-BE49-F238E27FC236}">
                    <a16:creationId xmlns:a16="http://schemas.microsoft.com/office/drawing/2014/main" id="{46C57607-7E44-1846-C47B-D1CB67A154E6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7" name="TextBox 27">
                <a:extLst>
                  <a:ext uri="{FF2B5EF4-FFF2-40B4-BE49-F238E27FC236}">
                    <a16:creationId xmlns:a16="http://schemas.microsoft.com/office/drawing/2014/main" id="{7EC70015-E182-1C66-07C3-7F571EB8796A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76147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0822" y="642094"/>
            <a:ext cx="16144178" cy="18586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279"/>
              </a:lnSpc>
              <a:spcBef>
                <a:spcPct val="0"/>
              </a:spcBef>
            </a:pPr>
            <a:r>
              <a:rPr lang="en-US" sz="519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Investigations Team: High-Risk &amp; Large-Scale Fraud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668795"/>
            <a:ext cx="16497300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INV handles large-scale fraud and high-sensitivity cases that require specialist investigation.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00822" y="3610554"/>
            <a:ext cx="6392987" cy="3772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086"/>
              </a:lnSpc>
              <a:spcBef>
                <a:spcPct val="0"/>
              </a:spcBef>
            </a:pPr>
            <a:r>
              <a:rPr lang="en-US" sz="2204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Mandatory INV escalation topics include: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23257" y="4571581"/>
            <a:ext cx="4610100" cy="1032992"/>
            <a:chOff x="0" y="0"/>
            <a:chExt cx="6862758" cy="1377323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6768860" cy="1312059"/>
              <a:chOff x="0" y="0"/>
              <a:chExt cx="1825079" cy="35376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825079" cy="353769"/>
              </a:xfrm>
              <a:custGeom>
                <a:avLst/>
                <a:gdLst/>
                <a:ahLst/>
                <a:cxnLst/>
                <a:rect l="l" t="t" r="r" b="b"/>
                <a:pathLst>
                  <a:path w="1825079" h="353769">
                    <a:moveTo>
                      <a:pt x="56978" y="0"/>
                    </a:moveTo>
                    <a:lnTo>
                      <a:pt x="1768100" y="0"/>
                    </a:lnTo>
                    <a:cubicBezTo>
                      <a:pt x="1799568" y="0"/>
                      <a:pt x="1825079" y="25510"/>
                      <a:pt x="1825079" y="56978"/>
                    </a:cubicBezTo>
                    <a:lnTo>
                      <a:pt x="1825079" y="296790"/>
                    </a:lnTo>
                    <a:cubicBezTo>
                      <a:pt x="1825079" y="311902"/>
                      <a:pt x="1819075" y="326395"/>
                      <a:pt x="1808390" y="337080"/>
                    </a:cubicBezTo>
                    <a:cubicBezTo>
                      <a:pt x="1797704" y="347766"/>
                      <a:pt x="1783212" y="353769"/>
                      <a:pt x="1768100" y="353769"/>
                    </a:cubicBezTo>
                    <a:lnTo>
                      <a:pt x="56978" y="353769"/>
                    </a:lnTo>
                    <a:cubicBezTo>
                      <a:pt x="41867" y="353769"/>
                      <a:pt x="27374" y="347766"/>
                      <a:pt x="16689" y="337080"/>
                    </a:cubicBezTo>
                    <a:cubicBezTo>
                      <a:pt x="6003" y="326395"/>
                      <a:pt x="0" y="311902"/>
                      <a:pt x="0" y="296790"/>
                    </a:cubicBezTo>
                    <a:lnTo>
                      <a:pt x="0" y="56978"/>
                    </a:lnTo>
                    <a:cubicBezTo>
                      <a:pt x="0" y="41867"/>
                      <a:pt x="6003" y="27374"/>
                      <a:pt x="16689" y="16689"/>
                    </a:cubicBezTo>
                    <a:cubicBezTo>
                      <a:pt x="27374" y="6003"/>
                      <a:pt x="41867" y="0"/>
                      <a:pt x="56978" y="0"/>
                    </a:cubicBezTo>
                    <a:close/>
                  </a:path>
                </a:pathLst>
              </a:custGeom>
              <a:solidFill>
                <a:srgbClr val="00BF6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1825079" cy="40139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6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93898" y="65264"/>
              <a:ext cx="6768860" cy="1312059"/>
              <a:chOff x="0" y="0"/>
              <a:chExt cx="1825079" cy="353769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825079" cy="353769"/>
              </a:xfrm>
              <a:custGeom>
                <a:avLst/>
                <a:gdLst/>
                <a:ahLst/>
                <a:cxnLst/>
                <a:rect l="l" t="t" r="r" b="b"/>
                <a:pathLst>
                  <a:path w="1825079" h="353769">
                    <a:moveTo>
                      <a:pt x="56978" y="0"/>
                    </a:moveTo>
                    <a:lnTo>
                      <a:pt x="1768100" y="0"/>
                    </a:lnTo>
                    <a:cubicBezTo>
                      <a:pt x="1799568" y="0"/>
                      <a:pt x="1825079" y="25510"/>
                      <a:pt x="1825079" y="56978"/>
                    </a:cubicBezTo>
                    <a:lnTo>
                      <a:pt x="1825079" y="296790"/>
                    </a:lnTo>
                    <a:cubicBezTo>
                      <a:pt x="1825079" y="311902"/>
                      <a:pt x="1819075" y="326395"/>
                      <a:pt x="1808390" y="337080"/>
                    </a:cubicBezTo>
                    <a:cubicBezTo>
                      <a:pt x="1797704" y="347766"/>
                      <a:pt x="1783212" y="353769"/>
                      <a:pt x="1768100" y="353769"/>
                    </a:cubicBezTo>
                    <a:lnTo>
                      <a:pt x="56978" y="353769"/>
                    </a:lnTo>
                    <a:cubicBezTo>
                      <a:pt x="41867" y="353769"/>
                      <a:pt x="27374" y="347766"/>
                      <a:pt x="16689" y="337080"/>
                    </a:cubicBezTo>
                    <a:cubicBezTo>
                      <a:pt x="6003" y="326395"/>
                      <a:pt x="0" y="311902"/>
                      <a:pt x="0" y="296790"/>
                    </a:cubicBezTo>
                    <a:lnTo>
                      <a:pt x="0" y="56978"/>
                    </a:lnTo>
                    <a:cubicBezTo>
                      <a:pt x="0" y="41867"/>
                      <a:pt x="6003" y="27374"/>
                      <a:pt x="16689" y="16689"/>
                    </a:cubicBezTo>
                    <a:cubicBezTo>
                      <a:pt x="27374" y="6003"/>
                      <a:pt x="41867" y="0"/>
                      <a:pt x="569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40A635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1825079" cy="40139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6"/>
                  </a:lnSpc>
                </a:pPr>
                <a:endParaRPr/>
              </a:p>
            </p:txBody>
          </p:sp>
        </p:grpSp>
      </p:grpSp>
      <p:sp>
        <p:nvSpPr>
          <p:cNvPr id="12" name="TextBox 12"/>
          <p:cNvSpPr txBox="1"/>
          <p:nvPr/>
        </p:nvSpPr>
        <p:spPr>
          <a:xfrm>
            <a:off x="1023257" y="4929735"/>
            <a:ext cx="4610100" cy="3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sz="21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Impersonation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1430000" y="5171855"/>
            <a:ext cx="6477000" cy="2366769"/>
            <a:chOff x="0" y="0"/>
            <a:chExt cx="1866748" cy="101885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866748" cy="1018858"/>
            </a:xfrm>
            <a:custGeom>
              <a:avLst/>
              <a:gdLst/>
              <a:ahLst/>
              <a:cxnLst/>
              <a:rect l="l" t="t" r="r" b="b"/>
              <a:pathLst>
                <a:path w="1866748" h="1018858">
                  <a:moveTo>
                    <a:pt x="55707" y="0"/>
                  </a:moveTo>
                  <a:lnTo>
                    <a:pt x="1811042" y="0"/>
                  </a:lnTo>
                  <a:cubicBezTo>
                    <a:pt x="1825816" y="0"/>
                    <a:pt x="1839985" y="5869"/>
                    <a:pt x="1850432" y="16316"/>
                  </a:cubicBezTo>
                  <a:cubicBezTo>
                    <a:pt x="1860879" y="26763"/>
                    <a:pt x="1866748" y="40932"/>
                    <a:pt x="1866748" y="55707"/>
                  </a:cubicBezTo>
                  <a:lnTo>
                    <a:pt x="1866748" y="963152"/>
                  </a:lnTo>
                  <a:cubicBezTo>
                    <a:pt x="1866748" y="993918"/>
                    <a:pt x="1841808" y="1018858"/>
                    <a:pt x="1811042" y="1018858"/>
                  </a:cubicBezTo>
                  <a:lnTo>
                    <a:pt x="55707" y="1018858"/>
                  </a:lnTo>
                  <a:cubicBezTo>
                    <a:pt x="24941" y="1018858"/>
                    <a:pt x="0" y="993918"/>
                    <a:pt x="0" y="963152"/>
                  </a:cubicBezTo>
                  <a:lnTo>
                    <a:pt x="0" y="55707"/>
                  </a:lnTo>
                  <a:cubicBezTo>
                    <a:pt x="0" y="24941"/>
                    <a:pt x="24941" y="0"/>
                    <a:pt x="55707" y="0"/>
                  </a:cubicBezTo>
                  <a:close/>
                </a:path>
              </a:pathLst>
            </a:custGeom>
            <a:solidFill>
              <a:srgbClr val="FFDE59">
                <a:alpha val="61569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1866748" cy="10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6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126291" y="4920992"/>
            <a:ext cx="788488" cy="788488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27366" tIns="27366" rIns="27366" bIns="27366" rtlCol="0" anchor="ctr"/>
            <a:lstStyle/>
            <a:p>
              <a:pPr algn="ctr">
                <a:lnSpc>
                  <a:spcPts val="2806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1261608" y="5024757"/>
            <a:ext cx="517856" cy="462618"/>
          </a:xfrm>
          <a:custGeom>
            <a:avLst/>
            <a:gdLst/>
            <a:ahLst/>
            <a:cxnLst/>
            <a:rect l="l" t="t" r="r" b="b"/>
            <a:pathLst>
              <a:path w="517856" h="462618">
                <a:moveTo>
                  <a:pt x="0" y="0"/>
                </a:moveTo>
                <a:lnTo>
                  <a:pt x="517855" y="0"/>
                </a:lnTo>
                <a:lnTo>
                  <a:pt x="517855" y="462617"/>
                </a:lnTo>
                <a:lnTo>
                  <a:pt x="0" y="4626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12892262" y="5480776"/>
            <a:ext cx="3765947" cy="406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2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Important exception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786025" y="6151752"/>
            <a:ext cx="5739975" cy="12187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9"/>
              </a:lnSpc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Never overturn an INV removal.</a:t>
            </a:r>
          </a:p>
          <a:p>
            <a:pPr algn="ctr">
              <a:lnSpc>
                <a:spcPts val="2399"/>
              </a:lnSpc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If you believe INV removed something incorrectly:</a:t>
            </a:r>
          </a:p>
          <a:p>
            <a:pPr algn="ctr">
              <a:lnSpc>
                <a:spcPts val="2399"/>
              </a:lnSpc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➡️ Escalate to FS Tier 2.</a:t>
            </a:r>
          </a:p>
          <a:p>
            <a:pPr algn="ctr">
              <a:lnSpc>
                <a:spcPts val="2399"/>
              </a:lnSpc>
              <a:spcBef>
                <a:spcPct val="0"/>
              </a:spcBef>
            </a:pPr>
            <a:endParaRPr lang="en-US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3" name="Group 5">
            <a:extLst>
              <a:ext uri="{FF2B5EF4-FFF2-40B4-BE49-F238E27FC236}">
                <a16:creationId xmlns:a16="http://schemas.microsoft.com/office/drawing/2014/main" id="{5156D77C-A129-9FA8-E7F7-2557EB6847A2}"/>
              </a:ext>
            </a:extLst>
          </p:cNvPr>
          <p:cNvGrpSpPr/>
          <p:nvPr/>
        </p:nvGrpSpPr>
        <p:grpSpPr>
          <a:xfrm>
            <a:off x="1025116" y="5702881"/>
            <a:ext cx="4610100" cy="1032992"/>
            <a:chOff x="0" y="0"/>
            <a:chExt cx="6862758" cy="1377323"/>
          </a:xfrm>
        </p:grpSpPr>
        <p:grpSp>
          <p:nvGrpSpPr>
            <p:cNvPr id="24" name="Group 6">
              <a:extLst>
                <a:ext uri="{FF2B5EF4-FFF2-40B4-BE49-F238E27FC236}">
                  <a16:creationId xmlns:a16="http://schemas.microsoft.com/office/drawing/2014/main" id="{8146E802-F1E3-D6EB-E6A3-09EFC122F821}"/>
                </a:ext>
              </a:extLst>
            </p:cNvPr>
            <p:cNvGrpSpPr/>
            <p:nvPr/>
          </p:nvGrpSpPr>
          <p:grpSpPr>
            <a:xfrm>
              <a:off x="0" y="0"/>
              <a:ext cx="6768860" cy="1312059"/>
              <a:chOff x="0" y="0"/>
              <a:chExt cx="1825079" cy="353769"/>
            </a:xfrm>
          </p:grpSpPr>
          <p:sp>
            <p:nvSpPr>
              <p:cNvPr id="28" name="Freeform 7">
                <a:extLst>
                  <a:ext uri="{FF2B5EF4-FFF2-40B4-BE49-F238E27FC236}">
                    <a16:creationId xmlns:a16="http://schemas.microsoft.com/office/drawing/2014/main" id="{38D44A25-0408-DEC4-FEC7-F5C951FC962A}"/>
                  </a:ext>
                </a:extLst>
              </p:cNvPr>
              <p:cNvSpPr/>
              <p:nvPr/>
            </p:nvSpPr>
            <p:spPr>
              <a:xfrm>
                <a:off x="0" y="0"/>
                <a:ext cx="1825079" cy="353769"/>
              </a:xfrm>
              <a:custGeom>
                <a:avLst/>
                <a:gdLst/>
                <a:ahLst/>
                <a:cxnLst/>
                <a:rect l="l" t="t" r="r" b="b"/>
                <a:pathLst>
                  <a:path w="1825079" h="353769">
                    <a:moveTo>
                      <a:pt x="56978" y="0"/>
                    </a:moveTo>
                    <a:lnTo>
                      <a:pt x="1768100" y="0"/>
                    </a:lnTo>
                    <a:cubicBezTo>
                      <a:pt x="1799568" y="0"/>
                      <a:pt x="1825079" y="25510"/>
                      <a:pt x="1825079" y="56978"/>
                    </a:cubicBezTo>
                    <a:lnTo>
                      <a:pt x="1825079" y="296790"/>
                    </a:lnTo>
                    <a:cubicBezTo>
                      <a:pt x="1825079" y="311902"/>
                      <a:pt x="1819075" y="326395"/>
                      <a:pt x="1808390" y="337080"/>
                    </a:cubicBezTo>
                    <a:cubicBezTo>
                      <a:pt x="1797704" y="347766"/>
                      <a:pt x="1783212" y="353769"/>
                      <a:pt x="1768100" y="353769"/>
                    </a:cubicBezTo>
                    <a:lnTo>
                      <a:pt x="56978" y="353769"/>
                    </a:lnTo>
                    <a:cubicBezTo>
                      <a:pt x="41867" y="353769"/>
                      <a:pt x="27374" y="347766"/>
                      <a:pt x="16689" y="337080"/>
                    </a:cubicBezTo>
                    <a:cubicBezTo>
                      <a:pt x="6003" y="326395"/>
                      <a:pt x="0" y="311902"/>
                      <a:pt x="0" y="296790"/>
                    </a:cubicBezTo>
                    <a:lnTo>
                      <a:pt x="0" y="56978"/>
                    </a:lnTo>
                    <a:cubicBezTo>
                      <a:pt x="0" y="41867"/>
                      <a:pt x="6003" y="27374"/>
                      <a:pt x="16689" y="16689"/>
                    </a:cubicBezTo>
                    <a:cubicBezTo>
                      <a:pt x="27374" y="6003"/>
                      <a:pt x="41867" y="0"/>
                      <a:pt x="56978" y="0"/>
                    </a:cubicBezTo>
                    <a:close/>
                  </a:path>
                </a:pathLst>
              </a:custGeom>
              <a:solidFill>
                <a:srgbClr val="00BF6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TextBox 8">
                <a:extLst>
                  <a:ext uri="{FF2B5EF4-FFF2-40B4-BE49-F238E27FC236}">
                    <a16:creationId xmlns:a16="http://schemas.microsoft.com/office/drawing/2014/main" id="{CB46006A-33BF-A765-1B12-89DCF5280E26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825079" cy="40139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6"/>
                  </a:lnSpc>
                </a:pPr>
                <a:endParaRPr/>
              </a:p>
            </p:txBody>
          </p:sp>
        </p:grpSp>
        <p:grpSp>
          <p:nvGrpSpPr>
            <p:cNvPr id="25" name="Group 9">
              <a:extLst>
                <a:ext uri="{FF2B5EF4-FFF2-40B4-BE49-F238E27FC236}">
                  <a16:creationId xmlns:a16="http://schemas.microsoft.com/office/drawing/2014/main" id="{17CB5D91-D5B8-1DDA-6C35-5F1517B2E794}"/>
                </a:ext>
              </a:extLst>
            </p:cNvPr>
            <p:cNvGrpSpPr/>
            <p:nvPr/>
          </p:nvGrpSpPr>
          <p:grpSpPr>
            <a:xfrm>
              <a:off x="93898" y="65264"/>
              <a:ext cx="6768860" cy="1312059"/>
              <a:chOff x="0" y="0"/>
              <a:chExt cx="1825079" cy="353769"/>
            </a:xfrm>
          </p:grpSpPr>
          <p:sp>
            <p:nvSpPr>
              <p:cNvPr id="26" name="Freeform 10">
                <a:extLst>
                  <a:ext uri="{FF2B5EF4-FFF2-40B4-BE49-F238E27FC236}">
                    <a16:creationId xmlns:a16="http://schemas.microsoft.com/office/drawing/2014/main" id="{3525B393-D8F3-5281-CE1E-8A0883B01848}"/>
                  </a:ext>
                </a:extLst>
              </p:cNvPr>
              <p:cNvSpPr/>
              <p:nvPr/>
            </p:nvSpPr>
            <p:spPr>
              <a:xfrm>
                <a:off x="0" y="0"/>
                <a:ext cx="1825079" cy="353769"/>
              </a:xfrm>
              <a:custGeom>
                <a:avLst/>
                <a:gdLst/>
                <a:ahLst/>
                <a:cxnLst/>
                <a:rect l="l" t="t" r="r" b="b"/>
                <a:pathLst>
                  <a:path w="1825079" h="353769">
                    <a:moveTo>
                      <a:pt x="56978" y="0"/>
                    </a:moveTo>
                    <a:lnTo>
                      <a:pt x="1768100" y="0"/>
                    </a:lnTo>
                    <a:cubicBezTo>
                      <a:pt x="1799568" y="0"/>
                      <a:pt x="1825079" y="25510"/>
                      <a:pt x="1825079" y="56978"/>
                    </a:cubicBezTo>
                    <a:lnTo>
                      <a:pt x="1825079" y="296790"/>
                    </a:lnTo>
                    <a:cubicBezTo>
                      <a:pt x="1825079" y="311902"/>
                      <a:pt x="1819075" y="326395"/>
                      <a:pt x="1808390" y="337080"/>
                    </a:cubicBezTo>
                    <a:cubicBezTo>
                      <a:pt x="1797704" y="347766"/>
                      <a:pt x="1783212" y="353769"/>
                      <a:pt x="1768100" y="353769"/>
                    </a:cubicBezTo>
                    <a:lnTo>
                      <a:pt x="56978" y="353769"/>
                    </a:lnTo>
                    <a:cubicBezTo>
                      <a:pt x="41867" y="353769"/>
                      <a:pt x="27374" y="347766"/>
                      <a:pt x="16689" y="337080"/>
                    </a:cubicBezTo>
                    <a:cubicBezTo>
                      <a:pt x="6003" y="326395"/>
                      <a:pt x="0" y="311902"/>
                      <a:pt x="0" y="296790"/>
                    </a:cubicBezTo>
                    <a:lnTo>
                      <a:pt x="0" y="56978"/>
                    </a:lnTo>
                    <a:cubicBezTo>
                      <a:pt x="0" y="41867"/>
                      <a:pt x="6003" y="27374"/>
                      <a:pt x="16689" y="16689"/>
                    </a:cubicBezTo>
                    <a:cubicBezTo>
                      <a:pt x="27374" y="6003"/>
                      <a:pt x="41867" y="0"/>
                      <a:pt x="569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40A635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TextBox 11">
                <a:extLst>
                  <a:ext uri="{FF2B5EF4-FFF2-40B4-BE49-F238E27FC236}">
                    <a16:creationId xmlns:a16="http://schemas.microsoft.com/office/drawing/2014/main" id="{85C34F06-21AE-55F1-4809-B4AEE04BAA77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825079" cy="40139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6"/>
                  </a:lnSpc>
                </a:pPr>
                <a:endParaRPr/>
              </a:p>
            </p:txBody>
          </p:sp>
        </p:grpSp>
      </p:grpSp>
      <p:sp>
        <p:nvSpPr>
          <p:cNvPr id="30" name="TextBox 12">
            <a:extLst>
              <a:ext uri="{FF2B5EF4-FFF2-40B4-BE49-F238E27FC236}">
                <a16:creationId xmlns:a16="http://schemas.microsoft.com/office/drawing/2014/main" id="{5BC5B695-2E55-1586-B293-735F1AAD535B}"/>
              </a:ext>
            </a:extLst>
          </p:cNvPr>
          <p:cNvSpPr txBox="1"/>
          <p:nvPr/>
        </p:nvSpPr>
        <p:spPr>
          <a:xfrm>
            <a:off x="1025116" y="6061035"/>
            <a:ext cx="4610100" cy="3170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9"/>
              </a:lnSpc>
              <a:spcBef>
                <a:spcPct val="0"/>
              </a:spcBef>
            </a:pPr>
            <a:r>
              <a:rPr lang="en-US" sz="2199" dirty="0">
                <a:solidFill>
                  <a:srgbClr val="000000"/>
                </a:solidFill>
                <a:latin typeface="Poppins"/>
                <a:cs typeface="Poppins"/>
                <a:sym typeface="Poppins"/>
              </a:rPr>
              <a:t>Red Badge cases</a:t>
            </a:r>
          </a:p>
        </p:txBody>
      </p:sp>
      <p:grpSp>
        <p:nvGrpSpPr>
          <p:cNvPr id="31" name="Group 5">
            <a:extLst>
              <a:ext uri="{FF2B5EF4-FFF2-40B4-BE49-F238E27FC236}">
                <a16:creationId xmlns:a16="http://schemas.microsoft.com/office/drawing/2014/main" id="{1D6341EB-C40B-FC57-9F43-57644BF41CC8}"/>
              </a:ext>
            </a:extLst>
          </p:cNvPr>
          <p:cNvGrpSpPr/>
          <p:nvPr/>
        </p:nvGrpSpPr>
        <p:grpSpPr>
          <a:xfrm>
            <a:off x="1023257" y="6819399"/>
            <a:ext cx="4610100" cy="1032992"/>
            <a:chOff x="0" y="0"/>
            <a:chExt cx="6862758" cy="1377323"/>
          </a:xfrm>
        </p:grpSpPr>
        <p:grpSp>
          <p:nvGrpSpPr>
            <p:cNvPr id="32" name="Group 6">
              <a:extLst>
                <a:ext uri="{FF2B5EF4-FFF2-40B4-BE49-F238E27FC236}">
                  <a16:creationId xmlns:a16="http://schemas.microsoft.com/office/drawing/2014/main" id="{1AF98A9C-377D-A1EA-1C4A-83422AB1453A}"/>
                </a:ext>
              </a:extLst>
            </p:cNvPr>
            <p:cNvGrpSpPr/>
            <p:nvPr/>
          </p:nvGrpSpPr>
          <p:grpSpPr>
            <a:xfrm>
              <a:off x="0" y="0"/>
              <a:ext cx="6768860" cy="1312059"/>
              <a:chOff x="0" y="0"/>
              <a:chExt cx="1825079" cy="353769"/>
            </a:xfrm>
          </p:grpSpPr>
          <p:sp>
            <p:nvSpPr>
              <p:cNvPr id="36" name="Freeform 7">
                <a:extLst>
                  <a:ext uri="{FF2B5EF4-FFF2-40B4-BE49-F238E27FC236}">
                    <a16:creationId xmlns:a16="http://schemas.microsoft.com/office/drawing/2014/main" id="{131FF047-F364-6004-75D0-EF6717B02407}"/>
                  </a:ext>
                </a:extLst>
              </p:cNvPr>
              <p:cNvSpPr/>
              <p:nvPr/>
            </p:nvSpPr>
            <p:spPr>
              <a:xfrm>
                <a:off x="0" y="0"/>
                <a:ext cx="1825079" cy="353769"/>
              </a:xfrm>
              <a:custGeom>
                <a:avLst/>
                <a:gdLst/>
                <a:ahLst/>
                <a:cxnLst/>
                <a:rect l="l" t="t" r="r" b="b"/>
                <a:pathLst>
                  <a:path w="1825079" h="353769">
                    <a:moveTo>
                      <a:pt x="56978" y="0"/>
                    </a:moveTo>
                    <a:lnTo>
                      <a:pt x="1768100" y="0"/>
                    </a:lnTo>
                    <a:cubicBezTo>
                      <a:pt x="1799568" y="0"/>
                      <a:pt x="1825079" y="25510"/>
                      <a:pt x="1825079" y="56978"/>
                    </a:cubicBezTo>
                    <a:lnTo>
                      <a:pt x="1825079" y="296790"/>
                    </a:lnTo>
                    <a:cubicBezTo>
                      <a:pt x="1825079" y="311902"/>
                      <a:pt x="1819075" y="326395"/>
                      <a:pt x="1808390" y="337080"/>
                    </a:cubicBezTo>
                    <a:cubicBezTo>
                      <a:pt x="1797704" y="347766"/>
                      <a:pt x="1783212" y="353769"/>
                      <a:pt x="1768100" y="353769"/>
                    </a:cubicBezTo>
                    <a:lnTo>
                      <a:pt x="56978" y="353769"/>
                    </a:lnTo>
                    <a:cubicBezTo>
                      <a:pt x="41867" y="353769"/>
                      <a:pt x="27374" y="347766"/>
                      <a:pt x="16689" y="337080"/>
                    </a:cubicBezTo>
                    <a:cubicBezTo>
                      <a:pt x="6003" y="326395"/>
                      <a:pt x="0" y="311902"/>
                      <a:pt x="0" y="296790"/>
                    </a:cubicBezTo>
                    <a:lnTo>
                      <a:pt x="0" y="56978"/>
                    </a:lnTo>
                    <a:cubicBezTo>
                      <a:pt x="0" y="41867"/>
                      <a:pt x="6003" y="27374"/>
                      <a:pt x="16689" y="16689"/>
                    </a:cubicBezTo>
                    <a:cubicBezTo>
                      <a:pt x="27374" y="6003"/>
                      <a:pt x="41867" y="0"/>
                      <a:pt x="56978" y="0"/>
                    </a:cubicBezTo>
                    <a:close/>
                  </a:path>
                </a:pathLst>
              </a:custGeom>
              <a:solidFill>
                <a:srgbClr val="00BF6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TextBox 8">
                <a:extLst>
                  <a:ext uri="{FF2B5EF4-FFF2-40B4-BE49-F238E27FC236}">
                    <a16:creationId xmlns:a16="http://schemas.microsoft.com/office/drawing/2014/main" id="{6FC71898-472C-EACB-2BA6-A55D142B3ADC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825079" cy="40139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6"/>
                  </a:lnSpc>
                </a:pPr>
                <a:endParaRPr/>
              </a:p>
            </p:txBody>
          </p:sp>
        </p:grpSp>
        <p:grpSp>
          <p:nvGrpSpPr>
            <p:cNvPr id="33" name="Group 9">
              <a:extLst>
                <a:ext uri="{FF2B5EF4-FFF2-40B4-BE49-F238E27FC236}">
                  <a16:creationId xmlns:a16="http://schemas.microsoft.com/office/drawing/2014/main" id="{2FF79BCC-019E-15F8-67DF-28CD9D5562EC}"/>
                </a:ext>
              </a:extLst>
            </p:cNvPr>
            <p:cNvGrpSpPr/>
            <p:nvPr/>
          </p:nvGrpSpPr>
          <p:grpSpPr>
            <a:xfrm>
              <a:off x="93898" y="65264"/>
              <a:ext cx="6768860" cy="1312059"/>
              <a:chOff x="0" y="0"/>
              <a:chExt cx="1825079" cy="353769"/>
            </a:xfrm>
          </p:grpSpPr>
          <p:sp>
            <p:nvSpPr>
              <p:cNvPr id="34" name="Freeform 10">
                <a:extLst>
                  <a:ext uri="{FF2B5EF4-FFF2-40B4-BE49-F238E27FC236}">
                    <a16:creationId xmlns:a16="http://schemas.microsoft.com/office/drawing/2014/main" id="{A4CF36FB-A2BE-A58E-6F0D-BB2119E953EC}"/>
                  </a:ext>
                </a:extLst>
              </p:cNvPr>
              <p:cNvSpPr/>
              <p:nvPr/>
            </p:nvSpPr>
            <p:spPr>
              <a:xfrm>
                <a:off x="0" y="0"/>
                <a:ext cx="1825079" cy="353769"/>
              </a:xfrm>
              <a:custGeom>
                <a:avLst/>
                <a:gdLst/>
                <a:ahLst/>
                <a:cxnLst/>
                <a:rect l="l" t="t" r="r" b="b"/>
                <a:pathLst>
                  <a:path w="1825079" h="353769">
                    <a:moveTo>
                      <a:pt x="56978" y="0"/>
                    </a:moveTo>
                    <a:lnTo>
                      <a:pt x="1768100" y="0"/>
                    </a:lnTo>
                    <a:cubicBezTo>
                      <a:pt x="1799568" y="0"/>
                      <a:pt x="1825079" y="25510"/>
                      <a:pt x="1825079" y="56978"/>
                    </a:cubicBezTo>
                    <a:lnTo>
                      <a:pt x="1825079" y="296790"/>
                    </a:lnTo>
                    <a:cubicBezTo>
                      <a:pt x="1825079" y="311902"/>
                      <a:pt x="1819075" y="326395"/>
                      <a:pt x="1808390" y="337080"/>
                    </a:cubicBezTo>
                    <a:cubicBezTo>
                      <a:pt x="1797704" y="347766"/>
                      <a:pt x="1783212" y="353769"/>
                      <a:pt x="1768100" y="353769"/>
                    </a:cubicBezTo>
                    <a:lnTo>
                      <a:pt x="56978" y="353769"/>
                    </a:lnTo>
                    <a:cubicBezTo>
                      <a:pt x="41867" y="353769"/>
                      <a:pt x="27374" y="347766"/>
                      <a:pt x="16689" y="337080"/>
                    </a:cubicBezTo>
                    <a:cubicBezTo>
                      <a:pt x="6003" y="326395"/>
                      <a:pt x="0" y="311902"/>
                      <a:pt x="0" y="296790"/>
                    </a:cubicBezTo>
                    <a:lnTo>
                      <a:pt x="0" y="56978"/>
                    </a:lnTo>
                    <a:cubicBezTo>
                      <a:pt x="0" y="41867"/>
                      <a:pt x="6003" y="27374"/>
                      <a:pt x="16689" y="16689"/>
                    </a:cubicBezTo>
                    <a:cubicBezTo>
                      <a:pt x="27374" y="6003"/>
                      <a:pt x="41867" y="0"/>
                      <a:pt x="569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40A635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TextBox 11">
                <a:extLst>
                  <a:ext uri="{FF2B5EF4-FFF2-40B4-BE49-F238E27FC236}">
                    <a16:creationId xmlns:a16="http://schemas.microsoft.com/office/drawing/2014/main" id="{51AF0356-C48E-4DE3-B22B-995C8B5EA8B2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825079" cy="40139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6"/>
                  </a:lnSpc>
                </a:pPr>
                <a:endParaRPr/>
              </a:p>
            </p:txBody>
          </p:sp>
        </p:grpSp>
      </p:grpSp>
      <p:sp>
        <p:nvSpPr>
          <p:cNvPr id="38" name="TextBox 12">
            <a:extLst>
              <a:ext uri="{FF2B5EF4-FFF2-40B4-BE49-F238E27FC236}">
                <a16:creationId xmlns:a16="http://schemas.microsoft.com/office/drawing/2014/main" id="{FAB01C3A-022C-25EA-89DE-A8E5B05CEEBD}"/>
              </a:ext>
            </a:extLst>
          </p:cNvPr>
          <p:cNvSpPr txBox="1"/>
          <p:nvPr/>
        </p:nvSpPr>
        <p:spPr>
          <a:xfrm>
            <a:off x="1023257" y="7210392"/>
            <a:ext cx="4610100" cy="3170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9"/>
              </a:lnSpc>
              <a:spcBef>
                <a:spcPct val="0"/>
              </a:spcBef>
            </a:pPr>
            <a:r>
              <a:rPr lang="en-US" sz="2199" dirty="0">
                <a:solidFill>
                  <a:srgbClr val="000000"/>
                </a:solidFill>
                <a:latin typeface="Poppins"/>
                <a:cs typeface="Poppins"/>
                <a:sym typeface="Poppins"/>
              </a:rPr>
              <a:t>Media / Lockdown badges</a:t>
            </a:r>
          </a:p>
        </p:txBody>
      </p:sp>
      <p:grpSp>
        <p:nvGrpSpPr>
          <p:cNvPr id="39" name="Group 5">
            <a:extLst>
              <a:ext uri="{FF2B5EF4-FFF2-40B4-BE49-F238E27FC236}">
                <a16:creationId xmlns:a16="http://schemas.microsoft.com/office/drawing/2014/main" id="{32A4CA0E-903A-91C5-DFFB-4AD176E2BC23}"/>
              </a:ext>
            </a:extLst>
          </p:cNvPr>
          <p:cNvGrpSpPr/>
          <p:nvPr/>
        </p:nvGrpSpPr>
        <p:grpSpPr>
          <a:xfrm>
            <a:off x="1023257" y="7953878"/>
            <a:ext cx="4610100" cy="1032992"/>
            <a:chOff x="0" y="0"/>
            <a:chExt cx="6862758" cy="1377323"/>
          </a:xfrm>
        </p:grpSpPr>
        <p:grpSp>
          <p:nvGrpSpPr>
            <p:cNvPr id="40" name="Group 6">
              <a:extLst>
                <a:ext uri="{FF2B5EF4-FFF2-40B4-BE49-F238E27FC236}">
                  <a16:creationId xmlns:a16="http://schemas.microsoft.com/office/drawing/2014/main" id="{776B3B40-61DB-103D-FDE1-7DE2484A994D}"/>
                </a:ext>
              </a:extLst>
            </p:cNvPr>
            <p:cNvGrpSpPr/>
            <p:nvPr/>
          </p:nvGrpSpPr>
          <p:grpSpPr>
            <a:xfrm>
              <a:off x="0" y="0"/>
              <a:ext cx="6768860" cy="1312059"/>
              <a:chOff x="0" y="0"/>
              <a:chExt cx="1825079" cy="353769"/>
            </a:xfrm>
          </p:grpSpPr>
          <p:sp>
            <p:nvSpPr>
              <p:cNvPr id="44" name="Freeform 7">
                <a:extLst>
                  <a:ext uri="{FF2B5EF4-FFF2-40B4-BE49-F238E27FC236}">
                    <a16:creationId xmlns:a16="http://schemas.microsoft.com/office/drawing/2014/main" id="{5DE7160B-A22C-0459-B4FF-910ABDF85AD7}"/>
                  </a:ext>
                </a:extLst>
              </p:cNvPr>
              <p:cNvSpPr/>
              <p:nvPr/>
            </p:nvSpPr>
            <p:spPr>
              <a:xfrm>
                <a:off x="0" y="0"/>
                <a:ext cx="1825079" cy="353769"/>
              </a:xfrm>
              <a:custGeom>
                <a:avLst/>
                <a:gdLst/>
                <a:ahLst/>
                <a:cxnLst/>
                <a:rect l="l" t="t" r="r" b="b"/>
                <a:pathLst>
                  <a:path w="1825079" h="353769">
                    <a:moveTo>
                      <a:pt x="56978" y="0"/>
                    </a:moveTo>
                    <a:lnTo>
                      <a:pt x="1768100" y="0"/>
                    </a:lnTo>
                    <a:cubicBezTo>
                      <a:pt x="1799568" y="0"/>
                      <a:pt x="1825079" y="25510"/>
                      <a:pt x="1825079" y="56978"/>
                    </a:cubicBezTo>
                    <a:lnTo>
                      <a:pt x="1825079" y="296790"/>
                    </a:lnTo>
                    <a:cubicBezTo>
                      <a:pt x="1825079" y="311902"/>
                      <a:pt x="1819075" y="326395"/>
                      <a:pt x="1808390" y="337080"/>
                    </a:cubicBezTo>
                    <a:cubicBezTo>
                      <a:pt x="1797704" y="347766"/>
                      <a:pt x="1783212" y="353769"/>
                      <a:pt x="1768100" y="353769"/>
                    </a:cubicBezTo>
                    <a:lnTo>
                      <a:pt x="56978" y="353769"/>
                    </a:lnTo>
                    <a:cubicBezTo>
                      <a:pt x="41867" y="353769"/>
                      <a:pt x="27374" y="347766"/>
                      <a:pt x="16689" y="337080"/>
                    </a:cubicBezTo>
                    <a:cubicBezTo>
                      <a:pt x="6003" y="326395"/>
                      <a:pt x="0" y="311902"/>
                      <a:pt x="0" y="296790"/>
                    </a:cubicBezTo>
                    <a:lnTo>
                      <a:pt x="0" y="56978"/>
                    </a:lnTo>
                    <a:cubicBezTo>
                      <a:pt x="0" y="41867"/>
                      <a:pt x="6003" y="27374"/>
                      <a:pt x="16689" y="16689"/>
                    </a:cubicBezTo>
                    <a:cubicBezTo>
                      <a:pt x="27374" y="6003"/>
                      <a:pt x="41867" y="0"/>
                      <a:pt x="56978" y="0"/>
                    </a:cubicBezTo>
                    <a:close/>
                  </a:path>
                </a:pathLst>
              </a:custGeom>
              <a:solidFill>
                <a:srgbClr val="00BF6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TextBox 8">
                <a:extLst>
                  <a:ext uri="{FF2B5EF4-FFF2-40B4-BE49-F238E27FC236}">
                    <a16:creationId xmlns:a16="http://schemas.microsoft.com/office/drawing/2014/main" id="{0DE04666-B914-4BC3-44D4-7BE224190CFA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825079" cy="40139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6"/>
                  </a:lnSpc>
                </a:pPr>
                <a:endParaRPr/>
              </a:p>
            </p:txBody>
          </p:sp>
        </p:grpSp>
        <p:grpSp>
          <p:nvGrpSpPr>
            <p:cNvPr id="41" name="Group 9">
              <a:extLst>
                <a:ext uri="{FF2B5EF4-FFF2-40B4-BE49-F238E27FC236}">
                  <a16:creationId xmlns:a16="http://schemas.microsoft.com/office/drawing/2014/main" id="{A8B19914-ECC9-26C7-53A2-8A97DB4DEB6A}"/>
                </a:ext>
              </a:extLst>
            </p:cNvPr>
            <p:cNvGrpSpPr/>
            <p:nvPr/>
          </p:nvGrpSpPr>
          <p:grpSpPr>
            <a:xfrm>
              <a:off x="93898" y="65264"/>
              <a:ext cx="6768860" cy="1312059"/>
              <a:chOff x="0" y="0"/>
              <a:chExt cx="1825079" cy="353769"/>
            </a:xfrm>
          </p:grpSpPr>
          <p:sp>
            <p:nvSpPr>
              <p:cNvPr id="42" name="Freeform 10">
                <a:extLst>
                  <a:ext uri="{FF2B5EF4-FFF2-40B4-BE49-F238E27FC236}">
                    <a16:creationId xmlns:a16="http://schemas.microsoft.com/office/drawing/2014/main" id="{4A329AFB-331F-C6DA-6E2D-A9C8A91DF245}"/>
                  </a:ext>
                </a:extLst>
              </p:cNvPr>
              <p:cNvSpPr/>
              <p:nvPr/>
            </p:nvSpPr>
            <p:spPr>
              <a:xfrm>
                <a:off x="0" y="0"/>
                <a:ext cx="1825079" cy="353769"/>
              </a:xfrm>
              <a:custGeom>
                <a:avLst/>
                <a:gdLst/>
                <a:ahLst/>
                <a:cxnLst/>
                <a:rect l="l" t="t" r="r" b="b"/>
                <a:pathLst>
                  <a:path w="1825079" h="353769">
                    <a:moveTo>
                      <a:pt x="56978" y="0"/>
                    </a:moveTo>
                    <a:lnTo>
                      <a:pt x="1768100" y="0"/>
                    </a:lnTo>
                    <a:cubicBezTo>
                      <a:pt x="1799568" y="0"/>
                      <a:pt x="1825079" y="25510"/>
                      <a:pt x="1825079" y="56978"/>
                    </a:cubicBezTo>
                    <a:lnTo>
                      <a:pt x="1825079" y="296790"/>
                    </a:lnTo>
                    <a:cubicBezTo>
                      <a:pt x="1825079" y="311902"/>
                      <a:pt x="1819075" y="326395"/>
                      <a:pt x="1808390" y="337080"/>
                    </a:cubicBezTo>
                    <a:cubicBezTo>
                      <a:pt x="1797704" y="347766"/>
                      <a:pt x="1783212" y="353769"/>
                      <a:pt x="1768100" y="353769"/>
                    </a:cubicBezTo>
                    <a:lnTo>
                      <a:pt x="56978" y="353769"/>
                    </a:lnTo>
                    <a:cubicBezTo>
                      <a:pt x="41867" y="353769"/>
                      <a:pt x="27374" y="347766"/>
                      <a:pt x="16689" y="337080"/>
                    </a:cubicBezTo>
                    <a:cubicBezTo>
                      <a:pt x="6003" y="326395"/>
                      <a:pt x="0" y="311902"/>
                      <a:pt x="0" y="296790"/>
                    </a:cubicBezTo>
                    <a:lnTo>
                      <a:pt x="0" y="56978"/>
                    </a:lnTo>
                    <a:cubicBezTo>
                      <a:pt x="0" y="41867"/>
                      <a:pt x="6003" y="27374"/>
                      <a:pt x="16689" y="16689"/>
                    </a:cubicBezTo>
                    <a:cubicBezTo>
                      <a:pt x="27374" y="6003"/>
                      <a:pt x="41867" y="0"/>
                      <a:pt x="569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40A635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TextBox 11">
                <a:extLst>
                  <a:ext uri="{FF2B5EF4-FFF2-40B4-BE49-F238E27FC236}">
                    <a16:creationId xmlns:a16="http://schemas.microsoft.com/office/drawing/2014/main" id="{45F1C106-A399-6098-0C5D-31042BF350CA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825079" cy="40139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6"/>
                  </a:lnSpc>
                </a:pPr>
                <a:endParaRPr/>
              </a:p>
            </p:txBody>
          </p:sp>
        </p:grpSp>
      </p:grpSp>
      <p:sp>
        <p:nvSpPr>
          <p:cNvPr id="46" name="TextBox 12">
            <a:extLst>
              <a:ext uri="{FF2B5EF4-FFF2-40B4-BE49-F238E27FC236}">
                <a16:creationId xmlns:a16="http://schemas.microsoft.com/office/drawing/2014/main" id="{9B0F6010-2535-09AE-C23D-B48200F681CA}"/>
              </a:ext>
            </a:extLst>
          </p:cNvPr>
          <p:cNvSpPr txBox="1"/>
          <p:nvPr/>
        </p:nvSpPr>
        <p:spPr>
          <a:xfrm>
            <a:off x="1023257" y="8344871"/>
            <a:ext cx="4610100" cy="3170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9"/>
              </a:lnSpc>
              <a:spcBef>
                <a:spcPct val="0"/>
              </a:spcBef>
            </a:pPr>
            <a:r>
              <a:rPr lang="en-US" sz="2199" dirty="0">
                <a:solidFill>
                  <a:srgbClr val="000000"/>
                </a:solidFill>
                <a:latin typeface="Poppins"/>
                <a:cs typeface="Poppins"/>
                <a:sym typeface="Poppins"/>
              </a:rPr>
              <a:t>Review Gating</a:t>
            </a:r>
          </a:p>
        </p:txBody>
      </p:sp>
      <p:grpSp>
        <p:nvGrpSpPr>
          <p:cNvPr id="80" name="Group 5">
            <a:extLst>
              <a:ext uri="{FF2B5EF4-FFF2-40B4-BE49-F238E27FC236}">
                <a16:creationId xmlns:a16="http://schemas.microsoft.com/office/drawing/2014/main" id="{D9BA97CB-7627-918E-AFE6-94706B7DDD21}"/>
              </a:ext>
            </a:extLst>
          </p:cNvPr>
          <p:cNvGrpSpPr/>
          <p:nvPr/>
        </p:nvGrpSpPr>
        <p:grpSpPr>
          <a:xfrm>
            <a:off x="5971874" y="4623710"/>
            <a:ext cx="4610100" cy="1032992"/>
            <a:chOff x="0" y="0"/>
            <a:chExt cx="6862758" cy="1377323"/>
          </a:xfrm>
        </p:grpSpPr>
        <p:grpSp>
          <p:nvGrpSpPr>
            <p:cNvPr id="81" name="Group 6">
              <a:extLst>
                <a:ext uri="{FF2B5EF4-FFF2-40B4-BE49-F238E27FC236}">
                  <a16:creationId xmlns:a16="http://schemas.microsoft.com/office/drawing/2014/main" id="{5C66DD70-ECCB-9A06-DEB8-6E2964566937}"/>
                </a:ext>
              </a:extLst>
            </p:cNvPr>
            <p:cNvGrpSpPr/>
            <p:nvPr/>
          </p:nvGrpSpPr>
          <p:grpSpPr>
            <a:xfrm>
              <a:off x="0" y="0"/>
              <a:ext cx="6768860" cy="1312059"/>
              <a:chOff x="0" y="0"/>
              <a:chExt cx="1825079" cy="353769"/>
            </a:xfrm>
          </p:grpSpPr>
          <p:sp>
            <p:nvSpPr>
              <p:cNvPr id="85" name="Freeform 7">
                <a:extLst>
                  <a:ext uri="{FF2B5EF4-FFF2-40B4-BE49-F238E27FC236}">
                    <a16:creationId xmlns:a16="http://schemas.microsoft.com/office/drawing/2014/main" id="{9A53D831-7DD4-9B11-436C-65B7C7204C0D}"/>
                  </a:ext>
                </a:extLst>
              </p:cNvPr>
              <p:cNvSpPr/>
              <p:nvPr/>
            </p:nvSpPr>
            <p:spPr>
              <a:xfrm>
                <a:off x="0" y="0"/>
                <a:ext cx="1825079" cy="353769"/>
              </a:xfrm>
              <a:custGeom>
                <a:avLst/>
                <a:gdLst/>
                <a:ahLst/>
                <a:cxnLst/>
                <a:rect l="l" t="t" r="r" b="b"/>
                <a:pathLst>
                  <a:path w="1825079" h="353769">
                    <a:moveTo>
                      <a:pt x="56978" y="0"/>
                    </a:moveTo>
                    <a:lnTo>
                      <a:pt x="1768100" y="0"/>
                    </a:lnTo>
                    <a:cubicBezTo>
                      <a:pt x="1799568" y="0"/>
                      <a:pt x="1825079" y="25510"/>
                      <a:pt x="1825079" y="56978"/>
                    </a:cubicBezTo>
                    <a:lnTo>
                      <a:pt x="1825079" y="296790"/>
                    </a:lnTo>
                    <a:cubicBezTo>
                      <a:pt x="1825079" y="311902"/>
                      <a:pt x="1819075" y="326395"/>
                      <a:pt x="1808390" y="337080"/>
                    </a:cubicBezTo>
                    <a:cubicBezTo>
                      <a:pt x="1797704" y="347766"/>
                      <a:pt x="1783212" y="353769"/>
                      <a:pt x="1768100" y="353769"/>
                    </a:cubicBezTo>
                    <a:lnTo>
                      <a:pt x="56978" y="353769"/>
                    </a:lnTo>
                    <a:cubicBezTo>
                      <a:pt x="41867" y="353769"/>
                      <a:pt x="27374" y="347766"/>
                      <a:pt x="16689" y="337080"/>
                    </a:cubicBezTo>
                    <a:cubicBezTo>
                      <a:pt x="6003" y="326395"/>
                      <a:pt x="0" y="311902"/>
                      <a:pt x="0" y="296790"/>
                    </a:cubicBezTo>
                    <a:lnTo>
                      <a:pt x="0" y="56978"/>
                    </a:lnTo>
                    <a:cubicBezTo>
                      <a:pt x="0" y="41867"/>
                      <a:pt x="6003" y="27374"/>
                      <a:pt x="16689" y="16689"/>
                    </a:cubicBezTo>
                    <a:cubicBezTo>
                      <a:pt x="27374" y="6003"/>
                      <a:pt x="41867" y="0"/>
                      <a:pt x="56978" y="0"/>
                    </a:cubicBezTo>
                    <a:close/>
                  </a:path>
                </a:pathLst>
              </a:custGeom>
              <a:solidFill>
                <a:srgbClr val="00BF6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" name="TextBox 8">
                <a:extLst>
                  <a:ext uri="{FF2B5EF4-FFF2-40B4-BE49-F238E27FC236}">
                    <a16:creationId xmlns:a16="http://schemas.microsoft.com/office/drawing/2014/main" id="{12EABF46-CDD8-4952-68A3-DD7247D9B76A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825079" cy="40139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6"/>
                  </a:lnSpc>
                </a:pPr>
                <a:endParaRPr/>
              </a:p>
            </p:txBody>
          </p:sp>
        </p:grpSp>
        <p:grpSp>
          <p:nvGrpSpPr>
            <p:cNvPr id="82" name="Group 9">
              <a:extLst>
                <a:ext uri="{FF2B5EF4-FFF2-40B4-BE49-F238E27FC236}">
                  <a16:creationId xmlns:a16="http://schemas.microsoft.com/office/drawing/2014/main" id="{5449BEA7-70BE-C7B8-0A9A-BABD58F98D0C}"/>
                </a:ext>
              </a:extLst>
            </p:cNvPr>
            <p:cNvGrpSpPr/>
            <p:nvPr/>
          </p:nvGrpSpPr>
          <p:grpSpPr>
            <a:xfrm>
              <a:off x="93898" y="65264"/>
              <a:ext cx="6768860" cy="1312059"/>
              <a:chOff x="0" y="0"/>
              <a:chExt cx="1825079" cy="353769"/>
            </a:xfrm>
          </p:grpSpPr>
          <p:sp>
            <p:nvSpPr>
              <p:cNvPr id="83" name="Freeform 10">
                <a:extLst>
                  <a:ext uri="{FF2B5EF4-FFF2-40B4-BE49-F238E27FC236}">
                    <a16:creationId xmlns:a16="http://schemas.microsoft.com/office/drawing/2014/main" id="{82F544C2-2860-EAD4-A4F8-251FD365491C}"/>
                  </a:ext>
                </a:extLst>
              </p:cNvPr>
              <p:cNvSpPr/>
              <p:nvPr/>
            </p:nvSpPr>
            <p:spPr>
              <a:xfrm>
                <a:off x="0" y="0"/>
                <a:ext cx="1825079" cy="353769"/>
              </a:xfrm>
              <a:custGeom>
                <a:avLst/>
                <a:gdLst/>
                <a:ahLst/>
                <a:cxnLst/>
                <a:rect l="l" t="t" r="r" b="b"/>
                <a:pathLst>
                  <a:path w="1825079" h="353769">
                    <a:moveTo>
                      <a:pt x="56978" y="0"/>
                    </a:moveTo>
                    <a:lnTo>
                      <a:pt x="1768100" y="0"/>
                    </a:lnTo>
                    <a:cubicBezTo>
                      <a:pt x="1799568" y="0"/>
                      <a:pt x="1825079" y="25510"/>
                      <a:pt x="1825079" y="56978"/>
                    </a:cubicBezTo>
                    <a:lnTo>
                      <a:pt x="1825079" y="296790"/>
                    </a:lnTo>
                    <a:cubicBezTo>
                      <a:pt x="1825079" y="311902"/>
                      <a:pt x="1819075" y="326395"/>
                      <a:pt x="1808390" y="337080"/>
                    </a:cubicBezTo>
                    <a:cubicBezTo>
                      <a:pt x="1797704" y="347766"/>
                      <a:pt x="1783212" y="353769"/>
                      <a:pt x="1768100" y="353769"/>
                    </a:cubicBezTo>
                    <a:lnTo>
                      <a:pt x="56978" y="353769"/>
                    </a:lnTo>
                    <a:cubicBezTo>
                      <a:pt x="41867" y="353769"/>
                      <a:pt x="27374" y="347766"/>
                      <a:pt x="16689" y="337080"/>
                    </a:cubicBezTo>
                    <a:cubicBezTo>
                      <a:pt x="6003" y="326395"/>
                      <a:pt x="0" y="311902"/>
                      <a:pt x="0" y="296790"/>
                    </a:cubicBezTo>
                    <a:lnTo>
                      <a:pt x="0" y="56978"/>
                    </a:lnTo>
                    <a:cubicBezTo>
                      <a:pt x="0" y="41867"/>
                      <a:pt x="6003" y="27374"/>
                      <a:pt x="16689" y="16689"/>
                    </a:cubicBezTo>
                    <a:cubicBezTo>
                      <a:pt x="27374" y="6003"/>
                      <a:pt x="41867" y="0"/>
                      <a:pt x="569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40A635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" name="TextBox 11">
                <a:extLst>
                  <a:ext uri="{FF2B5EF4-FFF2-40B4-BE49-F238E27FC236}">
                    <a16:creationId xmlns:a16="http://schemas.microsoft.com/office/drawing/2014/main" id="{BC14317F-38DF-1334-1698-CDEF3EB00073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825079" cy="40139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6"/>
                  </a:lnSpc>
                </a:pPr>
                <a:endParaRPr/>
              </a:p>
            </p:txBody>
          </p:sp>
        </p:grpSp>
      </p:grpSp>
      <p:sp>
        <p:nvSpPr>
          <p:cNvPr id="87" name="TextBox 12">
            <a:extLst>
              <a:ext uri="{FF2B5EF4-FFF2-40B4-BE49-F238E27FC236}">
                <a16:creationId xmlns:a16="http://schemas.microsoft.com/office/drawing/2014/main" id="{D40C1784-DFC6-7E5A-24EA-D70F363C23D1}"/>
              </a:ext>
            </a:extLst>
          </p:cNvPr>
          <p:cNvSpPr txBox="1"/>
          <p:nvPr/>
        </p:nvSpPr>
        <p:spPr>
          <a:xfrm>
            <a:off x="5971874" y="4981864"/>
            <a:ext cx="4610100" cy="3170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9"/>
              </a:lnSpc>
              <a:spcBef>
                <a:spcPct val="0"/>
              </a:spcBef>
            </a:pPr>
            <a:r>
              <a:rPr lang="en-US" sz="2199" dirty="0">
                <a:solidFill>
                  <a:srgbClr val="000000"/>
                </a:solidFill>
                <a:latin typeface="Poppins"/>
                <a:cs typeface="Poppins"/>
                <a:sym typeface="Poppins"/>
              </a:rPr>
              <a:t>Restrictions</a:t>
            </a:r>
          </a:p>
        </p:txBody>
      </p:sp>
      <p:grpSp>
        <p:nvGrpSpPr>
          <p:cNvPr id="88" name="Group 5">
            <a:extLst>
              <a:ext uri="{FF2B5EF4-FFF2-40B4-BE49-F238E27FC236}">
                <a16:creationId xmlns:a16="http://schemas.microsoft.com/office/drawing/2014/main" id="{81F92599-41D6-7DD2-C745-407F7447F4A0}"/>
              </a:ext>
            </a:extLst>
          </p:cNvPr>
          <p:cNvGrpSpPr/>
          <p:nvPr/>
        </p:nvGrpSpPr>
        <p:grpSpPr>
          <a:xfrm>
            <a:off x="5973733" y="5755010"/>
            <a:ext cx="4610100" cy="1032992"/>
            <a:chOff x="0" y="0"/>
            <a:chExt cx="6862758" cy="1377323"/>
          </a:xfrm>
        </p:grpSpPr>
        <p:grpSp>
          <p:nvGrpSpPr>
            <p:cNvPr id="89" name="Group 6">
              <a:extLst>
                <a:ext uri="{FF2B5EF4-FFF2-40B4-BE49-F238E27FC236}">
                  <a16:creationId xmlns:a16="http://schemas.microsoft.com/office/drawing/2014/main" id="{115FB57E-3007-E4AA-43C8-6DB3BB054EC5}"/>
                </a:ext>
              </a:extLst>
            </p:cNvPr>
            <p:cNvGrpSpPr/>
            <p:nvPr/>
          </p:nvGrpSpPr>
          <p:grpSpPr>
            <a:xfrm>
              <a:off x="0" y="0"/>
              <a:ext cx="6768860" cy="1312059"/>
              <a:chOff x="0" y="0"/>
              <a:chExt cx="1825079" cy="353769"/>
            </a:xfrm>
          </p:grpSpPr>
          <p:sp>
            <p:nvSpPr>
              <p:cNvPr id="93" name="Freeform 7">
                <a:extLst>
                  <a:ext uri="{FF2B5EF4-FFF2-40B4-BE49-F238E27FC236}">
                    <a16:creationId xmlns:a16="http://schemas.microsoft.com/office/drawing/2014/main" id="{BD3618C9-3D04-7572-833F-833055F649D4}"/>
                  </a:ext>
                </a:extLst>
              </p:cNvPr>
              <p:cNvSpPr/>
              <p:nvPr/>
            </p:nvSpPr>
            <p:spPr>
              <a:xfrm>
                <a:off x="0" y="0"/>
                <a:ext cx="1825079" cy="353769"/>
              </a:xfrm>
              <a:custGeom>
                <a:avLst/>
                <a:gdLst/>
                <a:ahLst/>
                <a:cxnLst/>
                <a:rect l="l" t="t" r="r" b="b"/>
                <a:pathLst>
                  <a:path w="1825079" h="353769">
                    <a:moveTo>
                      <a:pt x="56978" y="0"/>
                    </a:moveTo>
                    <a:lnTo>
                      <a:pt x="1768100" y="0"/>
                    </a:lnTo>
                    <a:cubicBezTo>
                      <a:pt x="1799568" y="0"/>
                      <a:pt x="1825079" y="25510"/>
                      <a:pt x="1825079" y="56978"/>
                    </a:cubicBezTo>
                    <a:lnTo>
                      <a:pt x="1825079" y="296790"/>
                    </a:lnTo>
                    <a:cubicBezTo>
                      <a:pt x="1825079" y="311902"/>
                      <a:pt x="1819075" y="326395"/>
                      <a:pt x="1808390" y="337080"/>
                    </a:cubicBezTo>
                    <a:cubicBezTo>
                      <a:pt x="1797704" y="347766"/>
                      <a:pt x="1783212" y="353769"/>
                      <a:pt x="1768100" y="353769"/>
                    </a:cubicBezTo>
                    <a:lnTo>
                      <a:pt x="56978" y="353769"/>
                    </a:lnTo>
                    <a:cubicBezTo>
                      <a:pt x="41867" y="353769"/>
                      <a:pt x="27374" y="347766"/>
                      <a:pt x="16689" y="337080"/>
                    </a:cubicBezTo>
                    <a:cubicBezTo>
                      <a:pt x="6003" y="326395"/>
                      <a:pt x="0" y="311902"/>
                      <a:pt x="0" y="296790"/>
                    </a:cubicBezTo>
                    <a:lnTo>
                      <a:pt x="0" y="56978"/>
                    </a:lnTo>
                    <a:cubicBezTo>
                      <a:pt x="0" y="41867"/>
                      <a:pt x="6003" y="27374"/>
                      <a:pt x="16689" y="16689"/>
                    </a:cubicBezTo>
                    <a:cubicBezTo>
                      <a:pt x="27374" y="6003"/>
                      <a:pt x="41867" y="0"/>
                      <a:pt x="56978" y="0"/>
                    </a:cubicBezTo>
                    <a:close/>
                  </a:path>
                </a:pathLst>
              </a:custGeom>
              <a:solidFill>
                <a:srgbClr val="00BF6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" name="TextBox 8">
                <a:extLst>
                  <a:ext uri="{FF2B5EF4-FFF2-40B4-BE49-F238E27FC236}">
                    <a16:creationId xmlns:a16="http://schemas.microsoft.com/office/drawing/2014/main" id="{953D1DAA-1475-38B6-2F9E-757F869E2988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825079" cy="40139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6"/>
                  </a:lnSpc>
                </a:pPr>
                <a:endParaRPr/>
              </a:p>
            </p:txBody>
          </p:sp>
        </p:grpSp>
        <p:grpSp>
          <p:nvGrpSpPr>
            <p:cNvPr id="90" name="Group 9">
              <a:extLst>
                <a:ext uri="{FF2B5EF4-FFF2-40B4-BE49-F238E27FC236}">
                  <a16:creationId xmlns:a16="http://schemas.microsoft.com/office/drawing/2014/main" id="{B732AC9B-26C9-B4EB-660C-1E755492B591}"/>
                </a:ext>
              </a:extLst>
            </p:cNvPr>
            <p:cNvGrpSpPr/>
            <p:nvPr/>
          </p:nvGrpSpPr>
          <p:grpSpPr>
            <a:xfrm>
              <a:off x="93898" y="65264"/>
              <a:ext cx="6768860" cy="1312059"/>
              <a:chOff x="0" y="0"/>
              <a:chExt cx="1825079" cy="353769"/>
            </a:xfrm>
          </p:grpSpPr>
          <p:sp>
            <p:nvSpPr>
              <p:cNvPr id="91" name="Freeform 10">
                <a:extLst>
                  <a:ext uri="{FF2B5EF4-FFF2-40B4-BE49-F238E27FC236}">
                    <a16:creationId xmlns:a16="http://schemas.microsoft.com/office/drawing/2014/main" id="{75CB703B-3F30-A4EF-3632-8754DA0EC955}"/>
                  </a:ext>
                </a:extLst>
              </p:cNvPr>
              <p:cNvSpPr/>
              <p:nvPr/>
            </p:nvSpPr>
            <p:spPr>
              <a:xfrm>
                <a:off x="0" y="0"/>
                <a:ext cx="1825079" cy="353769"/>
              </a:xfrm>
              <a:custGeom>
                <a:avLst/>
                <a:gdLst/>
                <a:ahLst/>
                <a:cxnLst/>
                <a:rect l="l" t="t" r="r" b="b"/>
                <a:pathLst>
                  <a:path w="1825079" h="353769">
                    <a:moveTo>
                      <a:pt x="56978" y="0"/>
                    </a:moveTo>
                    <a:lnTo>
                      <a:pt x="1768100" y="0"/>
                    </a:lnTo>
                    <a:cubicBezTo>
                      <a:pt x="1799568" y="0"/>
                      <a:pt x="1825079" y="25510"/>
                      <a:pt x="1825079" y="56978"/>
                    </a:cubicBezTo>
                    <a:lnTo>
                      <a:pt x="1825079" y="296790"/>
                    </a:lnTo>
                    <a:cubicBezTo>
                      <a:pt x="1825079" y="311902"/>
                      <a:pt x="1819075" y="326395"/>
                      <a:pt x="1808390" y="337080"/>
                    </a:cubicBezTo>
                    <a:cubicBezTo>
                      <a:pt x="1797704" y="347766"/>
                      <a:pt x="1783212" y="353769"/>
                      <a:pt x="1768100" y="353769"/>
                    </a:cubicBezTo>
                    <a:lnTo>
                      <a:pt x="56978" y="353769"/>
                    </a:lnTo>
                    <a:cubicBezTo>
                      <a:pt x="41867" y="353769"/>
                      <a:pt x="27374" y="347766"/>
                      <a:pt x="16689" y="337080"/>
                    </a:cubicBezTo>
                    <a:cubicBezTo>
                      <a:pt x="6003" y="326395"/>
                      <a:pt x="0" y="311902"/>
                      <a:pt x="0" y="296790"/>
                    </a:cubicBezTo>
                    <a:lnTo>
                      <a:pt x="0" y="56978"/>
                    </a:lnTo>
                    <a:cubicBezTo>
                      <a:pt x="0" y="41867"/>
                      <a:pt x="6003" y="27374"/>
                      <a:pt x="16689" y="16689"/>
                    </a:cubicBezTo>
                    <a:cubicBezTo>
                      <a:pt x="27374" y="6003"/>
                      <a:pt x="41867" y="0"/>
                      <a:pt x="569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40A635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" name="TextBox 11">
                <a:extLst>
                  <a:ext uri="{FF2B5EF4-FFF2-40B4-BE49-F238E27FC236}">
                    <a16:creationId xmlns:a16="http://schemas.microsoft.com/office/drawing/2014/main" id="{19DCA53C-EB17-587F-7A51-A871C97C49F0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825079" cy="40139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6"/>
                  </a:lnSpc>
                </a:pPr>
                <a:endParaRPr/>
              </a:p>
            </p:txBody>
          </p:sp>
        </p:grpSp>
      </p:grpSp>
      <p:sp>
        <p:nvSpPr>
          <p:cNvPr id="95" name="TextBox 12">
            <a:extLst>
              <a:ext uri="{FF2B5EF4-FFF2-40B4-BE49-F238E27FC236}">
                <a16:creationId xmlns:a16="http://schemas.microsoft.com/office/drawing/2014/main" id="{E7C9B2D1-2AE6-3176-6FEA-BF9748851B9C}"/>
              </a:ext>
            </a:extLst>
          </p:cNvPr>
          <p:cNvSpPr txBox="1"/>
          <p:nvPr/>
        </p:nvSpPr>
        <p:spPr>
          <a:xfrm>
            <a:off x="5973733" y="6200110"/>
            <a:ext cx="4610100" cy="3170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9"/>
              </a:lnSpc>
              <a:spcBef>
                <a:spcPct val="0"/>
              </a:spcBef>
            </a:pPr>
            <a:r>
              <a:rPr lang="en-US" sz="2199" dirty="0">
                <a:solidFill>
                  <a:srgbClr val="000000"/>
                </a:solidFill>
                <a:latin typeface="Poppins"/>
                <a:cs typeface="Poppins"/>
                <a:sym typeface="Poppins"/>
              </a:rPr>
              <a:t>Branding misuse</a:t>
            </a:r>
          </a:p>
        </p:txBody>
      </p:sp>
      <p:grpSp>
        <p:nvGrpSpPr>
          <p:cNvPr id="96" name="Group 5">
            <a:extLst>
              <a:ext uri="{FF2B5EF4-FFF2-40B4-BE49-F238E27FC236}">
                <a16:creationId xmlns:a16="http://schemas.microsoft.com/office/drawing/2014/main" id="{37881417-6D4C-2A0F-51BA-771F84076361}"/>
              </a:ext>
            </a:extLst>
          </p:cNvPr>
          <p:cNvGrpSpPr/>
          <p:nvPr/>
        </p:nvGrpSpPr>
        <p:grpSpPr>
          <a:xfrm>
            <a:off x="5971874" y="6871528"/>
            <a:ext cx="4610100" cy="1032992"/>
            <a:chOff x="0" y="0"/>
            <a:chExt cx="6862758" cy="1377323"/>
          </a:xfrm>
        </p:grpSpPr>
        <p:grpSp>
          <p:nvGrpSpPr>
            <p:cNvPr id="97" name="Group 6">
              <a:extLst>
                <a:ext uri="{FF2B5EF4-FFF2-40B4-BE49-F238E27FC236}">
                  <a16:creationId xmlns:a16="http://schemas.microsoft.com/office/drawing/2014/main" id="{5525AB3E-F41A-31D4-3F9B-51EA6F4FB7A8}"/>
                </a:ext>
              </a:extLst>
            </p:cNvPr>
            <p:cNvGrpSpPr/>
            <p:nvPr/>
          </p:nvGrpSpPr>
          <p:grpSpPr>
            <a:xfrm>
              <a:off x="0" y="0"/>
              <a:ext cx="6768860" cy="1312059"/>
              <a:chOff x="0" y="0"/>
              <a:chExt cx="1825079" cy="353769"/>
            </a:xfrm>
          </p:grpSpPr>
          <p:sp>
            <p:nvSpPr>
              <p:cNvPr id="101" name="Freeform 7">
                <a:extLst>
                  <a:ext uri="{FF2B5EF4-FFF2-40B4-BE49-F238E27FC236}">
                    <a16:creationId xmlns:a16="http://schemas.microsoft.com/office/drawing/2014/main" id="{4119F5A0-78B4-4033-57BC-AE35C77B90C4}"/>
                  </a:ext>
                </a:extLst>
              </p:cNvPr>
              <p:cNvSpPr/>
              <p:nvPr/>
            </p:nvSpPr>
            <p:spPr>
              <a:xfrm>
                <a:off x="0" y="0"/>
                <a:ext cx="1825079" cy="353769"/>
              </a:xfrm>
              <a:custGeom>
                <a:avLst/>
                <a:gdLst/>
                <a:ahLst/>
                <a:cxnLst/>
                <a:rect l="l" t="t" r="r" b="b"/>
                <a:pathLst>
                  <a:path w="1825079" h="353769">
                    <a:moveTo>
                      <a:pt x="56978" y="0"/>
                    </a:moveTo>
                    <a:lnTo>
                      <a:pt x="1768100" y="0"/>
                    </a:lnTo>
                    <a:cubicBezTo>
                      <a:pt x="1799568" y="0"/>
                      <a:pt x="1825079" y="25510"/>
                      <a:pt x="1825079" y="56978"/>
                    </a:cubicBezTo>
                    <a:lnTo>
                      <a:pt x="1825079" y="296790"/>
                    </a:lnTo>
                    <a:cubicBezTo>
                      <a:pt x="1825079" y="311902"/>
                      <a:pt x="1819075" y="326395"/>
                      <a:pt x="1808390" y="337080"/>
                    </a:cubicBezTo>
                    <a:cubicBezTo>
                      <a:pt x="1797704" y="347766"/>
                      <a:pt x="1783212" y="353769"/>
                      <a:pt x="1768100" y="353769"/>
                    </a:cubicBezTo>
                    <a:lnTo>
                      <a:pt x="56978" y="353769"/>
                    </a:lnTo>
                    <a:cubicBezTo>
                      <a:pt x="41867" y="353769"/>
                      <a:pt x="27374" y="347766"/>
                      <a:pt x="16689" y="337080"/>
                    </a:cubicBezTo>
                    <a:cubicBezTo>
                      <a:pt x="6003" y="326395"/>
                      <a:pt x="0" y="311902"/>
                      <a:pt x="0" y="296790"/>
                    </a:cubicBezTo>
                    <a:lnTo>
                      <a:pt x="0" y="56978"/>
                    </a:lnTo>
                    <a:cubicBezTo>
                      <a:pt x="0" y="41867"/>
                      <a:pt x="6003" y="27374"/>
                      <a:pt x="16689" y="16689"/>
                    </a:cubicBezTo>
                    <a:cubicBezTo>
                      <a:pt x="27374" y="6003"/>
                      <a:pt x="41867" y="0"/>
                      <a:pt x="56978" y="0"/>
                    </a:cubicBezTo>
                    <a:close/>
                  </a:path>
                </a:pathLst>
              </a:custGeom>
              <a:solidFill>
                <a:srgbClr val="00BF6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" name="TextBox 8">
                <a:extLst>
                  <a:ext uri="{FF2B5EF4-FFF2-40B4-BE49-F238E27FC236}">
                    <a16:creationId xmlns:a16="http://schemas.microsoft.com/office/drawing/2014/main" id="{9A611C13-EA8D-5E6D-77B6-B90CE7DB8EEC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825079" cy="40139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6"/>
                  </a:lnSpc>
                </a:pPr>
                <a:endParaRPr/>
              </a:p>
            </p:txBody>
          </p:sp>
        </p:grpSp>
        <p:grpSp>
          <p:nvGrpSpPr>
            <p:cNvPr id="98" name="Group 9">
              <a:extLst>
                <a:ext uri="{FF2B5EF4-FFF2-40B4-BE49-F238E27FC236}">
                  <a16:creationId xmlns:a16="http://schemas.microsoft.com/office/drawing/2014/main" id="{09DA8880-2D9E-75EE-1FAD-562E1579B8BE}"/>
                </a:ext>
              </a:extLst>
            </p:cNvPr>
            <p:cNvGrpSpPr/>
            <p:nvPr/>
          </p:nvGrpSpPr>
          <p:grpSpPr>
            <a:xfrm>
              <a:off x="93898" y="65264"/>
              <a:ext cx="6768860" cy="1312059"/>
              <a:chOff x="0" y="0"/>
              <a:chExt cx="1825079" cy="353769"/>
            </a:xfrm>
          </p:grpSpPr>
          <p:sp>
            <p:nvSpPr>
              <p:cNvPr id="99" name="Freeform 10">
                <a:extLst>
                  <a:ext uri="{FF2B5EF4-FFF2-40B4-BE49-F238E27FC236}">
                    <a16:creationId xmlns:a16="http://schemas.microsoft.com/office/drawing/2014/main" id="{A1EE9ED1-A247-73E5-0254-12F460DFDA21}"/>
                  </a:ext>
                </a:extLst>
              </p:cNvPr>
              <p:cNvSpPr/>
              <p:nvPr/>
            </p:nvSpPr>
            <p:spPr>
              <a:xfrm>
                <a:off x="0" y="0"/>
                <a:ext cx="1825079" cy="353769"/>
              </a:xfrm>
              <a:custGeom>
                <a:avLst/>
                <a:gdLst/>
                <a:ahLst/>
                <a:cxnLst/>
                <a:rect l="l" t="t" r="r" b="b"/>
                <a:pathLst>
                  <a:path w="1825079" h="353769">
                    <a:moveTo>
                      <a:pt x="56978" y="0"/>
                    </a:moveTo>
                    <a:lnTo>
                      <a:pt x="1768100" y="0"/>
                    </a:lnTo>
                    <a:cubicBezTo>
                      <a:pt x="1799568" y="0"/>
                      <a:pt x="1825079" y="25510"/>
                      <a:pt x="1825079" y="56978"/>
                    </a:cubicBezTo>
                    <a:lnTo>
                      <a:pt x="1825079" y="296790"/>
                    </a:lnTo>
                    <a:cubicBezTo>
                      <a:pt x="1825079" y="311902"/>
                      <a:pt x="1819075" y="326395"/>
                      <a:pt x="1808390" y="337080"/>
                    </a:cubicBezTo>
                    <a:cubicBezTo>
                      <a:pt x="1797704" y="347766"/>
                      <a:pt x="1783212" y="353769"/>
                      <a:pt x="1768100" y="353769"/>
                    </a:cubicBezTo>
                    <a:lnTo>
                      <a:pt x="56978" y="353769"/>
                    </a:lnTo>
                    <a:cubicBezTo>
                      <a:pt x="41867" y="353769"/>
                      <a:pt x="27374" y="347766"/>
                      <a:pt x="16689" y="337080"/>
                    </a:cubicBezTo>
                    <a:cubicBezTo>
                      <a:pt x="6003" y="326395"/>
                      <a:pt x="0" y="311902"/>
                      <a:pt x="0" y="296790"/>
                    </a:cubicBezTo>
                    <a:lnTo>
                      <a:pt x="0" y="56978"/>
                    </a:lnTo>
                    <a:cubicBezTo>
                      <a:pt x="0" y="41867"/>
                      <a:pt x="6003" y="27374"/>
                      <a:pt x="16689" y="16689"/>
                    </a:cubicBezTo>
                    <a:cubicBezTo>
                      <a:pt x="27374" y="6003"/>
                      <a:pt x="41867" y="0"/>
                      <a:pt x="569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40A635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" name="TextBox 11">
                <a:extLst>
                  <a:ext uri="{FF2B5EF4-FFF2-40B4-BE49-F238E27FC236}">
                    <a16:creationId xmlns:a16="http://schemas.microsoft.com/office/drawing/2014/main" id="{75FF0950-5D5A-77BE-6D82-7F9CF3965846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825079" cy="40139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6"/>
                  </a:lnSpc>
                </a:pPr>
                <a:endParaRPr/>
              </a:p>
            </p:txBody>
          </p:sp>
        </p:grpSp>
      </p:grpSp>
      <p:sp>
        <p:nvSpPr>
          <p:cNvPr id="103" name="TextBox 12">
            <a:extLst>
              <a:ext uri="{FF2B5EF4-FFF2-40B4-BE49-F238E27FC236}">
                <a16:creationId xmlns:a16="http://schemas.microsoft.com/office/drawing/2014/main" id="{1A7364C2-3817-D3B3-3398-A11A8782B455}"/>
              </a:ext>
            </a:extLst>
          </p:cNvPr>
          <p:cNvSpPr txBox="1"/>
          <p:nvPr/>
        </p:nvSpPr>
        <p:spPr>
          <a:xfrm>
            <a:off x="6191720" y="7189755"/>
            <a:ext cx="4233483" cy="6175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9"/>
              </a:lnSpc>
              <a:spcBef>
                <a:spcPct val="0"/>
              </a:spcBef>
            </a:pPr>
            <a:r>
              <a:rPr lang="en-US" sz="2199" dirty="0">
                <a:solidFill>
                  <a:srgbClr val="000000"/>
                </a:solidFill>
                <a:latin typeface="Poppins"/>
                <a:cs typeface="Poppins"/>
                <a:sym typeface="Poppins"/>
              </a:rPr>
              <a:t>Organized paid-review patterns</a:t>
            </a:r>
          </a:p>
        </p:txBody>
      </p:sp>
      <p:grpSp>
        <p:nvGrpSpPr>
          <p:cNvPr id="104" name="Group 5">
            <a:extLst>
              <a:ext uri="{FF2B5EF4-FFF2-40B4-BE49-F238E27FC236}">
                <a16:creationId xmlns:a16="http://schemas.microsoft.com/office/drawing/2014/main" id="{74363225-1858-F4D1-5EDD-1692167F86F4}"/>
              </a:ext>
            </a:extLst>
          </p:cNvPr>
          <p:cNvGrpSpPr/>
          <p:nvPr/>
        </p:nvGrpSpPr>
        <p:grpSpPr>
          <a:xfrm>
            <a:off x="5971874" y="8006007"/>
            <a:ext cx="4610100" cy="1032992"/>
            <a:chOff x="0" y="0"/>
            <a:chExt cx="6862758" cy="1377323"/>
          </a:xfrm>
        </p:grpSpPr>
        <p:grpSp>
          <p:nvGrpSpPr>
            <p:cNvPr id="105" name="Group 6">
              <a:extLst>
                <a:ext uri="{FF2B5EF4-FFF2-40B4-BE49-F238E27FC236}">
                  <a16:creationId xmlns:a16="http://schemas.microsoft.com/office/drawing/2014/main" id="{07942853-4A01-AB89-DE67-6205A4B327BC}"/>
                </a:ext>
              </a:extLst>
            </p:cNvPr>
            <p:cNvGrpSpPr/>
            <p:nvPr/>
          </p:nvGrpSpPr>
          <p:grpSpPr>
            <a:xfrm>
              <a:off x="0" y="0"/>
              <a:ext cx="6768860" cy="1312059"/>
              <a:chOff x="0" y="0"/>
              <a:chExt cx="1825079" cy="353769"/>
            </a:xfrm>
          </p:grpSpPr>
          <p:sp>
            <p:nvSpPr>
              <p:cNvPr id="109" name="Freeform 7">
                <a:extLst>
                  <a:ext uri="{FF2B5EF4-FFF2-40B4-BE49-F238E27FC236}">
                    <a16:creationId xmlns:a16="http://schemas.microsoft.com/office/drawing/2014/main" id="{9C2B0F91-21AB-DDFA-B74C-457188B7A947}"/>
                  </a:ext>
                </a:extLst>
              </p:cNvPr>
              <p:cNvSpPr/>
              <p:nvPr/>
            </p:nvSpPr>
            <p:spPr>
              <a:xfrm>
                <a:off x="0" y="0"/>
                <a:ext cx="1825079" cy="353769"/>
              </a:xfrm>
              <a:custGeom>
                <a:avLst/>
                <a:gdLst/>
                <a:ahLst/>
                <a:cxnLst/>
                <a:rect l="l" t="t" r="r" b="b"/>
                <a:pathLst>
                  <a:path w="1825079" h="353769">
                    <a:moveTo>
                      <a:pt x="56978" y="0"/>
                    </a:moveTo>
                    <a:lnTo>
                      <a:pt x="1768100" y="0"/>
                    </a:lnTo>
                    <a:cubicBezTo>
                      <a:pt x="1799568" y="0"/>
                      <a:pt x="1825079" y="25510"/>
                      <a:pt x="1825079" y="56978"/>
                    </a:cubicBezTo>
                    <a:lnTo>
                      <a:pt x="1825079" y="296790"/>
                    </a:lnTo>
                    <a:cubicBezTo>
                      <a:pt x="1825079" y="311902"/>
                      <a:pt x="1819075" y="326395"/>
                      <a:pt x="1808390" y="337080"/>
                    </a:cubicBezTo>
                    <a:cubicBezTo>
                      <a:pt x="1797704" y="347766"/>
                      <a:pt x="1783212" y="353769"/>
                      <a:pt x="1768100" y="353769"/>
                    </a:cubicBezTo>
                    <a:lnTo>
                      <a:pt x="56978" y="353769"/>
                    </a:lnTo>
                    <a:cubicBezTo>
                      <a:pt x="41867" y="353769"/>
                      <a:pt x="27374" y="347766"/>
                      <a:pt x="16689" y="337080"/>
                    </a:cubicBezTo>
                    <a:cubicBezTo>
                      <a:pt x="6003" y="326395"/>
                      <a:pt x="0" y="311902"/>
                      <a:pt x="0" y="296790"/>
                    </a:cubicBezTo>
                    <a:lnTo>
                      <a:pt x="0" y="56978"/>
                    </a:lnTo>
                    <a:cubicBezTo>
                      <a:pt x="0" y="41867"/>
                      <a:pt x="6003" y="27374"/>
                      <a:pt x="16689" y="16689"/>
                    </a:cubicBezTo>
                    <a:cubicBezTo>
                      <a:pt x="27374" y="6003"/>
                      <a:pt x="41867" y="0"/>
                      <a:pt x="56978" y="0"/>
                    </a:cubicBezTo>
                    <a:close/>
                  </a:path>
                </a:pathLst>
              </a:custGeom>
              <a:solidFill>
                <a:srgbClr val="00BF6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" name="TextBox 8">
                <a:extLst>
                  <a:ext uri="{FF2B5EF4-FFF2-40B4-BE49-F238E27FC236}">
                    <a16:creationId xmlns:a16="http://schemas.microsoft.com/office/drawing/2014/main" id="{E4D69C5B-7838-2324-64A6-A7802B9E13F1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825079" cy="40139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6"/>
                  </a:lnSpc>
                </a:pPr>
                <a:endParaRPr/>
              </a:p>
            </p:txBody>
          </p:sp>
        </p:grpSp>
        <p:grpSp>
          <p:nvGrpSpPr>
            <p:cNvPr id="106" name="Group 9">
              <a:extLst>
                <a:ext uri="{FF2B5EF4-FFF2-40B4-BE49-F238E27FC236}">
                  <a16:creationId xmlns:a16="http://schemas.microsoft.com/office/drawing/2014/main" id="{0ABE9E70-DD82-C3A5-90ED-8F9DED55D7D4}"/>
                </a:ext>
              </a:extLst>
            </p:cNvPr>
            <p:cNvGrpSpPr/>
            <p:nvPr/>
          </p:nvGrpSpPr>
          <p:grpSpPr>
            <a:xfrm>
              <a:off x="93898" y="65264"/>
              <a:ext cx="6768860" cy="1312059"/>
              <a:chOff x="0" y="0"/>
              <a:chExt cx="1825079" cy="353769"/>
            </a:xfrm>
          </p:grpSpPr>
          <p:sp>
            <p:nvSpPr>
              <p:cNvPr id="107" name="Freeform 10">
                <a:extLst>
                  <a:ext uri="{FF2B5EF4-FFF2-40B4-BE49-F238E27FC236}">
                    <a16:creationId xmlns:a16="http://schemas.microsoft.com/office/drawing/2014/main" id="{B679E6AE-2826-744C-E87B-76B89BEE0354}"/>
                  </a:ext>
                </a:extLst>
              </p:cNvPr>
              <p:cNvSpPr/>
              <p:nvPr/>
            </p:nvSpPr>
            <p:spPr>
              <a:xfrm>
                <a:off x="0" y="0"/>
                <a:ext cx="1825079" cy="353769"/>
              </a:xfrm>
              <a:custGeom>
                <a:avLst/>
                <a:gdLst/>
                <a:ahLst/>
                <a:cxnLst/>
                <a:rect l="l" t="t" r="r" b="b"/>
                <a:pathLst>
                  <a:path w="1825079" h="353769">
                    <a:moveTo>
                      <a:pt x="56978" y="0"/>
                    </a:moveTo>
                    <a:lnTo>
                      <a:pt x="1768100" y="0"/>
                    </a:lnTo>
                    <a:cubicBezTo>
                      <a:pt x="1799568" y="0"/>
                      <a:pt x="1825079" y="25510"/>
                      <a:pt x="1825079" y="56978"/>
                    </a:cubicBezTo>
                    <a:lnTo>
                      <a:pt x="1825079" y="296790"/>
                    </a:lnTo>
                    <a:cubicBezTo>
                      <a:pt x="1825079" y="311902"/>
                      <a:pt x="1819075" y="326395"/>
                      <a:pt x="1808390" y="337080"/>
                    </a:cubicBezTo>
                    <a:cubicBezTo>
                      <a:pt x="1797704" y="347766"/>
                      <a:pt x="1783212" y="353769"/>
                      <a:pt x="1768100" y="353769"/>
                    </a:cubicBezTo>
                    <a:lnTo>
                      <a:pt x="56978" y="353769"/>
                    </a:lnTo>
                    <a:cubicBezTo>
                      <a:pt x="41867" y="353769"/>
                      <a:pt x="27374" y="347766"/>
                      <a:pt x="16689" y="337080"/>
                    </a:cubicBezTo>
                    <a:cubicBezTo>
                      <a:pt x="6003" y="326395"/>
                      <a:pt x="0" y="311902"/>
                      <a:pt x="0" y="296790"/>
                    </a:cubicBezTo>
                    <a:lnTo>
                      <a:pt x="0" y="56978"/>
                    </a:lnTo>
                    <a:cubicBezTo>
                      <a:pt x="0" y="41867"/>
                      <a:pt x="6003" y="27374"/>
                      <a:pt x="16689" y="16689"/>
                    </a:cubicBezTo>
                    <a:cubicBezTo>
                      <a:pt x="27374" y="6003"/>
                      <a:pt x="41867" y="0"/>
                      <a:pt x="569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40A635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" name="TextBox 11">
                <a:extLst>
                  <a:ext uri="{FF2B5EF4-FFF2-40B4-BE49-F238E27FC236}">
                    <a16:creationId xmlns:a16="http://schemas.microsoft.com/office/drawing/2014/main" id="{ECD26EEC-BD08-E39E-B1C4-8A652D29E849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825079" cy="40139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6"/>
                  </a:lnSpc>
                </a:pPr>
                <a:endParaRPr/>
              </a:p>
            </p:txBody>
          </p:sp>
        </p:grpSp>
      </p:grpSp>
      <p:sp>
        <p:nvSpPr>
          <p:cNvPr id="111" name="TextBox 12">
            <a:extLst>
              <a:ext uri="{FF2B5EF4-FFF2-40B4-BE49-F238E27FC236}">
                <a16:creationId xmlns:a16="http://schemas.microsoft.com/office/drawing/2014/main" id="{ACDB1421-38D3-A20C-B6C3-46BFEF0046ED}"/>
              </a:ext>
            </a:extLst>
          </p:cNvPr>
          <p:cNvSpPr txBox="1"/>
          <p:nvPr/>
        </p:nvSpPr>
        <p:spPr>
          <a:xfrm>
            <a:off x="5971874" y="8397000"/>
            <a:ext cx="4610100" cy="3170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9"/>
              </a:lnSpc>
              <a:spcBef>
                <a:spcPct val="0"/>
              </a:spcBef>
            </a:pPr>
            <a:r>
              <a:rPr lang="en-US" sz="2199" dirty="0">
                <a:solidFill>
                  <a:srgbClr val="000000"/>
                </a:solidFill>
                <a:latin typeface="Poppins"/>
                <a:cs typeface="Poppins"/>
                <a:sym typeface="Poppins"/>
              </a:rPr>
              <a:t>Project Nomen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93DC521-EFD7-6B00-A388-6655F1141AA5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Tripadvisor / Fraud support / Investigations team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09063" y="3886890"/>
            <a:ext cx="5351281" cy="3982043"/>
            <a:chOff x="0" y="0"/>
            <a:chExt cx="7135041" cy="5309390"/>
          </a:xfrm>
        </p:grpSpPr>
        <p:grpSp>
          <p:nvGrpSpPr>
            <p:cNvPr id="3" name="Group 3"/>
            <p:cNvGrpSpPr/>
            <p:nvPr/>
          </p:nvGrpSpPr>
          <p:grpSpPr>
            <a:xfrm>
              <a:off x="120851" y="101600"/>
              <a:ext cx="7014190" cy="5207790"/>
              <a:chOff x="0" y="0"/>
              <a:chExt cx="1385519" cy="1028699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385519" cy="1028699"/>
              </a:xfrm>
              <a:custGeom>
                <a:avLst/>
                <a:gdLst/>
                <a:ahLst/>
                <a:cxnLst/>
                <a:rect l="l" t="t" r="r" b="b"/>
                <a:pathLst>
                  <a:path w="1385519" h="1028699">
                    <a:moveTo>
                      <a:pt x="0" y="0"/>
                    </a:moveTo>
                    <a:lnTo>
                      <a:pt x="1385519" y="0"/>
                    </a:lnTo>
                    <a:lnTo>
                      <a:pt x="1385519" y="1028699"/>
                    </a:lnTo>
                    <a:lnTo>
                      <a:pt x="0" y="1028699"/>
                    </a:lnTo>
                    <a:close/>
                  </a:path>
                </a:pathLst>
              </a:custGeom>
              <a:solidFill>
                <a:srgbClr val="00BF6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1385519" cy="10763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6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7014190" cy="5207790"/>
              <a:chOff x="0" y="0"/>
              <a:chExt cx="1385519" cy="102869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385519" cy="1028699"/>
              </a:xfrm>
              <a:custGeom>
                <a:avLst/>
                <a:gdLst/>
                <a:ahLst/>
                <a:cxnLst/>
                <a:rect l="l" t="t" r="r" b="b"/>
                <a:pathLst>
                  <a:path w="1385519" h="1028699">
                    <a:moveTo>
                      <a:pt x="0" y="0"/>
                    </a:moveTo>
                    <a:lnTo>
                      <a:pt x="1385519" y="0"/>
                    </a:lnTo>
                    <a:lnTo>
                      <a:pt x="1385519" y="1028699"/>
                    </a:lnTo>
                    <a:lnTo>
                      <a:pt x="0" y="1028699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1385519" cy="10763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6"/>
                  </a:lnSpc>
                </a:pPr>
                <a:endParaRPr/>
              </a:p>
            </p:txBody>
          </p:sp>
        </p:grpSp>
      </p:grpSp>
      <p:sp>
        <p:nvSpPr>
          <p:cNvPr id="9" name="Freeform 9"/>
          <p:cNvSpPr/>
          <p:nvPr/>
        </p:nvSpPr>
        <p:spPr>
          <a:xfrm>
            <a:off x="5414269" y="3398648"/>
            <a:ext cx="1066394" cy="874443"/>
          </a:xfrm>
          <a:custGeom>
            <a:avLst/>
            <a:gdLst/>
            <a:ahLst/>
            <a:cxnLst/>
            <a:rect l="l" t="t" r="r" b="b"/>
            <a:pathLst>
              <a:path w="1066394" h="874443">
                <a:moveTo>
                  <a:pt x="0" y="0"/>
                </a:moveTo>
                <a:lnTo>
                  <a:pt x="1066394" y="0"/>
                </a:lnTo>
                <a:lnTo>
                  <a:pt x="1066394" y="874443"/>
                </a:lnTo>
                <a:lnTo>
                  <a:pt x="0" y="8744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7527353" y="3886890"/>
            <a:ext cx="5354220" cy="3982043"/>
            <a:chOff x="0" y="0"/>
            <a:chExt cx="7138960" cy="5309390"/>
          </a:xfrm>
        </p:grpSpPr>
        <p:grpSp>
          <p:nvGrpSpPr>
            <p:cNvPr id="11" name="Group 11"/>
            <p:cNvGrpSpPr/>
            <p:nvPr/>
          </p:nvGrpSpPr>
          <p:grpSpPr>
            <a:xfrm>
              <a:off x="120918" y="101600"/>
              <a:ext cx="7018043" cy="5207790"/>
              <a:chOff x="0" y="0"/>
              <a:chExt cx="1386280" cy="1028699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386280" cy="1028699"/>
              </a:xfrm>
              <a:custGeom>
                <a:avLst/>
                <a:gdLst/>
                <a:ahLst/>
                <a:cxnLst/>
                <a:rect l="l" t="t" r="r" b="b"/>
                <a:pathLst>
                  <a:path w="1386280" h="1028699">
                    <a:moveTo>
                      <a:pt x="0" y="0"/>
                    </a:moveTo>
                    <a:lnTo>
                      <a:pt x="1386280" y="0"/>
                    </a:lnTo>
                    <a:lnTo>
                      <a:pt x="1386280" y="1028699"/>
                    </a:lnTo>
                    <a:lnTo>
                      <a:pt x="0" y="1028699"/>
                    </a:lnTo>
                    <a:close/>
                  </a:path>
                </a:pathLst>
              </a:custGeom>
              <a:solidFill>
                <a:srgbClr val="00BF6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47625"/>
                <a:ext cx="1386280" cy="10763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6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0" y="0"/>
              <a:ext cx="7018043" cy="5207790"/>
              <a:chOff x="0" y="0"/>
              <a:chExt cx="1386280" cy="1028699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386280" cy="1028699"/>
              </a:xfrm>
              <a:custGeom>
                <a:avLst/>
                <a:gdLst/>
                <a:ahLst/>
                <a:cxnLst/>
                <a:rect l="l" t="t" r="r" b="b"/>
                <a:pathLst>
                  <a:path w="1386280" h="1028699">
                    <a:moveTo>
                      <a:pt x="0" y="0"/>
                    </a:moveTo>
                    <a:lnTo>
                      <a:pt x="1386280" y="0"/>
                    </a:lnTo>
                    <a:lnTo>
                      <a:pt x="1386280" y="1028699"/>
                    </a:lnTo>
                    <a:lnTo>
                      <a:pt x="0" y="1028699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47625"/>
                <a:ext cx="1386280" cy="10763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6"/>
                  </a:lnSpc>
                </a:pPr>
                <a:endParaRPr/>
              </a:p>
            </p:txBody>
          </p:sp>
        </p:grpSp>
      </p:grpSp>
      <p:sp>
        <p:nvSpPr>
          <p:cNvPr id="17" name="Freeform 17"/>
          <p:cNvSpPr/>
          <p:nvPr/>
        </p:nvSpPr>
        <p:spPr>
          <a:xfrm>
            <a:off x="11757728" y="3398648"/>
            <a:ext cx="1066394" cy="874443"/>
          </a:xfrm>
          <a:custGeom>
            <a:avLst/>
            <a:gdLst/>
            <a:ahLst/>
            <a:cxnLst/>
            <a:rect l="l" t="t" r="r" b="b"/>
            <a:pathLst>
              <a:path w="1066394" h="874443">
                <a:moveTo>
                  <a:pt x="0" y="0"/>
                </a:moveTo>
                <a:lnTo>
                  <a:pt x="1066394" y="0"/>
                </a:lnTo>
                <a:lnTo>
                  <a:pt x="1066394" y="874443"/>
                </a:lnTo>
                <a:lnTo>
                  <a:pt x="0" y="8744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505043" y="5586222"/>
            <a:ext cx="392807" cy="392807"/>
          </a:xfrm>
          <a:custGeom>
            <a:avLst/>
            <a:gdLst/>
            <a:ahLst/>
            <a:cxnLst/>
            <a:rect l="l" t="t" r="r" b="b"/>
            <a:pathLst>
              <a:path w="392807" h="392807">
                <a:moveTo>
                  <a:pt x="0" y="0"/>
                </a:moveTo>
                <a:lnTo>
                  <a:pt x="392806" y="0"/>
                </a:lnTo>
                <a:lnTo>
                  <a:pt x="392806" y="392807"/>
                </a:lnTo>
                <a:lnTo>
                  <a:pt x="0" y="3928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1028700" y="885825"/>
            <a:ext cx="11063288" cy="934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sz="51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INV: Location Notes &amp; Continuity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09063" y="2072410"/>
            <a:ext cx="14282886" cy="50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Location Notes can give direct instructions about who must handle a fraud case.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64499" y="4225466"/>
            <a:ext cx="4439938" cy="701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6"/>
              </a:lnSpc>
              <a:spcBef>
                <a:spcPct val="0"/>
              </a:spcBef>
            </a:pPr>
            <a:r>
              <a:rPr lang="en-US" sz="2004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“FRAUD SUPPORT TO BE HANDLED BY INVESTIGATIONS”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275528" y="5401686"/>
            <a:ext cx="3928910" cy="1406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6"/>
              </a:lnSpc>
              <a:spcBef>
                <a:spcPct val="0"/>
              </a:spcBef>
            </a:pPr>
            <a:r>
              <a:rPr lang="en-US" sz="20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Assign the ticket to INV Support immediately using the Note Present macro.</a:t>
            </a:r>
          </a:p>
          <a:p>
            <a:pPr algn="l">
              <a:lnSpc>
                <a:spcPts val="2806"/>
              </a:lnSpc>
              <a:spcBef>
                <a:spcPct val="0"/>
              </a:spcBef>
            </a:pPr>
            <a:r>
              <a:rPr lang="en-US" sz="20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Continuity rule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803878" y="4225466"/>
            <a:ext cx="4801169" cy="1053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6"/>
              </a:lnSpc>
              <a:spcBef>
                <a:spcPct val="0"/>
              </a:spcBef>
            </a:pPr>
            <a:r>
              <a:rPr lang="en-US" sz="2004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If an Investigator previously handled the same issue for a property: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396439" y="5754111"/>
            <a:ext cx="4030403" cy="701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6"/>
              </a:lnSpc>
              <a:spcBef>
                <a:spcPct val="0"/>
              </a:spcBef>
            </a:pPr>
            <a:r>
              <a:rPr lang="en-US" sz="20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Assign the new ticket back to that Investigator.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20248" y="2902250"/>
            <a:ext cx="9968377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Expand Location Notes in Location Center and if you see:</a:t>
            </a:r>
          </a:p>
        </p:txBody>
      </p:sp>
      <p:sp>
        <p:nvSpPr>
          <p:cNvPr id="26" name="Freeform 26"/>
          <p:cNvSpPr/>
          <p:nvPr/>
        </p:nvSpPr>
        <p:spPr>
          <a:xfrm>
            <a:off x="7803878" y="5877911"/>
            <a:ext cx="392807" cy="392807"/>
          </a:xfrm>
          <a:custGeom>
            <a:avLst/>
            <a:gdLst/>
            <a:ahLst/>
            <a:cxnLst/>
            <a:rect l="l" t="t" r="r" b="b"/>
            <a:pathLst>
              <a:path w="392807" h="392807">
                <a:moveTo>
                  <a:pt x="0" y="0"/>
                </a:moveTo>
                <a:lnTo>
                  <a:pt x="392807" y="0"/>
                </a:lnTo>
                <a:lnTo>
                  <a:pt x="392807" y="392807"/>
                </a:lnTo>
                <a:lnTo>
                  <a:pt x="0" y="3928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638F7FD-3BD1-FAC9-A699-17F28F7ABD35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Tripadvisor / Fraud support / INV: Location notes &amp; continuity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39147" y="1109114"/>
            <a:ext cx="7478018" cy="934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sz="519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How to Escalate to INV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39147" y="2411012"/>
            <a:ext cx="11977008" cy="78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clear INV escalation gives investigators the facts they need without unnecessary detail.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39147" y="3564807"/>
            <a:ext cx="802928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Steps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39147" y="4128052"/>
            <a:ext cx="6643092" cy="1883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5985" lvl="1" indent="-237993" algn="l">
              <a:lnSpc>
                <a:spcPts val="5136"/>
              </a:lnSpc>
              <a:buAutoNum type="arabicPeriod"/>
            </a:pPr>
            <a:r>
              <a:rPr lang="en-US" sz="220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Select Escalate/Transfer → To Investigations</a:t>
            </a:r>
          </a:p>
          <a:p>
            <a:pPr marL="475985" lvl="1" indent="-237993" algn="l">
              <a:lnSpc>
                <a:spcPts val="5136"/>
              </a:lnSpc>
              <a:buAutoNum type="arabicPeriod"/>
            </a:pPr>
            <a:r>
              <a:rPr lang="en-US" sz="220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Add a brief summary of the issue</a:t>
            </a:r>
          </a:p>
          <a:p>
            <a:pPr marL="475985" lvl="1" indent="-237993" algn="l">
              <a:lnSpc>
                <a:spcPts val="5136"/>
              </a:lnSpc>
              <a:buAutoNum type="arabicPeriod"/>
            </a:pPr>
            <a:r>
              <a:rPr lang="en-US" sz="220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Submit as Open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7B609C-454A-4E56-F5BA-6D27D204C509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Tripadvisor / Fraud support / How to </a:t>
            </a:r>
            <a:r>
              <a:rPr lang="en-US" sz="1400" dirty="0">
                <a:solidFill>
                  <a:srgbClr val="8A8272"/>
                </a:solidFill>
                <a:latin typeface="Poppins"/>
              </a:rPr>
              <a:t>escalate to INV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Freeform 7">
            <a:extLst>
              <a:ext uri="{FF2B5EF4-FFF2-40B4-BE49-F238E27FC236}">
                <a16:creationId xmlns:a16="http://schemas.microsoft.com/office/drawing/2014/main" id="{0B9BDB93-9322-A215-6E33-4FBFB1610280}"/>
              </a:ext>
            </a:extLst>
          </p:cNvPr>
          <p:cNvSpPr/>
          <p:nvPr/>
        </p:nvSpPr>
        <p:spPr>
          <a:xfrm>
            <a:off x="5822698" y="8342937"/>
            <a:ext cx="9345762" cy="1606898"/>
          </a:xfrm>
          <a:custGeom>
            <a:avLst/>
            <a:gdLst/>
            <a:ahLst/>
            <a:cxnLst/>
            <a:rect l="l" t="t" r="r" b="b"/>
            <a:pathLst>
              <a:path w="1866748" h="1018858">
                <a:moveTo>
                  <a:pt x="101784" y="0"/>
                </a:moveTo>
                <a:lnTo>
                  <a:pt x="1764965" y="0"/>
                </a:lnTo>
                <a:cubicBezTo>
                  <a:pt x="1791959" y="0"/>
                  <a:pt x="1817849" y="10724"/>
                  <a:pt x="1836937" y="29812"/>
                </a:cubicBezTo>
                <a:cubicBezTo>
                  <a:pt x="1856025" y="48900"/>
                  <a:pt x="1866748" y="74789"/>
                  <a:pt x="1866748" y="101784"/>
                </a:cubicBezTo>
                <a:lnTo>
                  <a:pt x="1866748" y="917074"/>
                </a:lnTo>
                <a:cubicBezTo>
                  <a:pt x="1866748" y="973288"/>
                  <a:pt x="1821178" y="1018858"/>
                  <a:pt x="1764965" y="1018858"/>
                </a:cubicBezTo>
                <a:lnTo>
                  <a:pt x="101784" y="1018858"/>
                </a:lnTo>
                <a:cubicBezTo>
                  <a:pt x="45570" y="1018858"/>
                  <a:pt x="0" y="973288"/>
                  <a:pt x="0" y="917074"/>
                </a:cubicBezTo>
                <a:lnTo>
                  <a:pt x="0" y="101784"/>
                </a:lnTo>
                <a:cubicBezTo>
                  <a:pt x="0" y="45570"/>
                  <a:pt x="45570" y="0"/>
                  <a:pt x="101784" y="0"/>
                </a:cubicBezTo>
                <a:close/>
              </a:path>
            </a:pathLst>
          </a:custGeom>
          <a:solidFill>
            <a:srgbClr val="FFDE59">
              <a:alpha val="61569"/>
            </a:srgbClr>
          </a:solid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238740" y="2637831"/>
            <a:ext cx="4951192" cy="1536358"/>
            <a:chOff x="0" y="0"/>
            <a:chExt cx="1891553" cy="40640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4" name="Freeform 4"/>
            <p:cNvSpPr/>
            <p:nvPr/>
          </p:nvSpPr>
          <p:spPr>
            <a:xfrm>
              <a:off x="0" y="0"/>
              <a:ext cx="1891553" cy="406400"/>
            </a:xfrm>
            <a:custGeom>
              <a:avLst/>
              <a:gdLst/>
              <a:ahLst/>
              <a:cxnLst/>
              <a:rect l="l" t="t" r="r" b="b"/>
              <a:pathLst>
                <a:path w="1891553" h="406400">
                  <a:moveTo>
                    <a:pt x="1688353" y="0"/>
                  </a:moveTo>
                  <a:cubicBezTo>
                    <a:pt x="1800577" y="0"/>
                    <a:pt x="1891553" y="90976"/>
                    <a:pt x="1891553" y="203200"/>
                  </a:cubicBezTo>
                  <a:cubicBezTo>
                    <a:pt x="1891553" y="315424"/>
                    <a:pt x="1800577" y="406400"/>
                    <a:pt x="168835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3EEBE"/>
            </a:solidFill>
            <a:ln>
              <a:solidFill>
                <a:srgbClr val="23EEBE"/>
              </a:solidFill>
            </a:ln>
          </p:spPr>
          <p:txBody>
            <a:bodyPr/>
            <a:lstStyle/>
            <a:p>
              <a:endParaRPr lang="en-US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891553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2098542" y="2477458"/>
            <a:ext cx="4951192" cy="1871023"/>
            <a:chOff x="0" y="-38100"/>
            <a:chExt cx="1891553" cy="44450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7" name="Freeform 7"/>
            <p:cNvSpPr/>
            <p:nvPr/>
          </p:nvSpPr>
          <p:spPr>
            <a:xfrm>
              <a:off x="0" y="0"/>
              <a:ext cx="1891553" cy="364954"/>
            </a:xfrm>
            <a:custGeom>
              <a:avLst/>
              <a:gdLst/>
              <a:ahLst/>
              <a:cxnLst/>
              <a:rect l="l" t="t" r="r" b="b"/>
              <a:pathLst>
                <a:path w="1891553" h="406400">
                  <a:moveTo>
                    <a:pt x="1688353" y="0"/>
                  </a:moveTo>
                  <a:cubicBezTo>
                    <a:pt x="1800577" y="0"/>
                    <a:pt x="1891553" y="90976"/>
                    <a:pt x="1891553" y="203200"/>
                  </a:cubicBezTo>
                  <a:cubicBezTo>
                    <a:pt x="1891553" y="315424"/>
                    <a:pt x="1800577" y="406400"/>
                    <a:pt x="168835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D7BB"/>
            </a:solidFill>
            <a:ln>
              <a:solidFill>
                <a:srgbClr val="00D7BB"/>
              </a:solidFill>
            </a:ln>
          </p:spPr>
          <p:txBody>
            <a:bodyPr/>
            <a:lstStyle/>
            <a:p>
              <a:endParaRPr lang="en-US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891553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573000" y="4667657"/>
            <a:ext cx="4951192" cy="1666916"/>
            <a:chOff x="0" y="0"/>
            <a:chExt cx="1891553" cy="40640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91553" cy="406400"/>
            </a:xfrm>
            <a:custGeom>
              <a:avLst/>
              <a:gdLst/>
              <a:ahLst/>
              <a:cxnLst/>
              <a:rect l="l" t="t" r="r" b="b"/>
              <a:pathLst>
                <a:path w="1891553" h="406400">
                  <a:moveTo>
                    <a:pt x="1688353" y="0"/>
                  </a:moveTo>
                  <a:cubicBezTo>
                    <a:pt x="1800577" y="0"/>
                    <a:pt x="1891553" y="90976"/>
                    <a:pt x="1891553" y="203200"/>
                  </a:cubicBezTo>
                  <a:cubicBezTo>
                    <a:pt x="1891553" y="315424"/>
                    <a:pt x="1800577" y="406400"/>
                    <a:pt x="168835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D7BB"/>
            </a:solidFill>
            <a:ln>
              <a:solidFill>
                <a:srgbClr val="00D7BB"/>
              </a:solidFill>
            </a:ln>
          </p:spPr>
          <p:txBody>
            <a:bodyPr/>
            <a:lstStyle/>
            <a:p>
              <a:endParaRPr lang="en-US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891553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889008" y="6690875"/>
            <a:ext cx="4951192" cy="1063763"/>
            <a:chOff x="0" y="0"/>
            <a:chExt cx="1891553" cy="40640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91553" cy="406400"/>
            </a:xfrm>
            <a:custGeom>
              <a:avLst/>
              <a:gdLst/>
              <a:ahLst/>
              <a:cxnLst/>
              <a:rect l="l" t="t" r="r" b="b"/>
              <a:pathLst>
                <a:path w="1891553" h="406400">
                  <a:moveTo>
                    <a:pt x="1688353" y="0"/>
                  </a:moveTo>
                  <a:cubicBezTo>
                    <a:pt x="1800577" y="0"/>
                    <a:pt x="1891553" y="90976"/>
                    <a:pt x="1891553" y="203200"/>
                  </a:cubicBezTo>
                  <a:cubicBezTo>
                    <a:pt x="1891553" y="315424"/>
                    <a:pt x="1800577" y="406400"/>
                    <a:pt x="168835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D7BB"/>
            </a:solidFill>
            <a:ln>
              <a:solidFill>
                <a:srgbClr val="00D7BB"/>
              </a:solidFill>
            </a:ln>
          </p:spPr>
          <p:txBody>
            <a:bodyPr/>
            <a:lstStyle/>
            <a:p>
              <a:endParaRPr lang="en-US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891553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04788" y="4649823"/>
            <a:ext cx="4951192" cy="1908780"/>
            <a:chOff x="0" y="0"/>
            <a:chExt cx="1891553" cy="40640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0" name="Freeform 20"/>
            <p:cNvSpPr/>
            <p:nvPr/>
          </p:nvSpPr>
          <p:spPr>
            <a:xfrm>
              <a:off x="0" y="0"/>
              <a:ext cx="1891553" cy="406400"/>
            </a:xfrm>
            <a:custGeom>
              <a:avLst/>
              <a:gdLst/>
              <a:ahLst/>
              <a:cxnLst/>
              <a:rect l="l" t="t" r="r" b="b"/>
              <a:pathLst>
                <a:path w="1891553" h="406400">
                  <a:moveTo>
                    <a:pt x="1688353" y="0"/>
                  </a:moveTo>
                  <a:cubicBezTo>
                    <a:pt x="1800577" y="0"/>
                    <a:pt x="1891553" y="90976"/>
                    <a:pt x="1891553" y="203200"/>
                  </a:cubicBezTo>
                  <a:cubicBezTo>
                    <a:pt x="1891553" y="315424"/>
                    <a:pt x="1800577" y="406400"/>
                    <a:pt x="168835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3EEBE"/>
            </a:solidFill>
            <a:ln>
              <a:solidFill>
                <a:srgbClr val="23EEBE"/>
              </a:solidFill>
            </a:ln>
          </p:spPr>
          <p:txBody>
            <a:bodyPr/>
            <a:lstStyle/>
            <a:p>
              <a:endParaRPr lang="en-US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891553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746439" y="6894738"/>
            <a:ext cx="4951192" cy="1063763"/>
            <a:chOff x="0" y="0"/>
            <a:chExt cx="1891553" cy="40640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3" name="Freeform 23"/>
            <p:cNvSpPr/>
            <p:nvPr/>
          </p:nvSpPr>
          <p:spPr>
            <a:xfrm>
              <a:off x="0" y="0"/>
              <a:ext cx="1891553" cy="406400"/>
            </a:xfrm>
            <a:custGeom>
              <a:avLst/>
              <a:gdLst/>
              <a:ahLst/>
              <a:cxnLst/>
              <a:rect l="l" t="t" r="r" b="b"/>
              <a:pathLst>
                <a:path w="1891553" h="406400">
                  <a:moveTo>
                    <a:pt x="1688353" y="0"/>
                  </a:moveTo>
                  <a:cubicBezTo>
                    <a:pt x="1800577" y="0"/>
                    <a:pt x="1891553" y="90976"/>
                    <a:pt x="1891553" y="203200"/>
                  </a:cubicBezTo>
                  <a:cubicBezTo>
                    <a:pt x="1891553" y="315424"/>
                    <a:pt x="1800577" y="406400"/>
                    <a:pt x="168835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3EEBE"/>
            </a:solidFill>
            <a:ln>
              <a:solidFill>
                <a:srgbClr val="23EEBE"/>
              </a:solidFill>
            </a:ln>
          </p:spPr>
          <p:txBody>
            <a:bodyPr/>
            <a:lstStyle/>
            <a:p>
              <a:endParaRPr lang="en-US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1891553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181600" y="3021045"/>
            <a:ext cx="750855" cy="750855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r>
                <a:rPr lang="en-US" sz="1600" b="1" dirty="0">
                  <a:solidFill>
                    <a:srgbClr val="000000"/>
                  </a:solidFill>
                  <a:latin typeface="Poppins" panose="00000500000000000000" pitchFamily="2" charset="0"/>
                  <a:ea typeface="Inter Bold"/>
                  <a:cs typeface="Poppins" panose="00000500000000000000" pitchFamily="2" charset="0"/>
                  <a:sym typeface="Inter Bold"/>
                </a:rPr>
                <a:t>01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2265811" y="3138615"/>
            <a:ext cx="750855" cy="750855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r>
                <a:rPr lang="en-US" sz="1600" b="1">
                  <a:solidFill>
                    <a:srgbClr val="000000"/>
                  </a:solidFill>
                  <a:latin typeface="Poppins" panose="00000500000000000000" pitchFamily="2" charset="0"/>
                  <a:ea typeface="Inter Bold"/>
                  <a:cs typeface="Poppins" panose="00000500000000000000" pitchFamily="2" charset="0"/>
                  <a:sym typeface="Inter Bold"/>
                </a:rPr>
                <a:t>01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2718846" y="5143500"/>
            <a:ext cx="750855" cy="750855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r>
                <a:rPr lang="en-US" sz="1600" b="1">
                  <a:solidFill>
                    <a:srgbClr val="000000"/>
                  </a:solidFill>
                  <a:latin typeface="Poppins" panose="00000500000000000000" pitchFamily="2" charset="0"/>
                  <a:ea typeface="Inter Bold"/>
                  <a:cs typeface="Poppins" panose="00000500000000000000" pitchFamily="2" charset="0"/>
                  <a:sym typeface="Inter Bold"/>
                </a:rPr>
                <a:t>02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1994913" y="6847330"/>
            <a:ext cx="750855" cy="750855"/>
            <a:chOff x="0" y="0"/>
            <a:chExt cx="812800" cy="8128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r>
                <a:rPr lang="en-US" sz="1600" b="1">
                  <a:solidFill>
                    <a:srgbClr val="000000"/>
                  </a:solidFill>
                  <a:latin typeface="Poppins" panose="00000500000000000000" pitchFamily="2" charset="0"/>
                  <a:ea typeface="Inter Bold"/>
                  <a:cs typeface="Poppins" panose="00000500000000000000" pitchFamily="2" charset="0"/>
                  <a:sym typeface="Inter Bold"/>
                </a:rPr>
                <a:t>03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4724400" y="5212232"/>
            <a:ext cx="750855" cy="750855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r>
                <a:rPr lang="en-US" sz="1600" b="1">
                  <a:solidFill>
                    <a:srgbClr val="000000"/>
                  </a:solidFill>
                  <a:latin typeface="Poppins" panose="00000500000000000000" pitchFamily="2" charset="0"/>
                  <a:ea typeface="Inter Bold"/>
                  <a:cs typeface="Poppins" panose="00000500000000000000" pitchFamily="2" charset="0"/>
                  <a:sym typeface="Inter Bold"/>
                </a:rPr>
                <a:t>02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715000" y="7051193"/>
            <a:ext cx="750855" cy="750855"/>
            <a:chOff x="0" y="0"/>
            <a:chExt cx="812800" cy="8128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r>
                <a:rPr lang="en-US" sz="1600" b="1" dirty="0">
                  <a:solidFill>
                    <a:srgbClr val="000000"/>
                  </a:solidFill>
                  <a:latin typeface="Poppins" panose="00000500000000000000" pitchFamily="2" charset="0"/>
                  <a:ea typeface="Inter Bold"/>
                  <a:cs typeface="Poppins" panose="00000500000000000000" pitchFamily="2" charset="0"/>
                  <a:sym typeface="Inter Bold"/>
                </a:rPr>
                <a:t>03</a:t>
              </a:r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5856202" y="5112847"/>
            <a:ext cx="2314499" cy="427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800" b="1" dirty="0">
                <a:solidFill>
                  <a:schemeClr val="bg1"/>
                </a:solidFill>
                <a:latin typeface="Poppins" panose="00000500000000000000" pitchFamily="2" charset="0"/>
                <a:ea typeface="Inter Bold"/>
                <a:cs typeface="Poppins" panose="00000500000000000000" pitchFamily="2" charset="0"/>
                <a:sym typeface="Inter Bold"/>
              </a:rPr>
              <a:t>Restrictions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8656433" y="5095875"/>
            <a:ext cx="975135" cy="413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FFFFFF"/>
                </a:solidFill>
                <a:latin typeface="Poppins" panose="00000500000000000000" pitchFamily="2" charset="0"/>
                <a:ea typeface="Inter Bold"/>
                <a:cs typeface="Poppins" panose="00000500000000000000" pitchFamily="2" charset="0"/>
                <a:sym typeface="Inter Bold"/>
              </a:rPr>
              <a:t>VS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0210800" y="5095875"/>
            <a:ext cx="2130157" cy="863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FFFFFF"/>
                </a:solidFill>
                <a:latin typeface="Poppins" panose="00000500000000000000" pitchFamily="2" charset="0"/>
                <a:ea typeface="Inter Bold"/>
                <a:cs typeface="Poppins" panose="00000500000000000000" pitchFamily="2" charset="0"/>
                <a:sym typeface="Inter Bold"/>
              </a:rPr>
              <a:t>Review Gating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746439" y="2944371"/>
            <a:ext cx="3420986" cy="8757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40"/>
              </a:lnSpc>
              <a:spcBef>
                <a:spcPct val="0"/>
              </a:spcBef>
            </a:pPr>
            <a:r>
              <a:rPr lang="en-US" dirty="0">
                <a:solidFill>
                  <a:srgbClr val="002B11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All guests are required to agree to a “no review” condition as part of booking.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3261039" y="2836501"/>
            <a:ext cx="3414809" cy="1161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0"/>
              </a:lnSpc>
              <a:spcBef>
                <a:spcPct val="0"/>
              </a:spcBef>
            </a:pPr>
            <a:r>
              <a:rPr lang="en-US" dirty="0">
                <a:solidFill>
                  <a:srgbClr val="002B11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The property pre-screens guests and only encourages positive-experience guests to review.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3601209" y="4762500"/>
            <a:ext cx="3414809" cy="1458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0"/>
              </a:lnSpc>
              <a:spcBef>
                <a:spcPct val="0"/>
              </a:spcBef>
            </a:pPr>
            <a:r>
              <a:rPr lang="en-US" b="1" dirty="0">
                <a:solidFill>
                  <a:srgbClr val="002B11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Example:</a:t>
            </a:r>
          </a:p>
          <a:p>
            <a:pPr algn="ctr">
              <a:lnSpc>
                <a:spcPts val="2340"/>
              </a:lnSpc>
              <a:spcBef>
                <a:spcPct val="0"/>
              </a:spcBef>
            </a:pPr>
            <a:r>
              <a:rPr lang="en-US" sz="1600" i="1" dirty="0">
                <a:solidFill>
                  <a:srgbClr val="002B11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 “If you had a positive experience, please review us on Tripadvisor. If negative, tell us privately.”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2917217" y="7067500"/>
            <a:ext cx="3414809" cy="283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0"/>
              </a:lnSpc>
              <a:spcBef>
                <a:spcPct val="0"/>
              </a:spcBef>
            </a:pPr>
            <a:r>
              <a:rPr lang="en-US" b="1" dirty="0">
                <a:solidFill>
                  <a:srgbClr val="002B11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➡️ Escalate to INV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111161" y="4991100"/>
            <a:ext cx="3414809" cy="1163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0"/>
              </a:lnSpc>
              <a:spcBef>
                <a:spcPct val="0"/>
              </a:spcBef>
            </a:pPr>
            <a:r>
              <a:rPr lang="en-US" b="1" dirty="0">
                <a:solidFill>
                  <a:srgbClr val="002B11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Example:</a:t>
            </a:r>
          </a:p>
          <a:p>
            <a:pPr algn="ctr">
              <a:lnSpc>
                <a:spcPts val="2340"/>
              </a:lnSpc>
              <a:spcBef>
                <a:spcPct val="0"/>
              </a:spcBef>
            </a:pPr>
            <a:r>
              <a:rPr lang="en-US" dirty="0">
                <a:solidFill>
                  <a:srgbClr val="002B11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 </a:t>
            </a:r>
            <a:r>
              <a:rPr lang="en-US" sz="1600" i="1" dirty="0">
                <a:solidFill>
                  <a:srgbClr val="002B11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“Guests agree not to write a review about their experience as part of this booking agreement.”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2260315" y="7298809"/>
            <a:ext cx="3414809" cy="283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0"/>
              </a:lnSpc>
              <a:spcBef>
                <a:spcPct val="0"/>
              </a:spcBef>
            </a:pPr>
            <a:r>
              <a:rPr lang="en-US" b="1" dirty="0">
                <a:solidFill>
                  <a:srgbClr val="002B11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➡️ Escalate to INV</a:t>
            </a:r>
          </a:p>
        </p:txBody>
      </p:sp>
      <p:sp>
        <p:nvSpPr>
          <p:cNvPr id="65" name="TextBox 2">
            <a:extLst>
              <a:ext uri="{FF2B5EF4-FFF2-40B4-BE49-F238E27FC236}">
                <a16:creationId xmlns:a16="http://schemas.microsoft.com/office/drawing/2014/main" id="{D1FEBDB9-1D3C-F7C8-7774-B2E11A29C799}"/>
              </a:ext>
            </a:extLst>
          </p:cNvPr>
          <p:cNvSpPr txBox="1"/>
          <p:nvPr/>
        </p:nvSpPr>
        <p:spPr>
          <a:xfrm>
            <a:off x="1263619" y="574461"/>
            <a:ext cx="10168384" cy="888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sz="5199" b="1" dirty="0">
                <a:solidFill>
                  <a:srgbClr val="000000"/>
                </a:solidFill>
                <a:latin typeface="Poppins" panose="00000500000000000000" pitchFamily="2" charset="0"/>
                <a:ea typeface="Poppins Bold"/>
                <a:cs typeface="Poppins" panose="00000500000000000000" pitchFamily="2" charset="0"/>
                <a:sym typeface="Poppins Bold"/>
              </a:rPr>
              <a:t>Review Gating vs. Restrictions</a:t>
            </a:r>
          </a:p>
        </p:txBody>
      </p:sp>
      <p:sp>
        <p:nvSpPr>
          <p:cNvPr id="67" name="TextBox 3">
            <a:extLst>
              <a:ext uri="{FF2B5EF4-FFF2-40B4-BE49-F238E27FC236}">
                <a16:creationId xmlns:a16="http://schemas.microsoft.com/office/drawing/2014/main" id="{727555BD-A5B9-50DB-B173-8874510DE7E9}"/>
              </a:ext>
            </a:extLst>
          </p:cNvPr>
          <p:cNvSpPr txBox="1"/>
          <p:nvPr/>
        </p:nvSpPr>
        <p:spPr>
          <a:xfrm>
            <a:off x="1263619" y="1608148"/>
            <a:ext cx="14785628" cy="391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6"/>
              </a:lnSpc>
              <a:spcBef>
                <a:spcPct val="0"/>
              </a:spcBef>
            </a:pPr>
            <a:r>
              <a:rPr lang="en-US" sz="2204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Both Review Gating and Restrictions can manipulate or suppress reviews, but they are not the same thing.</a:t>
            </a:r>
          </a:p>
        </p:txBody>
      </p:sp>
      <p:sp>
        <p:nvSpPr>
          <p:cNvPr id="70" name="TextBox 8">
            <a:extLst>
              <a:ext uri="{FF2B5EF4-FFF2-40B4-BE49-F238E27FC236}">
                <a16:creationId xmlns:a16="http://schemas.microsoft.com/office/drawing/2014/main" id="{866125C5-1F47-A6FE-24F7-DA29086A9305}"/>
              </a:ext>
            </a:extLst>
          </p:cNvPr>
          <p:cNvSpPr txBox="1"/>
          <p:nvPr/>
        </p:nvSpPr>
        <p:spPr>
          <a:xfrm>
            <a:off x="5156110" y="7902290"/>
            <a:ext cx="3520779" cy="192795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6"/>
              </a:lnSpc>
            </a:pPr>
            <a:endParaRPr/>
          </a:p>
        </p:txBody>
      </p:sp>
      <p:sp>
        <p:nvSpPr>
          <p:cNvPr id="71" name="TextBox 13">
            <a:extLst>
              <a:ext uri="{FF2B5EF4-FFF2-40B4-BE49-F238E27FC236}">
                <a16:creationId xmlns:a16="http://schemas.microsoft.com/office/drawing/2014/main" id="{7A3BD7BE-DF15-CA14-9C85-112D67314972}"/>
              </a:ext>
            </a:extLst>
          </p:cNvPr>
          <p:cNvSpPr txBox="1"/>
          <p:nvPr/>
        </p:nvSpPr>
        <p:spPr>
          <a:xfrm>
            <a:off x="7931204" y="8528139"/>
            <a:ext cx="7037986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9979" lvl="1"/>
            <a:r>
              <a:rPr lang="en-US" dirty="0">
                <a:solidFill>
                  <a:srgbClr val="000000"/>
                </a:solidFill>
                <a:latin typeface="Poppins" panose="00000500000000000000" pitchFamily="2" charset="0"/>
                <a:ea typeface="Inter Bold"/>
                <a:cs typeface="Poppins" panose="00000500000000000000" pitchFamily="2" charset="0"/>
                <a:sym typeface="Inter Bold"/>
              </a:rPr>
              <a:t>Tripadvisor does not help owners enforce these agreements.</a:t>
            </a:r>
          </a:p>
          <a:p>
            <a:pPr marL="129979" lvl="1"/>
            <a:endParaRPr lang="en-US" dirty="0">
              <a:solidFill>
                <a:srgbClr val="000000"/>
              </a:solidFill>
              <a:latin typeface="Poppins" panose="00000500000000000000" pitchFamily="2" charset="0"/>
              <a:ea typeface="Inter Bold"/>
              <a:cs typeface="Poppins" panose="00000500000000000000" pitchFamily="2" charset="0"/>
              <a:sym typeface="Inter Bold"/>
            </a:endParaRPr>
          </a:p>
          <a:p>
            <a:pPr marL="129979" lvl="1"/>
            <a:r>
              <a:rPr lang="en-US" dirty="0">
                <a:solidFill>
                  <a:srgbClr val="000000"/>
                </a:solidFill>
                <a:latin typeface="Poppins" panose="00000500000000000000" pitchFamily="2" charset="0"/>
                <a:ea typeface="Inter Bold"/>
                <a:cs typeface="Poppins" panose="00000500000000000000" pitchFamily="2" charset="0"/>
                <a:sym typeface="Inter Bold"/>
              </a:rPr>
              <a:t>A review should not be removed simply because a user agreed not to review in exchange for a refund.</a:t>
            </a:r>
          </a:p>
          <a:p>
            <a:pPr>
              <a:spcBef>
                <a:spcPct val="0"/>
              </a:spcBef>
            </a:pPr>
            <a:endParaRPr lang="en-US" dirty="0">
              <a:solidFill>
                <a:srgbClr val="000000"/>
              </a:solidFill>
              <a:latin typeface="Poppins" panose="00000500000000000000" pitchFamily="2" charset="0"/>
              <a:ea typeface="Inter Bold"/>
              <a:cs typeface="Poppins" panose="00000500000000000000" pitchFamily="2" charset="0"/>
              <a:sym typeface="Inter Bold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AA8DBE-A15D-FBAA-3CE0-F2716C221461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Tripadvisor / Fraud support / Review gating vs restrictions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A389B9A-B93D-FECE-8DA6-CFD36098BB3E}"/>
              </a:ext>
            </a:extLst>
          </p:cNvPr>
          <p:cNvSpPr/>
          <p:nvPr/>
        </p:nvSpPr>
        <p:spPr>
          <a:xfrm>
            <a:off x="5943600" y="3339439"/>
            <a:ext cx="3803865" cy="3657600"/>
          </a:xfrm>
          <a:prstGeom prst="ellipse">
            <a:avLst/>
          </a:prstGeom>
          <a:solidFill>
            <a:srgbClr val="23EEBE"/>
          </a:solidFill>
          <a:ln>
            <a:solidFill>
              <a:srgbClr val="23EEBE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1600"/>
            <a:endParaRPr lang="en-US" sz="270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D160DC1C-D28F-A965-7667-89960AC9FB59}"/>
              </a:ext>
            </a:extLst>
          </p:cNvPr>
          <p:cNvSpPr/>
          <p:nvPr/>
        </p:nvSpPr>
        <p:spPr>
          <a:xfrm>
            <a:off x="8540535" y="3339439"/>
            <a:ext cx="3803865" cy="3657600"/>
          </a:xfrm>
          <a:prstGeom prst="ellipse">
            <a:avLst/>
          </a:prstGeom>
          <a:solidFill>
            <a:srgbClr val="00D7BB"/>
          </a:solidFill>
          <a:ln>
            <a:solidFill>
              <a:srgbClr val="00E2C7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1600"/>
            <a:endParaRPr lang="en-US" sz="270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8AD2E51E-F607-445A-F86B-7E523BA3F69A}"/>
              </a:ext>
            </a:extLst>
          </p:cNvPr>
          <p:cNvSpPr/>
          <p:nvPr/>
        </p:nvSpPr>
        <p:spPr>
          <a:xfrm>
            <a:off x="8540535" y="3834530"/>
            <a:ext cx="1206929" cy="2667417"/>
          </a:xfrm>
          <a:custGeom>
            <a:avLst/>
            <a:gdLst>
              <a:gd name="connsiteX0" fmla="*/ 561252 w 1122504"/>
              <a:gd name="connsiteY0" fmla="*/ 0 h 2580036"/>
              <a:gd name="connsiteX1" fmla="*/ 604408 w 1122504"/>
              <a:gd name="connsiteY1" fmla="*/ 39223 h 2580036"/>
              <a:gd name="connsiteX2" fmla="*/ 1122504 w 1122504"/>
              <a:gd name="connsiteY2" fmla="*/ 1290018 h 2580036"/>
              <a:gd name="connsiteX3" fmla="*/ 604408 w 1122504"/>
              <a:gd name="connsiteY3" fmla="*/ 2540813 h 2580036"/>
              <a:gd name="connsiteX4" fmla="*/ 561252 w 1122504"/>
              <a:gd name="connsiteY4" fmla="*/ 2580036 h 2580036"/>
              <a:gd name="connsiteX5" fmla="*/ 518096 w 1122504"/>
              <a:gd name="connsiteY5" fmla="*/ 2540813 h 2580036"/>
              <a:gd name="connsiteX6" fmla="*/ 0 w 1122504"/>
              <a:gd name="connsiteY6" fmla="*/ 1290018 h 2580036"/>
              <a:gd name="connsiteX7" fmla="*/ 518096 w 1122504"/>
              <a:gd name="connsiteY7" fmla="*/ 39223 h 2580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22504" h="2580036">
                <a:moveTo>
                  <a:pt x="561252" y="0"/>
                </a:moveTo>
                <a:lnTo>
                  <a:pt x="604408" y="39223"/>
                </a:lnTo>
                <a:cubicBezTo>
                  <a:pt x="924515" y="359329"/>
                  <a:pt x="1122504" y="801552"/>
                  <a:pt x="1122504" y="1290018"/>
                </a:cubicBezTo>
                <a:cubicBezTo>
                  <a:pt x="1122504" y="1778484"/>
                  <a:pt x="924515" y="2220707"/>
                  <a:pt x="604408" y="2540813"/>
                </a:cubicBezTo>
                <a:lnTo>
                  <a:pt x="561252" y="2580036"/>
                </a:lnTo>
                <a:lnTo>
                  <a:pt x="518096" y="2540813"/>
                </a:lnTo>
                <a:cubicBezTo>
                  <a:pt x="197990" y="2220707"/>
                  <a:pt x="0" y="1778484"/>
                  <a:pt x="0" y="1290018"/>
                </a:cubicBezTo>
                <a:cubicBezTo>
                  <a:pt x="0" y="801552"/>
                  <a:pt x="197990" y="359329"/>
                  <a:pt x="518096" y="39223"/>
                </a:cubicBezTo>
                <a:close/>
              </a:path>
            </a:pathLst>
          </a:custGeom>
          <a:solidFill>
            <a:srgbClr val="00E2C7"/>
          </a:solidFill>
          <a:ln>
            <a:solidFill>
              <a:srgbClr val="00E2C7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1371600"/>
            <a:endParaRPr lang="en-US" sz="270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8" name="TextBox 56">
            <a:extLst>
              <a:ext uri="{FF2B5EF4-FFF2-40B4-BE49-F238E27FC236}">
                <a16:creationId xmlns:a16="http://schemas.microsoft.com/office/drawing/2014/main" id="{73802192-1B70-B0BA-9EE7-9BA8BFA18B01}"/>
              </a:ext>
            </a:extLst>
          </p:cNvPr>
          <p:cNvSpPr txBox="1"/>
          <p:nvPr/>
        </p:nvSpPr>
        <p:spPr>
          <a:xfrm>
            <a:off x="5867088" y="4161978"/>
            <a:ext cx="3420986" cy="321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40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002B11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Restrictions</a:t>
            </a:r>
          </a:p>
        </p:txBody>
      </p:sp>
      <p:sp>
        <p:nvSpPr>
          <p:cNvPr id="80" name="TextBox 56">
            <a:extLst>
              <a:ext uri="{FF2B5EF4-FFF2-40B4-BE49-F238E27FC236}">
                <a16:creationId xmlns:a16="http://schemas.microsoft.com/office/drawing/2014/main" id="{6708CF74-651E-3C6E-82EB-CC938A647A83}"/>
              </a:ext>
            </a:extLst>
          </p:cNvPr>
          <p:cNvSpPr txBox="1"/>
          <p:nvPr/>
        </p:nvSpPr>
        <p:spPr>
          <a:xfrm>
            <a:off x="8901642" y="4011236"/>
            <a:ext cx="3420986" cy="861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800" b="1" dirty="0">
                <a:solidFill>
                  <a:srgbClr val="002B11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Review</a:t>
            </a:r>
          </a:p>
          <a:p>
            <a:pPr algn="ctr">
              <a:spcBef>
                <a:spcPct val="0"/>
              </a:spcBef>
            </a:pPr>
            <a:r>
              <a:rPr lang="en-US" sz="2800" b="1" dirty="0">
                <a:solidFill>
                  <a:srgbClr val="002B11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Gating</a:t>
            </a:r>
          </a:p>
        </p:txBody>
      </p:sp>
      <p:sp>
        <p:nvSpPr>
          <p:cNvPr id="82" name="TextBox 56">
            <a:extLst>
              <a:ext uri="{FF2B5EF4-FFF2-40B4-BE49-F238E27FC236}">
                <a16:creationId xmlns:a16="http://schemas.microsoft.com/office/drawing/2014/main" id="{9263AA19-3D65-383D-3160-26738B58D939}"/>
              </a:ext>
            </a:extLst>
          </p:cNvPr>
          <p:cNvSpPr txBox="1"/>
          <p:nvPr/>
        </p:nvSpPr>
        <p:spPr>
          <a:xfrm>
            <a:off x="8613474" y="5163640"/>
            <a:ext cx="1010688" cy="321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40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002B11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VS</a:t>
            </a:r>
          </a:p>
        </p:txBody>
      </p:sp>
      <p:sp>
        <p:nvSpPr>
          <p:cNvPr id="84" name="TextBox 13">
            <a:extLst>
              <a:ext uri="{FF2B5EF4-FFF2-40B4-BE49-F238E27FC236}">
                <a16:creationId xmlns:a16="http://schemas.microsoft.com/office/drawing/2014/main" id="{A41114D8-48F5-4841-4640-0F68260E207C}"/>
              </a:ext>
            </a:extLst>
          </p:cNvPr>
          <p:cNvSpPr txBox="1"/>
          <p:nvPr/>
        </p:nvSpPr>
        <p:spPr>
          <a:xfrm>
            <a:off x="6189932" y="8866673"/>
            <a:ext cx="1684179" cy="3385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200" b="1" dirty="0">
                <a:solidFill>
                  <a:srgbClr val="000000"/>
                </a:solidFill>
                <a:latin typeface="Poppins" panose="00000500000000000000" pitchFamily="2" charset="0"/>
                <a:ea typeface="Inter Bold"/>
                <a:cs typeface="Poppins" panose="00000500000000000000" pitchFamily="2" charset="0"/>
                <a:sym typeface="Inter Bold"/>
              </a:rPr>
              <a:t>REMEMBER</a:t>
            </a:r>
            <a:endParaRPr lang="en-US" sz="2200" dirty="0">
              <a:solidFill>
                <a:srgbClr val="000000"/>
              </a:solidFill>
              <a:latin typeface="Poppins" panose="00000500000000000000" pitchFamily="2" charset="0"/>
              <a:ea typeface="Inter Bold"/>
              <a:cs typeface="Poppins" panose="00000500000000000000" pitchFamily="2" charset="0"/>
              <a:sym typeface="Inter Bold"/>
            </a:endParaRPr>
          </a:p>
        </p:txBody>
      </p:sp>
      <p:sp>
        <p:nvSpPr>
          <p:cNvPr id="15" name="Freeform 4">
            <a:extLst>
              <a:ext uri="{FF2B5EF4-FFF2-40B4-BE49-F238E27FC236}">
                <a16:creationId xmlns:a16="http://schemas.microsoft.com/office/drawing/2014/main" id="{D36A0D6E-BE04-99EE-0F66-A01C15A0DB54}"/>
              </a:ext>
            </a:extLst>
          </p:cNvPr>
          <p:cNvSpPr/>
          <p:nvPr/>
        </p:nvSpPr>
        <p:spPr>
          <a:xfrm>
            <a:off x="10118997" y="5073834"/>
            <a:ext cx="1471371" cy="1428113"/>
          </a:xfrm>
          <a:custGeom>
            <a:avLst/>
            <a:gdLst/>
            <a:ahLst/>
            <a:cxnLst/>
            <a:rect l="l" t="t" r="r" b="b"/>
            <a:pathLst>
              <a:path w="3230118" h="4114800">
                <a:moveTo>
                  <a:pt x="0" y="0"/>
                </a:moveTo>
                <a:lnTo>
                  <a:pt x="3230118" y="0"/>
                </a:lnTo>
                <a:lnTo>
                  <a:pt x="32301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6D0A426D-518D-1279-FFAD-038217736A8D}"/>
              </a:ext>
            </a:extLst>
          </p:cNvPr>
          <p:cNvSpPr/>
          <p:nvPr/>
        </p:nvSpPr>
        <p:spPr>
          <a:xfrm>
            <a:off x="6756364" y="5100323"/>
            <a:ext cx="1479287" cy="140589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Freeform 6">
            <a:extLst>
              <a:ext uri="{FF2B5EF4-FFF2-40B4-BE49-F238E27FC236}">
                <a16:creationId xmlns:a16="http://schemas.microsoft.com/office/drawing/2014/main" id="{3873B595-723D-3B88-86CA-3018CCE31DE5}"/>
              </a:ext>
            </a:extLst>
          </p:cNvPr>
          <p:cNvSpPr/>
          <p:nvPr/>
        </p:nvSpPr>
        <p:spPr>
          <a:xfrm>
            <a:off x="5360780" y="8088175"/>
            <a:ext cx="1165640" cy="877789"/>
          </a:xfrm>
          <a:custGeom>
            <a:avLst/>
            <a:gdLst/>
            <a:ahLst/>
            <a:cxnLst/>
            <a:rect l="l" t="t" r="r" b="b"/>
            <a:pathLst>
              <a:path w="5450066" h="4114800">
                <a:moveTo>
                  <a:pt x="0" y="0"/>
                </a:moveTo>
                <a:lnTo>
                  <a:pt x="5450066" y="0"/>
                </a:lnTo>
                <a:lnTo>
                  <a:pt x="54500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4702565" y="7695795"/>
            <a:ext cx="4206240" cy="1804304"/>
          </a:xfrm>
          <a:custGeom>
            <a:avLst/>
            <a:gdLst/>
            <a:ahLst/>
            <a:cxnLst/>
            <a:rect l="l" t="t" r="r" b="b"/>
            <a:pathLst>
              <a:path w="3512027" h="1804304">
                <a:moveTo>
                  <a:pt x="0" y="0"/>
                </a:moveTo>
                <a:lnTo>
                  <a:pt x="3512027" y="0"/>
                </a:lnTo>
                <a:lnTo>
                  <a:pt x="3512027" y="1804304"/>
                </a:lnTo>
                <a:lnTo>
                  <a:pt x="0" y="18043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" name="Freeform 2"/>
          <p:cNvSpPr/>
          <p:nvPr/>
        </p:nvSpPr>
        <p:spPr>
          <a:xfrm>
            <a:off x="558084" y="3788918"/>
            <a:ext cx="4206240" cy="1804304"/>
          </a:xfrm>
          <a:custGeom>
            <a:avLst/>
            <a:gdLst/>
            <a:ahLst/>
            <a:cxnLst/>
            <a:rect l="l" t="t" r="r" b="b"/>
            <a:pathLst>
              <a:path w="3512027" h="1804304">
                <a:moveTo>
                  <a:pt x="0" y="0"/>
                </a:moveTo>
                <a:lnTo>
                  <a:pt x="3512027" y="0"/>
                </a:lnTo>
                <a:lnTo>
                  <a:pt x="3512027" y="1804304"/>
                </a:lnTo>
                <a:lnTo>
                  <a:pt x="0" y="18043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9585090" y="3812731"/>
            <a:ext cx="4207109" cy="1804304"/>
          </a:xfrm>
          <a:custGeom>
            <a:avLst/>
            <a:gdLst/>
            <a:ahLst/>
            <a:cxnLst/>
            <a:rect l="l" t="t" r="r" b="b"/>
            <a:pathLst>
              <a:path w="3512027" h="1804304">
                <a:moveTo>
                  <a:pt x="0" y="0"/>
                </a:moveTo>
                <a:lnTo>
                  <a:pt x="3512027" y="0"/>
                </a:lnTo>
                <a:lnTo>
                  <a:pt x="3512027" y="1804304"/>
                </a:lnTo>
                <a:lnTo>
                  <a:pt x="0" y="18043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950761" y="4276719"/>
            <a:ext cx="2032747" cy="7262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Poppins" panose="00000500000000000000" pitchFamily="2" charset="0"/>
                <a:ea typeface="Roboto Bold"/>
                <a:cs typeface="Poppins" panose="00000500000000000000" pitchFamily="2" charset="0"/>
                <a:sym typeface="Roboto Bold"/>
              </a:rPr>
              <a:t>Customer Support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721301" y="4481717"/>
            <a:ext cx="2019352" cy="3651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4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Community</a:t>
            </a:r>
            <a:endParaRPr lang="en-US" sz="2100" b="1" dirty="0">
              <a:solidFill>
                <a:srgbClr val="000000"/>
              </a:solidFill>
              <a:latin typeface="Poppins" panose="00000500000000000000" pitchFamily="2" charset="0"/>
              <a:ea typeface="Roboto Bold"/>
              <a:cs typeface="Poppins" panose="00000500000000000000" pitchFamily="2" charset="0"/>
              <a:sym typeface="Roboto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6805685" y="8444251"/>
            <a:ext cx="1558120" cy="307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Places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047181" y="3128882"/>
            <a:ext cx="4466916" cy="28668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Poppins" panose="00000500000000000000" pitchFamily="2" charset="0"/>
                <a:ea typeface="Roboto"/>
                <a:cs typeface="Poppins" panose="00000500000000000000" pitchFamily="2" charset="0"/>
                <a:sym typeface="Roboto"/>
              </a:rPr>
              <a:t>For issues with no fraud/moderation component.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Poppins" panose="00000500000000000000" pitchFamily="2" charset="0"/>
                <a:ea typeface="Roboto"/>
                <a:cs typeface="Poppins" panose="00000500000000000000" pitchFamily="2" charset="0"/>
                <a:sym typeface="Roboto"/>
              </a:rPr>
              <a:t>Example:</a:t>
            </a:r>
          </a:p>
          <a:p>
            <a:pPr marL="845818" lvl="2" indent="-194309">
              <a:lnSpc>
                <a:spcPct val="150000"/>
              </a:lnSpc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  <a:latin typeface="Poppins" panose="00000500000000000000" pitchFamily="2" charset="0"/>
                <a:ea typeface="Roboto"/>
                <a:cs typeface="Poppins" panose="00000500000000000000" pitchFamily="2" charset="0"/>
                <a:sym typeface="Roboto"/>
              </a:rPr>
              <a:t>Password/account access</a:t>
            </a:r>
          </a:p>
          <a:p>
            <a:pPr marL="845818" lvl="2" indent="-194309">
              <a:lnSpc>
                <a:spcPct val="150000"/>
              </a:lnSpc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  <a:latin typeface="Poppins" panose="00000500000000000000" pitchFamily="2" charset="0"/>
                <a:ea typeface="Roboto"/>
                <a:cs typeface="Poppins" panose="00000500000000000000" pitchFamily="2" charset="0"/>
                <a:sym typeface="Roboto"/>
              </a:rPr>
              <a:t>Changing listing name/closure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Action: </a:t>
            </a:r>
            <a:r>
              <a:rPr lang="en-US" dirty="0">
                <a:solidFill>
                  <a:srgbClr val="000000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Clean FS jargon → summarize → Submit as Solved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137251" y="3412957"/>
            <a:ext cx="3738357" cy="24537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For:</a:t>
            </a: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User-to-user bullying</a:t>
            </a: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Problematic profile photos</a:t>
            </a: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Account deletion</a:t>
            </a: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Forum/Q&amp;A content</a:t>
            </a: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Action: ?????????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44000" y="7842618"/>
            <a:ext cx="4330808" cy="16203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marR="0" lvl="0" indent="-342900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For listing problems that don't need a reply.</a:t>
            </a:r>
          </a:p>
          <a:p>
            <a:pPr marL="342900" marR="0" lvl="0" indent="-342900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Action: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Owner requests needing a reply → CS instead.</a:t>
            </a:r>
          </a:p>
        </p:txBody>
      </p:sp>
      <p:sp>
        <p:nvSpPr>
          <p:cNvPr id="18" name="TextBox 2">
            <a:extLst>
              <a:ext uri="{FF2B5EF4-FFF2-40B4-BE49-F238E27FC236}">
                <a16:creationId xmlns:a16="http://schemas.microsoft.com/office/drawing/2014/main" id="{D13326FF-12CE-5BF5-0A5C-AAF700816064}"/>
              </a:ext>
            </a:extLst>
          </p:cNvPr>
          <p:cNvSpPr txBox="1"/>
          <p:nvPr/>
        </p:nvSpPr>
        <p:spPr>
          <a:xfrm>
            <a:off x="1132724" y="652428"/>
            <a:ext cx="8917037" cy="934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sz="519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Escalating to Other Teams</a:t>
            </a:r>
          </a:p>
        </p:txBody>
      </p:sp>
      <p:sp>
        <p:nvSpPr>
          <p:cNvPr id="20" name="TextBox 3">
            <a:extLst>
              <a:ext uri="{FF2B5EF4-FFF2-40B4-BE49-F238E27FC236}">
                <a16:creationId xmlns:a16="http://schemas.microsoft.com/office/drawing/2014/main" id="{DF12A49C-40A9-11A4-2F6E-227309079E15}"/>
              </a:ext>
            </a:extLst>
          </p:cNvPr>
          <p:cNvSpPr txBox="1"/>
          <p:nvPr/>
        </p:nvSpPr>
        <p:spPr>
          <a:xfrm>
            <a:off x="1132724" y="1776822"/>
            <a:ext cx="14462162" cy="9542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2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Not every case belongs with Fraud Support: route non-fraud issues to the team best equipped to handle them.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4E4E1E-30D0-F978-6003-D40A79481F0F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Tripadvisor / Fraud support / Escalating to other teams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FF70E2F-7362-CC09-F671-22F6C60E69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145" y="4278968"/>
            <a:ext cx="647158" cy="69004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821768E-2AB0-C349-702F-6245BC0C89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8867" y="4418852"/>
            <a:ext cx="696836" cy="61351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67C4407-36C4-C353-FC55-8294283972C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3088" y="8233034"/>
            <a:ext cx="683241" cy="729826"/>
          </a:xfrm>
          <a:prstGeom prst="rect">
            <a:avLst/>
          </a:prstGeom>
          <a:effectLst/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201BC-2831-A9C3-EE14-A21095C57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2">
            <a:extLst>
              <a:ext uri="{FF2B5EF4-FFF2-40B4-BE49-F238E27FC236}">
                <a16:creationId xmlns:a16="http://schemas.microsoft.com/office/drawing/2014/main" id="{E71A2495-0751-0E05-8B9F-734369B705E7}"/>
              </a:ext>
            </a:extLst>
          </p:cNvPr>
          <p:cNvSpPr txBox="1"/>
          <p:nvPr/>
        </p:nvSpPr>
        <p:spPr>
          <a:xfrm>
            <a:off x="990600" y="497122"/>
            <a:ext cx="12625685" cy="886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59"/>
              </a:lnSpc>
              <a:spcBef>
                <a:spcPct val="0"/>
              </a:spcBef>
            </a:pPr>
            <a:r>
              <a:rPr lang="en-US" sz="519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Partner Escalations &amp; Unclear Tickets</a:t>
            </a:r>
          </a:p>
        </p:txBody>
      </p:sp>
      <p:sp>
        <p:nvSpPr>
          <p:cNvPr id="22" name="TextBox 3">
            <a:extLst>
              <a:ext uri="{FF2B5EF4-FFF2-40B4-BE49-F238E27FC236}">
                <a16:creationId xmlns:a16="http://schemas.microsoft.com/office/drawing/2014/main" id="{04DFF23A-254D-3E82-7C73-1EC743BF09C7}"/>
              </a:ext>
            </a:extLst>
          </p:cNvPr>
          <p:cNvSpPr txBox="1"/>
          <p:nvPr/>
        </p:nvSpPr>
        <p:spPr>
          <a:xfrm>
            <a:off x="990600" y="1492841"/>
            <a:ext cx="15392400" cy="4252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2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Partner cases have specific routes, while unclear internal escalations should be handled deliberately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499103-E6CB-52C4-705A-C63647096C2F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Tripadvisor / Fraud support / Partner escalations &amp; </a:t>
            </a:r>
            <a:r>
              <a:rPr lang="en-US" sz="1400" dirty="0">
                <a:solidFill>
                  <a:srgbClr val="8A8272"/>
                </a:solidFill>
                <a:latin typeface="Poppins"/>
              </a:rPr>
              <a:t>unclear tickets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43003DE-0939-1E59-31E8-84A4B31D5776}"/>
              </a:ext>
            </a:extLst>
          </p:cNvPr>
          <p:cNvGrpSpPr/>
          <p:nvPr/>
        </p:nvGrpSpPr>
        <p:grpSpPr>
          <a:xfrm>
            <a:off x="5954221" y="2618850"/>
            <a:ext cx="6379557" cy="6199281"/>
            <a:chOff x="4065802" y="1456172"/>
            <a:chExt cx="4060395" cy="3945655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3" name="Freeform 3">
              <a:extLst>
                <a:ext uri="{FF2B5EF4-FFF2-40B4-BE49-F238E27FC236}">
                  <a16:creationId xmlns:a16="http://schemas.microsoft.com/office/drawing/2014/main" id="{AF702581-14CF-C412-1FEE-DB5C95E93A51}"/>
                </a:ext>
              </a:extLst>
            </p:cNvPr>
            <p:cNvSpPr/>
            <p:nvPr/>
          </p:nvSpPr>
          <p:spPr>
            <a:xfrm>
              <a:off x="5892785" y="2521963"/>
              <a:ext cx="1914718" cy="2879864"/>
            </a:xfrm>
            <a:custGeom>
              <a:avLst/>
              <a:gdLst>
                <a:gd name="connsiteX0" fmla="*/ 69268 w 215051"/>
                <a:gd name="connsiteY0" fmla="*/ 321168 h 323451"/>
                <a:gd name="connsiteX1" fmla="*/ 128103 w 215051"/>
                <a:gd name="connsiteY1" fmla="*/ 263487 h 323451"/>
                <a:gd name="connsiteX2" fmla="*/ 103178 w 215051"/>
                <a:gd name="connsiteY2" fmla="*/ 263487 h 323451"/>
                <a:gd name="connsiteX3" fmla="*/ 95933 w 215051"/>
                <a:gd name="connsiteY3" fmla="*/ 255660 h 323451"/>
                <a:gd name="connsiteX4" fmla="*/ 96802 w 215051"/>
                <a:gd name="connsiteY4" fmla="*/ 166095 h 323451"/>
                <a:gd name="connsiteX5" fmla="*/ 203168 w 215051"/>
                <a:gd name="connsiteY5" fmla="*/ 5224 h 323451"/>
                <a:gd name="connsiteX6" fmla="*/ 215051 w 215051"/>
                <a:gd name="connsiteY6" fmla="*/ 7 h 323451"/>
                <a:gd name="connsiteX7" fmla="*/ 215051 w 215051"/>
                <a:gd name="connsiteY7" fmla="*/ 7 h 323451"/>
                <a:gd name="connsiteX8" fmla="*/ 33330 w 215051"/>
                <a:gd name="connsiteY8" fmla="*/ 177979 h 323451"/>
                <a:gd name="connsiteX9" fmla="*/ 32461 w 215051"/>
                <a:gd name="connsiteY9" fmla="*/ 255081 h 323451"/>
                <a:gd name="connsiteX10" fmla="*/ 24925 w 215051"/>
                <a:gd name="connsiteY10" fmla="*/ 262327 h 323451"/>
                <a:gd name="connsiteX11" fmla="*/ 0 w 215051"/>
                <a:gd name="connsiteY11" fmla="*/ 262327 h 323451"/>
                <a:gd name="connsiteX12" fmla="*/ 57675 w 215051"/>
                <a:gd name="connsiteY12" fmla="*/ 321168 h 323451"/>
                <a:gd name="connsiteX13" fmla="*/ 68399 w 215051"/>
                <a:gd name="connsiteY13" fmla="*/ 321168 h 323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5051" h="323451">
                  <a:moveTo>
                    <a:pt x="69268" y="321168"/>
                  </a:moveTo>
                  <a:lnTo>
                    <a:pt x="128103" y="263487"/>
                  </a:lnTo>
                  <a:lnTo>
                    <a:pt x="103178" y="263487"/>
                  </a:lnTo>
                  <a:cubicBezTo>
                    <a:pt x="99121" y="263487"/>
                    <a:pt x="95933" y="260008"/>
                    <a:pt x="95933" y="255660"/>
                  </a:cubicBezTo>
                  <a:lnTo>
                    <a:pt x="96802" y="166095"/>
                  </a:lnTo>
                  <a:cubicBezTo>
                    <a:pt x="97382" y="96239"/>
                    <a:pt x="139116" y="33341"/>
                    <a:pt x="203168" y="5224"/>
                  </a:cubicBezTo>
                  <a:lnTo>
                    <a:pt x="215051" y="7"/>
                  </a:lnTo>
                  <a:lnTo>
                    <a:pt x="215051" y="7"/>
                  </a:lnTo>
                  <a:cubicBezTo>
                    <a:pt x="115641" y="-862"/>
                    <a:pt x="34489" y="78848"/>
                    <a:pt x="33330" y="177979"/>
                  </a:cubicBezTo>
                  <a:lnTo>
                    <a:pt x="32461" y="255081"/>
                  </a:lnTo>
                  <a:cubicBezTo>
                    <a:pt x="32461" y="259139"/>
                    <a:pt x="28983" y="262327"/>
                    <a:pt x="24925" y="262327"/>
                  </a:cubicBezTo>
                  <a:lnTo>
                    <a:pt x="0" y="262327"/>
                  </a:lnTo>
                  <a:cubicBezTo>
                    <a:pt x="0" y="262327"/>
                    <a:pt x="57675" y="321168"/>
                    <a:pt x="57675" y="321168"/>
                  </a:cubicBezTo>
                  <a:cubicBezTo>
                    <a:pt x="60574" y="324066"/>
                    <a:pt x="65501" y="324356"/>
                    <a:pt x="68399" y="321168"/>
                  </a:cubicBezTo>
                  <a:close/>
                </a:path>
              </a:pathLst>
            </a:custGeom>
            <a:solidFill>
              <a:srgbClr val="6EA56C"/>
            </a:solidFill>
            <a:ln w="0" cap="flat">
              <a:solidFill>
                <a:srgbClr val="6EA56C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4" name="Freeform 4">
              <a:extLst>
                <a:ext uri="{FF2B5EF4-FFF2-40B4-BE49-F238E27FC236}">
                  <a16:creationId xmlns:a16="http://schemas.microsoft.com/office/drawing/2014/main" id="{2333FEA2-770F-F014-BE0A-EE502D17E939}"/>
                </a:ext>
              </a:extLst>
            </p:cNvPr>
            <p:cNvSpPr/>
            <p:nvPr/>
          </p:nvSpPr>
          <p:spPr>
            <a:xfrm>
              <a:off x="4065802" y="1861355"/>
              <a:ext cx="1992571" cy="2854302"/>
            </a:xfrm>
            <a:custGeom>
              <a:avLst/>
              <a:gdLst>
                <a:gd name="connsiteX0" fmla="*/ 0 w 223795"/>
                <a:gd name="connsiteY0" fmla="*/ 26957 h 320580"/>
                <a:gd name="connsiteX1" fmla="*/ 17969 w 223795"/>
                <a:gd name="connsiteY1" fmla="*/ 107537 h 320580"/>
                <a:gd name="connsiteX2" fmla="*/ 31301 w 223795"/>
                <a:gd name="connsiteY2" fmla="*/ 86667 h 320580"/>
                <a:gd name="connsiteX3" fmla="*/ 41445 w 223795"/>
                <a:gd name="connsiteY3" fmla="*/ 84348 h 320580"/>
                <a:gd name="connsiteX4" fmla="*/ 117090 w 223795"/>
                <a:gd name="connsiteY4" fmla="*/ 132464 h 320580"/>
                <a:gd name="connsiteX5" fmla="*/ 197371 w 223795"/>
                <a:gd name="connsiteY5" fmla="*/ 307827 h 320580"/>
                <a:gd name="connsiteX6" fmla="*/ 195633 w 223795"/>
                <a:gd name="connsiteY6" fmla="*/ 320581 h 320580"/>
                <a:gd name="connsiteX7" fmla="*/ 195633 w 223795"/>
                <a:gd name="connsiteY7" fmla="*/ 320581 h 320580"/>
                <a:gd name="connsiteX8" fmla="*/ 140566 w 223795"/>
                <a:gd name="connsiteY8" fmla="*/ 72464 h 320580"/>
                <a:gd name="connsiteX9" fmla="*/ 75645 w 223795"/>
                <a:gd name="connsiteY9" fmla="*/ 31014 h 320580"/>
                <a:gd name="connsiteX10" fmla="*/ 73326 w 223795"/>
                <a:gd name="connsiteY10" fmla="*/ 20870 h 320580"/>
                <a:gd name="connsiteX11" fmla="*/ 86658 w 223795"/>
                <a:gd name="connsiteY11" fmla="*/ 0 h 320580"/>
                <a:gd name="connsiteX12" fmla="*/ 6086 w 223795"/>
                <a:gd name="connsiteY12" fmla="*/ 17971 h 320580"/>
                <a:gd name="connsiteX13" fmla="*/ 290 w 223795"/>
                <a:gd name="connsiteY13" fmla="*/ 27246 h 32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3795" h="320580">
                  <a:moveTo>
                    <a:pt x="0" y="26957"/>
                  </a:moveTo>
                  <a:lnTo>
                    <a:pt x="17969" y="107537"/>
                  </a:lnTo>
                  <a:lnTo>
                    <a:pt x="31301" y="86667"/>
                  </a:lnTo>
                  <a:cubicBezTo>
                    <a:pt x="33620" y="83189"/>
                    <a:pt x="37967" y="82319"/>
                    <a:pt x="41445" y="84348"/>
                  </a:cubicBezTo>
                  <a:lnTo>
                    <a:pt x="117090" y="132464"/>
                  </a:lnTo>
                  <a:cubicBezTo>
                    <a:pt x="175924" y="169856"/>
                    <a:pt x="207515" y="238552"/>
                    <a:pt x="197371" y="307827"/>
                  </a:cubicBezTo>
                  <a:lnTo>
                    <a:pt x="195633" y="320581"/>
                  </a:lnTo>
                  <a:lnTo>
                    <a:pt x="195633" y="320581"/>
                  </a:lnTo>
                  <a:cubicBezTo>
                    <a:pt x="248961" y="236812"/>
                    <a:pt x="224325" y="125798"/>
                    <a:pt x="140566" y="72464"/>
                  </a:cubicBezTo>
                  <a:lnTo>
                    <a:pt x="75645" y="31014"/>
                  </a:lnTo>
                  <a:cubicBezTo>
                    <a:pt x="72167" y="28696"/>
                    <a:pt x="71297" y="24348"/>
                    <a:pt x="73326" y="20870"/>
                  </a:cubicBezTo>
                  <a:lnTo>
                    <a:pt x="86658" y="0"/>
                  </a:lnTo>
                  <a:lnTo>
                    <a:pt x="6086" y="17971"/>
                  </a:lnTo>
                  <a:cubicBezTo>
                    <a:pt x="2029" y="18841"/>
                    <a:pt x="-580" y="22899"/>
                    <a:pt x="290" y="27246"/>
                  </a:cubicBezTo>
                  <a:close/>
                </a:path>
              </a:pathLst>
            </a:custGeom>
            <a:solidFill>
              <a:srgbClr val="3AC6E1"/>
            </a:solidFill>
            <a:ln w="0" cap="flat">
              <a:solidFill>
                <a:srgbClr val="3AC6E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F572999C-0C7A-D24B-296B-840315700543}"/>
                </a:ext>
              </a:extLst>
            </p:cNvPr>
            <p:cNvSpPr/>
            <p:nvPr/>
          </p:nvSpPr>
          <p:spPr>
            <a:xfrm>
              <a:off x="4943167" y="1456172"/>
              <a:ext cx="3183030" cy="1260975"/>
            </a:xfrm>
            <a:custGeom>
              <a:avLst/>
              <a:gdLst>
                <a:gd name="connsiteX0" fmla="*/ 352718 w 357501"/>
                <a:gd name="connsiteY0" fmla="*/ 26667 h 141626"/>
                <a:gd name="connsiteX1" fmla="*/ 274465 w 357501"/>
                <a:gd name="connsiteY1" fmla="*/ 0 h 141626"/>
                <a:gd name="connsiteX2" fmla="*/ 285479 w 357501"/>
                <a:gd name="connsiteY2" fmla="*/ 22319 h 141626"/>
                <a:gd name="connsiteX3" fmla="*/ 282000 w 357501"/>
                <a:gd name="connsiteY3" fmla="*/ 32174 h 141626"/>
                <a:gd name="connsiteX4" fmla="*/ 201429 w 357501"/>
                <a:gd name="connsiteY4" fmla="*/ 71595 h 141626"/>
                <a:gd name="connsiteX5" fmla="*/ 9854 w 357501"/>
                <a:gd name="connsiteY5" fmla="*/ 48986 h 141626"/>
                <a:gd name="connsiteX6" fmla="*/ 0 w 357501"/>
                <a:gd name="connsiteY6" fmla="*/ 40870 h 141626"/>
                <a:gd name="connsiteX7" fmla="*/ 0 w 357501"/>
                <a:gd name="connsiteY7" fmla="*/ 40870 h 141626"/>
                <a:gd name="connsiteX8" fmla="*/ 240556 w 357501"/>
                <a:gd name="connsiteY8" fmla="*/ 123189 h 141626"/>
                <a:gd name="connsiteX9" fmla="*/ 309534 w 357501"/>
                <a:gd name="connsiteY9" fmla="*/ 89276 h 141626"/>
                <a:gd name="connsiteX10" fmla="*/ 319388 w 357501"/>
                <a:gd name="connsiteY10" fmla="*/ 92754 h 141626"/>
                <a:gd name="connsiteX11" fmla="*/ 330402 w 357501"/>
                <a:gd name="connsiteY11" fmla="*/ 115073 h 141626"/>
                <a:gd name="connsiteX12" fmla="*/ 357065 w 357501"/>
                <a:gd name="connsiteY12" fmla="*/ 36812 h 141626"/>
                <a:gd name="connsiteX13" fmla="*/ 352428 w 357501"/>
                <a:gd name="connsiteY13" fmla="*/ 26957 h 141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57501" h="141626">
                  <a:moveTo>
                    <a:pt x="352718" y="26667"/>
                  </a:moveTo>
                  <a:lnTo>
                    <a:pt x="274465" y="0"/>
                  </a:lnTo>
                  <a:lnTo>
                    <a:pt x="285479" y="22319"/>
                  </a:lnTo>
                  <a:cubicBezTo>
                    <a:pt x="287218" y="26087"/>
                    <a:pt x="285479" y="30435"/>
                    <a:pt x="282000" y="32174"/>
                  </a:cubicBezTo>
                  <a:lnTo>
                    <a:pt x="201429" y="71595"/>
                  </a:lnTo>
                  <a:cubicBezTo>
                    <a:pt x="138827" y="102319"/>
                    <a:pt x="63762" y="93624"/>
                    <a:pt x="9854" y="48986"/>
                  </a:cubicBezTo>
                  <a:lnTo>
                    <a:pt x="0" y="40870"/>
                  </a:lnTo>
                  <a:lnTo>
                    <a:pt x="0" y="40870"/>
                  </a:lnTo>
                  <a:cubicBezTo>
                    <a:pt x="43764" y="130145"/>
                    <a:pt x="151579" y="166957"/>
                    <a:pt x="240556" y="123189"/>
                  </a:cubicBezTo>
                  <a:lnTo>
                    <a:pt x="309534" y="89276"/>
                  </a:lnTo>
                  <a:cubicBezTo>
                    <a:pt x="313302" y="87537"/>
                    <a:pt x="317649" y="89276"/>
                    <a:pt x="319388" y="92754"/>
                  </a:cubicBezTo>
                  <a:lnTo>
                    <a:pt x="330402" y="115073"/>
                  </a:lnTo>
                  <a:lnTo>
                    <a:pt x="357065" y="36812"/>
                  </a:lnTo>
                  <a:cubicBezTo>
                    <a:pt x="358515" y="32754"/>
                    <a:pt x="356196" y="28406"/>
                    <a:pt x="352428" y="26957"/>
                  </a:cubicBezTo>
                  <a:close/>
                </a:path>
              </a:pathLst>
            </a:custGeom>
            <a:solidFill>
              <a:srgbClr val="FBA91E"/>
            </a:solidFill>
            <a:ln w="0" cap="flat">
              <a:solidFill>
                <a:srgbClr val="FBA91E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A68CD29-CB6C-014B-6DE8-5B26F781F088}"/>
              </a:ext>
            </a:extLst>
          </p:cNvPr>
          <p:cNvGrpSpPr/>
          <p:nvPr/>
        </p:nvGrpSpPr>
        <p:grpSpPr>
          <a:xfrm>
            <a:off x="2342454" y="7483019"/>
            <a:ext cx="6009252" cy="1750563"/>
            <a:chOff x="-747152" y="2978022"/>
            <a:chExt cx="4006168" cy="1167042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53992C7-EE02-C4FA-BB9C-4874AA2398A5}"/>
                </a:ext>
              </a:extLst>
            </p:cNvPr>
            <p:cNvSpPr txBox="1"/>
            <p:nvPr/>
          </p:nvSpPr>
          <p:spPr>
            <a:xfrm>
              <a:off x="332936" y="2978022"/>
              <a:ext cx="2926080" cy="430887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marL="0" marR="0" lvl="0" indent="0" algn="r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1" i="0" u="none" strike="noStrike" kern="0" cap="none" spc="0" normalizeH="0" baseline="0" noProof="0" dirty="0">
                  <a:ln>
                    <a:noFill/>
                  </a:ln>
                  <a:solidFill>
                    <a:srgbClr val="6EA56C">
                      <a:lumMod val="75000"/>
                    </a:srgbClr>
                  </a:solidFill>
                  <a:effectLst/>
                  <a:uLnTx/>
                  <a:uFillTx/>
                  <a:latin typeface="Poppins" panose="00000500000000000000" pitchFamily="2" charset="0"/>
                  <a:cs typeface="Poppins" panose="00000500000000000000" pitchFamily="2" charset="0"/>
                </a:rPr>
                <a:t>Tier 2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2485D1A-AA25-F8CF-5084-AB98AD86CA27}"/>
                </a:ext>
              </a:extLst>
            </p:cNvPr>
            <p:cNvSpPr txBox="1"/>
            <p:nvPr/>
          </p:nvSpPr>
          <p:spPr>
            <a:xfrm>
              <a:off x="-747152" y="3406400"/>
              <a:ext cx="4006168" cy="738664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>
              <a:defPPr>
                <a:defRPr lang="en-US"/>
              </a:defPPr>
              <a:lvl1pPr lvl="0" algn="just" defTabSz="1371600">
                <a:defRPr sz="2200" b="1" kern="0">
                  <a:solidFill>
                    <a:srgbClr val="000000">
                      <a:lumMod val="65000"/>
                      <a:lumOff val="35000"/>
                    </a:srgbClr>
                  </a:solidFill>
                  <a:latin typeface="Poppins" panose="00000500000000000000" pitchFamily="2" charset="0"/>
                  <a:cs typeface="Poppins" panose="00000500000000000000" pitchFamily="2" charset="0"/>
                </a:defRPr>
              </a:lvl1pPr>
            </a:lstStyle>
            <a:p>
              <a:r>
                <a:rPr lang="en-US" b="0" noProof="1"/>
                <a:t>Tier 2 can provide clarity and feedback to improve the originating team's escalation quality.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91E7D61-0A84-FA09-7CA1-0D13C9EFEDDC}"/>
              </a:ext>
            </a:extLst>
          </p:cNvPr>
          <p:cNvGrpSpPr/>
          <p:nvPr/>
        </p:nvGrpSpPr>
        <p:grpSpPr>
          <a:xfrm>
            <a:off x="11193821" y="4680359"/>
            <a:ext cx="6713179" cy="3900317"/>
            <a:chOff x="8921977" y="1272928"/>
            <a:chExt cx="2926080" cy="1579193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7E768C7-1B82-1D83-91E1-074D6E91A7EC}"/>
                </a:ext>
              </a:extLst>
            </p:cNvPr>
            <p:cNvSpPr txBox="1"/>
            <p:nvPr/>
          </p:nvSpPr>
          <p:spPr>
            <a:xfrm>
              <a:off x="8921977" y="1272928"/>
              <a:ext cx="2926080" cy="430887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lvl="0" defTabSz="1371600"/>
              <a:r>
                <a:rPr lang="en-US" sz="3600" b="1" kern="0" noProof="1">
                  <a:solidFill>
                    <a:srgbClr val="FBA91E">
                      <a:lumMod val="75000"/>
                    </a:srgb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The Fork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E66A6F1-EBAA-9651-7EB8-8523616DD32F}"/>
                </a:ext>
              </a:extLst>
            </p:cNvPr>
            <p:cNvSpPr txBox="1"/>
            <p:nvPr/>
          </p:nvSpPr>
          <p:spPr>
            <a:xfrm>
              <a:off x="8921977" y="1718123"/>
              <a:ext cx="2573021" cy="1133998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lvl="0" algn="just" defTabSz="1371600"/>
              <a:r>
                <a:rPr lang="en-US" sz="2200" b="1" kern="0" noProof="1">
                  <a:solidFill>
                    <a:srgbClr val="000000">
                      <a:lumMod val="65000"/>
                      <a:lumOff val="35000"/>
                    </a:srgb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Review disputes:</a:t>
              </a:r>
              <a:r>
                <a:rPr lang="en-US" sz="2200" kern="0" noProof="1">
                  <a:solidFill>
                    <a:srgbClr val="000000">
                      <a:lumMod val="65000"/>
                      <a:lumOff val="35000"/>
                    </a:srgb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Direct owners to The Fork Manager</a:t>
              </a:r>
            </a:p>
            <a:p>
              <a:pPr lvl="0" algn="just" defTabSz="1371600"/>
              <a:endParaRPr lang="en-US" sz="2200" kern="0" noProof="1">
                <a:solidFill>
                  <a:srgbClr val="000000">
                    <a:lumMod val="65000"/>
                    <a:lumOff val="35000"/>
                  </a:srgb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lvl="0" algn="just" defTabSz="1371600"/>
              <a:r>
                <a:rPr lang="en-US" sz="2200" kern="0" noProof="1">
                  <a:solidFill>
                    <a:srgbClr val="000000">
                      <a:lumMod val="65000"/>
                      <a:lumOff val="35000"/>
                    </a:srgb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Vacation Rentals</a:t>
              </a:r>
            </a:p>
            <a:p>
              <a:pPr lvl="0" algn="just" defTabSz="1371600"/>
              <a:endParaRPr lang="en-US" sz="2200" kern="0" noProof="1">
                <a:solidFill>
                  <a:srgbClr val="000000">
                    <a:lumMod val="65000"/>
                    <a:lumOff val="35000"/>
                  </a:srgb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lvl="0" algn="just" defTabSz="1371600"/>
              <a:r>
                <a:rPr lang="en-US" sz="2200" kern="0" noProof="1">
                  <a:solidFill>
                    <a:srgbClr val="000000">
                      <a:lumMod val="65000"/>
                      <a:lumOff val="35000"/>
                    </a:srgb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Non-fraud VR tickets → Tier 2</a:t>
              </a:r>
            </a:p>
            <a:p>
              <a:pPr lvl="0" algn="just" defTabSz="1371600"/>
              <a:endParaRPr lang="en-US" sz="2200" kern="0" noProof="1">
                <a:solidFill>
                  <a:srgbClr val="000000">
                    <a:lumMod val="65000"/>
                    <a:lumOff val="35000"/>
                  </a:srgb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lvl="0" algn="just" defTabSz="1371600"/>
              <a:r>
                <a:rPr lang="en-US" sz="2200" kern="0" noProof="1">
                  <a:solidFill>
                    <a:srgbClr val="000000">
                      <a:lumMod val="65000"/>
                      <a:lumOff val="35000"/>
                    </a:srgb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Unclear CS tickets</a:t>
              </a:r>
              <a:endParaRPr kumimoji="0" lang="en-US" sz="2200" b="0" i="0" u="none" strike="noStrike" kern="0" cap="none" spc="0" normalizeH="0" baseline="0" noProof="1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DABAC34-EC2D-7C0B-272D-95C39DC9C771}"/>
              </a:ext>
            </a:extLst>
          </p:cNvPr>
          <p:cNvGrpSpPr/>
          <p:nvPr/>
        </p:nvGrpSpPr>
        <p:grpSpPr>
          <a:xfrm>
            <a:off x="523124" y="2604051"/>
            <a:ext cx="5301187" cy="3089051"/>
            <a:chOff x="332936" y="2658544"/>
            <a:chExt cx="2971135" cy="2059367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EDCF9F4-7E22-26A4-DB22-19FC112E9CA1}"/>
                </a:ext>
              </a:extLst>
            </p:cNvPr>
            <p:cNvSpPr txBox="1"/>
            <p:nvPr/>
          </p:nvSpPr>
          <p:spPr>
            <a:xfrm>
              <a:off x="332936" y="2658544"/>
              <a:ext cx="2926080" cy="430887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lvl="0" algn="r" defTabSz="1371600"/>
              <a:r>
                <a:rPr lang="en-US" sz="3600" b="1" kern="0" noProof="1">
                  <a:solidFill>
                    <a:srgbClr val="3AC6E1">
                      <a:lumMod val="75000"/>
                    </a:srgb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Viator</a:t>
              </a:r>
              <a:endParaRPr kumimoji="0" lang="en-US" sz="3600" b="1" i="0" u="none" strike="noStrike" kern="0" cap="none" spc="0" normalizeH="0" baseline="0" noProof="1">
                <a:ln>
                  <a:noFill/>
                </a:ln>
                <a:solidFill>
                  <a:srgbClr val="3AC6E1">
                    <a:lumMod val="75000"/>
                  </a:srgbClr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4835041-5D43-C0A1-08D5-2F944DE79136}"/>
                </a:ext>
              </a:extLst>
            </p:cNvPr>
            <p:cNvSpPr txBox="1"/>
            <p:nvPr/>
          </p:nvSpPr>
          <p:spPr>
            <a:xfrm>
              <a:off x="377991" y="3076436"/>
              <a:ext cx="2926080" cy="1641475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>
              <a:defPPr>
                <a:defRPr lang="en-US"/>
              </a:defPPr>
              <a:lvl1pPr lvl="0" algn="just" defTabSz="1371600">
                <a:defRPr sz="2200" b="0" kern="0">
                  <a:solidFill>
                    <a:srgbClr val="000000">
                      <a:lumMod val="65000"/>
                      <a:lumOff val="35000"/>
                    </a:srgbClr>
                  </a:solidFill>
                  <a:latin typeface="Poppins" panose="00000500000000000000" pitchFamily="2" charset="0"/>
                  <a:cs typeface="Poppins" panose="00000500000000000000" pitchFamily="2" charset="0"/>
                </a:defRPr>
              </a:lvl1pPr>
            </a:lstStyle>
            <a:p>
              <a:r>
                <a:rPr lang="en-US" b="1" noProof="1"/>
                <a:t>Customers:</a:t>
              </a:r>
              <a:r>
                <a:rPr lang="en-US" noProof="1"/>
                <a:t> Direct non-review issues to </a:t>
              </a:r>
              <a:r>
                <a:rPr lang="en-US" noProof="1">
                  <a:hlinkClick r:id="rId2"/>
                </a:rPr>
                <a:t>exp-cscare@viator.com</a:t>
              </a:r>
              <a:endParaRPr lang="en-US" noProof="1"/>
            </a:p>
            <a:p>
              <a:endParaRPr lang="en-US" noProof="1"/>
            </a:p>
            <a:p>
              <a:r>
                <a:rPr lang="en-US" b="1" noProof="1"/>
                <a:t>Owners/Suppliers:</a:t>
              </a:r>
              <a:r>
                <a:rPr lang="en-US" noProof="1"/>
                <a:t> Handle as best you can. If stuck → FS Tier 2 – Viator Inquiry</a:t>
              </a:r>
            </a:p>
          </p:txBody>
        </p:sp>
      </p:grpSp>
      <p:pic>
        <p:nvPicPr>
          <p:cNvPr id="46" name="Picture 45" descr="TheFork - Restaurant bookings - Apps on Google Play">
            <a:extLst>
              <a:ext uri="{FF2B5EF4-FFF2-40B4-BE49-F238E27FC236}">
                <a16:creationId xmlns:a16="http://schemas.microsoft.com/office/drawing/2014/main" id="{644D59B6-45B1-FF4A-A74D-E471B6EE34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369346" y="2884583"/>
            <a:ext cx="927422" cy="92742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47" name="Picture 46" descr="Viator Logo PNG Vector (AI, SVG) Free Download">
            <a:extLst>
              <a:ext uri="{FF2B5EF4-FFF2-40B4-BE49-F238E27FC236}">
                <a16:creationId xmlns:a16="http://schemas.microsoft.com/office/drawing/2014/main" id="{9B8E6E8F-39F7-FC93-7449-C8B4CC9B990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134597" y="3470111"/>
            <a:ext cx="1282856" cy="1282856"/>
          </a:xfrm>
          <a:prstGeom prst="rect">
            <a:avLst/>
          </a:prstGeom>
        </p:spPr>
      </p:pic>
      <p:sp>
        <p:nvSpPr>
          <p:cNvPr id="49" name="Oval 48">
            <a:extLst>
              <a:ext uri="{FF2B5EF4-FFF2-40B4-BE49-F238E27FC236}">
                <a16:creationId xmlns:a16="http://schemas.microsoft.com/office/drawing/2014/main" id="{73269226-279F-53D6-CB78-7BA1212D0A11}"/>
              </a:ext>
            </a:extLst>
          </p:cNvPr>
          <p:cNvSpPr/>
          <p:nvPr/>
        </p:nvSpPr>
        <p:spPr>
          <a:xfrm>
            <a:off x="8465158" y="4164376"/>
            <a:ext cx="1600200" cy="1601966"/>
          </a:xfrm>
          <a:prstGeom prst="ellipse">
            <a:avLst/>
          </a:prstGeom>
          <a:solidFill>
            <a:srgbClr val="E9EDED"/>
          </a:solidFill>
          <a:ln>
            <a:solidFill>
              <a:srgbClr val="E9EDED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1600"/>
            <a:endParaRPr lang="en-US" sz="2700">
              <a:solidFill>
                <a:srgbClr val="FFFFFF"/>
              </a:solidFill>
              <a:latin typeface="Calibri" panose="020F0502020204030204"/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B5E20574-1E75-D905-9999-A80F0E927D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0635" y="4461995"/>
            <a:ext cx="1145272" cy="94497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51" name="Freeform 7">
            <a:extLst>
              <a:ext uri="{FF2B5EF4-FFF2-40B4-BE49-F238E27FC236}">
                <a16:creationId xmlns:a16="http://schemas.microsoft.com/office/drawing/2014/main" id="{49FBC57E-08BB-DE76-4B21-3396926AF8AB}"/>
              </a:ext>
            </a:extLst>
          </p:cNvPr>
          <p:cNvSpPr/>
          <p:nvPr/>
        </p:nvSpPr>
        <p:spPr>
          <a:xfrm>
            <a:off x="9378434" y="7817070"/>
            <a:ext cx="760917" cy="741023"/>
          </a:xfrm>
          <a:custGeom>
            <a:avLst/>
            <a:gdLst/>
            <a:ahLst/>
            <a:cxnLst/>
            <a:rect l="l" t="t" r="r" b="b"/>
            <a:pathLst>
              <a:path w="4354286" h="4114800">
                <a:moveTo>
                  <a:pt x="0" y="0"/>
                </a:moveTo>
                <a:lnTo>
                  <a:pt x="4354286" y="0"/>
                </a:lnTo>
                <a:lnTo>
                  <a:pt x="435428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5337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704404" y="1236980"/>
            <a:ext cx="7829996" cy="888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sz="5199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Escalation Cheat Sheet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E686535-B5CE-4369-5E55-8F58CCAD37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7684894"/>
              </p:ext>
            </p:extLst>
          </p:nvPr>
        </p:nvGraphicFramePr>
        <p:xfrm>
          <a:off x="1295400" y="2781300"/>
          <a:ext cx="15240000" cy="5867397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{912C8C85-51F0-491E-9774-3900AFEF0FD7}</a:tableStyleId>
              </a:tblPr>
              <a:tblGrid>
                <a:gridCol w="7620000">
                  <a:extLst>
                    <a:ext uri="{9D8B030D-6E8A-4147-A177-3AD203B41FA5}">
                      <a16:colId xmlns:a16="http://schemas.microsoft.com/office/drawing/2014/main" val="1233410367"/>
                    </a:ext>
                  </a:extLst>
                </a:gridCol>
                <a:gridCol w="7620000">
                  <a:extLst>
                    <a:ext uri="{9D8B030D-6E8A-4147-A177-3AD203B41FA5}">
                      <a16:colId xmlns:a16="http://schemas.microsoft.com/office/drawing/2014/main" val="3435808633"/>
                    </a:ext>
                  </a:extLst>
                </a:gridCol>
              </a:tblGrid>
              <a:tr h="65193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1" kern="1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Situation</a:t>
                      </a:r>
                      <a:endParaRPr lang="en-US" sz="2200" b="1" kern="100" dirty="0">
                        <a:effectLst/>
                        <a:latin typeface="Poppins" panose="00000500000000000000" pitchFamily="2" charset="0"/>
                        <a:ea typeface="Aptos" panose="020B00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1" kern="1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Destination</a:t>
                      </a:r>
                      <a:endParaRPr lang="en-US" sz="2200" b="1" kern="100" dirty="0">
                        <a:effectLst/>
                        <a:latin typeface="Poppins" panose="00000500000000000000" pitchFamily="2" charset="0"/>
                        <a:ea typeface="Aptos" panose="020B00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556390"/>
                  </a:ext>
                </a:extLst>
              </a:tr>
              <a:tr h="651933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   KB gap / complex case</a:t>
                      </a:r>
                      <a:endParaRPr lang="en-US" sz="2200" b="0" kern="100" dirty="0">
                        <a:effectLst/>
                        <a:latin typeface="Poppins" panose="00000500000000000000" pitchFamily="2" charset="0"/>
                        <a:ea typeface="Aptos" panose="020B00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   SGS Second Opinion</a:t>
                      </a:r>
                      <a:endParaRPr lang="en-US" sz="2200" b="0" kern="100" dirty="0">
                        <a:effectLst/>
                        <a:latin typeface="Poppins" panose="00000500000000000000" pitchFamily="2" charset="0"/>
                        <a:ea typeface="Aptos" panose="020B00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8981673"/>
                  </a:ext>
                </a:extLst>
              </a:tr>
              <a:tr h="651933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   Legal, privacy, sensitive, major technical issue</a:t>
                      </a:r>
                      <a:endParaRPr lang="en-US" sz="2200" b="0" kern="100" dirty="0">
                        <a:effectLst/>
                        <a:latin typeface="Poppins" panose="00000500000000000000" pitchFamily="2" charset="0"/>
                        <a:ea typeface="Aptos" panose="020B00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   Tier 2</a:t>
                      </a:r>
                      <a:endParaRPr lang="en-US" sz="2200" b="0" kern="100" dirty="0">
                        <a:effectLst/>
                        <a:latin typeface="Poppins" panose="00000500000000000000" pitchFamily="2" charset="0"/>
                        <a:ea typeface="Aptos" panose="020B00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2330553"/>
                  </a:ext>
                </a:extLst>
              </a:tr>
              <a:tr h="651933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   Impersonation / Red Badge / Gating / Restrictions</a:t>
                      </a:r>
                      <a:endParaRPr lang="en-US" sz="2200" b="0" kern="100" dirty="0">
                        <a:effectLst/>
                        <a:latin typeface="Poppins" panose="00000500000000000000" pitchFamily="2" charset="0"/>
                        <a:ea typeface="Aptos" panose="020B00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   INV</a:t>
                      </a:r>
                      <a:endParaRPr lang="en-US" sz="2200" b="0" kern="100" dirty="0">
                        <a:effectLst/>
                        <a:latin typeface="Poppins" panose="00000500000000000000" pitchFamily="2" charset="0"/>
                        <a:ea typeface="Aptos" panose="020B00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7603501"/>
                  </a:ext>
                </a:extLst>
              </a:tr>
              <a:tr h="651933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   No fraud or moderation issue</a:t>
                      </a:r>
                      <a:endParaRPr lang="en-US" sz="2200" b="0" kern="100" dirty="0">
                        <a:effectLst/>
                        <a:latin typeface="Poppins" panose="00000500000000000000" pitchFamily="2" charset="0"/>
                        <a:ea typeface="Aptos" panose="020B00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   CS</a:t>
                      </a:r>
                      <a:endParaRPr lang="en-US" sz="2200" b="0" kern="100" dirty="0">
                        <a:effectLst/>
                        <a:latin typeface="Poppins" panose="00000500000000000000" pitchFamily="2" charset="0"/>
                        <a:ea typeface="Aptos" panose="020B00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8522222"/>
                  </a:ext>
                </a:extLst>
              </a:tr>
              <a:tr h="651933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   User-to-user/community issue</a:t>
                      </a:r>
                      <a:endParaRPr lang="en-US" sz="2200" b="0" kern="100" dirty="0">
                        <a:effectLst/>
                        <a:latin typeface="Poppins" panose="00000500000000000000" pitchFamily="2" charset="0"/>
                        <a:ea typeface="Aptos" panose="020B00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   Community</a:t>
                      </a:r>
                      <a:endParaRPr lang="en-US" sz="2200" b="0" kern="100" dirty="0">
                        <a:effectLst/>
                        <a:latin typeface="Poppins" panose="00000500000000000000" pitchFamily="2" charset="0"/>
                        <a:ea typeface="Aptos" panose="020B00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9733079"/>
                  </a:ext>
                </a:extLst>
              </a:tr>
              <a:tr h="651933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   Listing action with no reply needed</a:t>
                      </a:r>
                      <a:endParaRPr lang="en-US" sz="2200" b="0" kern="100" dirty="0">
                        <a:effectLst/>
                        <a:latin typeface="Poppins" panose="00000500000000000000" pitchFamily="2" charset="0"/>
                        <a:ea typeface="Aptos" panose="020B00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   Places  </a:t>
                      </a:r>
                      <a:endParaRPr lang="en-US" sz="2200" b="0" kern="100" dirty="0">
                        <a:effectLst/>
                        <a:latin typeface="Poppins" panose="00000500000000000000" pitchFamily="2" charset="0"/>
                        <a:ea typeface="Aptos" panose="020B00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7693554"/>
                  </a:ext>
                </a:extLst>
              </a:tr>
              <a:tr h="651933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   Viator owner/supplier issue you cannot resolve</a:t>
                      </a:r>
                      <a:endParaRPr lang="en-US" sz="2200" b="0" kern="100" dirty="0">
                        <a:effectLst/>
                        <a:latin typeface="Poppins" panose="00000500000000000000" pitchFamily="2" charset="0"/>
                        <a:ea typeface="Aptos" panose="020B00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   Tier 2 – Viator</a:t>
                      </a:r>
                      <a:endParaRPr lang="en-US" sz="2200" b="0" kern="100" dirty="0">
                        <a:effectLst/>
                        <a:latin typeface="Poppins" panose="00000500000000000000" pitchFamily="2" charset="0"/>
                        <a:ea typeface="Aptos" panose="020B00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8143776"/>
                  </a:ext>
                </a:extLst>
              </a:tr>
              <a:tr h="651933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   Unclear CS escalation</a:t>
                      </a:r>
                      <a:endParaRPr lang="en-US" sz="2200" b="0" kern="100" dirty="0">
                        <a:effectLst/>
                        <a:latin typeface="Poppins" panose="00000500000000000000" pitchFamily="2" charset="0"/>
                        <a:ea typeface="Aptos" panose="020B00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   Tier 2</a:t>
                      </a:r>
                      <a:endParaRPr lang="en-US" sz="2200" b="0" kern="100" dirty="0">
                        <a:effectLst/>
                        <a:latin typeface="Poppins" panose="00000500000000000000" pitchFamily="2" charset="0"/>
                        <a:ea typeface="Aptos" panose="020B00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076347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12F6850-5DE4-9D47-F6CB-882AEC4DBD7A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Tripadvisor / Fraud support / Escalation cheat sheet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E42421D-AC15-4858-DF64-CDADDE910C54}"/>
              </a:ext>
            </a:extLst>
          </p:cNvPr>
          <p:cNvSpPr txBox="1">
            <a:spLocks/>
          </p:cNvSpPr>
          <p:nvPr/>
        </p:nvSpPr>
        <p:spPr>
          <a:xfrm>
            <a:off x="1257300" y="1219402"/>
            <a:ext cx="15773400" cy="81919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defPPr>
              <a:defRPr lang="en-US"/>
            </a:defPPr>
            <a:lvl1pPr defTabSz="3086088">
              <a:lnSpc>
                <a:spcPct val="90000"/>
              </a:lnSpc>
              <a:spcBef>
                <a:spcPct val="0"/>
              </a:spcBef>
              <a:buNone/>
              <a:defRPr sz="5200" b="1">
                <a:latin typeface="Poppins" panose="00000500000000000000" pitchFamily="2" charset="0"/>
                <a:ea typeface="+mj-ea"/>
                <a:cs typeface="Poppins" panose="00000500000000000000" pitchFamily="2" charset="0"/>
              </a:defRPr>
            </a:lvl1pPr>
          </a:lstStyle>
          <a:p>
            <a:pPr marL="0" marR="0" lvl="0" indent="0" algn="l" defTabSz="3086088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Discussion scenarios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EF35E7-D7D2-2CBA-193F-532F736AA769}"/>
              </a:ext>
            </a:extLst>
          </p:cNvPr>
          <p:cNvSpPr txBox="1"/>
          <p:nvPr/>
        </p:nvSpPr>
        <p:spPr>
          <a:xfrm>
            <a:off x="1257300" y="2207398"/>
            <a:ext cx="26853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3600" b="1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l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Scenario 1:</a:t>
            </a: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FB272815-50E8-566D-97C2-A792996AEB7D}"/>
              </a:ext>
            </a:extLst>
          </p:cNvPr>
          <p:cNvSpPr/>
          <p:nvPr/>
        </p:nvSpPr>
        <p:spPr>
          <a:xfrm>
            <a:off x="1000000" y="3048115"/>
            <a:ext cx="16280000" cy="221854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F72B99E-F486-303C-0A3C-9C8B3AAA24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461" t="63789"/>
          <a:stretch>
            <a:fillRect/>
          </a:stretch>
        </p:blipFill>
        <p:spPr>
          <a:xfrm>
            <a:off x="15699484" y="3699013"/>
            <a:ext cx="1601450" cy="17474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2048228-660F-90B9-3765-87924E531CC3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Tripadvisor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Fraud support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Knowledge check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F0B513-E55D-7F37-5A89-2D8582DC4251}"/>
              </a:ext>
            </a:extLst>
          </p:cNvPr>
          <p:cNvSpPr txBox="1"/>
          <p:nvPr/>
        </p:nvSpPr>
        <p:spPr>
          <a:xfrm>
            <a:off x="1524404" y="3607052"/>
            <a:ext cx="14680001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fontAlgn="base">
              <a:defRPr sz="4000" b="1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marL="0" marR="0" lvl="0" indent="0" algn="l" defTabSz="13716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 hotel requires every guest to sign a booking agreement saying they will never write a review.</a:t>
            </a:r>
            <a:endParaRPr kumimoji="0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16" name="Thought Bubble: Cloud 15">
            <a:extLst>
              <a:ext uri="{FF2B5EF4-FFF2-40B4-BE49-F238E27FC236}">
                <a16:creationId xmlns:a16="http://schemas.microsoft.com/office/drawing/2014/main" id="{4AB9F93A-3DB5-7883-4F5C-BC57D55CC645}"/>
              </a:ext>
            </a:extLst>
          </p:cNvPr>
          <p:cNvSpPr/>
          <p:nvPr/>
        </p:nvSpPr>
        <p:spPr>
          <a:xfrm>
            <a:off x="3475976" y="5660236"/>
            <a:ext cx="5388428" cy="2955471"/>
          </a:xfrm>
          <a:prstGeom prst="cloudCallout">
            <a:avLst/>
          </a:prstGeom>
          <a:solidFill>
            <a:srgbClr val="92D050"/>
          </a:solidFill>
          <a:ln w="285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Where does it go?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6112DE-0F1A-AD96-47C8-E29E9E5C3FF6}"/>
              </a:ext>
            </a:extLst>
          </p:cNvPr>
          <p:cNvSpPr txBox="1"/>
          <p:nvPr/>
        </p:nvSpPr>
        <p:spPr>
          <a:xfrm>
            <a:off x="7445829" y="7347857"/>
            <a:ext cx="4898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" name="Picture 1" descr="Arrow clipart Vectors - Download Free High-Quality Vectors | Magnific  (formerly Freepik)">
            <a:extLst>
              <a:ext uri="{FF2B5EF4-FFF2-40B4-BE49-F238E27FC236}">
                <a16:creationId xmlns:a16="http://schemas.microsoft.com/office/drawing/2014/main" id="{F5951BEC-D26B-4D93-8174-B33C47695D6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8610600" y="6377953"/>
            <a:ext cx="2554773" cy="1701822"/>
          </a:xfrm>
          <a:prstGeom prst="rect">
            <a:avLst/>
          </a:prstGeom>
        </p:spPr>
      </p:pic>
      <p:grpSp>
        <p:nvGrpSpPr>
          <p:cNvPr id="4" name="Group 5">
            <a:extLst>
              <a:ext uri="{FF2B5EF4-FFF2-40B4-BE49-F238E27FC236}">
                <a16:creationId xmlns:a16="http://schemas.microsoft.com/office/drawing/2014/main" id="{EF4DC0C7-42C3-2D96-4A2B-756AFFAC026B}"/>
              </a:ext>
            </a:extLst>
          </p:cNvPr>
          <p:cNvGrpSpPr/>
          <p:nvPr/>
        </p:nvGrpSpPr>
        <p:grpSpPr>
          <a:xfrm>
            <a:off x="11453781" y="6905765"/>
            <a:ext cx="4091019" cy="1165466"/>
            <a:chOff x="0" y="-176632"/>
            <a:chExt cx="6862758" cy="1553955"/>
          </a:xfrm>
        </p:grpSpPr>
        <p:sp>
          <p:nvSpPr>
            <p:cNvPr id="14" name="TextBox 8">
              <a:extLst>
                <a:ext uri="{FF2B5EF4-FFF2-40B4-BE49-F238E27FC236}">
                  <a16:creationId xmlns:a16="http://schemas.microsoft.com/office/drawing/2014/main" id="{5F9DD95A-5052-9FE3-176F-D77839284144}"/>
                </a:ext>
              </a:extLst>
            </p:cNvPr>
            <p:cNvSpPr txBox="1"/>
            <p:nvPr/>
          </p:nvSpPr>
          <p:spPr>
            <a:xfrm>
              <a:off x="0" y="-176632"/>
              <a:ext cx="6768859" cy="14886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6"/>
                </a:lnSpc>
              </a:pPr>
              <a:endParaRPr/>
            </a:p>
          </p:txBody>
        </p:sp>
        <p:grpSp>
          <p:nvGrpSpPr>
            <p:cNvPr id="6" name="Group 9">
              <a:extLst>
                <a:ext uri="{FF2B5EF4-FFF2-40B4-BE49-F238E27FC236}">
                  <a16:creationId xmlns:a16="http://schemas.microsoft.com/office/drawing/2014/main" id="{49C19EC4-D0C0-D089-205B-8731448B03C7}"/>
                </a:ext>
              </a:extLst>
            </p:cNvPr>
            <p:cNvGrpSpPr/>
            <p:nvPr/>
          </p:nvGrpSpPr>
          <p:grpSpPr>
            <a:xfrm>
              <a:off x="93898" y="65264"/>
              <a:ext cx="6768860" cy="1312059"/>
              <a:chOff x="0" y="0"/>
              <a:chExt cx="1825079" cy="353769"/>
            </a:xfrm>
          </p:grpSpPr>
          <p:sp>
            <p:nvSpPr>
              <p:cNvPr id="8" name="Freeform 10">
                <a:extLst>
                  <a:ext uri="{FF2B5EF4-FFF2-40B4-BE49-F238E27FC236}">
                    <a16:creationId xmlns:a16="http://schemas.microsoft.com/office/drawing/2014/main" id="{880F220F-C787-795B-0581-4F5C0AB52DB0}"/>
                  </a:ext>
                </a:extLst>
              </p:cNvPr>
              <p:cNvSpPr/>
              <p:nvPr/>
            </p:nvSpPr>
            <p:spPr>
              <a:xfrm>
                <a:off x="0" y="0"/>
                <a:ext cx="1825079" cy="353769"/>
              </a:xfrm>
              <a:custGeom>
                <a:avLst/>
                <a:gdLst/>
                <a:ahLst/>
                <a:cxnLst/>
                <a:rect l="l" t="t" r="r" b="b"/>
                <a:pathLst>
                  <a:path w="1825079" h="353769">
                    <a:moveTo>
                      <a:pt x="56978" y="0"/>
                    </a:moveTo>
                    <a:lnTo>
                      <a:pt x="1768100" y="0"/>
                    </a:lnTo>
                    <a:cubicBezTo>
                      <a:pt x="1799568" y="0"/>
                      <a:pt x="1825079" y="25510"/>
                      <a:pt x="1825079" y="56978"/>
                    </a:cubicBezTo>
                    <a:lnTo>
                      <a:pt x="1825079" y="296790"/>
                    </a:lnTo>
                    <a:cubicBezTo>
                      <a:pt x="1825079" y="311902"/>
                      <a:pt x="1819075" y="326395"/>
                      <a:pt x="1808390" y="337080"/>
                    </a:cubicBezTo>
                    <a:cubicBezTo>
                      <a:pt x="1797704" y="347766"/>
                      <a:pt x="1783212" y="353769"/>
                      <a:pt x="1768100" y="353769"/>
                    </a:cubicBezTo>
                    <a:lnTo>
                      <a:pt x="56978" y="353769"/>
                    </a:lnTo>
                    <a:cubicBezTo>
                      <a:pt x="41867" y="353769"/>
                      <a:pt x="27374" y="347766"/>
                      <a:pt x="16689" y="337080"/>
                    </a:cubicBezTo>
                    <a:cubicBezTo>
                      <a:pt x="6003" y="326395"/>
                      <a:pt x="0" y="311902"/>
                      <a:pt x="0" y="296790"/>
                    </a:cubicBezTo>
                    <a:lnTo>
                      <a:pt x="0" y="56978"/>
                    </a:lnTo>
                    <a:cubicBezTo>
                      <a:pt x="0" y="41867"/>
                      <a:pt x="6003" y="27374"/>
                      <a:pt x="16689" y="16689"/>
                    </a:cubicBezTo>
                    <a:cubicBezTo>
                      <a:pt x="27374" y="6003"/>
                      <a:pt x="41867" y="0"/>
                      <a:pt x="569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40A635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1">
                <a:extLst>
                  <a:ext uri="{FF2B5EF4-FFF2-40B4-BE49-F238E27FC236}">
                    <a16:creationId xmlns:a16="http://schemas.microsoft.com/office/drawing/2014/main" id="{EE1565C2-1B1A-A87F-4A0D-0FA6E94D9877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825079" cy="40139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6"/>
                  </a:lnSpc>
                </a:pPr>
                <a:endParaRPr/>
              </a:p>
            </p:txBody>
          </p:sp>
        </p:grpSp>
      </p:grpSp>
      <p:sp>
        <p:nvSpPr>
          <p:cNvPr id="20" name="TextBox 12">
            <a:extLst>
              <a:ext uri="{FF2B5EF4-FFF2-40B4-BE49-F238E27FC236}">
                <a16:creationId xmlns:a16="http://schemas.microsoft.com/office/drawing/2014/main" id="{91D3E3FE-582F-20EF-90A9-8508A8B2E3A3}"/>
              </a:ext>
            </a:extLst>
          </p:cNvPr>
          <p:cNvSpPr txBox="1"/>
          <p:nvPr/>
        </p:nvSpPr>
        <p:spPr>
          <a:xfrm>
            <a:off x="11228450" y="7443267"/>
            <a:ext cx="4610100" cy="3170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9"/>
              </a:lnSpc>
              <a:spcBef>
                <a:spcPct val="0"/>
              </a:spcBef>
            </a:pPr>
            <a:r>
              <a:rPr lang="en-US" sz="2199" b="1" dirty="0">
                <a:solidFill>
                  <a:srgbClr val="000000"/>
                </a:solidFill>
                <a:latin typeface="Poppins"/>
                <a:cs typeface="Poppins"/>
                <a:sym typeface="Poppins"/>
              </a:rPr>
              <a:t>INV - Restrictions</a:t>
            </a:r>
          </a:p>
        </p:txBody>
      </p:sp>
    </p:spTree>
    <p:extLst>
      <p:ext uri="{BB962C8B-B14F-4D97-AF65-F5344CB8AC3E}">
        <p14:creationId xmlns:p14="http://schemas.microsoft.com/office/powerpoint/2010/main" val="1446571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B4668-FB41-532A-DB7D-A9E791C71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12A8182-98A4-7B5A-AB35-C4CF79A78C78}"/>
              </a:ext>
            </a:extLst>
          </p:cNvPr>
          <p:cNvSpPr txBox="1">
            <a:spLocks/>
          </p:cNvSpPr>
          <p:nvPr/>
        </p:nvSpPr>
        <p:spPr>
          <a:xfrm>
            <a:off x="1257300" y="1219402"/>
            <a:ext cx="15773400" cy="81919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defPPr>
              <a:defRPr lang="en-US"/>
            </a:defPPr>
            <a:lvl1pPr defTabSz="3086088">
              <a:lnSpc>
                <a:spcPct val="90000"/>
              </a:lnSpc>
              <a:spcBef>
                <a:spcPct val="0"/>
              </a:spcBef>
              <a:buNone/>
              <a:defRPr sz="5200" b="1">
                <a:latin typeface="Poppins" panose="00000500000000000000" pitchFamily="2" charset="0"/>
                <a:ea typeface="+mj-ea"/>
                <a:cs typeface="Poppins" panose="00000500000000000000" pitchFamily="2" charset="0"/>
              </a:defRPr>
            </a:lvl1pPr>
          </a:lstStyle>
          <a:p>
            <a:pPr marL="0" marR="0" lvl="0" indent="0" algn="l" defTabSz="3086088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Discussion scenarios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8DD038-0EE1-2B06-E8FA-98D8899EF7E1}"/>
              </a:ext>
            </a:extLst>
          </p:cNvPr>
          <p:cNvSpPr txBox="1"/>
          <p:nvPr/>
        </p:nvSpPr>
        <p:spPr>
          <a:xfrm>
            <a:off x="1257300" y="2207398"/>
            <a:ext cx="27911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3600" b="1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l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Scenario 3:</a:t>
            </a: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B0C67BCB-EB9B-AD15-0177-3DA2031694E7}"/>
              </a:ext>
            </a:extLst>
          </p:cNvPr>
          <p:cNvSpPr/>
          <p:nvPr/>
        </p:nvSpPr>
        <p:spPr>
          <a:xfrm>
            <a:off x="1000000" y="3048115"/>
            <a:ext cx="16280000" cy="221854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F4E9E40-806D-5509-8B91-AAA386E53C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461" t="63789"/>
          <a:stretch>
            <a:fillRect/>
          </a:stretch>
        </p:blipFill>
        <p:spPr>
          <a:xfrm>
            <a:off x="15699484" y="3699013"/>
            <a:ext cx="1601450" cy="17474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FBFC538-03D0-A6B1-A790-CFF061405E99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Tripadvisor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Fraud support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Knowledge check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38E1D2-229F-A83E-EE1B-A6BC468AE97F}"/>
              </a:ext>
            </a:extLst>
          </p:cNvPr>
          <p:cNvSpPr txBox="1"/>
          <p:nvPr/>
        </p:nvSpPr>
        <p:spPr>
          <a:xfrm>
            <a:off x="1524404" y="3299276"/>
            <a:ext cx="14902139" cy="19389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fontAlgn="base">
              <a:defRPr sz="4000" b="1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marL="0" marR="0" lvl="0" indent="0" algn="l" defTabSz="13716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 property sends positive-experience guests a Tripadvisor review link but tells unhappy guests to complain privately.</a:t>
            </a:r>
            <a:endParaRPr kumimoji="0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16" name="Thought Bubble: Cloud 15">
            <a:extLst>
              <a:ext uri="{FF2B5EF4-FFF2-40B4-BE49-F238E27FC236}">
                <a16:creationId xmlns:a16="http://schemas.microsoft.com/office/drawing/2014/main" id="{938A502E-EB91-6276-7660-7A844CF4946B}"/>
              </a:ext>
            </a:extLst>
          </p:cNvPr>
          <p:cNvSpPr/>
          <p:nvPr/>
        </p:nvSpPr>
        <p:spPr>
          <a:xfrm>
            <a:off x="3475976" y="5660236"/>
            <a:ext cx="5388428" cy="2955471"/>
          </a:xfrm>
          <a:prstGeom prst="cloudCallout">
            <a:avLst/>
          </a:prstGeom>
          <a:solidFill>
            <a:srgbClr val="92D050"/>
          </a:solidFill>
          <a:ln w="285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What is this?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CA4CE9-127F-AF4F-E424-6E9566DA7361}"/>
              </a:ext>
            </a:extLst>
          </p:cNvPr>
          <p:cNvSpPr txBox="1"/>
          <p:nvPr/>
        </p:nvSpPr>
        <p:spPr>
          <a:xfrm>
            <a:off x="7445829" y="7347857"/>
            <a:ext cx="4898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" name="Picture 1" descr="Arrow clipart Vectors - Download Free High-Quality Vectors | Magnific  (formerly Freepik)">
            <a:extLst>
              <a:ext uri="{FF2B5EF4-FFF2-40B4-BE49-F238E27FC236}">
                <a16:creationId xmlns:a16="http://schemas.microsoft.com/office/drawing/2014/main" id="{AD3257C9-EE3C-3786-3243-5833036213C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8610600" y="6377953"/>
            <a:ext cx="2554773" cy="1701822"/>
          </a:xfrm>
          <a:prstGeom prst="rect">
            <a:avLst/>
          </a:prstGeom>
        </p:spPr>
      </p:pic>
      <p:grpSp>
        <p:nvGrpSpPr>
          <p:cNvPr id="4" name="Group 5">
            <a:extLst>
              <a:ext uri="{FF2B5EF4-FFF2-40B4-BE49-F238E27FC236}">
                <a16:creationId xmlns:a16="http://schemas.microsoft.com/office/drawing/2014/main" id="{6423AD1F-29A6-5A0D-33D6-B9428BC9AF7B}"/>
              </a:ext>
            </a:extLst>
          </p:cNvPr>
          <p:cNvGrpSpPr/>
          <p:nvPr/>
        </p:nvGrpSpPr>
        <p:grpSpPr>
          <a:xfrm>
            <a:off x="11453781" y="6905765"/>
            <a:ext cx="4091019" cy="1165466"/>
            <a:chOff x="0" y="-176632"/>
            <a:chExt cx="6862758" cy="1553955"/>
          </a:xfrm>
        </p:grpSpPr>
        <p:sp>
          <p:nvSpPr>
            <p:cNvPr id="5" name="TextBox 8">
              <a:extLst>
                <a:ext uri="{FF2B5EF4-FFF2-40B4-BE49-F238E27FC236}">
                  <a16:creationId xmlns:a16="http://schemas.microsoft.com/office/drawing/2014/main" id="{614D3944-65A5-F52C-F602-DD8D5628BF89}"/>
                </a:ext>
              </a:extLst>
            </p:cNvPr>
            <p:cNvSpPr txBox="1"/>
            <p:nvPr/>
          </p:nvSpPr>
          <p:spPr>
            <a:xfrm>
              <a:off x="0" y="-176632"/>
              <a:ext cx="6768859" cy="14886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6"/>
                </a:lnSpc>
              </a:pPr>
              <a:endParaRPr/>
            </a:p>
          </p:txBody>
        </p:sp>
        <p:grpSp>
          <p:nvGrpSpPr>
            <p:cNvPr id="6" name="Group 9">
              <a:extLst>
                <a:ext uri="{FF2B5EF4-FFF2-40B4-BE49-F238E27FC236}">
                  <a16:creationId xmlns:a16="http://schemas.microsoft.com/office/drawing/2014/main" id="{42E194BD-7D13-CE31-6A04-84D4803B5DC4}"/>
                </a:ext>
              </a:extLst>
            </p:cNvPr>
            <p:cNvGrpSpPr/>
            <p:nvPr/>
          </p:nvGrpSpPr>
          <p:grpSpPr>
            <a:xfrm>
              <a:off x="93898" y="65264"/>
              <a:ext cx="6768860" cy="1312059"/>
              <a:chOff x="0" y="0"/>
              <a:chExt cx="1825079" cy="353769"/>
            </a:xfrm>
          </p:grpSpPr>
          <p:sp>
            <p:nvSpPr>
              <p:cNvPr id="8" name="Freeform 10">
                <a:extLst>
                  <a:ext uri="{FF2B5EF4-FFF2-40B4-BE49-F238E27FC236}">
                    <a16:creationId xmlns:a16="http://schemas.microsoft.com/office/drawing/2014/main" id="{EE2110FA-E71D-5DCA-FD77-7E6836153D62}"/>
                  </a:ext>
                </a:extLst>
              </p:cNvPr>
              <p:cNvSpPr/>
              <p:nvPr/>
            </p:nvSpPr>
            <p:spPr>
              <a:xfrm>
                <a:off x="0" y="0"/>
                <a:ext cx="1825079" cy="353769"/>
              </a:xfrm>
              <a:custGeom>
                <a:avLst/>
                <a:gdLst/>
                <a:ahLst/>
                <a:cxnLst/>
                <a:rect l="l" t="t" r="r" b="b"/>
                <a:pathLst>
                  <a:path w="1825079" h="353769">
                    <a:moveTo>
                      <a:pt x="56978" y="0"/>
                    </a:moveTo>
                    <a:lnTo>
                      <a:pt x="1768100" y="0"/>
                    </a:lnTo>
                    <a:cubicBezTo>
                      <a:pt x="1799568" y="0"/>
                      <a:pt x="1825079" y="25510"/>
                      <a:pt x="1825079" y="56978"/>
                    </a:cubicBezTo>
                    <a:lnTo>
                      <a:pt x="1825079" y="296790"/>
                    </a:lnTo>
                    <a:cubicBezTo>
                      <a:pt x="1825079" y="311902"/>
                      <a:pt x="1819075" y="326395"/>
                      <a:pt x="1808390" y="337080"/>
                    </a:cubicBezTo>
                    <a:cubicBezTo>
                      <a:pt x="1797704" y="347766"/>
                      <a:pt x="1783212" y="353769"/>
                      <a:pt x="1768100" y="353769"/>
                    </a:cubicBezTo>
                    <a:lnTo>
                      <a:pt x="56978" y="353769"/>
                    </a:lnTo>
                    <a:cubicBezTo>
                      <a:pt x="41867" y="353769"/>
                      <a:pt x="27374" y="347766"/>
                      <a:pt x="16689" y="337080"/>
                    </a:cubicBezTo>
                    <a:cubicBezTo>
                      <a:pt x="6003" y="326395"/>
                      <a:pt x="0" y="311902"/>
                      <a:pt x="0" y="296790"/>
                    </a:cubicBezTo>
                    <a:lnTo>
                      <a:pt x="0" y="56978"/>
                    </a:lnTo>
                    <a:cubicBezTo>
                      <a:pt x="0" y="41867"/>
                      <a:pt x="6003" y="27374"/>
                      <a:pt x="16689" y="16689"/>
                    </a:cubicBezTo>
                    <a:cubicBezTo>
                      <a:pt x="27374" y="6003"/>
                      <a:pt x="41867" y="0"/>
                      <a:pt x="569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40A635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1">
                <a:extLst>
                  <a:ext uri="{FF2B5EF4-FFF2-40B4-BE49-F238E27FC236}">
                    <a16:creationId xmlns:a16="http://schemas.microsoft.com/office/drawing/2014/main" id="{BB41F53D-3866-F2CB-9E5D-A5CC88506030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825079" cy="40139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6"/>
                  </a:lnSpc>
                </a:pPr>
                <a:endParaRPr/>
              </a:p>
            </p:txBody>
          </p:sp>
        </p:grp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F94C3082-ABF5-DFE4-670C-FC1E23254AE7}"/>
              </a:ext>
            </a:extLst>
          </p:cNvPr>
          <p:cNvSpPr txBox="1"/>
          <p:nvPr/>
        </p:nvSpPr>
        <p:spPr>
          <a:xfrm>
            <a:off x="11228450" y="7443267"/>
            <a:ext cx="4610100" cy="3266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9"/>
              </a:lnSpc>
              <a:spcBef>
                <a:spcPct val="0"/>
              </a:spcBef>
            </a:pPr>
            <a:r>
              <a:rPr lang="en-US" sz="2199" b="1" dirty="0">
                <a:solidFill>
                  <a:srgbClr val="000000"/>
                </a:solidFill>
                <a:latin typeface="Poppins"/>
                <a:cs typeface="Poppins"/>
                <a:sym typeface="Poppins"/>
              </a:rPr>
              <a:t>Review Gating </a:t>
            </a:r>
            <a:r>
              <a:rPr lang="en-US" sz="2400" b="1" dirty="0">
                <a:solidFill>
                  <a:prstClr val="black"/>
                </a:solidFill>
              </a:rPr>
              <a:t>→</a:t>
            </a:r>
            <a:r>
              <a:rPr lang="en-US" sz="2199" b="1" dirty="0">
                <a:solidFill>
                  <a:srgbClr val="000000"/>
                </a:solidFill>
                <a:latin typeface="Poppins"/>
                <a:cs typeface="Poppins"/>
                <a:sym typeface="Poppins"/>
              </a:rPr>
              <a:t> INV</a:t>
            </a:r>
          </a:p>
        </p:txBody>
      </p:sp>
    </p:spTree>
    <p:extLst>
      <p:ext uri="{BB962C8B-B14F-4D97-AF65-F5344CB8AC3E}">
        <p14:creationId xmlns:p14="http://schemas.microsoft.com/office/powerpoint/2010/main" val="3008584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F5EBA-974F-5673-AFB5-205FF3731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D4D4698-28C5-CCBB-05E3-CC99B6E7263F}"/>
              </a:ext>
            </a:extLst>
          </p:cNvPr>
          <p:cNvSpPr txBox="1">
            <a:spLocks/>
          </p:cNvSpPr>
          <p:nvPr/>
        </p:nvSpPr>
        <p:spPr>
          <a:xfrm>
            <a:off x="1257300" y="1219402"/>
            <a:ext cx="15773400" cy="81919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defPPr>
              <a:defRPr lang="en-US"/>
            </a:defPPr>
            <a:lvl1pPr defTabSz="3086088">
              <a:lnSpc>
                <a:spcPct val="90000"/>
              </a:lnSpc>
              <a:spcBef>
                <a:spcPct val="0"/>
              </a:spcBef>
              <a:buNone/>
              <a:defRPr sz="5200" b="1">
                <a:latin typeface="Poppins" panose="00000500000000000000" pitchFamily="2" charset="0"/>
                <a:ea typeface="+mj-ea"/>
                <a:cs typeface="Poppins" panose="00000500000000000000" pitchFamily="2" charset="0"/>
              </a:defRPr>
            </a:lvl1pPr>
          </a:lstStyle>
          <a:p>
            <a:pPr marL="0" marR="0" lvl="0" indent="0" algn="l" defTabSz="3086088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Discussion scenarios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4AFB3F-CF5C-1A3B-1678-DCB71E81EED0}"/>
              </a:ext>
            </a:extLst>
          </p:cNvPr>
          <p:cNvSpPr txBox="1"/>
          <p:nvPr/>
        </p:nvSpPr>
        <p:spPr>
          <a:xfrm>
            <a:off x="1257300" y="2207398"/>
            <a:ext cx="28119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3600" b="1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l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Scenario 5:</a:t>
            </a: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675CA4E8-CE52-346F-8AFD-3EBFD8D94CDC}"/>
              </a:ext>
            </a:extLst>
          </p:cNvPr>
          <p:cNvSpPr/>
          <p:nvPr/>
        </p:nvSpPr>
        <p:spPr>
          <a:xfrm>
            <a:off x="1000000" y="3048115"/>
            <a:ext cx="16280000" cy="221854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3AB9975-A888-5051-0AA5-791285F5FF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461" t="63789"/>
          <a:stretch>
            <a:fillRect/>
          </a:stretch>
        </p:blipFill>
        <p:spPr>
          <a:xfrm>
            <a:off x="15699484" y="3699013"/>
            <a:ext cx="1601450" cy="17474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79DB7CF-F980-A181-A0E1-B0094D4D4837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Tripadvisor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Fraud support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Knowledge check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440134-EFBC-6F43-1954-42F6E7374E5B}"/>
              </a:ext>
            </a:extLst>
          </p:cNvPr>
          <p:cNvSpPr txBox="1"/>
          <p:nvPr/>
        </p:nvSpPr>
        <p:spPr>
          <a:xfrm>
            <a:off x="1413334" y="3697451"/>
            <a:ext cx="14902139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fontAlgn="base">
              <a:defRPr sz="4000" b="1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marL="0" marR="0" lvl="0" indent="0" algn="l" defTabSz="13716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INV previously removed content for a property. You believe the removal was wrong.</a:t>
            </a:r>
            <a:endParaRPr kumimoji="0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16" name="Thought Bubble: Cloud 15">
            <a:extLst>
              <a:ext uri="{FF2B5EF4-FFF2-40B4-BE49-F238E27FC236}">
                <a16:creationId xmlns:a16="http://schemas.microsoft.com/office/drawing/2014/main" id="{3BF1DBB0-6FBC-1D5F-B9B2-3A1165BCE1CC}"/>
              </a:ext>
            </a:extLst>
          </p:cNvPr>
          <p:cNvSpPr/>
          <p:nvPr/>
        </p:nvSpPr>
        <p:spPr>
          <a:xfrm>
            <a:off x="3475976" y="5660236"/>
            <a:ext cx="5388428" cy="2955471"/>
          </a:xfrm>
          <a:prstGeom prst="cloudCallout">
            <a:avLst/>
          </a:prstGeom>
          <a:solidFill>
            <a:srgbClr val="92D050"/>
          </a:solidFill>
          <a:ln w="285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Can you restore it yourself?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0007DC-B071-1EB1-655C-52D5BF9B4535}"/>
              </a:ext>
            </a:extLst>
          </p:cNvPr>
          <p:cNvSpPr txBox="1"/>
          <p:nvPr/>
        </p:nvSpPr>
        <p:spPr>
          <a:xfrm>
            <a:off x="7445829" y="7347857"/>
            <a:ext cx="4898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" name="Picture 1" descr="Arrow clipart Vectors - Download Free High-Quality Vectors | Magnific  (formerly Freepik)">
            <a:extLst>
              <a:ext uri="{FF2B5EF4-FFF2-40B4-BE49-F238E27FC236}">
                <a16:creationId xmlns:a16="http://schemas.microsoft.com/office/drawing/2014/main" id="{0840FBFD-2125-9828-B54D-55EA9EA0982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8610600" y="6377953"/>
            <a:ext cx="2554773" cy="1701822"/>
          </a:xfrm>
          <a:prstGeom prst="rect">
            <a:avLst/>
          </a:prstGeom>
        </p:spPr>
      </p:pic>
      <p:grpSp>
        <p:nvGrpSpPr>
          <p:cNvPr id="4" name="Group 5">
            <a:extLst>
              <a:ext uri="{FF2B5EF4-FFF2-40B4-BE49-F238E27FC236}">
                <a16:creationId xmlns:a16="http://schemas.microsoft.com/office/drawing/2014/main" id="{74ED3D33-68B8-853D-351A-7EEFAC9C69DF}"/>
              </a:ext>
            </a:extLst>
          </p:cNvPr>
          <p:cNvGrpSpPr/>
          <p:nvPr/>
        </p:nvGrpSpPr>
        <p:grpSpPr>
          <a:xfrm>
            <a:off x="11453781" y="6905765"/>
            <a:ext cx="4091019" cy="1165466"/>
            <a:chOff x="0" y="-176632"/>
            <a:chExt cx="6862758" cy="1553955"/>
          </a:xfrm>
        </p:grpSpPr>
        <p:sp>
          <p:nvSpPr>
            <p:cNvPr id="5" name="TextBox 8">
              <a:extLst>
                <a:ext uri="{FF2B5EF4-FFF2-40B4-BE49-F238E27FC236}">
                  <a16:creationId xmlns:a16="http://schemas.microsoft.com/office/drawing/2014/main" id="{9A45530E-4367-DC79-EF45-1F4E033544EA}"/>
                </a:ext>
              </a:extLst>
            </p:cNvPr>
            <p:cNvSpPr txBox="1"/>
            <p:nvPr/>
          </p:nvSpPr>
          <p:spPr>
            <a:xfrm>
              <a:off x="0" y="-176632"/>
              <a:ext cx="6768859" cy="14886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6"/>
                </a:lnSpc>
              </a:pPr>
              <a:endParaRPr/>
            </a:p>
          </p:txBody>
        </p:sp>
        <p:grpSp>
          <p:nvGrpSpPr>
            <p:cNvPr id="6" name="Group 9">
              <a:extLst>
                <a:ext uri="{FF2B5EF4-FFF2-40B4-BE49-F238E27FC236}">
                  <a16:creationId xmlns:a16="http://schemas.microsoft.com/office/drawing/2014/main" id="{0B9A2AE4-B1BA-8F98-38AD-49FCBD011670}"/>
                </a:ext>
              </a:extLst>
            </p:cNvPr>
            <p:cNvGrpSpPr/>
            <p:nvPr/>
          </p:nvGrpSpPr>
          <p:grpSpPr>
            <a:xfrm>
              <a:off x="93898" y="65264"/>
              <a:ext cx="6768860" cy="1312059"/>
              <a:chOff x="0" y="0"/>
              <a:chExt cx="1825079" cy="353769"/>
            </a:xfrm>
          </p:grpSpPr>
          <p:sp>
            <p:nvSpPr>
              <p:cNvPr id="8" name="Freeform 10">
                <a:extLst>
                  <a:ext uri="{FF2B5EF4-FFF2-40B4-BE49-F238E27FC236}">
                    <a16:creationId xmlns:a16="http://schemas.microsoft.com/office/drawing/2014/main" id="{472D18D6-E3EB-81E8-F7BD-1934402041C0}"/>
                  </a:ext>
                </a:extLst>
              </p:cNvPr>
              <p:cNvSpPr/>
              <p:nvPr/>
            </p:nvSpPr>
            <p:spPr>
              <a:xfrm>
                <a:off x="0" y="0"/>
                <a:ext cx="1825079" cy="353769"/>
              </a:xfrm>
              <a:custGeom>
                <a:avLst/>
                <a:gdLst/>
                <a:ahLst/>
                <a:cxnLst/>
                <a:rect l="l" t="t" r="r" b="b"/>
                <a:pathLst>
                  <a:path w="1825079" h="353769">
                    <a:moveTo>
                      <a:pt x="56978" y="0"/>
                    </a:moveTo>
                    <a:lnTo>
                      <a:pt x="1768100" y="0"/>
                    </a:lnTo>
                    <a:cubicBezTo>
                      <a:pt x="1799568" y="0"/>
                      <a:pt x="1825079" y="25510"/>
                      <a:pt x="1825079" y="56978"/>
                    </a:cubicBezTo>
                    <a:lnTo>
                      <a:pt x="1825079" y="296790"/>
                    </a:lnTo>
                    <a:cubicBezTo>
                      <a:pt x="1825079" y="311902"/>
                      <a:pt x="1819075" y="326395"/>
                      <a:pt x="1808390" y="337080"/>
                    </a:cubicBezTo>
                    <a:cubicBezTo>
                      <a:pt x="1797704" y="347766"/>
                      <a:pt x="1783212" y="353769"/>
                      <a:pt x="1768100" y="353769"/>
                    </a:cubicBezTo>
                    <a:lnTo>
                      <a:pt x="56978" y="353769"/>
                    </a:lnTo>
                    <a:cubicBezTo>
                      <a:pt x="41867" y="353769"/>
                      <a:pt x="27374" y="347766"/>
                      <a:pt x="16689" y="337080"/>
                    </a:cubicBezTo>
                    <a:cubicBezTo>
                      <a:pt x="6003" y="326395"/>
                      <a:pt x="0" y="311902"/>
                      <a:pt x="0" y="296790"/>
                    </a:cubicBezTo>
                    <a:lnTo>
                      <a:pt x="0" y="56978"/>
                    </a:lnTo>
                    <a:cubicBezTo>
                      <a:pt x="0" y="41867"/>
                      <a:pt x="6003" y="27374"/>
                      <a:pt x="16689" y="16689"/>
                    </a:cubicBezTo>
                    <a:cubicBezTo>
                      <a:pt x="27374" y="6003"/>
                      <a:pt x="41867" y="0"/>
                      <a:pt x="569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40A635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1">
                <a:extLst>
                  <a:ext uri="{FF2B5EF4-FFF2-40B4-BE49-F238E27FC236}">
                    <a16:creationId xmlns:a16="http://schemas.microsoft.com/office/drawing/2014/main" id="{7C9989C0-004C-EE5D-42CC-D631CA427D6F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825079" cy="40139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6"/>
                  </a:lnSpc>
                </a:pPr>
                <a:endParaRPr/>
              </a:p>
            </p:txBody>
          </p:sp>
        </p:grp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384A4ED0-02A5-66F4-C008-36FB9A91F081}"/>
              </a:ext>
            </a:extLst>
          </p:cNvPr>
          <p:cNvSpPr txBox="1"/>
          <p:nvPr/>
        </p:nvSpPr>
        <p:spPr>
          <a:xfrm>
            <a:off x="11852009" y="7366052"/>
            <a:ext cx="4610100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defTabSz="1371600">
              <a:defRPr/>
            </a:pPr>
            <a:r>
              <a:rPr lang="en-US" sz="2400" b="1" dirty="0">
                <a:solidFill>
                  <a:prstClr val="black"/>
                </a:solidFill>
              </a:rPr>
              <a:t>NO! Escalate to FS Tier 2</a:t>
            </a:r>
            <a:endParaRPr lang="en-US" sz="2000" dirty="0">
              <a:solidFill>
                <a:prstClr val="black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4069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9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C01887-C814-A6A2-84F3-CA9842E49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345AEB-B185-FFD3-4B0A-4CEF16EEDA0F}"/>
              </a:ext>
            </a:extLst>
          </p:cNvPr>
          <p:cNvSpPr txBox="1"/>
          <p:nvPr/>
        </p:nvSpPr>
        <p:spPr>
          <a:xfrm>
            <a:off x="994557" y="511955"/>
            <a:ext cx="120000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KNOWLEDGE CHECK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F1888D2-A122-55C4-E244-879A230C0080}"/>
              </a:ext>
            </a:extLst>
          </p:cNvPr>
          <p:cNvSpPr/>
          <p:nvPr/>
        </p:nvSpPr>
        <p:spPr>
          <a:xfrm>
            <a:off x="1004000" y="1349948"/>
            <a:ext cx="16280000" cy="207590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45F090-5D09-BB97-D352-59D7C4D15B29}"/>
              </a:ext>
            </a:extLst>
          </p:cNvPr>
          <p:cNvSpPr txBox="1"/>
          <p:nvPr/>
        </p:nvSpPr>
        <p:spPr>
          <a:xfrm>
            <a:off x="1510086" y="2088081"/>
            <a:ext cx="14680000" cy="5078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defTabSz="914400">
              <a:defRPr sz="4000" b="1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defTabSz="914400">
              <a:defRPr sz="1800"/>
            </a:lvl2pPr>
            <a:lvl3pPr marL="914400" defTabSz="914400">
              <a:defRPr sz="1800"/>
            </a:lvl3pPr>
            <a:lvl4pPr marL="1371600" defTabSz="914400">
              <a:defRPr sz="1800"/>
            </a:lvl4pPr>
            <a:lvl5pPr marL="1828800" defTabSz="914400">
              <a:defRPr sz="1800"/>
            </a:lvl5pPr>
            <a:lvl6pPr marL="2286000" defTabSz="914400">
              <a:defRPr sz="1800"/>
            </a:lvl6pPr>
            <a:lvl7pPr marL="2743200" defTabSz="914400">
              <a:defRPr sz="1800"/>
            </a:lvl7pPr>
            <a:lvl8pPr marL="3200400" defTabSz="914400">
              <a:defRPr sz="1800"/>
            </a:lvl8pPr>
            <a:lvl9pPr marL="3657600" defTabSz="914400">
              <a:defRPr sz="18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Which situation belongs in SGS Second Opinion?</a:t>
            </a: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424A0BA5-6920-561F-6D0D-2244A470A0BD}"/>
              </a:ext>
            </a:extLst>
          </p:cNvPr>
          <p:cNvSpPr/>
          <p:nvPr/>
        </p:nvSpPr>
        <p:spPr>
          <a:xfrm>
            <a:off x="1004000" y="3837334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49049E-8922-2B09-5BBA-8A85B8E6E392}"/>
              </a:ext>
            </a:extLst>
          </p:cNvPr>
          <p:cNvSpPr txBox="1"/>
          <p:nvPr/>
        </p:nvSpPr>
        <p:spPr>
          <a:xfrm>
            <a:off x="1510086" y="4131889"/>
            <a:ext cx="14680000" cy="5078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lvl="0" defTabSz="914400">
              <a:defRPr sz="32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defTabSz="914400">
              <a:defRPr sz="1800"/>
            </a:lvl2pPr>
            <a:lvl3pPr marL="914400" defTabSz="914400">
              <a:defRPr sz="1800"/>
            </a:lvl3pPr>
            <a:lvl4pPr marL="1371600" defTabSz="914400">
              <a:defRPr sz="1800"/>
            </a:lvl4pPr>
            <a:lvl5pPr marL="1828800" defTabSz="914400">
              <a:defRPr sz="1800"/>
            </a:lvl5pPr>
            <a:lvl6pPr marL="2286000" defTabSz="914400">
              <a:defRPr sz="1800"/>
            </a:lvl6pPr>
            <a:lvl7pPr marL="2743200" defTabSz="914400">
              <a:defRPr sz="1800"/>
            </a:lvl7pPr>
            <a:lvl8pPr marL="3200400" defTabSz="914400">
              <a:defRPr sz="1800"/>
            </a:lvl8pPr>
            <a:lvl9pPr marL="3657600" defTabSz="914400">
              <a:defRPr sz="18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 Red Badge case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16" name="Rounded Rectangle 3">
            <a:extLst>
              <a:ext uri="{FF2B5EF4-FFF2-40B4-BE49-F238E27FC236}">
                <a16:creationId xmlns:a16="http://schemas.microsoft.com/office/drawing/2014/main" id="{6DD9B4A0-FCC6-2033-6874-6877C9E8CFB2}"/>
              </a:ext>
            </a:extLst>
          </p:cNvPr>
          <p:cNvSpPr/>
          <p:nvPr/>
        </p:nvSpPr>
        <p:spPr>
          <a:xfrm>
            <a:off x="1004000" y="5203639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913B56-2158-EE09-4629-AC2CE39C51DD}"/>
              </a:ext>
            </a:extLst>
          </p:cNvPr>
          <p:cNvSpPr txBox="1"/>
          <p:nvPr/>
        </p:nvSpPr>
        <p:spPr>
          <a:xfrm>
            <a:off x="1510086" y="5459722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A KB gap where you need a second opinion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FF648C10-8B58-5E33-00BB-F234B2BB6640}"/>
              </a:ext>
            </a:extLst>
          </p:cNvPr>
          <p:cNvSpPr/>
          <p:nvPr/>
        </p:nvSpPr>
        <p:spPr>
          <a:xfrm>
            <a:off x="1000000" y="6569944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E94187D-A396-007E-4A44-5DD57EBB4A7F}"/>
              </a:ext>
            </a:extLst>
          </p:cNvPr>
          <p:cNvSpPr txBox="1"/>
          <p:nvPr/>
        </p:nvSpPr>
        <p:spPr>
          <a:xfrm>
            <a:off x="1506086" y="6826026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A password reset</a:t>
            </a:r>
          </a:p>
        </p:txBody>
      </p:sp>
      <p:sp>
        <p:nvSpPr>
          <p:cNvPr id="24" name="Rounded Rectangle 3">
            <a:extLst>
              <a:ext uri="{FF2B5EF4-FFF2-40B4-BE49-F238E27FC236}">
                <a16:creationId xmlns:a16="http://schemas.microsoft.com/office/drawing/2014/main" id="{63ACD14F-26EC-ABA0-5805-D415CCB280A0}"/>
              </a:ext>
            </a:extLst>
          </p:cNvPr>
          <p:cNvSpPr/>
          <p:nvPr/>
        </p:nvSpPr>
        <p:spPr>
          <a:xfrm>
            <a:off x="1000000" y="7949215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089578B-E45B-6B03-3447-7268F48042A3}"/>
              </a:ext>
            </a:extLst>
          </p:cNvPr>
          <p:cNvSpPr txBox="1"/>
          <p:nvPr/>
        </p:nvSpPr>
        <p:spPr>
          <a:xfrm>
            <a:off x="1506086" y="8205297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A user requesting account deletion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759B1E-3056-672D-C727-71965A35EA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461" t="63789"/>
          <a:stretch>
            <a:fillRect/>
          </a:stretch>
        </p:blipFill>
        <p:spPr>
          <a:xfrm>
            <a:off x="15694880" y="1884118"/>
            <a:ext cx="1601449" cy="17474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5337120-0E18-6905-CEDC-1CD8EA49F83C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Tripadvisor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Fraud support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Knowledge check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46823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" dur="indefinite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" dur="indefinite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0" grpId="0" animBg="1"/>
      <p:bldP spid="2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EEB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007505A-3770-06CF-9D55-7D2C35099AEC}"/>
              </a:ext>
            </a:extLst>
          </p:cNvPr>
          <p:cNvSpPr/>
          <p:nvPr/>
        </p:nvSpPr>
        <p:spPr>
          <a:xfrm>
            <a:off x="5249895" y="5895958"/>
            <a:ext cx="3424009" cy="1248441"/>
          </a:xfrm>
          <a:prstGeom prst="roundRect">
            <a:avLst/>
          </a:prstGeom>
          <a:solidFill>
            <a:srgbClr val="002B1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875AD5F-C5C4-4F32-542C-0254275D6779}"/>
              </a:ext>
            </a:extLst>
          </p:cNvPr>
          <p:cNvSpPr/>
          <p:nvPr/>
        </p:nvSpPr>
        <p:spPr>
          <a:xfrm>
            <a:off x="5326095" y="6001391"/>
            <a:ext cx="3424009" cy="1248441"/>
          </a:xfrm>
          <a:prstGeom prst="roundRect">
            <a:avLst/>
          </a:prstGeom>
          <a:ln>
            <a:solidFill>
              <a:srgbClr val="002B1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00000" y="700001"/>
            <a:ext cx="120000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0000" y="1395308"/>
            <a:ext cx="16200000" cy="11695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True or False?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0000" y="3048115"/>
            <a:ext cx="16280000" cy="221854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04133" y="3473850"/>
            <a:ext cx="15975867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fontAlgn="base">
              <a:defRPr sz="4000" b="1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l" defTabSz="13716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Review Gating and Restrictions must be escalated to</a:t>
            </a:r>
            <a:b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</a:b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INV</a:t>
            </a:r>
            <a:endParaRPr kumimoji="0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97AF034-BA1F-A326-423B-9CF6721F06FA}"/>
              </a:ext>
            </a:extLst>
          </p:cNvPr>
          <p:cNvSpPr/>
          <p:nvPr/>
        </p:nvSpPr>
        <p:spPr>
          <a:xfrm>
            <a:off x="1080725" y="5843242"/>
            <a:ext cx="3424009" cy="1248441"/>
          </a:xfrm>
          <a:prstGeom prst="roundRect">
            <a:avLst/>
          </a:prstGeom>
          <a:solidFill>
            <a:srgbClr val="002B1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72F48A3-5C19-D568-A2CC-70BAC16E2A50}"/>
              </a:ext>
            </a:extLst>
          </p:cNvPr>
          <p:cNvSpPr/>
          <p:nvPr/>
        </p:nvSpPr>
        <p:spPr>
          <a:xfrm>
            <a:off x="1156925" y="5948675"/>
            <a:ext cx="3424009" cy="1248441"/>
          </a:xfrm>
          <a:prstGeom prst="roundRect">
            <a:avLst/>
          </a:prstGeom>
          <a:ln>
            <a:solidFill>
              <a:srgbClr val="002B1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106928" y="6257424"/>
            <a:ext cx="1703071" cy="6309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TRUE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5DA601-95A4-B730-921B-A096D5C46115}"/>
              </a:ext>
            </a:extLst>
          </p:cNvPr>
          <p:cNvSpPr txBox="1"/>
          <p:nvPr/>
        </p:nvSpPr>
        <p:spPr>
          <a:xfrm>
            <a:off x="6236970" y="6260630"/>
            <a:ext cx="1790700" cy="6309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FALSE</a:t>
            </a:r>
            <a:endParaRPr kumimoji="0" sz="35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 Black"/>
              <a:ea typeface="+mn-ea"/>
              <a:cs typeface="Arial"/>
              <a:sym typeface="Arial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4771DE0-7BF9-E41C-7B90-9EE045B0D8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461" t="63789"/>
          <a:stretch>
            <a:fillRect/>
          </a:stretch>
        </p:blipFill>
        <p:spPr>
          <a:xfrm>
            <a:off x="15708322" y="3709028"/>
            <a:ext cx="1601449" cy="17474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FA60069-8C8A-3E82-31FA-2AB7B675E7EF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Tripadvisor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Fraud support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Knowledge check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3EA0861-A978-24E2-582E-AFF0E0056C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628" t="2587" b="65063"/>
          <a:stretch>
            <a:fillRect/>
          </a:stretch>
        </p:blipFill>
        <p:spPr>
          <a:xfrm>
            <a:off x="9897357" y="6685285"/>
            <a:ext cx="2036016" cy="221854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913B87D-794C-B54E-D8E6-BF875E1D9B1E}"/>
              </a:ext>
            </a:extLst>
          </p:cNvPr>
          <p:cNvSpPr/>
          <p:nvPr/>
        </p:nvSpPr>
        <p:spPr>
          <a:xfrm>
            <a:off x="11933374" y="6330814"/>
            <a:ext cx="5367560" cy="2560880"/>
          </a:xfrm>
          <a:prstGeom prst="roundRect">
            <a:avLst/>
          </a:prstGeom>
          <a:ln>
            <a:solidFill>
              <a:srgbClr val="002B1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93EF01-2B43-45E6-1C3D-A01DA06BE6BB}"/>
              </a:ext>
            </a:extLst>
          </p:cNvPr>
          <p:cNvSpPr txBox="1"/>
          <p:nvPr/>
        </p:nvSpPr>
        <p:spPr>
          <a:xfrm>
            <a:off x="12725401" y="7144399"/>
            <a:ext cx="5562599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That's right, keep it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up!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9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089963-23C2-7BAD-7ABE-03F771039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DF0B52-C777-7EC6-D345-8FC4D32E891B}"/>
              </a:ext>
            </a:extLst>
          </p:cNvPr>
          <p:cNvSpPr txBox="1"/>
          <p:nvPr/>
        </p:nvSpPr>
        <p:spPr>
          <a:xfrm>
            <a:off x="994557" y="511955"/>
            <a:ext cx="120000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KNOWLEDGE CHECK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0675CE2-E771-762F-8A81-75093AE7ECC6}"/>
              </a:ext>
            </a:extLst>
          </p:cNvPr>
          <p:cNvSpPr/>
          <p:nvPr/>
        </p:nvSpPr>
        <p:spPr>
          <a:xfrm>
            <a:off x="1004000" y="1349948"/>
            <a:ext cx="16280000" cy="207590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2CA003-FF69-F4DA-5201-971036BDA862}"/>
              </a:ext>
            </a:extLst>
          </p:cNvPr>
          <p:cNvSpPr txBox="1"/>
          <p:nvPr/>
        </p:nvSpPr>
        <p:spPr>
          <a:xfrm>
            <a:off x="1510086" y="2088081"/>
            <a:ext cx="14680000" cy="5078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defTabSz="914400">
              <a:defRPr sz="4000" b="1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defTabSz="914400">
              <a:defRPr sz="1800"/>
            </a:lvl2pPr>
            <a:lvl3pPr marL="914400" defTabSz="914400">
              <a:defRPr sz="1800"/>
            </a:lvl3pPr>
            <a:lvl4pPr marL="1371600" defTabSz="914400">
              <a:defRPr sz="1800"/>
            </a:lvl4pPr>
            <a:lvl5pPr marL="1828800" defTabSz="914400">
              <a:defRPr sz="1800"/>
            </a:lvl5pPr>
            <a:lvl6pPr marL="2286000" defTabSz="914400">
              <a:defRPr sz="1800"/>
            </a:lvl6pPr>
            <a:lvl7pPr marL="2743200" defTabSz="914400">
              <a:defRPr sz="1800"/>
            </a:lvl7pPr>
            <a:lvl8pPr marL="3200400" defTabSz="914400">
              <a:defRPr sz="1800"/>
            </a:lvl8pPr>
            <a:lvl9pPr marL="3657600" defTabSz="914400">
              <a:defRPr sz="18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What is the best escalation comment?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4B2669-9F8D-1AAF-ECC7-8CF65BFD9440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Tripadvisor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Fraud support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Knowledge check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3F807688-A3D0-83C2-650C-88C18B19E230}"/>
              </a:ext>
            </a:extLst>
          </p:cNvPr>
          <p:cNvSpPr/>
          <p:nvPr/>
        </p:nvSpPr>
        <p:spPr>
          <a:xfrm>
            <a:off x="1004000" y="3837334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E573BA-4A3F-7407-B18E-BAD9D0C0ADF9}"/>
              </a:ext>
            </a:extLst>
          </p:cNvPr>
          <p:cNvSpPr txBox="1"/>
          <p:nvPr/>
        </p:nvSpPr>
        <p:spPr>
          <a:xfrm>
            <a:off x="1510086" y="4131888"/>
            <a:ext cx="14680000" cy="5078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lvl="0" defTabSz="914400">
              <a:defRPr sz="32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defTabSz="914400">
              <a:defRPr sz="1800"/>
            </a:lvl2pPr>
            <a:lvl3pPr marL="914400" defTabSz="914400">
              <a:defRPr sz="1800"/>
            </a:lvl3pPr>
            <a:lvl4pPr marL="1371600" defTabSz="914400">
              <a:defRPr sz="1800"/>
            </a:lvl4pPr>
            <a:lvl5pPr marL="1828800" defTabSz="914400">
              <a:defRPr sz="1800"/>
            </a:lvl5pPr>
            <a:lvl6pPr marL="2286000" defTabSz="914400">
              <a:defRPr sz="1800"/>
            </a:lvl6pPr>
            <a:lvl7pPr marL="2743200" defTabSz="914400">
              <a:defRPr sz="1800"/>
            </a:lvl7pPr>
            <a:lvl8pPr marL="3200400" defTabSz="914400">
              <a:defRPr sz="1800"/>
            </a:lvl8pPr>
            <a:lvl9pPr marL="3657600" defTabSz="914400">
              <a:defRPr sz="18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“Please advise.”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16" name="Rounded Rectangle 3">
            <a:extLst>
              <a:ext uri="{FF2B5EF4-FFF2-40B4-BE49-F238E27FC236}">
                <a16:creationId xmlns:a16="http://schemas.microsoft.com/office/drawing/2014/main" id="{7896AF48-4EB4-BCA6-87D2-96365FBD6643}"/>
              </a:ext>
            </a:extLst>
          </p:cNvPr>
          <p:cNvSpPr/>
          <p:nvPr/>
        </p:nvSpPr>
        <p:spPr>
          <a:xfrm>
            <a:off x="1004000" y="5203639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648DA1-46A9-15B9-4537-DB23E44BFDCA}"/>
              </a:ext>
            </a:extLst>
          </p:cNvPr>
          <p:cNvSpPr txBox="1"/>
          <p:nvPr/>
        </p:nvSpPr>
        <p:spPr>
          <a:xfrm>
            <a:off x="1510086" y="5459721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“I don't know what to do.”</a:t>
            </a:r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22CAEA74-0BF9-436F-3BA1-49FA53593F30}"/>
              </a:ext>
            </a:extLst>
          </p:cNvPr>
          <p:cNvSpPr/>
          <p:nvPr/>
        </p:nvSpPr>
        <p:spPr>
          <a:xfrm>
            <a:off x="1000000" y="6569944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6F41A3B-1BEB-4397-7A97-4E45FB19BB34}"/>
              </a:ext>
            </a:extLst>
          </p:cNvPr>
          <p:cNvSpPr txBox="1"/>
          <p:nvPr/>
        </p:nvSpPr>
        <p:spPr>
          <a:xfrm>
            <a:off x="1506086" y="6579805"/>
            <a:ext cx="14680000" cy="10772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“I checked X and Y. Neither covers this case. I recommend A because ____. Can you confirm?”</a:t>
            </a:r>
          </a:p>
        </p:txBody>
      </p:sp>
      <p:sp>
        <p:nvSpPr>
          <p:cNvPr id="24" name="Rounded Rectangle 3">
            <a:extLst>
              <a:ext uri="{FF2B5EF4-FFF2-40B4-BE49-F238E27FC236}">
                <a16:creationId xmlns:a16="http://schemas.microsoft.com/office/drawing/2014/main" id="{2AF99D2A-66DD-4FB6-9BAE-9FF330054672}"/>
              </a:ext>
            </a:extLst>
          </p:cNvPr>
          <p:cNvSpPr/>
          <p:nvPr/>
        </p:nvSpPr>
        <p:spPr>
          <a:xfrm>
            <a:off x="1000000" y="7949215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5BA2D9E-B185-550A-C7EC-EE051D85D573}"/>
              </a:ext>
            </a:extLst>
          </p:cNvPr>
          <p:cNvSpPr txBox="1"/>
          <p:nvPr/>
        </p:nvSpPr>
        <p:spPr>
          <a:xfrm>
            <a:off x="1506086" y="8205297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“Urgent!!!”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5C7CA1-5907-1E99-8FC8-800C4160C5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461" t="63789"/>
          <a:stretch>
            <a:fillRect/>
          </a:stretch>
        </p:blipFill>
        <p:spPr>
          <a:xfrm>
            <a:off x="15678551" y="1833777"/>
            <a:ext cx="1601449" cy="17474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8061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0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4" dur="indefinite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7" dur="indefinite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6" grpId="0" animBg="1"/>
      <p:bldP spid="2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9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FF0906-6C1A-5870-3C9B-1F590E72B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9FC60E-61BF-5C76-EF31-8165A1A05DA1}"/>
              </a:ext>
            </a:extLst>
          </p:cNvPr>
          <p:cNvSpPr txBox="1"/>
          <p:nvPr/>
        </p:nvSpPr>
        <p:spPr>
          <a:xfrm>
            <a:off x="994557" y="511955"/>
            <a:ext cx="120000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KNOWLEDGE CHECK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80B008E-3784-3187-5B71-03B42D09ABA9}"/>
              </a:ext>
            </a:extLst>
          </p:cNvPr>
          <p:cNvSpPr/>
          <p:nvPr/>
        </p:nvSpPr>
        <p:spPr>
          <a:xfrm>
            <a:off x="1004000" y="1349948"/>
            <a:ext cx="16280000" cy="207590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9A36E2-F660-C83C-93C3-834C77423A32}"/>
              </a:ext>
            </a:extLst>
          </p:cNvPr>
          <p:cNvSpPr txBox="1"/>
          <p:nvPr/>
        </p:nvSpPr>
        <p:spPr>
          <a:xfrm>
            <a:off x="1510086" y="1988054"/>
            <a:ext cx="1468000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defTabSz="914400">
              <a:defRPr sz="4000" b="1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defTabSz="914400">
              <a:defRPr sz="1800"/>
            </a:lvl2pPr>
            <a:lvl3pPr marL="914400" defTabSz="914400">
              <a:defRPr sz="1800"/>
            </a:lvl3pPr>
            <a:lvl4pPr marL="1371600" defTabSz="914400">
              <a:defRPr sz="1800"/>
            </a:lvl4pPr>
            <a:lvl5pPr marL="1828800" defTabSz="914400">
              <a:defRPr sz="1800"/>
            </a:lvl5pPr>
            <a:lvl6pPr marL="2286000" defTabSz="914400">
              <a:defRPr sz="1800"/>
            </a:lvl6pPr>
            <a:lvl7pPr marL="2743200" defTabSz="914400">
              <a:defRPr sz="1800"/>
            </a:lvl7pPr>
            <a:lvl8pPr marL="3200400" defTabSz="914400">
              <a:defRPr sz="1800"/>
            </a:lvl8pPr>
            <a:lvl9pPr marL="3657600" defTabSz="914400">
              <a:defRPr sz="18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Which is an INV escalation?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A1FC5E-C0A4-8EA2-385D-F11727E6AD9A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Tripadvisor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Fraud support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Knowledge check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9AAC41CE-4DC4-F3D4-3C2F-2B040388C321}"/>
              </a:ext>
            </a:extLst>
          </p:cNvPr>
          <p:cNvSpPr/>
          <p:nvPr/>
        </p:nvSpPr>
        <p:spPr>
          <a:xfrm>
            <a:off x="1004000" y="3837334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A70E03-1F50-8C45-F408-852AA8AB0CC0}"/>
              </a:ext>
            </a:extLst>
          </p:cNvPr>
          <p:cNvSpPr txBox="1"/>
          <p:nvPr/>
        </p:nvSpPr>
        <p:spPr>
          <a:xfrm>
            <a:off x="1510086" y="4093416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lvl="0" defTabSz="914400">
              <a:defRPr sz="32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defTabSz="914400">
              <a:defRPr sz="1800"/>
            </a:lvl2pPr>
            <a:lvl3pPr marL="914400" defTabSz="914400">
              <a:defRPr sz="1800"/>
            </a:lvl3pPr>
            <a:lvl4pPr marL="1371600" defTabSz="914400">
              <a:defRPr sz="1800"/>
            </a:lvl4pPr>
            <a:lvl5pPr marL="1828800" defTabSz="914400">
              <a:defRPr sz="1800"/>
            </a:lvl5pPr>
            <a:lvl6pPr marL="2286000" defTabSz="914400">
              <a:defRPr sz="1800"/>
            </a:lvl6pPr>
            <a:lvl7pPr marL="2743200" defTabSz="914400">
              <a:defRPr sz="1800"/>
            </a:lvl7pPr>
            <a:lvl8pPr marL="3200400" defTabSz="914400">
              <a:defRPr sz="1800"/>
            </a:lvl8pPr>
            <a:lvl9pPr marL="3657600" defTabSz="914400">
              <a:defRPr sz="18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Owner wants to change a listing name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16" name="Rounded Rectangle 3">
            <a:extLst>
              <a:ext uri="{FF2B5EF4-FFF2-40B4-BE49-F238E27FC236}">
                <a16:creationId xmlns:a16="http://schemas.microsoft.com/office/drawing/2014/main" id="{1C356643-B312-3CBA-0EEC-B27DD70C2855}"/>
              </a:ext>
            </a:extLst>
          </p:cNvPr>
          <p:cNvSpPr/>
          <p:nvPr/>
        </p:nvSpPr>
        <p:spPr>
          <a:xfrm>
            <a:off x="1004000" y="5203639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3DACCD-05DB-FDFB-F568-85ACB05F7942}"/>
              </a:ext>
            </a:extLst>
          </p:cNvPr>
          <p:cNvSpPr txBox="1"/>
          <p:nvPr/>
        </p:nvSpPr>
        <p:spPr>
          <a:xfrm>
            <a:off x="1510086" y="5459721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User forgot their password</a:t>
            </a:r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5D65EB9A-8BBE-9F29-A151-31443A56D6BC}"/>
              </a:ext>
            </a:extLst>
          </p:cNvPr>
          <p:cNvSpPr/>
          <p:nvPr/>
        </p:nvSpPr>
        <p:spPr>
          <a:xfrm>
            <a:off x="1000000" y="6569944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DBF24E6-E4BC-A7CB-18D8-6A08AE831018}"/>
              </a:ext>
            </a:extLst>
          </p:cNvPr>
          <p:cNvSpPr txBox="1"/>
          <p:nvPr/>
        </p:nvSpPr>
        <p:spPr>
          <a:xfrm>
            <a:off x="1506086" y="6826026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Property uses review gating</a:t>
            </a:r>
          </a:p>
        </p:txBody>
      </p:sp>
      <p:sp>
        <p:nvSpPr>
          <p:cNvPr id="24" name="Rounded Rectangle 3">
            <a:extLst>
              <a:ext uri="{FF2B5EF4-FFF2-40B4-BE49-F238E27FC236}">
                <a16:creationId xmlns:a16="http://schemas.microsoft.com/office/drawing/2014/main" id="{F7D0E124-D50C-E77C-71E6-A164D7C3CC5C}"/>
              </a:ext>
            </a:extLst>
          </p:cNvPr>
          <p:cNvSpPr/>
          <p:nvPr/>
        </p:nvSpPr>
        <p:spPr>
          <a:xfrm>
            <a:off x="1000000" y="7949215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6AFFA04-26AC-1AE9-0BBC-120F804D9558}"/>
              </a:ext>
            </a:extLst>
          </p:cNvPr>
          <p:cNvSpPr txBox="1"/>
          <p:nvPr/>
        </p:nvSpPr>
        <p:spPr>
          <a:xfrm>
            <a:off x="1506086" y="8205297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User wants to delete their account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C75ADE-6D59-1B04-8F44-DC04CDD5CE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461" t="63789"/>
          <a:stretch>
            <a:fillRect/>
          </a:stretch>
        </p:blipFill>
        <p:spPr>
          <a:xfrm>
            <a:off x="15678551" y="1833777"/>
            <a:ext cx="1601449" cy="17474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50675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0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4" dur="indefinite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7" dur="indefinite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6" grpId="0" animBg="1"/>
      <p:bldP spid="2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EEB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E51797-7797-30C2-B75A-43048D3D6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27DF584-8B3B-04D8-D695-8A953DD7AE01}"/>
              </a:ext>
            </a:extLst>
          </p:cNvPr>
          <p:cNvSpPr/>
          <p:nvPr/>
        </p:nvSpPr>
        <p:spPr>
          <a:xfrm>
            <a:off x="5249896" y="5895959"/>
            <a:ext cx="3424010" cy="1248441"/>
          </a:xfrm>
          <a:prstGeom prst="roundRect">
            <a:avLst/>
          </a:prstGeom>
          <a:solidFill>
            <a:srgbClr val="002B1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0F10D27-F252-77C7-2F50-B5297FB27A8D}"/>
              </a:ext>
            </a:extLst>
          </p:cNvPr>
          <p:cNvSpPr/>
          <p:nvPr/>
        </p:nvSpPr>
        <p:spPr>
          <a:xfrm>
            <a:off x="5326096" y="6001392"/>
            <a:ext cx="3424010" cy="1248441"/>
          </a:xfrm>
          <a:prstGeom prst="roundRect">
            <a:avLst/>
          </a:prstGeom>
          <a:ln>
            <a:solidFill>
              <a:srgbClr val="002B1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954974-4345-A01F-453A-198A4E4774F8}"/>
              </a:ext>
            </a:extLst>
          </p:cNvPr>
          <p:cNvSpPr txBox="1"/>
          <p:nvPr/>
        </p:nvSpPr>
        <p:spPr>
          <a:xfrm>
            <a:off x="1000001" y="700001"/>
            <a:ext cx="12000000" cy="4310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1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KNOWLEDGE CHECK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2178-8041-759D-BFFA-4FF41A61E73C}"/>
              </a:ext>
            </a:extLst>
          </p:cNvPr>
          <p:cNvSpPr txBox="1"/>
          <p:nvPr/>
        </p:nvSpPr>
        <p:spPr>
          <a:xfrm>
            <a:off x="1000001" y="1395310"/>
            <a:ext cx="16200000" cy="11696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1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True or False?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01EBAC1-BCCB-B87B-2E80-8D4CF20BD52A}"/>
              </a:ext>
            </a:extLst>
          </p:cNvPr>
          <p:cNvSpPr/>
          <p:nvPr/>
        </p:nvSpPr>
        <p:spPr>
          <a:xfrm>
            <a:off x="1000001" y="3048116"/>
            <a:ext cx="16280000" cy="221854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14F514-C30E-119A-E0C4-69618718D04A}"/>
              </a:ext>
            </a:extLst>
          </p:cNvPr>
          <p:cNvSpPr txBox="1"/>
          <p:nvPr/>
        </p:nvSpPr>
        <p:spPr>
          <a:xfrm>
            <a:off x="1410104" y="3517079"/>
            <a:ext cx="14680001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fontAlgn="base">
              <a:defRPr sz="4000" b="1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marL="0" marR="0" lvl="0" indent="0" algn="l" defTabSz="13716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If INV made a removal you disagree with, you can overturn it yourself</a:t>
            </a:r>
            <a:endParaRPr kumimoji="0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49CADE3-3F11-0262-C33C-2E1819D4948F}"/>
              </a:ext>
            </a:extLst>
          </p:cNvPr>
          <p:cNvSpPr/>
          <p:nvPr/>
        </p:nvSpPr>
        <p:spPr>
          <a:xfrm>
            <a:off x="1080727" y="5843243"/>
            <a:ext cx="3424010" cy="1248441"/>
          </a:xfrm>
          <a:prstGeom prst="roundRect">
            <a:avLst/>
          </a:prstGeom>
          <a:solidFill>
            <a:srgbClr val="002B1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D535978-2CD6-A561-FBCD-C570B77B5544}"/>
              </a:ext>
            </a:extLst>
          </p:cNvPr>
          <p:cNvSpPr/>
          <p:nvPr/>
        </p:nvSpPr>
        <p:spPr>
          <a:xfrm>
            <a:off x="1156927" y="5948676"/>
            <a:ext cx="3424010" cy="1248441"/>
          </a:xfrm>
          <a:prstGeom prst="roundRect">
            <a:avLst/>
          </a:prstGeom>
          <a:ln>
            <a:solidFill>
              <a:srgbClr val="002B1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F0834E-97B7-E4C7-8A92-AC6308F51E07}"/>
              </a:ext>
            </a:extLst>
          </p:cNvPr>
          <p:cNvSpPr txBox="1"/>
          <p:nvPr/>
        </p:nvSpPr>
        <p:spPr>
          <a:xfrm>
            <a:off x="2106929" y="6257424"/>
            <a:ext cx="1524000" cy="63081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499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TRUE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8A0E6B-39B2-6A92-04F3-7D14C3BA5C41}"/>
              </a:ext>
            </a:extLst>
          </p:cNvPr>
          <p:cNvSpPr txBox="1"/>
          <p:nvPr/>
        </p:nvSpPr>
        <p:spPr>
          <a:xfrm>
            <a:off x="6236970" y="6260630"/>
            <a:ext cx="1790700" cy="63081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99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FALSE</a:t>
            </a:r>
            <a:endParaRPr kumimoji="0" sz="3499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 Black"/>
              <a:ea typeface="+mn-ea"/>
              <a:cs typeface="Arial"/>
              <a:sym typeface="Arial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7FED7C5-943F-A66F-5B64-8AF50B4B3D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461" t="63789"/>
          <a:stretch>
            <a:fillRect/>
          </a:stretch>
        </p:blipFill>
        <p:spPr>
          <a:xfrm>
            <a:off x="15699484" y="3699013"/>
            <a:ext cx="1601450" cy="17474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E624557-87C5-A82F-CD61-2E9251127C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628" t="2587" b="65063"/>
          <a:stretch>
            <a:fillRect/>
          </a:stretch>
        </p:blipFill>
        <p:spPr>
          <a:xfrm>
            <a:off x="9897357" y="6685285"/>
            <a:ext cx="2036016" cy="221854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52A3CAD-F1C3-F04F-9561-5418D8B108E9}"/>
              </a:ext>
            </a:extLst>
          </p:cNvPr>
          <p:cNvSpPr/>
          <p:nvPr/>
        </p:nvSpPr>
        <p:spPr>
          <a:xfrm>
            <a:off x="11933374" y="6330814"/>
            <a:ext cx="5367560" cy="2560880"/>
          </a:xfrm>
          <a:prstGeom prst="roundRect">
            <a:avLst/>
          </a:prstGeom>
          <a:ln>
            <a:solidFill>
              <a:srgbClr val="002B1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125BBB-A971-B07C-74B7-296829C37884}"/>
              </a:ext>
            </a:extLst>
          </p:cNvPr>
          <p:cNvSpPr txBox="1"/>
          <p:nvPr/>
        </p:nvSpPr>
        <p:spPr>
          <a:xfrm>
            <a:off x="600001" y="9727003"/>
            <a:ext cx="10000001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Tripadvisor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Fraud support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Knowledge check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DFEC81-2383-E1E3-22A6-B78726F5FE47}"/>
              </a:ext>
            </a:extLst>
          </p:cNvPr>
          <p:cNvSpPr txBox="1"/>
          <p:nvPr/>
        </p:nvSpPr>
        <p:spPr>
          <a:xfrm>
            <a:off x="12586796" y="7134200"/>
            <a:ext cx="5562599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Superb, you've got the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correct answer</a:t>
            </a:r>
          </a:p>
        </p:txBody>
      </p:sp>
    </p:spTree>
    <p:extLst>
      <p:ext uri="{BB962C8B-B14F-4D97-AF65-F5344CB8AC3E}">
        <p14:creationId xmlns:p14="http://schemas.microsoft.com/office/powerpoint/2010/main" val="3586658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3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9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3FC836-49EF-CA47-DFA6-B77EEFD60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D0E442-1919-EBDC-CCE6-A23EDD7B33F1}"/>
              </a:ext>
            </a:extLst>
          </p:cNvPr>
          <p:cNvSpPr txBox="1"/>
          <p:nvPr/>
        </p:nvSpPr>
        <p:spPr>
          <a:xfrm>
            <a:off x="994557" y="511955"/>
            <a:ext cx="120000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KNOWLEDGE CHECK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4241869-5E75-AE75-D16D-3ABBB0592411}"/>
              </a:ext>
            </a:extLst>
          </p:cNvPr>
          <p:cNvSpPr/>
          <p:nvPr/>
        </p:nvSpPr>
        <p:spPr>
          <a:xfrm>
            <a:off x="1004000" y="1349948"/>
            <a:ext cx="16280000" cy="207590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E71871-3914-C6EE-7928-CD69CB71F80F}"/>
              </a:ext>
            </a:extLst>
          </p:cNvPr>
          <p:cNvSpPr txBox="1"/>
          <p:nvPr/>
        </p:nvSpPr>
        <p:spPr>
          <a:xfrm>
            <a:off x="1510086" y="1680277"/>
            <a:ext cx="14680000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defTabSz="914400">
              <a:defRPr sz="4000" b="1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defTabSz="914400">
              <a:defRPr sz="1800"/>
            </a:lvl2pPr>
            <a:lvl3pPr marL="914400" defTabSz="914400">
              <a:defRPr sz="1800"/>
            </a:lvl3pPr>
            <a:lvl4pPr marL="1371600" defTabSz="914400">
              <a:defRPr sz="1800"/>
            </a:lvl4pPr>
            <a:lvl5pPr marL="1828800" defTabSz="914400">
              <a:defRPr sz="1800"/>
            </a:lvl5pPr>
            <a:lvl6pPr marL="2286000" defTabSz="914400">
              <a:defRPr sz="1800"/>
            </a:lvl6pPr>
            <a:lvl7pPr marL="2743200" defTabSz="914400">
              <a:defRPr sz="1800"/>
            </a:lvl7pPr>
            <a:lvl8pPr marL="3200400" defTabSz="914400">
              <a:defRPr sz="1800"/>
            </a:lvl8pPr>
            <a:lvl9pPr marL="3657600" defTabSz="914400">
              <a:defRPr sz="18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 listing issue needs an action but no reply to the requester. Which team is appropriate?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E383FD-D9DD-886B-7BB1-0D155CF9B191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Tripadvisor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Fraud support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Knowledge check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CC4C47FF-82F1-01D2-7226-495CB4DD7ED4}"/>
              </a:ext>
            </a:extLst>
          </p:cNvPr>
          <p:cNvSpPr/>
          <p:nvPr/>
        </p:nvSpPr>
        <p:spPr>
          <a:xfrm>
            <a:off x="1004000" y="3837334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3D6C1E-19F0-35E4-F023-0340622B0D7B}"/>
              </a:ext>
            </a:extLst>
          </p:cNvPr>
          <p:cNvSpPr txBox="1"/>
          <p:nvPr/>
        </p:nvSpPr>
        <p:spPr>
          <a:xfrm>
            <a:off x="1510086" y="4093416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lvl="0" defTabSz="914400">
              <a:defRPr sz="32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defTabSz="914400">
              <a:defRPr sz="1800"/>
            </a:lvl2pPr>
            <a:lvl3pPr marL="914400" defTabSz="914400">
              <a:defRPr sz="1800"/>
            </a:lvl3pPr>
            <a:lvl4pPr marL="1371600" defTabSz="914400">
              <a:defRPr sz="1800"/>
            </a:lvl4pPr>
            <a:lvl5pPr marL="1828800" defTabSz="914400">
              <a:defRPr sz="1800"/>
            </a:lvl5pPr>
            <a:lvl6pPr marL="2286000" defTabSz="914400">
              <a:defRPr sz="1800"/>
            </a:lvl6pPr>
            <a:lvl7pPr marL="2743200" defTabSz="914400">
              <a:defRPr sz="1800"/>
            </a:lvl7pPr>
            <a:lvl8pPr marL="3200400" defTabSz="914400">
              <a:defRPr sz="1800"/>
            </a:lvl8pPr>
            <a:lvl9pPr marL="3657600" defTabSz="914400">
              <a:defRPr sz="18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Places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16" name="Rounded Rectangle 3">
            <a:extLst>
              <a:ext uri="{FF2B5EF4-FFF2-40B4-BE49-F238E27FC236}">
                <a16:creationId xmlns:a16="http://schemas.microsoft.com/office/drawing/2014/main" id="{BCB44895-976A-20E8-9D8A-A3306933BA65}"/>
              </a:ext>
            </a:extLst>
          </p:cNvPr>
          <p:cNvSpPr/>
          <p:nvPr/>
        </p:nvSpPr>
        <p:spPr>
          <a:xfrm>
            <a:off x="1004000" y="5203639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B83460-31DF-D71C-124D-E191E4479CEB}"/>
              </a:ext>
            </a:extLst>
          </p:cNvPr>
          <p:cNvSpPr txBox="1"/>
          <p:nvPr/>
        </p:nvSpPr>
        <p:spPr>
          <a:xfrm>
            <a:off x="1510086" y="5459721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Community</a:t>
            </a:r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F89F50D7-35CB-2235-69C7-CA4DE6017E79}"/>
              </a:ext>
            </a:extLst>
          </p:cNvPr>
          <p:cNvSpPr/>
          <p:nvPr/>
        </p:nvSpPr>
        <p:spPr>
          <a:xfrm>
            <a:off x="1000000" y="6569944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94C29D7-5B94-A363-7C6E-E71734F54AE1}"/>
              </a:ext>
            </a:extLst>
          </p:cNvPr>
          <p:cNvSpPr txBox="1"/>
          <p:nvPr/>
        </p:nvSpPr>
        <p:spPr>
          <a:xfrm>
            <a:off x="1506086" y="6826026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CS</a:t>
            </a:r>
          </a:p>
        </p:txBody>
      </p:sp>
      <p:sp>
        <p:nvSpPr>
          <p:cNvPr id="24" name="Rounded Rectangle 3">
            <a:extLst>
              <a:ext uri="{FF2B5EF4-FFF2-40B4-BE49-F238E27FC236}">
                <a16:creationId xmlns:a16="http://schemas.microsoft.com/office/drawing/2014/main" id="{3603FA2C-00F4-8A19-A7C0-0656AE20673B}"/>
              </a:ext>
            </a:extLst>
          </p:cNvPr>
          <p:cNvSpPr/>
          <p:nvPr/>
        </p:nvSpPr>
        <p:spPr>
          <a:xfrm>
            <a:off x="1000000" y="7949215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6390EB6-033B-445F-66A4-C4A618938959}"/>
              </a:ext>
            </a:extLst>
          </p:cNvPr>
          <p:cNvSpPr txBox="1"/>
          <p:nvPr/>
        </p:nvSpPr>
        <p:spPr>
          <a:xfrm>
            <a:off x="1506086" y="8205297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INV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A28AEE-2A6D-E5AF-FF4F-58A61AE89F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461" t="63789"/>
          <a:stretch>
            <a:fillRect/>
          </a:stretch>
        </p:blipFill>
        <p:spPr>
          <a:xfrm>
            <a:off x="15678551" y="1833777"/>
            <a:ext cx="1601449" cy="17474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42087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1" dur="indefinite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4" dur="indefinite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7" dur="indefinite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6" grpId="0" animBg="1"/>
      <p:bldP spid="20" grpId="0" animBg="1"/>
      <p:bldP spid="2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9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857CFA-BE84-9B77-3991-9BA50E8B7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FD3100-EAF1-A4F2-5D19-0448ADF997CF}"/>
              </a:ext>
            </a:extLst>
          </p:cNvPr>
          <p:cNvSpPr txBox="1"/>
          <p:nvPr/>
        </p:nvSpPr>
        <p:spPr>
          <a:xfrm>
            <a:off x="994557" y="511955"/>
            <a:ext cx="120000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KNOWLEDGE CHECK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E5B2570-F40B-BB8A-2A98-4C3E918E76E5}"/>
              </a:ext>
            </a:extLst>
          </p:cNvPr>
          <p:cNvSpPr/>
          <p:nvPr/>
        </p:nvSpPr>
        <p:spPr>
          <a:xfrm>
            <a:off x="1004000" y="1349948"/>
            <a:ext cx="16280000" cy="207590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F2DCD2-0A54-08D4-8CA2-8C529DBEC91F}"/>
              </a:ext>
            </a:extLst>
          </p:cNvPr>
          <p:cNvSpPr txBox="1"/>
          <p:nvPr/>
        </p:nvSpPr>
        <p:spPr>
          <a:xfrm>
            <a:off x="1510086" y="1680277"/>
            <a:ext cx="14680000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defTabSz="914400">
              <a:defRPr sz="4000" b="1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defTabSz="914400">
              <a:defRPr sz="1800"/>
            </a:lvl2pPr>
            <a:lvl3pPr marL="914400" defTabSz="914400">
              <a:defRPr sz="1800"/>
            </a:lvl3pPr>
            <a:lvl4pPr marL="1371600" defTabSz="914400">
              <a:defRPr sz="1800"/>
            </a:lvl4pPr>
            <a:lvl5pPr marL="1828800" defTabSz="914400">
              <a:defRPr sz="1800"/>
            </a:lvl5pPr>
            <a:lvl6pPr marL="2286000" defTabSz="914400">
              <a:defRPr sz="1800"/>
            </a:lvl6pPr>
            <a:lvl7pPr marL="2743200" defTabSz="914400">
              <a:defRPr sz="1800"/>
            </a:lvl7pPr>
            <a:lvl8pPr marL="3200400" defTabSz="914400">
              <a:defRPr sz="1800"/>
            </a:lvl8pPr>
            <a:lvl9pPr marL="3657600" defTabSz="914400">
              <a:defRPr sz="18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You receive an unclear CS escalation. What should</a:t>
            </a:r>
            <a:b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</a:b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you do?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9D8280-BC8E-2FE1-4B3B-68AE242C885C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Tripadvisor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Fraud support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Knowledge check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6211A370-F9B2-C8AB-181F-9401B169065A}"/>
              </a:ext>
            </a:extLst>
          </p:cNvPr>
          <p:cNvSpPr/>
          <p:nvPr/>
        </p:nvSpPr>
        <p:spPr>
          <a:xfrm>
            <a:off x="1004000" y="3837334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719D8A-C0E1-186B-2CEF-55E101D43F1B}"/>
              </a:ext>
            </a:extLst>
          </p:cNvPr>
          <p:cNvSpPr txBox="1"/>
          <p:nvPr/>
        </p:nvSpPr>
        <p:spPr>
          <a:xfrm>
            <a:off x="1510086" y="4093416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lvl="0" defTabSz="914400">
              <a:defRPr sz="32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defTabSz="914400">
              <a:defRPr sz="1800"/>
            </a:lvl2pPr>
            <a:lvl3pPr marL="914400" defTabSz="914400">
              <a:defRPr sz="1800"/>
            </a:lvl3pPr>
            <a:lvl4pPr marL="1371600" defTabSz="914400">
              <a:defRPr sz="1800"/>
            </a:lvl4pPr>
            <a:lvl5pPr marL="1828800" defTabSz="914400">
              <a:defRPr sz="1800"/>
            </a:lvl5pPr>
            <a:lvl6pPr marL="2286000" defTabSz="914400">
              <a:defRPr sz="1800"/>
            </a:lvl6pPr>
            <a:lvl7pPr marL="2743200" defTabSz="914400">
              <a:defRPr sz="1800"/>
            </a:lvl7pPr>
            <a:lvl8pPr marL="3200400" defTabSz="914400">
              <a:defRPr sz="1800"/>
            </a:lvl8pPr>
            <a:lvl9pPr marL="3657600" defTabSz="914400">
              <a:defRPr sz="18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Guess and resolve it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16" name="Rounded Rectangle 3">
            <a:extLst>
              <a:ext uri="{FF2B5EF4-FFF2-40B4-BE49-F238E27FC236}">
                <a16:creationId xmlns:a16="http://schemas.microsoft.com/office/drawing/2014/main" id="{01CD894B-562E-2983-1727-398D0345E2B2}"/>
              </a:ext>
            </a:extLst>
          </p:cNvPr>
          <p:cNvSpPr/>
          <p:nvPr/>
        </p:nvSpPr>
        <p:spPr>
          <a:xfrm>
            <a:off x="1004000" y="5203639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49FA25-C402-90D1-1B9A-052CE46243F5}"/>
              </a:ext>
            </a:extLst>
          </p:cNvPr>
          <p:cNvSpPr txBox="1"/>
          <p:nvPr/>
        </p:nvSpPr>
        <p:spPr>
          <a:xfrm>
            <a:off x="1510086" y="5459721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Send it to Community</a:t>
            </a:r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A74C5309-4CC2-5E57-F2BD-CC871158F65C}"/>
              </a:ext>
            </a:extLst>
          </p:cNvPr>
          <p:cNvSpPr/>
          <p:nvPr/>
        </p:nvSpPr>
        <p:spPr>
          <a:xfrm>
            <a:off x="1000000" y="6569944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354D389-1537-51C9-7CFB-0D822FE25E00}"/>
              </a:ext>
            </a:extLst>
          </p:cNvPr>
          <p:cNvSpPr txBox="1"/>
          <p:nvPr/>
        </p:nvSpPr>
        <p:spPr>
          <a:xfrm>
            <a:off x="1506086" y="6826026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Escalate to Tier 2</a:t>
            </a:r>
          </a:p>
        </p:txBody>
      </p:sp>
      <p:sp>
        <p:nvSpPr>
          <p:cNvPr id="24" name="Rounded Rectangle 3">
            <a:extLst>
              <a:ext uri="{FF2B5EF4-FFF2-40B4-BE49-F238E27FC236}">
                <a16:creationId xmlns:a16="http://schemas.microsoft.com/office/drawing/2014/main" id="{B30C6AA8-5E76-3A52-8151-369AB1E3C357}"/>
              </a:ext>
            </a:extLst>
          </p:cNvPr>
          <p:cNvSpPr/>
          <p:nvPr/>
        </p:nvSpPr>
        <p:spPr>
          <a:xfrm>
            <a:off x="1000000" y="7949215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D266D02-6B24-3CF5-B332-7EED3C9360C9}"/>
              </a:ext>
            </a:extLst>
          </p:cNvPr>
          <p:cNvSpPr txBox="1"/>
          <p:nvPr/>
        </p:nvSpPr>
        <p:spPr>
          <a:xfrm>
            <a:off x="1506086" y="8205297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Send it to the owner immediately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6D4E5A-96FE-CDB7-BB14-2CBC2125F1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461" t="63789"/>
          <a:stretch>
            <a:fillRect/>
          </a:stretch>
        </p:blipFill>
        <p:spPr>
          <a:xfrm>
            <a:off x="15678551" y="1833777"/>
            <a:ext cx="1601449" cy="17474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03963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0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4" dur="indefinite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7" dur="indefinite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6" grpId="0" animBg="1"/>
      <p:bldP spid="2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EEB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3CC24A-AC66-A7EC-1EF0-A8CDC2AEC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AA05A13-5FB1-B6B5-9D98-363B0D16841A}"/>
              </a:ext>
            </a:extLst>
          </p:cNvPr>
          <p:cNvSpPr/>
          <p:nvPr/>
        </p:nvSpPr>
        <p:spPr>
          <a:xfrm>
            <a:off x="5249896" y="5895959"/>
            <a:ext cx="3424010" cy="1248441"/>
          </a:xfrm>
          <a:prstGeom prst="roundRect">
            <a:avLst/>
          </a:prstGeom>
          <a:solidFill>
            <a:srgbClr val="002B1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60625BB-9D10-B91D-A8BB-E040B47E70F3}"/>
              </a:ext>
            </a:extLst>
          </p:cNvPr>
          <p:cNvSpPr/>
          <p:nvPr/>
        </p:nvSpPr>
        <p:spPr>
          <a:xfrm>
            <a:off x="5326096" y="6001392"/>
            <a:ext cx="3424010" cy="1248441"/>
          </a:xfrm>
          <a:prstGeom prst="roundRect">
            <a:avLst/>
          </a:prstGeom>
          <a:ln>
            <a:solidFill>
              <a:srgbClr val="002B1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E2DA6A-4FE1-A426-58ED-9C37DE9872C4}"/>
              </a:ext>
            </a:extLst>
          </p:cNvPr>
          <p:cNvSpPr txBox="1"/>
          <p:nvPr/>
        </p:nvSpPr>
        <p:spPr>
          <a:xfrm>
            <a:off x="1000001" y="700001"/>
            <a:ext cx="12000000" cy="4310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1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KNOWLEDGE CHECK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737592-25E7-9B16-1C4C-1E6E847E3E23}"/>
              </a:ext>
            </a:extLst>
          </p:cNvPr>
          <p:cNvSpPr txBox="1"/>
          <p:nvPr/>
        </p:nvSpPr>
        <p:spPr>
          <a:xfrm>
            <a:off x="1000001" y="1395310"/>
            <a:ext cx="16200000" cy="11696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1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True or False?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F040BE2-7DFC-9075-0B1E-1E3992016208}"/>
              </a:ext>
            </a:extLst>
          </p:cNvPr>
          <p:cNvSpPr/>
          <p:nvPr/>
        </p:nvSpPr>
        <p:spPr>
          <a:xfrm>
            <a:off x="1000001" y="3048116"/>
            <a:ext cx="16280000" cy="221854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4D7185-08A5-91B7-996A-2CFF01A238B7}"/>
              </a:ext>
            </a:extLst>
          </p:cNvPr>
          <p:cNvSpPr txBox="1"/>
          <p:nvPr/>
        </p:nvSpPr>
        <p:spPr>
          <a:xfrm>
            <a:off x="1410104" y="3517079"/>
            <a:ext cx="14680001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fontAlgn="base">
              <a:defRPr sz="4000" b="1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marL="0" marR="0" lvl="0" indent="0" algn="l" defTabSz="13716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 case should always go to Tier 2 when an agent finds</a:t>
            </a:r>
            <a:b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</a:b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it difficult</a:t>
            </a:r>
            <a:endParaRPr kumimoji="0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A0E2F64-F698-5F74-3407-9AA463076BC7}"/>
              </a:ext>
            </a:extLst>
          </p:cNvPr>
          <p:cNvSpPr/>
          <p:nvPr/>
        </p:nvSpPr>
        <p:spPr>
          <a:xfrm>
            <a:off x="1080727" y="5843243"/>
            <a:ext cx="3424010" cy="1248441"/>
          </a:xfrm>
          <a:prstGeom prst="roundRect">
            <a:avLst/>
          </a:prstGeom>
          <a:solidFill>
            <a:srgbClr val="002B1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1C509A3-9610-C4BE-88C5-4950DAD7B6B4}"/>
              </a:ext>
            </a:extLst>
          </p:cNvPr>
          <p:cNvSpPr/>
          <p:nvPr/>
        </p:nvSpPr>
        <p:spPr>
          <a:xfrm>
            <a:off x="1156927" y="5948676"/>
            <a:ext cx="3424010" cy="1248441"/>
          </a:xfrm>
          <a:prstGeom prst="roundRect">
            <a:avLst/>
          </a:prstGeom>
          <a:ln>
            <a:solidFill>
              <a:srgbClr val="002B1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1A350A-E733-594B-4E27-3A9166B985E2}"/>
              </a:ext>
            </a:extLst>
          </p:cNvPr>
          <p:cNvSpPr txBox="1"/>
          <p:nvPr/>
        </p:nvSpPr>
        <p:spPr>
          <a:xfrm>
            <a:off x="2106929" y="6257424"/>
            <a:ext cx="1524000" cy="63081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499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TRUE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6E43EA-9E9D-7EB6-9DD7-6A291E56796C}"/>
              </a:ext>
            </a:extLst>
          </p:cNvPr>
          <p:cNvSpPr txBox="1"/>
          <p:nvPr/>
        </p:nvSpPr>
        <p:spPr>
          <a:xfrm>
            <a:off x="6236970" y="6260630"/>
            <a:ext cx="1790700" cy="63081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99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FALSE</a:t>
            </a:r>
            <a:endParaRPr kumimoji="0" sz="3499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 Black"/>
              <a:ea typeface="+mn-ea"/>
              <a:cs typeface="Arial"/>
              <a:sym typeface="Arial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F07D66B-C7D9-DCCE-38EE-199285C71C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461" t="63789"/>
          <a:stretch>
            <a:fillRect/>
          </a:stretch>
        </p:blipFill>
        <p:spPr>
          <a:xfrm>
            <a:off x="15699484" y="3699013"/>
            <a:ext cx="1601450" cy="17474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FA69803-89B2-C435-DA17-CEAA379B99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628" t="2587" b="65063"/>
          <a:stretch>
            <a:fillRect/>
          </a:stretch>
        </p:blipFill>
        <p:spPr>
          <a:xfrm>
            <a:off x="9897357" y="6685285"/>
            <a:ext cx="2036016" cy="221854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92CA3B5-DBC1-F67F-3FA3-3179015E0CF5}"/>
              </a:ext>
            </a:extLst>
          </p:cNvPr>
          <p:cNvSpPr/>
          <p:nvPr/>
        </p:nvSpPr>
        <p:spPr>
          <a:xfrm>
            <a:off x="11933374" y="6330814"/>
            <a:ext cx="5367560" cy="2560880"/>
          </a:xfrm>
          <a:prstGeom prst="roundRect">
            <a:avLst/>
          </a:prstGeom>
          <a:ln>
            <a:solidFill>
              <a:srgbClr val="002B1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6501E8-136B-2E8B-D0EE-EF35A3BB244D}"/>
              </a:ext>
            </a:extLst>
          </p:cNvPr>
          <p:cNvSpPr txBox="1"/>
          <p:nvPr/>
        </p:nvSpPr>
        <p:spPr>
          <a:xfrm>
            <a:off x="12918184" y="7149442"/>
            <a:ext cx="5562599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Perfect, that's the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correct response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88C0A9-2146-62A4-91D5-20B04F79B254}"/>
              </a:ext>
            </a:extLst>
          </p:cNvPr>
          <p:cNvSpPr txBox="1"/>
          <p:nvPr/>
        </p:nvSpPr>
        <p:spPr>
          <a:xfrm>
            <a:off x="600001" y="9727003"/>
            <a:ext cx="10000001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Tripadvisor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Fraud support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Knowledge check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00489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4" grpId="0"/>
    </p:bldLst>
  </p:timing>
</p:sld>
</file>

<file path=ppt/theme/theme1.xml><?xml version="1.0" encoding="utf-8"?>
<a:theme xmlns:a="http://schemas.openxmlformats.org/drawingml/2006/main" name="Office Theme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5fb9b3e-a026-48a2-bdfc-bbf57372bf68">
      <Terms xmlns="http://schemas.microsoft.com/office/infopath/2007/PartnerControls"/>
    </lcf76f155ced4ddcb4097134ff3c332f>
    <TaxCatchAll xmlns="363a3933-3acd-4138-81fd-92928eeda28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0EE4AE8D3AC874580C728DBD6C58F20" ma:contentTypeVersion="16" ma:contentTypeDescription="Create a new document." ma:contentTypeScope="" ma:versionID="006169719bc193b9aed0450dc1fb951c">
  <xsd:schema xmlns:xsd="http://www.w3.org/2001/XMLSchema" xmlns:xs="http://www.w3.org/2001/XMLSchema" xmlns:p="http://schemas.microsoft.com/office/2006/metadata/properties" xmlns:ns2="363a3933-3acd-4138-81fd-92928eeda287" xmlns:ns3="55fb9b3e-a026-48a2-bdfc-bbf57372bf68" targetNamespace="http://schemas.microsoft.com/office/2006/metadata/properties" ma:root="true" ma:fieldsID="dad33e39320f44d79dd0383e43ad2fe2" ns2:_="" ns3:_="">
    <xsd:import namespace="363a3933-3acd-4138-81fd-92928eeda287"/>
    <xsd:import namespace="55fb9b3e-a026-48a2-bdfc-bbf57372bf6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Location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3a3933-3acd-4138-81fd-92928eeda28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6b6606f3-8e38-4bb2-982d-ae60526f985d}" ma:internalName="TaxCatchAll" ma:showField="CatchAllData" ma:web="363a3933-3acd-4138-81fd-92928eeda28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fb9b3e-a026-48a2-bdfc-bbf57372bf6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4d924c95-84b7-4d1c-8a87-b591b54e0cf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E1DB289-825C-4072-8815-42475F3AE902}">
  <ds:schemaRefs>
    <ds:schemaRef ds:uri="http://schemas.microsoft.com/office/2006/metadata/properties"/>
    <ds:schemaRef ds:uri="http://schemas.microsoft.com/office/infopath/2007/PartnerControls"/>
    <ds:schemaRef ds:uri="55fb9b3e-a026-48a2-bdfc-bbf57372bf68"/>
    <ds:schemaRef ds:uri="363a3933-3acd-4138-81fd-92928eeda287"/>
  </ds:schemaRefs>
</ds:datastoreItem>
</file>

<file path=customXml/itemProps2.xml><?xml version="1.0" encoding="utf-8"?>
<ds:datastoreItem xmlns:ds="http://schemas.openxmlformats.org/officeDocument/2006/customXml" ds:itemID="{C7135A14-8890-469B-BCFF-C6DD89ED8FB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312A291-9672-4208-9604-290F10E8483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3a3933-3acd-4138-81fd-92928eeda287"/>
    <ds:schemaRef ds:uri="55fb9b3e-a026-48a2-bdfc-bbf57372bf6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2598</TotalTime>
  <Words>1859</Words>
  <Application>Microsoft Office PowerPoint</Application>
  <PresentationFormat>Custom</PresentationFormat>
  <Paragraphs>302</Paragraphs>
  <Slides>29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Office Theme</vt:lpstr>
      <vt:lpstr>1_Office Theme</vt:lpstr>
      <vt:lpstr>2_Office Theme</vt:lpstr>
      <vt:lpstr>3_Office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Learning Objectives</dc:title>
  <cp:lastModifiedBy>Blessy S</cp:lastModifiedBy>
  <cp:revision>37</cp:revision>
  <dcterms:created xsi:type="dcterms:W3CDTF">2006-08-16T00:00:00Z</dcterms:created>
  <dcterms:modified xsi:type="dcterms:W3CDTF">2026-10-05T07:53:10Z</dcterms:modified>
  <dc:identifier>DAHTTH7WFgs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0x01010080EE4AE8D3AC874580C728DBD6C58F20</vt:lpwstr>
  </property>
  <property fmtid="{D5CDD505-2E9C-101B-9397-08002B2CF9AE}" pid="3" name="MediaServiceImageTags">
    <vt:lpwstr/>
  </property>
</Properties>
</file>