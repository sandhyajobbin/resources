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40_901934AE.xml" ContentType="application/vnd.ms-powerpoint.comments+xml"/>
  <Override PartName="/ppt/comments/modernComment_100_0.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28_E1AFBC16.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01_0.xml" ContentType="application/vnd.ms-powerpoint.comments+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86" r:id="rId5"/>
    <p:sldMasterId id="2147483699" r:id="rId6"/>
    <p:sldMasterId id="2147483701" r:id="rId7"/>
  </p:sldMasterIdLst>
  <p:notesMasterIdLst>
    <p:notesMasterId r:id="rId32"/>
  </p:notesMasterIdLst>
  <p:sldIdLst>
    <p:sldId id="319" r:id="rId8"/>
    <p:sldId id="320" r:id="rId9"/>
    <p:sldId id="367" r:id="rId10"/>
    <p:sldId id="256" r:id="rId11"/>
    <p:sldId id="321" r:id="rId12"/>
    <p:sldId id="334" r:id="rId13"/>
    <p:sldId id="369" r:id="rId14"/>
    <p:sldId id="332" r:id="rId15"/>
    <p:sldId id="368" r:id="rId16"/>
    <p:sldId id="296" r:id="rId17"/>
    <p:sldId id="331" r:id="rId18"/>
    <p:sldId id="333" r:id="rId19"/>
    <p:sldId id="329" r:id="rId20"/>
    <p:sldId id="257" r:id="rId21"/>
    <p:sldId id="330" r:id="rId22"/>
    <p:sldId id="326" r:id="rId23"/>
    <p:sldId id="362" r:id="rId24"/>
    <p:sldId id="300" r:id="rId25"/>
    <p:sldId id="361" r:id="rId26"/>
    <p:sldId id="267" r:id="rId27"/>
    <p:sldId id="363" r:id="rId28"/>
    <p:sldId id="364" r:id="rId29"/>
    <p:sldId id="365" r:id="rId30"/>
    <p:sldId id="366" r:id="rId31"/>
  </p:sldIdLst>
  <p:sldSz cx="18288000" cy="10287000"/>
  <p:notesSz cx="6858000" cy="9144000"/>
  <p:defaultTex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B28AE53-A5C0-7019-264B-F90CA0F09934}" name="Harikrishnan B" initials="HB" userId="Harikrishnan B" providerId="None"/>
  <p188:author id="{A0C1245F-A1C4-21C3-DFFF-B27B167CFD49}" name="Nithese Krrishna V M" initials="NK" userId="S::krrnithe@sutherlandglobal.com::f389bd71-ddc4-4a43-82b4-cc802c9e98f6" providerId="AD"/>
  <p188:author id="{601739CD-6BD1-BAA4-2804-D2A8DA1BC46A}" name="Anupama Chatti" initials="AC" userId="S::chaanupa@sutherlandglobal.com::8d317b31-7766-4d69-bc0a-0192281c33af"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D44B"/>
    <a:srgbClr val="F55959"/>
    <a:srgbClr val="FF9626"/>
    <a:srgbClr val="00C465"/>
    <a:srgbClr val="E997FF"/>
    <a:srgbClr val="00EB5B"/>
    <a:srgbClr val="A0FFE9"/>
    <a:srgbClr val="D1FF73"/>
    <a:srgbClr val="002B11"/>
    <a:srgbClr val="678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1245" autoAdjust="0"/>
  </p:normalViewPr>
  <p:slideViewPr>
    <p:cSldViewPr snapToGrid="0">
      <p:cViewPr varScale="1">
        <p:scale>
          <a:sx n="42" d="100"/>
          <a:sy n="42" d="100"/>
        </p:scale>
        <p:origin x="1020" y="60"/>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21" Type="http://schemas.openxmlformats.org/officeDocument/2006/relationships/slide" Target="slides/slide14.xml"/><Relationship Id="rId34"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presProps" Target="presProps.xml"/><Relationship Id="rId38"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theme" Target="theme/theme1.xml"/><Relationship Id="rId8" Type="http://schemas.openxmlformats.org/officeDocument/2006/relationships/slide" Target="slides/slide1.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upama Chatti" userId="8d317b31-7766-4d69-bc0a-0192281c33af" providerId="ADAL" clId="{E6040E6C-06B2-4520-B147-D613D87670ED}"/>
    <pc:docChg chg="undo custSel addSld modSld">
      <pc:chgData name="Anupama Chatti" userId="8d317b31-7766-4d69-bc0a-0192281c33af" providerId="ADAL" clId="{E6040E6C-06B2-4520-B147-D613D87670ED}" dt="2026-09-21T09:46:04.489" v="13" actId="20577"/>
      <pc:docMkLst>
        <pc:docMk/>
      </pc:docMkLst>
      <pc:sldChg chg="modSp mod">
        <pc:chgData name="Anupama Chatti" userId="8d317b31-7766-4d69-bc0a-0192281c33af" providerId="ADAL" clId="{E6040E6C-06B2-4520-B147-D613D87670ED}" dt="2026-09-21T09:46:04.489" v="13" actId="20577"/>
        <pc:sldMkLst>
          <pc:docMk/>
          <pc:sldMk cId="3995144893" sldId="332"/>
        </pc:sldMkLst>
        <pc:spChg chg="mod">
          <ac:chgData name="Anupama Chatti" userId="8d317b31-7766-4d69-bc0a-0192281c33af" providerId="ADAL" clId="{E6040E6C-06B2-4520-B147-D613D87670ED}" dt="2026-09-21T09:46:04.489" v="13" actId="20577"/>
          <ac:spMkLst>
            <pc:docMk/>
            <pc:sldMk cId="3995144893" sldId="332"/>
            <ac:spMk id="31" creationId="{4C13D5F6-EA25-579D-074D-BB72728CB342}"/>
          </ac:spMkLst>
        </pc:spChg>
      </pc:sldChg>
      <pc:sldChg chg="addSp delSp modSp mod">
        <pc:chgData name="Anupama Chatti" userId="8d317b31-7766-4d69-bc0a-0192281c33af" providerId="ADAL" clId="{E6040E6C-06B2-4520-B147-D613D87670ED}" dt="2026-09-21T09:43:20.421" v="5" actId="21"/>
        <pc:sldMkLst>
          <pc:docMk/>
          <pc:sldMk cId="1281228279" sldId="334"/>
        </pc:sldMkLst>
        <pc:spChg chg="add del">
          <ac:chgData name="Anupama Chatti" userId="8d317b31-7766-4d69-bc0a-0192281c33af" providerId="ADAL" clId="{E6040E6C-06B2-4520-B147-D613D87670ED}" dt="2026-09-21T09:42:56.299" v="1" actId="22"/>
          <ac:spMkLst>
            <pc:docMk/>
            <pc:sldMk cId="1281228279" sldId="334"/>
            <ac:spMk id="7" creationId="{9C9A639F-3457-E6F0-522F-0957496CEA91}"/>
          </ac:spMkLst>
        </pc:spChg>
        <pc:picChg chg="add del mod">
          <ac:chgData name="Anupama Chatti" userId="8d317b31-7766-4d69-bc0a-0192281c33af" providerId="ADAL" clId="{E6040E6C-06B2-4520-B147-D613D87670ED}" dt="2026-09-21T09:43:20.421" v="5" actId="21"/>
          <ac:picMkLst>
            <pc:docMk/>
            <pc:sldMk cId="1281228279" sldId="334"/>
            <ac:picMk id="10" creationId="{9D5E2B38-B7E7-AE52-D966-49D1FB9D12B6}"/>
          </ac:picMkLst>
        </pc:picChg>
      </pc:sldChg>
      <pc:sldChg chg="addSp modSp new mod">
        <pc:chgData name="Anupama Chatti" userId="8d317b31-7766-4d69-bc0a-0192281c33af" providerId="ADAL" clId="{E6040E6C-06B2-4520-B147-D613D87670ED}" dt="2026-09-21T09:43:28.384" v="9" actId="1076"/>
        <pc:sldMkLst>
          <pc:docMk/>
          <pc:sldMk cId="1625070495" sldId="369"/>
        </pc:sldMkLst>
        <pc:picChg chg="add mod">
          <ac:chgData name="Anupama Chatti" userId="8d317b31-7766-4d69-bc0a-0192281c33af" providerId="ADAL" clId="{E6040E6C-06B2-4520-B147-D613D87670ED}" dt="2026-09-21T09:43:28.384" v="9" actId="1076"/>
          <ac:picMkLst>
            <pc:docMk/>
            <pc:sldMk cId="1625070495" sldId="369"/>
            <ac:picMk id="3" creationId="{63095D15-6AA1-94F6-1865-2B24E5BFA98D}"/>
          </ac:picMkLst>
        </pc:picChg>
      </pc:sldChg>
    </pc:docChg>
  </pc:docChgLst>
  <pc:docChgLst>
    <pc:chgData name="Blessy S" userId="S::sbless2@sutherlandglobal.com::15b3e473-e26c-4018-a39b-85200c5350ce" providerId="AD" clId="Web-{7BC414B6-3D89-7F6C-4BC8-0D55FF56E97F}"/>
    <pc:docChg chg="addSld modSld">
      <pc:chgData name="Blessy S" userId="S::sbless2@sutherlandglobal.com::15b3e473-e26c-4018-a39b-85200c5350ce" providerId="AD" clId="Web-{7BC414B6-3D89-7F6C-4BC8-0D55FF56E97F}" dt="2026-09-18T13:28:07.396" v="10" actId="20577"/>
      <pc:docMkLst>
        <pc:docMk/>
      </pc:docMkLst>
      <pc:sldChg chg="modSp add">
        <pc:chgData name="Blessy S" userId="S::sbless2@sutherlandglobal.com::15b3e473-e26c-4018-a39b-85200c5350ce" providerId="AD" clId="Web-{7BC414B6-3D89-7F6C-4BC8-0D55FF56E97F}" dt="2026-09-18T13:27:28.129" v="4" actId="20577"/>
        <pc:sldMkLst>
          <pc:docMk/>
          <pc:sldMk cId="4178775121" sldId="367"/>
        </pc:sldMkLst>
        <pc:spChg chg="mod">
          <ac:chgData name="Blessy S" userId="S::sbless2@sutherlandglobal.com::15b3e473-e26c-4018-a39b-85200c5350ce" providerId="AD" clId="Web-{7BC414B6-3D89-7F6C-4BC8-0D55FF56E97F}" dt="2026-09-18T13:27:28.129" v="4" actId="20577"/>
          <ac:spMkLst>
            <pc:docMk/>
            <pc:sldMk cId="4178775121" sldId="367"/>
            <ac:spMk id="10" creationId="{00000000-0000-0000-0000-000000000000}"/>
          </ac:spMkLst>
        </pc:spChg>
      </pc:sldChg>
      <pc:sldChg chg="modSp add replId">
        <pc:chgData name="Blessy S" userId="S::sbless2@sutherlandglobal.com::15b3e473-e26c-4018-a39b-85200c5350ce" providerId="AD" clId="Web-{7BC414B6-3D89-7F6C-4BC8-0D55FF56E97F}" dt="2026-09-18T13:28:07.396" v="10" actId="20577"/>
        <pc:sldMkLst>
          <pc:docMk/>
          <pc:sldMk cId="4000465298" sldId="368"/>
        </pc:sldMkLst>
        <pc:spChg chg="mod">
          <ac:chgData name="Blessy S" userId="S::sbless2@sutherlandglobal.com::15b3e473-e26c-4018-a39b-85200c5350ce" providerId="AD" clId="Web-{7BC414B6-3D89-7F6C-4BC8-0D55FF56E97F}" dt="2026-09-18T13:28:07.396" v="10" actId="20577"/>
          <ac:spMkLst>
            <pc:docMk/>
            <pc:sldMk cId="4000465298" sldId="368"/>
            <ac:spMk id="10" creationId="{6BFED05B-87EA-AB54-14AC-DE79C7559A2C}"/>
          </ac:spMkLst>
        </pc:spChg>
      </pc:sldChg>
    </pc:docChg>
  </pc:docChgLst>
  <pc:docChgLst>
    <pc:chgData name="Anupama Chatti" userId="S::chaanupa@sutherlandglobal.com::8d317b31-7766-4d69-bc0a-0192281c33af" providerId="AD" clId="Web-{862EBFD5-57F2-5D62-1422-B760482B5059}"/>
    <pc:docChg chg="modSld">
      <pc:chgData name="Anupama Chatti" userId="S::chaanupa@sutherlandglobal.com::8d317b31-7766-4d69-bc0a-0192281c33af" providerId="AD" clId="Web-{862EBFD5-57F2-5D62-1422-B760482B5059}" dt="2026-09-03T16:50:46.177" v="0" actId="1076"/>
      <pc:docMkLst>
        <pc:docMk/>
      </pc:docMkLst>
      <pc:sldChg chg="modSp">
        <pc:chgData name="Anupama Chatti" userId="S::chaanupa@sutherlandglobal.com::8d317b31-7766-4d69-bc0a-0192281c33af" providerId="AD" clId="Web-{862EBFD5-57F2-5D62-1422-B760482B5059}" dt="2026-09-03T16:50:46.177" v="0" actId="1076"/>
        <pc:sldMkLst>
          <pc:docMk/>
          <pc:sldMk cId="0" sldId="330"/>
        </pc:sldMkLst>
        <pc:spChg chg="mod">
          <ac:chgData name="Anupama Chatti" userId="S::chaanupa@sutherlandglobal.com::8d317b31-7766-4d69-bc0a-0192281c33af" providerId="AD" clId="Web-{862EBFD5-57F2-5D62-1422-B760482B5059}" dt="2026-09-03T16:50:46.177" v="0" actId="1076"/>
          <ac:spMkLst>
            <pc:docMk/>
            <pc:sldMk cId="0" sldId="330"/>
            <ac:spMk id="70" creationId="{00000000-0000-0000-0000-000000000000}"/>
          </ac:spMkLst>
        </pc:spChg>
      </pc:sldChg>
    </pc:docChg>
  </pc:docChgLst>
</pc:chgInfo>
</file>

<file path=ppt/comments/modernComment_100_0.xml><?xml version="1.0" encoding="utf-8"?>
<p188:cmLst xmlns:a="http://schemas.openxmlformats.org/drawingml/2006/main" xmlns:r="http://schemas.openxmlformats.org/officeDocument/2006/relationships" xmlns:p188="http://schemas.microsoft.com/office/powerpoint/2018/8/main">
  <p188:cm id="{343AA89D-C17F-475C-8C79-6CAE67B91567}" authorId="{601739CD-6BD1-BAA4-2804-D2A8DA1BC46A}" created="2026-08-27T16:19:31.218">
    <ac:txMkLst xmlns:ac="http://schemas.microsoft.com/office/drawing/2013/main/command">
      <pc:docMk xmlns:pc="http://schemas.microsoft.com/office/powerpoint/2013/main/command"/>
      <pc:sldMk xmlns:pc="http://schemas.microsoft.com/office/powerpoint/2013/main/command" cId="0" sldId="256"/>
      <ac:spMk id="18" creationId="{00000000-0000-0000-0000-000000000000}"/>
      <ac:txMk cp="0" len="7">
        <ac:context len="8" hash="352710395"/>
      </ac:txMk>
    </ac:txMkLst>
    <p188:pos x="1711366" y="637856"/>
    <p188:txBody>
      <a:bodyPr/>
      <a:lstStyle/>
      <a:p>
        <a:r>
          <a:rPr lang="en-US"/>
          <a:t>Change to - what is a fraud letter </a:t>
        </a:r>
      </a:p>
    </p188:txBody>
  </p188:cm>
  <p188:cm id="{28A556A5-F7A5-4317-AF64-6A97972F55B6}" authorId="{601739CD-6BD1-BAA4-2804-D2A8DA1BC46A}" created="2026-08-27T16:22:20.373">
    <ac:txMkLst xmlns:ac="http://schemas.microsoft.com/office/drawing/2013/main/command">
      <pc:docMk xmlns:pc="http://schemas.microsoft.com/office/powerpoint/2013/main/command"/>
      <pc:sldMk xmlns:pc="http://schemas.microsoft.com/office/powerpoint/2013/main/command" cId="0" sldId="256"/>
      <ac:spMk id="18" creationId="{00000000-0000-0000-0000-000000000000}"/>
      <ac:txMk cp="0" len="7">
        <ac:context len="8" hash="352710395"/>
      </ac:txMk>
    </ac:txMkLst>
    <p188:pos x="1711366" y="637856"/>
    <p188:txBody>
      <a:bodyPr/>
      <a:lstStyle/>
      <a:p>
        <a:r>
          <a:rPr lang="en-US"/>
          <a:t>Add what is a fraud letter and one small scenario example of when fraud letters are sent</a:t>
        </a:r>
      </a:p>
    </p188:txBody>
  </p188:cm>
</p188:cmLst>
</file>

<file path=ppt/comments/modernComment_101_0.xml><?xml version="1.0" encoding="utf-8"?>
<p188:cmLst xmlns:a="http://schemas.openxmlformats.org/drawingml/2006/main" xmlns:r="http://schemas.openxmlformats.org/officeDocument/2006/relationships" xmlns:p188="http://schemas.microsoft.com/office/powerpoint/2018/8/main">
  <p188:cm id="{23829467-EF1D-427C-B862-F2BB09EC381C}" authorId="{601739CD-6BD1-BAA4-2804-D2A8DA1BC46A}" created="2026-08-26T12:38:39.295">
    <ac:txMkLst xmlns:ac="http://schemas.microsoft.com/office/drawing/2013/main/command">
      <pc:docMk xmlns:pc="http://schemas.microsoft.com/office/powerpoint/2013/main/command"/>
      <pc:sldMk xmlns:pc="http://schemas.microsoft.com/office/powerpoint/2013/main/command" cId="0" sldId="257"/>
      <ac:spMk id="33" creationId="{00000000-0000-0000-0000-000000000000}"/>
      <ac:txMk cp="55" len="8">
        <ac:context len="64" hash="2582709293"/>
      </ac:txMk>
    </ac:txMkLst>
    <p188:pos x="1549654" y="1163269"/>
    <p188:replyLst>
      <p188:reply id="{A9A9ADBA-24F5-4638-9F8D-8FBDAE481609}" authorId="{A0C1245F-A1C4-21C3-DFFF-B27B167CFD49}" created="2026-08-27T10:01:10.514">
        <p188:txBody>
          <a:bodyPr/>
          <a:lstStyle/>
          <a:p>
            <a:r>
              <a:rPr lang="en-US"/>
              <a:t>Facebook is mentioned in the article</a:t>
            </a:r>
          </a:p>
        </p188:txBody>
      </p188:reply>
    </p188:replyLst>
    <p188:txBody>
      <a:bodyPr/>
      <a:lstStyle/>
      <a:p>
        <a:r>
          <a:rPr lang="en-US"/>
          <a:t>Check</a:t>
        </a:r>
      </a:p>
    </p188:txBody>
  </p188:cm>
</p188:cmLst>
</file>

<file path=ppt/comments/modernComment_128_E1AFBC16.xml><?xml version="1.0" encoding="utf-8"?>
<p188:cmLst xmlns:a="http://schemas.openxmlformats.org/drawingml/2006/main" xmlns:r="http://schemas.openxmlformats.org/officeDocument/2006/relationships" xmlns:p188="http://schemas.microsoft.com/office/powerpoint/2018/8/main">
  <p188:cm id="{5AC04D9E-606C-4526-81D2-F2B5F7345453}" authorId="{601739CD-6BD1-BAA4-2804-D2A8DA1BC46A}" created="2026-08-26T12:36:07.130">
    <ac:txMkLst xmlns:ac="http://schemas.microsoft.com/office/drawing/2013/main/command">
      <pc:docMk xmlns:pc="http://schemas.microsoft.com/office/powerpoint/2013/main/command"/>
      <pc:sldMk xmlns:pc="http://schemas.microsoft.com/office/powerpoint/2013/main/command" cId="3786390550" sldId="296"/>
      <ac:spMk id="44" creationId="{F4BCD560-A0D7-BE82-81CE-DB0B3A94B314}"/>
      <ac:txMk cp="155" len="8">
        <ac:context len="278" hash="2903430987"/>
      </ac:txMk>
    </ac:txMkLst>
    <p188:pos x="2538088" y="2276050"/>
    <p188:replyLst>
      <p188:reply id="{CCA8E876-CE81-41AA-A2D5-8A2AE4735605}" authorId="{A0C1245F-A1C4-21C3-DFFF-B27B167CFD49}" created="2026-08-27T10:02:26.584">
        <p188:txBody>
          <a:bodyPr/>
          <a:lstStyle/>
          <a:p>
            <a:r>
              <a:rPr lang="en-US"/>
              <a:t>Added in the trainer note</a:t>
            </a:r>
          </a:p>
        </p188:txBody>
      </p188:reply>
    </p188:replyLst>
    <p188:txBody>
      <a:bodyPr/>
      <a:lstStyle/>
      <a:p>
        <a:r>
          <a:rPr lang="en-US"/>
          <a:t>Meaning</a:t>
        </a:r>
      </a:p>
    </p188:txBody>
  </p188:cm>
  <p188:cm id="{64D7C7E2-A933-430A-BA33-B9142C00AF86}" authorId="{601739CD-6BD1-BAA4-2804-D2A8DA1BC46A}" created="2026-08-26T12:37:00.311">
    <ac:txMkLst xmlns:ac="http://schemas.microsoft.com/office/drawing/2013/main/command">
      <pc:docMk xmlns:pc="http://schemas.microsoft.com/office/powerpoint/2013/main/command"/>
      <pc:sldMk xmlns:pc="http://schemas.microsoft.com/office/powerpoint/2013/main/command" cId="3786390550" sldId="296"/>
      <ac:spMk id="44" creationId="{F4BCD560-A0D7-BE82-81CE-DB0B3A94B314}"/>
      <ac:txMk cp="245" len="32">
        <ac:context len="278" hash="2903430987"/>
      </ac:txMk>
    </ac:txMkLst>
    <p188:pos x="4554458" y="3612481"/>
    <p188:txBody>
      <a:bodyPr/>
      <a:lstStyle/>
      <a:p>
        <a:r>
          <a:rPr lang="en-US"/>
          <a:t>Can we add a screenshot for the same?</a:t>
        </a:r>
      </a:p>
    </p188:txBody>
  </p188:cm>
  <p188:cm id="{F08B71E6-73AA-4EE2-B18C-CCD42AE5FCAF}" authorId="{601739CD-6BD1-BAA4-2804-D2A8DA1BC46A}" created="2026-08-26T12:37:18.002">
    <ac:txMkLst xmlns:ac="http://schemas.microsoft.com/office/drawing/2013/main/command">
      <pc:docMk xmlns:pc="http://schemas.microsoft.com/office/powerpoint/2013/main/command"/>
      <pc:sldMk xmlns:pc="http://schemas.microsoft.com/office/powerpoint/2013/main/command" cId="3786390550" sldId="296"/>
      <ac:spMk id="25" creationId="{102D22AD-91D8-42C4-A57E-1A5DF59BCBE9}"/>
      <ac:txMk cp="0" len="6">
        <ac:context len="21" hash="2248922464"/>
      </ac:txMk>
    </ac:txMkLst>
    <p188:pos x="1754970" y="590710"/>
    <p188:txBody>
      <a:bodyPr/>
      <a:lstStyle/>
      <a:p>
        <a:r>
          <a:rPr lang="en-US"/>
          <a:t>Need to add screenshot</a:t>
        </a:r>
      </a:p>
    </p188:txBody>
  </p188:cm>
</p188:cmLst>
</file>

<file path=ppt/comments/modernComment_140_901934AE.xml><?xml version="1.0" encoding="utf-8"?>
<p188:cmLst xmlns:a="http://schemas.openxmlformats.org/drawingml/2006/main" xmlns:r="http://schemas.openxmlformats.org/officeDocument/2006/relationships" xmlns:p188="http://schemas.microsoft.com/office/powerpoint/2018/8/main">
  <p188:cm id="{E4310CF3-F492-41B5-AD28-1A73F4A2FDF1}" authorId="{601739CD-6BD1-BAA4-2804-D2A8DA1BC46A}" created="2026-08-26T12:31:13.004">
    <ac:txMkLst xmlns:ac="http://schemas.microsoft.com/office/drawing/2013/main/command">
      <pc:docMk xmlns:pc="http://schemas.microsoft.com/office/powerpoint/2013/main/command"/>
      <pc:sldMk xmlns:pc="http://schemas.microsoft.com/office/powerpoint/2013/main/command" cId="2417570990" sldId="320"/>
      <ac:spMk id="23" creationId="{A3A54A72-19CF-A3BB-E745-1231EE36B1EB}"/>
      <ac:txMk cp="37" len="8">
        <ac:context len="54" hash="3402131959"/>
      </ac:txMk>
    </ac:txMkLst>
    <p188:pos x="6347831" y="598316"/>
    <p188:replyLst>
      <p188:reply id="{118DA87E-ED7A-4A3E-941D-E4E23016D595}" authorId="{A0C1245F-A1C4-21C3-DFFF-B27B167CFD49}" created="2026-08-27T09:47:07.502">
        <p188:txBody>
          <a:bodyPr/>
          <a:lstStyle/>
          <a:p>
            <a:r>
              <a:rPr lang="en-US"/>
              <a:t>Added in the trainer notes</a:t>
            </a:r>
          </a:p>
        </p188:txBody>
      </p188:reply>
    </p188:replyLst>
    <p188:txBody>
      <a:bodyPr/>
      <a:lstStyle/>
      <a:p>
        <a:r>
          <a:rPr lang="en-US"/>
          <a:t>Need clarity</a:t>
        </a:r>
      </a:p>
    </p188:txBody>
  </p188:cm>
</p188:cmLst>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988ABFC-CBC7-471B-8773-B65ECBB000FB}" type="doc">
      <dgm:prSet loTypeId="urn:microsoft.com/office/officeart/2005/8/layout/hProcess7" loCatId="list" qsTypeId="urn:microsoft.com/office/officeart/2005/8/quickstyle/simple1#1" qsCatId="simple" csTypeId="urn:microsoft.com/office/officeart/2005/8/colors/accent1_2#1" csCatId="accent1" phldr="1"/>
      <dgm:spPr/>
      <dgm:t>
        <a:bodyPr/>
        <a:lstStyle/>
        <a:p>
          <a:endParaRPr lang="en-US"/>
        </a:p>
      </dgm:t>
    </dgm:pt>
    <dgm:pt modelId="{C88D4788-F706-4F59-B1C5-D7A0274368E1}">
      <dgm:prSet phldrT="[Text]" phldr="0" custT="1">
        <dgm:style>
          <a:lnRef idx="2">
            <a:schemeClr val="accent6"/>
          </a:lnRef>
          <a:fillRef idx="1">
            <a:schemeClr val="lt1"/>
          </a:fillRef>
          <a:effectRef idx="0">
            <a:schemeClr val="accent6"/>
          </a:effectRef>
          <a:fontRef idx="minor">
            <a:schemeClr val="dk1"/>
          </a:fontRef>
        </dgm:style>
      </dgm:prSet>
      <dgm:spPr>
        <a:ln/>
      </dgm:spPr>
      <dgm:t>
        <a:bodyPr spcFirstLastPara="0" vert="horz" wrap="square" lIns="0" tIns="130302" rIns="168910" bIns="0" numCol="1" spcCol="1270" anchor="t" anchorCtr="0"/>
        <a:lstStyle/>
        <a:p>
          <a:pPr marL="0" lvl="0" indent="0" algn="r" defTabSz="1689100">
            <a:lnSpc>
              <a:spcPct val="90000"/>
            </a:lnSpc>
            <a:spcBef>
              <a:spcPct val="0"/>
            </a:spcBef>
            <a:spcAft>
              <a:spcPct val="35000"/>
            </a:spcAft>
            <a:buNone/>
          </a:pPr>
          <a:endParaRPr lang="en-US" sz="3800" kern="1200" dirty="0">
            <a:solidFill>
              <a:prstClr val="black"/>
            </a:solidFill>
            <a:latin typeface="Calibri" panose="020F0502020204030204"/>
            <a:ea typeface="+mn-ea"/>
            <a:cs typeface="+mn-cs"/>
          </a:endParaRPr>
        </a:p>
      </dgm:t>
    </dgm:pt>
    <dgm:pt modelId="{5DC92156-0857-4261-B362-DBCB0A0DC7F1}" type="parTrans" cxnId="{5058249E-5B1D-4CF2-B61B-69DD08A59BB7}">
      <dgm:prSet/>
      <dgm:spPr/>
      <dgm:t>
        <a:bodyPr/>
        <a:lstStyle/>
        <a:p>
          <a:endParaRPr lang="en-US"/>
        </a:p>
      </dgm:t>
    </dgm:pt>
    <dgm:pt modelId="{BBF8FFDC-9B8F-40A9-A56B-906049981C46}" type="sibTrans" cxnId="{5058249E-5B1D-4CF2-B61B-69DD08A59BB7}">
      <dgm:prSet/>
      <dgm:spPr/>
      <dgm:t>
        <a:bodyPr/>
        <a:lstStyle/>
        <a:p>
          <a:endParaRPr lang="en-US"/>
        </a:p>
      </dgm:t>
    </dgm:pt>
    <dgm:pt modelId="{6F2FE860-00C6-47E7-BAE3-9FE1F608C4D2}">
      <dgm:prSet phldrT="[Text]" custT="1"/>
      <dgm:spPr/>
      <dgm:t>
        <a:bodyPr anchor="ctr"/>
        <a:lstStyle/>
        <a:p>
          <a:pPr>
            <a:buNone/>
          </a:pPr>
          <a:r>
            <a:rPr lang="en-US" sz="2400" b="0" i="0" dirty="0">
              <a:solidFill>
                <a:schemeClr val="tx1"/>
              </a:solidFill>
              <a:latin typeface="Poppins" panose="00000500000000000000" pitchFamily="2" charset="0"/>
              <a:cs typeface="Poppins" panose="00000500000000000000" pitchFamily="2" charset="0"/>
            </a:rPr>
            <a:t>Go to the most recent CI-removed review in the URD</a:t>
          </a:r>
          <a:endParaRPr lang="en-US" sz="2400" dirty="0">
            <a:solidFill>
              <a:schemeClr val="tx1"/>
            </a:solidFill>
            <a:latin typeface="Poppins" panose="00000500000000000000" pitchFamily="2" charset="0"/>
            <a:cs typeface="Poppins" panose="00000500000000000000" pitchFamily="2" charset="0"/>
          </a:endParaRPr>
        </a:p>
      </dgm:t>
    </dgm:pt>
    <dgm:pt modelId="{690EC411-0200-4738-99C8-12604F5C4A2F}" type="parTrans" cxnId="{D92E4391-2AB2-438F-B1D5-BE392E559E7D}">
      <dgm:prSet/>
      <dgm:spPr/>
      <dgm:t>
        <a:bodyPr/>
        <a:lstStyle/>
        <a:p>
          <a:endParaRPr lang="en-US"/>
        </a:p>
      </dgm:t>
    </dgm:pt>
    <dgm:pt modelId="{BB29D60F-65FD-4C1F-A64A-A28B935BD52A}" type="sibTrans" cxnId="{D92E4391-2AB2-438F-B1D5-BE392E559E7D}">
      <dgm:prSet/>
      <dgm:spPr/>
      <dgm:t>
        <a:bodyPr/>
        <a:lstStyle/>
        <a:p>
          <a:endParaRPr lang="en-US"/>
        </a:p>
      </dgm:t>
    </dgm:pt>
    <dgm:pt modelId="{870490CA-C947-433F-9459-802FDBA41657}">
      <dgm:prSet phldrT="[Text]" phldr="0" custT="1">
        <dgm:style>
          <a:lnRef idx="2">
            <a:schemeClr val="accent6"/>
          </a:lnRef>
          <a:fillRef idx="1">
            <a:schemeClr val="lt1"/>
          </a:fillRef>
          <a:effectRef idx="0">
            <a:schemeClr val="accent6"/>
          </a:effectRef>
          <a:fontRef idx="minor">
            <a:schemeClr val="dk1"/>
          </a:fontRef>
        </dgm:style>
      </dgm:prSet>
      <dgm:spPr>
        <a:ln/>
      </dgm:spPr>
      <dgm:t>
        <a:bodyPr spcFirstLastPara="0" vert="horz" wrap="square" lIns="0" tIns="130302" rIns="168910" bIns="0" numCol="1" spcCol="1270" anchor="t" anchorCtr="0"/>
        <a:lstStyle/>
        <a:p>
          <a:pPr marL="0" lvl="0" indent="0" algn="r" defTabSz="1689100">
            <a:lnSpc>
              <a:spcPct val="90000"/>
            </a:lnSpc>
            <a:spcBef>
              <a:spcPct val="0"/>
            </a:spcBef>
            <a:spcAft>
              <a:spcPct val="35000"/>
            </a:spcAft>
            <a:buNone/>
          </a:pPr>
          <a:endParaRPr lang="en-US" sz="3800" kern="1200" dirty="0">
            <a:solidFill>
              <a:prstClr val="black"/>
            </a:solidFill>
            <a:latin typeface="Calibri" panose="020F0502020204030204"/>
            <a:ea typeface="+mn-ea"/>
            <a:cs typeface="+mn-cs"/>
          </a:endParaRPr>
        </a:p>
      </dgm:t>
    </dgm:pt>
    <dgm:pt modelId="{D2115CBE-56AF-4F52-882B-C025C362C8E6}" type="parTrans" cxnId="{75D3C86D-E1C6-4B3F-A4D4-F25C9FB7B06E}">
      <dgm:prSet/>
      <dgm:spPr/>
      <dgm:t>
        <a:bodyPr/>
        <a:lstStyle/>
        <a:p>
          <a:endParaRPr lang="en-US"/>
        </a:p>
      </dgm:t>
    </dgm:pt>
    <dgm:pt modelId="{922D998C-C03A-498F-B532-4170F6F42DB9}" type="sibTrans" cxnId="{75D3C86D-E1C6-4B3F-A4D4-F25C9FB7B06E}">
      <dgm:prSet/>
      <dgm:spPr/>
      <dgm:t>
        <a:bodyPr/>
        <a:lstStyle/>
        <a:p>
          <a:endParaRPr lang="en-US"/>
        </a:p>
      </dgm:t>
    </dgm:pt>
    <dgm:pt modelId="{FB254EF4-E5C7-4692-8736-0B429227B90C}">
      <dgm:prSet phldrT="[Text]" custT="1"/>
      <dgm:spPr/>
      <dgm:t>
        <a:bodyPr anchor="ctr"/>
        <a:lstStyle/>
        <a:p>
          <a:pPr>
            <a:buNone/>
          </a:pPr>
          <a:r>
            <a:rPr lang="en-US" sz="2400" b="0" i="0" dirty="0">
              <a:solidFill>
                <a:schemeClr val="tx1"/>
              </a:solidFill>
              <a:latin typeface="Poppins" panose="00000500000000000000" pitchFamily="2" charset="0"/>
              <a:cs typeface="Poppins" panose="00000500000000000000" pitchFamily="2" charset="0"/>
            </a:rPr>
            <a:t>Click Fraud  </a:t>
          </a:r>
          <a:br>
            <a:rPr lang="en-US" sz="2400" b="0" i="0" dirty="0">
              <a:solidFill>
                <a:schemeClr val="tx1"/>
              </a:solidFill>
              <a:latin typeface="Poppins" panose="00000500000000000000" pitchFamily="2" charset="0"/>
              <a:cs typeface="Poppins" panose="00000500000000000000" pitchFamily="2" charset="0"/>
            </a:rPr>
          </a:br>
          <a:r>
            <a:rPr lang="en-US" sz="2400" b="0" i="0" dirty="0">
              <a:solidFill>
                <a:schemeClr val="tx1"/>
              </a:solidFill>
              <a:latin typeface="Poppins" panose="00000500000000000000" pitchFamily="2" charset="0"/>
              <a:cs typeface="Poppins" panose="00000500000000000000" pitchFamily="2" charset="0"/>
            </a:rPr>
            <a:t> Templates</a:t>
          </a:r>
          <a:endParaRPr lang="en-US" sz="2400" dirty="0">
            <a:solidFill>
              <a:schemeClr val="tx1"/>
            </a:solidFill>
            <a:latin typeface="Poppins" panose="00000500000000000000" pitchFamily="2" charset="0"/>
            <a:cs typeface="Poppins" panose="00000500000000000000" pitchFamily="2" charset="0"/>
          </a:endParaRPr>
        </a:p>
      </dgm:t>
    </dgm:pt>
    <dgm:pt modelId="{5CC8583B-A48F-4430-A8DD-B533ECB4F50E}" type="parTrans" cxnId="{9E3317F7-1871-4438-B7A2-14D79AED9C34}">
      <dgm:prSet/>
      <dgm:spPr/>
      <dgm:t>
        <a:bodyPr/>
        <a:lstStyle/>
        <a:p>
          <a:endParaRPr lang="en-US"/>
        </a:p>
      </dgm:t>
    </dgm:pt>
    <dgm:pt modelId="{963B4ACF-D532-437D-B1C7-29602C8D629B}" type="sibTrans" cxnId="{9E3317F7-1871-4438-B7A2-14D79AED9C34}">
      <dgm:prSet/>
      <dgm:spPr/>
      <dgm:t>
        <a:bodyPr/>
        <a:lstStyle/>
        <a:p>
          <a:endParaRPr lang="en-US"/>
        </a:p>
      </dgm:t>
    </dgm:pt>
    <dgm:pt modelId="{518EFDD1-36E2-4BE9-867A-83E3AAB1F3EF}">
      <dgm:prSet phldrT="[Text]" phldr="0">
        <dgm:style>
          <a:lnRef idx="2">
            <a:schemeClr val="accent6"/>
          </a:lnRef>
          <a:fillRef idx="1">
            <a:schemeClr val="lt1"/>
          </a:fillRef>
          <a:effectRef idx="0">
            <a:schemeClr val="accent6"/>
          </a:effectRef>
          <a:fontRef idx="minor">
            <a:schemeClr val="dk1"/>
          </a:fontRef>
        </dgm:style>
      </dgm:prSet>
      <dgm:spPr/>
      <dgm:t>
        <a:bodyPr/>
        <a:lstStyle/>
        <a:p>
          <a:endParaRPr lang="en-US" dirty="0">
            <a:solidFill>
              <a:srgbClr val="4A4A4A"/>
            </a:solidFill>
          </a:endParaRPr>
        </a:p>
      </dgm:t>
    </dgm:pt>
    <dgm:pt modelId="{49A5910F-23D7-42E1-8D75-B0A235DF6377}" type="parTrans" cxnId="{05BEAAF9-316B-4C88-AF36-E0A203F907E0}">
      <dgm:prSet/>
      <dgm:spPr/>
      <dgm:t>
        <a:bodyPr/>
        <a:lstStyle/>
        <a:p>
          <a:endParaRPr lang="en-US"/>
        </a:p>
      </dgm:t>
    </dgm:pt>
    <dgm:pt modelId="{B28A432A-3628-499E-B65F-70D2C95E87CD}" type="sibTrans" cxnId="{05BEAAF9-316B-4C88-AF36-E0A203F907E0}">
      <dgm:prSet/>
      <dgm:spPr/>
      <dgm:t>
        <a:bodyPr/>
        <a:lstStyle/>
        <a:p>
          <a:endParaRPr lang="en-US"/>
        </a:p>
      </dgm:t>
    </dgm:pt>
    <dgm:pt modelId="{FAC3AFC4-E5F0-4542-A12F-A96D0AAA8F27}">
      <dgm:prSet phldrT="[Text]" custT="1"/>
      <dgm:spPr/>
      <dgm:t>
        <a:bodyPr anchor="ctr"/>
        <a:lstStyle/>
        <a:p>
          <a:pPr>
            <a:buNone/>
          </a:pPr>
          <a:r>
            <a:rPr lang="en-US" sz="2400" b="0" i="0" dirty="0">
              <a:solidFill>
                <a:schemeClr val="tx1"/>
              </a:solidFill>
              <a:latin typeface="Poppins" panose="00000500000000000000" pitchFamily="2" charset="0"/>
              <a:cs typeface="Poppins" panose="00000500000000000000" pitchFamily="2" charset="0"/>
            </a:rPr>
            <a:t>Select ID 126 Fraud Notice (Boosting)</a:t>
          </a:r>
          <a:endParaRPr lang="en-US" sz="2400" dirty="0">
            <a:solidFill>
              <a:schemeClr val="tx1"/>
            </a:solidFill>
            <a:latin typeface="Poppins" panose="00000500000000000000" pitchFamily="2" charset="0"/>
            <a:cs typeface="Poppins" panose="00000500000000000000" pitchFamily="2" charset="0"/>
          </a:endParaRPr>
        </a:p>
      </dgm:t>
    </dgm:pt>
    <dgm:pt modelId="{CEA8375E-3EC7-401C-AE7E-C720200CAAE8}" type="parTrans" cxnId="{33042EDD-F870-412A-A4FA-D2FB9881541A}">
      <dgm:prSet/>
      <dgm:spPr/>
      <dgm:t>
        <a:bodyPr/>
        <a:lstStyle/>
        <a:p>
          <a:endParaRPr lang="en-US"/>
        </a:p>
      </dgm:t>
    </dgm:pt>
    <dgm:pt modelId="{A35A50CA-7B19-4024-8B32-A27235824717}" type="sibTrans" cxnId="{33042EDD-F870-412A-A4FA-D2FB9881541A}">
      <dgm:prSet/>
      <dgm:spPr/>
      <dgm:t>
        <a:bodyPr/>
        <a:lstStyle/>
        <a:p>
          <a:endParaRPr lang="en-US"/>
        </a:p>
      </dgm:t>
    </dgm:pt>
    <dgm:pt modelId="{E1DBC170-2C9F-49B5-96EF-5C62223FB1DB}" type="pres">
      <dgm:prSet presAssocID="{1988ABFC-CBC7-471B-8773-B65ECBB000FB}" presName="Name0" presStyleCnt="0">
        <dgm:presLayoutVars>
          <dgm:dir/>
          <dgm:animLvl val="lvl"/>
          <dgm:resizeHandles val="exact"/>
        </dgm:presLayoutVars>
      </dgm:prSet>
      <dgm:spPr/>
    </dgm:pt>
    <dgm:pt modelId="{C123A059-5F34-405B-89EB-EF97219C0ED3}" type="pres">
      <dgm:prSet presAssocID="{C88D4788-F706-4F59-B1C5-D7A0274368E1}" presName="compositeNode" presStyleCnt="0">
        <dgm:presLayoutVars>
          <dgm:bulletEnabled val="1"/>
        </dgm:presLayoutVars>
      </dgm:prSet>
      <dgm:spPr/>
    </dgm:pt>
    <dgm:pt modelId="{1FD1D8E2-F422-434A-996D-9ED03B37DA98}" type="pres">
      <dgm:prSet presAssocID="{C88D4788-F706-4F59-B1C5-D7A0274368E1}" presName="bgRect" presStyleLbl="node1" presStyleIdx="0" presStyleCnt="3" custLinFactNeighborX="-10677"/>
      <dgm:spPr>
        <a:xfrm>
          <a:off x="0" y="0"/>
          <a:ext cx="3359369" cy="2707041"/>
        </a:xfrm>
        <a:prstGeom prst="roundRect">
          <a:avLst>
            <a:gd name="adj" fmla="val 5000"/>
          </a:avLst>
        </a:prstGeom>
      </dgm:spPr>
    </dgm:pt>
    <dgm:pt modelId="{90AAC6F8-2651-45C8-8E87-98082B29423F}" type="pres">
      <dgm:prSet presAssocID="{C88D4788-F706-4F59-B1C5-D7A0274368E1}" presName="parentNode" presStyleLbl="node1" presStyleIdx="0" presStyleCnt="3">
        <dgm:presLayoutVars>
          <dgm:chMax val="0"/>
          <dgm:bulletEnabled val="1"/>
        </dgm:presLayoutVars>
      </dgm:prSet>
      <dgm:spPr/>
    </dgm:pt>
    <dgm:pt modelId="{6A2A6B8A-93FE-4F6C-B2CB-39B8AC766E8D}" type="pres">
      <dgm:prSet presAssocID="{C88D4788-F706-4F59-B1C5-D7A0274368E1}" presName="childNode" presStyleLbl="node1" presStyleIdx="0" presStyleCnt="3">
        <dgm:presLayoutVars>
          <dgm:bulletEnabled val="1"/>
        </dgm:presLayoutVars>
      </dgm:prSet>
      <dgm:spPr/>
    </dgm:pt>
    <dgm:pt modelId="{DB6DEC78-1447-4486-A828-AA07C983CC89}" type="pres">
      <dgm:prSet presAssocID="{BBF8FFDC-9B8F-40A9-A56B-906049981C46}" presName="hSp" presStyleCnt="0"/>
      <dgm:spPr/>
    </dgm:pt>
    <dgm:pt modelId="{6EFBAD2A-5964-41CF-A8B4-66CD1467D6E3}" type="pres">
      <dgm:prSet presAssocID="{BBF8FFDC-9B8F-40A9-A56B-906049981C46}" presName="vProcSp" presStyleCnt="0"/>
      <dgm:spPr/>
    </dgm:pt>
    <dgm:pt modelId="{090075E9-1254-4952-BA2C-6B5B387EA1D3}" type="pres">
      <dgm:prSet presAssocID="{BBF8FFDC-9B8F-40A9-A56B-906049981C46}" presName="vSp1" presStyleCnt="0"/>
      <dgm:spPr/>
    </dgm:pt>
    <dgm:pt modelId="{3CB64263-3163-4C5D-AAC8-D106F8622644}" type="pres">
      <dgm:prSet presAssocID="{BBF8FFDC-9B8F-40A9-A56B-906049981C46}" presName="simulatedConn" presStyleLbl="solidFgAcc1" presStyleIdx="0" presStyleCnt="2"/>
      <dgm:spPr>
        <a:ln>
          <a:solidFill>
            <a:srgbClr val="92D050"/>
          </a:solidFill>
        </a:ln>
      </dgm:spPr>
    </dgm:pt>
    <dgm:pt modelId="{5D2C96DC-1BE8-4582-96F3-D7256B21DB4C}" type="pres">
      <dgm:prSet presAssocID="{BBF8FFDC-9B8F-40A9-A56B-906049981C46}" presName="vSp2" presStyleCnt="0"/>
      <dgm:spPr/>
    </dgm:pt>
    <dgm:pt modelId="{988394E5-39D9-403A-8B06-2308DE7B53A8}" type="pres">
      <dgm:prSet presAssocID="{BBF8FFDC-9B8F-40A9-A56B-906049981C46}" presName="sibTrans" presStyleCnt="0"/>
      <dgm:spPr/>
    </dgm:pt>
    <dgm:pt modelId="{A3CFCB2B-F33B-4A1A-9593-C2308545D448}" type="pres">
      <dgm:prSet presAssocID="{870490CA-C947-433F-9459-802FDBA41657}" presName="compositeNode" presStyleCnt="0">
        <dgm:presLayoutVars>
          <dgm:bulletEnabled val="1"/>
        </dgm:presLayoutVars>
      </dgm:prSet>
      <dgm:spPr/>
    </dgm:pt>
    <dgm:pt modelId="{00A95FEC-0B70-4E99-9322-5296A21DAF67}" type="pres">
      <dgm:prSet presAssocID="{870490CA-C947-433F-9459-802FDBA41657}" presName="bgRect" presStyleLbl="node1" presStyleIdx="1" presStyleCnt="3" custLinFactNeighborY="-31573"/>
      <dgm:spPr>
        <a:xfrm>
          <a:off x="3477728" y="0"/>
          <a:ext cx="3359369" cy="2707041"/>
        </a:xfrm>
        <a:prstGeom prst="roundRect">
          <a:avLst>
            <a:gd name="adj" fmla="val 5000"/>
          </a:avLst>
        </a:prstGeom>
      </dgm:spPr>
    </dgm:pt>
    <dgm:pt modelId="{FAD6DACC-8E2B-4A2B-AA47-5FA72CFCAC3B}" type="pres">
      <dgm:prSet presAssocID="{870490CA-C947-433F-9459-802FDBA41657}" presName="parentNode" presStyleLbl="node1" presStyleIdx="1" presStyleCnt="3">
        <dgm:presLayoutVars>
          <dgm:chMax val="0"/>
          <dgm:bulletEnabled val="1"/>
        </dgm:presLayoutVars>
      </dgm:prSet>
      <dgm:spPr/>
    </dgm:pt>
    <dgm:pt modelId="{C30C80D5-E462-4C0E-8172-EAC464D153A0}" type="pres">
      <dgm:prSet presAssocID="{870490CA-C947-433F-9459-802FDBA41657}" presName="childNode" presStyleLbl="node1" presStyleIdx="1" presStyleCnt="3">
        <dgm:presLayoutVars>
          <dgm:bulletEnabled val="1"/>
        </dgm:presLayoutVars>
      </dgm:prSet>
      <dgm:spPr/>
    </dgm:pt>
    <dgm:pt modelId="{4F1A71A1-18C8-4BA0-972B-A7F4D2E87F21}" type="pres">
      <dgm:prSet presAssocID="{922D998C-C03A-498F-B532-4170F6F42DB9}" presName="hSp" presStyleCnt="0"/>
      <dgm:spPr/>
    </dgm:pt>
    <dgm:pt modelId="{53B10C29-099C-4606-9AE7-A831D66804E0}" type="pres">
      <dgm:prSet presAssocID="{922D998C-C03A-498F-B532-4170F6F42DB9}" presName="vProcSp" presStyleCnt="0"/>
      <dgm:spPr/>
    </dgm:pt>
    <dgm:pt modelId="{0A7C9BEA-B02F-4CC0-8A5E-E2ECB0B058D4}" type="pres">
      <dgm:prSet presAssocID="{922D998C-C03A-498F-B532-4170F6F42DB9}" presName="vSp1" presStyleCnt="0"/>
      <dgm:spPr/>
    </dgm:pt>
    <dgm:pt modelId="{B293F62B-ACCA-4674-9559-6EB1020912F1}" type="pres">
      <dgm:prSet presAssocID="{922D998C-C03A-498F-B532-4170F6F42DB9}" presName="simulatedConn" presStyleLbl="solidFgAcc1" presStyleIdx="1" presStyleCnt="2"/>
      <dgm:spPr>
        <a:ln>
          <a:solidFill>
            <a:srgbClr val="92D050"/>
          </a:solidFill>
        </a:ln>
      </dgm:spPr>
    </dgm:pt>
    <dgm:pt modelId="{5F670B0B-D93C-45C9-A670-4450F6B325C9}" type="pres">
      <dgm:prSet presAssocID="{922D998C-C03A-498F-B532-4170F6F42DB9}" presName="vSp2" presStyleCnt="0"/>
      <dgm:spPr/>
    </dgm:pt>
    <dgm:pt modelId="{959EFD5B-7F99-4F03-B3C7-06127492CB74}" type="pres">
      <dgm:prSet presAssocID="{922D998C-C03A-498F-B532-4170F6F42DB9}" presName="sibTrans" presStyleCnt="0"/>
      <dgm:spPr/>
    </dgm:pt>
    <dgm:pt modelId="{4CED1BE2-FC7D-4D49-BF93-FBFF0E976E9D}" type="pres">
      <dgm:prSet presAssocID="{518EFDD1-36E2-4BE9-867A-83E3AAB1F3EF}" presName="compositeNode" presStyleCnt="0">
        <dgm:presLayoutVars>
          <dgm:bulletEnabled val="1"/>
        </dgm:presLayoutVars>
      </dgm:prSet>
      <dgm:spPr/>
    </dgm:pt>
    <dgm:pt modelId="{EF0B5287-5C0E-4DF5-BFCA-C1C9D9955E40}" type="pres">
      <dgm:prSet presAssocID="{518EFDD1-36E2-4BE9-867A-83E3AAB1F3EF}" presName="bgRect" presStyleLbl="node1" presStyleIdx="2" presStyleCnt="3"/>
      <dgm:spPr/>
    </dgm:pt>
    <dgm:pt modelId="{D835C3A0-D8A5-4EE3-BC95-8188555D7120}" type="pres">
      <dgm:prSet presAssocID="{518EFDD1-36E2-4BE9-867A-83E3AAB1F3EF}" presName="parentNode" presStyleLbl="node1" presStyleIdx="2" presStyleCnt="3">
        <dgm:presLayoutVars>
          <dgm:chMax val="0"/>
          <dgm:bulletEnabled val="1"/>
        </dgm:presLayoutVars>
      </dgm:prSet>
      <dgm:spPr/>
    </dgm:pt>
    <dgm:pt modelId="{A1BE1FB1-45E2-4DEC-A480-5D9097BCEA9F}" type="pres">
      <dgm:prSet presAssocID="{518EFDD1-36E2-4BE9-867A-83E3AAB1F3EF}" presName="childNode" presStyleLbl="node1" presStyleIdx="2" presStyleCnt="3">
        <dgm:presLayoutVars>
          <dgm:bulletEnabled val="1"/>
        </dgm:presLayoutVars>
      </dgm:prSet>
      <dgm:spPr/>
    </dgm:pt>
  </dgm:ptLst>
  <dgm:cxnLst>
    <dgm:cxn modelId="{79794922-E677-4C7E-9C8B-E775D5C63E66}" type="presOf" srcId="{1988ABFC-CBC7-471B-8773-B65ECBB000FB}" destId="{E1DBC170-2C9F-49B5-96EF-5C62223FB1DB}" srcOrd="0" destOrd="0" presId="urn:microsoft.com/office/officeart/2005/8/layout/hProcess7"/>
    <dgm:cxn modelId="{514CC324-8E1B-40CD-9136-BF447B2A30B1}" type="presOf" srcId="{C88D4788-F706-4F59-B1C5-D7A0274368E1}" destId="{1FD1D8E2-F422-434A-996D-9ED03B37DA98}" srcOrd="0" destOrd="0" presId="urn:microsoft.com/office/officeart/2005/8/layout/hProcess7"/>
    <dgm:cxn modelId="{65F9435F-58A8-492A-8C0A-B864563CB6C2}" type="presOf" srcId="{870490CA-C947-433F-9459-802FDBA41657}" destId="{00A95FEC-0B70-4E99-9322-5296A21DAF67}" srcOrd="0" destOrd="0" presId="urn:microsoft.com/office/officeart/2005/8/layout/hProcess7"/>
    <dgm:cxn modelId="{86DC7B45-46A3-4E88-BA0E-88F2E0358DC1}" type="presOf" srcId="{6F2FE860-00C6-47E7-BAE3-9FE1F608C4D2}" destId="{6A2A6B8A-93FE-4F6C-B2CB-39B8AC766E8D}" srcOrd="0" destOrd="0" presId="urn:microsoft.com/office/officeart/2005/8/layout/hProcess7"/>
    <dgm:cxn modelId="{75D3C86D-E1C6-4B3F-A4D4-F25C9FB7B06E}" srcId="{1988ABFC-CBC7-471B-8773-B65ECBB000FB}" destId="{870490CA-C947-433F-9459-802FDBA41657}" srcOrd="1" destOrd="0" parTransId="{D2115CBE-56AF-4F52-882B-C025C362C8E6}" sibTransId="{922D998C-C03A-498F-B532-4170F6F42DB9}"/>
    <dgm:cxn modelId="{91D9CA56-CC89-4E10-813D-6429A29EF2C4}" type="presOf" srcId="{518EFDD1-36E2-4BE9-867A-83E3AAB1F3EF}" destId="{D835C3A0-D8A5-4EE3-BC95-8188555D7120}" srcOrd="1" destOrd="0" presId="urn:microsoft.com/office/officeart/2005/8/layout/hProcess7"/>
    <dgm:cxn modelId="{5BA9A07B-3EF7-4F63-A274-9BC470A7449F}" type="presOf" srcId="{518EFDD1-36E2-4BE9-867A-83E3AAB1F3EF}" destId="{EF0B5287-5C0E-4DF5-BFCA-C1C9D9955E40}" srcOrd="0" destOrd="0" presId="urn:microsoft.com/office/officeart/2005/8/layout/hProcess7"/>
    <dgm:cxn modelId="{8A513E82-5CFF-4C71-B9AB-C55F3D292C7F}" type="presOf" srcId="{FAC3AFC4-E5F0-4542-A12F-A96D0AAA8F27}" destId="{A1BE1FB1-45E2-4DEC-A480-5D9097BCEA9F}" srcOrd="0" destOrd="0" presId="urn:microsoft.com/office/officeart/2005/8/layout/hProcess7"/>
    <dgm:cxn modelId="{D92E4391-2AB2-438F-B1D5-BE392E559E7D}" srcId="{C88D4788-F706-4F59-B1C5-D7A0274368E1}" destId="{6F2FE860-00C6-47E7-BAE3-9FE1F608C4D2}" srcOrd="0" destOrd="0" parTransId="{690EC411-0200-4738-99C8-12604F5C4A2F}" sibTransId="{BB29D60F-65FD-4C1F-A64A-A28B935BD52A}"/>
    <dgm:cxn modelId="{5058249E-5B1D-4CF2-B61B-69DD08A59BB7}" srcId="{1988ABFC-CBC7-471B-8773-B65ECBB000FB}" destId="{C88D4788-F706-4F59-B1C5-D7A0274368E1}" srcOrd="0" destOrd="0" parTransId="{5DC92156-0857-4261-B362-DBCB0A0DC7F1}" sibTransId="{BBF8FFDC-9B8F-40A9-A56B-906049981C46}"/>
    <dgm:cxn modelId="{E8C703A5-DD22-4F69-841C-E2DD0135E97B}" type="presOf" srcId="{C88D4788-F706-4F59-B1C5-D7A0274368E1}" destId="{90AAC6F8-2651-45C8-8E87-98082B29423F}" srcOrd="1" destOrd="0" presId="urn:microsoft.com/office/officeart/2005/8/layout/hProcess7"/>
    <dgm:cxn modelId="{53D712AB-E44C-406A-A0CE-FD296D992D34}" type="presOf" srcId="{870490CA-C947-433F-9459-802FDBA41657}" destId="{FAD6DACC-8E2B-4A2B-AA47-5FA72CFCAC3B}" srcOrd="1" destOrd="0" presId="urn:microsoft.com/office/officeart/2005/8/layout/hProcess7"/>
    <dgm:cxn modelId="{33042EDD-F870-412A-A4FA-D2FB9881541A}" srcId="{518EFDD1-36E2-4BE9-867A-83E3AAB1F3EF}" destId="{FAC3AFC4-E5F0-4542-A12F-A96D0AAA8F27}" srcOrd="0" destOrd="0" parTransId="{CEA8375E-3EC7-401C-AE7E-C720200CAAE8}" sibTransId="{A35A50CA-7B19-4024-8B32-A27235824717}"/>
    <dgm:cxn modelId="{9E3317F7-1871-4438-B7A2-14D79AED9C34}" srcId="{870490CA-C947-433F-9459-802FDBA41657}" destId="{FB254EF4-E5C7-4692-8736-0B429227B90C}" srcOrd="0" destOrd="0" parTransId="{5CC8583B-A48F-4430-A8DD-B533ECB4F50E}" sibTransId="{963B4ACF-D532-437D-B1C7-29602C8D629B}"/>
    <dgm:cxn modelId="{05BEAAF9-316B-4C88-AF36-E0A203F907E0}" srcId="{1988ABFC-CBC7-471B-8773-B65ECBB000FB}" destId="{518EFDD1-36E2-4BE9-867A-83E3AAB1F3EF}" srcOrd="2" destOrd="0" parTransId="{49A5910F-23D7-42E1-8D75-B0A235DF6377}" sibTransId="{B28A432A-3628-499E-B65F-70D2C95E87CD}"/>
    <dgm:cxn modelId="{BA2C6EFB-213A-4483-AB2D-8155AD0807E3}" type="presOf" srcId="{FB254EF4-E5C7-4692-8736-0B429227B90C}" destId="{C30C80D5-E462-4C0E-8172-EAC464D153A0}" srcOrd="0" destOrd="0" presId="urn:microsoft.com/office/officeart/2005/8/layout/hProcess7"/>
    <dgm:cxn modelId="{E8B41240-430E-4290-AB08-273B4641FAF9}" type="presParOf" srcId="{E1DBC170-2C9F-49B5-96EF-5C62223FB1DB}" destId="{C123A059-5F34-405B-89EB-EF97219C0ED3}" srcOrd="0" destOrd="0" presId="urn:microsoft.com/office/officeart/2005/8/layout/hProcess7"/>
    <dgm:cxn modelId="{41F652FA-6CF7-4E67-84E1-CEF1A23D4108}" type="presParOf" srcId="{C123A059-5F34-405B-89EB-EF97219C0ED3}" destId="{1FD1D8E2-F422-434A-996D-9ED03B37DA98}" srcOrd="0" destOrd="0" presId="urn:microsoft.com/office/officeart/2005/8/layout/hProcess7"/>
    <dgm:cxn modelId="{817E9940-FFF0-45A2-88A4-12CA5BF55851}" type="presParOf" srcId="{C123A059-5F34-405B-89EB-EF97219C0ED3}" destId="{90AAC6F8-2651-45C8-8E87-98082B29423F}" srcOrd="1" destOrd="0" presId="urn:microsoft.com/office/officeart/2005/8/layout/hProcess7"/>
    <dgm:cxn modelId="{0C6FFEF5-2A32-4BEE-82D7-2FDB99DF07E0}" type="presParOf" srcId="{C123A059-5F34-405B-89EB-EF97219C0ED3}" destId="{6A2A6B8A-93FE-4F6C-B2CB-39B8AC766E8D}" srcOrd="2" destOrd="0" presId="urn:microsoft.com/office/officeart/2005/8/layout/hProcess7"/>
    <dgm:cxn modelId="{A06569DD-E1F2-4BD8-A0D9-88189423059D}" type="presParOf" srcId="{E1DBC170-2C9F-49B5-96EF-5C62223FB1DB}" destId="{DB6DEC78-1447-4486-A828-AA07C983CC89}" srcOrd="1" destOrd="0" presId="urn:microsoft.com/office/officeart/2005/8/layout/hProcess7"/>
    <dgm:cxn modelId="{72720995-E991-44BF-8014-D2C224EB93E8}" type="presParOf" srcId="{E1DBC170-2C9F-49B5-96EF-5C62223FB1DB}" destId="{6EFBAD2A-5964-41CF-A8B4-66CD1467D6E3}" srcOrd="2" destOrd="0" presId="urn:microsoft.com/office/officeart/2005/8/layout/hProcess7"/>
    <dgm:cxn modelId="{C6A7E387-D07E-420A-8A65-C45E5C261005}" type="presParOf" srcId="{6EFBAD2A-5964-41CF-A8B4-66CD1467D6E3}" destId="{090075E9-1254-4952-BA2C-6B5B387EA1D3}" srcOrd="0" destOrd="0" presId="urn:microsoft.com/office/officeart/2005/8/layout/hProcess7"/>
    <dgm:cxn modelId="{2EF031A2-07BF-484F-BD98-42F23DFBBB1C}" type="presParOf" srcId="{6EFBAD2A-5964-41CF-A8B4-66CD1467D6E3}" destId="{3CB64263-3163-4C5D-AAC8-D106F8622644}" srcOrd="1" destOrd="0" presId="urn:microsoft.com/office/officeart/2005/8/layout/hProcess7"/>
    <dgm:cxn modelId="{F0A9CE88-3439-4825-AB6E-AAE25442EFC6}" type="presParOf" srcId="{6EFBAD2A-5964-41CF-A8B4-66CD1467D6E3}" destId="{5D2C96DC-1BE8-4582-96F3-D7256B21DB4C}" srcOrd="2" destOrd="0" presId="urn:microsoft.com/office/officeart/2005/8/layout/hProcess7"/>
    <dgm:cxn modelId="{4EAEB538-BF1F-4C89-BFE5-43911002825A}" type="presParOf" srcId="{E1DBC170-2C9F-49B5-96EF-5C62223FB1DB}" destId="{988394E5-39D9-403A-8B06-2308DE7B53A8}" srcOrd="3" destOrd="0" presId="urn:microsoft.com/office/officeart/2005/8/layout/hProcess7"/>
    <dgm:cxn modelId="{7A9EBFBC-8D11-4139-80D4-BF4FD33FAB5A}" type="presParOf" srcId="{E1DBC170-2C9F-49B5-96EF-5C62223FB1DB}" destId="{A3CFCB2B-F33B-4A1A-9593-C2308545D448}" srcOrd="4" destOrd="0" presId="urn:microsoft.com/office/officeart/2005/8/layout/hProcess7"/>
    <dgm:cxn modelId="{1FBAB684-1A08-402D-80EF-254079FA1645}" type="presParOf" srcId="{A3CFCB2B-F33B-4A1A-9593-C2308545D448}" destId="{00A95FEC-0B70-4E99-9322-5296A21DAF67}" srcOrd="0" destOrd="0" presId="urn:microsoft.com/office/officeart/2005/8/layout/hProcess7"/>
    <dgm:cxn modelId="{DD715073-7046-44D0-A2B3-54B2789A6B4A}" type="presParOf" srcId="{A3CFCB2B-F33B-4A1A-9593-C2308545D448}" destId="{FAD6DACC-8E2B-4A2B-AA47-5FA72CFCAC3B}" srcOrd="1" destOrd="0" presId="urn:microsoft.com/office/officeart/2005/8/layout/hProcess7"/>
    <dgm:cxn modelId="{0B715DB0-913C-46D9-BBFF-677D22467F70}" type="presParOf" srcId="{A3CFCB2B-F33B-4A1A-9593-C2308545D448}" destId="{C30C80D5-E462-4C0E-8172-EAC464D153A0}" srcOrd="2" destOrd="0" presId="urn:microsoft.com/office/officeart/2005/8/layout/hProcess7"/>
    <dgm:cxn modelId="{FD3F4263-E28D-44C0-BD69-8A7125DD10DF}" type="presParOf" srcId="{E1DBC170-2C9F-49B5-96EF-5C62223FB1DB}" destId="{4F1A71A1-18C8-4BA0-972B-A7F4D2E87F21}" srcOrd="5" destOrd="0" presId="urn:microsoft.com/office/officeart/2005/8/layout/hProcess7"/>
    <dgm:cxn modelId="{EA07FA11-C9D8-45B4-9659-99872EB01762}" type="presParOf" srcId="{E1DBC170-2C9F-49B5-96EF-5C62223FB1DB}" destId="{53B10C29-099C-4606-9AE7-A831D66804E0}" srcOrd="6" destOrd="0" presId="urn:microsoft.com/office/officeart/2005/8/layout/hProcess7"/>
    <dgm:cxn modelId="{DC67411B-0FE9-49EF-847E-8B73754DA551}" type="presParOf" srcId="{53B10C29-099C-4606-9AE7-A831D66804E0}" destId="{0A7C9BEA-B02F-4CC0-8A5E-E2ECB0B058D4}" srcOrd="0" destOrd="0" presId="urn:microsoft.com/office/officeart/2005/8/layout/hProcess7"/>
    <dgm:cxn modelId="{9F4C2B35-062B-4494-9607-40F6A6A9B41C}" type="presParOf" srcId="{53B10C29-099C-4606-9AE7-A831D66804E0}" destId="{B293F62B-ACCA-4674-9559-6EB1020912F1}" srcOrd="1" destOrd="0" presId="urn:microsoft.com/office/officeart/2005/8/layout/hProcess7"/>
    <dgm:cxn modelId="{81849FAF-4E88-456F-A991-4A02791E80F5}" type="presParOf" srcId="{53B10C29-099C-4606-9AE7-A831D66804E0}" destId="{5F670B0B-D93C-45C9-A670-4450F6B325C9}" srcOrd="2" destOrd="0" presId="urn:microsoft.com/office/officeart/2005/8/layout/hProcess7"/>
    <dgm:cxn modelId="{ACF09BF7-69B0-4057-B430-28980C1DF9BE}" type="presParOf" srcId="{E1DBC170-2C9F-49B5-96EF-5C62223FB1DB}" destId="{959EFD5B-7F99-4F03-B3C7-06127492CB74}" srcOrd="7" destOrd="0" presId="urn:microsoft.com/office/officeart/2005/8/layout/hProcess7"/>
    <dgm:cxn modelId="{E5679D88-BCC2-46CB-B74A-4D4900FE1C1E}" type="presParOf" srcId="{E1DBC170-2C9F-49B5-96EF-5C62223FB1DB}" destId="{4CED1BE2-FC7D-4D49-BF93-FBFF0E976E9D}" srcOrd="8" destOrd="0" presId="urn:microsoft.com/office/officeart/2005/8/layout/hProcess7"/>
    <dgm:cxn modelId="{49A8E657-C4E3-4317-9F14-7B3F5D4B3172}" type="presParOf" srcId="{4CED1BE2-FC7D-4D49-BF93-FBFF0E976E9D}" destId="{EF0B5287-5C0E-4DF5-BFCA-C1C9D9955E40}" srcOrd="0" destOrd="0" presId="urn:microsoft.com/office/officeart/2005/8/layout/hProcess7"/>
    <dgm:cxn modelId="{71B87EA3-3FE3-40CC-8D9D-62B0D1A3CD0D}" type="presParOf" srcId="{4CED1BE2-FC7D-4D49-BF93-FBFF0E976E9D}" destId="{D835C3A0-D8A5-4EE3-BC95-8188555D7120}" srcOrd="1" destOrd="0" presId="urn:microsoft.com/office/officeart/2005/8/layout/hProcess7"/>
    <dgm:cxn modelId="{32A61EFB-0C2A-488F-B8D5-1D33BDF1EB23}" type="presParOf" srcId="{4CED1BE2-FC7D-4D49-BF93-FBFF0E976E9D}" destId="{A1BE1FB1-45E2-4DEC-A480-5D9097BCEA9F}" srcOrd="2" destOrd="0" presId="urn:microsoft.com/office/officeart/2005/8/layout/hProcess7"/>
  </dgm:cxnLst>
  <dgm:bg>
    <a:effectLst>
      <a:outerShdw blurRad="50800" dist="38100" dir="5400000" algn="t" rotWithShape="0">
        <a:prstClr val="black">
          <a:alpha val="40000"/>
        </a:prstClr>
      </a:outerShdw>
    </a:effect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D1D8E2-F422-434A-996D-9ED03B37DA98}">
      <dsp:nvSpPr>
        <dsp:cNvPr id="0" name=""/>
        <dsp:cNvSpPr/>
      </dsp:nvSpPr>
      <dsp:spPr>
        <a:xfrm>
          <a:off x="0" y="0"/>
          <a:ext cx="3359369" cy="2707041"/>
        </a:xfrm>
        <a:prstGeom prst="roundRect">
          <a:avLst>
            <a:gd name="adj" fmla="val 5000"/>
          </a:avLst>
        </a:prstGeom>
        <a:solidFill>
          <a:schemeClr val="lt1"/>
        </a:solidFill>
        <a:ln w="12700"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0" tIns="130302" rIns="168910" bIns="0" numCol="1" spcCol="1270" anchor="t" anchorCtr="0">
          <a:noAutofit/>
        </a:bodyPr>
        <a:lstStyle/>
        <a:p>
          <a:pPr marL="0" lvl="0" indent="0" algn="r" defTabSz="1689100">
            <a:lnSpc>
              <a:spcPct val="90000"/>
            </a:lnSpc>
            <a:spcBef>
              <a:spcPct val="0"/>
            </a:spcBef>
            <a:spcAft>
              <a:spcPct val="35000"/>
            </a:spcAft>
            <a:buNone/>
          </a:pPr>
          <a:endParaRPr lang="en-US" sz="3800" kern="1200" dirty="0">
            <a:solidFill>
              <a:prstClr val="black"/>
            </a:solidFill>
            <a:latin typeface="Calibri" panose="020F0502020204030204"/>
            <a:ea typeface="+mn-ea"/>
            <a:cs typeface="+mn-cs"/>
          </a:endParaRPr>
        </a:p>
      </dsp:txBody>
      <dsp:txXfrm rot="16200000">
        <a:off x="-773950" y="773950"/>
        <a:ext cx="2219774" cy="671873"/>
      </dsp:txXfrm>
    </dsp:sp>
    <dsp:sp modelId="{6A2A6B8A-93FE-4F6C-B2CB-39B8AC766E8D}">
      <dsp:nvSpPr>
        <dsp:cNvPr id="0" name=""/>
        <dsp:cNvSpPr/>
      </dsp:nvSpPr>
      <dsp:spPr>
        <a:xfrm>
          <a:off x="671873" y="0"/>
          <a:ext cx="2502730" cy="270704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82296" rIns="0" bIns="0" numCol="1" spcCol="1270" anchor="ctr" anchorCtr="0">
          <a:noAutofit/>
        </a:bodyPr>
        <a:lstStyle/>
        <a:p>
          <a:pPr marL="0" lvl="0" indent="0" algn="l" defTabSz="1066800">
            <a:lnSpc>
              <a:spcPct val="90000"/>
            </a:lnSpc>
            <a:spcBef>
              <a:spcPct val="0"/>
            </a:spcBef>
            <a:spcAft>
              <a:spcPct val="35000"/>
            </a:spcAft>
            <a:buNone/>
          </a:pPr>
          <a:r>
            <a:rPr lang="en-US" sz="2400" b="0" i="0" kern="1200" dirty="0">
              <a:solidFill>
                <a:schemeClr val="tx1"/>
              </a:solidFill>
              <a:latin typeface="Poppins" panose="00000500000000000000" pitchFamily="2" charset="0"/>
              <a:cs typeface="Poppins" panose="00000500000000000000" pitchFamily="2" charset="0"/>
            </a:rPr>
            <a:t>Go to the most recent CI-removed review in the URD</a:t>
          </a:r>
          <a:endParaRPr lang="en-US" sz="2400" kern="1200" dirty="0">
            <a:solidFill>
              <a:schemeClr val="tx1"/>
            </a:solidFill>
            <a:latin typeface="Poppins" panose="00000500000000000000" pitchFamily="2" charset="0"/>
            <a:cs typeface="Poppins" panose="00000500000000000000" pitchFamily="2" charset="0"/>
          </a:endParaRPr>
        </a:p>
      </dsp:txBody>
      <dsp:txXfrm>
        <a:off x="671873" y="0"/>
        <a:ext cx="2502730" cy="2707041"/>
      </dsp:txXfrm>
    </dsp:sp>
    <dsp:sp modelId="{00A95FEC-0B70-4E99-9322-5296A21DAF67}">
      <dsp:nvSpPr>
        <dsp:cNvPr id="0" name=""/>
        <dsp:cNvSpPr/>
      </dsp:nvSpPr>
      <dsp:spPr>
        <a:xfrm>
          <a:off x="3477728" y="0"/>
          <a:ext cx="3359369" cy="2707041"/>
        </a:xfrm>
        <a:prstGeom prst="roundRect">
          <a:avLst>
            <a:gd name="adj" fmla="val 5000"/>
          </a:avLst>
        </a:prstGeom>
        <a:solidFill>
          <a:schemeClr val="lt1"/>
        </a:solidFill>
        <a:ln w="12700"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0" tIns="130302" rIns="168910" bIns="0" numCol="1" spcCol="1270" anchor="t" anchorCtr="0">
          <a:noAutofit/>
        </a:bodyPr>
        <a:lstStyle/>
        <a:p>
          <a:pPr marL="0" lvl="0" indent="0" algn="r" defTabSz="1689100">
            <a:lnSpc>
              <a:spcPct val="90000"/>
            </a:lnSpc>
            <a:spcBef>
              <a:spcPct val="0"/>
            </a:spcBef>
            <a:spcAft>
              <a:spcPct val="35000"/>
            </a:spcAft>
            <a:buNone/>
          </a:pPr>
          <a:endParaRPr lang="en-US" sz="3800" kern="1200" dirty="0">
            <a:solidFill>
              <a:prstClr val="black"/>
            </a:solidFill>
            <a:latin typeface="Calibri" panose="020F0502020204030204"/>
            <a:ea typeface="+mn-ea"/>
            <a:cs typeface="+mn-cs"/>
          </a:endParaRPr>
        </a:p>
      </dsp:txBody>
      <dsp:txXfrm rot="16200000">
        <a:off x="2703778" y="773950"/>
        <a:ext cx="2219774" cy="671873"/>
      </dsp:txXfrm>
    </dsp:sp>
    <dsp:sp modelId="{3CB64263-3163-4C5D-AAC8-D106F8622644}">
      <dsp:nvSpPr>
        <dsp:cNvPr id="0" name=""/>
        <dsp:cNvSpPr/>
      </dsp:nvSpPr>
      <dsp:spPr>
        <a:xfrm rot="5400000">
          <a:off x="3295834" y="2066113"/>
          <a:ext cx="397382" cy="503905"/>
        </a:xfrm>
        <a:prstGeom prst="flowChartExtract">
          <a:avLst/>
        </a:prstGeom>
        <a:solidFill>
          <a:schemeClr val="lt1">
            <a:hueOff val="0"/>
            <a:satOff val="0"/>
            <a:lumOff val="0"/>
            <a:alphaOff val="0"/>
          </a:schemeClr>
        </a:solidFill>
        <a:ln w="12700" cap="flat" cmpd="sng" algn="ctr">
          <a:solidFill>
            <a:srgbClr val="92D050"/>
          </a:solidFill>
          <a:prstDash val="solid"/>
          <a:miter lim="800000"/>
        </a:ln>
        <a:effectLst/>
      </dsp:spPr>
      <dsp:style>
        <a:lnRef idx="2">
          <a:scrgbClr r="0" g="0" b="0"/>
        </a:lnRef>
        <a:fillRef idx="1">
          <a:scrgbClr r="0" g="0" b="0"/>
        </a:fillRef>
        <a:effectRef idx="0">
          <a:scrgbClr r="0" g="0" b="0"/>
        </a:effectRef>
        <a:fontRef idx="minor"/>
      </dsp:style>
    </dsp:sp>
    <dsp:sp modelId="{C30C80D5-E462-4C0E-8172-EAC464D153A0}">
      <dsp:nvSpPr>
        <dsp:cNvPr id="0" name=""/>
        <dsp:cNvSpPr/>
      </dsp:nvSpPr>
      <dsp:spPr>
        <a:xfrm>
          <a:off x="4149602" y="0"/>
          <a:ext cx="2502730" cy="270704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82296" rIns="0" bIns="0" numCol="1" spcCol="1270" anchor="ctr" anchorCtr="0">
          <a:noAutofit/>
        </a:bodyPr>
        <a:lstStyle/>
        <a:p>
          <a:pPr marL="0" lvl="0" indent="0" algn="l" defTabSz="1066800">
            <a:lnSpc>
              <a:spcPct val="90000"/>
            </a:lnSpc>
            <a:spcBef>
              <a:spcPct val="0"/>
            </a:spcBef>
            <a:spcAft>
              <a:spcPct val="35000"/>
            </a:spcAft>
            <a:buNone/>
          </a:pPr>
          <a:r>
            <a:rPr lang="en-US" sz="2400" b="0" i="0" kern="1200" dirty="0">
              <a:solidFill>
                <a:schemeClr val="tx1"/>
              </a:solidFill>
              <a:latin typeface="Poppins" panose="00000500000000000000" pitchFamily="2" charset="0"/>
              <a:cs typeface="Poppins" panose="00000500000000000000" pitchFamily="2" charset="0"/>
            </a:rPr>
            <a:t>Click Fraud  </a:t>
          </a:r>
          <a:br>
            <a:rPr lang="en-US" sz="2400" b="0" i="0" kern="1200" dirty="0">
              <a:solidFill>
                <a:schemeClr val="tx1"/>
              </a:solidFill>
              <a:latin typeface="Poppins" panose="00000500000000000000" pitchFamily="2" charset="0"/>
              <a:cs typeface="Poppins" panose="00000500000000000000" pitchFamily="2" charset="0"/>
            </a:rPr>
          </a:br>
          <a:r>
            <a:rPr lang="en-US" sz="2400" b="0" i="0" kern="1200" dirty="0">
              <a:solidFill>
                <a:schemeClr val="tx1"/>
              </a:solidFill>
              <a:latin typeface="Poppins" panose="00000500000000000000" pitchFamily="2" charset="0"/>
              <a:cs typeface="Poppins" panose="00000500000000000000" pitchFamily="2" charset="0"/>
            </a:rPr>
            <a:t> Templates</a:t>
          </a:r>
          <a:endParaRPr lang="en-US" sz="2400" kern="1200" dirty="0">
            <a:solidFill>
              <a:schemeClr val="tx1"/>
            </a:solidFill>
            <a:latin typeface="Poppins" panose="00000500000000000000" pitchFamily="2" charset="0"/>
            <a:cs typeface="Poppins" panose="00000500000000000000" pitchFamily="2" charset="0"/>
          </a:endParaRPr>
        </a:p>
      </dsp:txBody>
      <dsp:txXfrm>
        <a:off x="4149602" y="0"/>
        <a:ext cx="2502730" cy="2707041"/>
      </dsp:txXfrm>
    </dsp:sp>
    <dsp:sp modelId="{EF0B5287-5C0E-4DF5-BFCA-C1C9D9955E40}">
      <dsp:nvSpPr>
        <dsp:cNvPr id="0" name=""/>
        <dsp:cNvSpPr/>
      </dsp:nvSpPr>
      <dsp:spPr>
        <a:xfrm>
          <a:off x="6954676" y="0"/>
          <a:ext cx="3359369" cy="2707041"/>
        </a:xfrm>
        <a:prstGeom prst="roundRect">
          <a:avLst>
            <a:gd name="adj" fmla="val 5000"/>
          </a:avLst>
        </a:prstGeom>
        <a:solidFill>
          <a:schemeClr val="lt1"/>
        </a:solidFill>
        <a:ln w="12700"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0" tIns="130302" rIns="168910" bIns="0" numCol="1" spcCol="1270" anchor="t" anchorCtr="0">
          <a:noAutofit/>
        </a:bodyPr>
        <a:lstStyle/>
        <a:p>
          <a:pPr marL="0" lvl="0" indent="0" algn="r" defTabSz="1689100">
            <a:lnSpc>
              <a:spcPct val="90000"/>
            </a:lnSpc>
            <a:spcBef>
              <a:spcPct val="0"/>
            </a:spcBef>
            <a:spcAft>
              <a:spcPct val="35000"/>
            </a:spcAft>
            <a:buNone/>
          </a:pPr>
          <a:endParaRPr lang="en-US" sz="3800" kern="1200" dirty="0">
            <a:solidFill>
              <a:srgbClr val="4A4A4A"/>
            </a:solidFill>
          </a:endParaRPr>
        </a:p>
      </dsp:txBody>
      <dsp:txXfrm rot="16200000">
        <a:off x="6180726" y="773950"/>
        <a:ext cx="2219774" cy="671873"/>
      </dsp:txXfrm>
    </dsp:sp>
    <dsp:sp modelId="{B293F62B-ACCA-4674-9559-6EB1020912F1}">
      <dsp:nvSpPr>
        <dsp:cNvPr id="0" name=""/>
        <dsp:cNvSpPr/>
      </dsp:nvSpPr>
      <dsp:spPr>
        <a:xfrm rot="5400000">
          <a:off x="6772781" y="2066113"/>
          <a:ext cx="397382" cy="503905"/>
        </a:xfrm>
        <a:prstGeom prst="flowChartExtract">
          <a:avLst/>
        </a:prstGeom>
        <a:solidFill>
          <a:schemeClr val="lt1">
            <a:hueOff val="0"/>
            <a:satOff val="0"/>
            <a:lumOff val="0"/>
            <a:alphaOff val="0"/>
          </a:schemeClr>
        </a:solidFill>
        <a:ln w="12700" cap="flat" cmpd="sng" algn="ctr">
          <a:solidFill>
            <a:srgbClr val="92D050"/>
          </a:solidFill>
          <a:prstDash val="solid"/>
          <a:miter lim="800000"/>
        </a:ln>
        <a:effectLst/>
      </dsp:spPr>
      <dsp:style>
        <a:lnRef idx="2">
          <a:scrgbClr r="0" g="0" b="0"/>
        </a:lnRef>
        <a:fillRef idx="1">
          <a:scrgbClr r="0" g="0" b="0"/>
        </a:fillRef>
        <a:effectRef idx="0">
          <a:scrgbClr r="0" g="0" b="0"/>
        </a:effectRef>
        <a:fontRef idx="minor"/>
      </dsp:style>
    </dsp:sp>
    <dsp:sp modelId="{A1BE1FB1-45E2-4DEC-A480-5D9097BCEA9F}">
      <dsp:nvSpPr>
        <dsp:cNvPr id="0" name=""/>
        <dsp:cNvSpPr/>
      </dsp:nvSpPr>
      <dsp:spPr>
        <a:xfrm>
          <a:off x="7626550" y="0"/>
          <a:ext cx="2502730" cy="270704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82296" rIns="0" bIns="0" numCol="1" spcCol="1270" anchor="ctr" anchorCtr="0">
          <a:noAutofit/>
        </a:bodyPr>
        <a:lstStyle/>
        <a:p>
          <a:pPr marL="0" lvl="0" indent="0" algn="l" defTabSz="1066800">
            <a:lnSpc>
              <a:spcPct val="90000"/>
            </a:lnSpc>
            <a:spcBef>
              <a:spcPct val="0"/>
            </a:spcBef>
            <a:spcAft>
              <a:spcPct val="35000"/>
            </a:spcAft>
            <a:buNone/>
          </a:pPr>
          <a:r>
            <a:rPr lang="en-US" sz="2400" b="0" i="0" kern="1200" dirty="0">
              <a:solidFill>
                <a:schemeClr val="tx1"/>
              </a:solidFill>
              <a:latin typeface="Poppins" panose="00000500000000000000" pitchFamily="2" charset="0"/>
              <a:cs typeface="Poppins" panose="00000500000000000000" pitchFamily="2" charset="0"/>
            </a:rPr>
            <a:t>Select ID 126 Fraud Notice (Boosting)</a:t>
          </a:r>
          <a:endParaRPr lang="en-US" sz="2400" kern="1200" dirty="0">
            <a:solidFill>
              <a:schemeClr val="tx1"/>
            </a:solidFill>
            <a:latin typeface="Poppins" panose="00000500000000000000" pitchFamily="2" charset="0"/>
            <a:cs typeface="Poppins" panose="00000500000000000000" pitchFamily="2" charset="0"/>
          </a:endParaRPr>
        </a:p>
      </dsp:txBody>
      <dsp:txXfrm>
        <a:off x="7626550" y="0"/>
        <a:ext cx="2502730" cy="2707041"/>
      </dsp:txXfrm>
    </dsp:sp>
  </dsp:spTree>
</dsp:drawing>
</file>

<file path=ppt/diagrams/layout1.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9A1D4A-2433-43FF-A592-716A171CEF35}" type="datetimeFigureOut">
              <a:rPr lang="en-US" smtClean="0"/>
              <a:t>9/21/2026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1DA0BC-CA66-40C0-8D1D-145D29847569}" type="slidenum">
              <a:rPr lang="en-US" smtClean="0"/>
              <a:t>‹#›</a:t>
            </a:fld>
            <a:endParaRPr lang="en-US"/>
          </a:p>
        </p:txBody>
      </p:sp>
    </p:spTree>
    <p:extLst>
      <p:ext uri="{BB962C8B-B14F-4D97-AF65-F5344CB8AC3E}">
        <p14:creationId xmlns:p14="http://schemas.microsoft.com/office/powerpoint/2010/main" val="1222008253"/>
      </p:ext>
    </p:extLst>
  </p:cSld>
  <p:clrMap bg1="lt1" tx1="dk1" bg2="lt2" tx2="dk2" accent1="accent1" accent2="accent2" accent3="accent3" accent4="accent4" accent5="accent5" accent6="accent6" hlink="hlink" folHlink="folHlink"/>
  <p:notesStyle>
    <a:lvl1pPr marL="0" algn="l" defTabSz="1371600" rtl="0" eaLnBrk="1" latinLnBrk="0" hangingPunct="1">
      <a:defRPr sz="1800" kern="1200">
        <a:solidFill>
          <a:schemeClr val="tx1"/>
        </a:solidFill>
        <a:latin typeface="+mn-lt"/>
        <a:ea typeface="+mn-ea"/>
        <a:cs typeface="+mn-cs"/>
      </a:defRPr>
    </a:lvl1pPr>
    <a:lvl2pPr marL="685800" algn="l" defTabSz="1371600" rtl="0" eaLnBrk="1" latinLnBrk="0" hangingPunct="1">
      <a:defRPr sz="1800" kern="1200">
        <a:solidFill>
          <a:schemeClr val="tx1"/>
        </a:solidFill>
        <a:latin typeface="+mn-lt"/>
        <a:ea typeface="+mn-ea"/>
        <a:cs typeface="+mn-cs"/>
      </a:defRPr>
    </a:lvl2pPr>
    <a:lvl3pPr marL="1371600" algn="l" defTabSz="1371600" rtl="0" eaLnBrk="1" latinLnBrk="0" hangingPunct="1">
      <a:defRPr sz="1800" kern="1200">
        <a:solidFill>
          <a:schemeClr val="tx1"/>
        </a:solidFill>
        <a:latin typeface="+mn-lt"/>
        <a:ea typeface="+mn-ea"/>
        <a:cs typeface="+mn-cs"/>
      </a:defRPr>
    </a:lvl3pPr>
    <a:lvl4pPr marL="2057400" algn="l" defTabSz="1371600" rtl="0" eaLnBrk="1" latinLnBrk="0" hangingPunct="1">
      <a:defRPr sz="1800" kern="1200">
        <a:solidFill>
          <a:schemeClr val="tx1"/>
        </a:solidFill>
        <a:latin typeface="+mn-lt"/>
        <a:ea typeface="+mn-ea"/>
        <a:cs typeface="+mn-cs"/>
      </a:defRPr>
    </a:lvl4pPr>
    <a:lvl5pPr marL="2743200" algn="l" defTabSz="1371600" rtl="0" eaLnBrk="1" latinLnBrk="0" hangingPunct="1">
      <a:defRPr sz="1800" kern="1200">
        <a:solidFill>
          <a:schemeClr val="tx1"/>
        </a:solidFill>
        <a:latin typeface="+mn-lt"/>
        <a:ea typeface="+mn-ea"/>
        <a:cs typeface="+mn-cs"/>
      </a:defRPr>
    </a:lvl5pPr>
    <a:lvl6pPr marL="3429000" algn="l" defTabSz="1371600" rtl="0" eaLnBrk="1" latinLnBrk="0" hangingPunct="1">
      <a:defRPr sz="1800" kern="1200">
        <a:solidFill>
          <a:schemeClr val="tx1"/>
        </a:solidFill>
        <a:latin typeface="+mn-lt"/>
        <a:ea typeface="+mn-ea"/>
        <a:cs typeface="+mn-cs"/>
      </a:defRPr>
    </a:lvl6pPr>
    <a:lvl7pPr marL="4114800" algn="l" defTabSz="1371600" rtl="0" eaLnBrk="1" latinLnBrk="0" hangingPunct="1">
      <a:defRPr sz="1800" kern="1200">
        <a:solidFill>
          <a:schemeClr val="tx1"/>
        </a:solidFill>
        <a:latin typeface="+mn-lt"/>
        <a:ea typeface="+mn-ea"/>
        <a:cs typeface="+mn-cs"/>
      </a:defRPr>
    </a:lvl7pPr>
    <a:lvl8pPr marL="4800600" algn="l" defTabSz="1371600" rtl="0" eaLnBrk="1" latinLnBrk="0" hangingPunct="1">
      <a:defRPr sz="1800" kern="1200">
        <a:solidFill>
          <a:schemeClr val="tx1"/>
        </a:solidFill>
        <a:latin typeface="+mn-lt"/>
        <a:ea typeface="+mn-ea"/>
        <a:cs typeface="+mn-cs"/>
      </a:defRPr>
    </a:lvl8pPr>
    <a:lvl9pPr marL="5486400" algn="l" defTabSz="1371600"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47BF8-E698-E80A-0499-BCB8B2AC33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276C0A-BF19-E227-8E52-6716390C140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C023B13-8842-E634-C692-1E4CF9C808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F233A3-DFBE-E4DE-99E9-E6A34AD5A01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C8D9EE-DC96-4F1C-BCAC-A65D5AD1D43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569278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auto"/>
            <a:r>
              <a:rPr lang="en-US" sz="1800" b="0" i="0" kern="1200" dirty="0">
                <a:solidFill>
                  <a:schemeClr val="tx1"/>
                </a:solidFill>
                <a:effectLst/>
                <a:latin typeface="+mn-lt"/>
                <a:ea typeface="+mn-ea"/>
                <a:cs typeface="+mn-cs"/>
              </a:rPr>
              <a:t>A Boosting Letter is a type of Fraud Letter issued for fraudulent review manipulation. It cannot be re-sent from the Location Center and must be manually sent via the User Review Database (URD) by selecting the ID 126 Fraud Notice (Boosting). This letter helps document misconduct and enforce compliance.</a:t>
            </a:r>
          </a:p>
        </p:txBody>
      </p:sp>
      <p:sp>
        <p:nvSpPr>
          <p:cNvPr id="4" name="Slide Number Placeholder 3"/>
          <p:cNvSpPr>
            <a:spLocks noGrp="1"/>
          </p:cNvSpPr>
          <p:nvPr>
            <p:ph type="sldNum" sz="quarter" idx="5"/>
          </p:nvPr>
        </p:nvSpPr>
        <p:spPr/>
        <p:txBody>
          <a:bodyPr/>
          <a:lstStyle/>
          <a:p>
            <a:fld id="{3C1DA0BC-CA66-40C0-8D1D-145D29847569}" type="slidenum">
              <a:rPr lang="en-US" smtClean="0"/>
              <a:t>2</a:t>
            </a:fld>
            <a:endParaRPr lang="en-US"/>
          </a:p>
        </p:txBody>
      </p:sp>
    </p:spTree>
    <p:extLst>
      <p:ext uri="{BB962C8B-B14F-4D97-AF65-F5344CB8AC3E}">
        <p14:creationId xmlns:p14="http://schemas.microsoft.com/office/powerpoint/2010/main" val="93159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D3CF9-71BE-6667-2E05-2B13BBF69D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0B8C70-7E8E-0324-629F-AAC82C9C3C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7BDA8B-7D8B-6E74-15D5-C6D94FD5BC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77D1F9-9436-118E-81E3-272C357D47AE}"/>
              </a:ext>
            </a:extLst>
          </p:cNvPr>
          <p:cNvSpPr>
            <a:spLocks noGrp="1"/>
          </p:cNvSpPr>
          <p:nvPr>
            <p:ph type="sldNum" sz="quarter" idx="5"/>
          </p:nvPr>
        </p:nvSpPr>
        <p:spPr/>
        <p:txBody>
          <a:bodyPr/>
          <a:lstStyle/>
          <a:p>
            <a:fld id="{3C1DA0BC-CA66-40C0-8D1D-145D29847569}" type="slidenum">
              <a:rPr lang="en-US" smtClean="0"/>
              <a:t>6</a:t>
            </a:fld>
            <a:endParaRPr lang="en-US"/>
          </a:p>
        </p:txBody>
      </p:sp>
    </p:spTree>
    <p:extLst>
      <p:ext uri="{BB962C8B-B14F-4D97-AF65-F5344CB8AC3E}">
        <p14:creationId xmlns:p14="http://schemas.microsoft.com/office/powerpoint/2010/main" val="39891239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C1DA0BC-CA66-40C0-8D1D-145D29847569}" type="slidenum">
              <a:rPr lang="en-US" smtClean="0"/>
              <a:t>8</a:t>
            </a:fld>
            <a:endParaRPr lang="en-US"/>
          </a:p>
        </p:txBody>
      </p:sp>
    </p:spTree>
    <p:extLst>
      <p:ext uri="{BB962C8B-B14F-4D97-AF65-F5344CB8AC3E}">
        <p14:creationId xmlns:p14="http://schemas.microsoft.com/office/powerpoint/2010/main" val="32445532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A Boosting Letter is a type of Fraud Letter issued for fraudulent review manipulation. It cannot be re-sent from the Location Center and must be manually sent via the User Review Database (URD) by selecting the ID 126 Fraud Notice (Boosting). This letter helps document misconduct and enforce compliance.</a:t>
            </a:r>
          </a:p>
        </p:txBody>
      </p:sp>
      <p:sp>
        <p:nvSpPr>
          <p:cNvPr id="4" name="Slide Number Placeholder 3"/>
          <p:cNvSpPr>
            <a:spLocks noGrp="1"/>
          </p:cNvSpPr>
          <p:nvPr>
            <p:ph type="sldNum" sz="quarter" idx="5"/>
          </p:nvPr>
        </p:nvSpPr>
        <p:spPr/>
        <p:txBody>
          <a:bodyPr/>
          <a:lstStyle/>
          <a:p>
            <a:fld id="{3C1DA0BC-CA66-40C0-8D1D-145D29847569}" type="slidenum">
              <a:rPr lang="en-US" smtClean="0"/>
              <a:t>10</a:t>
            </a:fld>
            <a:endParaRPr lang="en-US"/>
          </a:p>
        </p:txBody>
      </p:sp>
    </p:spTree>
    <p:extLst>
      <p:ext uri="{BB962C8B-B14F-4D97-AF65-F5344CB8AC3E}">
        <p14:creationId xmlns:p14="http://schemas.microsoft.com/office/powerpoint/2010/main" val="42589774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C1DA0BC-CA66-40C0-8D1D-145D29847569}" type="slidenum">
              <a:rPr lang="en-US" smtClean="0"/>
              <a:t>13</a:t>
            </a:fld>
            <a:endParaRPr lang="en-US"/>
          </a:p>
        </p:txBody>
      </p:sp>
    </p:spTree>
    <p:extLst>
      <p:ext uri="{BB962C8B-B14F-4D97-AF65-F5344CB8AC3E}">
        <p14:creationId xmlns:p14="http://schemas.microsoft.com/office/powerpoint/2010/main" val="20499464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C1DA0BC-CA66-40C0-8D1D-145D29847569}" type="slidenum">
              <a:rPr lang="en-US" smtClean="0"/>
              <a:t>14</a:t>
            </a:fld>
            <a:endParaRPr lang="en-US"/>
          </a:p>
        </p:txBody>
      </p:sp>
    </p:spTree>
    <p:extLst>
      <p:ext uri="{BB962C8B-B14F-4D97-AF65-F5344CB8AC3E}">
        <p14:creationId xmlns:p14="http://schemas.microsoft.com/office/powerpoint/2010/main" val="32148275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800" b="1" i="0" kern="1200" dirty="0">
                <a:solidFill>
                  <a:schemeClr val="tx1"/>
                </a:solidFill>
                <a:effectLst/>
                <a:latin typeface="+mn-lt"/>
                <a:ea typeface="+mn-ea"/>
                <a:cs typeface="+mn-cs"/>
              </a:rPr>
              <a:t>Trainer note:</a:t>
            </a:r>
            <a:endParaRPr lang="en-US" sz="1800" b="0" i="0" kern="1200" dirty="0">
              <a:solidFill>
                <a:schemeClr val="tx1"/>
              </a:solidFill>
              <a:effectLst/>
              <a:latin typeface="+mn-lt"/>
              <a:ea typeface="+mn-ea"/>
              <a:cs typeface="+mn-cs"/>
            </a:endParaRPr>
          </a:p>
          <a:p>
            <a:pPr rtl="0" fontAlgn="base"/>
            <a:r>
              <a:rPr lang="en-US" sz="1800" b="1" i="0" kern="1200" dirty="0">
                <a:solidFill>
                  <a:schemeClr val="tx1"/>
                </a:solidFill>
                <a:effectLst/>
                <a:latin typeface="+mn-lt"/>
                <a:ea typeface="+mn-ea"/>
                <a:cs typeface="+mn-cs"/>
              </a:rPr>
              <a:t>Penalty Constraint: </a:t>
            </a:r>
            <a:r>
              <a:rPr lang="en-US" sz="1800" b="0" i="1" kern="1200" dirty="0">
                <a:solidFill>
                  <a:schemeClr val="tx1"/>
                </a:solidFill>
                <a:effectLst/>
                <a:latin typeface="+mn-lt"/>
                <a:ea typeface="+mn-ea"/>
                <a:cs typeface="+mn-cs"/>
              </a:rPr>
              <a:t>NEVER re-send a Penalty Letter. All related tickets must be handled by the Investigation team. Reviewers should not respond to the ticket before handing it to the Investigation team. Instead, add an internal note with the relevant details so the Investigations team can review the information and take appropriate action.</a:t>
            </a:r>
            <a:endParaRPr lang="en-US" sz="18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3C1DA0BC-CA66-40C0-8D1D-145D29847569}" type="slidenum">
              <a:rPr lang="en-US" smtClean="0"/>
              <a:t>16</a:t>
            </a:fld>
            <a:endParaRPr lang="en-US"/>
          </a:p>
        </p:txBody>
      </p:sp>
    </p:spTree>
    <p:extLst>
      <p:ext uri="{BB962C8B-B14F-4D97-AF65-F5344CB8AC3E}">
        <p14:creationId xmlns:p14="http://schemas.microsoft.com/office/powerpoint/2010/main" val="6070783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4260851"/>
            <a:ext cx="15544800" cy="2940050"/>
          </a:xfrm>
        </p:spPr>
        <p:txBody>
          <a:bodyPr/>
          <a:lstStyle/>
          <a:p>
            <a:r>
              <a:rPr lang="en-US"/>
              <a:t>Click to edit Master title style</a:t>
            </a:r>
          </a:p>
        </p:txBody>
      </p:sp>
      <p:sp>
        <p:nvSpPr>
          <p:cNvPr id="3" name="Subtitle 2"/>
          <p:cNvSpPr>
            <a:spLocks noGrp="1"/>
          </p:cNvSpPr>
          <p:nvPr>
            <p:ph type="subTitle" idx="1"/>
          </p:nvPr>
        </p:nvSpPr>
        <p:spPr>
          <a:xfrm>
            <a:off x="2743200" y="7772400"/>
            <a:ext cx="12801600" cy="3505200"/>
          </a:xfrm>
        </p:spPr>
        <p:txBody>
          <a:bodyPr/>
          <a:lstStyle>
            <a:lvl1pPr marL="0" indent="0" algn="ctr">
              <a:buNone/>
              <a:defRPr>
                <a:solidFill>
                  <a:schemeClr val="tx1">
                    <a:tint val="75000"/>
                  </a:schemeClr>
                </a:solidFill>
              </a:defRPr>
            </a:lvl1pPr>
            <a:lvl2pPr marL="914445" indent="0" algn="ctr">
              <a:buNone/>
              <a:defRPr>
                <a:solidFill>
                  <a:schemeClr val="tx1">
                    <a:tint val="75000"/>
                  </a:schemeClr>
                </a:solidFill>
              </a:defRPr>
            </a:lvl2pPr>
            <a:lvl3pPr marL="1828892" indent="0" algn="ctr">
              <a:buNone/>
              <a:defRPr>
                <a:solidFill>
                  <a:schemeClr val="tx1">
                    <a:tint val="75000"/>
                  </a:schemeClr>
                </a:solidFill>
              </a:defRPr>
            </a:lvl3pPr>
            <a:lvl4pPr marL="2743337" indent="0" algn="ctr">
              <a:buNone/>
              <a:defRPr>
                <a:solidFill>
                  <a:schemeClr val="tx1">
                    <a:tint val="75000"/>
                  </a:schemeClr>
                </a:solidFill>
              </a:defRPr>
            </a:lvl4pPr>
            <a:lvl5pPr marL="3657783" indent="0" algn="ctr">
              <a:buNone/>
              <a:defRPr>
                <a:solidFill>
                  <a:schemeClr val="tx1">
                    <a:tint val="75000"/>
                  </a:schemeClr>
                </a:solidFill>
              </a:defRPr>
            </a:lvl5pPr>
            <a:lvl6pPr marL="4572228" indent="0" algn="ctr">
              <a:buNone/>
              <a:defRPr>
                <a:solidFill>
                  <a:schemeClr val="tx1">
                    <a:tint val="75000"/>
                  </a:schemeClr>
                </a:solidFill>
              </a:defRPr>
            </a:lvl6pPr>
            <a:lvl7pPr marL="5486675" indent="0" algn="ctr">
              <a:buNone/>
              <a:defRPr>
                <a:solidFill>
                  <a:schemeClr val="tx1">
                    <a:tint val="75000"/>
                  </a:schemeClr>
                </a:solidFill>
              </a:defRPr>
            </a:lvl7pPr>
            <a:lvl8pPr marL="6401120" indent="0" algn="ctr">
              <a:buNone/>
              <a:defRPr>
                <a:solidFill>
                  <a:schemeClr val="tx1">
                    <a:tint val="75000"/>
                  </a:schemeClr>
                </a:solidFill>
              </a:defRPr>
            </a:lvl8pPr>
            <a:lvl9pPr marL="7315566"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493865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239969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4626" y="8813801"/>
            <a:ext cx="15544800" cy="2724150"/>
          </a:xfrm>
        </p:spPr>
        <p:txBody>
          <a:bodyPr anchor="t"/>
          <a:lstStyle>
            <a:lvl1pPr algn="l">
              <a:defRPr sz="8001" b="1" cap="all"/>
            </a:lvl1pPr>
          </a:lstStyle>
          <a:p>
            <a:r>
              <a:rPr lang="en-US"/>
              <a:t>Click to edit Master title style</a:t>
            </a:r>
          </a:p>
        </p:txBody>
      </p:sp>
      <p:sp>
        <p:nvSpPr>
          <p:cNvPr id="3" name="Text Placeholder 2"/>
          <p:cNvSpPr>
            <a:spLocks noGrp="1"/>
          </p:cNvSpPr>
          <p:nvPr>
            <p:ph type="body" idx="1"/>
          </p:nvPr>
        </p:nvSpPr>
        <p:spPr>
          <a:xfrm>
            <a:off x="1444626" y="5813428"/>
            <a:ext cx="15544800" cy="3000374"/>
          </a:xfrm>
        </p:spPr>
        <p:txBody>
          <a:bodyPr anchor="b"/>
          <a:lstStyle>
            <a:lvl1pPr marL="0" indent="0">
              <a:buNone/>
              <a:defRPr sz="4001">
                <a:solidFill>
                  <a:schemeClr val="tx1">
                    <a:tint val="75000"/>
                  </a:schemeClr>
                </a:solidFill>
              </a:defRPr>
            </a:lvl1pPr>
            <a:lvl2pPr marL="914445" indent="0">
              <a:buNone/>
              <a:defRPr sz="3600">
                <a:solidFill>
                  <a:schemeClr val="tx1">
                    <a:tint val="75000"/>
                  </a:schemeClr>
                </a:solidFill>
              </a:defRPr>
            </a:lvl2pPr>
            <a:lvl3pPr marL="1828892" indent="0">
              <a:buNone/>
              <a:defRPr sz="3200">
                <a:solidFill>
                  <a:schemeClr val="tx1">
                    <a:tint val="75000"/>
                  </a:schemeClr>
                </a:solidFill>
              </a:defRPr>
            </a:lvl3pPr>
            <a:lvl4pPr marL="2743337" indent="0">
              <a:buNone/>
              <a:defRPr sz="2801">
                <a:solidFill>
                  <a:schemeClr val="tx1">
                    <a:tint val="75000"/>
                  </a:schemeClr>
                </a:solidFill>
              </a:defRPr>
            </a:lvl4pPr>
            <a:lvl5pPr marL="3657783" indent="0">
              <a:buNone/>
              <a:defRPr sz="2801">
                <a:solidFill>
                  <a:schemeClr val="tx1">
                    <a:tint val="75000"/>
                  </a:schemeClr>
                </a:solidFill>
              </a:defRPr>
            </a:lvl5pPr>
            <a:lvl6pPr marL="4572228" indent="0">
              <a:buNone/>
              <a:defRPr sz="2801">
                <a:solidFill>
                  <a:schemeClr val="tx1">
                    <a:tint val="75000"/>
                  </a:schemeClr>
                </a:solidFill>
              </a:defRPr>
            </a:lvl6pPr>
            <a:lvl7pPr marL="5486675" indent="0">
              <a:buNone/>
              <a:defRPr sz="2801">
                <a:solidFill>
                  <a:schemeClr val="tx1">
                    <a:tint val="75000"/>
                  </a:schemeClr>
                </a:solidFill>
              </a:defRPr>
            </a:lvl7pPr>
            <a:lvl8pPr marL="6401120" indent="0">
              <a:buNone/>
              <a:defRPr sz="2801">
                <a:solidFill>
                  <a:schemeClr val="tx1">
                    <a:tint val="75000"/>
                  </a:schemeClr>
                </a:solidFill>
              </a:defRPr>
            </a:lvl8pPr>
            <a:lvl9pPr marL="7315566" indent="0">
              <a:buNone/>
              <a:defRPr sz="2801">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274359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3200402"/>
            <a:ext cx="8077200" cy="9051926"/>
          </a:xfrm>
        </p:spPr>
        <p:txBody>
          <a:bodyPr/>
          <a:lstStyle>
            <a:lvl1pPr>
              <a:defRPr sz="5601"/>
            </a:lvl1pPr>
            <a:lvl2pPr>
              <a:defRPr sz="4800"/>
            </a:lvl2pPr>
            <a:lvl3pPr>
              <a:defRPr sz="4001"/>
            </a:lvl3pPr>
            <a:lvl4pPr>
              <a:defRPr sz="3600"/>
            </a:lvl4pPr>
            <a:lvl5pPr>
              <a:defRPr sz="36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296400" y="3200402"/>
            <a:ext cx="8077200" cy="9051926"/>
          </a:xfrm>
        </p:spPr>
        <p:txBody>
          <a:bodyPr/>
          <a:lstStyle>
            <a:lvl1pPr>
              <a:defRPr sz="5601"/>
            </a:lvl1pPr>
            <a:lvl2pPr>
              <a:defRPr sz="4800"/>
            </a:lvl2pPr>
            <a:lvl3pPr>
              <a:defRPr sz="4001"/>
            </a:lvl3pPr>
            <a:lvl4pPr>
              <a:defRPr sz="3600"/>
            </a:lvl4pPr>
            <a:lvl5pPr>
              <a:defRPr sz="36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30704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1" y="3070226"/>
            <a:ext cx="8080376" cy="1279524"/>
          </a:xfrm>
        </p:spPr>
        <p:txBody>
          <a:bodyPr anchor="b"/>
          <a:lstStyle>
            <a:lvl1pPr marL="0" indent="0">
              <a:buNone/>
              <a:defRPr sz="4800" b="1"/>
            </a:lvl1pPr>
            <a:lvl2pPr marL="914445" indent="0">
              <a:buNone/>
              <a:defRPr sz="4001" b="1"/>
            </a:lvl2pPr>
            <a:lvl3pPr marL="1828892" indent="0">
              <a:buNone/>
              <a:defRPr sz="3600" b="1"/>
            </a:lvl3pPr>
            <a:lvl4pPr marL="2743337" indent="0">
              <a:buNone/>
              <a:defRPr sz="3200" b="1"/>
            </a:lvl4pPr>
            <a:lvl5pPr marL="3657783" indent="0">
              <a:buNone/>
              <a:defRPr sz="3200" b="1"/>
            </a:lvl5pPr>
            <a:lvl6pPr marL="4572228" indent="0">
              <a:buNone/>
              <a:defRPr sz="3200" b="1"/>
            </a:lvl6pPr>
            <a:lvl7pPr marL="5486675" indent="0">
              <a:buNone/>
              <a:defRPr sz="3200" b="1"/>
            </a:lvl7pPr>
            <a:lvl8pPr marL="6401120" indent="0">
              <a:buNone/>
              <a:defRPr sz="3200" b="1"/>
            </a:lvl8pPr>
            <a:lvl9pPr marL="7315566" indent="0">
              <a:buNone/>
              <a:defRPr sz="3200" b="1"/>
            </a:lvl9pPr>
          </a:lstStyle>
          <a:p>
            <a:pPr lvl="0"/>
            <a:r>
              <a:rPr lang="en-US"/>
              <a:t>Click to edit Master text styles</a:t>
            </a:r>
          </a:p>
        </p:txBody>
      </p:sp>
      <p:sp>
        <p:nvSpPr>
          <p:cNvPr id="4" name="Content Placeholder 3"/>
          <p:cNvSpPr>
            <a:spLocks noGrp="1"/>
          </p:cNvSpPr>
          <p:nvPr>
            <p:ph sz="half" idx="2"/>
          </p:nvPr>
        </p:nvSpPr>
        <p:spPr>
          <a:xfrm>
            <a:off x="914401" y="4349750"/>
            <a:ext cx="8080376" cy="7902576"/>
          </a:xfrm>
        </p:spPr>
        <p:txBody>
          <a:bodyPr/>
          <a:lstStyle>
            <a:lvl1pPr>
              <a:defRPr sz="4800"/>
            </a:lvl1pPr>
            <a:lvl2pPr>
              <a:defRPr sz="4001"/>
            </a:lvl2pPr>
            <a:lvl3pPr>
              <a:defRPr sz="3600"/>
            </a:lvl3pPr>
            <a:lvl4pPr>
              <a:defRPr sz="3200"/>
            </a:lvl4pPr>
            <a:lvl5pPr>
              <a:defRPr sz="3200"/>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9290053" y="3070226"/>
            <a:ext cx="8083550" cy="1279524"/>
          </a:xfrm>
        </p:spPr>
        <p:txBody>
          <a:bodyPr anchor="b"/>
          <a:lstStyle>
            <a:lvl1pPr marL="0" indent="0">
              <a:buNone/>
              <a:defRPr sz="4800" b="1"/>
            </a:lvl1pPr>
            <a:lvl2pPr marL="914445" indent="0">
              <a:buNone/>
              <a:defRPr sz="4001" b="1"/>
            </a:lvl2pPr>
            <a:lvl3pPr marL="1828892" indent="0">
              <a:buNone/>
              <a:defRPr sz="3600" b="1"/>
            </a:lvl3pPr>
            <a:lvl4pPr marL="2743337" indent="0">
              <a:buNone/>
              <a:defRPr sz="3200" b="1"/>
            </a:lvl4pPr>
            <a:lvl5pPr marL="3657783" indent="0">
              <a:buNone/>
              <a:defRPr sz="3200" b="1"/>
            </a:lvl5pPr>
            <a:lvl6pPr marL="4572228" indent="0">
              <a:buNone/>
              <a:defRPr sz="3200" b="1"/>
            </a:lvl6pPr>
            <a:lvl7pPr marL="5486675" indent="0">
              <a:buNone/>
              <a:defRPr sz="3200" b="1"/>
            </a:lvl7pPr>
            <a:lvl8pPr marL="6401120" indent="0">
              <a:buNone/>
              <a:defRPr sz="3200" b="1"/>
            </a:lvl8pPr>
            <a:lvl9pPr marL="7315566" indent="0">
              <a:buNone/>
              <a:defRPr sz="3200" b="1"/>
            </a:lvl9pPr>
          </a:lstStyle>
          <a:p>
            <a:pPr lvl="0"/>
            <a:r>
              <a:rPr lang="en-US"/>
              <a:t>Click to edit Master text styles</a:t>
            </a:r>
          </a:p>
        </p:txBody>
      </p:sp>
      <p:sp>
        <p:nvSpPr>
          <p:cNvPr id="6" name="Content Placeholder 5"/>
          <p:cNvSpPr>
            <a:spLocks noGrp="1"/>
          </p:cNvSpPr>
          <p:nvPr>
            <p:ph sz="quarter" idx="4"/>
          </p:nvPr>
        </p:nvSpPr>
        <p:spPr>
          <a:xfrm>
            <a:off x="9290053" y="4349750"/>
            <a:ext cx="8083550" cy="7902576"/>
          </a:xfrm>
        </p:spPr>
        <p:txBody>
          <a:bodyPr/>
          <a:lstStyle>
            <a:lvl1pPr>
              <a:defRPr sz="4800"/>
            </a:lvl1pPr>
            <a:lvl2pPr>
              <a:defRPr sz="4001"/>
            </a:lvl2pPr>
            <a:lvl3pPr>
              <a:defRPr sz="3600"/>
            </a:lvl3pPr>
            <a:lvl4pPr>
              <a:defRPr sz="3200"/>
            </a:lvl4pPr>
            <a:lvl5pPr>
              <a:defRPr sz="3200"/>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5458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867566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37405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2" y="546101"/>
            <a:ext cx="6016626" cy="2324100"/>
          </a:xfrm>
        </p:spPr>
        <p:txBody>
          <a:bodyPr anchor="b"/>
          <a:lstStyle>
            <a:lvl1pPr algn="l">
              <a:defRPr sz="4001" b="1"/>
            </a:lvl1pPr>
          </a:lstStyle>
          <a:p>
            <a:r>
              <a:rPr lang="en-US"/>
              <a:t>Click to edit Master title style</a:t>
            </a:r>
          </a:p>
        </p:txBody>
      </p:sp>
      <p:sp>
        <p:nvSpPr>
          <p:cNvPr id="3" name="Content Placeholder 2"/>
          <p:cNvSpPr>
            <a:spLocks noGrp="1"/>
          </p:cNvSpPr>
          <p:nvPr>
            <p:ph idx="1"/>
          </p:nvPr>
        </p:nvSpPr>
        <p:spPr>
          <a:xfrm>
            <a:off x="7150100" y="546101"/>
            <a:ext cx="10223501" cy="11706227"/>
          </a:xfrm>
        </p:spPr>
        <p:txBody>
          <a:bodyPr/>
          <a:lstStyle>
            <a:lvl1pPr>
              <a:defRPr sz="6401"/>
            </a:lvl1pPr>
            <a:lvl2pPr>
              <a:defRPr sz="5601"/>
            </a:lvl2pPr>
            <a:lvl3pPr>
              <a:defRPr sz="4800"/>
            </a:lvl3pPr>
            <a:lvl4pPr>
              <a:defRPr sz="4001"/>
            </a:lvl4pPr>
            <a:lvl5pPr>
              <a:defRPr sz="4001"/>
            </a:lvl5pPr>
            <a:lvl6pPr>
              <a:defRPr sz="4001"/>
            </a:lvl6pPr>
            <a:lvl7pPr>
              <a:defRPr sz="4001"/>
            </a:lvl7pPr>
            <a:lvl8pPr>
              <a:defRPr sz="4001"/>
            </a:lvl8pPr>
            <a:lvl9pPr>
              <a:defRPr sz="400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914402" y="2870201"/>
            <a:ext cx="6016626" cy="9382127"/>
          </a:xfrm>
        </p:spPr>
        <p:txBody>
          <a:bodyPr/>
          <a:lstStyle>
            <a:lvl1pPr marL="0" indent="0">
              <a:buNone/>
              <a:defRPr sz="2801"/>
            </a:lvl1pPr>
            <a:lvl2pPr marL="914445" indent="0">
              <a:buNone/>
              <a:defRPr sz="2400"/>
            </a:lvl2pPr>
            <a:lvl3pPr marL="1828892" indent="0">
              <a:buNone/>
              <a:defRPr sz="2000"/>
            </a:lvl3pPr>
            <a:lvl4pPr marL="2743337" indent="0">
              <a:buNone/>
              <a:defRPr sz="1800"/>
            </a:lvl4pPr>
            <a:lvl5pPr marL="3657783" indent="0">
              <a:buNone/>
              <a:defRPr sz="1800"/>
            </a:lvl5pPr>
            <a:lvl6pPr marL="4572228" indent="0">
              <a:buNone/>
              <a:defRPr sz="1800"/>
            </a:lvl6pPr>
            <a:lvl7pPr marL="5486675" indent="0">
              <a:buNone/>
              <a:defRPr sz="1800"/>
            </a:lvl7pPr>
            <a:lvl8pPr marL="6401120" indent="0">
              <a:buNone/>
              <a:defRPr sz="1800"/>
            </a:lvl8pPr>
            <a:lvl9pPr marL="7315566" indent="0">
              <a:buNone/>
              <a:defRPr sz="18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01579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584576" y="9601201"/>
            <a:ext cx="10972800" cy="1133477"/>
          </a:xfrm>
        </p:spPr>
        <p:txBody>
          <a:bodyPr anchor="b"/>
          <a:lstStyle>
            <a:lvl1pPr algn="l">
              <a:defRPr sz="4001" b="1"/>
            </a:lvl1pPr>
          </a:lstStyle>
          <a:p>
            <a:r>
              <a:rPr lang="en-US"/>
              <a:t>Click to edit Master title style</a:t>
            </a:r>
          </a:p>
        </p:txBody>
      </p:sp>
      <p:sp>
        <p:nvSpPr>
          <p:cNvPr id="3" name="Picture Placeholder 2"/>
          <p:cNvSpPr>
            <a:spLocks noGrp="1"/>
          </p:cNvSpPr>
          <p:nvPr>
            <p:ph type="pic" idx="1"/>
          </p:nvPr>
        </p:nvSpPr>
        <p:spPr>
          <a:xfrm>
            <a:off x="3584576" y="1225549"/>
            <a:ext cx="10972800" cy="8229600"/>
          </a:xfrm>
        </p:spPr>
        <p:txBody>
          <a:bodyPr/>
          <a:lstStyle>
            <a:lvl1pPr marL="0" indent="0">
              <a:buNone/>
              <a:defRPr sz="6401"/>
            </a:lvl1pPr>
            <a:lvl2pPr marL="914445" indent="0">
              <a:buNone/>
              <a:defRPr sz="5601"/>
            </a:lvl2pPr>
            <a:lvl3pPr marL="1828892" indent="0">
              <a:buNone/>
              <a:defRPr sz="4800"/>
            </a:lvl3pPr>
            <a:lvl4pPr marL="2743337" indent="0">
              <a:buNone/>
              <a:defRPr sz="4001"/>
            </a:lvl4pPr>
            <a:lvl5pPr marL="3657783" indent="0">
              <a:buNone/>
              <a:defRPr sz="4001"/>
            </a:lvl5pPr>
            <a:lvl6pPr marL="4572228" indent="0">
              <a:buNone/>
              <a:defRPr sz="4001"/>
            </a:lvl6pPr>
            <a:lvl7pPr marL="5486675" indent="0">
              <a:buNone/>
              <a:defRPr sz="4001"/>
            </a:lvl7pPr>
            <a:lvl8pPr marL="6401120" indent="0">
              <a:buNone/>
              <a:defRPr sz="4001"/>
            </a:lvl8pPr>
            <a:lvl9pPr marL="7315566" indent="0">
              <a:buNone/>
              <a:defRPr sz="4001"/>
            </a:lvl9pPr>
          </a:lstStyle>
          <a:p>
            <a:endParaRPr lang="en-US"/>
          </a:p>
        </p:txBody>
      </p:sp>
      <p:sp>
        <p:nvSpPr>
          <p:cNvPr id="4" name="Text Placeholder 3"/>
          <p:cNvSpPr>
            <a:spLocks noGrp="1"/>
          </p:cNvSpPr>
          <p:nvPr>
            <p:ph type="body" sz="half" idx="2"/>
          </p:nvPr>
        </p:nvSpPr>
        <p:spPr>
          <a:xfrm>
            <a:off x="3584576" y="10734677"/>
            <a:ext cx="10972800" cy="1609724"/>
          </a:xfrm>
        </p:spPr>
        <p:txBody>
          <a:bodyPr/>
          <a:lstStyle>
            <a:lvl1pPr marL="0" indent="0">
              <a:buNone/>
              <a:defRPr sz="2801"/>
            </a:lvl1pPr>
            <a:lvl2pPr marL="914445" indent="0">
              <a:buNone/>
              <a:defRPr sz="2400"/>
            </a:lvl2pPr>
            <a:lvl3pPr marL="1828892" indent="0">
              <a:buNone/>
              <a:defRPr sz="2000"/>
            </a:lvl3pPr>
            <a:lvl4pPr marL="2743337" indent="0">
              <a:buNone/>
              <a:defRPr sz="1800"/>
            </a:lvl4pPr>
            <a:lvl5pPr marL="3657783" indent="0">
              <a:buNone/>
              <a:defRPr sz="1800"/>
            </a:lvl5pPr>
            <a:lvl6pPr marL="4572228" indent="0">
              <a:buNone/>
              <a:defRPr sz="1800"/>
            </a:lvl6pPr>
            <a:lvl7pPr marL="5486675" indent="0">
              <a:buNone/>
              <a:defRPr sz="1800"/>
            </a:lvl7pPr>
            <a:lvl8pPr marL="6401120" indent="0">
              <a:buNone/>
              <a:defRPr sz="1800"/>
            </a:lvl8pPr>
            <a:lvl9pPr marL="7315566" indent="0">
              <a:buNone/>
              <a:defRPr sz="18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3991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21464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258800" y="549278"/>
            <a:ext cx="4114800" cy="117030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549278"/>
            <a:ext cx="12039600" cy="117030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708672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endParaRPr lang="en-US" dirty="0"/>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54586996"/>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49875206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endParaRPr lang="en-US" dirty="0"/>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0666647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9/21/2026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46870679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9/21/2026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495041597"/>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9/21/2026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63477877"/>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9/21/2026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14742970"/>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endParaRPr lang="en-US" dirty="0"/>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9/21/2026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676049989"/>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774782" y="1481138"/>
            <a:ext cx="9258300" cy="7310438"/>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9/21/2026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139996628"/>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78982236"/>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95249341"/>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788726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98317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870885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622082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229048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0189396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3212918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3431030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5549690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779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8021386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638749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22713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4.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4400" y="549276"/>
            <a:ext cx="16459200" cy="2286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914400" y="3200402"/>
            <a:ext cx="16459200" cy="905192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914400" y="12712702"/>
            <a:ext cx="4267200" cy="730250"/>
          </a:xfrm>
          <a:prstGeom prst="rect">
            <a:avLst/>
          </a:prstGeom>
        </p:spPr>
        <p:txBody>
          <a:bodyPr vert="horz" lIns="91440" tIns="45720" rIns="91440" bIns="45720" rtlCol="0" anchor="ctr"/>
          <a:lstStyle>
            <a:lvl1pPr algn="l">
              <a:defRPr sz="2400">
                <a:solidFill>
                  <a:schemeClr val="tx1">
                    <a:tint val="75000"/>
                  </a:schemeClr>
                </a:solidFill>
              </a:defRPr>
            </a:lvl1pPr>
          </a:lstStyle>
          <a:p>
            <a:fld id="{5BCAD085-E8A6-8845-BD4E-CB4CCA059FC4}" type="datetimeFigureOut">
              <a:rPr lang="en-US" smtClean="0"/>
              <a:t>9/21/2026</a:t>
            </a:fld>
            <a:endParaRPr lang="en-US"/>
          </a:p>
        </p:txBody>
      </p:sp>
      <p:sp>
        <p:nvSpPr>
          <p:cNvPr id="5" name="Footer Placeholder 4"/>
          <p:cNvSpPr>
            <a:spLocks noGrp="1"/>
          </p:cNvSpPr>
          <p:nvPr>
            <p:ph type="ftr" sz="quarter" idx="3"/>
          </p:nvPr>
        </p:nvSpPr>
        <p:spPr>
          <a:xfrm>
            <a:off x="6248400" y="12712702"/>
            <a:ext cx="5791200" cy="730250"/>
          </a:xfrm>
          <a:prstGeom prst="rect">
            <a:avLst/>
          </a:prstGeom>
        </p:spPr>
        <p:txBody>
          <a:bodyPr vert="horz" lIns="91440" tIns="45720" rIns="91440" bIns="45720" rtlCol="0" anchor="ctr"/>
          <a:lstStyle>
            <a:lvl1pPr algn="ctr">
              <a:defRPr sz="24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3106400" y="12712702"/>
            <a:ext cx="4267200" cy="730250"/>
          </a:xfrm>
          <a:prstGeom prst="rect">
            <a:avLst/>
          </a:prstGeom>
        </p:spPr>
        <p:txBody>
          <a:bodyPr vert="horz" lIns="91440" tIns="45720" rIns="91440" bIns="45720" rtlCol="0" anchor="ctr"/>
          <a:lstStyle>
            <a:lvl1pPr algn="r">
              <a:defRPr sz="24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866330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45" rtl="0" eaLnBrk="1" latinLnBrk="0" hangingPunct="1">
        <a:spcBef>
          <a:spcPct val="0"/>
        </a:spcBef>
        <a:buNone/>
        <a:defRPr sz="8801" kern="1200">
          <a:solidFill>
            <a:schemeClr val="tx1"/>
          </a:solidFill>
          <a:latin typeface="+mj-lt"/>
          <a:ea typeface="+mj-ea"/>
          <a:cs typeface="+mj-cs"/>
        </a:defRPr>
      </a:lvl1pPr>
    </p:titleStyle>
    <p:bodyStyle>
      <a:lvl1pPr marL="685835" indent="-685835" algn="l" defTabSz="914445" rtl="0" eaLnBrk="1" latinLnBrk="0" hangingPunct="1">
        <a:spcBef>
          <a:spcPct val="20000"/>
        </a:spcBef>
        <a:buFont typeface="Arial"/>
        <a:buChar char="•"/>
        <a:defRPr sz="6401" kern="1200">
          <a:solidFill>
            <a:schemeClr val="tx1"/>
          </a:solidFill>
          <a:latin typeface="+mn-lt"/>
          <a:ea typeface="+mn-ea"/>
          <a:cs typeface="+mn-cs"/>
        </a:defRPr>
      </a:lvl1pPr>
      <a:lvl2pPr marL="1485975" indent="-571529" algn="l" defTabSz="914445" rtl="0" eaLnBrk="1" latinLnBrk="0" hangingPunct="1">
        <a:spcBef>
          <a:spcPct val="20000"/>
        </a:spcBef>
        <a:buFont typeface="Arial"/>
        <a:buChar char="–"/>
        <a:defRPr sz="5601" kern="1200">
          <a:solidFill>
            <a:schemeClr val="tx1"/>
          </a:solidFill>
          <a:latin typeface="+mn-lt"/>
          <a:ea typeface="+mn-ea"/>
          <a:cs typeface="+mn-cs"/>
        </a:defRPr>
      </a:lvl2pPr>
      <a:lvl3pPr marL="2286114" indent="-457223" algn="l" defTabSz="914445" rtl="0" eaLnBrk="1" latinLnBrk="0" hangingPunct="1">
        <a:spcBef>
          <a:spcPct val="20000"/>
        </a:spcBef>
        <a:buFont typeface="Arial"/>
        <a:buChar char="•"/>
        <a:defRPr sz="4800" kern="1200">
          <a:solidFill>
            <a:schemeClr val="tx1"/>
          </a:solidFill>
          <a:latin typeface="+mn-lt"/>
          <a:ea typeface="+mn-ea"/>
          <a:cs typeface="+mn-cs"/>
        </a:defRPr>
      </a:lvl3pPr>
      <a:lvl4pPr marL="3200561" indent="-457223" algn="l" defTabSz="914445" rtl="0" eaLnBrk="1" latinLnBrk="0" hangingPunct="1">
        <a:spcBef>
          <a:spcPct val="20000"/>
        </a:spcBef>
        <a:buFont typeface="Arial"/>
        <a:buChar char="–"/>
        <a:defRPr sz="4001" kern="1200">
          <a:solidFill>
            <a:schemeClr val="tx1"/>
          </a:solidFill>
          <a:latin typeface="+mn-lt"/>
          <a:ea typeface="+mn-ea"/>
          <a:cs typeface="+mn-cs"/>
        </a:defRPr>
      </a:lvl4pPr>
      <a:lvl5pPr marL="4115006" indent="-457223" algn="l" defTabSz="914445" rtl="0" eaLnBrk="1" latinLnBrk="0" hangingPunct="1">
        <a:spcBef>
          <a:spcPct val="20000"/>
        </a:spcBef>
        <a:buFont typeface="Arial"/>
        <a:buChar char="»"/>
        <a:defRPr sz="4001" kern="1200">
          <a:solidFill>
            <a:schemeClr val="tx1"/>
          </a:solidFill>
          <a:latin typeface="+mn-lt"/>
          <a:ea typeface="+mn-ea"/>
          <a:cs typeface="+mn-cs"/>
        </a:defRPr>
      </a:lvl5pPr>
      <a:lvl6pPr marL="5029452" indent="-457223" algn="l" defTabSz="914445" rtl="0" eaLnBrk="1" latinLnBrk="0" hangingPunct="1">
        <a:spcBef>
          <a:spcPct val="20000"/>
        </a:spcBef>
        <a:buFont typeface="Arial"/>
        <a:buChar char="•"/>
        <a:defRPr sz="4001" kern="1200">
          <a:solidFill>
            <a:schemeClr val="tx1"/>
          </a:solidFill>
          <a:latin typeface="+mn-lt"/>
          <a:ea typeface="+mn-ea"/>
          <a:cs typeface="+mn-cs"/>
        </a:defRPr>
      </a:lvl6pPr>
      <a:lvl7pPr marL="5943897" indent="-457223" algn="l" defTabSz="914445" rtl="0" eaLnBrk="1" latinLnBrk="0" hangingPunct="1">
        <a:spcBef>
          <a:spcPct val="20000"/>
        </a:spcBef>
        <a:buFont typeface="Arial"/>
        <a:buChar char="•"/>
        <a:defRPr sz="4001" kern="1200">
          <a:solidFill>
            <a:schemeClr val="tx1"/>
          </a:solidFill>
          <a:latin typeface="+mn-lt"/>
          <a:ea typeface="+mn-ea"/>
          <a:cs typeface="+mn-cs"/>
        </a:defRPr>
      </a:lvl7pPr>
      <a:lvl8pPr marL="6858344" indent="-457223" algn="l" defTabSz="914445" rtl="0" eaLnBrk="1" latinLnBrk="0" hangingPunct="1">
        <a:spcBef>
          <a:spcPct val="20000"/>
        </a:spcBef>
        <a:buFont typeface="Arial"/>
        <a:buChar char="•"/>
        <a:defRPr sz="4001" kern="1200">
          <a:solidFill>
            <a:schemeClr val="tx1"/>
          </a:solidFill>
          <a:latin typeface="+mn-lt"/>
          <a:ea typeface="+mn-ea"/>
          <a:cs typeface="+mn-cs"/>
        </a:defRPr>
      </a:lvl8pPr>
      <a:lvl9pPr marL="7772789" indent="-457223" algn="l" defTabSz="914445" rtl="0" eaLnBrk="1" latinLnBrk="0" hangingPunct="1">
        <a:spcBef>
          <a:spcPct val="20000"/>
        </a:spcBef>
        <a:buFont typeface="Arial"/>
        <a:buChar char="•"/>
        <a:defRPr sz="4001" kern="1200">
          <a:solidFill>
            <a:schemeClr val="tx1"/>
          </a:solidFill>
          <a:latin typeface="+mn-lt"/>
          <a:ea typeface="+mn-ea"/>
          <a:cs typeface="+mn-cs"/>
        </a:defRPr>
      </a:lvl9pPr>
    </p:bodyStyle>
    <p:otherStyle>
      <a:defPPr>
        <a:defRPr lang="en-US"/>
      </a:defPPr>
      <a:lvl1pPr marL="0" algn="l" defTabSz="914445" rtl="0" eaLnBrk="1" latinLnBrk="0" hangingPunct="1">
        <a:defRPr sz="3600" kern="1200">
          <a:solidFill>
            <a:schemeClr val="tx1"/>
          </a:solidFill>
          <a:latin typeface="+mn-lt"/>
          <a:ea typeface="+mn-ea"/>
          <a:cs typeface="+mn-cs"/>
        </a:defRPr>
      </a:lvl1pPr>
      <a:lvl2pPr marL="914445" algn="l" defTabSz="914445" rtl="0" eaLnBrk="1" latinLnBrk="0" hangingPunct="1">
        <a:defRPr sz="3600" kern="1200">
          <a:solidFill>
            <a:schemeClr val="tx1"/>
          </a:solidFill>
          <a:latin typeface="+mn-lt"/>
          <a:ea typeface="+mn-ea"/>
          <a:cs typeface="+mn-cs"/>
        </a:defRPr>
      </a:lvl2pPr>
      <a:lvl3pPr marL="1828892" algn="l" defTabSz="914445" rtl="0" eaLnBrk="1" latinLnBrk="0" hangingPunct="1">
        <a:defRPr sz="3600" kern="1200">
          <a:solidFill>
            <a:schemeClr val="tx1"/>
          </a:solidFill>
          <a:latin typeface="+mn-lt"/>
          <a:ea typeface="+mn-ea"/>
          <a:cs typeface="+mn-cs"/>
        </a:defRPr>
      </a:lvl3pPr>
      <a:lvl4pPr marL="2743337" algn="l" defTabSz="914445" rtl="0" eaLnBrk="1" latinLnBrk="0" hangingPunct="1">
        <a:defRPr sz="3600" kern="1200">
          <a:solidFill>
            <a:schemeClr val="tx1"/>
          </a:solidFill>
          <a:latin typeface="+mn-lt"/>
          <a:ea typeface="+mn-ea"/>
          <a:cs typeface="+mn-cs"/>
        </a:defRPr>
      </a:lvl4pPr>
      <a:lvl5pPr marL="3657783" algn="l" defTabSz="914445" rtl="0" eaLnBrk="1" latinLnBrk="0" hangingPunct="1">
        <a:defRPr sz="3600" kern="1200">
          <a:solidFill>
            <a:schemeClr val="tx1"/>
          </a:solidFill>
          <a:latin typeface="+mn-lt"/>
          <a:ea typeface="+mn-ea"/>
          <a:cs typeface="+mn-cs"/>
        </a:defRPr>
      </a:lvl5pPr>
      <a:lvl6pPr marL="4572228" algn="l" defTabSz="914445" rtl="0" eaLnBrk="1" latinLnBrk="0" hangingPunct="1">
        <a:defRPr sz="3600" kern="1200">
          <a:solidFill>
            <a:schemeClr val="tx1"/>
          </a:solidFill>
          <a:latin typeface="+mn-lt"/>
          <a:ea typeface="+mn-ea"/>
          <a:cs typeface="+mn-cs"/>
        </a:defRPr>
      </a:lvl6pPr>
      <a:lvl7pPr marL="5486675" algn="l" defTabSz="914445" rtl="0" eaLnBrk="1" latinLnBrk="0" hangingPunct="1">
        <a:defRPr sz="3600" kern="1200">
          <a:solidFill>
            <a:schemeClr val="tx1"/>
          </a:solidFill>
          <a:latin typeface="+mn-lt"/>
          <a:ea typeface="+mn-ea"/>
          <a:cs typeface="+mn-cs"/>
        </a:defRPr>
      </a:lvl7pPr>
      <a:lvl8pPr marL="6401120" algn="l" defTabSz="914445" rtl="0" eaLnBrk="1" latinLnBrk="0" hangingPunct="1">
        <a:defRPr sz="3600" kern="1200">
          <a:solidFill>
            <a:schemeClr val="tx1"/>
          </a:solidFill>
          <a:latin typeface="+mn-lt"/>
          <a:ea typeface="+mn-ea"/>
          <a:cs typeface="+mn-cs"/>
        </a:defRPr>
      </a:lvl8pPr>
      <a:lvl9pPr marL="7315566" algn="l" defTabSz="914445" rtl="0" eaLnBrk="1" latinLnBrk="0" hangingPunct="1">
        <a:defRPr sz="3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5BCAD085-E8A6-8845-BD4E-CB4CCA059FC4}" type="datetimeFigureOut">
              <a:rPr lang="en-US" smtClean="0"/>
              <a:t>9/21/2026</a:t>
            </a:fld>
            <a:endParaRPr lang="en-US"/>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168572202"/>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8581230"/>
      </p:ext>
    </p:extLst>
  </p:cSld>
  <p:clrMap bg1="lt1" tx1="dk1" bg2="lt2" tx2="dk2" accent1="accent1" accent2="accent2" accent3="accent3" accent4="accent4" accent5="accent5" accent6="accent6" hlink="hlink" folHlink="folHlink"/>
  <p:sldLayoutIdLst>
    <p:sldLayoutId id="2147483700" r:id="rId1"/>
  </p:sldLayoutIdLst>
  <p:hf sldNum="0" hdr="0" ftr="0" dt="0"/>
  <p:txStyles>
    <p:titleStyle>
      <a:lvl1pPr algn="ctr" defTabSz="1371600" rtl="0" eaLnBrk="1" latinLnBrk="0" hangingPunct="1">
        <a:spcBef>
          <a:spcPct val="0"/>
        </a:spcBef>
        <a:buNone/>
        <a:defRPr sz="6600" kern="1200">
          <a:solidFill>
            <a:schemeClr val="tx1"/>
          </a:solidFill>
          <a:latin typeface="+mj-lt"/>
          <a:ea typeface="+mj-ea"/>
          <a:cs typeface="+mj-cs"/>
        </a:defRPr>
      </a:lvl1pPr>
    </p:titleStyle>
    <p:bodyStyle>
      <a:lvl1pPr marL="514350" indent="-514350" algn="l" defTabSz="1371600" rtl="0" eaLnBrk="1" latinLnBrk="0" hangingPunct="1">
        <a:spcBef>
          <a:spcPct val="20000"/>
        </a:spcBef>
        <a:buFont typeface="Arial" pitchFamily="34" charset="0"/>
        <a:buChar char="•"/>
        <a:defRPr sz="4800" kern="1200">
          <a:solidFill>
            <a:schemeClr val="tx1"/>
          </a:solidFill>
          <a:latin typeface="+mn-lt"/>
          <a:ea typeface="+mn-ea"/>
          <a:cs typeface="+mn-cs"/>
        </a:defRPr>
      </a:lvl1pPr>
      <a:lvl2pPr marL="1114425" indent="-428625" algn="l" defTabSz="1371600" rtl="0" eaLnBrk="1" latinLnBrk="0" hangingPunct="1">
        <a:spcBef>
          <a:spcPct val="20000"/>
        </a:spcBef>
        <a:buFont typeface="Arial" pitchFamily="34" charset="0"/>
        <a:buChar char="–"/>
        <a:defRPr sz="4200" kern="1200">
          <a:solidFill>
            <a:schemeClr val="tx1"/>
          </a:solidFill>
          <a:latin typeface="+mn-lt"/>
          <a:ea typeface="+mn-ea"/>
          <a:cs typeface="+mn-cs"/>
        </a:defRPr>
      </a:lvl2pPr>
      <a:lvl3pPr marL="1714500" indent="-342900" algn="l" defTabSz="1371600" rtl="0" eaLnBrk="1" latinLnBrk="0" hangingPunct="1">
        <a:spcBef>
          <a:spcPct val="20000"/>
        </a:spcBef>
        <a:buFont typeface="Arial" pitchFamily="34" charset="0"/>
        <a:buChar char="•"/>
        <a:defRPr sz="3600" kern="1200">
          <a:solidFill>
            <a:schemeClr val="tx1"/>
          </a:solidFill>
          <a:latin typeface="+mn-lt"/>
          <a:ea typeface="+mn-ea"/>
          <a:cs typeface="+mn-cs"/>
        </a:defRPr>
      </a:lvl3pPr>
      <a:lvl4pPr marL="2400300" indent="-342900" algn="l" defTabSz="1371600" rtl="0" eaLnBrk="1" latinLnBrk="0" hangingPunct="1">
        <a:spcBef>
          <a:spcPct val="20000"/>
        </a:spcBef>
        <a:buFont typeface="Arial" pitchFamily="34" charset="0"/>
        <a:buChar char="–"/>
        <a:defRPr sz="3000" kern="1200">
          <a:solidFill>
            <a:schemeClr val="tx1"/>
          </a:solidFill>
          <a:latin typeface="+mn-lt"/>
          <a:ea typeface="+mn-ea"/>
          <a:cs typeface="+mn-cs"/>
        </a:defRPr>
      </a:lvl4pPr>
      <a:lvl5pPr marL="3086100" indent="-342900" algn="l" defTabSz="1371600" rtl="0" eaLnBrk="1" latinLnBrk="0" hangingPunct="1">
        <a:spcBef>
          <a:spcPct val="20000"/>
        </a:spcBef>
        <a:buFont typeface="Arial" pitchFamily="34" charset="0"/>
        <a:buChar char="»"/>
        <a:defRPr sz="3000" kern="1200">
          <a:solidFill>
            <a:schemeClr val="tx1"/>
          </a:solidFill>
          <a:latin typeface="+mn-lt"/>
          <a:ea typeface="+mn-ea"/>
          <a:cs typeface="+mn-cs"/>
        </a:defRPr>
      </a:lvl5pPr>
      <a:lvl6pPr marL="3771900" indent="-342900" algn="l" defTabSz="1371600" rtl="0" eaLnBrk="1" latinLnBrk="0" hangingPunct="1">
        <a:spcBef>
          <a:spcPct val="20000"/>
        </a:spcBef>
        <a:buFont typeface="Arial" pitchFamily="34" charset="0"/>
        <a:buChar char="•"/>
        <a:defRPr sz="3000" kern="1200">
          <a:solidFill>
            <a:schemeClr val="tx1"/>
          </a:solidFill>
          <a:latin typeface="+mn-lt"/>
          <a:ea typeface="+mn-ea"/>
          <a:cs typeface="+mn-cs"/>
        </a:defRPr>
      </a:lvl6pPr>
      <a:lvl7pPr marL="4457700" indent="-342900" algn="l" defTabSz="1371600" rtl="0" eaLnBrk="1" latinLnBrk="0" hangingPunct="1">
        <a:spcBef>
          <a:spcPct val="20000"/>
        </a:spcBef>
        <a:buFont typeface="Arial" pitchFamily="34" charset="0"/>
        <a:buChar char="•"/>
        <a:defRPr sz="3000" kern="1200">
          <a:solidFill>
            <a:schemeClr val="tx1"/>
          </a:solidFill>
          <a:latin typeface="+mn-lt"/>
          <a:ea typeface="+mn-ea"/>
          <a:cs typeface="+mn-cs"/>
        </a:defRPr>
      </a:lvl7pPr>
      <a:lvl8pPr marL="5143500" indent="-342900" algn="l" defTabSz="1371600" rtl="0" eaLnBrk="1" latinLnBrk="0" hangingPunct="1">
        <a:spcBef>
          <a:spcPct val="20000"/>
        </a:spcBef>
        <a:buFont typeface="Arial" pitchFamily="34" charset="0"/>
        <a:buChar char="•"/>
        <a:defRPr sz="3000" kern="1200">
          <a:solidFill>
            <a:schemeClr val="tx1"/>
          </a:solidFill>
          <a:latin typeface="+mn-lt"/>
          <a:ea typeface="+mn-ea"/>
          <a:cs typeface="+mn-cs"/>
        </a:defRPr>
      </a:lvl8pPr>
      <a:lvl9pPr marL="5829300" indent="-342900" algn="l" defTabSz="1371600" rtl="0" eaLnBrk="1" latinLnBrk="0" hangingPunct="1">
        <a:spcBef>
          <a:spcPct val="20000"/>
        </a:spcBef>
        <a:buFont typeface="Arial" pitchFamily="34" charset="0"/>
        <a:buChar char="•"/>
        <a:defRPr sz="30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961462101"/>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1.xml"/></Relationships>
</file>

<file path=ppt/slides/_rels/slide2.xml.rels><?xml version="1.0" encoding="UTF-8" standalone="yes"?>
<Relationships xmlns="http://schemas.openxmlformats.org/package/2006/relationships"><Relationship Id="rId3" Type="http://schemas.microsoft.com/office/2018/10/relationships/comments" Target="../comments/modernComment_140_901934AE.xm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microsoft.com/office/2018/10/relationships/comments" Target="../comments/modernComment_100_0.xml"/><Relationship Id="rId1" Type="http://schemas.openxmlformats.org/officeDocument/2006/relationships/slideLayout" Target="../slideLayouts/slideLayout31.xml"/><Relationship Id="rId5" Type="http://schemas.openxmlformats.org/officeDocument/2006/relationships/image" Target="../media/image5.sv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3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xml"/><Relationship Id="rId1" Type="http://schemas.openxmlformats.org/officeDocument/2006/relationships/slideLayout" Target="../slideLayouts/slideLayout3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3" Type="http://schemas.microsoft.com/office/2018/10/relationships/comments" Target="../comments/modernComment_128_E1AFBC16.xml"/><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6.xml"/><Relationship Id="rId1" Type="http://schemas.openxmlformats.org/officeDocument/2006/relationships/slideLayout" Target="../slideLayouts/slideLayout31.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svg"/></Relationships>
</file>

<file path=ppt/slides/_rels/slide14.xml.rels><?xml version="1.0" encoding="UTF-8" standalone="yes"?>
<Relationships xmlns="http://schemas.openxmlformats.org/package/2006/relationships"><Relationship Id="rId3" Type="http://schemas.microsoft.com/office/2018/10/relationships/comments" Target="../comments/modernComment_101_0.xml"/><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31.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slides/_rels/slide15.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svg"/><Relationship Id="rId2" Type="http://schemas.openxmlformats.org/officeDocument/2006/relationships/image" Target="../media/image21.png"/><Relationship Id="rId1" Type="http://schemas.openxmlformats.org/officeDocument/2006/relationships/slideLayout" Target="../slideLayouts/slideLayout31.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 Id="rId9" Type="http://schemas.openxmlformats.org/officeDocument/2006/relationships/image" Target="../media/image28.svg"/></Relationships>
</file>

<file path=ppt/slides/_rels/slide16.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a:extLst>
            <a:ext uri="{FF2B5EF4-FFF2-40B4-BE49-F238E27FC236}">
              <a16:creationId xmlns:a16="http://schemas.microsoft.com/office/drawing/2014/main" id="{203C1591-E9F8-AD2B-80A0-96AE30EA90D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D42019C-DF6A-B28B-7B35-219403E50192}"/>
              </a:ext>
            </a:extLst>
          </p:cNvPr>
          <p:cNvSpPr/>
          <p:nvPr/>
        </p:nvSpPr>
        <p:spPr>
          <a:xfrm flipV="1">
            <a:off x="11553949" y="231443"/>
            <a:ext cx="0" cy="9824114"/>
          </a:xfrm>
          <a:prstGeom prst="line">
            <a:avLst/>
          </a:prstGeom>
          <a:ln w="38100" cap="flat">
            <a:solidFill>
              <a:schemeClr val="bg1"/>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AutoShape 3">
            <a:extLst>
              <a:ext uri="{FF2B5EF4-FFF2-40B4-BE49-F238E27FC236}">
                <a16:creationId xmlns:a16="http://schemas.microsoft.com/office/drawing/2014/main" id="{C420028D-DB96-D3B4-BAB5-D0559D4C95C2}"/>
              </a:ext>
            </a:extLst>
          </p:cNvPr>
          <p:cNvSpPr/>
          <p:nvPr/>
        </p:nvSpPr>
        <p:spPr>
          <a:xfrm flipV="1">
            <a:off x="485862" y="9105900"/>
            <a:ext cx="10742228" cy="19050"/>
          </a:xfrm>
          <a:prstGeom prst="line">
            <a:avLst/>
          </a:prstGeom>
          <a:ln w="38100" cap="flat">
            <a:solidFill>
              <a:schemeClr val="bg1"/>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653D1FEA-3B9F-301A-4BB1-715BCE511199}"/>
              </a:ext>
            </a:extLst>
          </p:cNvPr>
          <p:cNvSpPr txBox="1"/>
          <p:nvPr/>
        </p:nvSpPr>
        <p:spPr>
          <a:xfrm>
            <a:off x="819255" y="495300"/>
            <a:ext cx="10742225" cy="5031506"/>
          </a:xfrm>
          <a:prstGeom prst="rect">
            <a:avLst/>
          </a:prstGeom>
        </p:spPr>
        <p:txBody>
          <a:bodyPr wrap="square" lIns="0" tIns="0" rIns="0" bIns="0" rtlCol="0" anchor="t">
            <a:spAutoFit/>
          </a:bodyPr>
          <a:lstStyle/>
          <a:p>
            <a:pPr marL="0" marR="0" lvl="0" indent="0" algn="l" defTabSz="914400" rtl="0" eaLnBrk="1" fontAlgn="auto" latinLnBrk="0" hangingPunct="1">
              <a:lnSpc>
                <a:spcPts val="13300"/>
              </a:lnSpc>
              <a:spcBef>
                <a:spcPts val="0"/>
              </a:spcBef>
              <a:spcAft>
                <a:spcPts val="0"/>
              </a:spcAft>
              <a:buClrTx/>
              <a:buSzTx/>
              <a:buFontTx/>
              <a:buNone/>
              <a:tabLst/>
              <a:defRPr/>
            </a:pPr>
            <a:r>
              <a:rPr kumimoji="0" lang="en-US" sz="9500" b="1" i="0" u="none" strike="noStrike" kern="1200" cap="none" spc="0" normalizeH="0" baseline="0" noProof="0" dirty="0">
                <a:ln>
                  <a:noFill/>
                </a:ln>
                <a:solidFill>
                  <a:prstClr val="white"/>
                </a:solidFill>
                <a:effectLst/>
                <a:uLnTx/>
                <a:uFillTx/>
                <a:latin typeface="Poppins Bold"/>
                <a:ea typeface="Poppins Bold"/>
                <a:cs typeface="Poppins Bold"/>
                <a:sym typeface="Poppins Bold"/>
              </a:rPr>
              <a:t>“Module:</a:t>
            </a:r>
          </a:p>
          <a:p>
            <a:pPr marL="0" marR="0" lvl="0" indent="0" algn="l" defTabSz="914400" rtl="0" eaLnBrk="1" fontAlgn="auto" latinLnBrk="0" hangingPunct="1">
              <a:lnSpc>
                <a:spcPts val="13300"/>
              </a:lnSpc>
              <a:spcBef>
                <a:spcPts val="0"/>
              </a:spcBef>
              <a:spcAft>
                <a:spcPts val="0"/>
              </a:spcAft>
              <a:buClrTx/>
              <a:buSzTx/>
              <a:buFontTx/>
              <a:buNone/>
              <a:tabLst/>
              <a:defRPr/>
            </a:pPr>
            <a:r>
              <a:rPr lang="en-US" sz="9500" b="1" dirty="0">
                <a:solidFill>
                  <a:prstClr val="white"/>
                </a:solidFill>
                <a:latin typeface="Poppins Bold"/>
                <a:cs typeface="Poppins Bold"/>
                <a:sym typeface="Poppins Bold"/>
              </a:rPr>
              <a:t>Fraud Letters &amp; Its Types”</a:t>
            </a:r>
          </a:p>
        </p:txBody>
      </p:sp>
      <p:grpSp>
        <p:nvGrpSpPr>
          <p:cNvPr id="5" name="Group 5">
            <a:extLst>
              <a:ext uri="{FF2B5EF4-FFF2-40B4-BE49-F238E27FC236}">
                <a16:creationId xmlns:a16="http://schemas.microsoft.com/office/drawing/2014/main" id="{EBA52700-2381-DB45-6426-D4ED7DF552B4}"/>
              </a:ext>
            </a:extLst>
          </p:cNvPr>
          <p:cNvGrpSpPr/>
          <p:nvPr/>
        </p:nvGrpSpPr>
        <p:grpSpPr>
          <a:xfrm>
            <a:off x="806967" y="5449251"/>
            <a:ext cx="10089632" cy="3366936"/>
            <a:chOff x="-25091" y="-47625"/>
            <a:chExt cx="1457498" cy="886765"/>
          </a:xfrm>
        </p:grpSpPr>
        <p:sp>
          <p:nvSpPr>
            <p:cNvPr id="6" name="Freeform 6">
              <a:extLst>
                <a:ext uri="{FF2B5EF4-FFF2-40B4-BE49-F238E27FC236}">
                  <a16:creationId xmlns:a16="http://schemas.microsoft.com/office/drawing/2014/main" id="{F58F3FD4-8625-ECC2-1E28-DF6E1FB4A5AE}"/>
                </a:ext>
              </a:extLst>
            </p:cNvPr>
            <p:cNvSpPr/>
            <p:nvPr/>
          </p:nvSpPr>
          <p:spPr>
            <a:xfrm>
              <a:off x="-25091" y="0"/>
              <a:ext cx="1432407" cy="839140"/>
            </a:xfrm>
            <a:custGeom>
              <a:avLst/>
              <a:gdLst/>
              <a:ahLst/>
              <a:cxnLst/>
              <a:rect l="l" t="t" r="r" b="b"/>
              <a:pathLst>
                <a:path w="1432407" h="839140">
                  <a:moveTo>
                    <a:pt x="72598" y="0"/>
                  </a:moveTo>
                  <a:lnTo>
                    <a:pt x="1359808" y="0"/>
                  </a:lnTo>
                  <a:cubicBezTo>
                    <a:pt x="1379063" y="0"/>
                    <a:pt x="1397528" y="7649"/>
                    <a:pt x="1411143" y="21264"/>
                  </a:cubicBezTo>
                  <a:cubicBezTo>
                    <a:pt x="1424758" y="34878"/>
                    <a:pt x="1432407" y="53344"/>
                    <a:pt x="1432407" y="72598"/>
                  </a:cubicBezTo>
                  <a:lnTo>
                    <a:pt x="1432407" y="766542"/>
                  </a:lnTo>
                  <a:cubicBezTo>
                    <a:pt x="1432407" y="785796"/>
                    <a:pt x="1424758" y="804262"/>
                    <a:pt x="1411143" y="817877"/>
                  </a:cubicBezTo>
                  <a:cubicBezTo>
                    <a:pt x="1397528" y="831491"/>
                    <a:pt x="1379063" y="839140"/>
                    <a:pt x="1359808" y="839140"/>
                  </a:cubicBezTo>
                  <a:lnTo>
                    <a:pt x="72598" y="839140"/>
                  </a:lnTo>
                  <a:cubicBezTo>
                    <a:pt x="53344" y="839140"/>
                    <a:pt x="34878" y="831491"/>
                    <a:pt x="21264" y="817877"/>
                  </a:cubicBezTo>
                  <a:cubicBezTo>
                    <a:pt x="7649" y="804262"/>
                    <a:pt x="0" y="785796"/>
                    <a:pt x="0" y="766542"/>
                  </a:cubicBezTo>
                  <a:lnTo>
                    <a:pt x="0" y="72598"/>
                  </a:lnTo>
                  <a:cubicBezTo>
                    <a:pt x="0" y="53344"/>
                    <a:pt x="7649" y="34878"/>
                    <a:pt x="21264" y="21264"/>
                  </a:cubicBezTo>
                  <a:cubicBezTo>
                    <a:pt x="34878" y="7649"/>
                    <a:pt x="53344" y="0"/>
                    <a:pt x="72598" y="0"/>
                  </a:cubicBezTo>
                  <a:close/>
                </a:path>
              </a:pathLst>
            </a:custGeom>
            <a:solidFill>
              <a:srgbClr val="FFFFFF"/>
            </a:solidFill>
            <a:ln w="38100" cap="rnd">
              <a:solidFill>
                <a:srgbClr val="002B11"/>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US" sz="1800" b="0" i="0" u="none" strike="noStrike" kern="1200" cap="none" spc="0" normalizeH="0" baseline="0" noProof="0" dirty="0">
                  <a:ln>
                    <a:noFill/>
                  </a:ln>
                  <a:solidFill>
                    <a:prstClr val="black"/>
                  </a:solidFill>
                  <a:effectLst/>
                  <a:uLnTx/>
                  <a:uFillTx/>
                  <a:latin typeface="Calibri"/>
                  <a:ea typeface="+mn-ea"/>
                  <a:cs typeface="+mn-cs"/>
                </a:rPr>
              </a:b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Calibri"/>
                  <a:ea typeface="+mn-ea"/>
                  <a:cs typeface="+mn-cs"/>
                </a:rPr>
                <a:t>“Behind every suspicious review lies an investigation that protects millions of travelers.”</a:t>
              </a:r>
              <a:br>
                <a:rPr kumimoji="0" lang="en-US" sz="3600" b="0" i="0" u="none" strike="noStrike" kern="1200" cap="none" spc="0" normalizeH="0" baseline="0" noProof="0" dirty="0">
                  <a:ln>
                    <a:noFill/>
                  </a:ln>
                  <a:solidFill>
                    <a:prstClr val="black"/>
                  </a:solidFill>
                  <a:effectLst/>
                  <a:uLnTx/>
                  <a:uFillTx/>
                  <a:latin typeface="Calibri"/>
                  <a:ea typeface="+mn-ea"/>
                  <a:cs typeface="+mn-cs"/>
                </a:rPr>
              </a:br>
              <a:endParaRPr kumimoji="0" lang="en-US" sz="32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31064B27-3D32-708D-1263-6781C2EF1BFA}"/>
                </a:ext>
              </a:extLst>
            </p:cNvPr>
            <p:cNvSpPr txBox="1"/>
            <p:nvPr/>
          </p:nvSpPr>
          <p:spPr>
            <a:xfrm>
              <a:off x="0" y="-47625"/>
              <a:ext cx="1432407" cy="88676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2" name="Group 21">
            <a:extLst>
              <a:ext uri="{FF2B5EF4-FFF2-40B4-BE49-F238E27FC236}">
                <a16:creationId xmlns:a16="http://schemas.microsoft.com/office/drawing/2014/main" id="{C75E3EBE-D543-A7A1-ACEF-87739EB0156F}"/>
              </a:ext>
            </a:extLst>
          </p:cNvPr>
          <p:cNvGrpSpPr/>
          <p:nvPr/>
        </p:nvGrpSpPr>
        <p:grpSpPr>
          <a:xfrm>
            <a:off x="8915406" y="5918749"/>
            <a:ext cx="1295394" cy="231522"/>
            <a:chOff x="1447800" y="6531228"/>
            <a:chExt cx="1295394" cy="231522"/>
          </a:xfrm>
        </p:grpSpPr>
        <p:sp>
          <p:nvSpPr>
            <p:cNvPr id="17" name="Oval 16">
              <a:extLst>
                <a:ext uri="{FF2B5EF4-FFF2-40B4-BE49-F238E27FC236}">
                  <a16:creationId xmlns:a16="http://schemas.microsoft.com/office/drawing/2014/main" id="{7AEE2A08-980F-9BC5-99A4-EA676ACC2D4A}"/>
                </a:ext>
              </a:extLst>
            </p:cNvPr>
            <p:cNvSpPr/>
            <p:nvPr/>
          </p:nvSpPr>
          <p:spPr>
            <a:xfrm>
              <a:off x="1447800" y="6531228"/>
              <a:ext cx="228598" cy="231522"/>
            </a:xfrm>
            <a:prstGeom prst="ellipse">
              <a:avLst/>
            </a:prstGeom>
            <a:solidFill>
              <a:srgbClr val="002B1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Oval 17">
              <a:extLst>
                <a:ext uri="{FF2B5EF4-FFF2-40B4-BE49-F238E27FC236}">
                  <a16:creationId xmlns:a16="http://schemas.microsoft.com/office/drawing/2014/main" id="{5F7844A5-A88F-4C81-2653-485016AD8668}"/>
                </a:ext>
              </a:extLst>
            </p:cNvPr>
            <p:cNvSpPr/>
            <p:nvPr/>
          </p:nvSpPr>
          <p:spPr>
            <a:xfrm>
              <a:off x="1714499" y="6531228"/>
              <a:ext cx="228598" cy="231522"/>
            </a:xfrm>
            <a:prstGeom prst="ellipse">
              <a:avLst/>
            </a:prstGeom>
            <a:solidFill>
              <a:srgbClr val="002B1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Oval 18">
              <a:extLst>
                <a:ext uri="{FF2B5EF4-FFF2-40B4-BE49-F238E27FC236}">
                  <a16:creationId xmlns:a16="http://schemas.microsoft.com/office/drawing/2014/main" id="{66330DDF-0565-252C-05FD-2AD2ACD8E2BB}"/>
                </a:ext>
              </a:extLst>
            </p:cNvPr>
            <p:cNvSpPr/>
            <p:nvPr/>
          </p:nvSpPr>
          <p:spPr>
            <a:xfrm>
              <a:off x="1981198" y="6531228"/>
              <a:ext cx="228598" cy="231522"/>
            </a:xfrm>
            <a:prstGeom prst="ellipse">
              <a:avLst/>
            </a:prstGeom>
            <a:solidFill>
              <a:srgbClr val="002B1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Oval 19">
              <a:extLst>
                <a:ext uri="{FF2B5EF4-FFF2-40B4-BE49-F238E27FC236}">
                  <a16:creationId xmlns:a16="http://schemas.microsoft.com/office/drawing/2014/main" id="{B4638375-5507-FCDD-DA16-870BD61BBC90}"/>
                </a:ext>
              </a:extLst>
            </p:cNvPr>
            <p:cNvSpPr/>
            <p:nvPr/>
          </p:nvSpPr>
          <p:spPr>
            <a:xfrm>
              <a:off x="2247897" y="6531228"/>
              <a:ext cx="228598" cy="231522"/>
            </a:xfrm>
            <a:prstGeom prst="ellipse">
              <a:avLst/>
            </a:prstGeom>
            <a:solidFill>
              <a:srgbClr val="002B1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Oval 20">
              <a:extLst>
                <a:ext uri="{FF2B5EF4-FFF2-40B4-BE49-F238E27FC236}">
                  <a16:creationId xmlns:a16="http://schemas.microsoft.com/office/drawing/2014/main" id="{0F130F05-ED69-8556-A5C7-7DBE28F5ADCF}"/>
                </a:ext>
              </a:extLst>
            </p:cNvPr>
            <p:cNvSpPr/>
            <p:nvPr/>
          </p:nvSpPr>
          <p:spPr>
            <a:xfrm>
              <a:off x="2514596" y="6531228"/>
              <a:ext cx="228598" cy="231522"/>
            </a:xfrm>
            <a:prstGeom prst="ellipse">
              <a:avLst/>
            </a:prstGeom>
            <a:solidFill>
              <a:srgbClr val="002B1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3" name="TextBox 22">
            <a:extLst>
              <a:ext uri="{FF2B5EF4-FFF2-40B4-BE49-F238E27FC236}">
                <a16:creationId xmlns:a16="http://schemas.microsoft.com/office/drawing/2014/main" id="{D45C40C8-59B1-0732-5FF2-72A618485B37}"/>
              </a:ext>
            </a:extLst>
          </p:cNvPr>
          <p:cNvSpPr txBox="1"/>
          <p:nvPr/>
        </p:nvSpPr>
        <p:spPr>
          <a:xfrm>
            <a:off x="990600" y="5918749"/>
            <a:ext cx="1676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2B11"/>
                </a:solidFill>
                <a:effectLst/>
                <a:uLnTx/>
                <a:uFillTx/>
                <a:latin typeface="Poppins" panose="00000500000000000000" pitchFamily="2" charset="0"/>
                <a:ea typeface="+mn-ea"/>
                <a:cs typeface="Poppins" panose="00000500000000000000" pitchFamily="2" charset="0"/>
              </a:rPr>
              <a:t>@ Module 1</a:t>
            </a:r>
          </a:p>
        </p:txBody>
      </p:sp>
      <p:pic>
        <p:nvPicPr>
          <p:cNvPr id="25" name="Picture 24" descr="ollie_green.png">
            <a:extLst>
              <a:ext uri="{FF2B5EF4-FFF2-40B4-BE49-F238E27FC236}">
                <a16:creationId xmlns:a16="http://schemas.microsoft.com/office/drawing/2014/main" id="{D88517DE-472D-3B3A-346F-6AB33072CAFC}"/>
              </a:ext>
            </a:extLst>
          </p:cNvPr>
          <p:cNvPicPr>
            <a:picLocks noChangeAspect="1"/>
          </p:cNvPicPr>
          <p:nvPr/>
        </p:nvPicPr>
        <p:blipFill>
          <a:blip r:embed="rId3">
            <a:biLevel thresh="25000"/>
          </a:blip>
          <a:stretch>
            <a:fillRect/>
          </a:stretch>
        </p:blipFill>
        <p:spPr>
          <a:xfrm>
            <a:off x="9861413" y="9414663"/>
            <a:ext cx="949727" cy="605350"/>
          </a:xfrm>
          <a:prstGeom prst="rect">
            <a:avLst/>
          </a:prstGeom>
        </p:spPr>
      </p:pic>
      <p:sp>
        <p:nvSpPr>
          <p:cNvPr id="9" name="TextBox 8">
            <a:extLst>
              <a:ext uri="{FF2B5EF4-FFF2-40B4-BE49-F238E27FC236}">
                <a16:creationId xmlns:a16="http://schemas.microsoft.com/office/drawing/2014/main" id="{29116C5D-4083-C4B2-8711-558479B55079}"/>
              </a:ext>
            </a:extLst>
          </p:cNvPr>
          <p:cNvSpPr txBox="1"/>
          <p:nvPr/>
        </p:nvSpPr>
        <p:spPr>
          <a:xfrm>
            <a:off x="845576" y="9435238"/>
            <a:ext cx="9144000"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1" u="none" strike="noStrike" kern="1200" cap="none" spc="0" normalizeH="0" baseline="0" noProof="0" dirty="0">
                <a:ln>
                  <a:noFill/>
                </a:ln>
                <a:solidFill>
                  <a:prstClr val="white"/>
                </a:solidFill>
                <a:effectLst/>
                <a:uLnTx/>
                <a:uFillTx/>
                <a:latin typeface="Calibri"/>
                <a:ea typeface="+mn-ea"/>
                <a:cs typeface="+mn-cs"/>
              </a:rPr>
              <a:t>Welcome to Fraud Support Fundamentals</a:t>
            </a:r>
            <a:endParaRPr kumimoji="0" lang="en-US" sz="3200" b="0" i="0" u="none" strike="noStrike" kern="120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0086380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a:extLst>
            <a:ext uri="{FF2B5EF4-FFF2-40B4-BE49-F238E27FC236}">
              <a16:creationId xmlns:a16="http://schemas.microsoft.com/office/drawing/2014/main" id="{153ACFFE-1280-0441-B250-B2843CF4BA3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A053830-E496-3518-8AA7-764D6D52C982}"/>
              </a:ext>
            </a:extLst>
          </p:cNvPr>
          <p:cNvSpPr txBox="1"/>
          <p:nvPr/>
        </p:nvSpPr>
        <p:spPr>
          <a:xfrm>
            <a:off x="988850" y="422668"/>
            <a:ext cx="16200000" cy="1015663"/>
          </a:xfrm>
          <a:prstGeom prst="rect">
            <a:avLst/>
          </a:prstGeom>
          <a:noFill/>
        </p:spPr>
        <p:txBody>
          <a:bodyPr wrap="square" anchor="t">
            <a:spAutoFit/>
          </a:bodyPr>
          <a:lstStyle/>
          <a:p>
            <a:pPr defTabSz="914445"/>
            <a:r>
              <a:rPr sz="6000" b="1" dirty="0">
                <a:solidFill>
                  <a:srgbClr val="FFFFFF"/>
                </a:solidFill>
                <a:latin typeface="Poppins Black"/>
              </a:rPr>
              <a:t>Agenda</a:t>
            </a:r>
          </a:p>
        </p:txBody>
      </p:sp>
      <p:sp>
        <p:nvSpPr>
          <p:cNvPr id="4" name="Rounded Rectangle 3">
            <a:extLst>
              <a:ext uri="{FF2B5EF4-FFF2-40B4-BE49-F238E27FC236}">
                <a16:creationId xmlns:a16="http://schemas.microsoft.com/office/drawing/2014/main" id="{EF01538F-783E-E0B9-E017-98AC2416F304}"/>
              </a:ext>
            </a:extLst>
          </p:cNvPr>
          <p:cNvSpPr/>
          <p:nvPr/>
        </p:nvSpPr>
        <p:spPr>
          <a:xfrm>
            <a:off x="1000001" y="1943101"/>
            <a:ext cx="16200000" cy="1015664"/>
          </a:xfrm>
          <a:prstGeom prst="roundRect">
            <a:avLst/>
          </a:prstGeom>
          <a:solidFill>
            <a:srgbClr val="CFF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45"/>
            <a:endParaRPr sz="3600">
              <a:solidFill>
                <a:prstClr val="white"/>
              </a:solidFill>
              <a:latin typeface="Calibri"/>
            </a:endParaRPr>
          </a:p>
        </p:txBody>
      </p:sp>
      <p:sp>
        <p:nvSpPr>
          <p:cNvPr id="5" name="TextBox 4">
            <a:extLst>
              <a:ext uri="{FF2B5EF4-FFF2-40B4-BE49-F238E27FC236}">
                <a16:creationId xmlns:a16="http://schemas.microsoft.com/office/drawing/2014/main" id="{7E921453-3ECB-41F2-B025-90D25E8C8176}"/>
              </a:ext>
            </a:extLst>
          </p:cNvPr>
          <p:cNvSpPr txBox="1"/>
          <p:nvPr/>
        </p:nvSpPr>
        <p:spPr>
          <a:xfrm>
            <a:off x="1538869" y="1943100"/>
            <a:ext cx="14000000" cy="523348"/>
          </a:xfrm>
          <a:prstGeom prst="rect">
            <a:avLst/>
          </a:prstGeom>
          <a:noFill/>
        </p:spPr>
        <p:txBody>
          <a:bodyPr wrap="square" anchor="t">
            <a:spAutoFit/>
          </a:bodyPr>
          <a:lstStyle>
            <a:defPPr>
              <a:defRPr lang="en-US"/>
            </a:defPPr>
            <a:lvl1pPr defTabSz="609630">
              <a:defRPr sz="1867" b="1">
                <a:solidFill>
                  <a:srgbClr val="002B11"/>
                </a:solidFill>
                <a:latin typeface="Poppins Black"/>
              </a:defRPr>
            </a:lvl1pPr>
          </a:lstStyle>
          <a:p>
            <a:r>
              <a:rPr lang="en-US" sz="2801" dirty="0"/>
              <a:t>Fraud Letters Overview</a:t>
            </a:r>
          </a:p>
        </p:txBody>
      </p:sp>
      <p:sp>
        <p:nvSpPr>
          <p:cNvPr id="6" name="Rounded Rectangle 5">
            <a:extLst>
              <a:ext uri="{FF2B5EF4-FFF2-40B4-BE49-F238E27FC236}">
                <a16:creationId xmlns:a16="http://schemas.microsoft.com/office/drawing/2014/main" id="{987069DC-382F-E447-1C39-3D871746B600}"/>
              </a:ext>
            </a:extLst>
          </p:cNvPr>
          <p:cNvSpPr/>
          <p:nvPr/>
        </p:nvSpPr>
        <p:spPr>
          <a:xfrm>
            <a:off x="988850" y="3193201"/>
            <a:ext cx="16200000" cy="1015664"/>
          </a:xfrm>
          <a:prstGeom prst="roundRect">
            <a:avLst/>
          </a:prstGeom>
          <a:solidFill>
            <a:srgbClr val="FF86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45"/>
            <a:endParaRPr sz="3600">
              <a:solidFill>
                <a:prstClr val="white"/>
              </a:solidFill>
              <a:latin typeface="Calibri"/>
            </a:endParaRPr>
          </a:p>
        </p:txBody>
      </p:sp>
      <p:sp>
        <p:nvSpPr>
          <p:cNvPr id="8" name="Rounded Rectangle 7">
            <a:extLst>
              <a:ext uri="{FF2B5EF4-FFF2-40B4-BE49-F238E27FC236}">
                <a16:creationId xmlns:a16="http://schemas.microsoft.com/office/drawing/2014/main" id="{91DB3A6B-E2AD-D37F-4B78-DEA3A4F8591D}"/>
              </a:ext>
            </a:extLst>
          </p:cNvPr>
          <p:cNvSpPr/>
          <p:nvPr/>
        </p:nvSpPr>
        <p:spPr>
          <a:xfrm>
            <a:off x="988850" y="5729297"/>
            <a:ext cx="16200000" cy="1015664"/>
          </a:xfrm>
          <a:prstGeom prst="roundRect">
            <a:avLst/>
          </a:prstGeom>
          <a:solidFill>
            <a:srgbClr val="9B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45"/>
            <a:endParaRPr sz="3600">
              <a:solidFill>
                <a:prstClr val="white"/>
              </a:solidFill>
              <a:latin typeface="Calibri"/>
            </a:endParaRPr>
          </a:p>
        </p:txBody>
      </p:sp>
      <p:sp>
        <p:nvSpPr>
          <p:cNvPr id="10" name="Rounded Rectangle 9">
            <a:extLst>
              <a:ext uri="{FF2B5EF4-FFF2-40B4-BE49-F238E27FC236}">
                <a16:creationId xmlns:a16="http://schemas.microsoft.com/office/drawing/2014/main" id="{0D790125-161D-E49F-133D-5079C37824CA}"/>
              </a:ext>
            </a:extLst>
          </p:cNvPr>
          <p:cNvSpPr/>
          <p:nvPr/>
        </p:nvSpPr>
        <p:spPr>
          <a:xfrm>
            <a:off x="988850" y="6976148"/>
            <a:ext cx="16200000" cy="1015664"/>
          </a:xfrm>
          <a:prstGeom prst="roundRect">
            <a:avLst/>
          </a:prstGeom>
          <a:solidFill>
            <a:srgbClr val="D95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45"/>
            <a:endParaRPr sz="3600">
              <a:solidFill>
                <a:prstClr val="white"/>
              </a:solidFill>
              <a:latin typeface="Calibri"/>
            </a:endParaRPr>
          </a:p>
        </p:txBody>
      </p:sp>
      <p:sp>
        <p:nvSpPr>
          <p:cNvPr id="12" name="TextBox 11">
            <a:extLst>
              <a:ext uri="{FF2B5EF4-FFF2-40B4-BE49-F238E27FC236}">
                <a16:creationId xmlns:a16="http://schemas.microsoft.com/office/drawing/2014/main" id="{91E74C0A-A0B9-E2B5-E547-D3F03D9A5319}"/>
              </a:ext>
            </a:extLst>
          </p:cNvPr>
          <p:cNvSpPr txBox="1"/>
          <p:nvPr/>
        </p:nvSpPr>
        <p:spPr>
          <a:xfrm>
            <a:off x="600001" y="9727003"/>
            <a:ext cx="10000001" cy="307777"/>
          </a:xfrm>
          <a:prstGeom prst="rect">
            <a:avLst/>
          </a:prstGeom>
          <a:noFill/>
        </p:spPr>
        <p:txBody>
          <a:bodyPr wrap="square" anchor="t">
            <a:spAutoFit/>
          </a:bodyPr>
          <a:lstStyle/>
          <a:p>
            <a:pPr defTabSz="914445"/>
            <a:r>
              <a:rPr sz="1400" dirty="0">
                <a:solidFill>
                  <a:srgbClr val="8A8272"/>
                </a:solidFill>
                <a:latin typeface="Poppins"/>
              </a:rPr>
              <a:t>T</a:t>
            </a:r>
            <a:r>
              <a:rPr lang="en-US" sz="1400" dirty="0">
                <a:solidFill>
                  <a:srgbClr val="8A8272"/>
                </a:solidFill>
                <a:latin typeface="Poppins"/>
              </a:rPr>
              <a:t>ripadvisor</a:t>
            </a:r>
            <a:r>
              <a:rPr sz="1400" dirty="0">
                <a:solidFill>
                  <a:srgbClr val="8A8272"/>
                </a:solidFill>
                <a:latin typeface="Poppins"/>
              </a:rPr>
              <a:t> / F</a:t>
            </a:r>
            <a:r>
              <a:rPr lang="en-US" sz="1400" dirty="0">
                <a:solidFill>
                  <a:srgbClr val="8A8272"/>
                </a:solidFill>
                <a:latin typeface="Poppins"/>
              </a:rPr>
              <a:t>raud letters</a:t>
            </a:r>
            <a:endParaRPr sz="1400" dirty="0">
              <a:solidFill>
                <a:srgbClr val="8A8272"/>
              </a:solidFill>
              <a:latin typeface="Poppins"/>
            </a:endParaRPr>
          </a:p>
        </p:txBody>
      </p:sp>
      <p:sp>
        <p:nvSpPr>
          <p:cNvPr id="13" name="TextBox 12">
            <a:extLst>
              <a:ext uri="{FF2B5EF4-FFF2-40B4-BE49-F238E27FC236}">
                <a16:creationId xmlns:a16="http://schemas.microsoft.com/office/drawing/2014/main" id="{FEB94295-6545-F377-358C-6AD6F2C37311}"/>
              </a:ext>
            </a:extLst>
          </p:cNvPr>
          <p:cNvSpPr txBox="1"/>
          <p:nvPr/>
        </p:nvSpPr>
        <p:spPr>
          <a:xfrm>
            <a:off x="16488000" y="9727003"/>
            <a:ext cx="1200000" cy="307777"/>
          </a:xfrm>
          <a:prstGeom prst="rect">
            <a:avLst/>
          </a:prstGeom>
          <a:noFill/>
        </p:spPr>
        <p:txBody>
          <a:bodyPr wrap="square" anchor="t">
            <a:spAutoFit/>
          </a:bodyPr>
          <a:lstStyle/>
          <a:p>
            <a:pPr algn="r" defTabSz="914445"/>
            <a:r>
              <a:rPr sz="1400" dirty="0">
                <a:solidFill>
                  <a:srgbClr val="8A8272"/>
                </a:solidFill>
                <a:latin typeface="Poppins"/>
              </a:rPr>
              <a:t>05</a:t>
            </a:r>
          </a:p>
        </p:txBody>
      </p:sp>
      <p:sp>
        <p:nvSpPr>
          <p:cNvPr id="14" name="TextBox 13">
            <a:extLst>
              <a:ext uri="{FF2B5EF4-FFF2-40B4-BE49-F238E27FC236}">
                <a16:creationId xmlns:a16="http://schemas.microsoft.com/office/drawing/2014/main" id="{6BD73F27-2B15-90B4-86AB-0DC7F5F51FFD}"/>
              </a:ext>
            </a:extLst>
          </p:cNvPr>
          <p:cNvSpPr txBox="1"/>
          <p:nvPr/>
        </p:nvSpPr>
        <p:spPr>
          <a:xfrm>
            <a:off x="1538869" y="2501738"/>
            <a:ext cx="14000000" cy="431015"/>
          </a:xfrm>
          <a:prstGeom prst="rect">
            <a:avLst/>
          </a:prstGeom>
          <a:noFill/>
        </p:spPr>
        <p:txBody>
          <a:bodyPr wrap="square" anchor="t">
            <a:spAutoFit/>
          </a:bodyPr>
          <a:lstStyle/>
          <a:p>
            <a:pPr defTabSz="914445"/>
            <a:r>
              <a:rPr lang="en-US" sz="2201" dirty="0">
                <a:solidFill>
                  <a:srgbClr val="002B11"/>
                </a:solidFill>
                <a:latin typeface="Poppins" panose="00000500000000000000" pitchFamily="2" charset="0"/>
                <a:cs typeface="Poppins" panose="00000500000000000000" pitchFamily="2" charset="0"/>
              </a:rPr>
              <a:t>Understand the purpose, objective, and target audience of fraud letters</a:t>
            </a:r>
          </a:p>
        </p:txBody>
      </p:sp>
      <p:sp>
        <p:nvSpPr>
          <p:cNvPr id="15" name="TextBox 14">
            <a:extLst>
              <a:ext uri="{FF2B5EF4-FFF2-40B4-BE49-F238E27FC236}">
                <a16:creationId xmlns:a16="http://schemas.microsoft.com/office/drawing/2014/main" id="{42DC9069-959D-A9A8-202C-1715ABF06EF1}"/>
              </a:ext>
            </a:extLst>
          </p:cNvPr>
          <p:cNvSpPr txBox="1"/>
          <p:nvPr/>
        </p:nvSpPr>
        <p:spPr>
          <a:xfrm>
            <a:off x="1524001" y="3162300"/>
            <a:ext cx="14000000" cy="523348"/>
          </a:xfrm>
          <a:prstGeom prst="rect">
            <a:avLst/>
          </a:prstGeom>
          <a:noFill/>
        </p:spPr>
        <p:txBody>
          <a:bodyPr wrap="square" anchor="t">
            <a:spAutoFit/>
          </a:bodyPr>
          <a:lstStyle>
            <a:defPPr>
              <a:defRPr lang="en-US"/>
            </a:defPPr>
            <a:lvl1pPr defTabSz="609630">
              <a:defRPr sz="1867" b="1">
                <a:solidFill>
                  <a:srgbClr val="002B11"/>
                </a:solidFill>
                <a:latin typeface="Poppins Black"/>
              </a:defRPr>
            </a:lvl1pPr>
          </a:lstStyle>
          <a:p>
            <a:r>
              <a:rPr lang="en-US" sz="2801" dirty="0"/>
              <a:t>Warning Letter vs. Fraud Letter</a:t>
            </a:r>
          </a:p>
        </p:txBody>
      </p:sp>
      <p:sp>
        <p:nvSpPr>
          <p:cNvPr id="16" name="TextBox 15">
            <a:extLst>
              <a:ext uri="{FF2B5EF4-FFF2-40B4-BE49-F238E27FC236}">
                <a16:creationId xmlns:a16="http://schemas.microsoft.com/office/drawing/2014/main" id="{27569710-A773-69AF-BC75-520CBEC0EACA}"/>
              </a:ext>
            </a:extLst>
          </p:cNvPr>
          <p:cNvSpPr txBox="1"/>
          <p:nvPr/>
        </p:nvSpPr>
        <p:spPr>
          <a:xfrm>
            <a:off x="1524001" y="3720938"/>
            <a:ext cx="14000000" cy="507831"/>
          </a:xfrm>
          <a:prstGeom prst="rect">
            <a:avLst/>
          </a:prstGeom>
          <a:noFill/>
        </p:spPr>
        <p:txBody>
          <a:bodyPr wrap="square" anchor="t">
            <a:spAutoFit/>
          </a:bodyPr>
          <a:lstStyle>
            <a:defPPr>
              <a:defRPr lang="en-US"/>
            </a:defPPr>
            <a:lvl1pPr defTabSz="914445">
              <a:defRPr sz="2201">
                <a:solidFill>
                  <a:srgbClr val="002B11"/>
                </a:solidFill>
                <a:latin typeface="Poppins" panose="00000500000000000000" pitchFamily="2" charset="0"/>
                <a:cs typeface="Poppins" panose="00000500000000000000" pitchFamily="2" charset="0"/>
              </a:defRPr>
            </a:lvl1pPr>
          </a:lstStyle>
          <a:p>
            <a:r>
              <a:rPr lang="en-US" dirty="0"/>
              <a:t>Learn about the differences between Warning Letters and Fraud Letters</a:t>
            </a:r>
          </a:p>
        </p:txBody>
      </p:sp>
      <p:sp>
        <p:nvSpPr>
          <p:cNvPr id="17" name="TextBox 16">
            <a:extLst>
              <a:ext uri="{FF2B5EF4-FFF2-40B4-BE49-F238E27FC236}">
                <a16:creationId xmlns:a16="http://schemas.microsoft.com/office/drawing/2014/main" id="{7DAC66BD-917B-C157-4A37-F0BB5515C9C7}"/>
              </a:ext>
            </a:extLst>
          </p:cNvPr>
          <p:cNvSpPr txBox="1"/>
          <p:nvPr/>
        </p:nvSpPr>
        <p:spPr>
          <a:xfrm>
            <a:off x="1538869" y="5701046"/>
            <a:ext cx="14000000" cy="523348"/>
          </a:xfrm>
          <a:prstGeom prst="rect">
            <a:avLst/>
          </a:prstGeom>
          <a:noFill/>
        </p:spPr>
        <p:txBody>
          <a:bodyPr wrap="square" anchor="t">
            <a:spAutoFit/>
          </a:bodyPr>
          <a:lstStyle>
            <a:defPPr>
              <a:defRPr lang="en-US"/>
            </a:defPPr>
            <a:lvl1pPr defTabSz="609630">
              <a:defRPr sz="1867" b="1">
                <a:solidFill>
                  <a:srgbClr val="002B11"/>
                </a:solidFill>
                <a:latin typeface="Poppins Black"/>
              </a:defRPr>
            </a:lvl1pPr>
          </a:lstStyle>
          <a:p>
            <a:r>
              <a:rPr lang="en-US" sz="2801" dirty="0"/>
              <a:t>Automatic Fraud Letter</a:t>
            </a:r>
          </a:p>
        </p:txBody>
      </p:sp>
      <p:sp>
        <p:nvSpPr>
          <p:cNvPr id="18" name="TextBox 17">
            <a:extLst>
              <a:ext uri="{FF2B5EF4-FFF2-40B4-BE49-F238E27FC236}">
                <a16:creationId xmlns:a16="http://schemas.microsoft.com/office/drawing/2014/main" id="{AACE1503-5222-5EA2-AFBC-94176A4F0256}"/>
              </a:ext>
            </a:extLst>
          </p:cNvPr>
          <p:cNvSpPr txBox="1"/>
          <p:nvPr/>
        </p:nvSpPr>
        <p:spPr>
          <a:xfrm>
            <a:off x="1538869" y="6259684"/>
            <a:ext cx="14000000" cy="431015"/>
          </a:xfrm>
          <a:prstGeom prst="rect">
            <a:avLst/>
          </a:prstGeom>
          <a:noFill/>
        </p:spPr>
        <p:txBody>
          <a:bodyPr wrap="square" anchor="t">
            <a:spAutoFit/>
          </a:bodyPr>
          <a:lstStyle>
            <a:defPPr>
              <a:defRPr lang="en-US"/>
            </a:defPPr>
            <a:lvl1pPr defTabSz="914445">
              <a:defRPr sz="2201">
                <a:solidFill>
                  <a:srgbClr val="002B11"/>
                </a:solidFill>
                <a:latin typeface="Poppins" panose="00000500000000000000" pitchFamily="2" charset="0"/>
                <a:cs typeface="Poppins" panose="00000500000000000000" pitchFamily="2" charset="0"/>
              </a:defRPr>
            </a:lvl1pPr>
          </a:lstStyle>
          <a:p>
            <a:r>
              <a:rPr lang="en-US" dirty="0"/>
              <a:t>Explore all the scenarios related to automatic fraud letters</a:t>
            </a:r>
          </a:p>
        </p:txBody>
      </p:sp>
      <p:sp>
        <p:nvSpPr>
          <p:cNvPr id="19" name="TextBox 18">
            <a:extLst>
              <a:ext uri="{FF2B5EF4-FFF2-40B4-BE49-F238E27FC236}">
                <a16:creationId xmlns:a16="http://schemas.microsoft.com/office/drawing/2014/main" id="{0CDD150F-5971-D85C-6471-28C65466EDD6}"/>
              </a:ext>
            </a:extLst>
          </p:cNvPr>
          <p:cNvSpPr txBox="1"/>
          <p:nvPr/>
        </p:nvSpPr>
        <p:spPr>
          <a:xfrm>
            <a:off x="1538869" y="6954263"/>
            <a:ext cx="14000000" cy="523348"/>
          </a:xfrm>
          <a:prstGeom prst="rect">
            <a:avLst/>
          </a:prstGeom>
          <a:noFill/>
        </p:spPr>
        <p:txBody>
          <a:bodyPr wrap="square" anchor="t">
            <a:spAutoFit/>
          </a:bodyPr>
          <a:lstStyle>
            <a:defPPr>
              <a:defRPr lang="en-US"/>
            </a:defPPr>
            <a:lvl1pPr defTabSz="609630">
              <a:defRPr sz="1867" b="1">
                <a:solidFill>
                  <a:srgbClr val="002B11"/>
                </a:solidFill>
                <a:latin typeface="Poppins Black"/>
              </a:defRPr>
            </a:lvl1pPr>
          </a:lstStyle>
          <a:p>
            <a:r>
              <a:rPr lang="en-US" sz="2801" dirty="0"/>
              <a:t>Manual Fraud Letter</a:t>
            </a:r>
          </a:p>
        </p:txBody>
      </p:sp>
      <p:sp>
        <p:nvSpPr>
          <p:cNvPr id="20" name="TextBox 19">
            <a:extLst>
              <a:ext uri="{FF2B5EF4-FFF2-40B4-BE49-F238E27FC236}">
                <a16:creationId xmlns:a16="http://schemas.microsoft.com/office/drawing/2014/main" id="{6B466152-71A1-8586-3007-A9C9E712D600}"/>
              </a:ext>
            </a:extLst>
          </p:cNvPr>
          <p:cNvSpPr txBox="1"/>
          <p:nvPr/>
        </p:nvSpPr>
        <p:spPr>
          <a:xfrm>
            <a:off x="1538869" y="7512899"/>
            <a:ext cx="14000000" cy="507831"/>
          </a:xfrm>
          <a:prstGeom prst="rect">
            <a:avLst/>
          </a:prstGeom>
          <a:noFill/>
        </p:spPr>
        <p:txBody>
          <a:bodyPr wrap="square" anchor="t">
            <a:spAutoFit/>
          </a:bodyPr>
          <a:lstStyle>
            <a:defPPr>
              <a:defRPr lang="en-US"/>
            </a:defPPr>
            <a:lvl1pPr defTabSz="914445">
              <a:defRPr sz="2201">
                <a:solidFill>
                  <a:srgbClr val="002B11"/>
                </a:solidFill>
                <a:latin typeface="Poppins" panose="00000500000000000000" pitchFamily="2" charset="0"/>
                <a:cs typeface="Poppins" panose="00000500000000000000" pitchFamily="2" charset="0"/>
              </a:defRPr>
            </a:lvl1pPr>
          </a:lstStyle>
          <a:p>
            <a:r>
              <a:rPr lang="en-US" dirty="0"/>
              <a:t>Master the detailed step-by-step process involved in sending manual letters</a:t>
            </a:r>
          </a:p>
        </p:txBody>
      </p:sp>
      <p:sp>
        <p:nvSpPr>
          <p:cNvPr id="21" name="Rounded Rectangle 9">
            <a:extLst>
              <a:ext uri="{FF2B5EF4-FFF2-40B4-BE49-F238E27FC236}">
                <a16:creationId xmlns:a16="http://schemas.microsoft.com/office/drawing/2014/main" id="{AF5FF167-E4EE-7609-68B0-6438A57FE2DF}"/>
              </a:ext>
            </a:extLst>
          </p:cNvPr>
          <p:cNvSpPr/>
          <p:nvPr/>
        </p:nvSpPr>
        <p:spPr>
          <a:xfrm>
            <a:off x="988850" y="8237533"/>
            <a:ext cx="16200000" cy="1015664"/>
          </a:xfrm>
          <a:prstGeom prst="roundRect">
            <a:avLst/>
          </a:prstGeom>
          <a:solidFill>
            <a:srgbClr val="D1F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45"/>
            <a:endParaRPr sz="3600">
              <a:solidFill>
                <a:prstClr val="white"/>
              </a:solidFill>
              <a:latin typeface="Calibri"/>
            </a:endParaRPr>
          </a:p>
        </p:txBody>
      </p:sp>
      <p:sp>
        <p:nvSpPr>
          <p:cNvPr id="22" name="TextBox 21">
            <a:extLst>
              <a:ext uri="{FF2B5EF4-FFF2-40B4-BE49-F238E27FC236}">
                <a16:creationId xmlns:a16="http://schemas.microsoft.com/office/drawing/2014/main" id="{930A8F0C-4BD1-7216-91FC-6696967E2816}"/>
              </a:ext>
            </a:extLst>
          </p:cNvPr>
          <p:cNvSpPr txBox="1"/>
          <p:nvPr/>
        </p:nvSpPr>
        <p:spPr>
          <a:xfrm>
            <a:off x="1538869" y="8215646"/>
            <a:ext cx="14000000" cy="523348"/>
          </a:xfrm>
          <a:prstGeom prst="rect">
            <a:avLst/>
          </a:prstGeom>
          <a:noFill/>
        </p:spPr>
        <p:txBody>
          <a:bodyPr wrap="square" anchor="t">
            <a:spAutoFit/>
          </a:bodyPr>
          <a:lstStyle>
            <a:defPPr>
              <a:defRPr lang="en-US"/>
            </a:defPPr>
            <a:lvl1pPr defTabSz="609630">
              <a:defRPr sz="1867" b="1">
                <a:solidFill>
                  <a:srgbClr val="002B11"/>
                </a:solidFill>
                <a:latin typeface="Poppins Black"/>
              </a:defRPr>
            </a:lvl1pPr>
          </a:lstStyle>
          <a:p>
            <a:r>
              <a:rPr lang="en-US" sz="2801" dirty="0"/>
              <a:t>Missing or Re-sending Letters</a:t>
            </a:r>
          </a:p>
        </p:txBody>
      </p:sp>
      <p:sp>
        <p:nvSpPr>
          <p:cNvPr id="23" name="TextBox 22">
            <a:extLst>
              <a:ext uri="{FF2B5EF4-FFF2-40B4-BE49-F238E27FC236}">
                <a16:creationId xmlns:a16="http://schemas.microsoft.com/office/drawing/2014/main" id="{A3A54A72-19CF-A3BB-E745-1231EE36B1EB}"/>
              </a:ext>
            </a:extLst>
          </p:cNvPr>
          <p:cNvSpPr txBox="1"/>
          <p:nvPr/>
        </p:nvSpPr>
        <p:spPr>
          <a:xfrm>
            <a:off x="1538869" y="8774284"/>
            <a:ext cx="14000000" cy="507831"/>
          </a:xfrm>
          <a:prstGeom prst="rect">
            <a:avLst/>
          </a:prstGeom>
          <a:noFill/>
        </p:spPr>
        <p:txBody>
          <a:bodyPr wrap="square" anchor="t">
            <a:spAutoFit/>
          </a:bodyPr>
          <a:lstStyle>
            <a:defPPr>
              <a:defRPr lang="en-US"/>
            </a:defPPr>
            <a:lvl1pPr defTabSz="914445">
              <a:defRPr sz="2201">
                <a:solidFill>
                  <a:srgbClr val="002B11"/>
                </a:solidFill>
                <a:latin typeface="Poppins" panose="00000500000000000000" pitchFamily="2" charset="0"/>
                <a:cs typeface="Poppins" panose="00000500000000000000" pitchFamily="2" charset="0"/>
              </a:defRPr>
            </a:lvl1pPr>
          </a:lstStyle>
          <a:p>
            <a:r>
              <a:rPr lang="en-US" dirty="0"/>
              <a:t>Acquire insights into the process of boosting letters</a:t>
            </a:r>
          </a:p>
        </p:txBody>
      </p:sp>
      <p:sp>
        <p:nvSpPr>
          <p:cNvPr id="9" name="Rounded Rectangle 5">
            <a:extLst>
              <a:ext uri="{FF2B5EF4-FFF2-40B4-BE49-F238E27FC236}">
                <a16:creationId xmlns:a16="http://schemas.microsoft.com/office/drawing/2014/main" id="{2BE4AF66-376E-24A5-A6B5-3D4D099382EF}"/>
              </a:ext>
            </a:extLst>
          </p:cNvPr>
          <p:cNvSpPr/>
          <p:nvPr/>
        </p:nvSpPr>
        <p:spPr>
          <a:xfrm>
            <a:off x="1000001" y="4488601"/>
            <a:ext cx="16200000" cy="1015664"/>
          </a:xfrm>
          <a:prstGeom prst="roundRect">
            <a:avLst/>
          </a:prstGeom>
          <a:solidFill>
            <a:srgbClr val="23EE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45"/>
            <a:endParaRPr sz="3600">
              <a:solidFill>
                <a:prstClr val="white"/>
              </a:solidFill>
              <a:latin typeface="Calibri"/>
            </a:endParaRPr>
          </a:p>
        </p:txBody>
      </p:sp>
      <p:sp>
        <p:nvSpPr>
          <p:cNvPr id="24" name="TextBox 23">
            <a:extLst>
              <a:ext uri="{FF2B5EF4-FFF2-40B4-BE49-F238E27FC236}">
                <a16:creationId xmlns:a16="http://schemas.microsoft.com/office/drawing/2014/main" id="{45BD9917-C19C-1B00-4336-CBAD6CBBD580}"/>
              </a:ext>
            </a:extLst>
          </p:cNvPr>
          <p:cNvSpPr txBox="1"/>
          <p:nvPr/>
        </p:nvSpPr>
        <p:spPr>
          <a:xfrm>
            <a:off x="1535152" y="4457700"/>
            <a:ext cx="14000000" cy="523348"/>
          </a:xfrm>
          <a:prstGeom prst="rect">
            <a:avLst/>
          </a:prstGeom>
          <a:noFill/>
        </p:spPr>
        <p:txBody>
          <a:bodyPr wrap="square" anchor="t">
            <a:spAutoFit/>
          </a:bodyPr>
          <a:lstStyle>
            <a:defPPr>
              <a:defRPr lang="en-US"/>
            </a:defPPr>
            <a:lvl1pPr defTabSz="609630">
              <a:defRPr sz="1867" b="1">
                <a:solidFill>
                  <a:srgbClr val="002B11"/>
                </a:solidFill>
                <a:latin typeface="Poppins Black"/>
              </a:defRPr>
            </a:lvl1pPr>
          </a:lstStyle>
          <a:p>
            <a:r>
              <a:rPr lang="en-US" sz="2801" dirty="0"/>
              <a:t>Types of Fraud Letters</a:t>
            </a:r>
          </a:p>
        </p:txBody>
      </p:sp>
      <p:sp>
        <p:nvSpPr>
          <p:cNvPr id="26" name="TextBox 25">
            <a:extLst>
              <a:ext uri="{FF2B5EF4-FFF2-40B4-BE49-F238E27FC236}">
                <a16:creationId xmlns:a16="http://schemas.microsoft.com/office/drawing/2014/main" id="{65BD89A2-C699-3B49-5F9A-B3F33231BF7B}"/>
              </a:ext>
            </a:extLst>
          </p:cNvPr>
          <p:cNvSpPr txBox="1"/>
          <p:nvPr/>
        </p:nvSpPr>
        <p:spPr>
          <a:xfrm>
            <a:off x="1535152" y="5016338"/>
            <a:ext cx="14000000" cy="507831"/>
          </a:xfrm>
          <a:prstGeom prst="rect">
            <a:avLst/>
          </a:prstGeom>
          <a:noFill/>
        </p:spPr>
        <p:txBody>
          <a:bodyPr wrap="square" anchor="t">
            <a:spAutoFit/>
          </a:bodyPr>
          <a:lstStyle>
            <a:defPPr>
              <a:defRPr lang="en-US"/>
            </a:defPPr>
            <a:lvl1pPr defTabSz="914445">
              <a:defRPr sz="2201">
                <a:solidFill>
                  <a:srgbClr val="002B11"/>
                </a:solidFill>
                <a:latin typeface="Poppins" panose="00000500000000000000" pitchFamily="2" charset="0"/>
                <a:cs typeface="Poppins" panose="00000500000000000000" pitchFamily="2" charset="0"/>
              </a:defRPr>
            </a:lvl1pPr>
          </a:lstStyle>
          <a:p>
            <a:r>
              <a:rPr lang="en-US" dirty="0"/>
              <a:t>Familiarize yourself with different scenarios involving various types of fraud letters</a:t>
            </a:r>
          </a:p>
        </p:txBody>
      </p:sp>
    </p:spTree>
    <p:extLst>
      <p:ext uri="{BB962C8B-B14F-4D97-AF65-F5344CB8AC3E}">
        <p14:creationId xmlns:p14="http://schemas.microsoft.com/office/powerpoint/2010/main" val="2417570990"/>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EB5B"/>
        </a:solidFill>
        <a:effectLst/>
      </p:bgPr>
    </p:bg>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A7DCCA36-FF0F-E192-2407-27DDB4E64B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385" y="190500"/>
            <a:ext cx="17331231" cy="8182797"/>
          </a:xfrm>
          <a:prstGeom prst="rect">
            <a:avLst/>
          </a:prstGeom>
        </p:spPr>
      </p:pic>
      <p:sp>
        <p:nvSpPr>
          <p:cNvPr id="3" name="AutoShape 3"/>
          <p:cNvSpPr/>
          <p:nvPr/>
        </p:nvSpPr>
        <p:spPr>
          <a:xfrm>
            <a:off x="478385" y="8703951"/>
            <a:ext cx="17331231" cy="0"/>
          </a:xfrm>
          <a:prstGeom prst="line">
            <a:avLst/>
          </a:prstGeom>
          <a:ln w="38100" cap="flat">
            <a:solidFill>
              <a:srgbClr val="002B11"/>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4" name="Group 4"/>
          <p:cNvGrpSpPr/>
          <p:nvPr/>
        </p:nvGrpSpPr>
        <p:grpSpPr>
          <a:xfrm>
            <a:off x="1028700" y="671195"/>
            <a:ext cx="2239382" cy="670446"/>
            <a:chOff x="0" y="0"/>
            <a:chExt cx="589796" cy="176578"/>
          </a:xfrm>
        </p:grpSpPr>
        <p:sp>
          <p:nvSpPr>
            <p:cNvPr id="5" name="Freeform 5"/>
            <p:cNvSpPr/>
            <p:nvPr/>
          </p:nvSpPr>
          <p:spPr>
            <a:xfrm>
              <a:off x="0" y="0"/>
              <a:ext cx="589796" cy="176578"/>
            </a:xfrm>
            <a:custGeom>
              <a:avLst/>
              <a:gdLst/>
              <a:ahLst/>
              <a:cxnLst/>
              <a:rect l="l" t="t" r="r" b="b"/>
              <a:pathLst>
                <a:path w="589796" h="176578">
                  <a:moveTo>
                    <a:pt x="88289" y="0"/>
                  </a:moveTo>
                  <a:lnTo>
                    <a:pt x="501507" y="0"/>
                  </a:lnTo>
                  <a:cubicBezTo>
                    <a:pt x="524923" y="0"/>
                    <a:pt x="547379" y="9302"/>
                    <a:pt x="563937" y="25859"/>
                  </a:cubicBezTo>
                  <a:cubicBezTo>
                    <a:pt x="580494" y="42417"/>
                    <a:pt x="589796" y="64873"/>
                    <a:pt x="589796" y="88289"/>
                  </a:cubicBezTo>
                  <a:lnTo>
                    <a:pt x="589796" y="88289"/>
                  </a:lnTo>
                  <a:cubicBezTo>
                    <a:pt x="589796" y="137050"/>
                    <a:pt x="550268" y="176578"/>
                    <a:pt x="501507" y="176578"/>
                  </a:cubicBezTo>
                  <a:lnTo>
                    <a:pt x="88289" y="176578"/>
                  </a:lnTo>
                  <a:cubicBezTo>
                    <a:pt x="39528" y="176578"/>
                    <a:pt x="0" y="137050"/>
                    <a:pt x="0" y="88289"/>
                  </a:cubicBezTo>
                  <a:lnTo>
                    <a:pt x="0" y="88289"/>
                  </a:lnTo>
                  <a:cubicBezTo>
                    <a:pt x="0" y="39528"/>
                    <a:pt x="39528" y="0"/>
                    <a:pt x="88289" y="0"/>
                  </a:cubicBezTo>
                  <a:close/>
                </a:path>
              </a:pathLst>
            </a:custGeom>
            <a:solidFill>
              <a:srgbClr val="00EB5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Box 6"/>
            <p:cNvSpPr txBox="1"/>
            <p:nvPr/>
          </p:nvSpPr>
          <p:spPr>
            <a:xfrm>
              <a:off x="0" y="-47625"/>
              <a:ext cx="589796" cy="224203"/>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 name="Group 7"/>
          <p:cNvGrpSpPr/>
          <p:nvPr/>
        </p:nvGrpSpPr>
        <p:grpSpPr>
          <a:xfrm>
            <a:off x="14684028" y="574219"/>
            <a:ext cx="2725614" cy="622382"/>
            <a:chOff x="0" y="0"/>
            <a:chExt cx="717857" cy="163920"/>
          </a:xfrm>
        </p:grpSpPr>
        <p:sp>
          <p:nvSpPr>
            <p:cNvPr id="8" name="Freeform 8"/>
            <p:cNvSpPr/>
            <p:nvPr/>
          </p:nvSpPr>
          <p:spPr>
            <a:xfrm>
              <a:off x="0" y="0"/>
              <a:ext cx="717857" cy="163920"/>
            </a:xfrm>
            <a:custGeom>
              <a:avLst/>
              <a:gdLst/>
              <a:ahLst/>
              <a:cxnLst/>
              <a:rect l="l" t="t" r="r" b="b"/>
              <a:pathLst>
                <a:path w="717857" h="163920">
                  <a:moveTo>
                    <a:pt x="81960" y="0"/>
                  </a:moveTo>
                  <a:lnTo>
                    <a:pt x="635897" y="0"/>
                  </a:lnTo>
                  <a:cubicBezTo>
                    <a:pt x="681163" y="0"/>
                    <a:pt x="717857" y="36695"/>
                    <a:pt x="717857" y="81960"/>
                  </a:cubicBezTo>
                  <a:lnTo>
                    <a:pt x="717857" y="81960"/>
                  </a:lnTo>
                  <a:cubicBezTo>
                    <a:pt x="717857" y="103697"/>
                    <a:pt x="709222" y="124544"/>
                    <a:pt x="693852" y="139914"/>
                  </a:cubicBezTo>
                  <a:cubicBezTo>
                    <a:pt x="678481" y="155285"/>
                    <a:pt x="657634" y="163920"/>
                    <a:pt x="635897" y="163920"/>
                  </a:cubicBezTo>
                  <a:lnTo>
                    <a:pt x="81960" y="163920"/>
                  </a:lnTo>
                  <a:cubicBezTo>
                    <a:pt x="36695" y="163920"/>
                    <a:pt x="0" y="127225"/>
                    <a:pt x="0" y="81960"/>
                  </a:cubicBezTo>
                  <a:lnTo>
                    <a:pt x="0" y="81960"/>
                  </a:lnTo>
                  <a:cubicBezTo>
                    <a:pt x="0" y="36695"/>
                    <a:pt x="36695" y="0"/>
                    <a:pt x="81960" y="0"/>
                  </a:cubicBezTo>
                  <a:close/>
                </a:path>
              </a:pathLst>
            </a:custGeom>
            <a:solidFill>
              <a:srgbClr val="00EB5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Box 9"/>
            <p:cNvSpPr txBox="1"/>
            <p:nvPr/>
          </p:nvSpPr>
          <p:spPr>
            <a:xfrm>
              <a:off x="0" y="-47625"/>
              <a:ext cx="717857" cy="21154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0" name="TextBox 10"/>
          <p:cNvSpPr txBox="1"/>
          <p:nvPr/>
        </p:nvSpPr>
        <p:spPr>
          <a:xfrm>
            <a:off x="478385" y="8641074"/>
            <a:ext cx="21099332" cy="1279196"/>
          </a:xfrm>
          <a:prstGeom prst="rect">
            <a:avLst/>
          </a:prstGeom>
        </p:spPr>
        <p:txBody>
          <a:bodyPr lIns="0" tIns="0" rIns="0" bIns="0" rtlCol="0" anchor="t">
            <a:spAutoFit/>
          </a:bodyPr>
          <a:lstStyle/>
          <a:p>
            <a:pPr>
              <a:lnSpc>
                <a:spcPts val="10500"/>
              </a:lnSpc>
              <a:defRPr/>
            </a:pPr>
            <a:r>
              <a:rPr kumimoji="0" lang="en-US" sz="7500" b="1" i="0" u="none" strike="noStrike" kern="1200" cap="none" spc="0" normalizeH="0" baseline="0" noProof="0" dirty="0">
                <a:ln>
                  <a:noFill/>
                </a:ln>
                <a:solidFill>
                  <a:srgbClr val="002B11"/>
                </a:solidFill>
                <a:effectLst/>
                <a:uLnTx/>
                <a:uFillTx/>
                <a:latin typeface="Poppins Black"/>
                <a:ea typeface="Poppins Bold"/>
                <a:cs typeface="Poppins Black"/>
                <a:sym typeface="Poppins Bold"/>
              </a:rPr>
              <a:t>01. </a:t>
            </a:r>
            <a:r>
              <a:rPr lang="en-US" sz="7500" b="1" dirty="0">
                <a:solidFill>
                  <a:srgbClr val="002B11"/>
                </a:solidFill>
                <a:latin typeface="Poppins Black"/>
                <a:cs typeface="Poppins Black"/>
                <a:sym typeface="Poppins Bold"/>
              </a:rPr>
              <a:t>Fraud </a:t>
            </a:r>
            <a:r>
              <a:rPr lang="en-US" sz="7500" b="1">
                <a:solidFill>
                  <a:srgbClr val="002B11"/>
                </a:solidFill>
                <a:latin typeface="Poppins Black"/>
                <a:cs typeface="Poppins Black"/>
                <a:sym typeface="Poppins Bold"/>
              </a:rPr>
              <a:t>Letters - Overview</a:t>
            </a:r>
            <a:endParaRPr lang="en-US" sz="7500" b="1" dirty="0">
              <a:solidFill>
                <a:srgbClr val="002B11"/>
              </a:solidFill>
              <a:latin typeface="Poppins Black"/>
              <a:cs typeface="Poppins Black"/>
              <a:sym typeface="Poppins Bold"/>
            </a:endParaRPr>
          </a:p>
        </p:txBody>
      </p:sp>
      <p:sp>
        <p:nvSpPr>
          <p:cNvPr id="11" name="TextBox 11"/>
          <p:cNvSpPr txBox="1"/>
          <p:nvPr/>
        </p:nvSpPr>
        <p:spPr>
          <a:xfrm>
            <a:off x="1440267" y="804806"/>
            <a:ext cx="1416248" cy="391795"/>
          </a:xfrm>
          <a:prstGeom prst="rect">
            <a:avLst/>
          </a:prstGeom>
        </p:spPr>
        <p:txBody>
          <a:bodyPr lIns="0" tIns="0" rIns="0" bIns="0" rtlCol="0" anchor="t">
            <a:spAutoFit/>
          </a:bodyPr>
          <a:lstStyle/>
          <a:p>
            <a:pPr marL="0" marR="0" lvl="0" indent="0" algn="ctr" defTabSz="914400" rtl="0" eaLnBrk="1" fontAlgn="auto" latinLnBrk="0" hangingPunct="1">
              <a:lnSpc>
                <a:spcPts val="3079"/>
              </a:lnSpc>
              <a:spcBef>
                <a:spcPts val="0"/>
              </a:spcBef>
              <a:spcAft>
                <a:spcPts val="0"/>
              </a:spcAft>
              <a:buClrTx/>
              <a:buSzTx/>
              <a:buFontTx/>
              <a:buNone/>
              <a:tabLst/>
              <a:defRPr/>
            </a:pPr>
            <a:r>
              <a:rPr kumimoji="0" lang="en-US" sz="2199" b="1" i="0" u="none" strike="noStrike" kern="1200" cap="none" spc="0" normalizeH="0" baseline="0" noProof="0" dirty="0">
                <a:ln>
                  <a:noFill/>
                </a:ln>
                <a:solidFill>
                  <a:srgbClr val="002B11"/>
                </a:solidFill>
                <a:effectLst/>
                <a:uLnTx/>
                <a:uFillTx/>
                <a:latin typeface="Poppins Black" panose="00000A00000000000000" pitchFamily="2" charset="0"/>
                <a:ea typeface="Poppins Bold"/>
                <a:cs typeface="Poppins Black" panose="00000A00000000000000" pitchFamily="2" charset="0"/>
                <a:sym typeface="Poppins Bold"/>
              </a:rPr>
              <a:t>Dubai</a:t>
            </a:r>
          </a:p>
        </p:txBody>
      </p:sp>
      <p:grpSp>
        <p:nvGrpSpPr>
          <p:cNvPr id="12" name="Group 12"/>
          <p:cNvGrpSpPr/>
          <p:nvPr/>
        </p:nvGrpSpPr>
        <p:grpSpPr>
          <a:xfrm>
            <a:off x="14869769" y="660457"/>
            <a:ext cx="2354131" cy="449905"/>
            <a:chOff x="0" y="0"/>
            <a:chExt cx="3138841" cy="599873"/>
          </a:xfrm>
        </p:grpSpPr>
        <p:grpSp>
          <p:nvGrpSpPr>
            <p:cNvPr id="13" name="Group 13"/>
            <p:cNvGrpSpPr/>
            <p:nvPr/>
          </p:nvGrpSpPr>
          <p:grpSpPr>
            <a:xfrm>
              <a:off x="0" y="9544"/>
              <a:ext cx="590328" cy="590328"/>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B11"/>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Box 15"/>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6" name="Group 16"/>
            <p:cNvGrpSpPr/>
            <p:nvPr/>
          </p:nvGrpSpPr>
          <p:grpSpPr>
            <a:xfrm>
              <a:off x="634797" y="9544"/>
              <a:ext cx="590328" cy="590328"/>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B11"/>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8" name="TextBox 18"/>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9" name="Group 19"/>
            <p:cNvGrpSpPr/>
            <p:nvPr/>
          </p:nvGrpSpPr>
          <p:grpSpPr>
            <a:xfrm>
              <a:off x="1275925" y="9544"/>
              <a:ext cx="590328" cy="590328"/>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B11"/>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Box 21"/>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2" name="Group 22"/>
            <p:cNvGrpSpPr/>
            <p:nvPr/>
          </p:nvGrpSpPr>
          <p:grpSpPr>
            <a:xfrm>
              <a:off x="1917053" y="0"/>
              <a:ext cx="590328" cy="590328"/>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B11"/>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4" name="TextBox 24"/>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5" name="Group 25"/>
            <p:cNvGrpSpPr/>
            <p:nvPr/>
          </p:nvGrpSpPr>
          <p:grpSpPr>
            <a:xfrm>
              <a:off x="2548513" y="9544"/>
              <a:ext cx="590328" cy="590328"/>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B11"/>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TextBox 27"/>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Tree>
    <p:extLst>
      <p:ext uri="{BB962C8B-B14F-4D97-AF65-F5344CB8AC3E}">
        <p14:creationId xmlns:p14="http://schemas.microsoft.com/office/powerpoint/2010/main" val="4178775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1236166" y="6792688"/>
            <a:ext cx="7907834" cy="2726871"/>
            <a:chOff x="0" y="0"/>
            <a:chExt cx="1757116" cy="812800"/>
          </a:xfrm>
        </p:grpSpPr>
        <p:sp>
          <p:nvSpPr>
            <p:cNvPr id="4" name="Freeform 4"/>
            <p:cNvSpPr/>
            <p:nvPr/>
          </p:nvSpPr>
          <p:spPr>
            <a:xfrm>
              <a:off x="0" y="0"/>
              <a:ext cx="1757116" cy="812800"/>
            </a:xfrm>
            <a:custGeom>
              <a:avLst/>
              <a:gdLst/>
              <a:ahLst/>
              <a:cxnLst/>
              <a:rect l="l" t="t" r="r" b="b"/>
              <a:pathLst>
                <a:path w="1757116" h="812800">
                  <a:moveTo>
                    <a:pt x="59182" y="0"/>
                  </a:moveTo>
                  <a:lnTo>
                    <a:pt x="1697934" y="0"/>
                  </a:lnTo>
                  <a:cubicBezTo>
                    <a:pt x="1713630" y="0"/>
                    <a:pt x="1728683" y="6235"/>
                    <a:pt x="1739782" y="17334"/>
                  </a:cubicBezTo>
                  <a:cubicBezTo>
                    <a:pt x="1750881" y="28433"/>
                    <a:pt x="1757116" y="43486"/>
                    <a:pt x="1757116" y="59182"/>
                  </a:cubicBezTo>
                  <a:lnTo>
                    <a:pt x="1757116" y="753618"/>
                  </a:lnTo>
                  <a:cubicBezTo>
                    <a:pt x="1757116" y="786303"/>
                    <a:pt x="1730620" y="812800"/>
                    <a:pt x="1697934" y="812800"/>
                  </a:cubicBezTo>
                  <a:lnTo>
                    <a:pt x="59182" y="812800"/>
                  </a:lnTo>
                  <a:cubicBezTo>
                    <a:pt x="43486" y="812800"/>
                    <a:pt x="28433" y="806565"/>
                    <a:pt x="17334" y="795466"/>
                  </a:cubicBezTo>
                  <a:cubicBezTo>
                    <a:pt x="6235" y="784367"/>
                    <a:pt x="0" y="769314"/>
                    <a:pt x="0" y="753618"/>
                  </a:cubicBezTo>
                  <a:lnTo>
                    <a:pt x="0" y="59182"/>
                  </a:lnTo>
                  <a:cubicBezTo>
                    <a:pt x="0" y="43486"/>
                    <a:pt x="6235" y="28433"/>
                    <a:pt x="17334" y="17334"/>
                  </a:cubicBezTo>
                  <a:cubicBezTo>
                    <a:pt x="28433" y="6235"/>
                    <a:pt x="43486" y="0"/>
                    <a:pt x="59182" y="0"/>
                  </a:cubicBezTo>
                  <a:close/>
                </a:path>
              </a:pathLst>
            </a:custGeom>
            <a:solidFill>
              <a:srgbClr val="002B11"/>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TextBox 5"/>
            <p:cNvSpPr txBox="1"/>
            <p:nvPr/>
          </p:nvSpPr>
          <p:spPr>
            <a:xfrm>
              <a:off x="0" y="-57150"/>
              <a:ext cx="1757116" cy="869950"/>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 name="Freeform 6"/>
          <p:cNvSpPr/>
          <p:nvPr/>
        </p:nvSpPr>
        <p:spPr>
          <a:xfrm>
            <a:off x="1613042" y="7040900"/>
            <a:ext cx="1829607" cy="1732028"/>
          </a:xfrm>
          <a:custGeom>
            <a:avLst/>
            <a:gdLst/>
            <a:ahLst/>
            <a:cxnLst/>
            <a:rect l="l" t="t" r="r" b="b"/>
            <a:pathLst>
              <a:path w="2439476" h="2309370">
                <a:moveTo>
                  <a:pt x="0" y="0"/>
                </a:moveTo>
                <a:lnTo>
                  <a:pt x="2439476" y="0"/>
                </a:lnTo>
                <a:lnTo>
                  <a:pt x="2439476" y="2309370"/>
                </a:lnTo>
                <a:lnTo>
                  <a:pt x="0" y="230937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7" name="Group 7"/>
          <p:cNvGrpSpPr/>
          <p:nvPr/>
        </p:nvGrpSpPr>
        <p:grpSpPr>
          <a:xfrm>
            <a:off x="4064092" y="6946935"/>
            <a:ext cx="4714147" cy="2371571"/>
            <a:chOff x="0" y="0"/>
            <a:chExt cx="899280" cy="706895"/>
          </a:xfrm>
        </p:grpSpPr>
        <p:sp>
          <p:nvSpPr>
            <p:cNvPr id="8" name="Freeform 8"/>
            <p:cNvSpPr/>
            <p:nvPr/>
          </p:nvSpPr>
          <p:spPr>
            <a:xfrm>
              <a:off x="0" y="0"/>
              <a:ext cx="899280" cy="706895"/>
            </a:xfrm>
            <a:custGeom>
              <a:avLst/>
              <a:gdLst/>
              <a:ahLst/>
              <a:cxnLst/>
              <a:rect l="l" t="t" r="r" b="b"/>
              <a:pathLst>
                <a:path w="899280" h="706895">
                  <a:moveTo>
                    <a:pt x="115637" y="0"/>
                  </a:moveTo>
                  <a:lnTo>
                    <a:pt x="783642" y="0"/>
                  </a:lnTo>
                  <a:cubicBezTo>
                    <a:pt x="814311" y="0"/>
                    <a:pt x="843724" y="12183"/>
                    <a:pt x="865410" y="33869"/>
                  </a:cubicBezTo>
                  <a:cubicBezTo>
                    <a:pt x="887096" y="55556"/>
                    <a:pt x="899280" y="84968"/>
                    <a:pt x="899280" y="115637"/>
                  </a:cubicBezTo>
                  <a:lnTo>
                    <a:pt x="899280" y="591258"/>
                  </a:lnTo>
                  <a:cubicBezTo>
                    <a:pt x="899280" y="655123"/>
                    <a:pt x="847507" y="706895"/>
                    <a:pt x="783642" y="706895"/>
                  </a:cubicBezTo>
                  <a:lnTo>
                    <a:pt x="115637" y="706895"/>
                  </a:lnTo>
                  <a:cubicBezTo>
                    <a:pt x="84968" y="706895"/>
                    <a:pt x="55556" y="694712"/>
                    <a:pt x="33869" y="673026"/>
                  </a:cubicBezTo>
                  <a:cubicBezTo>
                    <a:pt x="12183" y="651340"/>
                    <a:pt x="0" y="621927"/>
                    <a:pt x="0" y="591258"/>
                  </a:cubicBezTo>
                  <a:lnTo>
                    <a:pt x="0" y="115637"/>
                  </a:lnTo>
                  <a:cubicBezTo>
                    <a:pt x="0" y="51773"/>
                    <a:pt x="51773" y="0"/>
                    <a:pt x="115637"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Box 9"/>
            <p:cNvSpPr txBox="1"/>
            <p:nvPr/>
          </p:nvSpPr>
          <p:spPr>
            <a:xfrm>
              <a:off x="0" y="-57150"/>
              <a:ext cx="899280" cy="764045"/>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0" name="TextBox 10"/>
          <p:cNvSpPr txBox="1"/>
          <p:nvPr/>
        </p:nvSpPr>
        <p:spPr>
          <a:xfrm>
            <a:off x="4337908" y="7868014"/>
            <a:ext cx="4179235" cy="1266885"/>
          </a:xfrm>
          <a:prstGeom prst="rect">
            <a:avLst/>
          </a:prstGeom>
        </p:spPr>
        <p:txBody>
          <a:bodyPr wrap="square" lIns="0" tIns="0" rIns="0" bIns="0" rtlCol="0" anchor="t">
            <a:spAutoFit/>
          </a:bodyPr>
          <a:lstStyle/>
          <a:p>
            <a:pPr marL="0" marR="0" lvl="0" indent="0" algn="ctr" defTabSz="914400" rtl="0" eaLnBrk="1" fontAlgn="auto" latinLnBrk="0" hangingPunct="1">
              <a:lnSpc>
                <a:spcPts val="2520"/>
              </a:lnSpc>
              <a:spcBef>
                <a:spcPct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Poppins"/>
                <a:ea typeface="Poppins"/>
                <a:cs typeface="Poppins"/>
                <a:sym typeface="Poppins"/>
              </a:rPr>
              <a:t>Restricted strictly to the Fraud Support team for mitigating platform risk and documenting user</a:t>
            </a:r>
          </a:p>
          <a:p>
            <a:pPr marL="0" marR="0" lvl="0" indent="0" algn="ctr" defTabSz="914400" rtl="0" eaLnBrk="1" fontAlgn="auto" latinLnBrk="0" hangingPunct="1">
              <a:lnSpc>
                <a:spcPts val="2520"/>
              </a:lnSpc>
              <a:spcBef>
                <a:spcPct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Poppins"/>
                <a:ea typeface="Poppins"/>
                <a:cs typeface="Poppins"/>
                <a:sym typeface="Poppins"/>
              </a:rPr>
              <a:t> non-compliance.</a:t>
            </a:r>
          </a:p>
        </p:txBody>
      </p:sp>
      <p:sp>
        <p:nvSpPr>
          <p:cNvPr id="11" name="TextBox 11"/>
          <p:cNvSpPr txBox="1"/>
          <p:nvPr/>
        </p:nvSpPr>
        <p:spPr>
          <a:xfrm>
            <a:off x="4828444" y="7292317"/>
            <a:ext cx="3207263" cy="311468"/>
          </a:xfrm>
          <a:prstGeom prst="rect">
            <a:avLst/>
          </a:prstGeom>
        </p:spPr>
        <p:txBody>
          <a:bodyPr lIns="0" tIns="0" rIns="0" bIns="0" rtlCol="0" anchor="t">
            <a:spAutoFit/>
          </a:bodyPr>
          <a:lstStyle/>
          <a:p>
            <a:pPr marL="0" marR="0" lvl="0" indent="0" algn="ctr" defTabSz="914400" rtl="0" eaLnBrk="1" fontAlgn="auto" latinLnBrk="0" hangingPunct="1">
              <a:lnSpc>
                <a:spcPts val="2520"/>
              </a:lnSpc>
              <a:spcBef>
                <a:spcPct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Poppins Bold"/>
                <a:ea typeface="Poppins Bold"/>
                <a:cs typeface="Poppins Bold"/>
                <a:sym typeface="Poppins Bold"/>
              </a:rPr>
              <a:t>Target Audience</a:t>
            </a:r>
          </a:p>
        </p:txBody>
      </p:sp>
      <p:sp>
        <p:nvSpPr>
          <p:cNvPr id="12" name="Freeform 12"/>
          <p:cNvSpPr/>
          <p:nvPr/>
        </p:nvSpPr>
        <p:spPr>
          <a:xfrm>
            <a:off x="11040821" y="-540942"/>
            <a:ext cx="9701447" cy="11368883"/>
          </a:xfrm>
          <a:custGeom>
            <a:avLst/>
            <a:gdLst/>
            <a:ahLst/>
            <a:cxnLst/>
            <a:rect l="l" t="t" r="r" b="b"/>
            <a:pathLst>
              <a:path w="9701447" h="11368883">
                <a:moveTo>
                  <a:pt x="0" y="0"/>
                </a:moveTo>
                <a:lnTo>
                  <a:pt x="9701447" y="0"/>
                </a:lnTo>
                <a:lnTo>
                  <a:pt x="9701447" y="11368884"/>
                </a:lnTo>
                <a:lnTo>
                  <a:pt x="0" y="113688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3" name="Group 13"/>
          <p:cNvGrpSpPr/>
          <p:nvPr/>
        </p:nvGrpSpPr>
        <p:grpSpPr>
          <a:xfrm>
            <a:off x="11521490" y="2293603"/>
            <a:ext cx="5421647" cy="5421647"/>
            <a:chOff x="0" y="0"/>
            <a:chExt cx="1427923" cy="1427923"/>
          </a:xfrm>
          <a:effectLst>
            <a:outerShdw blurRad="50800" dist="38100" dir="5400000" algn="t" rotWithShape="0">
              <a:prstClr val="black">
                <a:alpha val="40000"/>
              </a:prstClr>
            </a:outerShdw>
          </a:effectLst>
        </p:grpSpPr>
        <p:sp>
          <p:nvSpPr>
            <p:cNvPr id="14" name="Freeform 14"/>
            <p:cNvSpPr/>
            <p:nvPr/>
          </p:nvSpPr>
          <p:spPr>
            <a:xfrm>
              <a:off x="0" y="0"/>
              <a:ext cx="1427923" cy="1427923"/>
            </a:xfrm>
            <a:custGeom>
              <a:avLst/>
              <a:gdLst/>
              <a:ahLst/>
              <a:cxnLst/>
              <a:rect l="l" t="t" r="r" b="b"/>
              <a:pathLst>
                <a:path w="1427923" h="1427923">
                  <a:moveTo>
                    <a:pt x="72826" y="0"/>
                  </a:moveTo>
                  <a:lnTo>
                    <a:pt x="1355097" y="0"/>
                  </a:lnTo>
                  <a:cubicBezTo>
                    <a:pt x="1374412" y="0"/>
                    <a:pt x="1392936" y="7673"/>
                    <a:pt x="1406593" y="21330"/>
                  </a:cubicBezTo>
                  <a:cubicBezTo>
                    <a:pt x="1420251" y="34988"/>
                    <a:pt x="1427923" y="53511"/>
                    <a:pt x="1427923" y="72826"/>
                  </a:cubicBezTo>
                  <a:lnTo>
                    <a:pt x="1427923" y="1355097"/>
                  </a:lnTo>
                  <a:cubicBezTo>
                    <a:pt x="1427923" y="1395318"/>
                    <a:pt x="1395318" y="1427923"/>
                    <a:pt x="1355097" y="1427923"/>
                  </a:cubicBezTo>
                  <a:lnTo>
                    <a:pt x="72826" y="1427923"/>
                  </a:lnTo>
                  <a:cubicBezTo>
                    <a:pt x="32605" y="1427923"/>
                    <a:pt x="0" y="1395318"/>
                    <a:pt x="0" y="1355097"/>
                  </a:cubicBezTo>
                  <a:lnTo>
                    <a:pt x="0" y="72826"/>
                  </a:lnTo>
                  <a:cubicBezTo>
                    <a:pt x="0" y="32605"/>
                    <a:pt x="32605" y="0"/>
                    <a:pt x="72826"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Box 15"/>
            <p:cNvSpPr txBox="1"/>
            <p:nvPr/>
          </p:nvSpPr>
          <p:spPr>
            <a:xfrm>
              <a:off x="0" y="-57150"/>
              <a:ext cx="1427923" cy="1485073"/>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6" name="TextBox 16"/>
          <p:cNvSpPr txBox="1"/>
          <p:nvPr/>
        </p:nvSpPr>
        <p:spPr>
          <a:xfrm>
            <a:off x="1028700" y="885825"/>
            <a:ext cx="9144000" cy="934720"/>
          </a:xfrm>
          <a:prstGeom prst="rect">
            <a:avLst/>
          </a:prstGeom>
        </p:spPr>
        <p:txBody>
          <a:bodyPr lIns="0" tIns="0" rIns="0" bIns="0" rtlCol="0" anchor="t">
            <a:spAutoFit/>
          </a:bodyPr>
          <a:lstStyle/>
          <a:p>
            <a:pPr marL="0" marR="0" lvl="0" indent="0" algn="l" defTabSz="914400" rtl="0" eaLnBrk="1" fontAlgn="auto" latinLnBrk="0" hangingPunct="1">
              <a:lnSpc>
                <a:spcPts val="7279"/>
              </a:lnSpc>
              <a:spcBef>
                <a:spcPct val="0"/>
              </a:spcBef>
              <a:spcAft>
                <a:spcPts val="0"/>
              </a:spcAft>
              <a:buClrTx/>
              <a:buSzTx/>
              <a:buFontTx/>
              <a:buNone/>
              <a:tabLst/>
              <a:defRPr/>
            </a:pPr>
            <a:r>
              <a:rPr kumimoji="0" lang="en-US" sz="5199" b="1" i="0" u="none" strike="noStrike" kern="1200" cap="none" spc="0" normalizeH="0" baseline="0" noProof="0">
                <a:ln>
                  <a:noFill/>
                </a:ln>
                <a:solidFill>
                  <a:srgbClr val="000000"/>
                </a:solidFill>
                <a:effectLst/>
                <a:uLnTx/>
                <a:uFillTx/>
                <a:latin typeface="Poppins Bold"/>
                <a:ea typeface="Poppins Bold"/>
                <a:cs typeface="Poppins Bold"/>
                <a:sym typeface="Poppins Bold"/>
              </a:rPr>
              <a:t>Fraud Letters Overview</a:t>
            </a:r>
          </a:p>
        </p:txBody>
      </p:sp>
      <p:sp>
        <p:nvSpPr>
          <p:cNvPr id="17" name="TextBox 17"/>
          <p:cNvSpPr txBox="1"/>
          <p:nvPr/>
        </p:nvSpPr>
        <p:spPr>
          <a:xfrm>
            <a:off x="1028700" y="2933445"/>
            <a:ext cx="9786818" cy="782320"/>
          </a:xfrm>
          <a:prstGeom prst="rect">
            <a:avLst/>
          </a:prstGeom>
        </p:spPr>
        <p:txBody>
          <a:bodyPr lIns="0" tIns="0" rIns="0" bIns="0" rtlCol="0" anchor="t">
            <a:spAutoFit/>
          </a:bodyPr>
          <a:lstStyle/>
          <a:p>
            <a:pPr marL="0" marR="0" lvl="0" indent="0" algn="l" defTabSz="914400" rtl="0" eaLnBrk="1" fontAlgn="auto" latinLnBrk="0" hangingPunct="1">
              <a:lnSpc>
                <a:spcPts val="3079"/>
              </a:lnSpc>
              <a:spcBef>
                <a:spcPct val="0"/>
              </a:spcBef>
              <a:spcAft>
                <a:spcPts val="0"/>
              </a:spcAft>
              <a:buClrTx/>
              <a:buSzTx/>
              <a:buFontTx/>
              <a:buNone/>
              <a:tabLst/>
              <a:defRPr/>
            </a:pPr>
            <a:r>
              <a:rPr kumimoji="0" lang="en-US" sz="2199" b="0" i="0" u="none" strike="noStrike" kern="1200" cap="none" spc="0" normalizeH="0" baseline="0" noProof="0" dirty="0">
                <a:ln>
                  <a:noFill/>
                </a:ln>
                <a:solidFill>
                  <a:srgbClr val="000000"/>
                </a:solidFill>
                <a:effectLst/>
                <a:uLnTx/>
                <a:uFillTx/>
                <a:latin typeface="Poppins"/>
                <a:ea typeface="Poppins"/>
                <a:cs typeface="Poppins"/>
                <a:sym typeface="Poppins"/>
              </a:rPr>
              <a:t>Operational framework for handling Warning Letters (WL) and Fraud Letters (FL) within the Fraud Support Line of Business (LOB)</a:t>
            </a:r>
          </a:p>
        </p:txBody>
      </p:sp>
      <p:sp>
        <p:nvSpPr>
          <p:cNvPr id="18" name="TextBox 18"/>
          <p:cNvSpPr txBox="1"/>
          <p:nvPr/>
        </p:nvSpPr>
        <p:spPr>
          <a:xfrm>
            <a:off x="927331" y="2209847"/>
            <a:ext cx="1750516" cy="477086"/>
          </a:xfrm>
          <a:prstGeom prst="rect">
            <a:avLst/>
          </a:prstGeom>
        </p:spPr>
        <p:txBody>
          <a:bodyPr wrap="square" lIns="0" tIns="0" rIns="0" bIns="0" rtlCol="0" anchor="t">
            <a:spAutoFit/>
          </a:bodyPr>
          <a:lstStyle/>
          <a:p>
            <a:pPr marL="0" marR="0" lvl="0" indent="0" algn="ctr" defTabSz="914400" rtl="0" eaLnBrk="1" fontAlgn="auto" latinLnBrk="0" hangingPunct="1">
              <a:lnSpc>
                <a:spcPts val="3919"/>
              </a:lnSpc>
              <a:spcBef>
                <a:spcPct val="0"/>
              </a:spcBef>
              <a:spcAft>
                <a:spcPts val="0"/>
              </a:spcAft>
              <a:buClrTx/>
              <a:buSzTx/>
              <a:buFontTx/>
              <a:buNone/>
              <a:tabLst/>
              <a:defRPr/>
            </a:pPr>
            <a:r>
              <a:rPr kumimoji="0" lang="en-US" sz="2799" b="1" i="0" u="none" strike="noStrike" kern="1200" cap="none" spc="0" normalizeH="0" baseline="0" noProof="0" dirty="0">
                <a:ln>
                  <a:noFill/>
                </a:ln>
                <a:solidFill>
                  <a:srgbClr val="000000"/>
                </a:solidFill>
                <a:effectLst/>
                <a:uLnTx/>
                <a:uFillTx/>
                <a:latin typeface="Poppins Bold"/>
                <a:ea typeface="Poppins Bold"/>
                <a:cs typeface="Poppins Bold"/>
                <a:sym typeface="Poppins Bold"/>
              </a:rPr>
              <a:t>Purpose</a:t>
            </a:r>
          </a:p>
        </p:txBody>
      </p:sp>
      <p:sp>
        <p:nvSpPr>
          <p:cNvPr id="19" name="TextBox 19"/>
          <p:cNvSpPr txBox="1"/>
          <p:nvPr/>
        </p:nvSpPr>
        <p:spPr>
          <a:xfrm>
            <a:off x="1003509" y="4810798"/>
            <a:ext cx="1750516" cy="509905"/>
          </a:xfrm>
          <a:prstGeom prst="rect">
            <a:avLst/>
          </a:prstGeom>
        </p:spPr>
        <p:txBody>
          <a:bodyPr lIns="0" tIns="0" rIns="0" bIns="0" rtlCol="0" anchor="t">
            <a:spAutoFit/>
          </a:bodyPr>
          <a:lstStyle/>
          <a:p>
            <a:pPr marL="0" marR="0" lvl="0" indent="0" algn="ctr" defTabSz="914400" rtl="0" eaLnBrk="1" fontAlgn="auto" latinLnBrk="0" hangingPunct="1">
              <a:lnSpc>
                <a:spcPts val="3919"/>
              </a:lnSpc>
              <a:spcBef>
                <a:spcPct val="0"/>
              </a:spcBef>
              <a:spcAft>
                <a:spcPts val="0"/>
              </a:spcAft>
              <a:buClrTx/>
              <a:buSzTx/>
              <a:buFontTx/>
              <a:buNone/>
              <a:tabLst/>
              <a:defRPr/>
            </a:pPr>
            <a:r>
              <a:rPr kumimoji="0" lang="en-US" sz="2799" b="1" i="0" u="none" strike="noStrike" kern="1200" cap="none" spc="0" normalizeH="0" baseline="0" noProof="0">
                <a:ln>
                  <a:noFill/>
                </a:ln>
                <a:solidFill>
                  <a:srgbClr val="000000"/>
                </a:solidFill>
                <a:effectLst/>
                <a:uLnTx/>
                <a:uFillTx/>
                <a:latin typeface="Poppins Bold"/>
                <a:ea typeface="Poppins Bold"/>
                <a:cs typeface="Poppins Bold"/>
                <a:sym typeface="Poppins Bold"/>
              </a:rPr>
              <a:t>Objective</a:t>
            </a:r>
          </a:p>
        </p:txBody>
      </p:sp>
      <p:sp>
        <p:nvSpPr>
          <p:cNvPr id="20" name="TextBox 20"/>
          <p:cNvSpPr txBox="1"/>
          <p:nvPr/>
        </p:nvSpPr>
        <p:spPr>
          <a:xfrm>
            <a:off x="1003509" y="5635028"/>
            <a:ext cx="9485238" cy="782320"/>
          </a:xfrm>
          <a:prstGeom prst="rect">
            <a:avLst/>
          </a:prstGeom>
        </p:spPr>
        <p:txBody>
          <a:bodyPr lIns="0" tIns="0" rIns="0" bIns="0" rtlCol="0" anchor="t">
            <a:spAutoFit/>
          </a:bodyPr>
          <a:lstStyle/>
          <a:p>
            <a:pPr marL="0" marR="0" lvl="0" indent="0" algn="l" defTabSz="914400" rtl="0" eaLnBrk="1" fontAlgn="auto" latinLnBrk="0" hangingPunct="1">
              <a:lnSpc>
                <a:spcPts val="3079"/>
              </a:lnSpc>
              <a:spcBef>
                <a:spcPct val="0"/>
              </a:spcBef>
              <a:spcAft>
                <a:spcPts val="0"/>
              </a:spcAft>
              <a:buClrTx/>
              <a:buSzTx/>
              <a:buFontTx/>
              <a:buNone/>
              <a:tabLst/>
              <a:defRPr/>
            </a:pPr>
            <a:r>
              <a:rPr kumimoji="0" lang="en-US" sz="2199" b="0" i="0" u="none" strike="noStrike" kern="1200" cap="none" spc="0" normalizeH="0" baseline="0" noProof="0" dirty="0">
                <a:ln>
                  <a:noFill/>
                </a:ln>
                <a:solidFill>
                  <a:srgbClr val="000000"/>
                </a:solidFill>
                <a:effectLst/>
                <a:uLnTx/>
                <a:uFillTx/>
                <a:latin typeface="Poppins"/>
                <a:ea typeface="Poppins"/>
                <a:cs typeface="Poppins"/>
                <a:sym typeface="Poppins"/>
              </a:rPr>
              <a:t>Train agents to understand why these letters are generated, how they are sent, and the strict rules governing their retransmission</a:t>
            </a:r>
          </a:p>
        </p:txBody>
      </p:sp>
      <p:sp>
        <p:nvSpPr>
          <p:cNvPr id="21" name="Freeform 21"/>
          <p:cNvSpPr/>
          <p:nvPr/>
        </p:nvSpPr>
        <p:spPr>
          <a:xfrm>
            <a:off x="12061223" y="3074390"/>
            <a:ext cx="4342180" cy="4342180"/>
          </a:xfrm>
          <a:custGeom>
            <a:avLst/>
            <a:gdLst/>
            <a:ahLst/>
            <a:cxnLst/>
            <a:rect l="l" t="t" r="r" b="b"/>
            <a:pathLst>
              <a:path w="4342180" h="4342180">
                <a:moveTo>
                  <a:pt x="0" y="0"/>
                </a:moveTo>
                <a:lnTo>
                  <a:pt x="4342181" y="0"/>
                </a:lnTo>
                <a:lnTo>
                  <a:pt x="4342181" y="4342180"/>
                </a:lnTo>
                <a:lnTo>
                  <a:pt x="0" y="434218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TextBox 22">
            <a:extLst>
              <a:ext uri="{FF2B5EF4-FFF2-40B4-BE49-F238E27FC236}">
                <a16:creationId xmlns:a16="http://schemas.microsoft.com/office/drawing/2014/main" id="{8520FEC8-CD3F-3C00-AA89-00F0780550FB}"/>
              </a:ext>
            </a:extLst>
          </p:cNvPr>
          <p:cNvSpPr txBox="1"/>
          <p:nvPr/>
        </p:nvSpPr>
        <p:spPr>
          <a:xfrm>
            <a:off x="600001" y="9661690"/>
            <a:ext cx="10000001" cy="307777"/>
          </a:xfrm>
          <a:prstGeom prst="rect">
            <a:avLst/>
          </a:prstGeom>
          <a:noFill/>
        </p:spPr>
        <p:txBody>
          <a:bodyPr wrap="square" anchor="t">
            <a:spAutoFit/>
          </a:bodyPr>
          <a:lstStyle/>
          <a:p>
            <a:pPr defTabSz="914445"/>
            <a:r>
              <a:rPr sz="1400" dirty="0">
                <a:solidFill>
                  <a:srgbClr val="8A8272"/>
                </a:solidFill>
                <a:latin typeface="Poppins"/>
              </a:rPr>
              <a:t>T</a:t>
            </a:r>
            <a:r>
              <a:rPr lang="en-US" sz="1400" dirty="0">
                <a:solidFill>
                  <a:srgbClr val="8A8272"/>
                </a:solidFill>
                <a:latin typeface="Poppins"/>
              </a:rPr>
              <a:t>ripadvisor</a:t>
            </a:r>
            <a:r>
              <a:rPr sz="1400" dirty="0">
                <a:solidFill>
                  <a:srgbClr val="8A8272"/>
                </a:solidFill>
                <a:latin typeface="Poppins"/>
              </a:rPr>
              <a:t> / F</a:t>
            </a:r>
            <a:r>
              <a:rPr lang="en-US" sz="1400" dirty="0">
                <a:solidFill>
                  <a:srgbClr val="8A8272"/>
                </a:solidFill>
                <a:latin typeface="Poppins"/>
              </a:rPr>
              <a:t>raud letters</a:t>
            </a:r>
            <a:endParaRPr sz="1400" dirty="0">
              <a:solidFill>
                <a:srgbClr val="8A8272"/>
              </a:solidFill>
              <a:latin typeface="Poppins"/>
            </a:endParaRPr>
          </a:p>
        </p:txBody>
      </p:sp>
    </p:spTree>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703B02A7-4429-E3F6-1AD5-70B5C396BDA4}"/>
              </a:ext>
            </a:extLst>
          </p:cNvPr>
          <p:cNvGraphicFramePr>
            <a:graphicFrameLocks noGrp="1"/>
          </p:cNvGraphicFramePr>
          <p:nvPr>
            <p:extLst>
              <p:ext uri="{D42A27DB-BD31-4B8C-83A1-F6EECF244321}">
                <p14:modId xmlns:p14="http://schemas.microsoft.com/office/powerpoint/2010/main" val="818735861"/>
              </p:ext>
            </p:extLst>
          </p:nvPr>
        </p:nvGraphicFramePr>
        <p:xfrm>
          <a:off x="1813015" y="1837608"/>
          <a:ext cx="14661970" cy="7275794"/>
        </p:xfrm>
        <a:graphic>
          <a:graphicData uri="http://schemas.openxmlformats.org/drawingml/2006/table">
            <a:tbl>
              <a:tblPr firstRow="1" bandRow="1">
                <a:tableStyleId>{10A1B5D5-9B99-4C35-A422-299274C87663}</a:tableStyleId>
              </a:tblPr>
              <a:tblGrid>
                <a:gridCol w="4854914">
                  <a:extLst>
                    <a:ext uri="{9D8B030D-6E8A-4147-A177-3AD203B41FA5}">
                      <a16:colId xmlns:a16="http://schemas.microsoft.com/office/drawing/2014/main" val="970231114"/>
                    </a:ext>
                  </a:extLst>
                </a:gridCol>
                <a:gridCol w="4854914">
                  <a:extLst>
                    <a:ext uri="{9D8B030D-6E8A-4147-A177-3AD203B41FA5}">
                      <a16:colId xmlns:a16="http://schemas.microsoft.com/office/drawing/2014/main" val="2091343335"/>
                    </a:ext>
                  </a:extLst>
                </a:gridCol>
                <a:gridCol w="4952142">
                  <a:extLst>
                    <a:ext uri="{9D8B030D-6E8A-4147-A177-3AD203B41FA5}">
                      <a16:colId xmlns:a16="http://schemas.microsoft.com/office/drawing/2014/main" val="1505063829"/>
                    </a:ext>
                  </a:extLst>
                </a:gridCol>
              </a:tblGrid>
              <a:tr h="593271">
                <a:tc>
                  <a:txBody>
                    <a:bodyPr/>
                    <a:lstStyle/>
                    <a:p>
                      <a:pPr algn="ctr"/>
                      <a:r>
                        <a:rPr lang="en-US" sz="2800" b="1" u="none" strike="noStrike" kern="1200" dirty="0">
                          <a:solidFill>
                            <a:schemeClr val="lt1"/>
                          </a:solidFill>
                          <a:effectLst/>
                          <a:latin typeface="Poppins" panose="00000500000000000000" pitchFamily="2" charset="0"/>
                          <a:cs typeface="Poppins" panose="00000500000000000000" pitchFamily="2" charset="0"/>
                        </a:rPr>
                        <a:t>Feature Pointer</a:t>
                      </a:r>
                      <a:endParaRPr lang="en-US" sz="2800" dirty="0">
                        <a:latin typeface="Poppins" panose="00000500000000000000" pitchFamily="2" charset="0"/>
                        <a:cs typeface="Poppins"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u="none" strike="noStrike" kern="1200" dirty="0">
                          <a:solidFill>
                            <a:schemeClr val="lt1"/>
                          </a:solidFill>
                          <a:effectLst/>
                          <a:latin typeface="Poppins" panose="00000500000000000000" pitchFamily="2" charset="0"/>
                          <a:cs typeface="Poppins" panose="00000500000000000000" pitchFamily="2" charset="0"/>
                        </a:rPr>
                        <a:t>Warning Letter (WL)</a:t>
                      </a:r>
                      <a:endParaRPr lang="en-US" sz="2800" dirty="0">
                        <a:latin typeface="Poppins" panose="00000500000000000000" pitchFamily="2" charset="0"/>
                        <a:cs typeface="Poppins"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u="none" strike="noStrike" kern="1200" dirty="0">
                          <a:solidFill>
                            <a:schemeClr val="lt1"/>
                          </a:solidFill>
                          <a:effectLst/>
                          <a:latin typeface="Poppins" panose="00000500000000000000" pitchFamily="2" charset="0"/>
                          <a:cs typeface="Poppins" panose="00000500000000000000" pitchFamily="2" charset="0"/>
                        </a:rPr>
                        <a:t>Fraud Letter (FL)</a:t>
                      </a:r>
                      <a:endParaRPr lang="en-US" sz="2800" dirty="0">
                        <a:latin typeface="Poppins" panose="00000500000000000000" pitchFamily="2" charset="0"/>
                        <a:cs typeface="Poppins"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2706160"/>
                  </a:ext>
                </a:extLst>
              </a:tr>
              <a:tr h="583857">
                <a:tc>
                  <a:txBody>
                    <a:bodyPr/>
                    <a:lstStyle/>
                    <a:p>
                      <a:pPr algn="l"/>
                      <a:r>
                        <a:rPr lang="en-US" sz="2200" b="1" u="none" strike="noStrike" kern="1200" dirty="0">
                          <a:solidFill>
                            <a:schemeClr val="dk1"/>
                          </a:solidFill>
                          <a:effectLst/>
                          <a:latin typeface="Poppins" panose="00000500000000000000" pitchFamily="2" charset="0"/>
                          <a:cs typeface="Poppins" panose="00000500000000000000" pitchFamily="2" charset="0"/>
                        </a:rPr>
                        <a:t>Alternative Names</a:t>
                      </a:r>
                      <a:endParaRPr lang="en-US" sz="2200" dirty="0">
                        <a:latin typeface="Poppins" panose="00000500000000000000" pitchFamily="2" charset="0"/>
                        <a:cs typeface="Poppins"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200" b="0" u="none" strike="noStrike" kern="1200" dirty="0">
                          <a:solidFill>
                            <a:schemeClr val="dk1"/>
                          </a:solidFill>
                          <a:effectLst/>
                          <a:latin typeface="Poppins" panose="00000500000000000000" pitchFamily="2" charset="0"/>
                          <a:cs typeface="Poppins" panose="00000500000000000000" pitchFamily="2" charset="0"/>
                        </a:rPr>
                        <a:t>Suspicious Notic</a:t>
                      </a:r>
                      <a:endParaRPr lang="en-US" sz="2200" dirty="0">
                        <a:latin typeface="Poppins" panose="00000500000000000000" pitchFamily="2" charset="0"/>
                        <a:cs typeface="Poppins"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200" b="0" kern="1200" dirty="0">
                          <a:solidFill>
                            <a:schemeClr val="dk1"/>
                          </a:solidFill>
                          <a:effectLst/>
                          <a:latin typeface="Poppins" panose="00000500000000000000" pitchFamily="2" charset="0"/>
                          <a:cs typeface="Poppins" panose="00000500000000000000" pitchFamily="2" charset="0"/>
                        </a:rPr>
                        <a:t>Official Notification Letter</a:t>
                      </a:r>
                      <a:endParaRPr lang="en-US" sz="2200" dirty="0">
                        <a:latin typeface="Poppins" panose="00000500000000000000" pitchFamily="2" charset="0"/>
                        <a:cs typeface="Poppins"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8009304"/>
                  </a:ext>
                </a:extLst>
              </a:tr>
              <a:tr h="0">
                <a:tc>
                  <a:txBody>
                    <a:bodyPr/>
                    <a:lstStyle/>
                    <a:p>
                      <a:pPr algn="l"/>
                      <a:r>
                        <a:rPr lang="en-US" sz="2200" b="1" u="none" strike="noStrike" kern="1200" dirty="0">
                          <a:solidFill>
                            <a:schemeClr val="dk1"/>
                          </a:solidFill>
                          <a:effectLst/>
                          <a:latin typeface="Poppins" panose="00000500000000000000" pitchFamily="2" charset="0"/>
                          <a:cs typeface="Poppins" panose="00000500000000000000" pitchFamily="2" charset="0"/>
                        </a:rPr>
                        <a:t>System Visibility</a:t>
                      </a:r>
                      <a:endParaRPr lang="en-US" sz="2200" dirty="0">
                        <a:latin typeface="Poppins" panose="00000500000000000000" pitchFamily="2" charset="0"/>
                        <a:cs typeface="Poppins"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2200" b="0" kern="1200" dirty="0">
                          <a:solidFill>
                            <a:schemeClr val="dk1"/>
                          </a:solidFill>
                          <a:effectLst/>
                          <a:latin typeface="Poppins" panose="00000500000000000000" pitchFamily="2" charset="0"/>
                          <a:cs typeface="Poppins" panose="00000500000000000000" pitchFamily="2" charset="0"/>
                        </a:rPr>
                        <a:t>Shows as "Warning" in Location Center</a:t>
                      </a:r>
                      <a:endParaRPr lang="en-US" sz="2200" dirty="0">
                        <a:latin typeface="Poppins" panose="00000500000000000000" pitchFamily="2" charset="0"/>
                        <a:cs typeface="Poppins"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200" b="0" kern="1200" dirty="0">
                          <a:solidFill>
                            <a:schemeClr val="dk1"/>
                          </a:solidFill>
                          <a:effectLst/>
                          <a:latin typeface="Poppins" panose="00000500000000000000" pitchFamily="2" charset="0"/>
                          <a:cs typeface="Poppins" panose="00000500000000000000" pitchFamily="2" charset="0"/>
                        </a:rPr>
                        <a:t>Shows as "General" in Location Center</a:t>
                      </a:r>
                      <a:endParaRPr lang="en-US" sz="2200" dirty="0">
                        <a:latin typeface="Poppins" panose="00000500000000000000" pitchFamily="2" charset="0"/>
                        <a:cs typeface="Poppins"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0115306"/>
                  </a:ext>
                </a:extLst>
              </a:tr>
              <a:tr h="583857">
                <a:tc>
                  <a:txBody>
                    <a:bodyPr/>
                    <a:lstStyle/>
                    <a:p>
                      <a:pPr algn="l"/>
                      <a:r>
                        <a:rPr lang="en-US" sz="2200" b="1" u="none" strike="noStrike" kern="1200" dirty="0">
                          <a:solidFill>
                            <a:schemeClr val="dk1"/>
                          </a:solidFill>
                          <a:effectLst/>
                          <a:latin typeface="Poppins" panose="00000500000000000000" pitchFamily="2" charset="0"/>
                          <a:cs typeface="Poppins" panose="00000500000000000000" pitchFamily="2" charset="0"/>
                        </a:rPr>
                        <a:t>Severity Indicator</a:t>
                      </a:r>
                      <a:endParaRPr lang="en-US" sz="2200" dirty="0">
                        <a:latin typeface="Poppins" panose="00000500000000000000" pitchFamily="2" charset="0"/>
                        <a:cs typeface="Poppins"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200" b="0" kern="1200" dirty="0">
                          <a:solidFill>
                            <a:schemeClr val="dk1"/>
                          </a:solidFill>
                          <a:effectLst/>
                          <a:latin typeface="Poppins" panose="00000500000000000000" pitchFamily="2" charset="0"/>
                          <a:cs typeface="Poppins" panose="00000500000000000000" pitchFamily="2" charset="0"/>
                        </a:rPr>
                        <a:t>Yellow light / Precautionary alert</a:t>
                      </a:r>
                      <a:endParaRPr lang="en-US" sz="2200" dirty="0">
                        <a:latin typeface="Poppins" panose="00000500000000000000" pitchFamily="2" charset="0"/>
                        <a:cs typeface="Poppins"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200" b="0" kern="1200" dirty="0">
                          <a:solidFill>
                            <a:schemeClr val="dk1"/>
                          </a:solidFill>
                          <a:effectLst/>
                          <a:latin typeface="Poppins" panose="00000500000000000000" pitchFamily="2" charset="0"/>
                          <a:cs typeface="Poppins" panose="00000500000000000000" pitchFamily="2" charset="0"/>
                        </a:rPr>
                        <a:t>Red light / Final notice</a:t>
                      </a:r>
                      <a:endParaRPr lang="en-US" sz="2200" dirty="0">
                        <a:latin typeface="Poppins" panose="00000500000000000000" pitchFamily="2" charset="0"/>
                        <a:cs typeface="Poppins"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4199277"/>
                  </a:ext>
                </a:extLst>
              </a:tr>
              <a:tr h="1448298">
                <a:tc>
                  <a:txBody>
                    <a:bodyPr/>
                    <a:lstStyle/>
                    <a:p>
                      <a:pPr algn="l"/>
                      <a:endParaRPr lang="en-US" sz="2200" b="1" u="none" strike="noStrike" kern="1200" dirty="0">
                        <a:solidFill>
                          <a:schemeClr val="dk1"/>
                        </a:solidFill>
                        <a:effectLst/>
                        <a:latin typeface="Poppins" panose="00000500000000000000" pitchFamily="2" charset="0"/>
                        <a:cs typeface="Poppins" panose="00000500000000000000" pitchFamily="2" charset="0"/>
                      </a:endParaRPr>
                    </a:p>
                    <a:p>
                      <a:pPr algn="l"/>
                      <a:r>
                        <a:rPr lang="en-US" sz="2200" b="1" u="none" strike="noStrike" kern="1200" dirty="0">
                          <a:solidFill>
                            <a:schemeClr val="dk1"/>
                          </a:solidFill>
                          <a:effectLst/>
                          <a:latin typeface="Poppins" panose="00000500000000000000" pitchFamily="2" charset="0"/>
                          <a:cs typeface="Poppins" panose="00000500000000000000" pitchFamily="2" charset="0"/>
                        </a:rPr>
                        <a:t>Trigger Event</a:t>
                      </a:r>
                      <a:endParaRPr lang="en-US" sz="2200" dirty="0">
                        <a:latin typeface="Poppins" panose="00000500000000000000" pitchFamily="2" charset="0"/>
                        <a:cs typeface="Poppins"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200" b="0" kern="1200" dirty="0">
                          <a:solidFill>
                            <a:schemeClr val="dk1"/>
                          </a:solidFill>
                          <a:effectLst/>
                          <a:latin typeface="Poppins" panose="00000500000000000000" pitchFamily="2" charset="0"/>
                          <a:cs typeface="Poppins" panose="00000500000000000000" pitchFamily="2" charset="0"/>
                        </a:rPr>
                        <a:t>Automatically issued when the system or an agent removes 3 reviews as suspicious within a 30- day period</a:t>
                      </a:r>
                      <a:endParaRPr lang="en-US" sz="2200" dirty="0">
                        <a:latin typeface="Poppins" panose="00000500000000000000" pitchFamily="2" charset="0"/>
                        <a:cs typeface="Poppins"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US" sz="2200" b="0" kern="1200" dirty="0">
                        <a:solidFill>
                          <a:schemeClr val="dk1"/>
                        </a:solidFill>
                        <a:effectLst/>
                        <a:latin typeface="Poppins" panose="00000500000000000000" pitchFamily="2" charset="0"/>
                        <a:cs typeface="Poppins" panose="00000500000000000000" pitchFamily="2" charset="0"/>
                      </a:endParaRPr>
                    </a:p>
                    <a:p>
                      <a:pPr algn="l"/>
                      <a:r>
                        <a:rPr lang="en-US" sz="2200" b="0" kern="1200" dirty="0">
                          <a:solidFill>
                            <a:schemeClr val="dk1"/>
                          </a:solidFill>
                          <a:effectLst/>
                          <a:latin typeface="Poppins" panose="00000500000000000000" pitchFamily="2" charset="0"/>
                          <a:cs typeface="Poppins" panose="00000500000000000000" pitchFamily="2" charset="0"/>
                        </a:rPr>
                        <a:t>Confirmed Content Integrity (CI) Removal</a:t>
                      </a:r>
                      <a:endParaRPr lang="en-US" sz="2200" dirty="0">
                        <a:latin typeface="Poppins" panose="00000500000000000000" pitchFamily="2" charset="0"/>
                        <a:cs typeface="Poppins"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3829046"/>
                  </a:ext>
                </a:extLst>
              </a:tr>
              <a:tr h="774671">
                <a:tc>
                  <a:txBody>
                    <a:bodyPr/>
                    <a:lstStyle/>
                    <a:p>
                      <a:pPr algn="l"/>
                      <a:r>
                        <a:rPr lang="en-US" sz="2200" b="1" u="none" strike="noStrike" kern="1200" dirty="0">
                          <a:solidFill>
                            <a:schemeClr val="dk1"/>
                          </a:solidFill>
                          <a:effectLst/>
                          <a:latin typeface="Poppins" panose="00000500000000000000" pitchFamily="2" charset="0"/>
                          <a:cs typeface="Poppins" panose="00000500000000000000" pitchFamily="2" charset="0"/>
                        </a:rPr>
                        <a:t>Immediate Consequence</a:t>
                      </a:r>
                      <a:endParaRPr lang="en-US" sz="2200" dirty="0">
                        <a:latin typeface="Poppins" panose="00000500000000000000" pitchFamily="2" charset="0"/>
                        <a:cs typeface="Poppins"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200" b="0" kern="1200" dirty="0">
                          <a:solidFill>
                            <a:schemeClr val="dk1"/>
                          </a:solidFill>
                          <a:effectLst/>
                          <a:latin typeface="Poppins" panose="00000500000000000000" pitchFamily="2" charset="0"/>
                          <a:cs typeface="Poppins" panose="00000500000000000000" pitchFamily="2" charset="0"/>
                        </a:rPr>
                        <a:t>Formally flags account for monitoring</a:t>
                      </a:r>
                      <a:endParaRPr lang="en-US" sz="2200" dirty="0">
                        <a:latin typeface="Poppins" panose="00000500000000000000" pitchFamily="2" charset="0"/>
                        <a:cs typeface="Poppins"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200" b="0" kern="1200" dirty="0">
                          <a:solidFill>
                            <a:schemeClr val="dk1"/>
                          </a:solidFill>
                          <a:effectLst/>
                          <a:latin typeface="Poppins" panose="00000500000000000000" pitchFamily="2" charset="0"/>
                          <a:cs typeface="Poppins" panose="00000500000000000000" pitchFamily="2" charset="0"/>
                        </a:rPr>
                        <a:t>Location is penalized and restricted</a:t>
                      </a:r>
                      <a:endParaRPr lang="en-US" sz="2200" dirty="0">
                        <a:latin typeface="Poppins" panose="00000500000000000000" pitchFamily="2" charset="0"/>
                        <a:cs typeface="Poppins"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4295025"/>
                  </a:ext>
                </a:extLst>
              </a:tr>
              <a:tr h="750583">
                <a:tc>
                  <a:txBody>
                    <a:bodyPr/>
                    <a:lstStyle/>
                    <a:p>
                      <a:pPr algn="l"/>
                      <a:r>
                        <a:rPr lang="en-US" sz="2200" b="1" u="none" strike="noStrike" kern="1200" dirty="0">
                          <a:solidFill>
                            <a:schemeClr val="dk1"/>
                          </a:solidFill>
                          <a:effectLst/>
                          <a:latin typeface="Poppins" panose="00000500000000000000" pitchFamily="2" charset="0"/>
                          <a:cs typeface="Poppins" panose="00000500000000000000" pitchFamily="2" charset="0"/>
                        </a:rPr>
                        <a:t>Core Objective</a:t>
                      </a:r>
                      <a:endParaRPr lang="en-US" sz="2200" dirty="0">
                        <a:latin typeface="Poppins" panose="00000500000000000000" pitchFamily="2" charset="0"/>
                        <a:cs typeface="Poppins"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200" b="0" kern="1200" dirty="0">
                          <a:solidFill>
                            <a:schemeClr val="dk1"/>
                          </a:solidFill>
                          <a:effectLst/>
                          <a:latin typeface="Poppins" panose="00000500000000000000" pitchFamily="2" charset="0"/>
                          <a:cs typeface="Poppins" panose="00000500000000000000" pitchFamily="2" charset="0"/>
                        </a:rPr>
                        <a:t>Advise property of anomalous behavior</a:t>
                      </a:r>
                      <a:endParaRPr lang="en-US" sz="2200" dirty="0">
                        <a:latin typeface="Poppins" panose="00000500000000000000" pitchFamily="2" charset="0"/>
                        <a:cs typeface="Poppins"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200" b="0" kern="1200" dirty="0">
                          <a:solidFill>
                            <a:schemeClr val="dk1"/>
                          </a:solidFill>
                          <a:effectLst/>
                          <a:latin typeface="Poppins" panose="00000500000000000000" pitchFamily="2" charset="0"/>
                          <a:cs typeface="Poppins" panose="00000500000000000000" pitchFamily="2" charset="0"/>
                        </a:rPr>
                        <a:t>Document misconduct and enforce compliance</a:t>
                      </a:r>
                      <a:endParaRPr lang="en-US" sz="2200" dirty="0">
                        <a:latin typeface="Poppins" panose="00000500000000000000" pitchFamily="2" charset="0"/>
                        <a:cs typeface="Poppins"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5332787"/>
                  </a:ext>
                </a:extLst>
              </a:tr>
              <a:tr h="1678854">
                <a:tc>
                  <a:txBody>
                    <a:bodyPr/>
                    <a:lstStyle/>
                    <a:p>
                      <a:pPr algn="l"/>
                      <a:endParaRPr lang="en-US" sz="2200" b="1" u="none" strike="noStrike" kern="1200" dirty="0">
                        <a:solidFill>
                          <a:schemeClr val="dk1"/>
                        </a:solidFill>
                        <a:effectLst/>
                        <a:latin typeface="Poppins" panose="00000500000000000000" pitchFamily="2" charset="0"/>
                        <a:cs typeface="Poppins" panose="00000500000000000000" pitchFamily="2" charset="0"/>
                      </a:endParaRPr>
                    </a:p>
                    <a:p>
                      <a:pPr algn="l"/>
                      <a:r>
                        <a:rPr lang="en-US" sz="2200" b="1" u="none" strike="noStrike" kern="1200" dirty="0">
                          <a:solidFill>
                            <a:schemeClr val="dk1"/>
                          </a:solidFill>
                          <a:effectLst/>
                          <a:latin typeface="Poppins" panose="00000500000000000000" pitchFamily="2" charset="0"/>
                          <a:cs typeface="Poppins" panose="00000500000000000000" pitchFamily="2" charset="0"/>
                        </a:rPr>
                        <a:t>Frequency/Exceptions</a:t>
                      </a:r>
                      <a:endParaRPr lang="en-US" sz="2200" dirty="0">
                        <a:latin typeface="Poppins" panose="00000500000000000000" pitchFamily="2" charset="0"/>
                        <a:cs typeface="Poppins"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ase"/>
                      <a:r>
                        <a:rPr lang="en-US" sz="2200" b="0" kern="1200" dirty="0">
                          <a:solidFill>
                            <a:schemeClr val="dk1"/>
                          </a:solidFill>
                          <a:effectLst/>
                          <a:latin typeface="Poppins" panose="00000500000000000000" pitchFamily="2" charset="0"/>
                          <a:cs typeface="Poppins" panose="00000500000000000000" pitchFamily="2" charset="0"/>
                        </a:rPr>
                        <a:t>No New Warning Letter if:</a:t>
                      </a:r>
                      <a:br>
                        <a:rPr lang="en-US" sz="2200" b="0" kern="1200" dirty="0">
                          <a:solidFill>
                            <a:schemeClr val="dk1"/>
                          </a:solidFill>
                          <a:effectLst/>
                          <a:latin typeface="Poppins" panose="00000500000000000000" pitchFamily="2" charset="0"/>
                          <a:cs typeface="Poppins" panose="00000500000000000000" pitchFamily="2" charset="0"/>
                        </a:rPr>
                      </a:br>
                      <a:r>
                        <a:rPr lang="en-US" sz="2200" b="0" kern="1200" dirty="0">
                          <a:solidFill>
                            <a:schemeClr val="dk1"/>
                          </a:solidFill>
                          <a:effectLst/>
                          <a:latin typeface="Poppins" panose="00000500000000000000" pitchFamily="2" charset="0"/>
                          <a:cs typeface="Poppins" panose="00000500000000000000" pitchFamily="2" charset="0"/>
                        </a:rPr>
                        <a:t>Received a Fraud Letter (FL) within 90 days</a:t>
                      </a:r>
                      <a:br>
                        <a:rPr lang="en-US" sz="2200" b="0" kern="1200" dirty="0">
                          <a:solidFill>
                            <a:schemeClr val="dk1"/>
                          </a:solidFill>
                          <a:effectLst/>
                          <a:latin typeface="Poppins" panose="00000500000000000000" pitchFamily="2" charset="0"/>
                          <a:cs typeface="Poppins" panose="00000500000000000000" pitchFamily="2" charset="0"/>
                        </a:rPr>
                      </a:br>
                      <a:r>
                        <a:rPr lang="en-US" sz="2200" b="0" kern="1200" dirty="0">
                          <a:solidFill>
                            <a:schemeClr val="dk1"/>
                          </a:solidFill>
                          <a:effectLst/>
                          <a:latin typeface="Poppins" panose="00000500000000000000" pitchFamily="2" charset="0"/>
                          <a:cs typeface="Poppins" panose="00000500000000000000" pitchFamily="2" charset="0"/>
                        </a:rPr>
                        <a:t>Received a Warning Letter (WL) within 180 days</a:t>
                      </a:r>
                      <a:endParaRPr lang="en-US" sz="2200" b="0" i="0" kern="1200" dirty="0">
                        <a:solidFill>
                          <a:schemeClr val="dk1"/>
                        </a:solidFill>
                        <a:effectLst/>
                        <a:latin typeface="Poppins" panose="00000500000000000000" pitchFamily="2" charset="0"/>
                        <a:ea typeface="+mn-ea"/>
                        <a:cs typeface="Poppins"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US" sz="2200" dirty="0">
                        <a:latin typeface="Poppins" panose="00000500000000000000" pitchFamily="2" charset="0"/>
                        <a:cs typeface="Poppins" panose="00000500000000000000" pitchFamily="2" charset="0"/>
                      </a:endParaRPr>
                    </a:p>
                    <a:p>
                      <a:pPr algn="l"/>
                      <a:r>
                        <a:rPr lang="en-US" sz="2200" dirty="0">
                          <a:latin typeface="Poppins" panose="00000500000000000000" pitchFamily="2" charset="0"/>
                          <a:cs typeface="Poppins" panose="00000500000000000000" pitchFamily="2"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1672562"/>
                  </a:ext>
                </a:extLst>
              </a:tr>
            </a:tbl>
          </a:graphicData>
        </a:graphic>
      </p:graphicFrame>
      <p:sp>
        <p:nvSpPr>
          <p:cNvPr id="4" name="TextBox 3">
            <a:extLst>
              <a:ext uri="{FF2B5EF4-FFF2-40B4-BE49-F238E27FC236}">
                <a16:creationId xmlns:a16="http://schemas.microsoft.com/office/drawing/2014/main" id="{93E97D61-3023-B144-17F7-4B2C031B32C9}"/>
              </a:ext>
            </a:extLst>
          </p:cNvPr>
          <p:cNvSpPr txBox="1"/>
          <p:nvPr/>
        </p:nvSpPr>
        <p:spPr>
          <a:xfrm>
            <a:off x="600001" y="9661690"/>
            <a:ext cx="10000001" cy="307777"/>
          </a:xfrm>
          <a:prstGeom prst="rect">
            <a:avLst/>
          </a:prstGeom>
          <a:noFill/>
        </p:spPr>
        <p:txBody>
          <a:bodyPr wrap="square" anchor="t">
            <a:spAutoFit/>
          </a:bodyPr>
          <a:lstStyle/>
          <a:p>
            <a:pPr defTabSz="914445"/>
            <a:r>
              <a:rPr sz="1400" dirty="0">
                <a:solidFill>
                  <a:srgbClr val="8A8272"/>
                </a:solidFill>
                <a:latin typeface="Poppins"/>
              </a:rPr>
              <a:t>T</a:t>
            </a:r>
            <a:r>
              <a:rPr lang="en-US" sz="1400" dirty="0">
                <a:solidFill>
                  <a:srgbClr val="8A8272"/>
                </a:solidFill>
                <a:latin typeface="Poppins"/>
              </a:rPr>
              <a:t>ripadvisor</a:t>
            </a:r>
            <a:r>
              <a:rPr sz="1400" dirty="0">
                <a:solidFill>
                  <a:srgbClr val="8A8272"/>
                </a:solidFill>
                <a:latin typeface="Poppins"/>
              </a:rPr>
              <a:t> / F</a:t>
            </a:r>
            <a:r>
              <a:rPr lang="en-US" sz="1400" dirty="0">
                <a:solidFill>
                  <a:srgbClr val="8A8272"/>
                </a:solidFill>
                <a:latin typeface="Poppins"/>
              </a:rPr>
              <a:t>raud letters</a:t>
            </a:r>
            <a:endParaRPr sz="1400" dirty="0">
              <a:solidFill>
                <a:srgbClr val="8A8272"/>
              </a:solidFill>
              <a:latin typeface="Poppins"/>
            </a:endParaRPr>
          </a:p>
        </p:txBody>
      </p:sp>
      <p:sp>
        <p:nvSpPr>
          <p:cNvPr id="5" name="Text 2">
            <a:extLst>
              <a:ext uri="{FF2B5EF4-FFF2-40B4-BE49-F238E27FC236}">
                <a16:creationId xmlns:a16="http://schemas.microsoft.com/office/drawing/2014/main" id="{DE90774A-E80F-F4FA-660E-DFFCA15B741E}"/>
              </a:ext>
            </a:extLst>
          </p:cNvPr>
          <p:cNvSpPr/>
          <p:nvPr/>
        </p:nvSpPr>
        <p:spPr>
          <a:xfrm>
            <a:off x="923693" y="532686"/>
            <a:ext cx="13716000" cy="923330"/>
          </a:xfrm>
          <a:prstGeom prst="rect">
            <a:avLst/>
          </a:prstGeom>
          <a:noFill/>
        </p:spPr>
        <p:txBody>
          <a:bodyPr wrap="square" anchor="t">
            <a:spAutoFit/>
          </a:bodyPr>
          <a:lstStyle/>
          <a:p>
            <a:pPr defTabSz="2057400"/>
            <a:r>
              <a:rPr lang="en-US" sz="5200" b="1" dirty="0">
                <a:solidFill>
                  <a:srgbClr val="002B11"/>
                </a:solidFill>
                <a:latin typeface="Poppins" panose="00000500000000000000" pitchFamily="2" charset="0"/>
                <a:ea typeface="Calibri" pitchFamily="34" charset="-122"/>
                <a:cs typeface="Poppins" panose="00000500000000000000" pitchFamily="2" charset="0"/>
              </a:rPr>
              <a:t>Warning Letter vs. Fraud Letter</a:t>
            </a:r>
          </a:p>
        </p:txBody>
      </p:sp>
    </p:spTree>
    <p:extLst>
      <p:ext uri="{BB962C8B-B14F-4D97-AF65-F5344CB8AC3E}">
        <p14:creationId xmlns:p14="http://schemas.microsoft.com/office/powerpoint/2010/main" val="2050366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D44B"/>
        </a:solidFill>
        <a:effectLst/>
      </p:bgPr>
    </p:bg>
    <p:spTree>
      <p:nvGrpSpPr>
        <p:cNvPr id="1" name="">
          <a:extLst>
            <a:ext uri="{FF2B5EF4-FFF2-40B4-BE49-F238E27FC236}">
              <a16:creationId xmlns:a16="http://schemas.microsoft.com/office/drawing/2014/main" id="{464E186C-484C-5AE8-0F6E-30E347D3B8CA}"/>
            </a:ext>
          </a:extLst>
        </p:cNvPr>
        <p:cNvGrpSpPr/>
        <p:nvPr/>
      </p:nvGrpSpPr>
      <p:grpSpPr>
        <a:xfrm>
          <a:off x="0" y="0"/>
          <a:ext cx="0" cy="0"/>
          <a:chOff x="0" y="0"/>
          <a:chExt cx="0" cy="0"/>
        </a:xfrm>
      </p:grpSpPr>
      <p:sp>
        <p:nvSpPr>
          <p:cNvPr id="29" name="TextBox 28">
            <a:extLst>
              <a:ext uri="{FF2B5EF4-FFF2-40B4-BE49-F238E27FC236}">
                <a16:creationId xmlns:a16="http://schemas.microsoft.com/office/drawing/2014/main" id="{288C4D92-3C69-4E93-20B2-B97DADEBA9C8}"/>
              </a:ext>
            </a:extLst>
          </p:cNvPr>
          <p:cNvSpPr txBox="1"/>
          <p:nvPr/>
        </p:nvSpPr>
        <p:spPr>
          <a:xfrm>
            <a:off x="577141" y="9628801"/>
            <a:ext cx="10000001" cy="307777"/>
          </a:xfrm>
          <a:prstGeom prst="rect">
            <a:avLst/>
          </a:prstGeom>
          <a:noFill/>
        </p:spPr>
        <p:txBody>
          <a:bodyPr wrap="square" anchor="t">
            <a:spAutoFit/>
          </a:bodyPr>
          <a:lstStyle/>
          <a:p>
            <a:pPr defTabSz="914445"/>
            <a:r>
              <a:rPr sz="1400" dirty="0">
                <a:solidFill>
                  <a:srgbClr val="8A8272"/>
                </a:solidFill>
                <a:latin typeface="Poppins"/>
              </a:rPr>
              <a:t>T</a:t>
            </a:r>
            <a:r>
              <a:rPr lang="en-US" sz="1400" dirty="0">
                <a:solidFill>
                  <a:srgbClr val="8A8272"/>
                </a:solidFill>
                <a:latin typeface="Poppins"/>
              </a:rPr>
              <a:t>ripadvisor</a:t>
            </a:r>
            <a:r>
              <a:rPr sz="1400" dirty="0">
                <a:solidFill>
                  <a:srgbClr val="8A8272"/>
                </a:solidFill>
                <a:latin typeface="Poppins"/>
              </a:rPr>
              <a:t> / F</a:t>
            </a:r>
            <a:r>
              <a:rPr lang="en-US" sz="1400" dirty="0">
                <a:solidFill>
                  <a:srgbClr val="8A8272"/>
                </a:solidFill>
                <a:latin typeface="Poppins"/>
              </a:rPr>
              <a:t>raud letters</a:t>
            </a:r>
            <a:endParaRPr sz="1400" dirty="0">
              <a:solidFill>
                <a:srgbClr val="8A8272"/>
              </a:solidFill>
              <a:latin typeface="Poppins"/>
            </a:endParaRPr>
          </a:p>
        </p:txBody>
      </p:sp>
      <p:sp>
        <p:nvSpPr>
          <p:cNvPr id="24" name="Freeform 3">
            <a:extLst>
              <a:ext uri="{FF2B5EF4-FFF2-40B4-BE49-F238E27FC236}">
                <a16:creationId xmlns:a16="http://schemas.microsoft.com/office/drawing/2014/main" id="{2ACF4F47-83E4-570A-DC34-6E429CCDDEF2}"/>
              </a:ext>
            </a:extLst>
          </p:cNvPr>
          <p:cNvSpPr/>
          <p:nvPr/>
        </p:nvSpPr>
        <p:spPr>
          <a:xfrm>
            <a:off x="1444530" y="1635227"/>
            <a:ext cx="15307499" cy="7579546"/>
          </a:xfrm>
          <a:custGeom>
            <a:avLst/>
            <a:gdLst/>
            <a:ahLst/>
            <a:cxnLst/>
            <a:rect l="l" t="t" r="r" b="b"/>
            <a:pathLst>
              <a:path w="4168963" h="2308218">
                <a:moveTo>
                  <a:pt x="0" y="0"/>
                </a:moveTo>
                <a:lnTo>
                  <a:pt x="4168963" y="0"/>
                </a:lnTo>
                <a:lnTo>
                  <a:pt x="4168963" y="2308218"/>
                </a:lnTo>
                <a:lnTo>
                  <a:pt x="0" y="2308218"/>
                </a:lnTo>
                <a:close/>
              </a:path>
            </a:pathLst>
          </a:custGeom>
          <a:solidFill>
            <a:srgbClr val="FFFFFF"/>
          </a:solidFill>
          <a:ln w="38100" cap="sq">
            <a:solidFill>
              <a:srgbClr val="002B1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5" name="TextBox 4">
            <a:extLst>
              <a:ext uri="{FF2B5EF4-FFF2-40B4-BE49-F238E27FC236}">
                <a16:creationId xmlns:a16="http://schemas.microsoft.com/office/drawing/2014/main" id="{9CA4E93B-3C9F-1167-2030-47CD2FACBEA3}"/>
              </a:ext>
            </a:extLst>
          </p:cNvPr>
          <p:cNvSpPr txBox="1"/>
          <p:nvPr/>
        </p:nvSpPr>
        <p:spPr>
          <a:xfrm>
            <a:off x="1284611" y="1286219"/>
            <a:ext cx="15307499" cy="8166894"/>
          </a:xfrm>
          <a:prstGeom prst="rect">
            <a:avLst/>
          </a:prstGeom>
        </p:spPr>
        <p:txBody>
          <a:bodyPr lIns="50800" tIns="50800" rIns="50800" bIns="50800" rtlCol="0" anchor="ctr"/>
          <a:lstStyle/>
          <a:p>
            <a:pPr marL="0" marR="0" lvl="0" indent="0" algn="ctr" defTabSz="914400" rtl="0" eaLnBrk="1" fontAlgn="auto" latinLnBrk="0" hangingPunct="1">
              <a:lnSpc>
                <a:spcPts val="3252"/>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2" name="Group 5">
            <a:extLst>
              <a:ext uri="{FF2B5EF4-FFF2-40B4-BE49-F238E27FC236}">
                <a16:creationId xmlns:a16="http://schemas.microsoft.com/office/drawing/2014/main" id="{2F70599E-EFA9-1AC4-B9BF-717F49E138A6}"/>
              </a:ext>
            </a:extLst>
          </p:cNvPr>
          <p:cNvGrpSpPr/>
          <p:nvPr/>
        </p:nvGrpSpPr>
        <p:grpSpPr>
          <a:xfrm>
            <a:off x="1443989" y="423743"/>
            <a:ext cx="15307499" cy="1211413"/>
            <a:chOff x="0" y="-57150"/>
            <a:chExt cx="4168963" cy="422442"/>
          </a:xfrm>
        </p:grpSpPr>
        <p:sp>
          <p:nvSpPr>
            <p:cNvPr id="3" name="Freeform 6">
              <a:extLst>
                <a:ext uri="{FF2B5EF4-FFF2-40B4-BE49-F238E27FC236}">
                  <a16:creationId xmlns:a16="http://schemas.microsoft.com/office/drawing/2014/main" id="{BA2C4690-1D2B-5DFC-3B9B-D1CB60D68B21}"/>
                </a:ext>
              </a:extLst>
            </p:cNvPr>
            <p:cNvSpPr/>
            <p:nvPr/>
          </p:nvSpPr>
          <p:spPr>
            <a:xfrm>
              <a:off x="0" y="0"/>
              <a:ext cx="4168963" cy="365292"/>
            </a:xfrm>
            <a:custGeom>
              <a:avLst/>
              <a:gdLst/>
              <a:ahLst/>
              <a:cxnLst/>
              <a:rect l="l" t="t" r="r" b="b"/>
              <a:pathLst>
                <a:path w="4168963" h="365292">
                  <a:moveTo>
                    <a:pt x="0" y="0"/>
                  </a:moveTo>
                  <a:lnTo>
                    <a:pt x="4168963" y="0"/>
                  </a:lnTo>
                  <a:lnTo>
                    <a:pt x="4168963" y="365292"/>
                  </a:lnTo>
                  <a:lnTo>
                    <a:pt x="0" y="365292"/>
                  </a:lnTo>
                  <a:close/>
                </a:path>
              </a:pathLst>
            </a:custGeom>
            <a:solidFill>
              <a:srgbClr val="002B11"/>
            </a:solidFill>
            <a:ln w="38100" cap="sq">
              <a:solidFill>
                <a:srgbClr val="002B1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 name="TextBox 7">
              <a:extLst>
                <a:ext uri="{FF2B5EF4-FFF2-40B4-BE49-F238E27FC236}">
                  <a16:creationId xmlns:a16="http://schemas.microsoft.com/office/drawing/2014/main" id="{775811F7-A62A-BEE7-8C33-A1E7275B77E6}"/>
                </a:ext>
              </a:extLst>
            </p:cNvPr>
            <p:cNvSpPr txBox="1"/>
            <p:nvPr/>
          </p:nvSpPr>
          <p:spPr>
            <a:xfrm>
              <a:off x="0" y="-57150"/>
              <a:ext cx="4168963" cy="422442"/>
            </a:xfrm>
            <a:prstGeom prst="rect">
              <a:avLst/>
            </a:prstGeom>
          </p:spPr>
          <p:txBody>
            <a:bodyPr lIns="50800" tIns="50800" rIns="50800" bIns="50800" rtlCol="0" anchor="ctr"/>
            <a:lstStyle/>
            <a:p>
              <a:pPr marL="0" marR="0" lvl="0" indent="0" algn="ctr" defTabSz="914400" rtl="0" eaLnBrk="1" fontAlgn="auto" latinLnBrk="0" hangingPunct="1">
                <a:lnSpc>
                  <a:spcPts val="3252"/>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 name="TextBox 20">
            <a:extLst>
              <a:ext uri="{FF2B5EF4-FFF2-40B4-BE49-F238E27FC236}">
                <a16:creationId xmlns:a16="http://schemas.microsoft.com/office/drawing/2014/main" id="{EEE347DC-F5BC-DD9E-D8E6-52BB23D20F0A}"/>
              </a:ext>
            </a:extLst>
          </p:cNvPr>
          <p:cNvSpPr txBox="1"/>
          <p:nvPr/>
        </p:nvSpPr>
        <p:spPr>
          <a:xfrm>
            <a:off x="1801937" y="661935"/>
            <a:ext cx="8632209" cy="888769"/>
          </a:xfrm>
          <a:prstGeom prst="rect">
            <a:avLst/>
          </a:prstGeom>
        </p:spPr>
        <p:txBody>
          <a:bodyPr wrap="square" lIns="0" tIns="0" rIns="0" bIns="0" rtlCol="0" anchor="t">
            <a:spAutoFit/>
          </a:bodyPr>
          <a:lstStyle/>
          <a:p>
            <a:pPr marL="0" marR="0" lvl="0" indent="0" algn="l" defTabSz="914400" rtl="0" eaLnBrk="1" fontAlgn="auto" latinLnBrk="0" hangingPunct="1">
              <a:lnSpc>
                <a:spcPts val="7279"/>
              </a:lnSpc>
              <a:spcBef>
                <a:spcPct val="0"/>
              </a:spcBef>
              <a:spcAft>
                <a:spcPts val="0"/>
              </a:spcAft>
              <a:buClrTx/>
              <a:buSzTx/>
              <a:buFontTx/>
              <a:buNone/>
              <a:tabLst/>
              <a:defRPr/>
            </a:pPr>
            <a:r>
              <a:rPr kumimoji="0" lang="en-US" sz="5199" b="1" i="0" u="none" strike="noStrike" kern="1200" cap="none" spc="0" normalizeH="0" baseline="0" noProof="0" dirty="0">
                <a:ln>
                  <a:noFill/>
                </a:ln>
                <a:solidFill>
                  <a:schemeClr val="bg1"/>
                </a:solidFill>
                <a:effectLst/>
                <a:uLnTx/>
                <a:uFillTx/>
                <a:latin typeface="Poppins Bold"/>
                <a:ea typeface="Poppins Bold"/>
                <a:cs typeface="Poppins Bold"/>
                <a:sym typeface="Poppins Bold"/>
              </a:rPr>
              <a:t>Sample Warning Letter</a:t>
            </a:r>
          </a:p>
        </p:txBody>
      </p:sp>
      <p:grpSp>
        <p:nvGrpSpPr>
          <p:cNvPr id="11" name="Group 8">
            <a:extLst>
              <a:ext uri="{FF2B5EF4-FFF2-40B4-BE49-F238E27FC236}">
                <a16:creationId xmlns:a16="http://schemas.microsoft.com/office/drawing/2014/main" id="{7D53DEF2-B264-7AE2-B946-74B544545965}"/>
              </a:ext>
            </a:extLst>
          </p:cNvPr>
          <p:cNvGrpSpPr/>
          <p:nvPr/>
        </p:nvGrpSpPr>
        <p:grpSpPr>
          <a:xfrm>
            <a:off x="13516127" y="1035844"/>
            <a:ext cx="453522" cy="97285"/>
            <a:chOff x="0" y="0"/>
            <a:chExt cx="119446" cy="25622"/>
          </a:xfrm>
        </p:grpSpPr>
        <p:sp>
          <p:nvSpPr>
            <p:cNvPr id="12" name="Freeform 9">
              <a:extLst>
                <a:ext uri="{FF2B5EF4-FFF2-40B4-BE49-F238E27FC236}">
                  <a16:creationId xmlns:a16="http://schemas.microsoft.com/office/drawing/2014/main" id="{C7790B70-1BD7-B930-9666-FEB6E64FBCEA}"/>
                </a:ext>
              </a:extLst>
            </p:cNvPr>
            <p:cNvSpPr/>
            <p:nvPr/>
          </p:nvSpPr>
          <p:spPr>
            <a:xfrm>
              <a:off x="0" y="0"/>
              <a:ext cx="119446" cy="25622"/>
            </a:xfrm>
            <a:custGeom>
              <a:avLst/>
              <a:gdLst/>
              <a:ahLst/>
              <a:cxnLst/>
              <a:rect l="l" t="t" r="r" b="b"/>
              <a:pathLst>
                <a:path w="119446" h="25622">
                  <a:moveTo>
                    <a:pt x="0" y="0"/>
                  </a:moveTo>
                  <a:lnTo>
                    <a:pt x="119446" y="0"/>
                  </a:lnTo>
                  <a:lnTo>
                    <a:pt x="119446" y="25622"/>
                  </a:lnTo>
                  <a:lnTo>
                    <a:pt x="0" y="25622"/>
                  </a:lnTo>
                  <a:close/>
                </a:path>
              </a:pathLst>
            </a:custGeom>
            <a:solidFill>
              <a:srgbClr val="002B11"/>
            </a:solidFill>
            <a:ln cap="sq">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0">
              <a:extLst>
                <a:ext uri="{FF2B5EF4-FFF2-40B4-BE49-F238E27FC236}">
                  <a16:creationId xmlns:a16="http://schemas.microsoft.com/office/drawing/2014/main" id="{E888C82D-7087-6212-1C05-43D1ECA87C0D}"/>
                </a:ext>
              </a:extLst>
            </p:cNvPr>
            <p:cNvSpPr txBox="1"/>
            <p:nvPr/>
          </p:nvSpPr>
          <p:spPr>
            <a:xfrm>
              <a:off x="0" y="-57150"/>
              <a:ext cx="119446" cy="82772"/>
            </a:xfrm>
            <a:prstGeom prst="rect">
              <a:avLst/>
            </a:prstGeom>
          </p:spPr>
          <p:txBody>
            <a:bodyPr lIns="50800" tIns="50800" rIns="50800" bIns="50800" rtlCol="0" anchor="ctr"/>
            <a:lstStyle/>
            <a:p>
              <a:pPr marL="0" marR="0" lvl="0" indent="0" algn="ctr" defTabSz="914400" rtl="0" eaLnBrk="1" fontAlgn="auto" latinLnBrk="0" hangingPunct="1">
                <a:lnSpc>
                  <a:spcPts val="3252"/>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5" name="Freeform 19">
            <a:extLst>
              <a:ext uri="{FF2B5EF4-FFF2-40B4-BE49-F238E27FC236}">
                <a16:creationId xmlns:a16="http://schemas.microsoft.com/office/drawing/2014/main" id="{2B453EA9-A2C8-8F93-74F5-770FB0E648EE}"/>
              </a:ext>
            </a:extLst>
          </p:cNvPr>
          <p:cNvSpPr/>
          <p:nvPr/>
        </p:nvSpPr>
        <p:spPr>
          <a:xfrm>
            <a:off x="14626049" y="904285"/>
            <a:ext cx="463872" cy="457687"/>
          </a:xfrm>
          <a:custGeom>
            <a:avLst/>
            <a:gdLst/>
            <a:ahLst/>
            <a:cxnLst/>
            <a:rect l="l" t="t" r="r" b="b"/>
            <a:pathLst>
              <a:path w="463872" h="457687">
                <a:moveTo>
                  <a:pt x="0" y="0"/>
                </a:moveTo>
                <a:lnTo>
                  <a:pt x="463872" y="0"/>
                </a:lnTo>
                <a:lnTo>
                  <a:pt x="463872" y="457688"/>
                </a:lnTo>
                <a:lnTo>
                  <a:pt x="0" y="45768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6" name="Group 12">
            <a:extLst>
              <a:ext uri="{FF2B5EF4-FFF2-40B4-BE49-F238E27FC236}">
                <a16:creationId xmlns:a16="http://schemas.microsoft.com/office/drawing/2014/main" id="{178EFF03-6E3C-3017-E17B-F5AF43E48868}"/>
              </a:ext>
            </a:extLst>
          </p:cNvPr>
          <p:cNvGrpSpPr/>
          <p:nvPr/>
        </p:nvGrpSpPr>
        <p:grpSpPr>
          <a:xfrm rot="18892588">
            <a:off x="15746320" y="857725"/>
            <a:ext cx="453522" cy="453522"/>
            <a:chOff x="0" y="0"/>
            <a:chExt cx="604696" cy="604696"/>
          </a:xfrm>
        </p:grpSpPr>
        <p:grpSp>
          <p:nvGrpSpPr>
            <p:cNvPr id="17" name="Group 13">
              <a:extLst>
                <a:ext uri="{FF2B5EF4-FFF2-40B4-BE49-F238E27FC236}">
                  <a16:creationId xmlns:a16="http://schemas.microsoft.com/office/drawing/2014/main" id="{A7D991EF-5E84-F563-2214-369CE5D8CA68}"/>
                </a:ext>
              </a:extLst>
            </p:cNvPr>
            <p:cNvGrpSpPr/>
            <p:nvPr/>
          </p:nvGrpSpPr>
          <p:grpSpPr>
            <a:xfrm>
              <a:off x="0" y="237491"/>
              <a:ext cx="604696" cy="129714"/>
              <a:chOff x="0" y="0"/>
              <a:chExt cx="119446" cy="25622"/>
            </a:xfrm>
          </p:grpSpPr>
          <p:sp>
            <p:nvSpPr>
              <p:cNvPr id="21" name="Freeform 14">
                <a:extLst>
                  <a:ext uri="{FF2B5EF4-FFF2-40B4-BE49-F238E27FC236}">
                    <a16:creationId xmlns:a16="http://schemas.microsoft.com/office/drawing/2014/main" id="{B44789FA-5195-A124-742C-384E33232025}"/>
                  </a:ext>
                </a:extLst>
              </p:cNvPr>
              <p:cNvSpPr/>
              <p:nvPr/>
            </p:nvSpPr>
            <p:spPr>
              <a:xfrm>
                <a:off x="0" y="0"/>
                <a:ext cx="119446" cy="25622"/>
              </a:xfrm>
              <a:custGeom>
                <a:avLst/>
                <a:gdLst/>
                <a:ahLst/>
                <a:cxnLst/>
                <a:rect l="l" t="t" r="r" b="b"/>
                <a:pathLst>
                  <a:path w="119446" h="25622">
                    <a:moveTo>
                      <a:pt x="0" y="0"/>
                    </a:moveTo>
                    <a:lnTo>
                      <a:pt x="119446" y="0"/>
                    </a:lnTo>
                    <a:lnTo>
                      <a:pt x="119446" y="25622"/>
                    </a:lnTo>
                    <a:lnTo>
                      <a:pt x="0" y="25622"/>
                    </a:lnTo>
                    <a:close/>
                  </a:path>
                </a:pathLst>
              </a:custGeom>
              <a:solidFill>
                <a:srgbClr val="002B11"/>
              </a:solidFill>
              <a:ln cap="sq">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2" name="TextBox 15">
                <a:extLst>
                  <a:ext uri="{FF2B5EF4-FFF2-40B4-BE49-F238E27FC236}">
                    <a16:creationId xmlns:a16="http://schemas.microsoft.com/office/drawing/2014/main" id="{9158683D-C7F7-E2D4-19A3-8A66E9293A36}"/>
                  </a:ext>
                </a:extLst>
              </p:cNvPr>
              <p:cNvSpPr txBox="1"/>
              <p:nvPr/>
            </p:nvSpPr>
            <p:spPr>
              <a:xfrm>
                <a:off x="0" y="-57150"/>
                <a:ext cx="119446" cy="82772"/>
              </a:xfrm>
              <a:prstGeom prst="rect">
                <a:avLst/>
              </a:prstGeom>
            </p:spPr>
            <p:txBody>
              <a:bodyPr lIns="50800" tIns="50800" rIns="50800" bIns="50800" rtlCol="0" anchor="ctr"/>
              <a:lstStyle/>
              <a:p>
                <a:pPr marL="0" marR="0" lvl="0" indent="0" algn="ctr" defTabSz="914400" rtl="0" eaLnBrk="1" fontAlgn="auto" latinLnBrk="0" hangingPunct="1">
                  <a:lnSpc>
                    <a:spcPts val="3252"/>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8" name="Group 16">
              <a:extLst>
                <a:ext uri="{FF2B5EF4-FFF2-40B4-BE49-F238E27FC236}">
                  <a16:creationId xmlns:a16="http://schemas.microsoft.com/office/drawing/2014/main" id="{9ED0E793-8CF9-4331-1B05-D99196D320D2}"/>
                </a:ext>
              </a:extLst>
            </p:cNvPr>
            <p:cNvGrpSpPr/>
            <p:nvPr/>
          </p:nvGrpSpPr>
          <p:grpSpPr>
            <a:xfrm rot="5400000">
              <a:off x="0" y="237491"/>
              <a:ext cx="604696" cy="129714"/>
              <a:chOff x="0" y="0"/>
              <a:chExt cx="119446" cy="25622"/>
            </a:xfrm>
          </p:grpSpPr>
          <p:sp>
            <p:nvSpPr>
              <p:cNvPr id="19" name="Freeform 17">
                <a:extLst>
                  <a:ext uri="{FF2B5EF4-FFF2-40B4-BE49-F238E27FC236}">
                    <a16:creationId xmlns:a16="http://schemas.microsoft.com/office/drawing/2014/main" id="{E590B5B9-9A76-79C7-BF45-DE9F4EAF2D33}"/>
                  </a:ext>
                </a:extLst>
              </p:cNvPr>
              <p:cNvSpPr/>
              <p:nvPr/>
            </p:nvSpPr>
            <p:spPr>
              <a:xfrm>
                <a:off x="0" y="0"/>
                <a:ext cx="119446" cy="25622"/>
              </a:xfrm>
              <a:custGeom>
                <a:avLst/>
                <a:gdLst/>
                <a:ahLst/>
                <a:cxnLst/>
                <a:rect l="l" t="t" r="r" b="b"/>
                <a:pathLst>
                  <a:path w="119446" h="25622">
                    <a:moveTo>
                      <a:pt x="0" y="0"/>
                    </a:moveTo>
                    <a:lnTo>
                      <a:pt x="119446" y="0"/>
                    </a:lnTo>
                    <a:lnTo>
                      <a:pt x="119446" y="25622"/>
                    </a:lnTo>
                    <a:lnTo>
                      <a:pt x="0" y="25622"/>
                    </a:lnTo>
                    <a:close/>
                  </a:path>
                </a:pathLst>
              </a:custGeom>
              <a:solidFill>
                <a:srgbClr val="002B11"/>
              </a:solidFill>
              <a:ln cap="sq">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Box 18">
                <a:extLst>
                  <a:ext uri="{FF2B5EF4-FFF2-40B4-BE49-F238E27FC236}">
                    <a16:creationId xmlns:a16="http://schemas.microsoft.com/office/drawing/2014/main" id="{B64868BD-4536-27F7-1F82-D32D4C47D818}"/>
                  </a:ext>
                </a:extLst>
              </p:cNvPr>
              <p:cNvSpPr txBox="1"/>
              <p:nvPr/>
            </p:nvSpPr>
            <p:spPr>
              <a:xfrm>
                <a:off x="0" y="-57150"/>
                <a:ext cx="119446" cy="82772"/>
              </a:xfrm>
              <a:prstGeom prst="rect">
                <a:avLst/>
              </a:prstGeom>
            </p:spPr>
            <p:txBody>
              <a:bodyPr lIns="50800" tIns="50800" rIns="50800" bIns="50800" rtlCol="0" anchor="ctr"/>
              <a:lstStyle/>
              <a:p>
                <a:pPr marL="0" marR="0" lvl="0" indent="0" algn="ctr" defTabSz="914400" rtl="0" eaLnBrk="1" fontAlgn="auto" latinLnBrk="0" hangingPunct="1">
                  <a:lnSpc>
                    <a:spcPts val="3252"/>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31" name="TextBox 11">
            <a:extLst>
              <a:ext uri="{FF2B5EF4-FFF2-40B4-BE49-F238E27FC236}">
                <a16:creationId xmlns:a16="http://schemas.microsoft.com/office/drawing/2014/main" id="{621DB69F-CB53-5AF0-D555-A3910FB4E4F9}"/>
              </a:ext>
            </a:extLst>
          </p:cNvPr>
          <p:cNvSpPr txBox="1"/>
          <p:nvPr/>
        </p:nvSpPr>
        <p:spPr>
          <a:xfrm>
            <a:off x="1734504" y="1886918"/>
            <a:ext cx="14880844" cy="7135351"/>
          </a:xfrm>
          <a:prstGeom prst="rect">
            <a:avLst/>
          </a:prstGeom>
        </p:spPr>
        <p:txBody>
          <a:bodyPr wrap="square" lIns="0" tIns="0" rIns="0" bIns="0" rtlCol="0" anchor="t">
            <a:spAutoFit/>
          </a:bodyPr>
          <a:lstStyle/>
          <a:p>
            <a:pPr lvl="0" defTabSz="914400">
              <a:lnSpc>
                <a:spcPts val="3079"/>
              </a:lnSpc>
              <a:spcBef>
                <a:spcPct val="0"/>
              </a:spcBef>
              <a:defRPr/>
            </a:pPr>
            <a:r>
              <a:rPr lang="en-US" sz="2199" dirty="0">
                <a:solidFill>
                  <a:srgbClr val="000000"/>
                </a:solidFill>
                <a:latin typeface="Poppins"/>
                <a:ea typeface="Poppins"/>
                <a:cs typeface="Poppins"/>
                <a:sym typeface="Poppins"/>
              </a:rPr>
              <a:t> To the team at </a:t>
            </a:r>
            <a:r>
              <a:rPr lang="en-US" sz="2199" dirty="0" err="1">
                <a:solidFill>
                  <a:srgbClr val="000000"/>
                </a:solidFill>
                <a:latin typeface="Poppins"/>
                <a:ea typeface="Poppins"/>
                <a:cs typeface="Poppins"/>
                <a:sym typeface="Poppins"/>
              </a:rPr>
              <a:t>xxxxx</a:t>
            </a:r>
            <a:endParaRPr lang="en-US" sz="2199" dirty="0">
              <a:solidFill>
                <a:srgbClr val="000000"/>
              </a:solidFill>
              <a:latin typeface="Poppins"/>
              <a:ea typeface="Poppins"/>
              <a:cs typeface="Poppins"/>
              <a:sym typeface="Poppins"/>
            </a:endParaRPr>
          </a:p>
          <a:p>
            <a:pPr lvl="0" defTabSz="914400">
              <a:lnSpc>
                <a:spcPts val="3079"/>
              </a:lnSpc>
              <a:spcBef>
                <a:spcPct val="0"/>
              </a:spcBef>
              <a:defRPr/>
            </a:pPr>
            <a:r>
              <a:rPr lang="en-US" sz="2199" dirty="0">
                <a:solidFill>
                  <a:srgbClr val="000000"/>
                </a:solidFill>
                <a:latin typeface="Poppins"/>
                <a:ea typeface="Poppins"/>
                <a:cs typeface="Poppins"/>
                <a:sym typeface="Poppins"/>
              </a:rPr>
              <a:t> </a:t>
            </a:r>
          </a:p>
          <a:p>
            <a:pPr lvl="0" defTabSz="914400">
              <a:lnSpc>
                <a:spcPts val="3079"/>
              </a:lnSpc>
              <a:spcBef>
                <a:spcPct val="0"/>
              </a:spcBef>
              <a:defRPr/>
            </a:pPr>
            <a:r>
              <a:rPr lang="en-US" sz="2199" dirty="0">
                <a:solidFill>
                  <a:srgbClr val="000000"/>
                </a:solidFill>
                <a:latin typeface="Poppins"/>
                <a:ea typeface="Poppins"/>
                <a:cs typeface="Poppins"/>
                <a:sym typeface="Poppins"/>
              </a:rPr>
              <a:t> We have detected some unusual activity on your Tripadvisor listing </a:t>
            </a:r>
          </a:p>
          <a:p>
            <a:pPr lvl="0" defTabSz="914400">
              <a:lnSpc>
                <a:spcPts val="3079"/>
              </a:lnSpc>
              <a:spcBef>
                <a:spcPct val="0"/>
              </a:spcBef>
              <a:defRPr/>
            </a:pPr>
            <a:r>
              <a:rPr lang="en-US" sz="2199" dirty="0">
                <a:solidFill>
                  <a:srgbClr val="000000"/>
                </a:solidFill>
                <a:latin typeface="Poppins"/>
                <a:ea typeface="Poppins"/>
                <a:cs typeface="Poppins"/>
                <a:sym typeface="Poppins"/>
              </a:rPr>
              <a:t> that has raised concerns about several reviews recently submitted for </a:t>
            </a:r>
          </a:p>
          <a:p>
            <a:pPr lvl="0" defTabSz="914400">
              <a:lnSpc>
                <a:spcPts val="3079"/>
              </a:lnSpc>
              <a:spcBef>
                <a:spcPct val="0"/>
              </a:spcBef>
              <a:defRPr/>
            </a:pPr>
            <a:r>
              <a:rPr lang="en-US" sz="2199" dirty="0">
                <a:solidFill>
                  <a:srgbClr val="000000"/>
                </a:solidFill>
                <a:latin typeface="Poppins"/>
                <a:ea typeface="Poppins"/>
                <a:cs typeface="Poppins"/>
                <a:sym typeface="Poppins"/>
              </a:rPr>
              <a:t> your property. These reviews have been removed, but this action has not</a:t>
            </a:r>
          </a:p>
          <a:p>
            <a:pPr lvl="0" defTabSz="914400">
              <a:lnSpc>
                <a:spcPts val="3079"/>
              </a:lnSpc>
              <a:spcBef>
                <a:spcPct val="0"/>
              </a:spcBef>
              <a:defRPr/>
            </a:pPr>
            <a:r>
              <a:rPr lang="en-US" sz="2199" dirty="0">
                <a:solidFill>
                  <a:srgbClr val="000000"/>
                </a:solidFill>
                <a:latin typeface="Poppins"/>
                <a:ea typeface="Poppins"/>
                <a:cs typeface="Poppins"/>
                <a:sym typeface="Poppins"/>
              </a:rPr>
              <a:t> led to any penalty. Our aim is to reach out proactively before </a:t>
            </a:r>
          </a:p>
          <a:p>
            <a:pPr lvl="0" defTabSz="914400">
              <a:lnSpc>
                <a:spcPts val="3079"/>
              </a:lnSpc>
              <a:spcBef>
                <a:spcPct val="0"/>
              </a:spcBef>
              <a:defRPr/>
            </a:pPr>
            <a:r>
              <a:rPr lang="en-US" sz="2199" dirty="0">
                <a:solidFill>
                  <a:srgbClr val="000000"/>
                </a:solidFill>
                <a:latin typeface="Poppins"/>
                <a:ea typeface="Poppins"/>
                <a:cs typeface="Poppins"/>
                <a:sym typeface="Poppins"/>
              </a:rPr>
              <a:t> any review submissions occur that might result in penalization.</a:t>
            </a:r>
          </a:p>
          <a:p>
            <a:pPr lvl="0" defTabSz="914400">
              <a:lnSpc>
                <a:spcPts val="3079"/>
              </a:lnSpc>
              <a:spcBef>
                <a:spcPct val="0"/>
              </a:spcBef>
              <a:defRPr/>
            </a:pPr>
            <a:endParaRPr lang="en-US" sz="2199" dirty="0">
              <a:solidFill>
                <a:srgbClr val="000000"/>
              </a:solidFill>
              <a:latin typeface="Poppins"/>
              <a:ea typeface="Poppins"/>
              <a:cs typeface="Poppins"/>
              <a:sym typeface="Poppins"/>
            </a:endParaRPr>
          </a:p>
          <a:p>
            <a:pPr lvl="0" defTabSz="914400">
              <a:lnSpc>
                <a:spcPts val="3079"/>
              </a:lnSpc>
              <a:spcBef>
                <a:spcPct val="0"/>
              </a:spcBef>
              <a:defRPr/>
            </a:pPr>
            <a:r>
              <a:rPr lang="en-US" sz="2199" dirty="0">
                <a:solidFill>
                  <a:srgbClr val="000000"/>
                </a:solidFill>
                <a:latin typeface="Poppins"/>
                <a:ea typeface="Poppins"/>
                <a:cs typeface="Poppins"/>
                <a:sym typeface="Poppins"/>
              </a:rPr>
              <a:t> We recommend you review your own activity on Tripadvisor and speak </a:t>
            </a:r>
          </a:p>
          <a:p>
            <a:pPr lvl="0" defTabSz="914400">
              <a:lnSpc>
                <a:spcPts val="3079"/>
              </a:lnSpc>
              <a:spcBef>
                <a:spcPct val="0"/>
              </a:spcBef>
              <a:defRPr/>
            </a:pPr>
            <a:r>
              <a:rPr lang="en-US" sz="2199" dirty="0">
                <a:solidFill>
                  <a:srgbClr val="000000"/>
                </a:solidFill>
                <a:latin typeface="Poppins"/>
                <a:ea typeface="Poppins"/>
                <a:cs typeface="Poppins"/>
                <a:sym typeface="Poppins"/>
              </a:rPr>
              <a:t> with your staff and vendors (especially those that might interact with your </a:t>
            </a:r>
          </a:p>
          <a:p>
            <a:pPr lvl="0" defTabSz="914400">
              <a:lnSpc>
                <a:spcPts val="3079"/>
              </a:lnSpc>
              <a:spcBef>
                <a:spcPct val="0"/>
              </a:spcBef>
              <a:defRPr/>
            </a:pPr>
            <a:r>
              <a:rPr lang="en-US" sz="2199" dirty="0">
                <a:solidFill>
                  <a:srgbClr val="000000"/>
                </a:solidFill>
                <a:latin typeface="Poppins"/>
                <a:ea typeface="Poppins"/>
                <a:cs typeface="Poppins"/>
                <a:sym typeface="Poppins"/>
              </a:rPr>
              <a:t> Tripadvisor listing, like social media managers) to ensure everyone is</a:t>
            </a:r>
          </a:p>
          <a:p>
            <a:pPr lvl="0" defTabSz="914400">
              <a:lnSpc>
                <a:spcPts val="3079"/>
              </a:lnSpc>
              <a:spcBef>
                <a:spcPct val="0"/>
              </a:spcBef>
              <a:defRPr/>
            </a:pPr>
            <a:r>
              <a:rPr lang="en-US" sz="2199" dirty="0">
                <a:solidFill>
                  <a:srgbClr val="000000"/>
                </a:solidFill>
                <a:latin typeface="Poppins"/>
                <a:ea typeface="Poppins"/>
                <a:cs typeface="Poppins"/>
                <a:sym typeface="Poppins"/>
              </a:rPr>
              <a:t> familiar with &lt;a </a:t>
            </a:r>
            <a:r>
              <a:rPr lang="en-US" sz="2199" dirty="0" err="1">
                <a:solidFill>
                  <a:srgbClr val="000000"/>
                </a:solidFill>
                <a:latin typeface="Poppins"/>
                <a:ea typeface="Poppins"/>
                <a:cs typeface="Poppins"/>
                <a:sym typeface="Poppins"/>
              </a:rPr>
              <a:t>href</a:t>
            </a:r>
            <a:r>
              <a:rPr lang="en-US" sz="2199" dirty="0">
                <a:solidFill>
                  <a:srgbClr val="000000"/>
                </a:solidFill>
                <a:latin typeface="Poppins"/>
                <a:ea typeface="Poppins"/>
                <a:cs typeface="Poppins"/>
                <a:sym typeface="Poppins"/>
              </a:rPr>
              <a:t>="https://www.tripadvisorsupport.com/hc/en-us/articles/200615037 "&gt;our guidelines&lt;/a&gt;. </a:t>
            </a:r>
          </a:p>
          <a:p>
            <a:pPr lvl="0" defTabSz="914400">
              <a:lnSpc>
                <a:spcPts val="3079"/>
              </a:lnSpc>
              <a:spcBef>
                <a:spcPct val="0"/>
              </a:spcBef>
              <a:defRPr/>
            </a:pPr>
            <a:endParaRPr lang="en-US" sz="2199" dirty="0">
              <a:solidFill>
                <a:srgbClr val="000000"/>
              </a:solidFill>
              <a:latin typeface="Poppins"/>
              <a:ea typeface="Poppins"/>
              <a:cs typeface="Poppins"/>
              <a:sym typeface="Poppins"/>
            </a:endParaRPr>
          </a:p>
          <a:p>
            <a:pPr lvl="0" defTabSz="914400">
              <a:lnSpc>
                <a:spcPts val="3079"/>
              </a:lnSpc>
              <a:spcBef>
                <a:spcPct val="0"/>
              </a:spcBef>
              <a:defRPr/>
            </a:pPr>
            <a:r>
              <a:rPr lang="en-US" sz="2199" dirty="0">
                <a:solidFill>
                  <a:srgbClr val="000000"/>
                </a:solidFill>
                <a:latin typeface="Poppins"/>
                <a:ea typeface="Poppins"/>
                <a:cs typeface="Poppins"/>
                <a:sym typeface="Poppins"/>
              </a:rPr>
              <a:t> Tripadvisor Content Integrity</a:t>
            </a:r>
          </a:p>
          <a:p>
            <a:pPr lvl="0" defTabSz="914400">
              <a:lnSpc>
                <a:spcPts val="3079"/>
              </a:lnSpc>
              <a:spcBef>
                <a:spcPct val="0"/>
              </a:spcBef>
              <a:defRPr/>
            </a:pPr>
            <a:r>
              <a:rPr lang="en-US" sz="2199" dirty="0">
                <a:solidFill>
                  <a:srgbClr val="000000"/>
                </a:solidFill>
                <a:latin typeface="Poppins"/>
                <a:ea typeface="Poppins"/>
                <a:cs typeface="Poppins"/>
                <a:sym typeface="Poppins"/>
              </a:rPr>
              <a:t> 127SUS</a:t>
            </a:r>
          </a:p>
          <a:p>
            <a:pPr lvl="0" defTabSz="914400">
              <a:lnSpc>
                <a:spcPts val="3079"/>
              </a:lnSpc>
              <a:spcBef>
                <a:spcPct val="0"/>
              </a:spcBef>
              <a:defRPr/>
            </a:pPr>
            <a:r>
              <a:rPr lang="en-US" sz="2199" dirty="0">
                <a:solidFill>
                  <a:srgbClr val="000000"/>
                </a:solidFill>
                <a:latin typeface="Poppins"/>
                <a:ea typeface="Poppins"/>
                <a:cs typeface="Poppins"/>
                <a:sym typeface="Poppins"/>
              </a:rPr>
              <a:t> Name of property: </a:t>
            </a:r>
            <a:r>
              <a:rPr lang="en-US" sz="2199" dirty="0" err="1">
                <a:solidFill>
                  <a:srgbClr val="000000"/>
                </a:solidFill>
                <a:latin typeface="Poppins"/>
                <a:ea typeface="Poppins"/>
                <a:cs typeface="Poppins"/>
                <a:sym typeface="Poppins"/>
              </a:rPr>
              <a:t>xxxxxxx</a:t>
            </a:r>
            <a:endParaRPr lang="en-US" sz="2199" dirty="0">
              <a:solidFill>
                <a:srgbClr val="000000"/>
              </a:solidFill>
              <a:latin typeface="Poppins"/>
              <a:ea typeface="Poppins"/>
              <a:cs typeface="Poppins"/>
              <a:sym typeface="Poppins"/>
            </a:endParaRPr>
          </a:p>
          <a:p>
            <a:pPr lvl="0" defTabSz="914400">
              <a:lnSpc>
                <a:spcPts val="3079"/>
              </a:lnSpc>
              <a:spcBef>
                <a:spcPct val="0"/>
              </a:spcBef>
              <a:defRPr/>
            </a:pPr>
            <a:r>
              <a:rPr lang="en-US" sz="2199" dirty="0">
                <a:solidFill>
                  <a:srgbClr val="000000"/>
                </a:solidFill>
                <a:latin typeface="Poppins"/>
                <a:ea typeface="Poppins"/>
                <a:cs typeface="Poppins"/>
                <a:sym typeface="Poppins"/>
              </a:rPr>
              <a:t> </a:t>
            </a:r>
            <a:r>
              <a:rPr lang="en-US" sz="2199" dirty="0" err="1">
                <a:solidFill>
                  <a:srgbClr val="000000"/>
                </a:solidFill>
                <a:latin typeface="Poppins"/>
                <a:ea typeface="Poppins"/>
                <a:cs typeface="Poppins"/>
                <a:sym typeface="Poppins"/>
              </a:rPr>
              <a:t>LocID</a:t>
            </a:r>
            <a:r>
              <a:rPr lang="en-US" sz="2199" dirty="0">
                <a:solidFill>
                  <a:srgbClr val="000000"/>
                </a:solidFill>
                <a:latin typeface="Poppins"/>
                <a:ea typeface="Poppins"/>
                <a:cs typeface="Poppins"/>
                <a:sym typeface="Poppins"/>
              </a:rPr>
              <a:t>: </a:t>
            </a:r>
            <a:r>
              <a:rPr lang="en-US" sz="2199" dirty="0" err="1">
                <a:solidFill>
                  <a:srgbClr val="000000"/>
                </a:solidFill>
                <a:latin typeface="Poppins"/>
                <a:ea typeface="Poppins"/>
                <a:cs typeface="Poppins"/>
                <a:sym typeface="Poppins"/>
              </a:rPr>
              <a:t>xxxxxx</a:t>
            </a:r>
            <a:endParaRPr lang="en-US" sz="2199" dirty="0">
              <a:solidFill>
                <a:srgbClr val="000000"/>
              </a:solidFill>
              <a:latin typeface="Poppins"/>
              <a:ea typeface="Poppins"/>
              <a:cs typeface="Poppins"/>
              <a:sym typeface="Poppins"/>
            </a:endParaRPr>
          </a:p>
        </p:txBody>
      </p:sp>
      <p:pic>
        <p:nvPicPr>
          <p:cNvPr id="9" name="Picture 8">
            <a:extLst>
              <a:ext uri="{FF2B5EF4-FFF2-40B4-BE49-F238E27FC236}">
                <a16:creationId xmlns:a16="http://schemas.microsoft.com/office/drawing/2014/main" id="{58410EBA-0AE3-EFF2-6CD1-ADB695799AEF}"/>
              </a:ext>
              <a:ext uri="{C183D7F6-B498-43B3-948B-1728B52AA6E4}">
                <adec:decorative xmlns:adec="http://schemas.microsoft.com/office/drawing/2017/decorative" val="1"/>
              </a:ext>
            </a:extLst>
          </p:cNvPr>
          <p:cNvPicPr>
            <a:picLocks noChangeAspect="1"/>
          </p:cNvPicPr>
          <p:nvPr/>
        </p:nvPicPr>
        <p:blipFill>
          <a:blip r:embed="rId4"/>
          <a:srcRect l="24795" t="9206" r="51025" b="50484"/>
          <a:stretch>
            <a:fillRect/>
          </a:stretch>
        </p:blipFill>
        <p:spPr>
          <a:xfrm>
            <a:off x="12729787" y="2084018"/>
            <a:ext cx="3515598" cy="3905302"/>
          </a:xfrm>
          <a:prstGeom prst="rect">
            <a:avLst/>
          </a:prstGeom>
        </p:spPr>
      </p:pic>
    </p:spTree>
    <p:extLst>
      <p:ext uri="{BB962C8B-B14F-4D97-AF65-F5344CB8AC3E}">
        <p14:creationId xmlns:p14="http://schemas.microsoft.com/office/powerpoint/2010/main" val="1281228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095D15-6AA1-94F6-1865-2B24E5BFA9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020" y="-1325880"/>
            <a:ext cx="21076920" cy="11855768"/>
          </a:xfrm>
          <a:prstGeom prst="rect">
            <a:avLst/>
          </a:prstGeom>
        </p:spPr>
      </p:pic>
    </p:spTree>
    <p:extLst>
      <p:ext uri="{BB962C8B-B14F-4D97-AF65-F5344CB8AC3E}">
        <p14:creationId xmlns:p14="http://schemas.microsoft.com/office/powerpoint/2010/main" val="16250704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5959"/>
        </a:solidFill>
        <a:effectLst/>
      </p:bgPr>
    </p:bg>
    <p:spTree>
      <p:nvGrpSpPr>
        <p:cNvPr id="1" name=""/>
        <p:cNvGrpSpPr/>
        <p:nvPr/>
      </p:nvGrpSpPr>
      <p:grpSpPr>
        <a:xfrm>
          <a:off x="0" y="0"/>
          <a:ext cx="0" cy="0"/>
          <a:chOff x="0" y="0"/>
          <a:chExt cx="0" cy="0"/>
        </a:xfrm>
      </p:grpSpPr>
      <p:sp>
        <p:nvSpPr>
          <p:cNvPr id="29" name="TextBox 28">
            <a:extLst>
              <a:ext uri="{FF2B5EF4-FFF2-40B4-BE49-F238E27FC236}">
                <a16:creationId xmlns:a16="http://schemas.microsoft.com/office/drawing/2014/main" id="{320615A7-04C8-B73C-E44B-9D062F38782E}"/>
              </a:ext>
            </a:extLst>
          </p:cNvPr>
          <p:cNvSpPr txBox="1"/>
          <p:nvPr/>
        </p:nvSpPr>
        <p:spPr>
          <a:xfrm>
            <a:off x="577141" y="9628801"/>
            <a:ext cx="10000001" cy="307777"/>
          </a:xfrm>
          <a:prstGeom prst="rect">
            <a:avLst/>
          </a:prstGeom>
          <a:noFill/>
        </p:spPr>
        <p:txBody>
          <a:bodyPr wrap="square" anchor="t">
            <a:spAutoFit/>
          </a:bodyPr>
          <a:lstStyle/>
          <a:p>
            <a:pPr defTabSz="914445"/>
            <a:r>
              <a:rPr sz="1400" dirty="0">
                <a:solidFill>
                  <a:srgbClr val="8A8272"/>
                </a:solidFill>
                <a:latin typeface="Poppins"/>
              </a:rPr>
              <a:t>T</a:t>
            </a:r>
            <a:r>
              <a:rPr lang="en-US" sz="1400" dirty="0">
                <a:solidFill>
                  <a:srgbClr val="8A8272"/>
                </a:solidFill>
                <a:latin typeface="Poppins"/>
              </a:rPr>
              <a:t>ripadvisor</a:t>
            </a:r>
            <a:r>
              <a:rPr sz="1400" dirty="0">
                <a:solidFill>
                  <a:srgbClr val="8A8272"/>
                </a:solidFill>
                <a:latin typeface="Poppins"/>
              </a:rPr>
              <a:t> / F</a:t>
            </a:r>
            <a:r>
              <a:rPr lang="en-US" sz="1400" dirty="0">
                <a:solidFill>
                  <a:srgbClr val="8A8272"/>
                </a:solidFill>
                <a:latin typeface="Poppins"/>
              </a:rPr>
              <a:t>raud letters</a:t>
            </a:r>
            <a:endParaRPr sz="1400" dirty="0">
              <a:solidFill>
                <a:srgbClr val="8A8272"/>
              </a:solidFill>
              <a:latin typeface="Poppins"/>
            </a:endParaRPr>
          </a:p>
        </p:txBody>
      </p:sp>
      <p:sp>
        <p:nvSpPr>
          <p:cNvPr id="24" name="Freeform 3">
            <a:extLst>
              <a:ext uri="{FF2B5EF4-FFF2-40B4-BE49-F238E27FC236}">
                <a16:creationId xmlns:a16="http://schemas.microsoft.com/office/drawing/2014/main" id="{34975E8A-1B86-125D-3D38-295E0D65316A}"/>
              </a:ext>
            </a:extLst>
          </p:cNvPr>
          <p:cNvSpPr/>
          <p:nvPr/>
        </p:nvSpPr>
        <p:spPr>
          <a:xfrm>
            <a:off x="1413604" y="1964803"/>
            <a:ext cx="15307499" cy="6841912"/>
          </a:xfrm>
          <a:custGeom>
            <a:avLst/>
            <a:gdLst/>
            <a:ahLst/>
            <a:cxnLst/>
            <a:rect l="l" t="t" r="r" b="b"/>
            <a:pathLst>
              <a:path w="4168963" h="2308218">
                <a:moveTo>
                  <a:pt x="0" y="0"/>
                </a:moveTo>
                <a:lnTo>
                  <a:pt x="4168963" y="0"/>
                </a:lnTo>
                <a:lnTo>
                  <a:pt x="4168963" y="2308218"/>
                </a:lnTo>
                <a:lnTo>
                  <a:pt x="0" y="2308218"/>
                </a:lnTo>
                <a:close/>
              </a:path>
            </a:pathLst>
          </a:custGeom>
          <a:solidFill>
            <a:srgbClr val="FFFFFF"/>
          </a:solidFill>
          <a:ln w="38100" cap="sq">
            <a:solidFill>
              <a:srgbClr val="002B1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5" name="TextBox 4">
            <a:extLst>
              <a:ext uri="{FF2B5EF4-FFF2-40B4-BE49-F238E27FC236}">
                <a16:creationId xmlns:a16="http://schemas.microsoft.com/office/drawing/2014/main" id="{BF3FF566-1F91-F972-ED12-F3021B18EAF7}"/>
              </a:ext>
            </a:extLst>
          </p:cNvPr>
          <p:cNvSpPr txBox="1"/>
          <p:nvPr/>
        </p:nvSpPr>
        <p:spPr>
          <a:xfrm>
            <a:off x="1253685" y="1615795"/>
            <a:ext cx="15307499" cy="8166894"/>
          </a:xfrm>
          <a:prstGeom prst="rect">
            <a:avLst/>
          </a:prstGeom>
        </p:spPr>
        <p:txBody>
          <a:bodyPr lIns="50800" tIns="50800" rIns="50800" bIns="50800" rtlCol="0" anchor="ctr"/>
          <a:lstStyle/>
          <a:p>
            <a:pPr marL="0" marR="0" lvl="0" indent="0" algn="ctr" defTabSz="914400" rtl="0" eaLnBrk="1" fontAlgn="auto" latinLnBrk="0" hangingPunct="1">
              <a:lnSpc>
                <a:spcPts val="3252"/>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2" name="Group 5">
            <a:extLst>
              <a:ext uri="{FF2B5EF4-FFF2-40B4-BE49-F238E27FC236}">
                <a16:creationId xmlns:a16="http://schemas.microsoft.com/office/drawing/2014/main" id="{C252F576-38AB-1120-9531-6152028DD42B}"/>
              </a:ext>
            </a:extLst>
          </p:cNvPr>
          <p:cNvGrpSpPr/>
          <p:nvPr/>
        </p:nvGrpSpPr>
        <p:grpSpPr>
          <a:xfrm>
            <a:off x="1413063" y="753319"/>
            <a:ext cx="15307499" cy="1211413"/>
            <a:chOff x="0" y="-57150"/>
            <a:chExt cx="4168963" cy="422442"/>
          </a:xfrm>
        </p:grpSpPr>
        <p:sp>
          <p:nvSpPr>
            <p:cNvPr id="3" name="Freeform 6">
              <a:extLst>
                <a:ext uri="{FF2B5EF4-FFF2-40B4-BE49-F238E27FC236}">
                  <a16:creationId xmlns:a16="http://schemas.microsoft.com/office/drawing/2014/main" id="{31268A43-8615-4DF7-4095-972EE64C99E3}"/>
                </a:ext>
              </a:extLst>
            </p:cNvPr>
            <p:cNvSpPr/>
            <p:nvPr/>
          </p:nvSpPr>
          <p:spPr>
            <a:xfrm>
              <a:off x="0" y="0"/>
              <a:ext cx="4168963" cy="365292"/>
            </a:xfrm>
            <a:custGeom>
              <a:avLst/>
              <a:gdLst/>
              <a:ahLst/>
              <a:cxnLst/>
              <a:rect l="l" t="t" r="r" b="b"/>
              <a:pathLst>
                <a:path w="4168963" h="365292">
                  <a:moveTo>
                    <a:pt x="0" y="0"/>
                  </a:moveTo>
                  <a:lnTo>
                    <a:pt x="4168963" y="0"/>
                  </a:lnTo>
                  <a:lnTo>
                    <a:pt x="4168963" y="365292"/>
                  </a:lnTo>
                  <a:lnTo>
                    <a:pt x="0" y="365292"/>
                  </a:lnTo>
                  <a:close/>
                </a:path>
              </a:pathLst>
            </a:custGeom>
            <a:solidFill>
              <a:srgbClr val="002B11"/>
            </a:solidFill>
            <a:ln w="38100" cap="sq">
              <a:solidFill>
                <a:srgbClr val="002B1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 name="TextBox 7">
              <a:extLst>
                <a:ext uri="{FF2B5EF4-FFF2-40B4-BE49-F238E27FC236}">
                  <a16:creationId xmlns:a16="http://schemas.microsoft.com/office/drawing/2014/main" id="{B038EE4E-1B11-E7D2-2381-6D7F7466A212}"/>
                </a:ext>
              </a:extLst>
            </p:cNvPr>
            <p:cNvSpPr txBox="1"/>
            <p:nvPr/>
          </p:nvSpPr>
          <p:spPr>
            <a:xfrm>
              <a:off x="0" y="-57150"/>
              <a:ext cx="4168963" cy="422442"/>
            </a:xfrm>
            <a:prstGeom prst="rect">
              <a:avLst/>
            </a:prstGeom>
          </p:spPr>
          <p:txBody>
            <a:bodyPr lIns="50800" tIns="50800" rIns="50800" bIns="50800" rtlCol="0" anchor="ctr"/>
            <a:lstStyle/>
            <a:p>
              <a:pPr marL="0" marR="0" lvl="0" indent="0" algn="ctr" defTabSz="914400" rtl="0" eaLnBrk="1" fontAlgn="auto" latinLnBrk="0" hangingPunct="1">
                <a:lnSpc>
                  <a:spcPts val="3252"/>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 name="TextBox 20">
            <a:extLst>
              <a:ext uri="{FF2B5EF4-FFF2-40B4-BE49-F238E27FC236}">
                <a16:creationId xmlns:a16="http://schemas.microsoft.com/office/drawing/2014/main" id="{D38888FD-34A8-E27F-2DA2-095EA2CAD817}"/>
              </a:ext>
            </a:extLst>
          </p:cNvPr>
          <p:cNvSpPr txBox="1"/>
          <p:nvPr/>
        </p:nvSpPr>
        <p:spPr>
          <a:xfrm>
            <a:off x="1771011" y="991511"/>
            <a:ext cx="8632209" cy="888769"/>
          </a:xfrm>
          <a:prstGeom prst="rect">
            <a:avLst/>
          </a:prstGeom>
        </p:spPr>
        <p:txBody>
          <a:bodyPr lIns="0" tIns="0" rIns="0" bIns="0" rtlCol="0" anchor="t">
            <a:spAutoFit/>
          </a:bodyPr>
          <a:lstStyle/>
          <a:p>
            <a:pPr marL="0" marR="0" lvl="0" indent="0" algn="l" defTabSz="914400" rtl="0" eaLnBrk="1" fontAlgn="auto" latinLnBrk="0" hangingPunct="1">
              <a:lnSpc>
                <a:spcPts val="7279"/>
              </a:lnSpc>
              <a:spcBef>
                <a:spcPct val="0"/>
              </a:spcBef>
              <a:spcAft>
                <a:spcPts val="0"/>
              </a:spcAft>
              <a:buClrTx/>
              <a:buSzTx/>
              <a:buFontTx/>
              <a:buNone/>
              <a:tabLst/>
              <a:defRPr/>
            </a:pPr>
            <a:r>
              <a:rPr kumimoji="0" lang="en-US" sz="5199" b="1" i="0" u="none" strike="noStrike" kern="1200" cap="none" spc="0" normalizeH="0" baseline="0" noProof="0" dirty="0">
                <a:ln>
                  <a:noFill/>
                </a:ln>
                <a:solidFill>
                  <a:schemeClr val="bg1"/>
                </a:solidFill>
                <a:effectLst/>
                <a:uLnTx/>
                <a:uFillTx/>
                <a:latin typeface="Poppins Bold"/>
                <a:ea typeface="Poppins Bold"/>
                <a:cs typeface="Poppins Bold"/>
                <a:sym typeface="Poppins Bold"/>
              </a:rPr>
              <a:t>Sample Fraud Letter</a:t>
            </a:r>
          </a:p>
        </p:txBody>
      </p:sp>
      <p:grpSp>
        <p:nvGrpSpPr>
          <p:cNvPr id="11" name="Group 8">
            <a:extLst>
              <a:ext uri="{FF2B5EF4-FFF2-40B4-BE49-F238E27FC236}">
                <a16:creationId xmlns:a16="http://schemas.microsoft.com/office/drawing/2014/main" id="{91EAA179-9844-940D-7903-FF76CDEBEBB0}"/>
              </a:ext>
            </a:extLst>
          </p:cNvPr>
          <p:cNvGrpSpPr/>
          <p:nvPr/>
        </p:nvGrpSpPr>
        <p:grpSpPr>
          <a:xfrm>
            <a:off x="13485201" y="1365420"/>
            <a:ext cx="453522" cy="97285"/>
            <a:chOff x="0" y="0"/>
            <a:chExt cx="119446" cy="25622"/>
          </a:xfrm>
        </p:grpSpPr>
        <p:sp>
          <p:nvSpPr>
            <p:cNvPr id="12" name="Freeform 9">
              <a:extLst>
                <a:ext uri="{FF2B5EF4-FFF2-40B4-BE49-F238E27FC236}">
                  <a16:creationId xmlns:a16="http://schemas.microsoft.com/office/drawing/2014/main" id="{F1108279-0D15-975C-3C0A-D9CD63218A3A}"/>
                </a:ext>
              </a:extLst>
            </p:cNvPr>
            <p:cNvSpPr/>
            <p:nvPr/>
          </p:nvSpPr>
          <p:spPr>
            <a:xfrm>
              <a:off x="0" y="0"/>
              <a:ext cx="119446" cy="25622"/>
            </a:xfrm>
            <a:custGeom>
              <a:avLst/>
              <a:gdLst/>
              <a:ahLst/>
              <a:cxnLst/>
              <a:rect l="l" t="t" r="r" b="b"/>
              <a:pathLst>
                <a:path w="119446" h="25622">
                  <a:moveTo>
                    <a:pt x="0" y="0"/>
                  </a:moveTo>
                  <a:lnTo>
                    <a:pt x="119446" y="0"/>
                  </a:lnTo>
                  <a:lnTo>
                    <a:pt x="119446" y="25622"/>
                  </a:lnTo>
                  <a:lnTo>
                    <a:pt x="0" y="25622"/>
                  </a:lnTo>
                  <a:close/>
                </a:path>
              </a:pathLst>
            </a:custGeom>
            <a:solidFill>
              <a:srgbClr val="002B11"/>
            </a:solidFill>
            <a:ln cap="sq">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0">
              <a:extLst>
                <a:ext uri="{FF2B5EF4-FFF2-40B4-BE49-F238E27FC236}">
                  <a16:creationId xmlns:a16="http://schemas.microsoft.com/office/drawing/2014/main" id="{BD13B017-38B4-19F2-1F0D-7BE839827FDD}"/>
                </a:ext>
              </a:extLst>
            </p:cNvPr>
            <p:cNvSpPr txBox="1"/>
            <p:nvPr/>
          </p:nvSpPr>
          <p:spPr>
            <a:xfrm>
              <a:off x="0" y="-57150"/>
              <a:ext cx="119446" cy="82772"/>
            </a:xfrm>
            <a:prstGeom prst="rect">
              <a:avLst/>
            </a:prstGeom>
          </p:spPr>
          <p:txBody>
            <a:bodyPr lIns="50800" tIns="50800" rIns="50800" bIns="50800" rtlCol="0" anchor="ctr"/>
            <a:lstStyle/>
            <a:p>
              <a:pPr marL="0" marR="0" lvl="0" indent="0" algn="ctr" defTabSz="914400" rtl="0" eaLnBrk="1" fontAlgn="auto" latinLnBrk="0" hangingPunct="1">
                <a:lnSpc>
                  <a:spcPts val="3252"/>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5" name="Freeform 19">
            <a:extLst>
              <a:ext uri="{FF2B5EF4-FFF2-40B4-BE49-F238E27FC236}">
                <a16:creationId xmlns:a16="http://schemas.microsoft.com/office/drawing/2014/main" id="{DE4568E4-B616-0AD2-390E-F24EA660A6BB}"/>
              </a:ext>
            </a:extLst>
          </p:cNvPr>
          <p:cNvSpPr/>
          <p:nvPr/>
        </p:nvSpPr>
        <p:spPr>
          <a:xfrm>
            <a:off x="14595123" y="1233861"/>
            <a:ext cx="463872" cy="457687"/>
          </a:xfrm>
          <a:custGeom>
            <a:avLst/>
            <a:gdLst/>
            <a:ahLst/>
            <a:cxnLst/>
            <a:rect l="l" t="t" r="r" b="b"/>
            <a:pathLst>
              <a:path w="463872" h="457687">
                <a:moveTo>
                  <a:pt x="0" y="0"/>
                </a:moveTo>
                <a:lnTo>
                  <a:pt x="463872" y="0"/>
                </a:lnTo>
                <a:lnTo>
                  <a:pt x="463872" y="457688"/>
                </a:lnTo>
                <a:lnTo>
                  <a:pt x="0" y="45768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6" name="Group 12">
            <a:extLst>
              <a:ext uri="{FF2B5EF4-FFF2-40B4-BE49-F238E27FC236}">
                <a16:creationId xmlns:a16="http://schemas.microsoft.com/office/drawing/2014/main" id="{D1CFC708-671D-AD8E-BC13-CB574C4D39B4}"/>
              </a:ext>
            </a:extLst>
          </p:cNvPr>
          <p:cNvGrpSpPr/>
          <p:nvPr/>
        </p:nvGrpSpPr>
        <p:grpSpPr>
          <a:xfrm rot="18892588">
            <a:off x="15715394" y="1187301"/>
            <a:ext cx="453522" cy="453522"/>
            <a:chOff x="0" y="0"/>
            <a:chExt cx="604696" cy="604696"/>
          </a:xfrm>
        </p:grpSpPr>
        <p:grpSp>
          <p:nvGrpSpPr>
            <p:cNvPr id="17" name="Group 13">
              <a:extLst>
                <a:ext uri="{FF2B5EF4-FFF2-40B4-BE49-F238E27FC236}">
                  <a16:creationId xmlns:a16="http://schemas.microsoft.com/office/drawing/2014/main" id="{E40EB620-64D0-FE44-C0B6-2A0264A9A053}"/>
                </a:ext>
              </a:extLst>
            </p:cNvPr>
            <p:cNvGrpSpPr/>
            <p:nvPr/>
          </p:nvGrpSpPr>
          <p:grpSpPr>
            <a:xfrm>
              <a:off x="0" y="237491"/>
              <a:ext cx="604696" cy="129714"/>
              <a:chOff x="0" y="0"/>
              <a:chExt cx="119446" cy="25622"/>
            </a:xfrm>
          </p:grpSpPr>
          <p:sp>
            <p:nvSpPr>
              <p:cNvPr id="21" name="Freeform 14">
                <a:extLst>
                  <a:ext uri="{FF2B5EF4-FFF2-40B4-BE49-F238E27FC236}">
                    <a16:creationId xmlns:a16="http://schemas.microsoft.com/office/drawing/2014/main" id="{206F8DA6-597C-FA1F-AF96-14270C13AA3C}"/>
                  </a:ext>
                </a:extLst>
              </p:cNvPr>
              <p:cNvSpPr/>
              <p:nvPr/>
            </p:nvSpPr>
            <p:spPr>
              <a:xfrm>
                <a:off x="0" y="0"/>
                <a:ext cx="119446" cy="25622"/>
              </a:xfrm>
              <a:custGeom>
                <a:avLst/>
                <a:gdLst/>
                <a:ahLst/>
                <a:cxnLst/>
                <a:rect l="l" t="t" r="r" b="b"/>
                <a:pathLst>
                  <a:path w="119446" h="25622">
                    <a:moveTo>
                      <a:pt x="0" y="0"/>
                    </a:moveTo>
                    <a:lnTo>
                      <a:pt x="119446" y="0"/>
                    </a:lnTo>
                    <a:lnTo>
                      <a:pt x="119446" y="25622"/>
                    </a:lnTo>
                    <a:lnTo>
                      <a:pt x="0" y="25622"/>
                    </a:lnTo>
                    <a:close/>
                  </a:path>
                </a:pathLst>
              </a:custGeom>
              <a:solidFill>
                <a:srgbClr val="002B11"/>
              </a:solidFill>
              <a:ln cap="sq">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2" name="TextBox 15">
                <a:extLst>
                  <a:ext uri="{FF2B5EF4-FFF2-40B4-BE49-F238E27FC236}">
                    <a16:creationId xmlns:a16="http://schemas.microsoft.com/office/drawing/2014/main" id="{4FC84666-D417-AF83-08FD-230F7C7BFE52}"/>
                  </a:ext>
                </a:extLst>
              </p:cNvPr>
              <p:cNvSpPr txBox="1"/>
              <p:nvPr/>
            </p:nvSpPr>
            <p:spPr>
              <a:xfrm>
                <a:off x="0" y="-57150"/>
                <a:ext cx="119446" cy="82772"/>
              </a:xfrm>
              <a:prstGeom prst="rect">
                <a:avLst/>
              </a:prstGeom>
            </p:spPr>
            <p:txBody>
              <a:bodyPr lIns="50800" tIns="50800" rIns="50800" bIns="50800" rtlCol="0" anchor="ctr"/>
              <a:lstStyle/>
              <a:p>
                <a:pPr marL="0" marR="0" lvl="0" indent="0" algn="ctr" defTabSz="914400" rtl="0" eaLnBrk="1" fontAlgn="auto" latinLnBrk="0" hangingPunct="1">
                  <a:lnSpc>
                    <a:spcPts val="3252"/>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8" name="Group 16">
              <a:extLst>
                <a:ext uri="{FF2B5EF4-FFF2-40B4-BE49-F238E27FC236}">
                  <a16:creationId xmlns:a16="http://schemas.microsoft.com/office/drawing/2014/main" id="{F22C1384-C0D8-29C7-1618-8C3B6652FBA8}"/>
                </a:ext>
              </a:extLst>
            </p:cNvPr>
            <p:cNvGrpSpPr/>
            <p:nvPr/>
          </p:nvGrpSpPr>
          <p:grpSpPr>
            <a:xfrm rot="5400000">
              <a:off x="0" y="237491"/>
              <a:ext cx="604696" cy="129714"/>
              <a:chOff x="0" y="0"/>
              <a:chExt cx="119446" cy="25622"/>
            </a:xfrm>
          </p:grpSpPr>
          <p:sp>
            <p:nvSpPr>
              <p:cNvPr id="19" name="Freeform 17">
                <a:extLst>
                  <a:ext uri="{FF2B5EF4-FFF2-40B4-BE49-F238E27FC236}">
                    <a16:creationId xmlns:a16="http://schemas.microsoft.com/office/drawing/2014/main" id="{4EE56401-A1CB-D038-0A47-25E0D75E4A7F}"/>
                  </a:ext>
                </a:extLst>
              </p:cNvPr>
              <p:cNvSpPr/>
              <p:nvPr/>
            </p:nvSpPr>
            <p:spPr>
              <a:xfrm>
                <a:off x="0" y="0"/>
                <a:ext cx="119446" cy="25622"/>
              </a:xfrm>
              <a:custGeom>
                <a:avLst/>
                <a:gdLst/>
                <a:ahLst/>
                <a:cxnLst/>
                <a:rect l="l" t="t" r="r" b="b"/>
                <a:pathLst>
                  <a:path w="119446" h="25622">
                    <a:moveTo>
                      <a:pt x="0" y="0"/>
                    </a:moveTo>
                    <a:lnTo>
                      <a:pt x="119446" y="0"/>
                    </a:lnTo>
                    <a:lnTo>
                      <a:pt x="119446" y="25622"/>
                    </a:lnTo>
                    <a:lnTo>
                      <a:pt x="0" y="25622"/>
                    </a:lnTo>
                    <a:close/>
                  </a:path>
                </a:pathLst>
              </a:custGeom>
              <a:solidFill>
                <a:srgbClr val="002B11"/>
              </a:solidFill>
              <a:ln cap="sq">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Box 18">
                <a:extLst>
                  <a:ext uri="{FF2B5EF4-FFF2-40B4-BE49-F238E27FC236}">
                    <a16:creationId xmlns:a16="http://schemas.microsoft.com/office/drawing/2014/main" id="{1011C79A-DA7D-E80D-31E0-B49D7756EDD9}"/>
                  </a:ext>
                </a:extLst>
              </p:cNvPr>
              <p:cNvSpPr txBox="1"/>
              <p:nvPr/>
            </p:nvSpPr>
            <p:spPr>
              <a:xfrm>
                <a:off x="0" y="-57150"/>
                <a:ext cx="119446" cy="82772"/>
              </a:xfrm>
              <a:prstGeom prst="rect">
                <a:avLst/>
              </a:prstGeom>
            </p:spPr>
            <p:txBody>
              <a:bodyPr lIns="50800" tIns="50800" rIns="50800" bIns="50800" rtlCol="0" anchor="ctr"/>
              <a:lstStyle/>
              <a:p>
                <a:pPr marL="0" marR="0" lvl="0" indent="0" algn="ctr" defTabSz="914400" rtl="0" eaLnBrk="1" fontAlgn="auto" latinLnBrk="0" hangingPunct="1">
                  <a:lnSpc>
                    <a:spcPts val="3252"/>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31" name="TextBox 11">
            <a:extLst>
              <a:ext uri="{FF2B5EF4-FFF2-40B4-BE49-F238E27FC236}">
                <a16:creationId xmlns:a16="http://schemas.microsoft.com/office/drawing/2014/main" id="{4C13D5F6-EA25-579D-074D-BB72728CB342}"/>
              </a:ext>
            </a:extLst>
          </p:cNvPr>
          <p:cNvSpPr txBox="1"/>
          <p:nvPr/>
        </p:nvSpPr>
        <p:spPr>
          <a:xfrm>
            <a:off x="1839718" y="2238675"/>
            <a:ext cx="14296906" cy="5755422"/>
          </a:xfrm>
          <a:prstGeom prst="rect">
            <a:avLst/>
          </a:prstGeom>
        </p:spPr>
        <p:txBody>
          <a:bodyPr wrap="square" lIns="0" tIns="0" rIns="0" bIns="0" rtlCol="0" anchor="t">
            <a:spAutoFit/>
          </a:bodyPr>
          <a:lstStyle/>
          <a:p>
            <a:pPr fontAlgn="auto"/>
            <a:r>
              <a:rPr lang="en-US" sz="2200" dirty="0">
                <a:latin typeface="Poppins" panose="00000500000000000000" pitchFamily="2" charset="0"/>
                <a:cs typeface="Poppins" panose="00000500000000000000" pitchFamily="2" charset="0"/>
              </a:rPr>
              <a:t>To whom it may concern at </a:t>
            </a:r>
            <a:r>
              <a:rPr lang="en-US" sz="2200" dirty="0" err="1">
                <a:latin typeface="Poppins" panose="00000500000000000000" pitchFamily="2" charset="0"/>
                <a:cs typeface="Poppins" panose="00000500000000000000" pitchFamily="2" charset="0"/>
              </a:rPr>
              <a:t>xxxxxxx</a:t>
            </a:r>
            <a:r>
              <a:rPr lang="en-US" sz="2200" dirty="0">
                <a:latin typeface="Poppins" panose="00000500000000000000" pitchFamily="2" charset="0"/>
                <a:cs typeface="Poppins" panose="00000500000000000000" pitchFamily="2" charset="0"/>
              </a:rPr>
              <a:t>,</a:t>
            </a:r>
            <a:br>
              <a:rPr lang="en-US" sz="2200" dirty="0">
                <a:latin typeface="Poppins" panose="00000500000000000000" pitchFamily="2" charset="0"/>
                <a:cs typeface="Poppins" panose="00000500000000000000" pitchFamily="2" charset="0"/>
              </a:rPr>
            </a:br>
            <a:br>
              <a:rPr lang="en-US" sz="2200" dirty="0">
                <a:latin typeface="Poppins" panose="00000500000000000000" pitchFamily="2" charset="0"/>
                <a:cs typeface="Poppins" panose="00000500000000000000" pitchFamily="2" charset="0"/>
              </a:rPr>
            </a:br>
            <a:r>
              <a:rPr lang="en-US" sz="2200" dirty="0">
                <a:latin typeface="Poppins" panose="00000500000000000000" pitchFamily="2" charset="0"/>
                <a:cs typeface="Poppins" panose="00000500000000000000" pitchFamily="2" charset="0"/>
              </a:rPr>
              <a:t>We have detected suspicious review activity linked to your property that violates Tripadvisor policies. Offending reviews have been removed, and penalties applied to your ranking. Please stop any review manipulation immediately.</a:t>
            </a:r>
          </a:p>
          <a:p>
            <a:pPr fontAlgn="auto"/>
            <a:br>
              <a:rPr lang="en-US" sz="2200" dirty="0">
                <a:latin typeface="Poppins" panose="00000500000000000000" pitchFamily="2" charset="0"/>
                <a:cs typeface="Poppins" panose="00000500000000000000" pitchFamily="2" charset="0"/>
              </a:rPr>
            </a:br>
            <a:r>
              <a:rPr lang="en-US" sz="2200" dirty="0">
                <a:latin typeface="Poppins" panose="00000500000000000000" pitchFamily="2" charset="0"/>
                <a:cs typeface="Poppins" panose="00000500000000000000" pitchFamily="2" charset="0"/>
              </a:rPr>
              <a:t>For questions or to appeal, please log in and complete the Guideline Compliance Form.</a:t>
            </a:r>
          </a:p>
          <a:p>
            <a:pPr fontAlgn="auto"/>
            <a:br>
              <a:rPr lang="en-US" sz="2200" dirty="0">
                <a:latin typeface="Poppins" panose="00000500000000000000" pitchFamily="2" charset="0"/>
                <a:cs typeface="Poppins" panose="00000500000000000000" pitchFamily="2" charset="0"/>
              </a:rPr>
            </a:br>
            <a:r>
              <a:rPr lang="en-US" sz="2200" dirty="0">
                <a:latin typeface="Poppins" panose="00000500000000000000" pitchFamily="2" charset="0"/>
                <a:cs typeface="Poppins" panose="00000500000000000000" pitchFamily="2" charset="0"/>
              </a:rPr>
              <a:t>Continued violations may lead to further penalties.</a:t>
            </a:r>
          </a:p>
          <a:p>
            <a:pPr fontAlgn="auto"/>
            <a:br>
              <a:rPr lang="en-US" sz="2200" dirty="0">
                <a:latin typeface="Poppins" panose="00000500000000000000" pitchFamily="2" charset="0"/>
                <a:cs typeface="Poppins" panose="00000500000000000000" pitchFamily="2" charset="0"/>
              </a:rPr>
            </a:br>
            <a:r>
              <a:rPr lang="en-US" sz="2200" dirty="0">
                <a:latin typeface="Poppins" panose="00000500000000000000" pitchFamily="2" charset="0"/>
                <a:cs typeface="Poppins" panose="00000500000000000000" pitchFamily="2" charset="0"/>
              </a:rPr>
              <a:t>Thank you for your prompt attention.</a:t>
            </a:r>
          </a:p>
          <a:p>
            <a:br>
              <a:rPr lang="en-US" sz="2200" dirty="0">
                <a:latin typeface="Poppins" panose="00000500000000000000" pitchFamily="2" charset="0"/>
                <a:cs typeface="Poppins" panose="00000500000000000000" pitchFamily="2" charset="0"/>
              </a:rPr>
            </a:br>
            <a:r>
              <a:rPr lang="en-US" sz="2200" dirty="0">
                <a:latin typeface="Poppins" panose="00000500000000000000" pitchFamily="2" charset="0"/>
                <a:cs typeface="Poppins" panose="00000500000000000000" pitchFamily="2" charset="0"/>
              </a:rPr>
              <a:t>Best,</a:t>
            </a:r>
          </a:p>
          <a:p>
            <a:r>
              <a:rPr lang="en-US" sz="2200" dirty="0">
                <a:latin typeface="Poppins" panose="00000500000000000000" pitchFamily="2" charset="0"/>
                <a:cs typeface="Poppins" panose="00000500000000000000" pitchFamily="2" charset="0"/>
              </a:rPr>
              <a:t>Tripadvisor Content Integrity</a:t>
            </a:r>
          </a:p>
          <a:p>
            <a:r>
              <a:rPr lang="en-US" sz="2200" dirty="0">
                <a:latin typeface="Poppins" panose="00000500000000000000" pitchFamily="2" charset="0"/>
                <a:cs typeface="Poppins" panose="00000500000000000000" pitchFamily="2" charset="0"/>
              </a:rPr>
              <a:t>126FRD</a:t>
            </a:r>
          </a:p>
          <a:p>
            <a:r>
              <a:rPr lang="en-US" sz="2200" dirty="0">
                <a:latin typeface="Poppins" panose="00000500000000000000" pitchFamily="2" charset="0"/>
                <a:cs typeface="Poppins" panose="00000500000000000000" pitchFamily="2" charset="0"/>
              </a:rPr>
              <a:t>Name of property: </a:t>
            </a:r>
            <a:r>
              <a:rPr lang="en-US" sz="2200" dirty="0" err="1">
                <a:latin typeface="Poppins" panose="00000500000000000000" pitchFamily="2" charset="0"/>
                <a:cs typeface="Poppins" panose="00000500000000000000" pitchFamily="2" charset="0"/>
              </a:rPr>
              <a:t>xxxxxxx</a:t>
            </a:r>
            <a:endParaRPr lang="en-US" sz="2200" dirty="0">
              <a:latin typeface="Poppins" panose="00000500000000000000" pitchFamily="2" charset="0"/>
              <a:cs typeface="Poppins" panose="00000500000000000000" pitchFamily="2" charset="0"/>
            </a:endParaRPr>
          </a:p>
          <a:p>
            <a:r>
              <a:rPr lang="en-US" sz="2200" dirty="0" err="1">
                <a:latin typeface="Poppins" panose="00000500000000000000" pitchFamily="2" charset="0"/>
                <a:cs typeface="Poppins" panose="00000500000000000000" pitchFamily="2" charset="0"/>
              </a:rPr>
              <a:t>LocID</a:t>
            </a:r>
            <a:r>
              <a:rPr lang="en-US" sz="2200" dirty="0">
                <a:latin typeface="Poppins" panose="00000500000000000000" pitchFamily="2" charset="0"/>
                <a:cs typeface="Poppins" panose="00000500000000000000" pitchFamily="2" charset="0"/>
              </a:rPr>
              <a:t>: </a:t>
            </a:r>
            <a:r>
              <a:rPr lang="en-US" sz="2200" dirty="0" err="1">
                <a:latin typeface="Poppins" panose="00000500000000000000" pitchFamily="2" charset="0"/>
                <a:cs typeface="Poppins" panose="00000500000000000000" pitchFamily="2" charset="0"/>
              </a:rPr>
              <a:t>xxxxxx</a:t>
            </a:r>
            <a:endParaRPr lang="en-US" sz="2200" dirty="0">
              <a:latin typeface="Poppins" panose="00000500000000000000" pitchFamily="2" charset="0"/>
              <a:cs typeface="Poppins" panose="00000500000000000000" pitchFamily="2" charset="0"/>
            </a:endParaRPr>
          </a:p>
        </p:txBody>
      </p:sp>
      <p:pic>
        <p:nvPicPr>
          <p:cNvPr id="7" name="Picture 6">
            <a:extLst>
              <a:ext uri="{FF2B5EF4-FFF2-40B4-BE49-F238E27FC236}">
                <a16:creationId xmlns:a16="http://schemas.microsoft.com/office/drawing/2014/main" id="{24536D1E-A660-1607-CAA7-96E9DBC906A8}"/>
              </a:ext>
              <a:ext uri="{C183D7F6-B498-43B3-948B-1728B52AA6E4}">
                <adec:decorative xmlns:adec="http://schemas.microsoft.com/office/drawing/2017/decorative" val="1"/>
              </a:ext>
            </a:extLst>
          </p:cNvPr>
          <p:cNvPicPr>
            <a:picLocks noChangeAspect="1"/>
          </p:cNvPicPr>
          <p:nvPr/>
        </p:nvPicPr>
        <p:blipFill>
          <a:blip r:embed="rId4"/>
          <a:srcRect t="4762" r="74051" b="50296"/>
          <a:stretch>
            <a:fillRect/>
          </a:stretch>
        </p:blipFill>
        <p:spPr>
          <a:xfrm>
            <a:off x="13049509" y="5244622"/>
            <a:ext cx="2969200" cy="3426583"/>
          </a:xfrm>
          <a:prstGeom prst="rect">
            <a:avLst/>
          </a:prstGeom>
        </p:spPr>
      </p:pic>
    </p:spTree>
    <p:extLst>
      <p:ext uri="{BB962C8B-B14F-4D97-AF65-F5344CB8AC3E}">
        <p14:creationId xmlns:p14="http://schemas.microsoft.com/office/powerpoint/2010/main" val="39951448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EB5B"/>
        </a:solidFill>
        <a:effectLst/>
      </p:bgPr>
    </p:bg>
    <p:spTree>
      <p:nvGrpSpPr>
        <p:cNvPr id="1" name="">
          <a:extLst>
            <a:ext uri="{FF2B5EF4-FFF2-40B4-BE49-F238E27FC236}">
              <a16:creationId xmlns:a16="http://schemas.microsoft.com/office/drawing/2014/main" id="{49AA19C5-FFB3-BA05-87DD-26F03ECFEA49}"/>
            </a:ext>
          </a:extLst>
        </p:cNvPr>
        <p:cNvGrpSpPr/>
        <p:nvPr/>
      </p:nvGrpSpPr>
      <p:grpSpPr>
        <a:xfrm>
          <a:off x="0" y="0"/>
          <a:ext cx="0" cy="0"/>
          <a:chOff x="0" y="0"/>
          <a:chExt cx="0" cy="0"/>
        </a:xfrm>
      </p:grpSpPr>
      <p:pic>
        <p:nvPicPr>
          <p:cNvPr id="29" name="Picture 28">
            <a:extLst>
              <a:ext uri="{FF2B5EF4-FFF2-40B4-BE49-F238E27FC236}">
                <a16:creationId xmlns:a16="http://schemas.microsoft.com/office/drawing/2014/main" id="{7D759968-BD81-3676-0C17-008D96AC8C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385" y="190500"/>
            <a:ext cx="17331231" cy="8182797"/>
          </a:xfrm>
          <a:prstGeom prst="rect">
            <a:avLst/>
          </a:prstGeom>
        </p:spPr>
      </p:pic>
      <p:sp>
        <p:nvSpPr>
          <p:cNvPr id="3" name="AutoShape 3">
            <a:extLst>
              <a:ext uri="{FF2B5EF4-FFF2-40B4-BE49-F238E27FC236}">
                <a16:creationId xmlns:a16="http://schemas.microsoft.com/office/drawing/2014/main" id="{F17FE4DE-C452-F70F-87B9-814FAC5A7F87}"/>
              </a:ext>
            </a:extLst>
          </p:cNvPr>
          <p:cNvSpPr/>
          <p:nvPr/>
        </p:nvSpPr>
        <p:spPr>
          <a:xfrm>
            <a:off x="478385" y="8703951"/>
            <a:ext cx="17331231" cy="0"/>
          </a:xfrm>
          <a:prstGeom prst="line">
            <a:avLst/>
          </a:prstGeom>
          <a:ln w="38100" cap="flat">
            <a:solidFill>
              <a:srgbClr val="002B11"/>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4" name="Group 4">
            <a:extLst>
              <a:ext uri="{FF2B5EF4-FFF2-40B4-BE49-F238E27FC236}">
                <a16:creationId xmlns:a16="http://schemas.microsoft.com/office/drawing/2014/main" id="{C5FCC14B-AA34-30A0-4938-E11F76CE15CA}"/>
              </a:ext>
            </a:extLst>
          </p:cNvPr>
          <p:cNvGrpSpPr/>
          <p:nvPr/>
        </p:nvGrpSpPr>
        <p:grpSpPr>
          <a:xfrm>
            <a:off x="1028700" y="671195"/>
            <a:ext cx="2239382" cy="670446"/>
            <a:chOff x="0" y="0"/>
            <a:chExt cx="589796" cy="176578"/>
          </a:xfrm>
        </p:grpSpPr>
        <p:sp>
          <p:nvSpPr>
            <p:cNvPr id="5" name="Freeform 5">
              <a:extLst>
                <a:ext uri="{FF2B5EF4-FFF2-40B4-BE49-F238E27FC236}">
                  <a16:creationId xmlns:a16="http://schemas.microsoft.com/office/drawing/2014/main" id="{2F058CB9-8C66-7199-F487-B4CDD2F1744A}"/>
                </a:ext>
              </a:extLst>
            </p:cNvPr>
            <p:cNvSpPr/>
            <p:nvPr/>
          </p:nvSpPr>
          <p:spPr>
            <a:xfrm>
              <a:off x="0" y="0"/>
              <a:ext cx="589796" cy="176578"/>
            </a:xfrm>
            <a:custGeom>
              <a:avLst/>
              <a:gdLst/>
              <a:ahLst/>
              <a:cxnLst/>
              <a:rect l="l" t="t" r="r" b="b"/>
              <a:pathLst>
                <a:path w="589796" h="176578">
                  <a:moveTo>
                    <a:pt x="88289" y="0"/>
                  </a:moveTo>
                  <a:lnTo>
                    <a:pt x="501507" y="0"/>
                  </a:lnTo>
                  <a:cubicBezTo>
                    <a:pt x="524923" y="0"/>
                    <a:pt x="547379" y="9302"/>
                    <a:pt x="563937" y="25859"/>
                  </a:cubicBezTo>
                  <a:cubicBezTo>
                    <a:pt x="580494" y="42417"/>
                    <a:pt x="589796" y="64873"/>
                    <a:pt x="589796" y="88289"/>
                  </a:cubicBezTo>
                  <a:lnTo>
                    <a:pt x="589796" y="88289"/>
                  </a:lnTo>
                  <a:cubicBezTo>
                    <a:pt x="589796" y="137050"/>
                    <a:pt x="550268" y="176578"/>
                    <a:pt x="501507" y="176578"/>
                  </a:cubicBezTo>
                  <a:lnTo>
                    <a:pt x="88289" y="176578"/>
                  </a:lnTo>
                  <a:cubicBezTo>
                    <a:pt x="39528" y="176578"/>
                    <a:pt x="0" y="137050"/>
                    <a:pt x="0" y="88289"/>
                  </a:cubicBezTo>
                  <a:lnTo>
                    <a:pt x="0" y="88289"/>
                  </a:lnTo>
                  <a:cubicBezTo>
                    <a:pt x="0" y="39528"/>
                    <a:pt x="39528" y="0"/>
                    <a:pt x="88289" y="0"/>
                  </a:cubicBezTo>
                  <a:close/>
                </a:path>
              </a:pathLst>
            </a:custGeom>
            <a:solidFill>
              <a:srgbClr val="00EB5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Box 6">
              <a:extLst>
                <a:ext uri="{FF2B5EF4-FFF2-40B4-BE49-F238E27FC236}">
                  <a16:creationId xmlns:a16="http://schemas.microsoft.com/office/drawing/2014/main" id="{43759FB1-1BA2-422F-8304-0348F87C8AD3}"/>
                </a:ext>
              </a:extLst>
            </p:cNvPr>
            <p:cNvSpPr txBox="1"/>
            <p:nvPr/>
          </p:nvSpPr>
          <p:spPr>
            <a:xfrm>
              <a:off x="0" y="-47625"/>
              <a:ext cx="589796" cy="224203"/>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 name="Group 7">
            <a:extLst>
              <a:ext uri="{FF2B5EF4-FFF2-40B4-BE49-F238E27FC236}">
                <a16:creationId xmlns:a16="http://schemas.microsoft.com/office/drawing/2014/main" id="{E5275D9B-37E6-EAA1-0F37-377691AE44A8}"/>
              </a:ext>
            </a:extLst>
          </p:cNvPr>
          <p:cNvGrpSpPr/>
          <p:nvPr/>
        </p:nvGrpSpPr>
        <p:grpSpPr>
          <a:xfrm>
            <a:off x="14684028" y="574219"/>
            <a:ext cx="2725614" cy="622382"/>
            <a:chOff x="0" y="0"/>
            <a:chExt cx="717857" cy="163920"/>
          </a:xfrm>
        </p:grpSpPr>
        <p:sp>
          <p:nvSpPr>
            <p:cNvPr id="8" name="Freeform 8">
              <a:extLst>
                <a:ext uri="{FF2B5EF4-FFF2-40B4-BE49-F238E27FC236}">
                  <a16:creationId xmlns:a16="http://schemas.microsoft.com/office/drawing/2014/main" id="{CDB66244-FF6E-2733-CA4C-08EE7D224C8B}"/>
                </a:ext>
              </a:extLst>
            </p:cNvPr>
            <p:cNvSpPr/>
            <p:nvPr/>
          </p:nvSpPr>
          <p:spPr>
            <a:xfrm>
              <a:off x="0" y="0"/>
              <a:ext cx="717857" cy="163920"/>
            </a:xfrm>
            <a:custGeom>
              <a:avLst/>
              <a:gdLst/>
              <a:ahLst/>
              <a:cxnLst/>
              <a:rect l="l" t="t" r="r" b="b"/>
              <a:pathLst>
                <a:path w="717857" h="163920">
                  <a:moveTo>
                    <a:pt x="81960" y="0"/>
                  </a:moveTo>
                  <a:lnTo>
                    <a:pt x="635897" y="0"/>
                  </a:lnTo>
                  <a:cubicBezTo>
                    <a:pt x="681163" y="0"/>
                    <a:pt x="717857" y="36695"/>
                    <a:pt x="717857" y="81960"/>
                  </a:cubicBezTo>
                  <a:lnTo>
                    <a:pt x="717857" y="81960"/>
                  </a:lnTo>
                  <a:cubicBezTo>
                    <a:pt x="717857" y="103697"/>
                    <a:pt x="709222" y="124544"/>
                    <a:pt x="693852" y="139914"/>
                  </a:cubicBezTo>
                  <a:cubicBezTo>
                    <a:pt x="678481" y="155285"/>
                    <a:pt x="657634" y="163920"/>
                    <a:pt x="635897" y="163920"/>
                  </a:cubicBezTo>
                  <a:lnTo>
                    <a:pt x="81960" y="163920"/>
                  </a:lnTo>
                  <a:cubicBezTo>
                    <a:pt x="36695" y="163920"/>
                    <a:pt x="0" y="127225"/>
                    <a:pt x="0" y="81960"/>
                  </a:cubicBezTo>
                  <a:lnTo>
                    <a:pt x="0" y="81960"/>
                  </a:lnTo>
                  <a:cubicBezTo>
                    <a:pt x="0" y="36695"/>
                    <a:pt x="36695" y="0"/>
                    <a:pt x="81960" y="0"/>
                  </a:cubicBezTo>
                  <a:close/>
                </a:path>
              </a:pathLst>
            </a:custGeom>
            <a:solidFill>
              <a:srgbClr val="00EB5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Box 9">
              <a:extLst>
                <a:ext uri="{FF2B5EF4-FFF2-40B4-BE49-F238E27FC236}">
                  <a16:creationId xmlns:a16="http://schemas.microsoft.com/office/drawing/2014/main" id="{9BFCC97F-7003-A209-7394-ED20544468FD}"/>
                </a:ext>
              </a:extLst>
            </p:cNvPr>
            <p:cNvSpPr txBox="1"/>
            <p:nvPr/>
          </p:nvSpPr>
          <p:spPr>
            <a:xfrm>
              <a:off x="0" y="-47625"/>
              <a:ext cx="717857" cy="21154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0" name="TextBox 10">
            <a:extLst>
              <a:ext uri="{FF2B5EF4-FFF2-40B4-BE49-F238E27FC236}">
                <a16:creationId xmlns:a16="http://schemas.microsoft.com/office/drawing/2014/main" id="{6BFED05B-87EA-AB54-14AC-DE79C7559A2C}"/>
              </a:ext>
            </a:extLst>
          </p:cNvPr>
          <p:cNvSpPr txBox="1"/>
          <p:nvPr/>
        </p:nvSpPr>
        <p:spPr>
          <a:xfrm>
            <a:off x="478385" y="8641074"/>
            <a:ext cx="21099332" cy="1279196"/>
          </a:xfrm>
          <a:prstGeom prst="rect">
            <a:avLst/>
          </a:prstGeom>
        </p:spPr>
        <p:txBody>
          <a:bodyPr lIns="0" tIns="0" rIns="0" bIns="0" rtlCol="0" anchor="t">
            <a:spAutoFit/>
          </a:bodyPr>
          <a:lstStyle/>
          <a:p>
            <a:pPr>
              <a:lnSpc>
                <a:spcPts val="10500"/>
              </a:lnSpc>
              <a:defRPr/>
            </a:pPr>
            <a:r>
              <a:rPr lang="en-US" sz="7500" b="1" dirty="0">
                <a:solidFill>
                  <a:srgbClr val="002B11"/>
                </a:solidFill>
                <a:latin typeface="Poppins Black"/>
                <a:ea typeface="Poppins Bold"/>
                <a:cs typeface="Poppins Black"/>
                <a:sym typeface="Poppins Bold"/>
              </a:rPr>
              <a:t>02</a:t>
            </a:r>
            <a:r>
              <a:rPr kumimoji="0" lang="en-US" sz="7500" b="1" i="0" u="none" strike="noStrike" kern="1200" cap="none" spc="0" normalizeH="0" baseline="0" noProof="0" dirty="0">
                <a:ln>
                  <a:noFill/>
                </a:ln>
                <a:solidFill>
                  <a:srgbClr val="002B11"/>
                </a:solidFill>
                <a:effectLst/>
                <a:uLnTx/>
                <a:uFillTx/>
                <a:latin typeface="Poppins Black"/>
                <a:ea typeface="Poppins Bold"/>
                <a:cs typeface="Poppins Black"/>
                <a:sym typeface="Poppins Bold"/>
              </a:rPr>
              <a:t>. </a:t>
            </a:r>
            <a:r>
              <a:rPr lang="en-US" sz="7500" b="1" dirty="0">
                <a:solidFill>
                  <a:srgbClr val="002B11"/>
                </a:solidFill>
                <a:latin typeface="Poppins Black"/>
                <a:cs typeface="Poppins Black"/>
                <a:sym typeface="Poppins Bold"/>
              </a:rPr>
              <a:t>Types of Fraud Letters</a:t>
            </a:r>
            <a:endParaRPr lang="en-US" sz="7500" b="1" dirty="0">
              <a:solidFill>
                <a:srgbClr val="002B11"/>
              </a:solidFill>
              <a:latin typeface="Poppins Black"/>
              <a:cs typeface="Poppins Black"/>
            </a:endParaRPr>
          </a:p>
        </p:txBody>
      </p:sp>
      <p:sp>
        <p:nvSpPr>
          <p:cNvPr id="11" name="TextBox 11">
            <a:extLst>
              <a:ext uri="{FF2B5EF4-FFF2-40B4-BE49-F238E27FC236}">
                <a16:creationId xmlns:a16="http://schemas.microsoft.com/office/drawing/2014/main" id="{CCB319FC-F4D9-A182-56A0-2D544D0B0127}"/>
              </a:ext>
            </a:extLst>
          </p:cNvPr>
          <p:cNvSpPr txBox="1"/>
          <p:nvPr/>
        </p:nvSpPr>
        <p:spPr>
          <a:xfrm>
            <a:off x="1440267" y="804806"/>
            <a:ext cx="1416248" cy="391795"/>
          </a:xfrm>
          <a:prstGeom prst="rect">
            <a:avLst/>
          </a:prstGeom>
        </p:spPr>
        <p:txBody>
          <a:bodyPr lIns="0" tIns="0" rIns="0" bIns="0" rtlCol="0" anchor="t">
            <a:spAutoFit/>
          </a:bodyPr>
          <a:lstStyle/>
          <a:p>
            <a:pPr marL="0" marR="0" lvl="0" indent="0" algn="ctr" defTabSz="914400" rtl="0" eaLnBrk="1" fontAlgn="auto" latinLnBrk="0" hangingPunct="1">
              <a:lnSpc>
                <a:spcPts val="3079"/>
              </a:lnSpc>
              <a:spcBef>
                <a:spcPts val="0"/>
              </a:spcBef>
              <a:spcAft>
                <a:spcPts val="0"/>
              </a:spcAft>
              <a:buClrTx/>
              <a:buSzTx/>
              <a:buFontTx/>
              <a:buNone/>
              <a:tabLst/>
              <a:defRPr/>
            </a:pPr>
            <a:r>
              <a:rPr kumimoji="0" lang="en-US" sz="2199" b="1" i="0" u="none" strike="noStrike" kern="1200" cap="none" spc="0" normalizeH="0" baseline="0" noProof="0" dirty="0">
                <a:ln>
                  <a:noFill/>
                </a:ln>
                <a:solidFill>
                  <a:srgbClr val="002B11"/>
                </a:solidFill>
                <a:effectLst/>
                <a:uLnTx/>
                <a:uFillTx/>
                <a:latin typeface="Poppins Black" panose="00000A00000000000000" pitchFamily="2" charset="0"/>
                <a:ea typeface="Poppins Bold"/>
                <a:cs typeface="Poppins Black" panose="00000A00000000000000" pitchFamily="2" charset="0"/>
                <a:sym typeface="Poppins Bold"/>
              </a:rPr>
              <a:t>Dubai</a:t>
            </a:r>
          </a:p>
        </p:txBody>
      </p:sp>
      <p:grpSp>
        <p:nvGrpSpPr>
          <p:cNvPr id="12" name="Group 12">
            <a:extLst>
              <a:ext uri="{FF2B5EF4-FFF2-40B4-BE49-F238E27FC236}">
                <a16:creationId xmlns:a16="http://schemas.microsoft.com/office/drawing/2014/main" id="{A8C0C434-5E3C-2E9F-C0E4-1A709474549D}"/>
              </a:ext>
            </a:extLst>
          </p:cNvPr>
          <p:cNvGrpSpPr/>
          <p:nvPr/>
        </p:nvGrpSpPr>
        <p:grpSpPr>
          <a:xfrm>
            <a:off x="14869769" y="660457"/>
            <a:ext cx="2354131" cy="449905"/>
            <a:chOff x="0" y="0"/>
            <a:chExt cx="3138841" cy="599873"/>
          </a:xfrm>
        </p:grpSpPr>
        <p:grpSp>
          <p:nvGrpSpPr>
            <p:cNvPr id="13" name="Group 13">
              <a:extLst>
                <a:ext uri="{FF2B5EF4-FFF2-40B4-BE49-F238E27FC236}">
                  <a16:creationId xmlns:a16="http://schemas.microsoft.com/office/drawing/2014/main" id="{EE5476AD-EE7D-D197-4953-8451205D04E1}"/>
                </a:ext>
              </a:extLst>
            </p:cNvPr>
            <p:cNvGrpSpPr/>
            <p:nvPr/>
          </p:nvGrpSpPr>
          <p:grpSpPr>
            <a:xfrm>
              <a:off x="0" y="9544"/>
              <a:ext cx="590328" cy="590328"/>
              <a:chOff x="0" y="0"/>
              <a:chExt cx="812800" cy="812800"/>
            </a:xfrm>
          </p:grpSpPr>
          <p:sp>
            <p:nvSpPr>
              <p:cNvPr id="14" name="Freeform 14">
                <a:extLst>
                  <a:ext uri="{FF2B5EF4-FFF2-40B4-BE49-F238E27FC236}">
                    <a16:creationId xmlns:a16="http://schemas.microsoft.com/office/drawing/2014/main" id="{2E218050-7FAA-3EA5-C759-3820927C166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B11"/>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Box 15">
                <a:extLst>
                  <a:ext uri="{FF2B5EF4-FFF2-40B4-BE49-F238E27FC236}">
                    <a16:creationId xmlns:a16="http://schemas.microsoft.com/office/drawing/2014/main" id="{E7418E03-9054-48AF-23FE-2730BE7FA642}"/>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6" name="Group 16">
              <a:extLst>
                <a:ext uri="{FF2B5EF4-FFF2-40B4-BE49-F238E27FC236}">
                  <a16:creationId xmlns:a16="http://schemas.microsoft.com/office/drawing/2014/main" id="{FAF04D37-BC3D-0DBE-13C8-57DA31703061}"/>
                </a:ext>
              </a:extLst>
            </p:cNvPr>
            <p:cNvGrpSpPr/>
            <p:nvPr/>
          </p:nvGrpSpPr>
          <p:grpSpPr>
            <a:xfrm>
              <a:off x="634797" y="9544"/>
              <a:ext cx="590328" cy="590328"/>
              <a:chOff x="0" y="0"/>
              <a:chExt cx="812800" cy="812800"/>
            </a:xfrm>
          </p:grpSpPr>
          <p:sp>
            <p:nvSpPr>
              <p:cNvPr id="17" name="Freeform 17">
                <a:extLst>
                  <a:ext uri="{FF2B5EF4-FFF2-40B4-BE49-F238E27FC236}">
                    <a16:creationId xmlns:a16="http://schemas.microsoft.com/office/drawing/2014/main" id="{EBAA908B-613E-34FA-F734-85A976D696C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B11"/>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8" name="TextBox 18">
                <a:extLst>
                  <a:ext uri="{FF2B5EF4-FFF2-40B4-BE49-F238E27FC236}">
                    <a16:creationId xmlns:a16="http://schemas.microsoft.com/office/drawing/2014/main" id="{54342531-49EB-9D9F-DDAC-B9D7F92DCD73}"/>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9" name="Group 19">
              <a:extLst>
                <a:ext uri="{FF2B5EF4-FFF2-40B4-BE49-F238E27FC236}">
                  <a16:creationId xmlns:a16="http://schemas.microsoft.com/office/drawing/2014/main" id="{D485342A-5766-2882-2898-41194FB1F131}"/>
                </a:ext>
              </a:extLst>
            </p:cNvPr>
            <p:cNvGrpSpPr/>
            <p:nvPr/>
          </p:nvGrpSpPr>
          <p:grpSpPr>
            <a:xfrm>
              <a:off x="1275925" y="9544"/>
              <a:ext cx="590328" cy="590328"/>
              <a:chOff x="0" y="0"/>
              <a:chExt cx="812800" cy="812800"/>
            </a:xfrm>
          </p:grpSpPr>
          <p:sp>
            <p:nvSpPr>
              <p:cNvPr id="20" name="Freeform 20">
                <a:extLst>
                  <a:ext uri="{FF2B5EF4-FFF2-40B4-BE49-F238E27FC236}">
                    <a16:creationId xmlns:a16="http://schemas.microsoft.com/office/drawing/2014/main" id="{AB2632BD-684F-46E2-82A6-3782E94A185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B11"/>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Box 21">
                <a:extLst>
                  <a:ext uri="{FF2B5EF4-FFF2-40B4-BE49-F238E27FC236}">
                    <a16:creationId xmlns:a16="http://schemas.microsoft.com/office/drawing/2014/main" id="{B2155349-5A57-7047-28DC-0F7CC95C2D79}"/>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2" name="Group 22">
              <a:extLst>
                <a:ext uri="{FF2B5EF4-FFF2-40B4-BE49-F238E27FC236}">
                  <a16:creationId xmlns:a16="http://schemas.microsoft.com/office/drawing/2014/main" id="{BD3E6D3D-8904-FFB8-7614-E6D1548A7EB2}"/>
                </a:ext>
              </a:extLst>
            </p:cNvPr>
            <p:cNvGrpSpPr/>
            <p:nvPr/>
          </p:nvGrpSpPr>
          <p:grpSpPr>
            <a:xfrm>
              <a:off x="1917053" y="0"/>
              <a:ext cx="590328" cy="590328"/>
              <a:chOff x="0" y="0"/>
              <a:chExt cx="812800" cy="812800"/>
            </a:xfrm>
          </p:grpSpPr>
          <p:sp>
            <p:nvSpPr>
              <p:cNvPr id="23" name="Freeform 23">
                <a:extLst>
                  <a:ext uri="{FF2B5EF4-FFF2-40B4-BE49-F238E27FC236}">
                    <a16:creationId xmlns:a16="http://schemas.microsoft.com/office/drawing/2014/main" id="{1521BA0A-42DF-8B58-EA11-365DAC0AA6C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B11"/>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4" name="TextBox 24">
                <a:extLst>
                  <a:ext uri="{FF2B5EF4-FFF2-40B4-BE49-F238E27FC236}">
                    <a16:creationId xmlns:a16="http://schemas.microsoft.com/office/drawing/2014/main" id="{5077010F-26D3-26DB-520B-FF8470D6D17B}"/>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5" name="Group 25">
              <a:extLst>
                <a:ext uri="{FF2B5EF4-FFF2-40B4-BE49-F238E27FC236}">
                  <a16:creationId xmlns:a16="http://schemas.microsoft.com/office/drawing/2014/main" id="{F554A8B0-B020-86B2-55F3-BB03C63CC840}"/>
                </a:ext>
              </a:extLst>
            </p:cNvPr>
            <p:cNvGrpSpPr/>
            <p:nvPr/>
          </p:nvGrpSpPr>
          <p:grpSpPr>
            <a:xfrm>
              <a:off x="2548513" y="9544"/>
              <a:ext cx="590328" cy="590328"/>
              <a:chOff x="0" y="0"/>
              <a:chExt cx="812800" cy="812800"/>
            </a:xfrm>
          </p:grpSpPr>
          <p:sp>
            <p:nvSpPr>
              <p:cNvPr id="26" name="Freeform 26">
                <a:extLst>
                  <a:ext uri="{FF2B5EF4-FFF2-40B4-BE49-F238E27FC236}">
                    <a16:creationId xmlns:a16="http://schemas.microsoft.com/office/drawing/2014/main" id="{3B9A45F5-4F9A-727F-72A0-AAE307434BF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B11"/>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TextBox 27">
                <a:extLst>
                  <a:ext uri="{FF2B5EF4-FFF2-40B4-BE49-F238E27FC236}">
                    <a16:creationId xmlns:a16="http://schemas.microsoft.com/office/drawing/2014/main" id="{4A761854-9808-21FB-2F28-115A8FD9E988}"/>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Tree>
    <p:extLst>
      <p:ext uri="{BB962C8B-B14F-4D97-AF65-F5344CB8AC3E}">
        <p14:creationId xmlns:p14="http://schemas.microsoft.com/office/powerpoint/2010/main" val="40004652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A2E12-248F-380C-A605-1B057BF3F0C2}"/>
            </a:ext>
          </a:extLst>
        </p:cNvPr>
        <p:cNvGrpSpPr/>
        <p:nvPr/>
      </p:nvGrpSpPr>
      <p:grpSpPr>
        <a:xfrm>
          <a:off x="0" y="0"/>
          <a:ext cx="0" cy="0"/>
          <a:chOff x="0" y="0"/>
          <a:chExt cx="0" cy="0"/>
        </a:xfrm>
      </p:grpSpPr>
      <p:sp>
        <p:nvSpPr>
          <p:cNvPr id="54" name="Freeform 3">
            <a:extLst>
              <a:ext uri="{FF2B5EF4-FFF2-40B4-BE49-F238E27FC236}">
                <a16:creationId xmlns:a16="http://schemas.microsoft.com/office/drawing/2014/main" id="{59D91F4C-5EE1-F8DE-5E74-09FD2EB1ED41}"/>
              </a:ext>
            </a:extLst>
          </p:cNvPr>
          <p:cNvSpPr/>
          <p:nvPr/>
        </p:nvSpPr>
        <p:spPr>
          <a:xfrm>
            <a:off x="9038639" y="-571500"/>
            <a:ext cx="17789434" cy="15765053"/>
          </a:xfrm>
          <a:custGeom>
            <a:avLst/>
            <a:gdLst/>
            <a:ahLst/>
            <a:cxnLst/>
            <a:rect l="l" t="t" r="r" b="b"/>
            <a:pathLst>
              <a:path w="12070084" h="12130738">
                <a:moveTo>
                  <a:pt x="0" y="0"/>
                </a:moveTo>
                <a:lnTo>
                  <a:pt x="12070084" y="0"/>
                </a:lnTo>
                <a:lnTo>
                  <a:pt x="12070084" y="12130738"/>
                </a:lnTo>
                <a:lnTo>
                  <a:pt x="0" y="1213073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4" name="Group 3">
            <a:extLst>
              <a:ext uri="{FF2B5EF4-FFF2-40B4-BE49-F238E27FC236}">
                <a16:creationId xmlns:a16="http://schemas.microsoft.com/office/drawing/2014/main" id="{1EFCBEE7-DD69-E591-1774-78E0894BD509}"/>
              </a:ext>
            </a:extLst>
          </p:cNvPr>
          <p:cNvGrpSpPr/>
          <p:nvPr/>
        </p:nvGrpSpPr>
        <p:grpSpPr>
          <a:xfrm>
            <a:off x="1142955" y="2695413"/>
            <a:ext cx="5319600" cy="5969924"/>
            <a:chOff x="984760" y="2171700"/>
            <a:chExt cx="3928437" cy="4304269"/>
          </a:xfrm>
          <a:effectLst>
            <a:outerShdw blurRad="50800" dist="38100" dir="5400000" algn="t" rotWithShape="0">
              <a:prstClr val="black">
                <a:alpha val="40000"/>
              </a:prstClr>
            </a:outerShdw>
          </a:effectLst>
        </p:grpSpPr>
        <p:grpSp>
          <p:nvGrpSpPr>
            <p:cNvPr id="5" name="Group 3">
              <a:extLst>
                <a:ext uri="{FF2B5EF4-FFF2-40B4-BE49-F238E27FC236}">
                  <a16:creationId xmlns:a16="http://schemas.microsoft.com/office/drawing/2014/main" id="{728AEA41-E223-8C3A-D243-FC5198BD41BC}"/>
                </a:ext>
              </a:extLst>
            </p:cNvPr>
            <p:cNvGrpSpPr/>
            <p:nvPr/>
          </p:nvGrpSpPr>
          <p:grpSpPr>
            <a:xfrm>
              <a:off x="984760" y="2171700"/>
              <a:ext cx="3928437" cy="4304269"/>
              <a:chOff x="0" y="0"/>
              <a:chExt cx="1528996" cy="1299371"/>
            </a:xfrm>
          </p:grpSpPr>
          <p:sp>
            <p:nvSpPr>
              <p:cNvPr id="11" name="Freeform 4">
                <a:extLst>
                  <a:ext uri="{FF2B5EF4-FFF2-40B4-BE49-F238E27FC236}">
                    <a16:creationId xmlns:a16="http://schemas.microsoft.com/office/drawing/2014/main" id="{2D4B0CF3-C96C-2C0A-D0A8-228BD2FAC4E7}"/>
                  </a:ext>
                </a:extLst>
              </p:cNvPr>
              <p:cNvSpPr/>
              <p:nvPr/>
            </p:nvSpPr>
            <p:spPr>
              <a:xfrm>
                <a:off x="0" y="0"/>
                <a:ext cx="1528996" cy="1299371"/>
              </a:xfrm>
              <a:custGeom>
                <a:avLst/>
                <a:gdLst/>
                <a:ahLst/>
                <a:cxnLst/>
                <a:rect l="l" t="t" r="r" b="b"/>
                <a:pathLst>
                  <a:path w="1528996" h="1299371">
                    <a:moveTo>
                      <a:pt x="77080" y="0"/>
                    </a:moveTo>
                    <a:lnTo>
                      <a:pt x="1451916" y="0"/>
                    </a:lnTo>
                    <a:cubicBezTo>
                      <a:pt x="1472359" y="0"/>
                      <a:pt x="1491965" y="8121"/>
                      <a:pt x="1506420" y="22576"/>
                    </a:cubicBezTo>
                    <a:cubicBezTo>
                      <a:pt x="1520875" y="37032"/>
                      <a:pt x="1528996" y="56637"/>
                      <a:pt x="1528996" y="77080"/>
                    </a:cubicBezTo>
                    <a:lnTo>
                      <a:pt x="1528996" y="1222291"/>
                    </a:lnTo>
                    <a:cubicBezTo>
                      <a:pt x="1528996" y="1242734"/>
                      <a:pt x="1520875" y="1262340"/>
                      <a:pt x="1506420" y="1276795"/>
                    </a:cubicBezTo>
                    <a:cubicBezTo>
                      <a:pt x="1491965" y="1291250"/>
                      <a:pt x="1472359" y="1299371"/>
                      <a:pt x="1451916" y="1299371"/>
                    </a:cubicBezTo>
                    <a:lnTo>
                      <a:pt x="77080" y="1299371"/>
                    </a:lnTo>
                    <a:cubicBezTo>
                      <a:pt x="56637" y="1299371"/>
                      <a:pt x="37032" y="1291250"/>
                      <a:pt x="22576" y="1276795"/>
                    </a:cubicBezTo>
                    <a:cubicBezTo>
                      <a:pt x="8121" y="1262340"/>
                      <a:pt x="0" y="1242734"/>
                      <a:pt x="0" y="1222291"/>
                    </a:cubicBezTo>
                    <a:lnTo>
                      <a:pt x="0" y="77080"/>
                    </a:lnTo>
                    <a:cubicBezTo>
                      <a:pt x="0" y="56637"/>
                      <a:pt x="8121" y="37032"/>
                      <a:pt x="22576" y="22576"/>
                    </a:cubicBezTo>
                    <a:cubicBezTo>
                      <a:pt x="37032" y="8121"/>
                      <a:pt x="56637" y="0"/>
                      <a:pt x="77080" y="0"/>
                    </a:cubicBezTo>
                    <a:close/>
                  </a:path>
                </a:pathLst>
              </a:custGeom>
              <a:solidFill>
                <a:srgbClr val="00EB5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2" name="TextBox 5">
                <a:extLst>
                  <a:ext uri="{FF2B5EF4-FFF2-40B4-BE49-F238E27FC236}">
                    <a16:creationId xmlns:a16="http://schemas.microsoft.com/office/drawing/2014/main" id="{8D419965-CD3F-42EE-84AB-357664BB5D25}"/>
                  </a:ext>
                </a:extLst>
              </p:cNvPr>
              <p:cNvSpPr txBox="1"/>
              <p:nvPr/>
            </p:nvSpPr>
            <p:spPr>
              <a:xfrm>
                <a:off x="0" y="-47625"/>
                <a:ext cx="1528996" cy="1346996"/>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6">
              <a:extLst>
                <a:ext uri="{FF2B5EF4-FFF2-40B4-BE49-F238E27FC236}">
                  <a16:creationId xmlns:a16="http://schemas.microsoft.com/office/drawing/2014/main" id="{4B610FF2-D8C7-18CE-6D64-E83E19F9312A}"/>
                </a:ext>
              </a:extLst>
            </p:cNvPr>
            <p:cNvGrpSpPr/>
            <p:nvPr/>
          </p:nvGrpSpPr>
          <p:grpSpPr>
            <a:xfrm>
              <a:off x="1147517" y="2354486"/>
              <a:ext cx="3602924" cy="3938696"/>
              <a:chOff x="0" y="0"/>
              <a:chExt cx="1402303" cy="1189012"/>
            </a:xfrm>
          </p:grpSpPr>
          <p:sp>
            <p:nvSpPr>
              <p:cNvPr id="9" name="Freeform 7">
                <a:extLst>
                  <a:ext uri="{FF2B5EF4-FFF2-40B4-BE49-F238E27FC236}">
                    <a16:creationId xmlns:a16="http://schemas.microsoft.com/office/drawing/2014/main" id="{9E20FB0F-A4B2-4E0C-0A89-3C8B5AE501B1}"/>
                  </a:ext>
                </a:extLst>
              </p:cNvPr>
              <p:cNvSpPr/>
              <p:nvPr/>
            </p:nvSpPr>
            <p:spPr>
              <a:xfrm>
                <a:off x="0" y="0"/>
                <a:ext cx="1402303" cy="1189012"/>
              </a:xfrm>
              <a:custGeom>
                <a:avLst/>
                <a:gdLst/>
                <a:ahLst/>
                <a:cxnLst/>
                <a:rect l="l" t="t" r="r" b="b"/>
                <a:pathLst>
                  <a:path w="1402303" h="1189012">
                    <a:moveTo>
                      <a:pt x="84044" y="0"/>
                    </a:moveTo>
                    <a:lnTo>
                      <a:pt x="1318259" y="0"/>
                    </a:lnTo>
                    <a:cubicBezTo>
                      <a:pt x="1340548" y="0"/>
                      <a:pt x="1361925" y="8855"/>
                      <a:pt x="1377687" y="24616"/>
                    </a:cubicBezTo>
                    <a:cubicBezTo>
                      <a:pt x="1393448" y="40377"/>
                      <a:pt x="1402303" y="61754"/>
                      <a:pt x="1402303" y="84044"/>
                    </a:cubicBezTo>
                    <a:lnTo>
                      <a:pt x="1402303" y="1104968"/>
                    </a:lnTo>
                    <a:cubicBezTo>
                      <a:pt x="1402303" y="1151384"/>
                      <a:pt x="1364675" y="1189012"/>
                      <a:pt x="1318259" y="1189012"/>
                    </a:cubicBezTo>
                    <a:lnTo>
                      <a:pt x="84044" y="1189012"/>
                    </a:lnTo>
                    <a:cubicBezTo>
                      <a:pt x="37628" y="1189012"/>
                      <a:pt x="0" y="1151384"/>
                      <a:pt x="0" y="1104968"/>
                    </a:cubicBezTo>
                    <a:lnTo>
                      <a:pt x="0" y="84044"/>
                    </a:lnTo>
                    <a:cubicBezTo>
                      <a:pt x="0" y="37628"/>
                      <a:pt x="37628" y="0"/>
                      <a:pt x="84044" y="0"/>
                    </a:cubicBezTo>
                    <a:close/>
                  </a:path>
                </a:pathLst>
              </a:custGeom>
              <a:solidFill>
                <a:srgbClr val="FFFFFF"/>
              </a:solidFill>
              <a:effectLst>
                <a:outerShdw blurRad="50800" dist="38100" dir="5400000" algn="t"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8">
                <a:extLst>
                  <a:ext uri="{FF2B5EF4-FFF2-40B4-BE49-F238E27FC236}">
                    <a16:creationId xmlns:a16="http://schemas.microsoft.com/office/drawing/2014/main" id="{853F484D-B7F0-42E8-E1EE-C1FF760EFA5D}"/>
                  </a:ext>
                </a:extLst>
              </p:cNvPr>
              <p:cNvSpPr txBox="1"/>
              <p:nvPr/>
            </p:nvSpPr>
            <p:spPr>
              <a:xfrm>
                <a:off x="0" y="-47625"/>
                <a:ext cx="1402303" cy="1236637"/>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mn-ea"/>
                  <a:cs typeface="+mn-cs"/>
                </a:endParaRPr>
              </a:p>
            </p:txBody>
          </p:sp>
        </p:grpSp>
      </p:grpSp>
      <p:sp>
        <p:nvSpPr>
          <p:cNvPr id="16" name="TextBox 15">
            <a:extLst>
              <a:ext uri="{FF2B5EF4-FFF2-40B4-BE49-F238E27FC236}">
                <a16:creationId xmlns:a16="http://schemas.microsoft.com/office/drawing/2014/main" id="{C71C1229-632E-4756-32D8-6509DD7AFBF5}"/>
              </a:ext>
            </a:extLst>
          </p:cNvPr>
          <p:cNvSpPr txBox="1"/>
          <p:nvPr/>
        </p:nvSpPr>
        <p:spPr>
          <a:xfrm>
            <a:off x="1599819" y="4247089"/>
            <a:ext cx="4478636" cy="1785104"/>
          </a:xfrm>
          <a:prstGeom prst="rect">
            <a:avLst/>
          </a:prstGeom>
          <a:noFill/>
        </p:spPr>
        <p:txBody>
          <a:bodyPr wrap="square" anchor="t">
            <a:spAutoFit/>
          </a:bodyPr>
          <a:lstStyle/>
          <a:p>
            <a:pPr lvl="0" defTabSz="914400">
              <a:buClr>
                <a:srgbClr val="000000"/>
              </a:buClr>
              <a:defRPr/>
            </a:pPr>
            <a:r>
              <a:rPr lang="en-US" sz="2200" dirty="0">
                <a:latin typeface="Poppins" panose="00000500000000000000" pitchFamily="2" charset="0"/>
                <a:cs typeface="Poppins" panose="00000500000000000000" pitchFamily="2" charset="0"/>
              </a:rPr>
              <a:t>System-generated dispatches triggered instantly by automated risk-engine protocols when specific fraud vectors are breached.</a:t>
            </a:r>
            <a:endParaRPr kumimoji="0" sz="2200" b="0" i="0" u="none" strike="noStrike" kern="0" cap="none" spc="0" normalizeH="0" baseline="0" noProof="0" dirty="0">
              <a:ln>
                <a:noFill/>
              </a:ln>
              <a:solidFill>
                <a:srgbClr val="002B11"/>
              </a:solidFill>
              <a:effectLst/>
              <a:uLnTx/>
              <a:uFillTx/>
              <a:latin typeface="Poppins" panose="00000500000000000000" pitchFamily="2" charset="0"/>
              <a:cs typeface="Poppins" panose="00000500000000000000" pitchFamily="2" charset="0"/>
              <a:sym typeface="Arial"/>
            </a:endParaRPr>
          </a:p>
        </p:txBody>
      </p:sp>
      <p:grpSp>
        <p:nvGrpSpPr>
          <p:cNvPr id="17" name="Group 16">
            <a:extLst>
              <a:ext uri="{FF2B5EF4-FFF2-40B4-BE49-F238E27FC236}">
                <a16:creationId xmlns:a16="http://schemas.microsoft.com/office/drawing/2014/main" id="{85D22E99-EB66-64D3-5117-AE2697F847F8}"/>
              </a:ext>
            </a:extLst>
          </p:cNvPr>
          <p:cNvGrpSpPr/>
          <p:nvPr/>
        </p:nvGrpSpPr>
        <p:grpSpPr>
          <a:xfrm>
            <a:off x="6795699" y="2730121"/>
            <a:ext cx="5319600" cy="5969924"/>
            <a:chOff x="984760" y="2171700"/>
            <a:chExt cx="3928437" cy="4304269"/>
          </a:xfrm>
          <a:effectLst>
            <a:outerShdw blurRad="50800" dist="38100" dir="5400000" algn="t" rotWithShape="0">
              <a:prstClr val="black">
                <a:alpha val="40000"/>
              </a:prstClr>
            </a:outerShdw>
          </a:effectLst>
        </p:grpSpPr>
        <p:grpSp>
          <p:nvGrpSpPr>
            <p:cNvPr id="18" name="Group 3">
              <a:extLst>
                <a:ext uri="{FF2B5EF4-FFF2-40B4-BE49-F238E27FC236}">
                  <a16:creationId xmlns:a16="http://schemas.microsoft.com/office/drawing/2014/main" id="{05D37F4E-B6CC-F86B-B203-BA45EFCD85D2}"/>
                </a:ext>
              </a:extLst>
            </p:cNvPr>
            <p:cNvGrpSpPr/>
            <p:nvPr/>
          </p:nvGrpSpPr>
          <p:grpSpPr>
            <a:xfrm>
              <a:off x="984760" y="2171700"/>
              <a:ext cx="3928437" cy="4304269"/>
              <a:chOff x="0" y="0"/>
              <a:chExt cx="1528996" cy="1299371"/>
            </a:xfrm>
          </p:grpSpPr>
          <p:sp>
            <p:nvSpPr>
              <p:cNvPr id="22" name="Freeform 4">
                <a:extLst>
                  <a:ext uri="{FF2B5EF4-FFF2-40B4-BE49-F238E27FC236}">
                    <a16:creationId xmlns:a16="http://schemas.microsoft.com/office/drawing/2014/main" id="{8C76574C-28EC-E6EA-4F28-42156112F49B}"/>
                  </a:ext>
                </a:extLst>
              </p:cNvPr>
              <p:cNvSpPr/>
              <p:nvPr/>
            </p:nvSpPr>
            <p:spPr>
              <a:xfrm>
                <a:off x="0" y="0"/>
                <a:ext cx="1528996" cy="1299371"/>
              </a:xfrm>
              <a:custGeom>
                <a:avLst/>
                <a:gdLst/>
                <a:ahLst/>
                <a:cxnLst/>
                <a:rect l="l" t="t" r="r" b="b"/>
                <a:pathLst>
                  <a:path w="1528996" h="1299371">
                    <a:moveTo>
                      <a:pt x="77080" y="0"/>
                    </a:moveTo>
                    <a:lnTo>
                      <a:pt x="1451916" y="0"/>
                    </a:lnTo>
                    <a:cubicBezTo>
                      <a:pt x="1472359" y="0"/>
                      <a:pt x="1491965" y="8121"/>
                      <a:pt x="1506420" y="22576"/>
                    </a:cubicBezTo>
                    <a:cubicBezTo>
                      <a:pt x="1520875" y="37032"/>
                      <a:pt x="1528996" y="56637"/>
                      <a:pt x="1528996" y="77080"/>
                    </a:cubicBezTo>
                    <a:lnTo>
                      <a:pt x="1528996" y="1222291"/>
                    </a:lnTo>
                    <a:cubicBezTo>
                      <a:pt x="1528996" y="1242734"/>
                      <a:pt x="1520875" y="1262340"/>
                      <a:pt x="1506420" y="1276795"/>
                    </a:cubicBezTo>
                    <a:cubicBezTo>
                      <a:pt x="1491965" y="1291250"/>
                      <a:pt x="1472359" y="1299371"/>
                      <a:pt x="1451916" y="1299371"/>
                    </a:cubicBezTo>
                    <a:lnTo>
                      <a:pt x="77080" y="1299371"/>
                    </a:lnTo>
                    <a:cubicBezTo>
                      <a:pt x="56637" y="1299371"/>
                      <a:pt x="37032" y="1291250"/>
                      <a:pt x="22576" y="1276795"/>
                    </a:cubicBezTo>
                    <a:cubicBezTo>
                      <a:pt x="8121" y="1262340"/>
                      <a:pt x="0" y="1242734"/>
                      <a:pt x="0" y="1222291"/>
                    </a:cubicBezTo>
                    <a:lnTo>
                      <a:pt x="0" y="77080"/>
                    </a:lnTo>
                    <a:cubicBezTo>
                      <a:pt x="0" y="56637"/>
                      <a:pt x="8121" y="37032"/>
                      <a:pt x="22576" y="22576"/>
                    </a:cubicBezTo>
                    <a:cubicBezTo>
                      <a:pt x="37032" y="8121"/>
                      <a:pt x="56637" y="0"/>
                      <a:pt x="77080" y="0"/>
                    </a:cubicBezTo>
                    <a:close/>
                  </a:path>
                </a:pathLst>
              </a:custGeom>
              <a:solidFill>
                <a:srgbClr val="D953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3" name="TextBox 5">
                <a:extLst>
                  <a:ext uri="{FF2B5EF4-FFF2-40B4-BE49-F238E27FC236}">
                    <a16:creationId xmlns:a16="http://schemas.microsoft.com/office/drawing/2014/main" id="{CBC0B7A5-12A7-1584-21FB-A5D12B63DF8B}"/>
                  </a:ext>
                </a:extLst>
              </p:cNvPr>
              <p:cNvSpPr txBox="1"/>
              <p:nvPr/>
            </p:nvSpPr>
            <p:spPr>
              <a:xfrm>
                <a:off x="0" y="-47625"/>
                <a:ext cx="1528996" cy="1346996"/>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9" name="Group 6">
              <a:extLst>
                <a:ext uri="{FF2B5EF4-FFF2-40B4-BE49-F238E27FC236}">
                  <a16:creationId xmlns:a16="http://schemas.microsoft.com/office/drawing/2014/main" id="{A410B42B-FC9A-9739-8872-2459F434DF39}"/>
                </a:ext>
              </a:extLst>
            </p:cNvPr>
            <p:cNvGrpSpPr/>
            <p:nvPr/>
          </p:nvGrpSpPr>
          <p:grpSpPr>
            <a:xfrm>
              <a:off x="1147517" y="2354486"/>
              <a:ext cx="3602924" cy="3938696"/>
              <a:chOff x="0" y="0"/>
              <a:chExt cx="1402303" cy="1189012"/>
            </a:xfrm>
          </p:grpSpPr>
          <p:sp>
            <p:nvSpPr>
              <p:cNvPr id="20" name="Freeform 7">
                <a:extLst>
                  <a:ext uri="{FF2B5EF4-FFF2-40B4-BE49-F238E27FC236}">
                    <a16:creationId xmlns:a16="http://schemas.microsoft.com/office/drawing/2014/main" id="{0401EB6C-E99A-3C8D-B181-5F9E169F41A8}"/>
                  </a:ext>
                </a:extLst>
              </p:cNvPr>
              <p:cNvSpPr/>
              <p:nvPr/>
            </p:nvSpPr>
            <p:spPr>
              <a:xfrm>
                <a:off x="0" y="0"/>
                <a:ext cx="1402303" cy="1189012"/>
              </a:xfrm>
              <a:custGeom>
                <a:avLst/>
                <a:gdLst/>
                <a:ahLst/>
                <a:cxnLst/>
                <a:rect l="l" t="t" r="r" b="b"/>
                <a:pathLst>
                  <a:path w="1402303" h="1189012">
                    <a:moveTo>
                      <a:pt x="84044" y="0"/>
                    </a:moveTo>
                    <a:lnTo>
                      <a:pt x="1318259" y="0"/>
                    </a:lnTo>
                    <a:cubicBezTo>
                      <a:pt x="1340548" y="0"/>
                      <a:pt x="1361925" y="8855"/>
                      <a:pt x="1377687" y="24616"/>
                    </a:cubicBezTo>
                    <a:cubicBezTo>
                      <a:pt x="1393448" y="40377"/>
                      <a:pt x="1402303" y="61754"/>
                      <a:pt x="1402303" y="84044"/>
                    </a:cubicBezTo>
                    <a:lnTo>
                      <a:pt x="1402303" y="1104968"/>
                    </a:lnTo>
                    <a:cubicBezTo>
                      <a:pt x="1402303" y="1151384"/>
                      <a:pt x="1364675" y="1189012"/>
                      <a:pt x="1318259" y="1189012"/>
                    </a:cubicBezTo>
                    <a:lnTo>
                      <a:pt x="84044" y="1189012"/>
                    </a:lnTo>
                    <a:cubicBezTo>
                      <a:pt x="37628" y="1189012"/>
                      <a:pt x="0" y="1151384"/>
                      <a:pt x="0" y="1104968"/>
                    </a:cubicBezTo>
                    <a:lnTo>
                      <a:pt x="0" y="84044"/>
                    </a:lnTo>
                    <a:cubicBezTo>
                      <a:pt x="0" y="37628"/>
                      <a:pt x="37628" y="0"/>
                      <a:pt x="84044" y="0"/>
                    </a:cubicBezTo>
                    <a:close/>
                  </a:path>
                </a:pathLst>
              </a:custGeom>
              <a:solidFill>
                <a:srgbClr val="FFFFFF"/>
              </a:solidFill>
              <a:effectLst>
                <a:outerShdw blurRad="50800" dist="38100" dir="5400000" algn="t"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Box 8">
                <a:extLst>
                  <a:ext uri="{FF2B5EF4-FFF2-40B4-BE49-F238E27FC236}">
                    <a16:creationId xmlns:a16="http://schemas.microsoft.com/office/drawing/2014/main" id="{D5A5B488-AA29-0F50-641A-09E0B871C1CE}"/>
                  </a:ext>
                </a:extLst>
              </p:cNvPr>
              <p:cNvSpPr txBox="1"/>
              <p:nvPr/>
            </p:nvSpPr>
            <p:spPr>
              <a:xfrm>
                <a:off x="0" y="-47625"/>
                <a:ext cx="1402303" cy="1236637"/>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25" name="TextBox 24">
            <a:extLst>
              <a:ext uri="{FF2B5EF4-FFF2-40B4-BE49-F238E27FC236}">
                <a16:creationId xmlns:a16="http://schemas.microsoft.com/office/drawing/2014/main" id="{102D22AD-91D8-42C4-A57E-1A5DF59BCBE9}"/>
              </a:ext>
            </a:extLst>
          </p:cNvPr>
          <p:cNvSpPr txBox="1"/>
          <p:nvPr/>
        </p:nvSpPr>
        <p:spPr>
          <a:xfrm>
            <a:off x="7084230" y="3324798"/>
            <a:ext cx="4444779" cy="523220"/>
          </a:xfrm>
          <a:prstGeom prst="rect">
            <a:avLst/>
          </a:prstGeom>
          <a:noFill/>
        </p:spPr>
        <p:txBody>
          <a:bodyPr wrap="square" anchor="t">
            <a:spAutoFit/>
          </a:bodyPr>
          <a:lstStyle/>
          <a:p>
            <a:pPr lvl="0" algn="ctr" defTabSz="914400">
              <a:buClr>
                <a:srgbClr val="000000"/>
              </a:buClr>
              <a:defRPr/>
            </a:pPr>
            <a:r>
              <a:rPr lang="en-US" sz="2800" b="1" dirty="0">
                <a:latin typeface="Poppins" panose="00000500000000000000" pitchFamily="2" charset="0"/>
                <a:cs typeface="Poppins" panose="00000500000000000000" pitchFamily="2" charset="0"/>
              </a:rPr>
              <a:t>Manual Fraud Letters</a:t>
            </a:r>
            <a:endParaRPr kumimoji="0" sz="2800" b="1" i="0" u="none" strike="noStrike" kern="0" cap="none" spc="0" normalizeH="0" baseline="0" noProof="0" dirty="0">
              <a:ln>
                <a:noFill/>
              </a:ln>
              <a:solidFill>
                <a:srgbClr val="002B11"/>
              </a:solidFill>
              <a:effectLst/>
              <a:uLnTx/>
              <a:uFillTx/>
              <a:latin typeface="Poppins" panose="00000500000000000000" pitchFamily="2" charset="0"/>
              <a:cs typeface="Poppins" panose="00000500000000000000" pitchFamily="2" charset="0"/>
              <a:sym typeface="Arial"/>
            </a:endParaRPr>
          </a:p>
        </p:txBody>
      </p:sp>
      <p:sp>
        <p:nvSpPr>
          <p:cNvPr id="27" name="TextBox 26">
            <a:extLst>
              <a:ext uri="{FF2B5EF4-FFF2-40B4-BE49-F238E27FC236}">
                <a16:creationId xmlns:a16="http://schemas.microsoft.com/office/drawing/2014/main" id="{1C7405BC-F432-1D63-CE99-D843D75B2207}"/>
              </a:ext>
            </a:extLst>
          </p:cNvPr>
          <p:cNvSpPr txBox="1"/>
          <p:nvPr/>
        </p:nvSpPr>
        <p:spPr>
          <a:xfrm>
            <a:off x="7295313" y="3899826"/>
            <a:ext cx="4599594" cy="4154984"/>
          </a:xfrm>
          <a:prstGeom prst="rect">
            <a:avLst/>
          </a:prstGeom>
          <a:noFill/>
        </p:spPr>
        <p:txBody>
          <a:bodyPr wrap="square" anchor="t">
            <a:spAutoFit/>
          </a:bodyPr>
          <a:lstStyle/>
          <a:p>
            <a:pPr fontAlgn="base"/>
            <a:r>
              <a:rPr lang="en-US" sz="2200" dirty="0">
                <a:latin typeface="Poppins" panose="00000500000000000000" pitchFamily="2" charset="0"/>
                <a:cs typeface="Poppins" panose="00000500000000000000" pitchFamily="2" charset="0"/>
              </a:rPr>
              <a:t>Manual letters are required for certain types of violations and when re-sending missing letters.</a:t>
            </a:r>
          </a:p>
          <a:p>
            <a:pPr fontAlgn="base"/>
            <a:endParaRPr lang="en-US" sz="2200" dirty="0">
              <a:latin typeface="Poppins" panose="00000500000000000000" pitchFamily="2" charset="0"/>
              <a:cs typeface="Poppins" panose="00000500000000000000" pitchFamily="2" charset="0"/>
            </a:endParaRPr>
          </a:p>
          <a:p>
            <a:pPr fontAlgn="base"/>
            <a:r>
              <a:rPr lang="en-US" sz="2200" dirty="0">
                <a:latin typeface="Poppins" panose="00000500000000000000" pitchFamily="2" charset="0"/>
                <a:cs typeface="Poppins" panose="00000500000000000000" pitchFamily="2" charset="0"/>
              </a:rPr>
              <a:t>The following Fraud Letters must be sent manually via the Location Center:</a:t>
            </a:r>
            <a:br>
              <a:rPr lang="en-US" sz="2200" dirty="0">
                <a:latin typeface="Poppins" panose="00000500000000000000" pitchFamily="2" charset="0"/>
                <a:cs typeface="Poppins" panose="00000500000000000000" pitchFamily="2" charset="0"/>
              </a:rPr>
            </a:br>
            <a:endParaRPr lang="en-US" sz="2200" dirty="0">
              <a:latin typeface="Poppins" panose="00000500000000000000" pitchFamily="2" charset="0"/>
              <a:cs typeface="Poppins" panose="00000500000000000000" pitchFamily="2" charset="0"/>
            </a:endParaRPr>
          </a:p>
          <a:p>
            <a:pPr marL="342900" lvl="0" indent="-342900" fontAlgn="base">
              <a:buFont typeface="Arial" panose="020B0604020202020204" pitchFamily="34" charset="0"/>
              <a:buChar char="•"/>
            </a:pPr>
            <a:r>
              <a:rPr lang="en-US" sz="2200" dirty="0">
                <a:latin typeface="Poppins" panose="00000500000000000000" pitchFamily="2" charset="0"/>
                <a:cs typeface="Poppins" panose="00000500000000000000" pitchFamily="2" charset="0"/>
              </a:rPr>
              <a:t>Notification of Reverse Incentives</a:t>
            </a:r>
          </a:p>
          <a:p>
            <a:pPr marL="342900" lvl="0" indent="-342900" fontAlgn="base">
              <a:buFont typeface="Arial" panose="020B0604020202020204" pitchFamily="34" charset="0"/>
              <a:buChar char="•"/>
            </a:pPr>
            <a:r>
              <a:rPr lang="en-US" sz="2200" dirty="0">
                <a:latin typeface="Poppins" panose="00000500000000000000" pitchFamily="2" charset="0"/>
                <a:cs typeface="Poppins" panose="00000500000000000000" pitchFamily="2" charset="0"/>
              </a:rPr>
              <a:t>Notification of Bullying</a:t>
            </a:r>
          </a:p>
        </p:txBody>
      </p:sp>
      <p:grpSp>
        <p:nvGrpSpPr>
          <p:cNvPr id="28" name="Group 27">
            <a:extLst>
              <a:ext uri="{FF2B5EF4-FFF2-40B4-BE49-F238E27FC236}">
                <a16:creationId xmlns:a16="http://schemas.microsoft.com/office/drawing/2014/main" id="{09E9DB37-5516-CB79-6D31-A6D6EEBAB5A6}"/>
              </a:ext>
            </a:extLst>
          </p:cNvPr>
          <p:cNvGrpSpPr/>
          <p:nvPr/>
        </p:nvGrpSpPr>
        <p:grpSpPr>
          <a:xfrm>
            <a:off x="12344400" y="2725893"/>
            <a:ext cx="5319600" cy="5969924"/>
            <a:chOff x="984760" y="2171700"/>
            <a:chExt cx="3928437" cy="4304269"/>
          </a:xfrm>
          <a:effectLst>
            <a:outerShdw blurRad="50800" dist="38100" dir="5400000" algn="t" rotWithShape="0">
              <a:prstClr val="black">
                <a:alpha val="40000"/>
              </a:prstClr>
            </a:outerShdw>
          </a:effectLst>
        </p:grpSpPr>
        <p:grpSp>
          <p:nvGrpSpPr>
            <p:cNvPr id="29" name="Group 3">
              <a:extLst>
                <a:ext uri="{FF2B5EF4-FFF2-40B4-BE49-F238E27FC236}">
                  <a16:creationId xmlns:a16="http://schemas.microsoft.com/office/drawing/2014/main" id="{7EF2BA0D-D3D5-7F19-9697-548C88ED6C5B}"/>
                </a:ext>
              </a:extLst>
            </p:cNvPr>
            <p:cNvGrpSpPr/>
            <p:nvPr/>
          </p:nvGrpSpPr>
          <p:grpSpPr>
            <a:xfrm>
              <a:off x="984760" y="2171700"/>
              <a:ext cx="3928437" cy="4304269"/>
              <a:chOff x="0" y="0"/>
              <a:chExt cx="1528996" cy="1299371"/>
            </a:xfrm>
          </p:grpSpPr>
          <p:sp>
            <p:nvSpPr>
              <p:cNvPr id="34" name="Freeform 4">
                <a:extLst>
                  <a:ext uri="{FF2B5EF4-FFF2-40B4-BE49-F238E27FC236}">
                    <a16:creationId xmlns:a16="http://schemas.microsoft.com/office/drawing/2014/main" id="{8A5894F9-89D9-A80E-7169-0033BEC716E5}"/>
                  </a:ext>
                </a:extLst>
              </p:cNvPr>
              <p:cNvSpPr/>
              <p:nvPr/>
            </p:nvSpPr>
            <p:spPr>
              <a:xfrm>
                <a:off x="0" y="0"/>
                <a:ext cx="1528996" cy="1299371"/>
              </a:xfrm>
              <a:custGeom>
                <a:avLst/>
                <a:gdLst/>
                <a:ahLst/>
                <a:cxnLst/>
                <a:rect l="l" t="t" r="r" b="b"/>
                <a:pathLst>
                  <a:path w="1528996" h="1299371">
                    <a:moveTo>
                      <a:pt x="77080" y="0"/>
                    </a:moveTo>
                    <a:lnTo>
                      <a:pt x="1451916" y="0"/>
                    </a:lnTo>
                    <a:cubicBezTo>
                      <a:pt x="1472359" y="0"/>
                      <a:pt x="1491965" y="8121"/>
                      <a:pt x="1506420" y="22576"/>
                    </a:cubicBezTo>
                    <a:cubicBezTo>
                      <a:pt x="1520875" y="37032"/>
                      <a:pt x="1528996" y="56637"/>
                      <a:pt x="1528996" y="77080"/>
                    </a:cubicBezTo>
                    <a:lnTo>
                      <a:pt x="1528996" y="1222291"/>
                    </a:lnTo>
                    <a:cubicBezTo>
                      <a:pt x="1528996" y="1242734"/>
                      <a:pt x="1520875" y="1262340"/>
                      <a:pt x="1506420" y="1276795"/>
                    </a:cubicBezTo>
                    <a:cubicBezTo>
                      <a:pt x="1491965" y="1291250"/>
                      <a:pt x="1472359" y="1299371"/>
                      <a:pt x="1451916" y="1299371"/>
                    </a:cubicBezTo>
                    <a:lnTo>
                      <a:pt x="77080" y="1299371"/>
                    </a:lnTo>
                    <a:cubicBezTo>
                      <a:pt x="56637" y="1299371"/>
                      <a:pt x="37032" y="1291250"/>
                      <a:pt x="22576" y="1276795"/>
                    </a:cubicBezTo>
                    <a:cubicBezTo>
                      <a:pt x="8121" y="1262340"/>
                      <a:pt x="0" y="1242734"/>
                      <a:pt x="0" y="1222291"/>
                    </a:cubicBezTo>
                    <a:lnTo>
                      <a:pt x="0" y="77080"/>
                    </a:lnTo>
                    <a:cubicBezTo>
                      <a:pt x="0" y="56637"/>
                      <a:pt x="8121" y="37032"/>
                      <a:pt x="22576" y="22576"/>
                    </a:cubicBezTo>
                    <a:cubicBezTo>
                      <a:pt x="37032" y="8121"/>
                      <a:pt x="56637" y="0"/>
                      <a:pt x="77080" y="0"/>
                    </a:cubicBezTo>
                    <a:close/>
                  </a:path>
                </a:pathLst>
              </a:custGeom>
              <a:solidFill>
                <a:srgbClr val="23EEB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6" name="TextBox 5">
                <a:extLst>
                  <a:ext uri="{FF2B5EF4-FFF2-40B4-BE49-F238E27FC236}">
                    <a16:creationId xmlns:a16="http://schemas.microsoft.com/office/drawing/2014/main" id="{5CA0D489-D38B-8DCE-568D-57F7A15EEB78}"/>
                  </a:ext>
                </a:extLst>
              </p:cNvPr>
              <p:cNvSpPr txBox="1"/>
              <p:nvPr/>
            </p:nvSpPr>
            <p:spPr>
              <a:xfrm>
                <a:off x="0" y="-47625"/>
                <a:ext cx="1528996" cy="1346996"/>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0" name="Group 6">
              <a:extLst>
                <a:ext uri="{FF2B5EF4-FFF2-40B4-BE49-F238E27FC236}">
                  <a16:creationId xmlns:a16="http://schemas.microsoft.com/office/drawing/2014/main" id="{CF63800D-F6CF-C38B-F2BA-2A3A57024EA5}"/>
                </a:ext>
              </a:extLst>
            </p:cNvPr>
            <p:cNvGrpSpPr/>
            <p:nvPr/>
          </p:nvGrpSpPr>
          <p:grpSpPr>
            <a:xfrm>
              <a:off x="1147517" y="2354486"/>
              <a:ext cx="3602924" cy="3938696"/>
              <a:chOff x="0" y="0"/>
              <a:chExt cx="1402303" cy="1189012"/>
            </a:xfrm>
          </p:grpSpPr>
          <p:sp>
            <p:nvSpPr>
              <p:cNvPr id="31" name="Freeform 7">
                <a:extLst>
                  <a:ext uri="{FF2B5EF4-FFF2-40B4-BE49-F238E27FC236}">
                    <a16:creationId xmlns:a16="http://schemas.microsoft.com/office/drawing/2014/main" id="{616655EF-775D-5DBC-93BE-2FDBF853D0B6}"/>
                  </a:ext>
                </a:extLst>
              </p:cNvPr>
              <p:cNvSpPr/>
              <p:nvPr/>
            </p:nvSpPr>
            <p:spPr>
              <a:xfrm>
                <a:off x="0" y="0"/>
                <a:ext cx="1402303" cy="1189012"/>
              </a:xfrm>
              <a:custGeom>
                <a:avLst/>
                <a:gdLst/>
                <a:ahLst/>
                <a:cxnLst/>
                <a:rect l="l" t="t" r="r" b="b"/>
                <a:pathLst>
                  <a:path w="1402303" h="1189012">
                    <a:moveTo>
                      <a:pt x="84044" y="0"/>
                    </a:moveTo>
                    <a:lnTo>
                      <a:pt x="1318259" y="0"/>
                    </a:lnTo>
                    <a:cubicBezTo>
                      <a:pt x="1340548" y="0"/>
                      <a:pt x="1361925" y="8855"/>
                      <a:pt x="1377687" y="24616"/>
                    </a:cubicBezTo>
                    <a:cubicBezTo>
                      <a:pt x="1393448" y="40377"/>
                      <a:pt x="1402303" y="61754"/>
                      <a:pt x="1402303" y="84044"/>
                    </a:cubicBezTo>
                    <a:lnTo>
                      <a:pt x="1402303" y="1104968"/>
                    </a:lnTo>
                    <a:cubicBezTo>
                      <a:pt x="1402303" y="1151384"/>
                      <a:pt x="1364675" y="1189012"/>
                      <a:pt x="1318259" y="1189012"/>
                    </a:cubicBezTo>
                    <a:lnTo>
                      <a:pt x="84044" y="1189012"/>
                    </a:lnTo>
                    <a:cubicBezTo>
                      <a:pt x="37628" y="1189012"/>
                      <a:pt x="0" y="1151384"/>
                      <a:pt x="0" y="1104968"/>
                    </a:cubicBezTo>
                    <a:lnTo>
                      <a:pt x="0" y="84044"/>
                    </a:lnTo>
                    <a:cubicBezTo>
                      <a:pt x="0" y="37628"/>
                      <a:pt x="37628" y="0"/>
                      <a:pt x="84044" y="0"/>
                    </a:cubicBezTo>
                    <a:close/>
                  </a:path>
                </a:pathLst>
              </a:custGeom>
              <a:solidFill>
                <a:srgbClr val="FFFFFF"/>
              </a:solidFill>
              <a:effectLst>
                <a:outerShdw blurRad="50800" dist="38100" dir="5400000" algn="t"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TextBox 8">
                <a:extLst>
                  <a:ext uri="{FF2B5EF4-FFF2-40B4-BE49-F238E27FC236}">
                    <a16:creationId xmlns:a16="http://schemas.microsoft.com/office/drawing/2014/main" id="{5883E792-661A-DB54-61B6-3B033724C3CE}"/>
                  </a:ext>
                </a:extLst>
              </p:cNvPr>
              <p:cNvSpPr txBox="1"/>
              <p:nvPr/>
            </p:nvSpPr>
            <p:spPr>
              <a:xfrm>
                <a:off x="0" y="-47625"/>
                <a:ext cx="1402303" cy="1236637"/>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40" name="TextBox 39">
            <a:extLst>
              <a:ext uri="{FF2B5EF4-FFF2-40B4-BE49-F238E27FC236}">
                <a16:creationId xmlns:a16="http://schemas.microsoft.com/office/drawing/2014/main" id="{2999AB4C-20E1-DED7-F37D-E85AFD06C729}"/>
              </a:ext>
            </a:extLst>
          </p:cNvPr>
          <p:cNvSpPr txBox="1"/>
          <p:nvPr/>
        </p:nvSpPr>
        <p:spPr>
          <a:xfrm>
            <a:off x="12828694" y="3202788"/>
            <a:ext cx="4614914" cy="954107"/>
          </a:xfrm>
          <a:prstGeom prst="rect">
            <a:avLst/>
          </a:prstGeom>
          <a:noFill/>
        </p:spPr>
        <p:txBody>
          <a:bodyPr wrap="square" anchor="t">
            <a:spAutoFit/>
          </a:bodyPr>
          <a:lstStyle/>
          <a:p>
            <a:pPr lvl="0" defTabSz="914400">
              <a:buClr>
                <a:srgbClr val="000000"/>
              </a:buClr>
              <a:defRPr/>
            </a:pPr>
            <a:r>
              <a:rPr lang="en-US" sz="2800" b="1" dirty="0">
                <a:latin typeface="Poppins" panose="00000500000000000000" pitchFamily="2" charset="0"/>
                <a:cs typeface="Poppins" panose="00000500000000000000" pitchFamily="2" charset="0"/>
              </a:rPr>
              <a:t>Missing or Re-sending Letters</a:t>
            </a:r>
            <a:endParaRPr kumimoji="0" sz="2800" b="1" i="0" u="none" strike="noStrike" kern="0" cap="none" spc="0" normalizeH="0" baseline="0" noProof="0" dirty="0">
              <a:ln>
                <a:noFill/>
              </a:ln>
              <a:solidFill>
                <a:srgbClr val="002B11"/>
              </a:solidFill>
              <a:effectLst/>
              <a:uLnTx/>
              <a:uFillTx/>
              <a:latin typeface="Poppins" panose="00000500000000000000" pitchFamily="2" charset="0"/>
              <a:cs typeface="Poppins" panose="00000500000000000000" pitchFamily="2" charset="0"/>
              <a:sym typeface="Arial"/>
            </a:endParaRPr>
          </a:p>
        </p:txBody>
      </p:sp>
      <p:sp>
        <p:nvSpPr>
          <p:cNvPr id="44" name="TextBox 43">
            <a:extLst>
              <a:ext uri="{FF2B5EF4-FFF2-40B4-BE49-F238E27FC236}">
                <a16:creationId xmlns:a16="http://schemas.microsoft.com/office/drawing/2014/main" id="{F4BCD560-A0D7-BE82-81CE-DB0B3A94B314}"/>
              </a:ext>
            </a:extLst>
          </p:cNvPr>
          <p:cNvSpPr txBox="1"/>
          <p:nvPr/>
        </p:nvSpPr>
        <p:spPr>
          <a:xfrm>
            <a:off x="12772250" y="4241981"/>
            <a:ext cx="4539408" cy="3816429"/>
          </a:xfrm>
          <a:prstGeom prst="rect">
            <a:avLst/>
          </a:prstGeom>
          <a:noFill/>
        </p:spPr>
        <p:txBody>
          <a:bodyPr wrap="square" anchor="t">
            <a:spAutoFit/>
          </a:bodyPr>
          <a:lstStyle/>
          <a:p>
            <a:pPr fontAlgn="base"/>
            <a:r>
              <a:rPr lang="en-US" sz="2200" dirty="0">
                <a:latin typeface="Poppins" panose="00000500000000000000" pitchFamily="2" charset="0"/>
                <a:cs typeface="Poppins" panose="00000500000000000000" pitchFamily="2" charset="0"/>
              </a:rPr>
              <a:t>If there is no record of fraud letter in Location Notes and removed review history, treat the letter as officially missing and re-send the fraud letter or Boosting letter.</a:t>
            </a:r>
          </a:p>
          <a:p>
            <a:pPr fontAlgn="base"/>
            <a:br>
              <a:rPr lang="en-US" sz="2200" dirty="0">
                <a:latin typeface="Poppins" panose="00000500000000000000" pitchFamily="2" charset="0"/>
                <a:cs typeface="Poppins" panose="00000500000000000000" pitchFamily="2" charset="0"/>
              </a:rPr>
            </a:br>
            <a:r>
              <a:rPr lang="en-US" sz="2200" dirty="0">
                <a:latin typeface="Poppins" panose="00000500000000000000" pitchFamily="2" charset="0"/>
                <a:cs typeface="Poppins" panose="00000500000000000000" pitchFamily="2" charset="0"/>
              </a:rPr>
              <a:t>The history of Fraud Letters for a property and the most recent one can be found in the Location Center.</a:t>
            </a:r>
          </a:p>
        </p:txBody>
      </p:sp>
      <p:sp>
        <p:nvSpPr>
          <p:cNvPr id="15" name="TextBox 14">
            <a:extLst>
              <a:ext uri="{FF2B5EF4-FFF2-40B4-BE49-F238E27FC236}">
                <a16:creationId xmlns:a16="http://schemas.microsoft.com/office/drawing/2014/main" id="{1C919F34-01C7-600E-654B-3DA66CE87774}"/>
              </a:ext>
            </a:extLst>
          </p:cNvPr>
          <p:cNvSpPr txBox="1"/>
          <p:nvPr/>
        </p:nvSpPr>
        <p:spPr>
          <a:xfrm>
            <a:off x="1533844" y="3324421"/>
            <a:ext cx="4610586" cy="523220"/>
          </a:xfrm>
          <a:prstGeom prst="rect">
            <a:avLst/>
          </a:prstGeom>
          <a:noFill/>
        </p:spPr>
        <p:txBody>
          <a:bodyPr wrap="square" anchor="t">
            <a:spAutoFit/>
          </a:bodyPr>
          <a:lstStyle/>
          <a:p>
            <a:pPr lvl="0" defTabSz="914400">
              <a:buClr>
                <a:srgbClr val="000000"/>
              </a:buClr>
              <a:defRPr/>
            </a:pPr>
            <a:r>
              <a:rPr lang="en-US" sz="2800" b="1" dirty="0">
                <a:latin typeface="Poppins" panose="00000500000000000000" pitchFamily="2" charset="0"/>
                <a:cs typeface="Poppins" panose="00000500000000000000" pitchFamily="2" charset="0"/>
              </a:rPr>
              <a:t>Automatic Fraud Letters</a:t>
            </a:r>
            <a:endParaRPr kumimoji="0" sz="2800" b="1" i="0" u="none" strike="noStrike" kern="0" cap="none" spc="0" normalizeH="0" baseline="0" noProof="0" dirty="0">
              <a:ln>
                <a:noFill/>
              </a:ln>
              <a:solidFill>
                <a:srgbClr val="002B11"/>
              </a:solidFill>
              <a:effectLst/>
              <a:uLnTx/>
              <a:uFillTx/>
              <a:latin typeface="Poppins" panose="00000500000000000000" pitchFamily="2" charset="0"/>
              <a:cs typeface="Poppins" panose="00000500000000000000" pitchFamily="2" charset="0"/>
              <a:sym typeface="Arial"/>
            </a:endParaRPr>
          </a:p>
        </p:txBody>
      </p:sp>
      <p:sp>
        <p:nvSpPr>
          <p:cNvPr id="24" name="TextBox 23">
            <a:extLst>
              <a:ext uri="{FF2B5EF4-FFF2-40B4-BE49-F238E27FC236}">
                <a16:creationId xmlns:a16="http://schemas.microsoft.com/office/drawing/2014/main" id="{72B776CC-5BFF-D443-2D4C-50FA8C0C9677}"/>
              </a:ext>
            </a:extLst>
          </p:cNvPr>
          <p:cNvSpPr txBox="1"/>
          <p:nvPr/>
        </p:nvSpPr>
        <p:spPr>
          <a:xfrm>
            <a:off x="600001" y="9661690"/>
            <a:ext cx="10000001" cy="307777"/>
          </a:xfrm>
          <a:prstGeom prst="rect">
            <a:avLst/>
          </a:prstGeom>
          <a:noFill/>
        </p:spPr>
        <p:txBody>
          <a:bodyPr wrap="square" anchor="t">
            <a:spAutoFit/>
          </a:bodyPr>
          <a:lstStyle/>
          <a:p>
            <a:pPr defTabSz="914445"/>
            <a:r>
              <a:rPr sz="1400" dirty="0">
                <a:solidFill>
                  <a:srgbClr val="8A8272"/>
                </a:solidFill>
                <a:latin typeface="Poppins"/>
              </a:rPr>
              <a:t>T</a:t>
            </a:r>
            <a:r>
              <a:rPr lang="en-US" sz="1400" dirty="0">
                <a:solidFill>
                  <a:srgbClr val="8A8272"/>
                </a:solidFill>
                <a:latin typeface="Poppins"/>
              </a:rPr>
              <a:t>ripadvisor</a:t>
            </a:r>
            <a:r>
              <a:rPr sz="1400" dirty="0">
                <a:solidFill>
                  <a:srgbClr val="8A8272"/>
                </a:solidFill>
                <a:latin typeface="Poppins"/>
              </a:rPr>
              <a:t> / F</a:t>
            </a:r>
            <a:r>
              <a:rPr lang="en-US" sz="1400" dirty="0">
                <a:solidFill>
                  <a:srgbClr val="8A8272"/>
                </a:solidFill>
                <a:latin typeface="Poppins"/>
              </a:rPr>
              <a:t>raud letters</a:t>
            </a:r>
            <a:endParaRPr sz="1400" dirty="0">
              <a:solidFill>
                <a:srgbClr val="8A8272"/>
              </a:solidFill>
              <a:latin typeface="Poppins"/>
            </a:endParaRPr>
          </a:p>
        </p:txBody>
      </p:sp>
      <p:sp>
        <p:nvSpPr>
          <p:cNvPr id="6" name="Text 2">
            <a:extLst>
              <a:ext uri="{FF2B5EF4-FFF2-40B4-BE49-F238E27FC236}">
                <a16:creationId xmlns:a16="http://schemas.microsoft.com/office/drawing/2014/main" id="{64CEFDC6-9B10-FD8B-2E85-981F503D30BC}"/>
              </a:ext>
            </a:extLst>
          </p:cNvPr>
          <p:cNvSpPr/>
          <p:nvPr/>
        </p:nvSpPr>
        <p:spPr>
          <a:xfrm>
            <a:off x="990600" y="1016679"/>
            <a:ext cx="13716000" cy="923330"/>
          </a:xfrm>
          <a:prstGeom prst="rect">
            <a:avLst/>
          </a:prstGeom>
          <a:noFill/>
        </p:spPr>
        <p:txBody>
          <a:bodyPr wrap="square" anchor="t">
            <a:spAutoFit/>
          </a:bodyPr>
          <a:lstStyle/>
          <a:p>
            <a:pPr defTabSz="914400">
              <a:buClr>
                <a:srgbClr val="000000"/>
              </a:buClr>
            </a:pPr>
            <a:r>
              <a:rPr lang="en-US" sz="5200" b="1" dirty="0">
                <a:latin typeface="Poppins" panose="00000500000000000000" pitchFamily="2" charset="0"/>
                <a:cs typeface="Poppins" panose="00000500000000000000" pitchFamily="2" charset="0"/>
              </a:rPr>
              <a:t>Types of Fraud Letters</a:t>
            </a:r>
            <a:endParaRPr lang="en-US" sz="5200" b="1" dirty="0">
              <a:latin typeface="Poppins" panose="00000500000000000000" pitchFamily="2" charset="0"/>
              <a:cs typeface="Poppins" panose="00000500000000000000" pitchFamily="2" charset="0"/>
              <a:sym typeface="Arial"/>
            </a:endParaRPr>
          </a:p>
        </p:txBody>
      </p:sp>
    </p:spTree>
    <p:extLst>
      <p:ext uri="{BB962C8B-B14F-4D97-AF65-F5344CB8AC3E}">
        <p14:creationId xmlns:p14="http://schemas.microsoft.com/office/powerpoint/2010/main" val="3786390550"/>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997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4BA481-3980-5430-5BEB-C3922ED44424}"/>
              </a:ext>
            </a:extLst>
          </p:cNvPr>
          <p:cNvSpPr txBox="1"/>
          <p:nvPr/>
        </p:nvSpPr>
        <p:spPr>
          <a:xfrm>
            <a:off x="831003" y="915320"/>
            <a:ext cx="7419019" cy="892552"/>
          </a:xfrm>
          <a:prstGeom prst="rect">
            <a:avLst/>
          </a:prstGeom>
          <a:noFill/>
        </p:spPr>
        <p:txBody>
          <a:bodyPr wrap="none" rtlCol="0">
            <a:spAutoFit/>
          </a:bodyPr>
          <a:lstStyle>
            <a:defPPr>
              <a:defRPr lang="en-US"/>
            </a:defPPr>
            <a:lvl1pPr>
              <a:defRPr sz="2400" b="1">
                <a:latin typeface="Poppins" panose="00000500000000000000" pitchFamily="2" charset="0"/>
                <a:cs typeface="Poppins" panose="00000500000000000000" pitchFamily="2" charset="0"/>
              </a:defRPr>
            </a:lvl1pPr>
          </a:lstStyle>
          <a:p>
            <a:r>
              <a:rPr lang="en-US" sz="5200" dirty="0"/>
              <a:t>Manual Fraud Letters</a:t>
            </a:r>
          </a:p>
        </p:txBody>
      </p:sp>
      <p:pic>
        <p:nvPicPr>
          <p:cNvPr id="2" name="Picture 1">
            <a:extLst>
              <a:ext uri="{FF2B5EF4-FFF2-40B4-BE49-F238E27FC236}">
                <a16:creationId xmlns:a16="http://schemas.microsoft.com/office/drawing/2014/main" id="{079C52BB-9BB8-1793-5F62-D0993EC23F6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31003" y="2020145"/>
            <a:ext cx="16625994" cy="7076203"/>
          </a:xfrm>
          <a:prstGeom prst="rect">
            <a:avLst/>
          </a:prstGeom>
          <a:noFill/>
          <a:ln>
            <a:noFill/>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293913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997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27547D-97A6-472E-DB89-DB36168D7911}"/>
              </a:ext>
            </a:extLst>
          </p:cNvPr>
          <p:cNvSpPr txBox="1"/>
          <p:nvPr/>
        </p:nvSpPr>
        <p:spPr>
          <a:xfrm>
            <a:off x="636813" y="1180989"/>
            <a:ext cx="10318850" cy="892552"/>
          </a:xfrm>
          <a:prstGeom prst="rect">
            <a:avLst/>
          </a:prstGeom>
          <a:noFill/>
        </p:spPr>
        <p:txBody>
          <a:bodyPr wrap="none" rtlCol="0">
            <a:spAutoFit/>
          </a:bodyPr>
          <a:lstStyle/>
          <a:p>
            <a:r>
              <a:rPr lang="en-US" sz="5200" b="1" dirty="0">
                <a:latin typeface="Poppins" panose="00000500000000000000" pitchFamily="2" charset="0"/>
                <a:cs typeface="Poppins" panose="00000500000000000000" pitchFamily="2" charset="0"/>
              </a:rPr>
              <a:t>Missing or Re-sending Letters</a:t>
            </a:r>
            <a:endParaRPr lang="en-US" sz="5200" dirty="0"/>
          </a:p>
        </p:txBody>
      </p:sp>
      <p:pic>
        <p:nvPicPr>
          <p:cNvPr id="4" name="Picture 3">
            <a:extLst>
              <a:ext uri="{FF2B5EF4-FFF2-40B4-BE49-F238E27FC236}">
                <a16:creationId xmlns:a16="http://schemas.microsoft.com/office/drawing/2014/main" id="{4FE5B4C1-0C7D-A383-E83B-47487FCC199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36813" y="2559367"/>
            <a:ext cx="17014373" cy="5836783"/>
          </a:xfrm>
          <a:prstGeom prst="rect">
            <a:avLst/>
          </a:prstGeom>
          <a:noFill/>
          <a:ln>
            <a:noFill/>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6552369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44291" y="1888096"/>
            <a:ext cx="7354205" cy="2396047"/>
            <a:chOff x="0" y="0"/>
            <a:chExt cx="1936910" cy="631058"/>
          </a:xfrm>
        </p:grpSpPr>
        <p:sp>
          <p:nvSpPr>
            <p:cNvPr id="3" name="Freeform 3"/>
            <p:cNvSpPr/>
            <p:nvPr/>
          </p:nvSpPr>
          <p:spPr>
            <a:xfrm>
              <a:off x="0" y="0"/>
              <a:ext cx="1936910" cy="631058"/>
            </a:xfrm>
            <a:custGeom>
              <a:avLst/>
              <a:gdLst/>
              <a:ahLst/>
              <a:cxnLst/>
              <a:rect l="l" t="t" r="r" b="b"/>
              <a:pathLst>
                <a:path w="1936910" h="631058">
                  <a:moveTo>
                    <a:pt x="53689" y="0"/>
                  </a:moveTo>
                  <a:lnTo>
                    <a:pt x="1883221" y="0"/>
                  </a:lnTo>
                  <a:cubicBezTo>
                    <a:pt x="1897461" y="0"/>
                    <a:pt x="1911116" y="5656"/>
                    <a:pt x="1921185" y="15725"/>
                  </a:cubicBezTo>
                  <a:cubicBezTo>
                    <a:pt x="1931254" y="25794"/>
                    <a:pt x="1936910" y="39450"/>
                    <a:pt x="1936910" y="53689"/>
                  </a:cubicBezTo>
                  <a:lnTo>
                    <a:pt x="1936910" y="577369"/>
                  </a:lnTo>
                  <a:cubicBezTo>
                    <a:pt x="1936910" y="591608"/>
                    <a:pt x="1931254" y="605264"/>
                    <a:pt x="1921185" y="615333"/>
                  </a:cubicBezTo>
                  <a:cubicBezTo>
                    <a:pt x="1911116" y="625401"/>
                    <a:pt x="1897461" y="631058"/>
                    <a:pt x="1883221" y="631058"/>
                  </a:cubicBezTo>
                  <a:lnTo>
                    <a:pt x="53689" y="631058"/>
                  </a:lnTo>
                  <a:cubicBezTo>
                    <a:pt x="39450" y="631058"/>
                    <a:pt x="25794" y="625401"/>
                    <a:pt x="15725" y="615333"/>
                  </a:cubicBezTo>
                  <a:cubicBezTo>
                    <a:pt x="5656" y="605264"/>
                    <a:pt x="0" y="591608"/>
                    <a:pt x="0" y="577369"/>
                  </a:cubicBezTo>
                  <a:lnTo>
                    <a:pt x="0" y="53689"/>
                  </a:lnTo>
                  <a:cubicBezTo>
                    <a:pt x="0" y="39450"/>
                    <a:pt x="5656" y="25794"/>
                    <a:pt x="15725" y="15725"/>
                  </a:cubicBezTo>
                  <a:cubicBezTo>
                    <a:pt x="25794" y="5656"/>
                    <a:pt x="39450" y="0"/>
                    <a:pt x="53689" y="0"/>
                  </a:cubicBezTo>
                  <a:close/>
                </a:path>
              </a:pathLst>
            </a:custGeom>
            <a:solidFill>
              <a:srgbClr val="FFFFFF"/>
            </a:solidFill>
            <a:ln w="38100" cap="rnd">
              <a:solidFill>
                <a:srgbClr val="00BF63"/>
              </a:solidFill>
              <a:prstDash val="sysDot"/>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p:cNvSpPr txBox="1"/>
            <p:nvPr/>
          </p:nvSpPr>
          <p:spPr>
            <a:xfrm>
              <a:off x="0" y="-57150"/>
              <a:ext cx="1936910" cy="688208"/>
            </a:xfrm>
            <a:prstGeom prst="rect">
              <a:avLst/>
            </a:prstGeom>
          </p:spPr>
          <p:txBody>
            <a:bodyPr lIns="50800" tIns="50800" rIns="50800" bIns="50800" rtlCol="0" anchor="ctr"/>
            <a:lstStyle/>
            <a:p>
              <a:pPr marL="0" marR="0" lvl="0" indent="0" algn="ctr" defTabSz="914400" rtl="0" eaLnBrk="1" fontAlgn="auto" latinLnBrk="0" hangingPunct="1">
                <a:lnSpc>
                  <a:spcPts val="3252"/>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 name="Group 5"/>
          <p:cNvGrpSpPr/>
          <p:nvPr/>
        </p:nvGrpSpPr>
        <p:grpSpPr>
          <a:xfrm>
            <a:off x="9389504" y="1888096"/>
            <a:ext cx="7354205" cy="2396047"/>
            <a:chOff x="0" y="0"/>
            <a:chExt cx="1936910" cy="631058"/>
          </a:xfrm>
        </p:grpSpPr>
        <p:sp>
          <p:nvSpPr>
            <p:cNvPr id="6" name="Freeform 6"/>
            <p:cNvSpPr/>
            <p:nvPr/>
          </p:nvSpPr>
          <p:spPr>
            <a:xfrm>
              <a:off x="0" y="0"/>
              <a:ext cx="1936910" cy="631058"/>
            </a:xfrm>
            <a:custGeom>
              <a:avLst/>
              <a:gdLst/>
              <a:ahLst/>
              <a:cxnLst/>
              <a:rect l="l" t="t" r="r" b="b"/>
              <a:pathLst>
                <a:path w="1936910" h="631058">
                  <a:moveTo>
                    <a:pt x="53689" y="0"/>
                  </a:moveTo>
                  <a:lnTo>
                    <a:pt x="1883221" y="0"/>
                  </a:lnTo>
                  <a:cubicBezTo>
                    <a:pt x="1897461" y="0"/>
                    <a:pt x="1911116" y="5656"/>
                    <a:pt x="1921185" y="15725"/>
                  </a:cubicBezTo>
                  <a:cubicBezTo>
                    <a:pt x="1931254" y="25794"/>
                    <a:pt x="1936910" y="39450"/>
                    <a:pt x="1936910" y="53689"/>
                  </a:cubicBezTo>
                  <a:lnTo>
                    <a:pt x="1936910" y="577369"/>
                  </a:lnTo>
                  <a:cubicBezTo>
                    <a:pt x="1936910" y="591608"/>
                    <a:pt x="1931254" y="605264"/>
                    <a:pt x="1921185" y="615333"/>
                  </a:cubicBezTo>
                  <a:cubicBezTo>
                    <a:pt x="1911116" y="625401"/>
                    <a:pt x="1897461" y="631058"/>
                    <a:pt x="1883221" y="631058"/>
                  </a:cubicBezTo>
                  <a:lnTo>
                    <a:pt x="53689" y="631058"/>
                  </a:lnTo>
                  <a:cubicBezTo>
                    <a:pt x="39450" y="631058"/>
                    <a:pt x="25794" y="625401"/>
                    <a:pt x="15725" y="615333"/>
                  </a:cubicBezTo>
                  <a:cubicBezTo>
                    <a:pt x="5656" y="605264"/>
                    <a:pt x="0" y="591608"/>
                    <a:pt x="0" y="577369"/>
                  </a:cubicBezTo>
                  <a:lnTo>
                    <a:pt x="0" y="53689"/>
                  </a:lnTo>
                  <a:cubicBezTo>
                    <a:pt x="0" y="39450"/>
                    <a:pt x="5656" y="25794"/>
                    <a:pt x="15725" y="15725"/>
                  </a:cubicBezTo>
                  <a:cubicBezTo>
                    <a:pt x="25794" y="5656"/>
                    <a:pt x="39450" y="0"/>
                    <a:pt x="53689" y="0"/>
                  </a:cubicBezTo>
                  <a:close/>
                </a:path>
              </a:pathLst>
            </a:custGeom>
            <a:solidFill>
              <a:srgbClr val="FFFFFF"/>
            </a:solidFill>
            <a:ln w="38100" cap="rnd">
              <a:solidFill>
                <a:srgbClr val="00BF63"/>
              </a:solidFill>
              <a:prstDash val="sysDot"/>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p:cNvSpPr txBox="1"/>
            <p:nvPr/>
          </p:nvSpPr>
          <p:spPr>
            <a:xfrm>
              <a:off x="0" y="-57150"/>
              <a:ext cx="1936910" cy="688208"/>
            </a:xfrm>
            <a:prstGeom prst="rect">
              <a:avLst/>
            </a:prstGeom>
          </p:spPr>
          <p:txBody>
            <a:bodyPr lIns="50800" tIns="50800" rIns="50800" bIns="50800" rtlCol="0" anchor="ctr"/>
            <a:lstStyle/>
            <a:p>
              <a:pPr marL="0" marR="0" lvl="0" indent="0" algn="ctr" defTabSz="914400" rtl="0" eaLnBrk="1" fontAlgn="auto" latinLnBrk="0" hangingPunct="1">
                <a:lnSpc>
                  <a:spcPts val="3252"/>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p:cNvGrpSpPr/>
          <p:nvPr/>
        </p:nvGrpSpPr>
        <p:grpSpPr>
          <a:xfrm>
            <a:off x="1544291" y="4405275"/>
            <a:ext cx="7354205" cy="2396047"/>
            <a:chOff x="0" y="0"/>
            <a:chExt cx="1936910" cy="631058"/>
          </a:xfrm>
        </p:grpSpPr>
        <p:sp>
          <p:nvSpPr>
            <p:cNvPr id="9" name="Freeform 9"/>
            <p:cNvSpPr/>
            <p:nvPr/>
          </p:nvSpPr>
          <p:spPr>
            <a:xfrm>
              <a:off x="0" y="0"/>
              <a:ext cx="1936910" cy="631058"/>
            </a:xfrm>
            <a:custGeom>
              <a:avLst/>
              <a:gdLst/>
              <a:ahLst/>
              <a:cxnLst/>
              <a:rect l="l" t="t" r="r" b="b"/>
              <a:pathLst>
                <a:path w="1936910" h="631058">
                  <a:moveTo>
                    <a:pt x="53689" y="0"/>
                  </a:moveTo>
                  <a:lnTo>
                    <a:pt x="1883221" y="0"/>
                  </a:lnTo>
                  <a:cubicBezTo>
                    <a:pt x="1897461" y="0"/>
                    <a:pt x="1911116" y="5656"/>
                    <a:pt x="1921185" y="15725"/>
                  </a:cubicBezTo>
                  <a:cubicBezTo>
                    <a:pt x="1931254" y="25794"/>
                    <a:pt x="1936910" y="39450"/>
                    <a:pt x="1936910" y="53689"/>
                  </a:cubicBezTo>
                  <a:lnTo>
                    <a:pt x="1936910" y="577369"/>
                  </a:lnTo>
                  <a:cubicBezTo>
                    <a:pt x="1936910" y="591608"/>
                    <a:pt x="1931254" y="605264"/>
                    <a:pt x="1921185" y="615333"/>
                  </a:cubicBezTo>
                  <a:cubicBezTo>
                    <a:pt x="1911116" y="625401"/>
                    <a:pt x="1897461" y="631058"/>
                    <a:pt x="1883221" y="631058"/>
                  </a:cubicBezTo>
                  <a:lnTo>
                    <a:pt x="53689" y="631058"/>
                  </a:lnTo>
                  <a:cubicBezTo>
                    <a:pt x="39450" y="631058"/>
                    <a:pt x="25794" y="625401"/>
                    <a:pt x="15725" y="615333"/>
                  </a:cubicBezTo>
                  <a:cubicBezTo>
                    <a:pt x="5656" y="605264"/>
                    <a:pt x="0" y="591608"/>
                    <a:pt x="0" y="577369"/>
                  </a:cubicBezTo>
                  <a:lnTo>
                    <a:pt x="0" y="53689"/>
                  </a:lnTo>
                  <a:cubicBezTo>
                    <a:pt x="0" y="39450"/>
                    <a:pt x="5656" y="25794"/>
                    <a:pt x="15725" y="15725"/>
                  </a:cubicBezTo>
                  <a:cubicBezTo>
                    <a:pt x="25794" y="5656"/>
                    <a:pt x="39450" y="0"/>
                    <a:pt x="53689" y="0"/>
                  </a:cubicBezTo>
                  <a:close/>
                </a:path>
              </a:pathLst>
            </a:custGeom>
            <a:solidFill>
              <a:srgbClr val="FFFFFF"/>
            </a:solidFill>
            <a:ln w="38100" cap="rnd">
              <a:solidFill>
                <a:srgbClr val="00BF63"/>
              </a:solidFill>
              <a:prstDash val="sysDot"/>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p:cNvSpPr txBox="1"/>
            <p:nvPr/>
          </p:nvSpPr>
          <p:spPr>
            <a:xfrm>
              <a:off x="0" y="-57150"/>
              <a:ext cx="1936910" cy="688208"/>
            </a:xfrm>
            <a:prstGeom prst="rect">
              <a:avLst/>
            </a:prstGeom>
          </p:spPr>
          <p:txBody>
            <a:bodyPr lIns="50800" tIns="50800" rIns="50800" bIns="50800" rtlCol="0" anchor="ctr"/>
            <a:lstStyle/>
            <a:p>
              <a:pPr marL="0" marR="0" lvl="0" indent="0" algn="ctr" defTabSz="914400" rtl="0" eaLnBrk="1" fontAlgn="auto" latinLnBrk="0" hangingPunct="1">
                <a:lnSpc>
                  <a:spcPts val="3252"/>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p:cNvGrpSpPr/>
          <p:nvPr/>
        </p:nvGrpSpPr>
        <p:grpSpPr>
          <a:xfrm>
            <a:off x="9389504" y="4405275"/>
            <a:ext cx="7354205" cy="2396047"/>
            <a:chOff x="0" y="0"/>
            <a:chExt cx="1936910" cy="631058"/>
          </a:xfrm>
        </p:grpSpPr>
        <p:sp>
          <p:nvSpPr>
            <p:cNvPr id="12" name="Freeform 12"/>
            <p:cNvSpPr/>
            <p:nvPr/>
          </p:nvSpPr>
          <p:spPr>
            <a:xfrm>
              <a:off x="0" y="0"/>
              <a:ext cx="1936910" cy="631058"/>
            </a:xfrm>
            <a:custGeom>
              <a:avLst/>
              <a:gdLst/>
              <a:ahLst/>
              <a:cxnLst/>
              <a:rect l="l" t="t" r="r" b="b"/>
              <a:pathLst>
                <a:path w="1936910" h="631058">
                  <a:moveTo>
                    <a:pt x="53689" y="0"/>
                  </a:moveTo>
                  <a:lnTo>
                    <a:pt x="1883221" y="0"/>
                  </a:lnTo>
                  <a:cubicBezTo>
                    <a:pt x="1897461" y="0"/>
                    <a:pt x="1911116" y="5656"/>
                    <a:pt x="1921185" y="15725"/>
                  </a:cubicBezTo>
                  <a:cubicBezTo>
                    <a:pt x="1931254" y="25794"/>
                    <a:pt x="1936910" y="39450"/>
                    <a:pt x="1936910" y="53689"/>
                  </a:cubicBezTo>
                  <a:lnTo>
                    <a:pt x="1936910" y="577369"/>
                  </a:lnTo>
                  <a:cubicBezTo>
                    <a:pt x="1936910" y="591608"/>
                    <a:pt x="1931254" y="605264"/>
                    <a:pt x="1921185" y="615333"/>
                  </a:cubicBezTo>
                  <a:cubicBezTo>
                    <a:pt x="1911116" y="625401"/>
                    <a:pt x="1897461" y="631058"/>
                    <a:pt x="1883221" y="631058"/>
                  </a:cubicBezTo>
                  <a:lnTo>
                    <a:pt x="53689" y="631058"/>
                  </a:lnTo>
                  <a:cubicBezTo>
                    <a:pt x="39450" y="631058"/>
                    <a:pt x="25794" y="625401"/>
                    <a:pt x="15725" y="615333"/>
                  </a:cubicBezTo>
                  <a:cubicBezTo>
                    <a:pt x="5656" y="605264"/>
                    <a:pt x="0" y="591608"/>
                    <a:pt x="0" y="577369"/>
                  </a:cubicBezTo>
                  <a:lnTo>
                    <a:pt x="0" y="53689"/>
                  </a:lnTo>
                  <a:cubicBezTo>
                    <a:pt x="0" y="39450"/>
                    <a:pt x="5656" y="25794"/>
                    <a:pt x="15725" y="15725"/>
                  </a:cubicBezTo>
                  <a:cubicBezTo>
                    <a:pt x="25794" y="5656"/>
                    <a:pt x="39450" y="0"/>
                    <a:pt x="53689" y="0"/>
                  </a:cubicBezTo>
                  <a:close/>
                </a:path>
              </a:pathLst>
            </a:custGeom>
            <a:solidFill>
              <a:srgbClr val="FFFFFF"/>
            </a:solidFill>
            <a:ln w="38100" cap="rnd">
              <a:solidFill>
                <a:srgbClr val="00BF63"/>
              </a:solidFill>
              <a:prstDash val="sysDot"/>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p:cNvSpPr txBox="1"/>
            <p:nvPr/>
          </p:nvSpPr>
          <p:spPr>
            <a:xfrm>
              <a:off x="0" y="-57150"/>
              <a:ext cx="1936910" cy="688208"/>
            </a:xfrm>
            <a:prstGeom prst="rect">
              <a:avLst/>
            </a:prstGeom>
          </p:spPr>
          <p:txBody>
            <a:bodyPr lIns="50800" tIns="50800" rIns="50800" bIns="50800" rtlCol="0" anchor="ctr"/>
            <a:lstStyle/>
            <a:p>
              <a:pPr marL="0" marR="0" lvl="0" indent="0" algn="ctr" defTabSz="914400" rtl="0" eaLnBrk="1" fontAlgn="auto" latinLnBrk="0" hangingPunct="1">
                <a:lnSpc>
                  <a:spcPts val="3252"/>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p:cNvGrpSpPr/>
          <p:nvPr/>
        </p:nvGrpSpPr>
        <p:grpSpPr>
          <a:xfrm>
            <a:off x="5466897" y="7039448"/>
            <a:ext cx="7354205" cy="2396047"/>
            <a:chOff x="0" y="0"/>
            <a:chExt cx="1936910" cy="631058"/>
          </a:xfrm>
        </p:grpSpPr>
        <p:sp>
          <p:nvSpPr>
            <p:cNvPr id="15" name="Freeform 15"/>
            <p:cNvSpPr/>
            <p:nvPr/>
          </p:nvSpPr>
          <p:spPr>
            <a:xfrm>
              <a:off x="0" y="0"/>
              <a:ext cx="1936910" cy="631058"/>
            </a:xfrm>
            <a:custGeom>
              <a:avLst/>
              <a:gdLst/>
              <a:ahLst/>
              <a:cxnLst/>
              <a:rect l="l" t="t" r="r" b="b"/>
              <a:pathLst>
                <a:path w="1936910" h="631058">
                  <a:moveTo>
                    <a:pt x="53689" y="0"/>
                  </a:moveTo>
                  <a:lnTo>
                    <a:pt x="1883221" y="0"/>
                  </a:lnTo>
                  <a:cubicBezTo>
                    <a:pt x="1897461" y="0"/>
                    <a:pt x="1911116" y="5656"/>
                    <a:pt x="1921185" y="15725"/>
                  </a:cubicBezTo>
                  <a:cubicBezTo>
                    <a:pt x="1931254" y="25794"/>
                    <a:pt x="1936910" y="39450"/>
                    <a:pt x="1936910" y="53689"/>
                  </a:cubicBezTo>
                  <a:lnTo>
                    <a:pt x="1936910" y="577369"/>
                  </a:lnTo>
                  <a:cubicBezTo>
                    <a:pt x="1936910" y="591608"/>
                    <a:pt x="1931254" y="605264"/>
                    <a:pt x="1921185" y="615333"/>
                  </a:cubicBezTo>
                  <a:cubicBezTo>
                    <a:pt x="1911116" y="625401"/>
                    <a:pt x="1897461" y="631058"/>
                    <a:pt x="1883221" y="631058"/>
                  </a:cubicBezTo>
                  <a:lnTo>
                    <a:pt x="53689" y="631058"/>
                  </a:lnTo>
                  <a:cubicBezTo>
                    <a:pt x="39450" y="631058"/>
                    <a:pt x="25794" y="625401"/>
                    <a:pt x="15725" y="615333"/>
                  </a:cubicBezTo>
                  <a:cubicBezTo>
                    <a:pt x="5656" y="605264"/>
                    <a:pt x="0" y="591608"/>
                    <a:pt x="0" y="577369"/>
                  </a:cubicBezTo>
                  <a:lnTo>
                    <a:pt x="0" y="53689"/>
                  </a:lnTo>
                  <a:cubicBezTo>
                    <a:pt x="0" y="39450"/>
                    <a:pt x="5656" y="25794"/>
                    <a:pt x="15725" y="15725"/>
                  </a:cubicBezTo>
                  <a:cubicBezTo>
                    <a:pt x="25794" y="5656"/>
                    <a:pt x="39450" y="0"/>
                    <a:pt x="53689" y="0"/>
                  </a:cubicBezTo>
                  <a:close/>
                </a:path>
              </a:pathLst>
            </a:custGeom>
            <a:solidFill>
              <a:srgbClr val="FFFFFF"/>
            </a:solidFill>
            <a:ln w="38100" cap="rnd">
              <a:solidFill>
                <a:srgbClr val="00BF63"/>
              </a:solidFill>
              <a:prstDash val="sysDot"/>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p:cNvSpPr txBox="1"/>
            <p:nvPr/>
          </p:nvSpPr>
          <p:spPr>
            <a:xfrm>
              <a:off x="0" y="-57150"/>
              <a:ext cx="1936910" cy="688208"/>
            </a:xfrm>
            <a:prstGeom prst="rect">
              <a:avLst/>
            </a:prstGeom>
          </p:spPr>
          <p:txBody>
            <a:bodyPr lIns="50800" tIns="50800" rIns="50800" bIns="50800" rtlCol="0" anchor="ctr"/>
            <a:lstStyle/>
            <a:p>
              <a:pPr marL="0" marR="0" lvl="0" indent="0" algn="ctr" defTabSz="914400" rtl="0" eaLnBrk="1" fontAlgn="auto" latinLnBrk="0" hangingPunct="1">
                <a:lnSpc>
                  <a:spcPts val="3252"/>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7" name="Freeform 17"/>
          <p:cNvSpPr/>
          <p:nvPr/>
        </p:nvSpPr>
        <p:spPr>
          <a:xfrm>
            <a:off x="7699980" y="2088766"/>
            <a:ext cx="578199" cy="774374"/>
          </a:xfrm>
          <a:custGeom>
            <a:avLst/>
            <a:gdLst/>
            <a:ahLst/>
            <a:cxnLst/>
            <a:rect l="l" t="t" r="r" b="b"/>
            <a:pathLst>
              <a:path w="578199" h="774374">
                <a:moveTo>
                  <a:pt x="0" y="0"/>
                </a:moveTo>
                <a:lnTo>
                  <a:pt x="578200" y="0"/>
                </a:lnTo>
                <a:lnTo>
                  <a:pt x="578200" y="774374"/>
                </a:lnTo>
                <a:lnTo>
                  <a:pt x="0" y="77437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8" name="Freeform 18"/>
          <p:cNvSpPr/>
          <p:nvPr/>
        </p:nvSpPr>
        <p:spPr>
          <a:xfrm>
            <a:off x="15068043" y="5046451"/>
            <a:ext cx="915190" cy="966750"/>
          </a:xfrm>
          <a:custGeom>
            <a:avLst/>
            <a:gdLst/>
            <a:ahLst/>
            <a:cxnLst/>
            <a:rect l="l" t="t" r="r" b="b"/>
            <a:pathLst>
              <a:path w="915190" h="966750">
                <a:moveTo>
                  <a:pt x="0" y="0"/>
                </a:moveTo>
                <a:lnTo>
                  <a:pt x="915190" y="0"/>
                </a:lnTo>
                <a:lnTo>
                  <a:pt x="915190" y="966751"/>
                </a:lnTo>
                <a:lnTo>
                  <a:pt x="0" y="9667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Freeform 19"/>
          <p:cNvSpPr/>
          <p:nvPr/>
        </p:nvSpPr>
        <p:spPr>
          <a:xfrm>
            <a:off x="15139795" y="2195143"/>
            <a:ext cx="843438" cy="843438"/>
          </a:xfrm>
          <a:custGeom>
            <a:avLst/>
            <a:gdLst/>
            <a:ahLst/>
            <a:cxnLst/>
            <a:rect l="l" t="t" r="r" b="b"/>
            <a:pathLst>
              <a:path w="843438" h="843438">
                <a:moveTo>
                  <a:pt x="0" y="0"/>
                </a:moveTo>
                <a:lnTo>
                  <a:pt x="843438" y="0"/>
                </a:lnTo>
                <a:lnTo>
                  <a:pt x="843438" y="843437"/>
                </a:lnTo>
                <a:lnTo>
                  <a:pt x="0" y="84343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Box 20"/>
          <p:cNvSpPr txBox="1"/>
          <p:nvPr/>
        </p:nvSpPr>
        <p:spPr>
          <a:xfrm>
            <a:off x="2043472" y="4728774"/>
            <a:ext cx="6825544" cy="509905"/>
          </a:xfrm>
          <a:prstGeom prst="rect">
            <a:avLst/>
          </a:prstGeom>
        </p:spPr>
        <p:txBody>
          <a:bodyPr lIns="0" tIns="0" rIns="0" bIns="0" rtlCol="0" anchor="t">
            <a:spAutoFit/>
          </a:bodyPr>
          <a:lstStyle/>
          <a:p>
            <a:pPr marL="0" marR="0" lvl="0" indent="0" algn="l" defTabSz="914400" rtl="0" eaLnBrk="1" fontAlgn="auto" latinLnBrk="0" hangingPunct="1">
              <a:lnSpc>
                <a:spcPts val="3919"/>
              </a:lnSpc>
              <a:spcBef>
                <a:spcPct val="0"/>
              </a:spcBef>
              <a:spcAft>
                <a:spcPts val="0"/>
              </a:spcAft>
              <a:buClrTx/>
              <a:buSzTx/>
              <a:buFontTx/>
              <a:buNone/>
              <a:tabLst/>
              <a:defRPr/>
            </a:pPr>
            <a:r>
              <a:rPr kumimoji="0" lang="en-US" sz="2799" b="1" i="0" u="none" strike="noStrike" kern="1200" cap="none" spc="0" normalizeH="0" baseline="0" noProof="0">
                <a:ln>
                  <a:noFill/>
                </a:ln>
                <a:solidFill>
                  <a:srgbClr val="002B11"/>
                </a:solidFill>
                <a:effectLst/>
                <a:uLnTx/>
                <a:uFillTx/>
                <a:latin typeface="Poppins Bold"/>
                <a:ea typeface="Poppins Bold"/>
                <a:cs typeface="Poppins Bold"/>
                <a:sym typeface="Poppins Bold"/>
              </a:rPr>
              <a:t>Same Violation Type </a:t>
            </a:r>
          </a:p>
        </p:txBody>
      </p:sp>
      <p:sp>
        <p:nvSpPr>
          <p:cNvPr id="21" name="Freeform 21"/>
          <p:cNvSpPr/>
          <p:nvPr/>
        </p:nvSpPr>
        <p:spPr>
          <a:xfrm>
            <a:off x="7278261" y="4759861"/>
            <a:ext cx="843438" cy="843438"/>
          </a:xfrm>
          <a:custGeom>
            <a:avLst/>
            <a:gdLst/>
            <a:ahLst/>
            <a:cxnLst/>
            <a:rect l="l" t="t" r="r" b="b"/>
            <a:pathLst>
              <a:path w="843438" h="843438">
                <a:moveTo>
                  <a:pt x="0" y="0"/>
                </a:moveTo>
                <a:lnTo>
                  <a:pt x="843438" y="0"/>
                </a:lnTo>
                <a:lnTo>
                  <a:pt x="843438" y="843438"/>
                </a:lnTo>
                <a:lnTo>
                  <a:pt x="0" y="84343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2" name="Freeform 22"/>
          <p:cNvSpPr/>
          <p:nvPr/>
        </p:nvSpPr>
        <p:spPr>
          <a:xfrm>
            <a:off x="11139123" y="7487758"/>
            <a:ext cx="694013" cy="638492"/>
          </a:xfrm>
          <a:custGeom>
            <a:avLst/>
            <a:gdLst/>
            <a:ahLst/>
            <a:cxnLst/>
            <a:rect l="l" t="t" r="r" b="b"/>
            <a:pathLst>
              <a:path w="694013" h="638492">
                <a:moveTo>
                  <a:pt x="0" y="0"/>
                </a:moveTo>
                <a:lnTo>
                  <a:pt x="694014" y="0"/>
                </a:lnTo>
                <a:lnTo>
                  <a:pt x="694014" y="638492"/>
                </a:lnTo>
                <a:lnTo>
                  <a:pt x="0" y="63849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TextBox 23"/>
          <p:cNvSpPr txBox="1"/>
          <p:nvPr/>
        </p:nvSpPr>
        <p:spPr>
          <a:xfrm>
            <a:off x="1449797" y="467601"/>
            <a:ext cx="11879461" cy="934720"/>
          </a:xfrm>
          <a:prstGeom prst="rect">
            <a:avLst/>
          </a:prstGeom>
        </p:spPr>
        <p:txBody>
          <a:bodyPr lIns="0" tIns="0" rIns="0" bIns="0" rtlCol="0" anchor="t">
            <a:spAutoFit/>
          </a:bodyPr>
          <a:lstStyle/>
          <a:p>
            <a:pPr marL="0" marR="0" lvl="0" indent="0" algn="ctr" defTabSz="914400" rtl="0" eaLnBrk="1" fontAlgn="auto" latinLnBrk="0" hangingPunct="1">
              <a:lnSpc>
                <a:spcPts val="7279"/>
              </a:lnSpc>
              <a:spcBef>
                <a:spcPct val="0"/>
              </a:spcBef>
              <a:spcAft>
                <a:spcPts val="0"/>
              </a:spcAft>
              <a:buClrTx/>
              <a:buSzTx/>
              <a:buFontTx/>
              <a:buNone/>
              <a:tabLst/>
              <a:defRPr/>
            </a:pPr>
            <a:r>
              <a:rPr kumimoji="0" lang="en-US" sz="5199" b="1" i="0" u="none" strike="noStrike" kern="1200" cap="none" spc="0" normalizeH="0" baseline="0" noProof="0">
                <a:ln>
                  <a:noFill/>
                </a:ln>
                <a:solidFill>
                  <a:srgbClr val="000000"/>
                </a:solidFill>
                <a:effectLst/>
                <a:uLnTx/>
                <a:uFillTx/>
                <a:latin typeface="Poppins Bold"/>
                <a:ea typeface="Poppins Bold"/>
                <a:cs typeface="Poppins Bold"/>
                <a:sym typeface="Poppins Bold"/>
              </a:rPr>
              <a:t>Automatic Fraud Letter - Scenarios</a:t>
            </a:r>
          </a:p>
        </p:txBody>
      </p:sp>
      <p:sp>
        <p:nvSpPr>
          <p:cNvPr id="24" name="TextBox 24"/>
          <p:cNvSpPr txBox="1"/>
          <p:nvPr/>
        </p:nvSpPr>
        <p:spPr>
          <a:xfrm>
            <a:off x="2043472" y="2178138"/>
            <a:ext cx="2597944" cy="509905"/>
          </a:xfrm>
          <a:prstGeom prst="rect">
            <a:avLst/>
          </a:prstGeom>
        </p:spPr>
        <p:txBody>
          <a:bodyPr lIns="0" tIns="0" rIns="0" bIns="0" rtlCol="0" anchor="t">
            <a:spAutoFit/>
          </a:bodyPr>
          <a:lstStyle/>
          <a:p>
            <a:pPr marL="0" marR="0" lvl="0" indent="0" algn="ctr" defTabSz="914400" rtl="0" eaLnBrk="1" fontAlgn="auto" latinLnBrk="0" hangingPunct="1">
              <a:lnSpc>
                <a:spcPts val="3919"/>
              </a:lnSpc>
              <a:spcBef>
                <a:spcPct val="0"/>
              </a:spcBef>
              <a:spcAft>
                <a:spcPts val="0"/>
              </a:spcAft>
              <a:buClrTx/>
              <a:buSzTx/>
              <a:buFontTx/>
              <a:buNone/>
              <a:tabLst/>
              <a:defRPr/>
            </a:pPr>
            <a:r>
              <a:rPr kumimoji="0" lang="en-US" sz="2799" b="1" i="0" u="none" strike="noStrike" kern="1200" cap="none" spc="0" normalizeH="0" baseline="0" noProof="0">
                <a:ln>
                  <a:noFill/>
                </a:ln>
                <a:solidFill>
                  <a:srgbClr val="002B11"/>
                </a:solidFill>
                <a:effectLst/>
                <a:uLnTx/>
                <a:uFillTx/>
                <a:latin typeface="Poppins Bold"/>
                <a:ea typeface="Poppins Bold"/>
                <a:cs typeface="Poppins Bold"/>
                <a:sym typeface="Poppins Bold"/>
              </a:rPr>
              <a:t>New Violation </a:t>
            </a:r>
          </a:p>
        </p:txBody>
      </p:sp>
      <p:sp>
        <p:nvSpPr>
          <p:cNvPr id="25" name="TextBox 25"/>
          <p:cNvSpPr txBox="1"/>
          <p:nvPr/>
        </p:nvSpPr>
        <p:spPr>
          <a:xfrm>
            <a:off x="2043472" y="2891810"/>
            <a:ext cx="6041678" cy="782320"/>
          </a:xfrm>
          <a:prstGeom prst="rect">
            <a:avLst/>
          </a:prstGeom>
        </p:spPr>
        <p:txBody>
          <a:bodyPr lIns="0" tIns="0" rIns="0" bIns="0" rtlCol="0" anchor="t">
            <a:spAutoFit/>
          </a:bodyPr>
          <a:lstStyle/>
          <a:p>
            <a:pPr marL="474979" marR="0" lvl="1" indent="-237490" algn="l" defTabSz="914400" rtl="0" eaLnBrk="1" fontAlgn="auto" latinLnBrk="0" hangingPunct="1">
              <a:lnSpc>
                <a:spcPts val="3079"/>
              </a:lnSpc>
              <a:spcBef>
                <a:spcPts val="0"/>
              </a:spcBef>
              <a:spcAft>
                <a:spcPts val="0"/>
              </a:spcAft>
              <a:buClrTx/>
              <a:buSzTx/>
              <a:buFont typeface="Arial"/>
              <a:buChar char="•"/>
              <a:tabLst/>
              <a:defRPr/>
            </a:pPr>
            <a:r>
              <a:rPr kumimoji="0" lang="en-US" sz="2199" b="0" i="0" u="none" strike="noStrike" kern="1200" cap="none" spc="0" normalizeH="0" baseline="0" noProof="0" dirty="0">
                <a:ln>
                  <a:noFill/>
                </a:ln>
                <a:solidFill>
                  <a:srgbClr val="002B11"/>
                </a:solidFill>
                <a:effectLst/>
                <a:uLnTx/>
                <a:uFillTx/>
                <a:latin typeface="Poppins"/>
                <a:ea typeface="Poppins"/>
                <a:cs typeface="Poppins"/>
                <a:sym typeface="Poppins"/>
              </a:rPr>
              <a:t>The property has never received a letter</a:t>
            </a:r>
          </a:p>
          <a:p>
            <a:pPr marL="474979" marR="0" lvl="1" indent="-237490" algn="l" defTabSz="914400" rtl="0" eaLnBrk="1" fontAlgn="auto" latinLnBrk="0" hangingPunct="1">
              <a:lnSpc>
                <a:spcPts val="3079"/>
              </a:lnSpc>
              <a:spcBef>
                <a:spcPts val="0"/>
              </a:spcBef>
              <a:spcAft>
                <a:spcPts val="0"/>
              </a:spcAft>
              <a:buClrTx/>
              <a:buSzTx/>
              <a:buFont typeface="Arial"/>
              <a:buChar char="•"/>
              <a:tabLst/>
              <a:defRPr/>
            </a:pPr>
            <a:r>
              <a:rPr kumimoji="0" lang="en-US" sz="2199" b="0" i="0" u="none" strike="noStrike" kern="1200" cap="none" spc="0" normalizeH="0" baseline="0" noProof="0" dirty="0">
                <a:ln>
                  <a:noFill/>
                </a:ln>
                <a:solidFill>
                  <a:srgbClr val="002B11"/>
                </a:solidFill>
                <a:effectLst/>
                <a:uLnTx/>
                <a:uFillTx/>
                <a:latin typeface="Poppins"/>
                <a:ea typeface="Poppins"/>
                <a:cs typeface="Poppins"/>
                <a:sym typeface="Poppins"/>
              </a:rPr>
              <a:t>A Notification of Fraud (FL) will be sent.</a:t>
            </a:r>
          </a:p>
        </p:txBody>
      </p:sp>
      <p:sp>
        <p:nvSpPr>
          <p:cNvPr id="26" name="TextBox 26"/>
          <p:cNvSpPr txBox="1"/>
          <p:nvPr/>
        </p:nvSpPr>
        <p:spPr>
          <a:xfrm>
            <a:off x="9918165" y="2117436"/>
            <a:ext cx="3829943" cy="509905"/>
          </a:xfrm>
          <a:prstGeom prst="rect">
            <a:avLst/>
          </a:prstGeom>
        </p:spPr>
        <p:txBody>
          <a:bodyPr lIns="0" tIns="0" rIns="0" bIns="0" rtlCol="0" anchor="t">
            <a:spAutoFit/>
          </a:bodyPr>
          <a:lstStyle/>
          <a:p>
            <a:pPr marL="0" marR="0" lvl="0" indent="0" algn="ctr" defTabSz="914400" rtl="0" eaLnBrk="1" fontAlgn="auto" latinLnBrk="0" hangingPunct="1">
              <a:lnSpc>
                <a:spcPts val="3919"/>
              </a:lnSpc>
              <a:spcBef>
                <a:spcPct val="0"/>
              </a:spcBef>
              <a:spcAft>
                <a:spcPts val="0"/>
              </a:spcAft>
              <a:buClrTx/>
              <a:buSzTx/>
              <a:buFontTx/>
              <a:buNone/>
              <a:tabLst/>
              <a:defRPr/>
            </a:pPr>
            <a:r>
              <a:rPr kumimoji="0" lang="en-US" sz="2799" b="1" i="0" u="none" strike="noStrike" kern="1200" cap="none" spc="0" normalizeH="0" baseline="0" noProof="0">
                <a:ln>
                  <a:noFill/>
                </a:ln>
                <a:solidFill>
                  <a:srgbClr val="002B11"/>
                </a:solidFill>
                <a:effectLst/>
                <a:uLnTx/>
                <a:uFillTx/>
                <a:latin typeface="Poppins Bold"/>
                <a:ea typeface="Poppins Bold"/>
                <a:cs typeface="Poppins Bold"/>
                <a:sym typeface="Poppins Bold"/>
              </a:rPr>
              <a:t>Same Violation Type </a:t>
            </a:r>
          </a:p>
        </p:txBody>
      </p:sp>
      <p:sp>
        <p:nvSpPr>
          <p:cNvPr id="27" name="TextBox 27"/>
          <p:cNvSpPr txBox="1"/>
          <p:nvPr/>
        </p:nvSpPr>
        <p:spPr>
          <a:xfrm>
            <a:off x="9918165" y="2787987"/>
            <a:ext cx="6065068" cy="1172845"/>
          </a:xfrm>
          <a:prstGeom prst="rect">
            <a:avLst/>
          </a:prstGeom>
        </p:spPr>
        <p:txBody>
          <a:bodyPr lIns="0" tIns="0" rIns="0" bIns="0" rtlCol="0" anchor="t">
            <a:spAutoFit/>
          </a:bodyPr>
          <a:lstStyle/>
          <a:p>
            <a:pPr marL="474979" marR="0" lvl="1" indent="-237490" algn="l" defTabSz="914400" rtl="0" eaLnBrk="1" fontAlgn="auto" latinLnBrk="0" hangingPunct="1">
              <a:lnSpc>
                <a:spcPts val="3079"/>
              </a:lnSpc>
              <a:spcBef>
                <a:spcPts val="0"/>
              </a:spcBef>
              <a:spcAft>
                <a:spcPts val="0"/>
              </a:spcAft>
              <a:buClrTx/>
              <a:buSzTx/>
              <a:buFont typeface="Arial"/>
              <a:buChar char="•"/>
              <a:tabLst/>
              <a:defRPr/>
            </a:pPr>
            <a:r>
              <a:rPr kumimoji="0" lang="en-US" sz="2199" b="0" i="0" u="none" strike="noStrike" kern="1200" cap="none" spc="0" normalizeH="0" baseline="0" noProof="0" dirty="0">
                <a:ln>
                  <a:noFill/>
                </a:ln>
                <a:solidFill>
                  <a:srgbClr val="002B11"/>
                </a:solidFill>
                <a:effectLst/>
                <a:uLnTx/>
                <a:uFillTx/>
                <a:latin typeface="Poppins"/>
                <a:ea typeface="Poppins"/>
                <a:cs typeface="Poppins"/>
                <a:sym typeface="Poppins"/>
              </a:rPr>
              <a:t>In the last 180 days</a:t>
            </a:r>
          </a:p>
          <a:p>
            <a:pPr marL="474979" marR="0" lvl="1" indent="-237490" algn="l" defTabSz="914400" rtl="0" eaLnBrk="1" fontAlgn="auto" latinLnBrk="0" hangingPunct="1">
              <a:lnSpc>
                <a:spcPts val="3079"/>
              </a:lnSpc>
              <a:spcBef>
                <a:spcPts val="0"/>
              </a:spcBef>
              <a:spcAft>
                <a:spcPts val="0"/>
              </a:spcAft>
              <a:buClrTx/>
              <a:buSzTx/>
              <a:buFont typeface="Arial"/>
              <a:buChar char="•"/>
              <a:tabLst/>
              <a:defRPr/>
            </a:pPr>
            <a:r>
              <a:rPr kumimoji="0" lang="en-US" sz="2199" b="0" i="0" u="none" strike="noStrike" kern="1200" cap="none" spc="0" normalizeH="0" baseline="0" noProof="0" dirty="0">
                <a:ln>
                  <a:noFill/>
                </a:ln>
                <a:solidFill>
                  <a:srgbClr val="002B11"/>
                </a:solidFill>
                <a:effectLst/>
                <a:uLnTx/>
                <a:uFillTx/>
                <a:latin typeface="Poppins"/>
                <a:ea typeface="Poppins"/>
                <a:cs typeface="Poppins"/>
                <a:sym typeface="Poppins"/>
              </a:rPr>
              <a:t>No new FL is sent; property is escalated for Red Badge consideration.</a:t>
            </a:r>
          </a:p>
        </p:txBody>
      </p:sp>
      <p:sp>
        <p:nvSpPr>
          <p:cNvPr id="28" name="TextBox 28"/>
          <p:cNvSpPr txBox="1"/>
          <p:nvPr/>
        </p:nvSpPr>
        <p:spPr>
          <a:xfrm>
            <a:off x="2043472" y="5391714"/>
            <a:ext cx="6709618" cy="782320"/>
          </a:xfrm>
          <a:prstGeom prst="rect">
            <a:avLst/>
          </a:prstGeom>
        </p:spPr>
        <p:txBody>
          <a:bodyPr lIns="0" tIns="0" rIns="0" bIns="0" rtlCol="0" anchor="t">
            <a:spAutoFit/>
          </a:bodyPr>
          <a:lstStyle/>
          <a:p>
            <a:pPr marL="474979" marR="0" lvl="1" indent="-237490" algn="l" defTabSz="914400" rtl="0" eaLnBrk="1" fontAlgn="auto" latinLnBrk="0" hangingPunct="1">
              <a:lnSpc>
                <a:spcPts val="3079"/>
              </a:lnSpc>
              <a:spcBef>
                <a:spcPts val="0"/>
              </a:spcBef>
              <a:spcAft>
                <a:spcPts val="0"/>
              </a:spcAft>
              <a:buClrTx/>
              <a:buSzTx/>
              <a:buFont typeface="Arial"/>
              <a:buChar char="•"/>
              <a:tabLst/>
              <a:defRPr/>
            </a:pPr>
            <a:r>
              <a:rPr kumimoji="0" lang="en-US" sz="2199" b="0" i="0" u="none" strike="noStrike" kern="1200" cap="none" spc="0" normalizeH="0" baseline="0" noProof="0" dirty="0">
                <a:ln>
                  <a:noFill/>
                </a:ln>
                <a:solidFill>
                  <a:srgbClr val="002B11"/>
                </a:solidFill>
                <a:effectLst/>
                <a:uLnTx/>
                <a:uFillTx/>
                <a:latin typeface="Poppins"/>
                <a:ea typeface="Poppins"/>
                <a:cs typeface="Poppins"/>
                <a:sym typeface="Poppins"/>
              </a:rPr>
              <a:t>more than 180 days ago</a:t>
            </a:r>
          </a:p>
          <a:p>
            <a:pPr marL="474979" marR="0" lvl="1" indent="-237490" algn="l" defTabSz="914400" rtl="0" eaLnBrk="1" fontAlgn="auto" latinLnBrk="0" hangingPunct="1">
              <a:lnSpc>
                <a:spcPts val="3079"/>
              </a:lnSpc>
              <a:spcBef>
                <a:spcPts val="0"/>
              </a:spcBef>
              <a:spcAft>
                <a:spcPts val="0"/>
              </a:spcAft>
              <a:buClrTx/>
              <a:buSzTx/>
              <a:buFont typeface="Arial"/>
              <a:buChar char="•"/>
              <a:tabLst/>
              <a:defRPr/>
            </a:pPr>
            <a:r>
              <a:rPr kumimoji="0" lang="en-US" sz="2199" b="0" i="0" u="none" strike="noStrike" kern="1200" cap="none" spc="0" normalizeH="0" baseline="0" noProof="0" dirty="0">
                <a:ln>
                  <a:noFill/>
                </a:ln>
                <a:solidFill>
                  <a:srgbClr val="002B11"/>
                </a:solidFill>
                <a:effectLst/>
                <a:uLnTx/>
                <a:uFillTx/>
                <a:latin typeface="Poppins"/>
                <a:ea typeface="Poppins"/>
                <a:cs typeface="Poppins"/>
                <a:sym typeface="Poppins"/>
              </a:rPr>
              <a:t>A Notification of Fraud (FL) will be sent again.</a:t>
            </a:r>
          </a:p>
        </p:txBody>
      </p:sp>
      <p:sp>
        <p:nvSpPr>
          <p:cNvPr id="29" name="TextBox 29"/>
          <p:cNvSpPr txBox="1"/>
          <p:nvPr/>
        </p:nvSpPr>
        <p:spPr>
          <a:xfrm>
            <a:off x="9918165" y="4728774"/>
            <a:ext cx="4367957" cy="509905"/>
          </a:xfrm>
          <a:prstGeom prst="rect">
            <a:avLst/>
          </a:prstGeom>
        </p:spPr>
        <p:txBody>
          <a:bodyPr lIns="0" tIns="0" rIns="0" bIns="0" rtlCol="0" anchor="t">
            <a:spAutoFit/>
          </a:bodyPr>
          <a:lstStyle/>
          <a:p>
            <a:pPr marL="0" marR="0" lvl="0" indent="0" algn="ctr" defTabSz="914400" rtl="0" eaLnBrk="1" fontAlgn="auto" latinLnBrk="0" hangingPunct="1">
              <a:lnSpc>
                <a:spcPts val="3919"/>
              </a:lnSpc>
              <a:spcBef>
                <a:spcPct val="0"/>
              </a:spcBef>
              <a:spcAft>
                <a:spcPts val="0"/>
              </a:spcAft>
              <a:buClrTx/>
              <a:buSzTx/>
              <a:buFontTx/>
              <a:buNone/>
              <a:tabLst/>
              <a:defRPr/>
            </a:pPr>
            <a:r>
              <a:rPr kumimoji="0" lang="en-US" sz="2799" b="1" i="0" u="none" strike="noStrike" kern="1200" cap="none" spc="0" normalizeH="0" baseline="0" noProof="0">
                <a:ln>
                  <a:noFill/>
                </a:ln>
                <a:solidFill>
                  <a:srgbClr val="002B11"/>
                </a:solidFill>
                <a:effectLst/>
                <a:uLnTx/>
                <a:uFillTx/>
                <a:latin typeface="Poppins Bold"/>
                <a:ea typeface="Poppins Bold"/>
                <a:cs typeface="Poppins Bold"/>
                <a:sym typeface="Poppins Bold"/>
              </a:rPr>
              <a:t>Different Violation Type </a:t>
            </a:r>
          </a:p>
        </p:txBody>
      </p:sp>
      <p:sp>
        <p:nvSpPr>
          <p:cNvPr id="30" name="TextBox 30"/>
          <p:cNvSpPr txBox="1"/>
          <p:nvPr/>
        </p:nvSpPr>
        <p:spPr>
          <a:xfrm>
            <a:off x="9918165" y="5433513"/>
            <a:ext cx="4069714" cy="782320"/>
          </a:xfrm>
          <a:prstGeom prst="rect">
            <a:avLst/>
          </a:prstGeom>
        </p:spPr>
        <p:txBody>
          <a:bodyPr wrap="square" lIns="0" tIns="0" rIns="0" bIns="0" rtlCol="0" anchor="t">
            <a:spAutoFit/>
          </a:bodyPr>
          <a:lstStyle/>
          <a:p>
            <a:pPr marL="474979" marR="0" lvl="1" indent="-237490" algn="l" defTabSz="914400" rtl="0" eaLnBrk="1" fontAlgn="auto" latinLnBrk="0" hangingPunct="1">
              <a:lnSpc>
                <a:spcPts val="3079"/>
              </a:lnSpc>
              <a:spcBef>
                <a:spcPts val="0"/>
              </a:spcBef>
              <a:spcAft>
                <a:spcPts val="0"/>
              </a:spcAft>
              <a:buClrTx/>
              <a:buSzTx/>
              <a:buFont typeface="Arial"/>
              <a:buChar char="•"/>
              <a:tabLst/>
              <a:defRPr/>
            </a:pPr>
            <a:r>
              <a:rPr kumimoji="0" lang="en-US" sz="2199" b="0" i="0" u="none" strike="noStrike" kern="1200" cap="none" spc="0" normalizeH="0" baseline="0" noProof="0" dirty="0">
                <a:ln>
                  <a:noFill/>
                </a:ln>
                <a:solidFill>
                  <a:srgbClr val="002B11"/>
                </a:solidFill>
                <a:effectLst/>
                <a:uLnTx/>
                <a:uFillTx/>
                <a:latin typeface="Poppins"/>
                <a:ea typeface="Poppins"/>
                <a:cs typeface="Poppins"/>
                <a:sym typeface="Poppins"/>
              </a:rPr>
              <a:t>in the last 7 days</a:t>
            </a:r>
          </a:p>
          <a:p>
            <a:pPr marL="474979" marR="0" lvl="1" indent="-237490" algn="l" defTabSz="914400" rtl="0" eaLnBrk="1" fontAlgn="auto" latinLnBrk="0" hangingPunct="1">
              <a:lnSpc>
                <a:spcPts val="3079"/>
              </a:lnSpc>
              <a:spcBef>
                <a:spcPts val="0"/>
              </a:spcBef>
              <a:spcAft>
                <a:spcPts val="0"/>
              </a:spcAft>
              <a:buClrTx/>
              <a:buSzTx/>
              <a:buFont typeface="Arial"/>
              <a:buChar char="•"/>
              <a:tabLst/>
              <a:defRPr/>
            </a:pPr>
            <a:r>
              <a:rPr kumimoji="0" lang="en-US" sz="2199" b="0" i="0" u="none" strike="noStrike" kern="1200" cap="none" spc="0" normalizeH="0" baseline="0" noProof="0" dirty="0">
                <a:ln>
                  <a:noFill/>
                </a:ln>
                <a:solidFill>
                  <a:srgbClr val="002B11"/>
                </a:solidFill>
                <a:effectLst/>
                <a:uLnTx/>
                <a:uFillTx/>
                <a:latin typeface="Poppins"/>
                <a:ea typeface="Poppins"/>
                <a:cs typeface="Poppins"/>
                <a:sym typeface="Poppins"/>
              </a:rPr>
              <a:t>No new FL is sent.</a:t>
            </a:r>
          </a:p>
        </p:txBody>
      </p:sp>
      <p:sp>
        <p:nvSpPr>
          <p:cNvPr id="31" name="TextBox 31"/>
          <p:cNvSpPr txBox="1"/>
          <p:nvPr/>
        </p:nvSpPr>
        <p:spPr>
          <a:xfrm>
            <a:off x="5937721" y="7268048"/>
            <a:ext cx="4367957" cy="509905"/>
          </a:xfrm>
          <a:prstGeom prst="rect">
            <a:avLst/>
          </a:prstGeom>
        </p:spPr>
        <p:txBody>
          <a:bodyPr lIns="0" tIns="0" rIns="0" bIns="0" rtlCol="0" anchor="t">
            <a:spAutoFit/>
          </a:bodyPr>
          <a:lstStyle/>
          <a:p>
            <a:pPr marL="0" marR="0" lvl="0" indent="0" algn="ctr" defTabSz="914400" rtl="0" eaLnBrk="1" fontAlgn="auto" latinLnBrk="0" hangingPunct="1">
              <a:lnSpc>
                <a:spcPts val="3919"/>
              </a:lnSpc>
              <a:spcBef>
                <a:spcPct val="0"/>
              </a:spcBef>
              <a:spcAft>
                <a:spcPts val="0"/>
              </a:spcAft>
              <a:buClrTx/>
              <a:buSzTx/>
              <a:buFontTx/>
              <a:buNone/>
              <a:tabLst/>
              <a:defRPr/>
            </a:pPr>
            <a:r>
              <a:rPr kumimoji="0" lang="en-US" sz="2799" b="1" i="0" u="none" strike="noStrike" kern="1200" cap="none" spc="0" normalizeH="0" baseline="0" noProof="0" dirty="0">
                <a:ln>
                  <a:noFill/>
                </a:ln>
                <a:solidFill>
                  <a:srgbClr val="002B11"/>
                </a:solidFill>
                <a:effectLst/>
                <a:uLnTx/>
                <a:uFillTx/>
                <a:latin typeface="Poppins Bold"/>
                <a:ea typeface="Poppins Bold"/>
                <a:cs typeface="Poppins Bold"/>
                <a:sym typeface="Poppins Bold"/>
              </a:rPr>
              <a:t>Different Violation Type </a:t>
            </a:r>
          </a:p>
        </p:txBody>
      </p:sp>
      <p:sp>
        <p:nvSpPr>
          <p:cNvPr id="32" name="TextBox 32"/>
          <p:cNvSpPr txBox="1"/>
          <p:nvPr/>
        </p:nvSpPr>
        <p:spPr>
          <a:xfrm>
            <a:off x="5937721" y="7987503"/>
            <a:ext cx="6577536" cy="1172845"/>
          </a:xfrm>
          <a:prstGeom prst="rect">
            <a:avLst/>
          </a:prstGeom>
        </p:spPr>
        <p:txBody>
          <a:bodyPr lIns="0" tIns="0" rIns="0" bIns="0" rtlCol="0" anchor="t">
            <a:spAutoFit/>
          </a:bodyPr>
          <a:lstStyle/>
          <a:p>
            <a:pPr marL="474979" marR="0" lvl="1" indent="-237490" algn="l" defTabSz="914400" rtl="0" eaLnBrk="1" fontAlgn="auto" latinLnBrk="0" hangingPunct="1">
              <a:lnSpc>
                <a:spcPts val="3079"/>
              </a:lnSpc>
              <a:spcBef>
                <a:spcPts val="0"/>
              </a:spcBef>
              <a:spcAft>
                <a:spcPts val="0"/>
              </a:spcAft>
              <a:buClrTx/>
              <a:buSzTx/>
              <a:buFont typeface="Arial"/>
              <a:buChar char="•"/>
              <a:tabLst/>
              <a:defRPr/>
            </a:pPr>
            <a:r>
              <a:rPr kumimoji="0" lang="en-US" sz="2199" b="0" i="0" u="none" strike="noStrike" kern="1200" cap="none" spc="0" normalizeH="0" baseline="0" noProof="0" dirty="0">
                <a:ln>
                  <a:noFill/>
                </a:ln>
                <a:solidFill>
                  <a:srgbClr val="002B11"/>
                </a:solidFill>
                <a:effectLst/>
                <a:uLnTx/>
                <a:uFillTx/>
                <a:latin typeface="Poppins"/>
                <a:ea typeface="Poppins"/>
                <a:cs typeface="Poppins"/>
                <a:sym typeface="Poppins"/>
              </a:rPr>
              <a:t>more than 7 days ago</a:t>
            </a:r>
          </a:p>
          <a:p>
            <a:pPr marL="474979" marR="0" lvl="1" indent="-237490" algn="l" defTabSz="914400" rtl="0" eaLnBrk="1" fontAlgn="auto" latinLnBrk="0" hangingPunct="1">
              <a:lnSpc>
                <a:spcPts val="3079"/>
              </a:lnSpc>
              <a:spcBef>
                <a:spcPts val="0"/>
              </a:spcBef>
              <a:spcAft>
                <a:spcPts val="0"/>
              </a:spcAft>
              <a:buClrTx/>
              <a:buSzTx/>
              <a:buFont typeface="Arial"/>
              <a:buChar char="•"/>
              <a:tabLst/>
              <a:defRPr/>
            </a:pPr>
            <a:r>
              <a:rPr kumimoji="0" lang="en-US" sz="2199" b="0" i="0" u="none" strike="noStrike" kern="1200" cap="none" spc="0" normalizeH="0" baseline="0" noProof="0" dirty="0">
                <a:ln>
                  <a:noFill/>
                </a:ln>
                <a:solidFill>
                  <a:srgbClr val="002B11"/>
                </a:solidFill>
                <a:effectLst/>
                <a:uLnTx/>
                <a:uFillTx/>
                <a:latin typeface="Poppins"/>
                <a:ea typeface="Poppins"/>
                <a:cs typeface="Poppins"/>
                <a:sym typeface="Poppins"/>
              </a:rPr>
              <a:t>A Notification of Fraud (FL) will be sent for the new violation type.</a:t>
            </a:r>
          </a:p>
        </p:txBody>
      </p:sp>
      <p:sp>
        <p:nvSpPr>
          <p:cNvPr id="34" name="TextBox 33">
            <a:extLst>
              <a:ext uri="{FF2B5EF4-FFF2-40B4-BE49-F238E27FC236}">
                <a16:creationId xmlns:a16="http://schemas.microsoft.com/office/drawing/2014/main" id="{93A8C92D-DF56-689F-36A9-C36B18E534A4}"/>
              </a:ext>
            </a:extLst>
          </p:cNvPr>
          <p:cNvSpPr txBox="1"/>
          <p:nvPr/>
        </p:nvSpPr>
        <p:spPr>
          <a:xfrm>
            <a:off x="600001" y="9661690"/>
            <a:ext cx="10000001" cy="307777"/>
          </a:xfrm>
          <a:prstGeom prst="rect">
            <a:avLst/>
          </a:prstGeom>
          <a:noFill/>
        </p:spPr>
        <p:txBody>
          <a:bodyPr wrap="square" anchor="t">
            <a:spAutoFit/>
          </a:bodyPr>
          <a:lstStyle/>
          <a:p>
            <a:pPr defTabSz="914445"/>
            <a:r>
              <a:rPr sz="1400" dirty="0">
                <a:solidFill>
                  <a:srgbClr val="8A8272"/>
                </a:solidFill>
                <a:latin typeface="Poppins"/>
              </a:rPr>
              <a:t>T</a:t>
            </a:r>
            <a:r>
              <a:rPr lang="en-US" sz="1400" dirty="0">
                <a:solidFill>
                  <a:srgbClr val="8A8272"/>
                </a:solidFill>
                <a:latin typeface="Poppins"/>
              </a:rPr>
              <a:t>ripadvisor</a:t>
            </a:r>
            <a:r>
              <a:rPr sz="1400" dirty="0">
                <a:solidFill>
                  <a:srgbClr val="8A8272"/>
                </a:solidFill>
                <a:latin typeface="Poppins"/>
              </a:rPr>
              <a:t> / F</a:t>
            </a:r>
            <a:r>
              <a:rPr lang="en-US" sz="1400" dirty="0">
                <a:solidFill>
                  <a:srgbClr val="8A8272"/>
                </a:solidFill>
                <a:latin typeface="Poppins"/>
              </a:rPr>
              <a:t>raud letters</a:t>
            </a:r>
            <a:endParaRPr sz="1400" dirty="0">
              <a:solidFill>
                <a:srgbClr val="8A8272"/>
              </a:solidFill>
              <a:latin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Rounded Corners 33">
            <a:extLst>
              <a:ext uri="{FF2B5EF4-FFF2-40B4-BE49-F238E27FC236}">
                <a16:creationId xmlns:a16="http://schemas.microsoft.com/office/drawing/2014/main" id="{B32ED8E4-4315-893A-D001-B2F3C8F08F4E}"/>
              </a:ext>
            </a:extLst>
          </p:cNvPr>
          <p:cNvSpPr/>
          <p:nvPr/>
        </p:nvSpPr>
        <p:spPr>
          <a:xfrm>
            <a:off x="1005840" y="2699290"/>
            <a:ext cx="15339060" cy="1226306"/>
          </a:xfrm>
          <a:prstGeom prst="roundRect">
            <a:avLst/>
          </a:prstGeom>
          <a:effectLst>
            <a:outerShdw blurRad="50800" dist="38100" dir="5400000" algn="t"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grpSp>
        <p:nvGrpSpPr>
          <p:cNvPr id="2" name="Group 2"/>
          <p:cNvGrpSpPr/>
          <p:nvPr/>
        </p:nvGrpSpPr>
        <p:grpSpPr>
          <a:xfrm>
            <a:off x="490662" y="6022140"/>
            <a:ext cx="5409546" cy="1606669"/>
            <a:chOff x="0" y="0"/>
            <a:chExt cx="7212728" cy="2142226"/>
          </a:xfrm>
          <a:effectLst>
            <a:outerShdw blurRad="50800" dist="38100" dir="5400000" algn="t" rotWithShape="0">
              <a:prstClr val="black">
                <a:alpha val="40000"/>
              </a:prstClr>
            </a:outerShdw>
          </a:effectLst>
        </p:grpSpPr>
        <p:grpSp>
          <p:nvGrpSpPr>
            <p:cNvPr id="3" name="Group 3"/>
            <p:cNvGrpSpPr/>
            <p:nvPr/>
          </p:nvGrpSpPr>
          <p:grpSpPr>
            <a:xfrm>
              <a:off x="0" y="0"/>
              <a:ext cx="7092685" cy="2094425"/>
              <a:chOff x="0" y="0"/>
              <a:chExt cx="1401024" cy="413714"/>
            </a:xfrm>
          </p:grpSpPr>
          <p:sp>
            <p:nvSpPr>
              <p:cNvPr id="4" name="Freeform 4"/>
              <p:cNvSpPr/>
              <p:nvPr/>
            </p:nvSpPr>
            <p:spPr>
              <a:xfrm>
                <a:off x="0" y="0"/>
                <a:ext cx="1401024" cy="413714"/>
              </a:xfrm>
              <a:custGeom>
                <a:avLst/>
                <a:gdLst/>
                <a:ahLst/>
                <a:cxnLst/>
                <a:rect l="l" t="t" r="r" b="b"/>
                <a:pathLst>
                  <a:path w="1401024" h="413714">
                    <a:moveTo>
                      <a:pt x="74224" y="0"/>
                    </a:moveTo>
                    <a:lnTo>
                      <a:pt x="1326800" y="0"/>
                    </a:lnTo>
                    <a:cubicBezTo>
                      <a:pt x="1367793" y="0"/>
                      <a:pt x="1401024" y="33231"/>
                      <a:pt x="1401024" y="74224"/>
                    </a:cubicBezTo>
                    <a:lnTo>
                      <a:pt x="1401024" y="339489"/>
                    </a:lnTo>
                    <a:cubicBezTo>
                      <a:pt x="1401024" y="380482"/>
                      <a:pt x="1367793" y="413714"/>
                      <a:pt x="1326800" y="413714"/>
                    </a:cubicBezTo>
                    <a:lnTo>
                      <a:pt x="74224" y="413714"/>
                    </a:lnTo>
                    <a:cubicBezTo>
                      <a:pt x="33231" y="413714"/>
                      <a:pt x="0" y="380482"/>
                      <a:pt x="0" y="339489"/>
                    </a:cubicBezTo>
                    <a:lnTo>
                      <a:pt x="0" y="74224"/>
                    </a:lnTo>
                    <a:cubicBezTo>
                      <a:pt x="0" y="33231"/>
                      <a:pt x="33231" y="0"/>
                      <a:pt x="74224" y="0"/>
                    </a:cubicBezTo>
                    <a:close/>
                  </a:path>
                </a:pathLst>
              </a:custGeom>
              <a:solidFill>
                <a:srgbClr val="00BF63"/>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TextBox 5"/>
              <p:cNvSpPr txBox="1"/>
              <p:nvPr/>
            </p:nvSpPr>
            <p:spPr>
              <a:xfrm>
                <a:off x="0" y="-38100"/>
                <a:ext cx="1401024" cy="45181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 name="Group 6"/>
            <p:cNvGrpSpPr/>
            <p:nvPr/>
          </p:nvGrpSpPr>
          <p:grpSpPr>
            <a:xfrm>
              <a:off x="120043" y="47801"/>
              <a:ext cx="7092685" cy="2094425"/>
              <a:chOff x="0" y="0"/>
              <a:chExt cx="1401024" cy="413714"/>
            </a:xfrm>
          </p:grpSpPr>
          <p:sp>
            <p:nvSpPr>
              <p:cNvPr id="7" name="Freeform 7"/>
              <p:cNvSpPr/>
              <p:nvPr/>
            </p:nvSpPr>
            <p:spPr>
              <a:xfrm>
                <a:off x="0" y="0"/>
                <a:ext cx="1401024" cy="413714"/>
              </a:xfrm>
              <a:custGeom>
                <a:avLst/>
                <a:gdLst/>
                <a:ahLst/>
                <a:cxnLst/>
                <a:rect l="l" t="t" r="r" b="b"/>
                <a:pathLst>
                  <a:path w="1401024" h="413714">
                    <a:moveTo>
                      <a:pt x="74224" y="0"/>
                    </a:moveTo>
                    <a:lnTo>
                      <a:pt x="1326800" y="0"/>
                    </a:lnTo>
                    <a:cubicBezTo>
                      <a:pt x="1367793" y="0"/>
                      <a:pt x="1401024" y="33231"/>
                      <a:pt x="1401024" y="74224"/>
                    </a:cubicBezTo>
                    <a:lnTo>
                      <a:pt x="1401024" y="339489"/>
                    </a:lnTo>
                    <a:cubicBezTo>
                      <a:pt x="1401024" y="380482"/>
                      <a:pt x="1367793" y="413714"/>
                      <a:pt x="1326800" y="413714"/>
                    </a:cubicBezTo>
                    <a:lnTo>
                      <a:pt x="74224" y="413714"/>
                    </a:lnTo>
                    <a:cubicBezTo>
                      <a:pt x="33231" y="413714"/>
                      <a:pt x="0" y="380482"/>
                      <a:pt x="0" y="339489"/>
                    </a:cubicBezTo>
                    <a:lnTo>
                      <a:pt x="0" y="74224"/>
                    </a:lnTo>
                    <a:cubicBezTo>
                      <a:pt x="0" y="33231"/>
                      <a:pt x="33231" y="0"/>
                      <a:pt x="74224" y="0"/>
                    </a:cubicBezTo>
                    <a:close/>
                  </a:path>
                </a:pathLst>
              </a:custGeom>
              <a:solidFill>
                <a:srgbClr val="FFFFFF"/>
              </a:solidFill>
              <a:ln w="38100" cap="rnd">
                <a:solidFill>
                  <a:srgbClr val="00BF63"/>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8"/>
              <p:cNvSpPr txBox="1"/>
              <p:nvPr/>
            </p:nvSpPr>
            <p:spPr>
              <a:xfrm>
                <a:off x="0" y="-38100"/>
                <a:ext cx="1401024" cy="45181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9" name="Freeform 9"/>
          <p:cNvSpPr/>
          <p:nvPr/>
        </p:nvSpPr>
        <p:spPr>
          <a:xfrm>
            <a:off x="991516" y="6466809"/>
            <a:ext cx="802982" cy="717331"/>
          </a:xfrm>
          <a:custGeom>
            <a:avLst/>
            <a:gdLst/>
            <a:ahLst/>
            <a:cxnLst/>
            <a:rect l="l" t="t" r="r" b="b"/>
            <a:pathLst>
              <a:path w="802982" h="717331">
                <a:moveTo>
                  <a:pt x="0" y="0"/>
                </a:moveTo>
                <a:lnTo>
                  <a:pt x="802982" y="0"/>
                </a:lnTo>
                <a:lnTo>
                  <a:pt x="802982" y="717331"/>
                </a:lnTo>
                <a:lnTo>
                  <a:pt x="0" y="71733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0" name="Group 10"/>
          <p:cNvGrpSpPr/>
          <p:nvPr/>
        </p:nvGrpSpPr>
        <p:grpSpPr>
          <a:xfrm>
            <a:off x="6347787" y="6022140"/>
            <a:ext cx="5409546" cy="1606669"/>
            <a:chOff x="0" y="0"/>
            <a:chExt cx="7212728" cy="2142226"/>
          </a:xfrm>
          <a:effectLst>
            <a:outerShdw blurRad="50800" dist="38100" dir="5400000" algn="t" rotWithShape="0">
              <a:prstClr val="black">
                <a:alpha val="40000"/>
              </a:prstClr>
            </a:outerShdw>
          </a:effectLst>
        </p:grpSpPr>
        <p:grpSp>
          <p:nvGrpSpPr>
            <p:cNvPr id="11" name="Group 11"/>
            <p:cNvGrpSpPr/>
            <p:nvPr/>
          </p:nvGrpSpPr>
          <p:grpSpPr>
            <a:xfrm>
              <a:off x="0" y="0"/>
              <a:ext cx="7092685" cy="2094425"/>
              <a:chOff x="0" y="0"/>
              <a:chExt cx="1401024" cy="413714"/>
            </a:xfrm>
          </p:grpSpPr>
          <p:sp>
            <p:nvSpPr>
              <p:cNvPr id="12" name="Freeform 12"/>
              <p:cNvSpPr/>
              <p:nvPr/>
            </p:nvSpPr>
            <p:spPr>
              <a:xfrm>
                <a:off x="0" y="0"/>
                <a:ext cx="1401024" cy="413714"/>
              </a:xfrm>
              <a:custGeom>
                <a:avLst/>
                <a:gdLst/>
                <a:ahLst/>
                <a:cxnLst/>
                <a:rect l="l" t="t" r="r" b="b"/>
                <a:pathLst>
                  <a:path w="1401024" h="413714">
                    <a:moveTo>
                      <a:pt x="74224" y="0"/>
                    </a:moveTo>
                    <a:lnTo>
                      <a:pt x="1326800" y="0"/>
                    </a:lnTo>
                    <a:cubicBezTo>
                      <a:pt x="1367793" y="0"/>
                      <a:pt x="1401024" y="33231"/>
                      <a:pt x="1401024" y="74224"/>
                    </a:cubicBezTo>
                    <a:lnTo>
                      <a:pt x="1401024" y="339489"/>
                    </a:lnTo>
                    <a:cubicBezTo>
                      <a:pt x="1401024" y="380482"/>
                      <a:pt x="1367793" y="413714"/>
                      <a:pt x="1326800" y="413714"/>
                    </a:cubicBezTo>
                    <a:lnTo>
                      <a:pt x="74224" y="413714"/>
                    </a:lnTo>
                    <a:cubicBezTo>
                      <a:pt x="33231" y="413714"/>
                      <a:pt x="0" y="380482"/>
                      <a:pt x="0" y="339489"/>
                    </a:cubicBezTo>
                    <a:lnTo>
                      <a:pt x="0" y="74224"/>
                    </a:lnTo>
                    <a:cubicBezTo>
                      <a:pt x="0" y="33231"/>
                      <a:pt x="33231" y="0"/>
                      <a:pt x="74224" y="0"/>
                    </a:cubicBezTo>
                    <a:close/>
                  </a:path>
                </a:pathLst>
              </a:custGeom>
              <a:solidFill>
                <a:srgbClr val="00BF63"/>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p:cNvSpPr txBox="1"/>
              <p:nvPr/>
            </p:nvSpPr>
            <p:spPr>
              <a:xfrm>
                <a:off x="0" y="-38100"/>
                <a:ext cx="1401024" cy="45181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p:cNvGrpSpPr/>
            <p:nvPr/>
          </p:nvGrpSpPr>
          <p:grpSpPr>
            <a:xfrm>
              <a:off x="120043" y="47801"/>
              <a:ext cx="7092685" cy="2094425"/>
              <a:chOff x="0" y="0"/>
              <a:chExt cx="1401024" cy="413714"/>
            </a:xfrm>
          </p:grpSpPr>
          <p:sp>
            <p:nvSpPr>
              <p:cNvPr id="15" name="Freeform 15"/>
              <p:cNvSpPr/>
              <p:nvPr/>
            </p:nvSpPr>
            <p:spPr>
              <a:xfrm>
                <a:off x="0" y="0"/>
                <a:ext cx="1401024" cy="413714"/>
              </a:xfrm>
              <a:custGeom>
                <a:avLst/>
                <a:gdLst/>
                <a:ahLst/>
                <a:cxnLst/>
                <a:rect l="l" t="t" r="r" b="b"/>
                <a:pathLst>
                  <a:path w="1401024" h="413714">
                    <a:moveTo>
                      <a:pt x="74224" y="0"/>
                    </a:moveTo>
                    <a:lnTo>
                      <a:pt x="1326800" y="0"/>
                    </a:lnTo>
                    <a:cubicBezTo>
                      <a:pt x="1367793" y="0"/>
                      <a:pt x="1401024" y="33231"/>
                      <a:pt x="1401024" y="74224"/>
                    </a:cubicBezTo>
                    <a:lnTo>
                      <a:pt x="1401024" y="339489"/>
                    </a:lnTo>
                    <a:cubicBezTo>
                      <a:pt x="1401024" y="380482"/>
                      <a:pt x="1367793" y="413714"/>
                      <a:pt x="1326800" y="413714"/>
                    </a:cubicBezTo>
                    <a:lnTo>
                      <a:pt x="74224" y="413714"/>
                    </a:lnTo>
                    <a:cubicBezTo>
                      <a:pt x="33231" y="413714"/>
                      <a:pt x="0" y="380482"/>
                      <a:pt x="0" y="339489"/>
                    </a:cubicBezTo>
                    <a:lnTo>
                      <a:pt x="0" y="74224"/>
                    </a:lnTo>
                    <a:cubicBezTo>
                      <a:pt x="0" y="33231"/>
                      <a:pt x="33231" y="0"/>
                      <a:pt x="74224" y="0"/>
                    </a:cubicBezTo>
                    <a:close/>
                  </a:path>
                </a:pathLst>
              </a:custGeom>
              <a:solidFill>
                <a:srgbClr val="FFFFFF"/>
              </a:solidFill>
              <a:ln w="38100" cap="rnd">
                <a:solidFill>
                  <a:srgbClr val="00BF63"/>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p:cNvSpPr txBox="1"/>
              <p:nvPr/>
            </p:nvSpPr>
            <p:spPr>
              <a:xfrm>
                <a:off x="0" y="-38100"/>
                <a:ext cx="1401024" cy="45181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17" name="Freeform 17"/>
          <p:cNvSpPr/>
          <p:nvPr/>
        </p:nvSpPr>
        <p:spPr>
          <a:xfrm>
            <a:off x="6859063" y="6391961"/>
            <a:ext cx="867028" cy="867028"/>
          </a:xfrm>
          <a:custGeom>
            <a:avLst/>
            <a:gdLst/>
            <a:ahLst/>
            <a:cxnLst/>
            <a:rect l="l" t="t" r="r" b="b"/>
            <a:pathLst>
              <a:path w="867028" h="867028">
                <a:moveTo>
                  <a:pt x="0" y="0"/>
                </a:moveTo>
                <a:lnTo>
                  <a:pt x="867027" y="0"/>
                </a:lnTo>
                <a:lnTo>
                  <a:pt x="867027" y="867027"/>
                </a:lnTo>
                <a:lnTo>
                  <a:pt x="0" y="8670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8" name="Group 18"/>
          <p:cNvGrpSpPr/>
          <p:nvPr/>
        </p:nvGrpSpPr>
        <p:grpSpPr>
          <a:xfrm>
            <a:off x="12281208" y="6022140"/>
            <a:ext cx="5409546" cy="1606669"/>
            <a:chOff x="0" y="0"/>
            <a:chExt cx="7212728" cy="2142226"/>
          </a:xfrm>
          <a:effectLst>
            <a:outerShdw blurRad="50800" dist="38100" dir="5400000" algn="t" rotWithShape="0">
              <a:prstClr val="black">
                <a:alpha val="40000"/>
              </a:prstClr>
            </a:outerShdw>
          </a:effectLst>
        </p:grpSpPr>
        <p:grpSp>
          <p:nvGrpSpPr>
            <p:cNvPr id="19" name="Group 19"/>
            <p:cNvGrpSpPr/>
            <p:nvPr/>
          </p:nvGrpSpPr>
          <p:grpSpPr>
            <a:xfrm>
              <a:off x="0" y="0"/>
              <a:ext cx="7092685" cy="2094425"/>
              <a:chOff x="0" y="0"/>
              <a:chExt cx="1401024" cy="413714"/>
            </a:xfrm>
          </p:grpSpPr>
          <p:sp>
            <p:nvSpPr>
              <p:cNvPr id="20" name="Freeform 20"/>
              <p:cNvSpPr/>
              <p:nvPr/>
            </p:nvSpPr>
            <p:spPr>
              <a:xfrm>
                <a:off x="0" y="0"/>
                <a:ext cx="1401024" cy="413714"/>
              </a:xfrm>
              <a:custGeom>
                <a:avLst/>
                <a:gdLst/>
                <a:ahLst/>
                <a:cxnLst/>
                <a:rect l="l" t="t" r="r" b="b"/>
                <a:pathLst>
                  <a:path w="1401024" h="413714">
                    <a:moveTo>
                      <a:pt x="74224" y="0"/>
                    </a:moveTo>
                    <a:lnTo>
                      <a:pt x="1326800" y="0"/>
                    </a:lnTo>
                    <a:cubicBezTo>
                      <a:pt x="1367793" y="0"/>
                      <a:pt x="1401024" y="33231"/>
                      <a:pt x="1401024" y="74224"/>
                    </a:cubicBezTo>
                    <a:lnTo>
                      <a:pt x="1401024" y="339489"/>
                    </a:lnTo>
                    <a:cubicBezTo>
                      <a:pt x="1401024" y="380482"/>
                      <a:pt x="1367793" y="413714"/>
                      <a:pt x="1326800" y="413714"/>
                    </a:cubicBezTo>
                    <a:lnTo>
                      <a:pt x="74224" y="413714"/>
                    </a:lnTo>
                    <a:cubicBezTo>
                      <a:pt x="33231" y="413714"/>
                      <a:pt x="0" y="380482"/>
                      <a:pt x="0" y="339489"/>
                    </a:cubicBezTo>
                    <a:lnTo>
                      <a:pt x="0" y="74224"/>
                    </a:lnTo>
                    <a:cubicBezTo>
                      <a:pt x="0" y="33231"/>
                      <a:pt x="33231" y="0"/>
                      <a:pt x="74224" y="0"/>
                    </a:cubicBezTo>
                    <a:close/>
                  </a:path>
                </a:pathLst>
              </a:custGeom>
              <a:solidFill>
                <a:srgbClr val="00BF63"/>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Box 21"/>
              <p:cNvSpPr txBox="1"/>
              <p:nvPr/>
            </p:nvSpPr>
            <p:spPr>
              <a:xfrm>
                <a:off x="0" y="-38100"/>
                <a:ext cx="1401024" cy="45181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2" name="Group 22"/>
            <p:cNvGrpSpPr/>
            <p:nvPr/>
          </p:nvGrpSpPr>
          <p:grpSpPr>
            <a:xfrm>
              <a:off x="120043" y="47801"/>
              <a:ext cx="7092685" cy="2094425"/>
              <a:chOff x="0" y="0"/>
              <a:chExt cx="1401024" cy="413714"/>
            </a:xfrm>
          </p:grpSpPr>
          <p:sp>
            <p:nvSpPr>
              <p:cNvPr id="23" name="Freeform 23"/>
              <p:cNvSpPr/>
              <p:nvPr/>
            </p:nvSpPr>
            <p:spPr>
              <a:xfrm>
                <a:off x="0" y="0"/>
                <a:ext cx="1401024" cy="413714"/>
              </a:xfrm>
              <a:custGeom>
                <a:avLst/>
                <a:gdLst/>
                <a:ahLst/>
                <a:cxnLst/>
                <a:rect l="l" t="t" r="r" b="b"/>
                <a:pathLst>
                  <a:path w="1401024" h="413714">
                    <a:moveTo>
                      <a:pt x="74224" y="0"/>
                    </a:moveTo>
                    <a:lnTo>
                      <a:pt x="1326800" y="0"/>
                    </a:lnTo>
                    <a:cubicBezTo>
                      <a:pt x="1367793" y="0"/>
                      <a:pt x="1401024" y="33231"/>
                      <a:pt x="1401024" y="74224"/>
                    </a:cubicBezTo>
                    <a:lnTo>
                      <a:pt x="1401024" y="339489"/>
                    </a:lnTo>
                    <a:cubicBezTo>
                      <a:pt x="1401024" y="380482"/>
                      <a:pt x="1367793" y="413714"/>
                      <a:pt x="1326800" y="413714"/>
                    </a:cubicBezTo>
                    <a:lnTo>
                      <a:pt x="74224" y="413714"/>
                    </a:lnTo>
                    <a:cubicBezTo>
                      <a:pt x="33231" y="413714"/>
                      <a:pt x="0" y="380482"/>
                      <a:pt x="0" y="339489"/>
                    </a:cubicBezTo>
                    <a:lnTo>
                      <a:pt x="0" y="74224"/>
                    </a:lnTo>
                    <a:cubicBezTo>
                      <a:pt x="0" y="33231"/>
                      <a:pt x="33231" y="0"/>
                      <a:pt x="74224" y="0"/>
                    </a:cubicBezTo>
                    <a:close/>
                  </a:path>
                </a:pathLst>
              </a:custGeom>
              <a:solidFill>
                <a:srgbClr val="FFFFFF"/>
              </a:solidFill>
              <a:ln w="38100" cap="rnd">
                <a:solidFill>
                  <a:srgbClr val="00BF63"/>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Box 24"/>
              <p:cNvSpPr txBox="1"/>
              <p:nvPr/>
            </p:nvSpPr>
            <p:spPr>
              <a:xfrm>
                <a:off x="0" y="-38100"/>
                <a:ext cx="1401024" cy="45181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25" name="Freeform 25"/>
          <p:cNvSpPr/>
          <p:nvPr/>
        </p:nvSpPr>
        <p:spPr>
          <a:xfrm>
            <a:off x="12719358" y="6420909"/>
            <a:ext cx="809130" cy="809130"/>
          </a:xfrm>
          <a:custGeom>
            <a:avLst/>
            <a:gdLst/>
            <a:ahLst/>
            <a:cxnLst/>
            <a:rect l="l" t="t" r="r" b="b"/>
            <a:pathLst>
              <a:path w="809130" h="809130">
                <a:moveTo>
                  <a:pt x="0" y="0"/>
                </a:moveTo>
                <a:lnTo>
                  <a:pt x="809130" y="0"/>
                </a:lnTo>
                <a:lnTo>
                  <a:pt x="809130" y="809131"/>
                </a:lnTo>
                <a:lnTo>
                  <a:pt x="0" y="80913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 name="TextBox 26"/>
          <p:cNvSpPr txBox="1"/>
          <p:nvPr/>
        </p:nvSpPr>
        <p:spPr>
          <a:xfrm>
            <a:off x="1028700" y="885825"/>
            <a:ext cx="10912673" cy="934720"/>
          </a:xfrm>
          <a:prstGeom prst="rect">
            <a:avLst/>
          </a:prstGeom>
        </p:spPr>
        <p:txBody>
          <a:bodyPr lIns="0" tIns="0" rIns="0" bIns="0" rtlCol="0" anchor="t">
            <a:spAutoFit/>
          </a:bodyPr>
          <a:lstStyle/>
          <a:p>
            <a:pPr marL="0" marR="0" lvl="0" indent="0" algn="ctr" defTabSz="914400" rtl="0" eaLnBrk="1" fontAlgn="auto" latinLnBrk="0" hangingPunct="1">
              <a:lnSpc>
                <a:spcPts val="7279"/>
              </a:lnSpc>
              <a:spcBef>
                <a:spcPct val="0"/>
              </a:spcBef>
              <a:spcAft>
                <a:spcPts val="0"/>
              </a:spcAft>
              <a:buClrTx/>
              <a:buSzTx/>
              <a:buFontTx/>
              <a:buNone/>
              <a:tabLst/>
              <a:defRPr/>
            </a:pPr>
            <a:r>
              <a:rPr kumimoji="0" lang="en-US" sz="5199" b="1" i="0" u="none" strike="noStrike" kern="1200" cap="none" spc="0" normalizeH="0" baseline="0" noProof="0">
                <a:ln>
                  <a:noFill/>
                </a:ln>
                <a:solidFill>
                  <a:srgbClr val="000000"/>
                </a:solidFill>
                <a:effectLst/>
                <a:uLnTx/>
                <a:uFillTx/>
                <a:latin typeface="Poppins Bold"/>
                <a:ea typeface="Poppins Bold"/>
                <a:cs typeface="Poppins Bold"/>
                <a:sym typeface="Poppins Bold"/>
              </a:rPr>
              <a:t>Manual Fraud Letter – Scenarios</a:t>
            </a:r>
          </a:p>
        </p:txBody>
      </p:sp>
      <p:sp>
        <p:nvSpPr>
          <p:cNvPr id="27" name="TextBox 27"/>
          <p:cNvSpPr txBox="1"/>
          <p:nvPr/>
        </p:nvSpPr>
        <p:spPr>
          <a:xfrm>
            <a:off x="1028700" y="2008207"/>
            <a:ext cx="15979140" cy="377091"/>
          </a:xfrm>
          <a:prstGeom prst="rect">
            <a:avLst/>
          </a:prstGeom>
        </p:spPr>
        <p:txBody>
          <a:bodyPr wrap="square" lIns="0" tIns="0" rIns="0" bIns="0" rtlCol="0" anchor="t">
            <a:spAutoFit/>
          </a:bodyPr>
          <a:lstStyle/>
          <a:p>
            <a:pPr marL="0" marR="0" lvl="0" indent="0" defTabSz="914400" rtl="0" eaLnBrk="1" fontAlgn="auto" latinLnBrk="0" hangingPunct="1">
              <a:lnSpc>
                <a:spcPts val="3079"/>
              </a:lnSpc>
              <a:spcBef>
                <a:spcPct val="0"/>
              </a:spcBef>
              <a:spcAft>
                <a:spcPts val="0"/>
              </a:spcAft>
              <a:buClrTx/>
              <a:buSzTx/>
              <a:buFontTx/>
              <a:buNone/>
              <a:tabLst/>
              <a:defRPr/>
            </a:pPr>
            <a:r>
              <a:rPr kumimoji="0" lang="en-US" sz="2199" b="0" i="0" u="none" strike="noStrike" kern="1200" cap="none" spc="0" normalizeH="0" baseline="0" noProof="0" dirty="0">
                <a:ln>
                  <a:noFill/>
                </a:ln>
                <a:solidFill>
                  <a:srgbClr val="000000"/>
                </a:solidFill>
                <a:effectLst/>
                <a:uLnTx/>
                <a:uFillTx/>
                <a:latin typeface="Poppins"/>
                <a:ea typeface="Poppins"/>
                <a:cs typeface="Poppins"/>
                <a:sym typeface="Poppins"/>
              </a:rPr>
              <a:t>Reverse Incentives and Bullying letters are sent manually when the case requires reviewer intervention.</a:t>
            </a:r>
          </a:p>
        </p:txBody>
      </p:sp>
      <p:sp>
        <p:nvSpPr>
          <p:cNvPr id="28" name="TextBox 28"/>
          <p:cNvSpPr txBox="1"/>
          <p:nvPr/>
        </p:nvSpPr>
        <p:spPr>
          <a:xfrm>
            <a:off x="1249192" y="2956377"/>
            <a:ext cx="14867108" cy="782320"/>
          </a:xfrm>
          <a:prstGeom prst="rect">
            <a:avLst/>
          </a:prstGeom>
        </p:spPr>
        <p:txBody>
          <a:bodyPr wrap="square" lIns="0" tIns="0" rIns="0" bIns="0" rtlCol="0" anchor="t">
            <a:spAutoFit/>
          </a:bodyPr>
          <a:lstStyle/>
          <a:p>
            <a:pPr marL="0" marR="0" lvl="0" indent="0" algn="l" defTabSz="914400" rtl="0" eaLnBrk="1" fontAlgn="auto" latinLnBrk="0" hangingPunct="1">
              <a:lnSpc>
                <a:spcPts val="3079"/>
              </a:lnSpc>
              <a:spcBef>
                <a:spcPct val="0"/>
              </a:spcBef>
              <a:spcAft>
                <a:spcPts val="0"/>
              </a:spcAft>
              <a:buClrTx/>
              <a:buSzTx/>
              <a:buFontTx/>
              <a:buNone/>
              <a:tabLst/>
              <a:defRPr/>
            </a:pPr>
            <a:r>
              <a:rPr kumimoji="0" lang="en-US" sz="2199" b="1" i="0" u="none" strike="noStrike" kern="1200" cap="none" spc="0" normalizeH="0" baseline="0" noProof="0" dirty="0">
                <a:ln>
                  <a:noFill/>
                </a:ln>
                <a:solidFill>
                  <a:srgbClr val="000000"/>
                </a:solidFill>
                <a:effectLst/>
                <a:uLnTx/>
                <a:uFillTx/>
                <a:latin typeface="Poppins Bold"/>
                <a:ea typeface="Poppins Bold"/>
                <a:cs typeface="Poppins Bold"/>
                <a:sym typeface="Poppins Bold"/>
              </a:rPr>
              <a:t>For example: </a:t>
            </a:r>
          </a:p>
          <a:p>
            <a:pPr marL="0" marR="0" lvl="0" indent="0" algn="l" defTabSz="914400" rtl="0" eaLnBrk="1" fontAlgn="auto" latinLnBrk="0" hangingPunct="1">
              <a:lnSpc>
                <a:spcPts val="3079"/>
              </a:lnSpc>
              <a:spcBef>
                <a:spcPct val="0"/>
              </a:spcBef>
              <a:spcAft>
                <a:spcPts val="0"/>
              </a:spcAft>
              <a:buClrTx/>
              <a:buSzTx/>
              <a:buFontTx/>
              <a:buNone/>
              <a:tabLst/>
              <a:defRPr/>
            </a:pPr>
            <a:r>
              <a:rPr kumimoji="0" lang="en-US" sz="2199" b="0" i="0" u="none" strike="noStrike" kern="1200" cap="none" spc="0" normalizeH="0" baseline="0" noProof="0" dirty="0">
                <a:ln>
                  <a:noFill/>
                </a:ln>
                <a:solidFill>
                  <a:srgbClr val="000000"/>
                </a:solidFill>
                <a:effectLst/>
                <a:uLnTx/>
                <a:uFillTx/>
                <a:latin typeface="Poppins"/>
                <a:ea typeface="Poppins"/>
                <a:cs typeface="Poppins"/>
                <a:sym typeface="Poppins"/>
              </a:rPr>
              <a:t>Offering free drinks in exchange for reviews may require a manual notification to be sent to the property</a:t>
            </a:r>
          </a:p>
        </p:txBody>
      </p:sp>
      <p:sp>
        <p:nvSpPr>
          <p:cNvPr id="29" name="TextBox 29"/>
          <p:cNvSpPr txBox="1"/>
          <p:nvPr/>
        </p:nvSpPr>
        <p:spPr>
          <a:xfrm>
            <a:off x="1044808" y="4410408"/>
            <a:ext cx="2269892" cy="475579"/>
          </a:xfrm>
          <a:prstGeom prst="rect">
            <a:avLst/>
          </a:prstGeom>
        </p:spPr>
        <p:txBody>
          <a:bodyPr wrap="square" lIns="0" tIns="0" rIns="0" bIns="0" rtlCol="0" anchor="t">
            <a:spAutoFit/>
          </a:bodyPr>
          <a:lstStyle/>
          <a:p>
            <a:pPr marL="0" marR="0" lvl="0" indent="0" defTabSz="914400" rtl="0" eaLnBrk="1" fontAlgn="auto" latinLnBrk="0" hangingPunct="1">
              <a:lnSpc>
                <a:spcPts val="3919"/>
              </a:lnSpc>
              <a:spcBef>
                <a:spcPct val="0"/>
              </a:spcBef>
              <a:spcAft>
                <a:spcPts val="0"/>
              </a:spcAft>
              <a:buClrTx/>
              <a:buSzTx/>
              <a:buFontTx/>
              <a:buNone/>
              <a:tabLst/>
              <a:defRPr/>
            </a:pPr>
            <a:r>
              <a:rPr kumimoji="0" lang="en-US" sz="2799" b="1" i="0" u="none" strike="noStrike" kern="1200" cap="none" spc="0" normalizeH="0" baseline="0" noProof="0" dirty="0">
                <a:ln>
                  <a:noFill/>
                </a:ln>
                <a:solidFill>
                  <a:srgbClr val="000000"/>
                </a:solidFill>
                <a:effectLst/>
                <a:uLnTx/>
                <a:uFillTx/>
                <a:latin typeface="Poppins Bold"/>
                <a:ea typeface="Poppins Bold"/>
                <a:cs typeface="Poppins Bold"/>
                <a:sym typeface="Poppins Bold"/>
              </a:rPr>
              <a:t>Procedure</a:t>
            </a:r>
          </a:p>
        </p:txBody>
      </p:sp>
      <p:sp>
        <p:nvSpPr>
          <p:cNvPr id="30" name="TextBox 30"/>
          <p:cNvSpPr txBox="1"/>
          <p:nvPr/>
        </p:nvSpPr>
        <p:spPr>
          <a:xfrm>
            <a:off x="1044808" y="5061749"/>
            <a:ext cx="14637152" cy="377091"/>
          </a:xfrm>
          <a:prstGeom prst="rect">
            <a:avLst/>
          </a:prstGeom>
        </p:spPr>
        <p:txBody>
          <a:bodyPr wrap="square" lIns="0" tIns="0" rIns="0" bIns="0" rtlCol="0" anchor="t">
            <a:spAutoFit/>
          </a:bodyPr>
          <a:lstStyle/>
          <a:p>
            <a:pPr marL="0" marR="0" lvl="0" indent="0" defTabSz="914400" rtl="0" eaLnBrk="1" fontAlgn="auto" latinLnBrk="0" hangingPunct="1">
              <a:lnSpc>
                <a:spcPts val="3079"/>
              </a:lnSpc>
              <a:spcBef>
                <a:spcPct val="0"/>
              </a:spcBef>
              <a:spcAft>
                <a:spcPts val="0"/>
              </a:spcAft>
              <a:buClrTx/>
              <a:buSzTx/>
              <a:buFontTx/>
              <a:buNone/>
              <a:tabLst/>
              <a:defRPr/>
            </a:pPr>
            <a:r>
              <a:rPr kumimoji="0" lang="en-US" sz="2199" b="0" i="0" u="none" strike="noStrike" kern="1200" cap="none" spc="0" normalizeH="0" baseline="0" noProof="0" dirty="0">
                <a:ln>
                  <a:noFill/>
                </a:ln>
                <a:solidFill>
                  <a:srgbClr val="000000"/>
                </a:solidFill>
                <a:effectLst/>
                <a:uLnTx/>
                <a:uFillTx/>
                <a:latin typeface="Poppins"/>
                <a:ea typeface="Poppins"/>
                <a:cs typeface="Poppins"/>
                <a:sym typeface="Poppins"/>
              </a:rPr>
              <a:t>Always use the most appropriate email address in the following order of priority</a:t>
            </a:r>
          </a:p>
        </p:txBody>
      </p:sp>
      <p:sp>
        <p:nvSpPr>
          <p:cNvPr id="31" name="TextBox 31"/>
          <p:cNvSpPr txBox="1"/>
          <p:nvPr/>
        </p:nvSpPr>
        <p:spPr>
          <a:xfrm>
            <a:off x="2152586" y="6459080"/>
            <a:ext cx="3372423" cy="675640"/>
          </a:xfrm>
          <a:prstGeom prst="rect">
            <a:avLst/>
          </a:prstGeom>
        </p:spPr>
        <p:txBody>
          <a:bodyPr lIns="0" tIns="0" rIns="0" bIns="0" rtlCol="0" anchor="t">
            <a:spAutoFit/>
          </a:bodyPr>
          <a:lstStyle/>
          <a:p>
            <a:pPr marL="0" marR="0" lvl="0" indent="0" algn="l" defTabSz="914400" rtl="0" eaLnBrk="1" fontAlgn="auto" latinLnBrk="0" hangingPunct="1">
              <a:lnSpc>
                <a:spcPts val="2659"/>
              </a:lnSpc>
              <a:spcBef>
                <a:spcPct val="0"/>
              </a:spcBef>
              <a:spcAft>
                <a:spcPts val="0"/>
              </a:spcAft>
              <a:buClrTx/>
              <a:buSzTx/>
              <a:buFontTx/>
              <a:buNone/>
              <a:tabLst/>
              <a:defRPr/>
            </a:pPr>
            <a:r>
              <a:rPr kumimoji="0" lang="en-US" sz="1899" b="0" i="0" u="none" strike="noStrike" kern="1200" cap="none" spc="0" normalizeH="0" baseline="0" noProof="0">
                <a:ln>
                  <a:noFill/>
                </a:ln>
                <a:solidFill>
                  <a:srgbClr val="000000"/>
                </a:solidFill>
                <a:effectLst/>
                <a:uLnTx/>
                <a:uFillTx/>
                <a:latin typeface="Poppins"/>
                <a:ea typeface="Poppins"/>
                <a:cs typeface="Poppins"/>
                <a:sym typeface="Poppins"/>
              </a:rPr>
              <a:t>Most recently registered and verified owner</a:t>
            </a:r>
          </a:p>
        </p:txBody>
      </p:sp>
      <p:sp>
        <p:nvSpPr>
          <p:cNvPr id="32" name="TextBox 32"/>
          <p:cNvSpPr txBox="1"/>
          <p:nvPr/>
        </p:nvSpPr>
        <p:spPr>
          <a:xfrm>
            <a:off x="8251965" y="6459080"/>
            <a:ext cx="3151371" cy="675640"/>
          </a:xfrm>
          <a:prstGeom prst="rect">
            <a:avLst/>
          </a:prstGeom>
        </p:spPr>
        <p:txBody>
          <a:bodyPr lIns="0" tIns="0" rIns="0" bIns="0" rtlCol="0" anchor="t">
            <a:spAutoFit/>
          </a:bodyPr>
          <a:lstStyle/>
          <a:p>
            <a:pPr marL="0" marR="0" lvl="0" indent="0" algn="l" defTabSz="914400" rtl="0" eaLnBrk="1" fontAlgn="auto" latinLnBrk="0" hangingPunct="1">
              <a:lnSpc>
                <a:spcPts val="2659"/>
              </a:lnSpc>
              <a:spcBef>
                <a:spcPct val="0"/>
              </a:spcBef>
              <a:spcAft>
                <a:spcPts val="0"/>
              </a:spcAft>
              <a:buClrTx/>
              <a:buSzTx/>
              <a:buFontTx/>
              <a:buNone/>
              <a:tabLst/>
              <a:defRPr/>
            </a:pPr>
            <a:r>
              <a:rPr kumimoji="0" lang="en-US" sz="1899" b="0" i="0" u="none" strike="noStrike" kern="1200" cap="none" spc="0" normalizeH="0" baseline="0" noProof="0">
                <a:ln>
                  <a:noFill/>
                </a:ln>
                <a:solidFill>
                  <a:srgbClr val="000000"/>
                </a:solidFill>
                <a:effectLst/>
                <a:uLnTx/>
                <a:uFillTx/>
                <a:latin typeface="Poppins"/>
                <a:ea typeface="Poppins"/>
                <a:cs typeface="Poppins"/>
                <a:sym typeface="Poppins"/>
              </a:rPr>
              <a:t>Email with recent owner responses</a:t>
            </a:r>
          </a:p>
        </p:txBody>
      </p:sp>
      <p:sp>
        <p:nvSpPr>
          <p:cNvPr id="33" name="TextBox 33"/>
          <p:cNvSpPr txBox="1"/>
          <p:nvPr/>
        </p:nvSpPr>
        <p:spPr>
          <a:xfrm>
            <a:off x="13857986" y="6334811"/>
            <a:ext cx="3538352" cy="954405"/>
          </a:xfrm>
          <a:prstGeom prst="rect">
            <a:avLst/>
          </a:prstGeom>
        </p:spPr>
        <p:txBody>
          <a:bodyPr lIns="0" tIns="0" rIns="0" bIns="0" rtlCol="0" anchor="t">
            <a:spAutoFit/>
          </a:bodyPr>
          <a:lstStyle/>
          <a:p>
            <a:pPr marL="0" marR="0" lvl="0" indent="0" algn="l" defTabSz="914400" rtl="0" eaLnBrk="1" fontAlgn="auto" latinLnBrk="0" hangingPunct="1">
              <a:lnSpc>
                <a:spcPts val="2520"/>
              </a:lnSpc>
              <a:spcBef>
                <a:spcPct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Poppins"/>
                <a:ea typeface="Poppins"/>
                <a:cs typeface="Poppins"/>
                <a:sym typeface="Poppins"/>
              </a:rPr>
              <a:t>Official contact email from the property's website</a:t>
            </a:r>
          </a:p>
          <a:p>
            <a:pPr marL="0" marR="0" lvl="0" indent="0" algn="l" defTabSz="914400" rtl="0" eaLnBrk="1" fontAlgn="auto" latinLnBrk="0" hangingPunct="1">
              <a:lnSpc>
                <a:spcPts val="2520"/>
              </a:lnSpc>
              <a:spcBef>
                <a:spcPct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Poppins"/>
                <a:ea typeface="Poppins"/>
                <a:cs typeface="Poppins"/>
                <a:sym typeface="Poppins"/>
              </a:rPr>
              <a:t> or Facebook</a:t>
            </a:r>
          </a:p>
        </p:txBody>
      </p:sp>
      <p:sp>
        <p:nvSpPr>
          <p:cNvPr id="36" name="TextBox 35">
            <a:extLst>
              <a:ext uri="{FF2B5EF4-FFF2-40B4-BE49-F238E27FC236}">
                <a16:creationId xmlns:a16="http://schemas.microsoft.com/office/drawing/2014/main" id="{06DB878C-19E4-4C35-EA03-5C40D8A06D1B}"/>
              </a:ext>
            </a:extLst>
          </p:cNvPr>
          <p:cNvSpPr txBox="1"/>
          <p:nvPr/>
        </p:nvSpPr>
        <p:spPr>
          <a:xfrm>
            <a:off x="600001" y="9661690"/>
            <a:ext cx="10000001" cy="307777"/>
          </a:xfrm>
          <a:prstGeom prst="rect">
            <a:avLst/>
          </a:prstGeom>
          <a:noFill/>
        </p:spPr>
        <p:txBody>
          <a:bodyPr wrap="square" anchor="t">
            <a:spAutoFit/>
          </a:bodyPr>
          <a:lstStyle/>
          <a:p>
            <a:pPr defTabSz="914445"/>
            <a:r>
              <a:rPr sz="1400" dirty="0">
                <a:solidFill>
                  <a:srgbClr val="8A8272"/>
                </a:solidFill>
                <a:latin typeface="Poppins"/>
              </a:rPr>
              <a:t>T</a:t>
            </a:r>
            <a:r>
              <a:rPr lang="en-US" sz="1400" dirty="0">
                <a:solidFill>
                  <a:srgbClr val="8A8272"/>
                </a:solidFill>
                <a:latin typeface="Poppins"/>
              </a:rPr>
              <a:t>ripadvisor</a:t>
            </a:r>
            <a:r>
              <a:rPr sz="1400" dirty="0">
                <a:solidFill>
                  <a:srgbClr val="8A8272"/>
                </a:solidFill>
                <a:latin typeface="Poppins"/>
              </a:rPr>
              <a:t> / F</a:t>
            </a:r>
            <a:r>
              <a:rPr lang="en-US" sz="1400" dirty="0">
                <a:solidFill>
                  <a:srgbClr val="8A8272"/>
                </a:solidFill>
                <a:latin typeface="Poppins"/>
              </a:rPr>
              <a:t>raud letters</a:t>
            </a:r>
            <a:endParaRPr sz="1400" dirty="0">
              <a:solidFill>
                <a:srgbClr val="8A8272"/>
              </a:solidFill>
              <a:latin typeface="Poppins"/>
            </a:endParaRPr>
          </a:p>
        </p:txBody>
      </p:sp>
      <p:pic>
        <p:nvPicPr>
          <p:cNvPr id="38" name="Picture 37">
            <a:extLst>
              <a:ext uri="{FF2B5EF4-FFF2-40B4-BE49-F238E27FC236}">
                <a16:creationId xmlns:a16="http://schemas.microsoft.com/office/drawing/2014/main" id="{EAE25AC9-0970-244E-7247-EC104272AF4C}"/>
              </a:ext>
              <a:ext uri="{C183D7F6-B498-43B3-948B-1728B52AA6E4}">
                <adec:decorative xmlns:adec="http://schemas.microsoft.com/office/drawing/2017/decorative" val="1"/>
              </a:ext>
            </a:extLst>
          </p:cNvPr>
          <p:cNvPicPr>
            <a:picLocks noChangeAspect="1"/>
          </p:cNvPicPr>
          <p:nvPr/>
        </p:nvPicPr>
        <p:blipFill>
          <a:blip r:embed="rId7"/>
          <a:srcRect l="31097" t="4908" r="34707" b="64667"/>
          <a:stretch>
            <a:fillRect/>
          </a:stretch>
        </p:blipFill>
        <p:spPr>
          <a:xfrm>
            <a:off x="15727070" y="7905629"/>
            <a:ext cx="2029509" cy="2150918"/>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Rectangle: Rounded Corners 90">
            <a:extLst>
              <a:ext uri="{FF2B5EF4-FFF2-40B4-BE49-F238E27FC236}">
                <a16:creationId xmlns:a16="http://schemas.microsoft.com/office/drawing/2014/main" id="{EA290037-C9A6-7435-5561-BA2D115AE837}"/>
              </a:ext>
            </a:extLst>
          </p:cNvPr>
          <p:cNvSpPr/>
          <p:nvPr/>
        </p:nvSpPr>
        <p:spPr>
          <a:xfrm>
            <a:off x="1825727" y="8305327"/>
            <a:ext cx="14725716" cy="964759"/>
          </a:xfrm>
          <a:prstGeom prst="roundRect">
            <a:avLst/>
          </a:prstGeom>
          <a:effectLst>
            <a:outerShdw blurRad="50800" dist="38100" dir="5400000" algn="t"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grpSp>
        <p:nvGrpSpPr>
          <p:cNvPr id="2" name="Group 2"/>
          <p:cNvGrpSpPr/>
          <p:nvPr/>
        </p:nvGrpSpPr>
        <p:grpSpPr>
          <a:xfrm rot="5400000">
            <a:off x="1420678" y="3028973"/>
            <a:ext cx="2262658" cy="2021495"/>
            <a:chOff x="0" y="0"/>
            <a:chExt cx="948643" cy="847533"/>
          </a:xfrm>
        </p:grpSpPr>
        <p:sp>
          <p:nvSpPr>
            <p:cNvPr id="3" name="Freeform 3"/>
            <p:cNvSpPr/>
            <p:nvPr/>
          </p:nvSpPr>
          <p:spPr>
            <a:xfrm>
              <a:off x="0" y="0"/>
              <a:ext cx="948643" cy="847533"/>
            </a:xfrm>
            <a:custGeom>
              <a:avLst/>
              <a:gdLst/>
              <a:ahLst/>
              <a:cxnLst/>
              <a:rect l="l" t="t" r="r" b="b"/>
              <a:pathLst>
                <a:path w="948643" h="847533">
                  <a:moveTo>
                    <a:pt x="745443" y="0"/>
                  </a:moveTo>
                  <a:lnTo>
                    <a:pt x="0" y="0"/>
                  </a:lnTo>
                  <a:lnTo>
                    <a:pt x="0" y="847533"/>
                  </a:lnTo>
                  <a:lnTo>
                    <a:pt x="745443" y="847533"/>
                  </a:lnTo>
                  <a:lnTo>
                    <a:pt x="948643" y="423766"/>
                  </a:lnTo>
                  <a:lnTo>
                    <a:pt x="745443" y="0"/>
                  </a:lnTo>
                  <a:close/>
                </a:path>
              </a:pathLst>
            </a:custGeom>
            <a:solidFill>
              <a:srgbClr val="BBFF53"/>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p:cNvSpPr txBox="1"/>
            <p:nvPr/>
          </p:nvSpPr>
          <p:spPr>
            <a:xfrm>
              <a:off x="0" y="-57150"/>
              <a:ext cx="834343" cy="904683"/>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p:cNvSpPr/>
          <p:nvPr/>
        </p:nvSpPr>
        <p:spPr>
          <a:xfrm>
            <a:off x="1028700" y="2908391"/>
            <a:ext cx="3046615" cy="365456"/>
          </a:xfrm>
          <a:custGeom>
            <a:avLst/>
            <a:gdLst/>
            <a:ahLst/>
            <a:cxnLst/>
            <a:rect l="l" t="t" r="r" b="b"/>
            <a:pathLst>
              <a:path w="3046615" h="365456">
                <a:moveTo>
                  <a:pt x="0" y="0"/>
                </a:moveTo>
                <a:lnTo>
                  <a:pt x="3046615" y="0"/>
                </a:lnTo>
                <a:lnTo>
                  <a:pt x="3046615" y="365456"/>
                </a:lnTo>
                <a:lnTo>
                  <a:pt x="0" y="365456"/>
                </a:lnTo>
                <a:lnTo>
                  <a:pt x="0" y="0"/>
                </a:lnTo>
                <a:close/>
              </a:path>
            </a:pathLst>
          </a:custGeom>
          <a:blipFill>
            <a:blip r:embed="rId2">
              <a:alphaModFix amt="50000"/>
            </a:blip>
            <a:stretch>
              <a:fillRect t="-11826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6"/>
          <p:cNvSpPr/>
          <p:nvPr/>
        </p:nvSpPr>
        <p:spPr>
          <a:xfrm>
            <a:off x="1869981" y="2226076"/>
            <a:ext cx="1531158" cy="1528374"/>
          </a:xfrm>
          <a:custGeom>
            <a:avLst/>
            <a:gdLst/>
            <a:ahLst/>
            <a:cxnLst/>
            <a:rect l="l" t="t" r="r" b="b"/>
            <a:pathLst>
              <a:path w="1531158" h="1528374">
                <a:moveTo>
                  <a:pt x="0" y="0"/>
                </a:moveTo>
                <a:lnTo>
                  <a:pt x="1531158" y="0"/>
                </a:lnTo>
                <a:lnTo>
                  <a:pt x="1531158" y="1528374"/>
                </a:lnTo>
                <a:lnTo>
                  <a:pt x="0" y="1528374"/>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7" name="Group 7"/>
          <p:cNvGrpSpPr/>
          <p:nvPr/>
        </p:nvGrpSpPr>
        <p:grpSpPr>
          <a:xfrm>
            <a:off x="1869981" y="2226364"/>
            <a:ext cx="1364053" cy="136405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solidFill>
                <a:srgbClr val="BBFF5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TextBox 9"/>
            <p:cNvSpPr txBox="1"/>
            <p:nvPr/>
          </p:nvSpPr>
          <p:spPr>
            <a:xfrm>
              <a:off x="76200" y="19050"/>
              <a:ext cx="660400" cy="71755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0" name="Group 10"/>
          <p:cNvGrpSpPr/>
          <p:nvPr/>
        </p:nvGrpSpPr>
        <p:grpSpPr>
          <a:xfrm rot="5400000">
            <a:off x="4027756" y="3028973"/>
            <a:ext cx="2262658" cy="2021495"/>
            <a:chOff x="0" y="0"/>
            <a:chExt cx="948643" cy="847533"/>
          </a:xfrm>
        </p:grpSpPr>
        <p:sp>
          <p:nvSpPr>
            <p:cNvPr id="11" name="Freeform 11"/>
            <p:cNvSpPr/>
            <p:nvPr/>
          </p:nvSpPr>
          <p:spPr>
            <a:xfrm>
              <a:off x="0" y="0"/>
              <a:ext cx="948643" cy="847533"/>
            </a:xfrm>
            <a:custGeom>
              <a:avLst/>
              <a:gdLst/>
              <a:ahLst/>
              <a:cxnLst/>
              <a:rect l="l" t="t" r="r" b="b"/>
              <a:pathLst>
                <a:path w="948643" h="847533">
                  <a:moveTo>
                    <a:pt x="745443" y="0"/>
                  </a:moveTo>
                  <a:lnTo>
                    <a:pt x="0" y="0"/>
                  </a:lnTo>
                  <a:lnTo>
                    <a:pt x="0" y="847533"/>
                  </a:lnTo>
                  <a:lnTo>
                    <a:pt x="745443" y="847533"/>
                  </a:lnTo>
                  <a:lnTo>
                    <a:pt x="948643" y="423766"/>
                  </a:lnTo>
                  <a:lnTo>
                    <a:pt x="745443" y="0"/>
                  </a:lnTo>
                  <a:close/>
                </a:path>
              </a:pathLst>
            </a:custGeom>
            <a:solidFill>
              <a:srgbClr val="A2D34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Box 12"/>
            <p:cNvSpPr txBox="1"/>
            <p:nvPr/>
          </p:nvSpPr>
          <p:spPr>
            <a:xfrm>
              <a:off x="0" y="-57150"/>
              <a:ext cx="834343" cy="904683"/>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3" name="Freeform 13"/>
          <p:cNvSpPr/>
          <p:nvPr/>
        </p:nvSpPr>
        <p:spPr>
          <a:xfrm>
            <a:off x="3635250" y="2908391"/>
            <a:ext cx="3046615" cy="365456"/>
          </a:xfrm>
          <a:custGeom>
            <a:avLst/>
            <a:gdLst/>
            <a:ahLst/>
            <a:cxnLst/>
            <a:rect l="l" t="t" r="r" b="b"/>
            <a:pathLst>
              <a:path w="3046615" h="365456">
                <a:moveTo>
                  <a:pt x="0" y="0"/>
                </a:moveTo>
                <a:lnTo>
                  <a:pt x="3046615" y="0"/>
                </a:lnTo>
                <a:lnTo>
                  <a:pt x="3046615" y="365456"/>
                </a:lnTo>
                <a:lnTo>
                  <a:pt x="0" y="365456"/>
                </a:lnTo>
                <a:lnTo>
                  <a:pt x="0" y="0"/>
                </a:lnTo>
                <a:close/>
              </a:path>
            </a:pathLst>
          </a:custGeom>
          <a:blipFill>
            <a:blip r:embed="rId2">
              <a:alphaModFix amt="50000"/>
            </a:blip>
            <a:stretch>
              <a:fillRect t="-11826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Freeform 14"/>
          <p:cNvSpPr/>
          <p:nvPr/>
        </p:nvSpPr>
        <p:spPr>
          <a:xfrm>
            <a:off x="4476531" y="2226076"/>
            <a:ext cx="1531158" cy="1528374"/>
          </a:xfrm>
          <a:custGeom>
            <a:avLst/>
            <a:gdLst/>
            <a:ahLst/>
            <a:cxnLst/>
            <a:rect l="l" t="t" r="r" b="b"/>
            <a:pathLst>
              <a:path w="1531158" h="1528374">
                <a:moveTo>
                  <a:pt x="0" y="0"/>
                </a:moveTo>
                <a:lnTo>
                  <a:pt x="1531159" y="0"/>
                </a:lnTo>
                <a:lnTo>
                  <a:pt x="1531159" y="1528374"/>
                </a:lnTo>
                <a:lnTo>
                  <a:pt x="0" y="1528374"/>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5" name="Group 15"/>
          <p:cNvGrpSpPr/>
          <p:nvPr/>
        </p:nvGrpSpPr>
        <p:grpSpPr>
          <a:xfrm>
            <a:off x="4476531" y="2226364"/>
            <a:ext cx="1364053" cy="1364053"/>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solidFill>
                <a:srgbClr val="A2D34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7" name="TextBox 17"/>
            <p:cNvSpPr txBox="1"/>
            <p:nvPr/>
          </p:nvSpPr>
          <p:spPr>
            <a:xfrm>
              <a:off x="76200" y="19050"/>
              <a:ext cx="660400" cy="71755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8" name="Group 18"/>
          <p:cNvGrpSpPr/>
          <p:nvPr/>
        </p:nvGrpSpPr>
        <p:grpSpPr>
          <a:xfrm rot="5400000">
            <a:off x="6634174" y="3028973"/>
            <a:ext cx="2262658" cy="2021495"/>
            <a:chOff x="0" y="0"/>
            <a:chExt cx="948643" cy="847533"/>
          </a:xfrm>
        </p:grpSpPr>
        <p:sp>
          <p:nvSpPr>
            <p:cNvPr id="19" name="Freeform 19"/>
            <p:cNvSpPr/>
            <p:nvPr/>
          </p:nvSpPr>
          <p:spPr>
            <a:xfrm>
              <a:off x="0" y="0"/>
              <a:ext cx="948643" cy="847533"/>
            </a:xfrm>
            <a:custGeom>
              <a:avLst/>
              <a:gdLst/>
              <a:ahLst/>
              <a:cxnLst/>
              <a:rect l="l" t="t" r="r" b="b"/>
              <a:pathLst>
                <a:path w="948643" h="847533">
                  <a:moveTo>
                    <a:pt x="745443" y="0"/>
                  </a:moveTo>
                  <a:lnTo>
                    <a:pt x="0" y="0"/>
                  </a:lnTo>
                  <a:lnTo>
                    <a:pt x="0" y="847533"/>
                  </a:lnTo>
                  <a:lnTo>
                    <a:pt x="745443" y="847533"/>
                  </a:lnTo>
                  <a:lnTo>
                    <a:pt x="948643" y="423766"/>
                  </a:lnTo>
                  <a:lnTo>
                    <a:pt x="745443" y="0"/>
                  </a:lnTo>
                  <a:close/>
                </a:path>
              </a:pathLst>
            </a:custGeom>
            <a:solidFill>
              <a:srgbClr val="00EB5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Box 20"/>
            <p:cNvSpPr txBox="1"/>
            <p:nvPr/>
          </p:nvSpPr>
          <p:spPr>
            <a:xfrm>
              <a:off x="0" y="-57150"/>
              <a:ext cx="834343" cy="904683"/>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21" name="Freeform 21"/>
          <p:cNvSpPr/>
          <p:nvPr/>
        </p:nvSpPr>
        <p:spPr>
          <a:xfrm>
            <a:off x="6241801" y="2908391"/>
            <a:ext cx="3046615" cy="365456"/>
          </a:xfrm>
          <a:custGeom>
            <a:avLst/>
            <a:gdLst/>
            <a:ahLst/>
            <a:cxnLst/>
            <a:rect l="l" t="t" r="r" b="b"/>
            <a:pathLst>
              <a:path w="3046615" h="365456">
                <a:moveTo>
                  <a:pt x="0" y="0"/>
                </a:moveTo>
                <a:lnTo>
                  <a:pt x="3046615" y="0"/>
                </a:lnTo>
                <a:lnTo>
                  <a:pt x="3046615" y="365456"/>
                </a:lnTo>
                <a:lnTo>
                  <a:pt x="0" y="365456"/>
                </a:lnTo>
                <a:lnTo>
                  <a:pt x="0" y="0"/>
                </a:lnTo>
                <a:close/>
              </a:path>
            </a:pathLst>
          </a:custGeom>
          <a:blipFill>
            <a:blip r:embed="rId2">
              <a:alphaModFix amt="50000"/>
            </a:blip>
            <a:stretch>
              <a:fillRect t="-11826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2" name="Freeform 22"/>
          <p:cNvSpPr/>
          <p:nvPr/>
        </p:nvSpPr>
        <p:spPr>
          <a:xfrm>
            <a:off x="7083082" y="2226076"/>
            <a:ext cx="1531158" cy="1528374"/>
          </a:xfrm>
          <a:custGeom>
            <a:avLst/>
            <a:gdLst/>
            <a:ahLst/>
            <a:cxnLst/>
            <a:rect l="l" t="t" r="r" b="b"/>
            <a:pathLst>
              <a:path w="1531158" h="1528374">
                <a:moveTo>
                  <a:pt x="0" y="0"/>
                </a:moveTo>
                <a:lnTo>
                  <a:pt x="1531158" y="0"/>
                </a:lnTo>
                <a:lnTo>
                  <a:pt x="1531158" y="1528374"/>
                </a:lnTo>
                <a:lnTo>
                  <a:pt x="0" y="1528374"/>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23" name="Group 23"/>
          <p:cNvGrpSpPr/>
          <p:nvPr/>
        </p:nvGrpSpPr>
        <p:grpSpPr>
          <a:xfrm>
            <a:off x="7083082" y="2226364"/>
            <a:ext cx="1364053" cy="1364053"/>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solidFill>
                <a:srgbClr val="00EB5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Box 25"/>
            <p:cNvSpPr txBox="1"/>
            <p:nvPr/>
          </p:nvSpPr>
          <p:spPr>
            <a:xfrm>
              <a:off x="76200" y="19050"/>
              <a:ext cx="660400" cy="71755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6" name="Group 26"/>
          <p:cNvGrpSpPr/>
          <p:nvPr/>
        </p:nvGrpSpPr>
        <p:grpSpPr>
          <a:xfrm rot="5400000">
            <a:off x="9240593" y="3028973"/>
            <a:ext cx="2262658" cy="2021495"/>
            <a:chOff x="0" y="0"/>
            <a:chExt cx="948643" cy="847533"/>
          </a:xfrm>
        </p:grpSpPr>
        <p:sp>
          <p:nvSpPr>
            <p:cNvPr id="27" name="Freeform 27"/>
            <p:cNvSpPr/>
            <p:nvPr/>
          </p:nvSpPr>
          <p:spPr>
            <a:xfrm>
              <a:off x="0" y="0"/>
              <a:ext cx="948643" cy="847533"/>
            </a:xfrm>
            <a:custGeom>
              <a:avLst/>
              <a:gdLst/>
              <a:ahLst/>
              <a:cxnLst/>
              <a:rect l="l" t="t" r="r" b="b"/>
              <a:pathLst>
                <a:path w="948643" h="847533">
                  <a:moveTo>
                    <a:pt x="745443" y="0"/>
                  </a:moveTo>
                  <a:lnTo>
                    <a:pt x="0" y="0"/>
                  </a:lnTo>
                  <a:lnTo>
                    <a:pt x="0" y="847533"/>
                  </a:lnTo>
                  <a:lnTo>
                    <a:pt x="745443" y="847533"/>
                  </a:lnTo>
                  <a:lnTo>
                    <a:pt x="948643" y="423766"/>
                  </a:lnTo>
                  <a:lnTo>
                    <a:pt x="745443" y="0"/>
                  </a:lnTo>
                  <a:close/>
                </a:path>
              </a:pathLst>
            </a:custGeom>
            <a:solidFill>
              <a:srgbClr val="00EB5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TextBox 28"/>
            <p:cNvSpPr txBox="1"/>
            <p:nvPr/>
          </p:nvSpPr>
          <p:spPr>
            <a:xfrm>
              <a:off x="0" y="-57150"/>
              <a:ext cx="834343" cy="904683"/>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29" name="Freeform 29"/>
          <p:cNvSpPr/>
          <p:nvPr/>
        </p:nvSpPr>
        <p:spPr>
          <a:xfrm>
            <a:off x="8848351" y="2908391"/>
            <a:ext cx="3046615" cy="365456"/>
          </a:xfrm>
          <a:custGeom>
            <a:avLst/>
            <a:gdLst/>
            <a:ahLst/>
            <a:cxnLst/>
            <a:rect l="l" t="t" r="r" b="b"/>
            <a:pathLst>
              <a:path w="3046615" h="365456">
                <a:moveTo>
                  <a:pt x="0" y="0"/>
                </a:moveTo>
                <a:lnTo>
                  <a:pt x="3046615" y="0"/>
                </a:lnTo>
                <a:lnTo>
                  <a:pt x="3046615" y="365456"/>
                </a:lnTo>
                <a:lnTo>
                  <a:pt x="0" y="365456"/>
                </a:lnTo>
                <a:lnTo>
                  <a:pt x="0" y="0"/>
                </a:lnTo>
                <a:close/>
              </a:path>
            </a:pathLst>
          </a:custGeom>
          <a:blipFill>
            <a:blip r:embed="rId2">
              <a:alphaModFix amt="50000"/>
            </a:blip>
            <a:stretch>
              <a:fillRect t="-11826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 name="Freeform 30"/>
          <p:cNvSpPr/>
          <p:nvPr/>
        </p:nvSpPr>
        <p:spPr>
          <a:xfrm>
            <a:off x="9689632" y="2226076"/>
            <a:ext cx="1531158" cy="1528374"/>
          </a:xfrm>
          <a:custGeom>
            <a:avLst/>
            <a:gdLst/>
            <a:ahLst/>
            <a:cxnLst/>
            <a:rect l="l" t="t" r="r" b="b"/>
            <a:pathLst>
              <a:path w="1531158" h="1528374">
                <a:moveTo>
                  <a:pt x="0" y="0"/>
                </a:moveTo>
                <a:lnTo>
                  <a:pt x="1531158" y="0"/>
                </a:lnTo>
                <a:lnTo>
                  <a:pt x="1531158" y="1528374"/>
                </a:lnTo>
                <a:lnTo>
                  <a:pt x="0" y="1528374"/>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1" name="Group 31"/>
          <p:cNvGrpSpPr/>
          <p:nvPr/>
        </p:nvGrpSpPr>
        <p:grpSpPr>
          <a:xfrm>
            <a:off x="9689632" y="2226364"/>
            <a:ext cx="1364053" cy="1364053"/>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solidFill>
                <a:srgbClr val="00EB5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3" name="TextBox 33"/>
            <p:cNvSpPr txBox="1"/>
            <p:nvPr/>
          </p:nvSpPr>
          <p:spPr>
            <a:xfrm>
              <a:off x="76200" y="19050"/>
              <a:ext cx="660400" cy="71755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34" name="Group 34"/>
          <p:cNvGrpSpPr/>
          <p:nvPr/>
        </p:nvGrpSpPr>
        <p:grpSpPr>
          <a:xfrm rot="5400000">
            <a:off x="11847012" y="3028973"/>
            <a:ext cx="2262658" cy="2021495"/>
            <a:chOff x="0" y="0"/>
            <a:chExt cx="948643" cy="847533"/>
          </a:xfrm>
        </p:grpSpPr>
        <p:sp>
          <p:nvSpPr>
            <p:cNvPr id="35" name="Freeform 35"/>
            <p:cNvSpPr/>
            <p:nvPr/>
          </p:nvSpPr>
          <p:spPr>
            <a:xfrm>
              <a:off x="0" y="0"/>
              <a:ext cx="948643" cy="847533"/>
            </a:xfrm>
            <a:custGeom>
              <a:avLst/>
              <a:gdLst/>
              <a:ahLst/>
              <a:cxnLst/>
              <a:rect l="l" t="t" r="r" b="b"/>
              <a:pathLst>
                <a:path w="948643" h="847533">
                  <a:moveTo>
                    <a:pt x="745443" y="0"/>
                  </a:moveTo>
                  <a:lnTo>
                    <a:pt x="0" y="0"/>
                  </a:lnTo>
                  <a:lnTo>
                    <a:pt x="0" y="847533"/>
                  </a:lnTo>
                  <a:lnTo>
                    <a:pt x="745443" y="847533"/>
                  </a:lnTo>
                  <a:lnTo>
                    <a:pt x="948643" y="423766"/>
                  </a:lnTo>
                  <a:lnTo>
                    <a:pt x="745443" y="0"/>
                  </a:lnTo>
                  <a:close/>
                </a:path>
              </a:pathLst>
            </a:custGeom>
            <a:solidFill>
              <a:srgbClr val="00C465"/>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 name="TextBox 36"/>
            <p:cNvSpPr txBox="1"/>
            <p:nvPr/>
          </p:nvSpPr>
          <p:spPr>
            <a:xfrm>
              <a:off x="0" y="-57150"/>
              <a:ext cx="834343" cy="904683"/>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7" name="Freeform 37"/>
          <p:cNvSpPr/>
          <p:nvPr/>
        </p:nvSpPr>
        <p:spPr>
          <a:xfrm>
            <a:off x="11454902" y="2908391"/>
            <a:ext cx="3046615" cy="365456"/>
          </a:xfrm>
          <a:custGeom>
            <a:avLst/>
            <a:gdLst/>
            <a:ahLst/>
            <a:cxnLst/>
            <a:rect l="l" t="t" r="r" b="b"/>
            <a:pathLst>
              <a:path w="3046615" h="365456">
                <a:moveTo>
                  <a:pt x="0" y="0"/>
                </a:moveTo>
                <a:lnTo>
                  <a:pt x="3046614" y="0"/>
                </a:lnTo>
                <a:lnTo>
                  <a:pt x="3046614" y="365456"/>
                </a:lnTo>
                <a:lnTo>
                  <a:pt x="0" y="365456"/>
                </a:lnTo>
                <a:lnTo>
                  <a:pt x="0" y="0"/>
                </a:lnTo>
                <a:close/>
              </a:path>
            </a:pathLst>
          </a:custGeom>
          <a:blipFill>
            <a:blip r:embed="rId2">
              <a:alphaModFix amt="50000"/>
            </a:blip>
            <a:stretch>
              <a:fillRect t="-11826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Freeform 38"/>
          <p:cNvSpPr/>
          <p:nvPr/>
        </p:nvSpPr>
        <p:spPr>
          <a:xfrm>
            <a:off x="12296183" y="2226076"/>
            <a:ext cx="1531158" cy="1528374"/>
          </a:xfrm>
          <a:custGeom>
            <a:avLst/>
            <a:gdLst/>
            <a:ahLst/>
            <a:cxnLst/>
            <a:rect l="l" t="t" r="r" b="b"/>
            <a:pathLst>
              <a:path w="1531158" h="1528374">
                <a:moveTo>
                  <a:pt x="0" y="0"/>
                </a:moveTo>
                <a:lnTo>
                  <a:pt x="1531158" y="0"/>
                </a:lnTo>
                <a:lnTo>
                  <a:pt x="1531158" y="1528374"/>
                </a:lnTo>
                <a:lnTo>
                  <a:pt x="0" y="1528374"/>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9" name="Group 39"/>
          <p:cNvGrpSpPr/>
          <p:nvPr/>
        </p:nvGrpSpPr>
        <p:grpSpPr>
          <a:xfrm>
            <a:off x="12296183" y="2226364"/>
            <a:ext cx="1364053" cy="1364053"/>
            <a:chOff x="0" y="0"/>
            <a:chExt cx="812800" cy="812800"/>
          </a:xfrm>
        </p:grpSpPr>
        <p:sp>
          <p:nvSpPr>
            <p:cNvPr id="40" name="Freeform 4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solidFill>
                <a:srgbClr val="00C46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1" name="TextBox 41"/>
            <p:cNvSpPr txBox="1"/>
            <p:nvPr/>
          </p:nvSpPr>
          <p:spPr>
            <a:xfrm>
              <a:off x="76200" y="19050"/>
              <a:ext cx="660400" cy="71755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p:cNvGrpSpPr/>
          <p:nvPr/>
        </p:nvGrpSpPr>
        <p:grpSpPr>
          <a:xfrm rot="5400000">
            <a:off x="14453430" y="3028973"/>
            <a:ext cx="2262658" cy="2021495"/>
            <a:chOff x="0" y="0"/>
            <a:chExt cx="948643" cy="847533"/>
          </a:xfrm>
        </p:grpSpPr>
        <p:sp>
          <p:nvSpPr>
            <p:cNvPr id="43" name="Freeform 43"/>
            <p:cNvSpPr/>
            <p:nvPr/>
          </p:nvSpPr>
          <p:spPr>
            <a:xfrm>
              <a:off x="0" y="0"/>
              <a:ext cx="948643" cy="847533"/>
            </a:xfrm>
            <a:custGeom>
              <a:avLst/>
              <a:gdLst/>
              <a:ahLst/>
              <a:cxnLst/>
              <a:rect l="l" t="t" r="r" b="b"/>
              <a:pathLst>
                <a:path w="948643" h="847533">
                  <a:moveTo>
                    <a:pt x="745443" y="0"/>
                  </a:moveTo>
                  <a:lnTo>
                    <a:pt x="0" y="0"/>
                  </a:lnTo>
                  <a:lnTo>
                    <a:pt x="0" y="847533"/>
                  </a:lnTo>
                  <a:lnTo>
                    <a:pt x="745443" y="847533"/>
                  </a:lnTo>
                  <a:lnTo>
                    <a:pt x="948643" y="423766"/>
                  </a:lnTo>
                  <a:lnTo>
                    <a:pt x="745443" y="0"/>
                  </a:lnTo>
                  <a:close/>
                </a:path>
              </a:pathLst>
            </a:custGeom>
            <a:solidFill>
              <a:srgbClr val="029F53"/>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p:cNvSpPr txBox="1"/>
            <p:nvPr/>
          </p:nvSpPr>
          <p:spPr>
            <a:xfrm>
              <a:off x="0" y="-57150"/>
              <a:ext cx="834343" cy="904683"/>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45" name="Freeform 45"/>
          <p:cNvSpPr/>
          <p:nvPr/>
        </p:nvSpPr>
        <p:spPr>
          <a:xfrm>
            <a:off x="14061452" y="2908391"/>
            <a:ext cx="3046615" cy="365456"/>
          </a:xfrm>
          <a:custGeom>
            <a:avLst/>
            <a:gdLst/>
            <a:ahLst/>
            <a:cxnLst/>
            <a:rect l="l" t="t" r="r" b="b"/>
            <a:pathLst>
              <a:path w="3046615" h="365456">
                <a:moveTo>
                  <a:pt x="0" y="0"/>
                </a:moveTo>
                <a:lnTo>
                  <a:pt x="3046615" y="0"/>
                </a:lnTo>
                <a:lnTo>
                  <a:pt x="3046615" y="365456"/>
                </a:lnTo>
                <a:lnTo>
                  <a:pt x="0" y="365456"/>
                </a:lnTo>
                <a:lnTo>
                  <a:pt x="0" y="0"/>
                </a:lnTo>
                <a:close/>
              </a:path>
            </a:pathLst>
          </a:custGeom>
          <a:blipFill>
            <a:blip r:embed="rId2">
              <a:alphaModFix amt="50000"/>
            </a:blip>
            <a:stretch>
              <a:fillRect t="-11826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 name="Freeform 46"/>
          <p:cNvSpPr/>
          <p:nvPr/>
        </p:nvSpPr>
        <p:spPr>
          <a:xfrm>
            <a:off x="14902733" y="2226076"/>
            <a:ext cx="1531158" cy="1528374"/>
          </a:xfrm>
          <a:custGeom>
            <a:avLst/>
            <a:gdLst/>
            <a:ahLst/>
            <a:cxnLst/>
            <a:rect l="l" t="t" r="r" b="b"/>
            <a:pathLst>
              <a:path w="1531158" h="1528374">
                <a:moveTo>
                  <a:pt x="0" y="0"/>
                </a:moveTo>
                <a:lnTo>
                  <a:pt x="1531158" y="0"/>
                </a:lnTo>
                <a:lnTo>
                  <a:pt x="1531158" y="1528374"/>
                </a:lnTo>
                <a:lnTo>
                  <a:pt x="0" y="1528374"/>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47" name="Group 47"/>
          <p:cNvGrpSpPr/>
          <p:nvPr/>
        </p:nvGrpSpPr>
        <p:grpSpPr>
          <a:xfrm>
            <a:off x="14902733" y="2226364"/>
            <a:ext cx="1364053" cy="1364053"/>
            <a:chOff x="0" y="0"/>
            <a:chExt cx="812800" cy="812800"/>
          </a:xfrm>
        </p:grpSpPr>
        <p:sp>
          <p:nvSpPr>
            <p:cNvPr id="48" name="Freeform 4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solidFill>
                <a:srgbClr val="029F5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TextBox 49"/>
            <p:cNvSpPr txBox="1"/>
            <p:nvPr/>
          </p:nvSpPr>
          <p:spPr>
            <a:xfrm>
              <a:off x="76200" y="19050"/>
              <a:ext cx="660400" cy="71755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0" name="AutoShape 50"/>
          <p:cNvSpPr/>
          <p:nvPr/>
        </p:nvSpPr>
        <p:spPr>
          <a:xfrm>
            <a:off x="1543896" y="5778045"/>
            <a:ext cx="15051610" cy="0"/>
          </a:xfrm>
          <a:prstGeom prst="line">
            <a:avLst/>
          </a:prstGeom>
          <a:ln w="38100" cap="flat">
            <a:solidFill>
              <a:srgbClr val="B4B4B4"/>
            </a:solidFill>
            <a:prstDash val="sysDash"/>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1" name="Group 51"/>
          <p:cNvGrpSpPr/>
          <p:nvPr/>
        </p:nvGrpSpPr>
        <p:grpSpPr>
          <a:xfrm>
            <a:off x="2340615" y="5583664"/>
            <a:ext cx="424103" cy="424103"/>
            <a:chOff x="0" y="0"/>
            <a:chExt cx="812800" cy="812800"/>
          </a:xfrm>
        </p:grpSpPr>
        <p:sp>
          <p:nvSpPr>
            <p:cNvPr id="52" name="Freeform 5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FF53"/>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 name="TextBox 53"/>
            <p:cNvSpPr txBox="1"/>
            <p:nvPr/>
          </p:nvSpPr>
          <p:spPr>
            <a:xfrm>
              <a:off x="76200" y="19050"/>
              <a:ext cx="660400" cy="71755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4" name="Group 54"/>
          <p:cNvGrpSpPr/>
          <p:nvPr/>
        </p:nvGrpSpPr>
        <p:grpSpPr>
          <a:xfrm>
            <a:off x="4946506" y="5583664"/>
            <a:ext cx="424103" cy="424103"/>
            <a:chOff x="0" y="0"/>
            <a:chExt cx="812800" cy="812800"/>
          </a:xfrm>
        </p:grpSpPr>
        <p:sp>
          <p:nvSpPr>
            <p:cNvPr id="55" name="Freeform 5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2D34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6" name="TextBox 56"/>
            <p:cNvSpPr txBox="1"/>
            <p:nvPr/>
          </p:nvSpPr>
          <p:spPr>
            <a:xfrm>
              <a:off x="76200" y="19050"/>
              <a:ext cx="660400" cy="71755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7" name="Group 57"/>
          <p:cNvGrpSpPr/>
          <p:nvPr/>
        </p:nvGrpSpPr>
        <p:grpSpPr>
          <a:xfrm>
            <a:off x="7552398" y="5583664"/>
            <a:ext cx="424103" cy="424103"/>
            <a:chOff x="0" y="0"/>
            <a:chExt cx="812800" cy="812800"/>
          </a:xfrm>
        </p:grpSpPr>
        <p:sp>
          <p:nvSpPr>
            <p:cNvPr id="58" name="Freeform 5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EB5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9" name="TextBox 59"/>
            <p:cNvSpPr txBox="1"/>
            <p:nvPr/>
          </p:nvSpPr>
          <p:spPr>
            <a:xfrm>
              <a:off x="76200" y="19050"/>
              <a:ext cx="660400" cy="71755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0" name="Group 60"/>
          <p:cNvGrpSpPr/>
          <p:nvPr/>
        </p:nvGrpSpPr>
        <p:grpSpPr>
          <a:xfrm>
            <a:off x="10158289" y="5583664"/>
            <a:ext cx="424103" cy="424103"/>
            <a:chOff x="0" y="0"/>
            <a:chExt cx="812800" cy="812800"/>
          </a:xfrm>
        </p:grpSpPr>
        <p:sp>
          <p:nvSpPr>
            <p:cNvPr id="61" name="Freeform 6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EB5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2" name="TextBox 62"/>
            <p:cNvSpPr txBox="1"/>
            <p:nvPr/>
          </p:nvSpPr>
          <p:spPr>
            <a:xfrm>
              <a:off x="76200" y="19050"/>
              <a:ext cx="660400" cy="71755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3" name="Group 63"/>
          <p:cNvGrpSpPr/>
          <p:nvPr/>
        </p:nvGrpSpPr>
        <p:grpSpPr>
          <a:xfrm>
            <a:off x="12764180" y="5583664"/>
            <a:ext cx="424103" cy="424103"/>
            <a:chOff x="0" y="0"/>
            <a:chExt cx="812800" cy="812800"/>
          </a:xfrm>
        </p:grpSpPr>
        <p:sp>
          <p:nvSpPr>
            <p:cNvPr id="64" name="Freeform 6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C465"/>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5" name="TextBox 65"/>
            <p:cNvSpPr txBox="1"/>
            <p:nvPr/>
          </p:nvSpPr>
          <p:spPr>
            <a:xfrm>
              <a:off x="76200" y="19050"/>
              <a:ext cx="660400" cy="71755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6" name="Group 66"/>
          <p:cNvGrpSpPr/>
          <p:nvPr/>
        </p:nvGrpSpPr>
        <p:grpSpPr>
          <a:xfrm>
            <a:off x="15370072" y="5583664"/>
            <a:ext cx="424103" cy="424103"/>
            <a:chOff x="0" y="0"/>
            <a:chExt cx="812800" cy="812800"/>
          </a:xfrm>
        </p:grpSpPr>
        <p:sp>
          <p:nvSpPr>
            <p:cNvPr id="67" name="Freeform 6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8" name="TextBox 68"/>
            <p:cNvSpPr txBox="1"/>
            <p:nvPr/>
          </p:nvSpPr>
          <p:spPr>
            <a:xfrm>
              <a:off x="76200" y="19050"/>
              <a:ext cx="660400" cy="71755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9" name="Freeform 69"/>
          <p:cNvSpPr/>
          <p:nvPr/>
        </p:nvSpPr>
        <p:spPr>
          <a:xfrm>
            <a:off x="2124303" y="2470502"/>
            <a:ext cx="837678" cy="837678"/>
          </a:xfrm>
          <a:custGeom>
            <a:avLst/>
            <a:gdLst/>
            <a:ahLst/>
            <a:cxnLst/>
            <a:rect l="l" t="t" r="r" b="b"/>
            <a:pathLst>
              <a:path w="837678" h="837678">
                <a:moveTo>
                  <a:pt x="0" y="0"/>
                </a:moveTo>
                <a:lnTo>
                  <a:pt x="837677" y="0"/>
                </a:lnTo>
                <a:lnTo>
                  <a:pt x="837677" y="837678"/>
                </a:lnTo>
                <a:lnTo>
                  <a:pt x="0" y="83767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0" name="Freeform 70"/>
          <p:cNvSpPr/>
          <p:nvPr/>
        </p:nvSpPr>
        <p:spPr>
          <a:xfrm>
            <a:off x="4599299" y="2513634"/>
            <a:ext cx="1090457" cy="668814"/>
          </a:xfrm>
          <a:custGeom>
            <a:avLst/>
            <a:gdLst/>
            <a:ahLst/>
            <a:cxnLst/>
            <a:rect l="l" t="t" r="r" b="b"/>
            <a:pathLst>
              <a:path w="1090457" h="668814">
                <a:moveTo>
                  <a:pt x="0" y="0"/>
                </a:moveTo>
                <a:lnTo>
                  <a:pt x="1090458" y="0"/>
                </a:lnTo>
                <a:lnTo>
                  <a:pt x="1090458" y="668814"/>
                </a:lnTo>
                <a:lnTo>
                  <a:pt x="0" y="66881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Freeform 71"/>
          <p:cNvSpPr/>
          <p:nvPr/>
        </p:nvSpPr>
        <p:spPr>
          <a:xfrm>
            <a:off x="7392087" y="2532683"/>
            <a:ext cx="782088" cy="748147"/>
          </a:xfrm>
          <a:custGeom>
            <a:avLst/>
            <a:gdLst/>
            <a:ahLst/>
            <a:cxnLst/>
            <a:rect l="l" t="t" r="r" b="b"/>
            <a:pathLst>
              <a:path w="713314" h="713314">
                <a:moveTo>
                  <a:pt x="0" y="0"/>
                </a:moveTo>
                <a:lnTo>
                  <a:pt x="713314" y="0"/>
                </a:lnTo>
                <a:lnTo>
                  <a:pt x="713314" y="713314"/>
                </a:lnTo>
                <a:lnTo>
                  <a:pt x="0" y="71331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2" name="Freeform 72"/>
          <p:cNvSpPr/>
          <p:nvPr/>
        </p:nvSpPr>
        <p:spPr>
          <a:xfrm>
            <a:off x="9918971" y="2742962"/>
            <a:ext cx="961114" cy="319363"/>
          </a:xfrm>
          <a:custGeom>
            <a:avLst/>
            <a:gdLst/>
            <a:ahLst/>
            <a:cxnLst/>
            <a:rect l="l" t="t" r="r" b="b"/>
            <a:pathLst>
              <a:path w="841650" h="224440">
                <a:moveTo>
                  <a:pt x="0" y="0"/>
                </a:moveTo>
                <a:lnTo>
                  <a:pt x="841649" y="0"/>
                </a:lnTo>
                <a:lnTo>
                  <a:pt x="841649" y="224440"/>
                </a:lnTo>
                <a:lnTo>
                  <a:pt x="0" y="224440"/>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3" name="Freeform 73"/>
          <p:cNvSpPr/>
          <p:nvPr/>
        </p:nvSpPr>
        <p:spPr>
          <a:xfrm>
            <a:off x="12707575" y="2580475"/>
            <a:ext cx="636781" cy="636781"/>
          </a:xfrm>
          <a:custGeom>
            <a:avLst/>
            <a:gdLst/>
            <a:ahLst/>
            <a:cxnLst/>
            <a:rect l="l" t="t" r="r" b="b"/>
            <a:pathLst>
              <a:path w="636781" h="636781">
                <a:moveTo>
                  <a:pt x="0" y="0"/>
                </a:moveTo>
                <a:lnTo>
                  <a:pt x="636781" y="0"/>
                </a:lnTo>
                <a:lnTo>
                  <a:pt x="636781" y="636781"/>
                </a:lnTo>
                <a:lnTo>
                  <a:pt x="0" y="636781"/>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Freeform 74"/>
          <p:cNvSpPr/>
          <p:nvPr/>
        </p:nvSpPr>
        <p:spPr>
          <a:xfrm>
            <a:off x="15117788" y="2470502"/>
            <a:ext cx="928671" cy="928671"/>
          </a:xfrm>
          <a:custGeom>
            <a:avLst/>
            <a:gdLst/>
            <a:ahLst/>
            <a:cxnLst/>
            <a:rect l="l" t="t" r="r" b="b"/>
            <a:pathLst>
              <a:path w="928671" h="928671">
                <a:moveTo>
                  <a:pt x="0" y="0"/>
                </a:moveTo>
                <a:lnTo>
                  <a:pt x="928671" y="0"/>
                </a:lnTo>
                <a:lnTo>
                  <a:pt x="928671" y="928671"/>
                </a:lnTo>
                <a:lnTo>
                  <a:pt x="0" y="928671"/>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5" name="TextBox 75"/>
          <p:cNvSpPr txBox="1"/>
          <p:nvPr/>
        </p:nvSpPr>
        <p:spPr>
          <a:xfrm>
            <a:off x="1801989" y="3958227"/>
            <a:ext cx="1501355" cy="717550"/>
          </a:xfrm>
          <a:prstGeom prst="rect">
            <a:avLst/>
          </a:prstGeom>
        </p:spPr>
        <p:txBody>
          <a:bodyPr lIns="0" tIns="0" rIns="0" bIns="0" rtlCol="0" anchor="t">
            <a:spAutoFit/>
          </a:bodyPr>
          <a:lstStyle/>
          <a:p>
            <a:pPr marL="0" marR="0" lvl="0" indent="0" algn="ctr" defTabSz="914400" rtl="0" eaLnBrk="1" fontAlgn="auto" latinLnBrk="0" hangingPunct="1">
              <a:lnSpc>
                <a:spcPts val="5599"/>
              </a:lnSpc>
              <a:spcBef>
                <a:spcPct val="0"/>
              </a:spcBef>
              <a:spcAft>
                <a:spcPts val="0"/>
              </a:spcAft>
              <a:buClrTx/>
              <a:buSzTx/>
              <a:buFontTx/>
              <a:buNone/>
              <a:tabLst/>
              <a:defRPr/>
            </a:pPr>
            <a:r>
              <a:rPr kumimoji="0" lang="en-US" sz="3999" b="1" i="0" u="none" strike="noStrike" kern="1200" cap="none" spc="0" normalizeH="0" baseline="0" noProof="0">
                <a:ln>
                  <a:noFill/>
                </a:ln>
                <a:solidFill>
                  <a:srgbClr val="333333"/>
                </a:solidFill>
                <a:effectLst/>
                <a:uLnTx/>
                <a:uFillTx/>
                <a:latin typeface="Poppins Bold"/>
                <a:ea typeface="Poppins Bold"/>
                <a:cs typeface="Poppins Bold"/>
                <a:sym typeface="Poppins Bold"/>
              </a:rPr>
              <a:t>01</a:t>
            </a:r>
          </a:p>
        </p:txBody>
      </p:sp>
      <p:sp>
        <p:nvSpPr>
          <p:cNvPr id="76" name="TextBox 76"/>
          <p:cNvSpPr txBox="1"/>
          <p:nvPr/>
        </p:nvSpPr>
        <p:spPr>
          <a:xfrm>
            <a:off x="4407880" y="3958227"/>
            <a:ext cx="1501355" cy="717550"/>
          </a:xfrm>
          <a:prstGeom prst="rect">
            <a:avLst/>
          </a:prstGeom>
        </p:spPr>
        <p:txBody>
          <a:bodyPr lIns="0" tIns="0" rIns="0" bIns="0" rtlCol="0" anchor="t">
            <a:spAutoFit/>
          </a:bodyPr>
          <a:lstStyle/>
          <a:p>
            <a:pPr marL="0" marR="0" lvl="0" indent="0" algn="ctr" defTabSz="914400" rtl="0" eaLnBrk="1" fontAlgn="auto" latinLnBrk="0" hangingPunct="1">
              <a:lnSpc>
                <a:spcPts val="5599"/>
              </a:lnSpc>
              <a:spcBef>
                <a:spcPct val="0"/>
              </a:spcBef>
              <a:spcAft>
                <a:spcPts val="0"/>
              </a:spcAft>
              <a:buClrTx/>
              <a:buSzTx/>
              <a:buFontTx/>
              <a:buNone/>
              <a:tabLst/>
              <a:defRPr/>
            </a:pPr>
            <a:r>
              <a:rPr kumimoji="0" lang="en-US" sz="3999" b="1" i="0" u="none" strike="noStrike" kern="1200" cap="none" spc="0" normalizeH="0" baseline="0" noProof="0">
                <a:ln>
                  <a:noFill/>
                </a:ln>
                <a:solidFill>
                  <a:srgbClr val="333333"/>
                </a:solidFill>
                <a:effectLst/>
                <a:uLnTx/>
                <a:uFillTx/>
                <a:latin typeface="Poppins Bold"/>
                <a:ea typeface="Poppins Bold"/>
                <a:cs typeface="Poppins Bold"/>
                <a:sym typeface="Poppins Bold"/>
              </a:rPr>
              <a:t>02</a:t>
            </a:r>
          </a:p>
        </p:txBody>
      </p:sp>
      <p:sp>
        <p:nvSpPr>
          <p:cNvPr id="77" name="TextBox 77"/>
          <p:cNvSpPr txBox="1"/>
          <p:nvPr/>
        </p:nvSpPr>
        <p:spPr>
          <a:xfrm>
            <a:off x="7013772" y="3958227"/>
            <a:ext cx="1501355" cy="717550"/>
          </a:xfrm>
          <a:prstGeom prst="rect">
            <a:avLst/>
          </a:prstGeom>
        </p:spPr>
        <p:txBody>
          <a:bodyPr lIns="0" tIns="0" rIns="0" bIns="0" rtlCol="0" anchor="t">
            <a:spAutoFit/>
          </a:bodyPr>
          <a:lstStyle/>
          <a:p>
            <a:pPr marL="0" marR="0" lvl="0" indent="0" algn="ctr" defTabSz="914400" rtl="0" eaLnBrk="1" fontAlgn="auto" latinLnBrk="0" hangingPunct="1">
              <a:lnSpc>
                <a:spcPts val="5599"/>
              </a:lnSpc>
              <a:spcBef>
                <a:spcPct val="0"/>
              </a:spcBef>
              <a:spcAft>
                <a:spcPts val="0"/>
              </a:spcAft>
              <a:buClrTx/>
              <a:buSzTx/>
              <a:buFontTx/>
              <a:buNone/>
              <a:tabLst/>
              <a:defRPr/>
            </a:pPr>
            <a:r>
              <a:rPr kumimoji="0" lang="en-US" sz="3999" b="1" i="0" u="none" strike="noStrike" kern="1200" cap="none" spc="0" normalizeH="0" baseline="0" noProof="0">
                <a:ln>
                  <a:noFill/>
                </a:ln>
                <a:solidFill>
                  <a:srgbClr val="333333"/>
                </a:solidFill>
                <a:effectLst/>
                <a:uLnTx/>
                <a:uFillTx/>
                <a:latin typeface="Poppins Bold"/>
                <a:ea typeface="Poppins Bold"/>
                <a:cs typeface="Poppins Bold"/>
                <a:sym typeface="Poppins Bold"/>
              </a:rPr>
              <a:t>03</a:t>
            </a:r>
          </a:p>
        </p:txBody>
      </p:sp>
      <p:sp>
        <p:nvSpPr>
          <p:cNvPr id="78" name="TextBox 78"/>
          <p:cNvSpPr txBox="1"/>
          <p:nvPr/>
        </p:nvSpPr>
        <p:spPr>
          <a:xfrm>
            <a:off x="9619663" y="3958227"/>
            <a:ext cx="1501355" cy="717550"/>
          </a:xfrm>
          <a:prstGeom prst="rect">
            <a:avLst/>
          </a:prstGeom>
        </p:spPr>
        <p:txBody>
          <a:bodyPr lIns="0" tIns="0" rIns="0" bIns="0" rtlCol="0" anchor="t">
            <a:spAutoFit/>
          </a:bodyPr>
          <a:lstStyle/>
          <a:p>
            <a:pPr marL="0" marR="0" lvl="0" indent="0" algn="ctr" defTabSz="914400" rtl="0" eaLnBrk="1" fontAlgn="auto" latinLnBrk="0" hangingPunct="1">
              <a:lnSpc>
                <a:spcPts val="5599"/>
              </a:lnSpc>
              <a:spcBef>
                <a:spcPct val="0"/>
              </a:spcBef>
              <a:spcAft>
                <a:spcPts val="0"/>
              </a:spcAft>
              <a:buClrTx/>
              <a:buSzTx/>
              <a:buFontTx/>
              <a:buNone/>
              <a:tabLst/>
              <a:defRPr/>
            </a:pPr>
            <a:r>
              <a:rPr kumimoji="0" lang="en-US" sz="3999" b="1" i="0" u="none" strike="noStrike" kern="1200" cap="none" spc="0" normalizeH="0" baseline="0" noProof="0">
                <a:ln>
                  <a:noFill/>
                </a:ln>
                <a:solidFill>
                  <a:srgbClr val="333333"/>
                </a:solidFill>
                <a:effectLst/>
                <a:uLnTx/>
                <a:uFillTx/>
                <a:latin typeface="Poppins Bold"/>
                <a:ea typeface="Poppins Bold"/>
                <a:cs typeface="Poppins Bold"/>
                <a:sym typeface="Poppins Bold"/>
              </a:rPr>
              <a:t>04</a:t>
            </a:r>
          </a:p>
        </p:txBody>
      </p:sp>
      <p:sp>
        <p:nvSpPr>
          <p:cNvPr id="79" name="TextBox 79"/>
          <p:cNvSpPr txBox="1"/>
          <p:nvPr/>
        </p:nvSpPr>
        <p:spPr>
          <a:xfrm>
            <a:off x="12225554" y="3958227"/>
            <a:ext cx="1501355" cy="717550"/>
          </a:xfrm>
          <a:prstGeom prst="rect">
            <a:avLst/>
          </a:prstGeom>
        </p:spPr>
        <p:txBody>
          <a:bodyPr lIns="0" tIns="0" rIns="0" bIns="0" rtlCol="0" anchor="t">
            <a:spAutoFit/>
          </a:bodyPr>
          <a:lstStyle/>
          <a:p>
            <a:pPr marL="0" marR="0" lvl="0" indent="0" algn="ctr" defTabSz="914400" rtl="0" eaLnBrk="1" fontAlgn="auto" latinLnBrk="0" hangingPunct="1">
              <a:lnSpc>
                <a:spcPts val="5599"/>
              </a:lnSpc>
              <a:spcBef>
                <a:spcPct val="0"/>
              </a:spcBef>
              <a:spcAft>
                <a:spcPts val="0"/>
              </a:spcAft>
              <a:buClrTx/>
              <a:buSzTx/>
              <a:buFontTx/>
              <a:buNone/>
              <a:tabLst/>
              <a:defRPr/>
            </a:pPr>
            <a:r>
              <a:rPr kumimoji="0" lang="en-US" sz="3999" b="1" i="0" u="none" strike="noStrike" kern="1200" cap="none" spc="0" normalizeH="0" baseline="0" noProof="0">
                <a:ln>
                  <a:noFill/>
                </a:ln>
                <a:solidFill>
                  <a:srgbClr val="333333"/>
                </a:solidFill>
                <a:effectLst/>
                <a:uLnTx/>
                <a:uFillTx/>
                <a:latin typeface="Poppins Bold"/>
                <a:ea typeface="Poppins Bold"/>
                <a:cs typeface="Poppins Bold"/>
                <a:sym typeface="Poppins Bold"/>
              </a:rPr>
              <a:t>05</a:t>
            </a:r>
          </a:p>
        </p:txBody>
      </p:sp>
      <p:sp>
        <p:nvSpPr>
          <p:cNvPr id="80" name="TextBox 80"/>
          <p:cNvSpPr txBox="1"/>
          <p:nvPr/>
        </p:nvSpPr>
        <p:spPr>
          <a:xfrm>
            <a:off x="14831446" y="3958227"/>
            <a:ext cx="1501355" cy="717550"/>
          </a:xfrm>
          <a:prstGeom prst="rect">
            <a:avLst/>
          </a:prstGeom>
        </p:spPr>
        <p:txBody>
          <a:bodyPr lIns="0" tIns="0" rIns="0" bIns="0" rtlCol="0" anchor="t">
            <a:spAutoFit/>
          </a:bodyPr>
          <a:lstStyle/>
          <a:p>
            <a:pPr marL="0" marR="0" lvl="0" indent="0" algn="ctr" defTabSz="914400" rtl="0" eaLnBrk="1" fontAlgn="auto" latinLnBrk="0" hangingPunct="1">
              <a:lnSpc>
                <a:spcPts val="5599"/>
              </a:lnSpc>
              <a:spcBef>
                <a:spcPct val="0"/>
              </a:spcBef>
              <a:spcAft>
                <a:spcPts val="0"/>
              </a:spcAft>
              <a:buClrTx/>
              <a:buSzTx/>
              <a:buFontTx/>
              <a:buNone/>
              <a:tabLst/>
              <a:defRPr/>
            </a:pPr>
            <a:r>
              <a:rPr kumimoji="0" lang="en-US" sz="3999" b="1" i="0" u="none" strike="noStrike" kern="1200" cap="none" spc="0" normalizeH="0" baseline="0" noProof="0">
                <a:ln>
                  <a:noFill/>
                </a:ln>
                <a:solidFill>
                  <a:srgbClr val="333333"/>
                </a:solidFill>
                <a:effectLst/>
                <a:uLnTx/>
                <a:uFillTx/>
                <a:latin typeface="Poppins Bold"/>
                <a:ea typeface="Poppins Bold"/>
                <a:cs typeface="Poppins Bold"/>
                <a:sym typeface="Poppins Bold"/>
              </a:rPr>
              <a:t>06</a:t>
            </a:r>
          </a:p>
        </p:txBody>
      </p:sp>
      <p:sp>
        <p:nvSpPr>
          <p:cNvPr id="81" name="TextBox 81"/>
          <p:cNvSpPr txBox="1"/>
          <p:nvPr/>
        </p:nvSpPr>
        <p:spPr>
          <a:xfrm>
            <a:off x="1028700" y="448028"/>
            <a:ext cx="14191866" cy="1628775"/>
          </a:xfrm>
          <a:prstGeom prst="rect">
            <a:avLst/>
          </a:prstGeom>
        </p:spPr>
        <p:txBody>
          <a:bodyPr lIns="0" tIns="0" rIns="0" bIns="0" rtlCol="0" anchor="t">
            <a:spAutoFit/>
          </a:bodyPr>
          <a:lstStyle/>
          <a:p>
            <a:pPr marL="0" marR="0" lvl="0" indent="0" algn="l" defTabSz="914400" rtl="0" eaLnBrk="1" fontAlgn="auto" latinLnBrk="0" hangingPunct="1">
              <a:lnSpc>
                <a:spcPts val="6239"/>
              </a:lnSpc>
              <a:spcBef>
                <a:spcPts val="0"/>
              </a:spcBef>
              <a:spcAft>
                <a:spcPts val="0"/>
              </a:spcAft>
              <a:buClrTx/>
              <a:buSzTx/>
              <a:buFontTx/>
              <a:buNone/>
              <a:tabLst/>
              <a:defRPr/>
            </a:pPr>
            <a:r>
              <a:rPr kumimoji="0" lang="en-US" sz="5199" b="1" i="0" u="none" strike="noStrike" kern="1200" cap="none" spc="103" normalizeH="0" baseline="0" noProof="0" dirty="0">
                <a:ln>
                  <a:noFill/>
                </a:ln>
                <a:solidFill>
                  <a:srgbClr val="333333"/>
                </a:solidFill>
                <a:effectLst/>
                <a:uLnTx/>
                <a:uFillTx/>
                <a:latin typeface="Poppins Bold"/>
                <a:ea typeface="Poppins Bold"/>
                <a:cs typeface="Poppins Bold"/>
                <a:sym typeface="Poppins Bold"/>
              </a:rPr>
              <a:t>STEPS TO FOLLOW </a:t>
            </a:r>
            <a:r>
              <a:rPr lang="en-US" sz="5199" b="1" spc="103" dirty="0">
                <a:solidFill>
                  <a:srgbClr val="333333"/>
                </a:solidFill>
                <a:latin typeface="Poppins Bold"/>
                <a:ea typeface="Poppins Bold"/>
                <a:cs typeface="Poppins Bold"/>
                <a:sym typeface="Poppins Bold"/>
              </a:rPr>
              <a:t>WHILE</a:t>
            </a:r>
            <a:r>
              <a:rPr kumimoji="0" lang="en-US" sz="5199" b="1" i="0" u="none" strike="noStrike" kern="1200" cap="none" spc="103" normalizeH="0" baseline="0" noProof="0" dirty="0">
                <a:ln>
                  <a:noFill/>
                </a:ln>
                <a:solidFill>
                  <a:srgbClr val="333333"/>
                </a:solidFill>
                <a:effectLst/>
                <a:uLnTx/>
                <a:uFillTx/>
                <a:latin typeface="Poppins Bold"/>
                <a:ea typeface="Poppins Bold"/>
                <a:cs typeface="Poppins Bold"/>
                <a:sym typeface="Poppins Bold"/>
              </a:rPr>
              <a:t> SENDING MANUAL LETTERS</a:t>
            </a:r>
          </a:p>
        </p:txBody>
      </p:sp>
      <p:sp>
        <p:nvSpPr>
          <p:cNvPr id="82" name="TextBox 82"/>
          <p:cNvSpPr txBox="1"/>
          <p:nvPr/>
        </p:nvSpPr>
        <p:spPr>
          <a:xfrm>
            <a:off x="1364629" y="6455442"/>
            <a:ext cx="2438400" cy="1196340"/>
          </a:xfrm>
          <a:prstGeom prst="rect">
            <a:avLst/>
          </a:prstGeom>
        </p:spPr>
        <p:txBody>
          <a:bodyPr lIns="0" tIns="0" rIns="0" bIns="0" rtlCol="0" anchor="t">
            <a:spAutoFit/>
          </a:bodyPr>
          <a:lstStyle/>
          <a:p>
            <a:pPr marL="0" marR="0" lvl="0" indent="0" algn="ctr" defTabSz="914400" rtl="0" eaLnBrk="1" fontAlgn="auto" latinLnBrk="0" hangingPunct="1">
              <a:lnSpc>
                <a:spcPts val="2340"/>
              </a:lnSpc>
              <a:spcBef>
                <a:spcPts val="0"/>
              </a:spcBef>
              <a:spcAft>
                <a:spcPts val="0"/>
              </a:spcAft>
              <a:buClrTx/>
              <a:buSzTx/>
              <a:buFontTx/>
              <a:buNone/>
              <a:tabLst/>
              <a:defRPr/>
            </a:pPr>
            <a:r>
              <a:rPr kumimoji="0" lang="en-US" sz="1800" b="0" i="0" u="none" strike="noStrike" kern="1200" cap="none" spc="0" normalizeH="0" baseline="0" noProof="0">
                <a:ln>
                  <a:noFill/>
                </a:ln>
                <a:solidFill>
                  <a:srgbClr val="333333"/>
                </a:solidFill>
                <a:effectLst/>
                <a:uLnTx/>
                <a:uFillTx/>
                <a:latin typeface="Poppins"/>
                <a:ea typeface="Poppins"/>
                <a:cs typeface="Poppins"/>
                <a:sym typeface="Poppins"/>
              </a:rPr>
              <a:t>In Location Center, select </a:t>
            </a:r>
            <a:r>
              <a:rPr kumimoji="0" lang="en-US" sz="1800" b="1" i="0" u="none" strike="noStrike" kern="1200" cap="none" spc="0" normalizeH="0" baseline="0" noProof="0">
                <a:ln>
                  <a:noFill/>
                </a:ln>
                <a:solidFill>
                  <a:srgbClr val="333333"/>
                </a:solidFill>
                <a:effectLst/>
                <a:uLnTx/>
                <a:uFillTx/>
                <a:latin typeface="Poppins Bold"/>
                <a:ea typeface="Poppins Bold"/>
                <a:cs typeface="Poppins Bold"/>
                <a:sym typeface="Poppins Bold"/>
              </a:rPr>
              <a:t>General </a:t>
            </a:r>
            <a:r>
              <a:rPr kumimoji="0" lang="en-US" sz="1800" b="0" i="0" u="none" strike="noStrike" kern="1200" cap="none" spc="0" normalizeH="0" baseline="0" noProof="0">
                <a:ln>
                  <a:noFill/>
                </a:ln>
                <a:solidFill>
                  <a:srgbClr val="333333"/>
                </a:solidFill>
                <a:effectLst/>
                <a:uLnTx/>
                <a:uFillTx/>
                <a:latin typeface="Poppins"/>
                <a:ea typeface="Poppins"/>
                <a:cs typeface="Poppins"/>
                <a:sym typeface="Poppins"/>
              </a:rPr>
              <a:t>in the </a:t>
            </a:r>
            <a:r>
              <a:rPr kumimoji="0" lang="en-US" sz="1800" b="1" i="0" u="none" strike="noStrike" kern="1200" cap="none" spc="0" normalizeH="0" baseline="0" noProof="0">
                <a:ln>
                  <a:noFill/>
                </a:ln>
                <a:solidFill>
                  <a:srgbClr val="333333"/>
                </a:solidFill>
                <a:effectLst/>
                <a:uLnTx/>
                <a:uFillTx/>
                <a:latin typeface="Poppins Bold"/>
                <a:ea typeface="Poppins Bold"/>
                <a:cs typeface="Poppins Bold"/>
                <a:sym typeface="Poppins Bold"/>
              </a:rPr>
              <a:t>Fraud Letter </a:t>
            </a:r>
            <a:r>
              <a:rPr kumimoji="0" lang="en-US" sz="1800" b="0" i="0" u="none" strike="noStrike" kern="1200" cap="none" spc="0" normalizeH="0" baseline="0" noProof="0">
                <a:ln>
                  <a:noFill/>
                </a:ln>
                <a:solidFill>
                  <a:srgbClr val="333333"/>
                </a:solidFill>
                <a:effectLst/>
                <a:uLnTx/>
                <a:uFillTx/>
                <a:latin typeface="Poppins"/>
                <a:ea typeface="Poppins"/>
                <a:cs typeface="Poppins"/>
                <a:sym typeface="Poppins"/>
              </a:rPr>
              <a:t>Sent menu</a:t>
            </a:r>
          </a:p>
        </p:txBody>
      </p:sp>
      <p:sp>
        <p:nvSpPr>
          <p:cNvPr id="83" name="TextBox 83"/>
          <p:cNvSpPr txBox="1"/>
          <p:nvPr/>
        </p:nvSpPr>
        <p:spPr>
          <a:xfrm>
            <a:off x="3939358" y="6712617"/>
            <a:ext cx="2438400" cy="310515"/>
          </a:xfrm>
          <a:prstGeom prst="rect">
            <a:avLst/>
          </a:prstGeom>
        </p:spPr>
        <p:txBody>
          <a:bodyPr lIns="0" tIns="0" rIns="0" bIns="0" rtlCol="0" anchor="t">
            <a:spAutoFit/>
          </a:bodyPr>
          <a:lstStyle/>
          <a:p>
            <a:pPr marL="0" marR="0" lvl="0" indent="0" algn="ctr" defTabSz="914400" rtl="0" eaLnBrk="1" fontAlgn="auto" latinLnBrk="0" hangingPunct="1">
              <a:lnSpc>
                <a:spcPts val="2340"/>
              </a:lnSpc>
              <a:spcBef>
                <a:spcPts val="0"/>
              </a:spcBef>
              <a:spcAft>
                <a:spcPts val="0"/>
              </a:spcAft>
              <a:buClrTx/>
              <a:buSzTx/>
              <a:buFontTx/>
              <a:buNone/>
              <a:tabLst/>
              <a:defRPr/>
            </a:pPr>
            <a:r>
              <a:rPr kumimoji="0" lang="en-US" sz="1800" b="0" i="0" u="none" strike="noStrike" kern="1200" cap="none" spc="0" normalizeH="0" baseline="0" noProof="0">
                <a:ln>
                  <a:noFill/>
                </a:ln>
                <a:solidFill>
                  <a:srgbClr val="333333"/>
                </a:solidFill>
                <a:effectLst/>
                <a:uLnTx/>
                <a:uFillTx/>
                <a:latin typeface="Poppins"/>
                <a:ea typeface="Poppins"/>
                <a:cs typeface="Poppins"/>
                <a:sym typeface="Poppins"/>
              </a:rPr>
              <a:t>Select the Reason</a:t>
            </a:r>
          </a:p>
        </p:txBody>
      </p:sp>
      <p:sp>
        <p:nvSpPr>
          <p:cNvPr id="84" name="TextBox 84"/>
          <p:cNvSpPr txBox="1"/>
          <p:nvPr/>
        </p:nvSpPr>
        <p:spPr>
          <a:xfrm>
            <a:off x="6553899" y="6585568"/>
            <a:ext cx="2423210" cy="605790"/>
          </a:xfrm>
          <a:prstGeom prst="rect">
            <a:avLst/>
          </a:prstGeom>
        </p:spPr>
        <p:txBody>
          <a:bodyPr lIns="0" tIns="0" rIns="0" bIns="0" rtlCol="0" anchor="t">
            <a:spAutoFit/>
          </a:bodyPr>
          <a:lstStyle/>
          <a:p>
            <a:pPr marL="0" marR="0" lvl="0" indent="0" algn="ctr" defTabSz="914400" rtl="0" eaLnBrk="1" fontAlgn="auto" latinLnBrk="0" hangingPunct="1">
              <a:lnSpc>
                <a:spcPts val="2340"/>
              </a:lnSpc>
              <a:spcBef>
                <a:spcPts val="0"/>
              </a:spcBef>
              <a:spcAft>
                <a:spcPts val="0"/>
              </a:spcAft>
              <a:buClrTx/>
              <a:buSzTx/>
              <a:buFontTx/>
              <a:buNone/>
              <a:tabLst/>
              <a:defRPr/>
            </a:pPr>
            <a:r>
              <a:rPr kumimoji="0" lang="en-US" sz="1800" b="0" i="0" u="none" strike="noStrike" kern="1200" cap="none" spc="0" normalizeH="0" baseline="0" noProof="0">
                <a:ln>
                  <a:noFill/>
                </a:ln>
                <a:solidFill>
                  <a:srgbClr val="333333"/>
                </a:solidFill>
                <a:effectLst/>
                <a:uLnTx/>
                <a:uFillTx/>
                <a:latin typeface="Poppins"/>
                <a:ea typeface="Poppins"/>
                <a:cs typeface="Poppins"/>
                <a:sym typeface="Poppins"/>
              </a:rPr>
              <a:t>Update the date field with today's date</a:t>
            </a:r>
          </a:p>
        </p:txBody>
      </p:sp>
      <p:sp>
        <p:nvSpPr>
          <p:cNvPr id="85" name="TextBox 85"/>
          <p:cNvSpPr txBox="1"/>
          <p:nvPr/>
        </p:nvSpPr>
        <p:spPr>
          <a:xfrm>
            <a:off x="9152722" y="6585568"/>
            <a:ext cx="2438400" cy="605790"/>
          </a:xfrm>
          <a:prstGeom prst="rect">
            <a:avLst/>
          </a:prstGeom>
        </p:spPr>
        <p:txBody>
          <a:bodyPr lIns="0" tIns="0" rIns="0" bIns="0" rtlCol="0" anchor="t">
            <a:spAutoFit/>
          </a:bodyPr>
          <a:lstStyle/>
          <a:p>
            <a:pPr marL="0" marR="0" lvl="0" indent="0" algn="ctr" defTabSz="914400" rtl="0" eaLnBrk="1" fontAlgn="auto" latinLnBrk="0" hangingPunct="1">
              <a:lnSpc>
                <a:spcPts val="2340"/>
              </a:lnSpc>
              <a:spcBef>
                <a:spcPts val="0"/>
              </a:spcBef>
              <a:spcAft>
                <a:spcPts val="0"/>
              </a:spcAft>
              <a:buClrTx/>
              <a:buSzTx/>
              <a:buFontTx/>
              <a:buNone/>
              <a:tabLst/>
              <a:defRPr/>
            </a:pPr>
            <a:r>
              <a:rPr kumimoji="0" lang="en-US" sz="1800" b="0" i="0" u="none" strike="noStrike" kern="1200" cap="none" spc="0" normalizeH="0" baseline="0" noProof="0">
                <a:ln>
                  <a:noFill/>
                </a:ln>
                <a:solidFill>
                  <a:srgbClr val="333333"/>
                </a:solidFill>
                <a:effectLst/>
                <a:uLnTx/>
                <a:uFillTx/>
                <a:latin typeface="Poppins"/>
                <a:ea typeface="Poppins"/>
                <a:cs typeface="Poppins"/>
                <a:sym typeface="Poppins"/>
              </a:rPr>
              <a:t>Click Update after sending</a:t>
            </a:r>
          </a:p>
        </p:txBody>
      </p:sp>
      <p:sp>
        <p:nvSpPr>
          <p:cNvPr id="86" name="TextBox 86"/>
          <p:cNvSpPr txBox="1"/>
          <p:nvPr/>
        </p:nvSpPr>
        <p:spPr>
          <a:xfrm>
            <a:off x="11842562" y="6585568"/>
            <a:ext cx="2438400" cy="1196340"/>
          </a:xfrm>
          <a:prstGeom prst="rect">
            <a:avLst/>
          </a:prstGeom>
        </p:spPr>
        <p:txBody>
          <a:bodyPr lIns="0" tIns="0" rIns="0" bIns="0" rtlCol="0" anchor="t">
            <a:spAutoFit/>
          </a:bodyPr>
          <a:lstStyle/>
          <a:p>
            <a:pPr marL="0" marR="0" lvl="0" indent="0" algn="ctr" defTabSz="914400" rtl="0" eaLnBrk="1" fontAlgn="auto" latinLnBrk="0" hangingPunct="1">
              <a:lnSpc>
                <a:spcPts val="2340"/>
              </a:lnSpc>
              <a:spcBef>
                <a:spcPts val="0"/>
              </a:spcBef>
              <a:spcAft>
                <a:spcPts val="0"/>
              </a:spcAft>
              <a:buClrTx/>
              <a:buSzTx/>
              <a:buFontTx/>
              <a:buNone/>
              <a:tabLst/>
              <a:defRPr/>
            </a:pPr>
            <a:r>
              <a:rPr kumimoji="0" lang="en-US" sz="1800" b="0" i="0" u="none" strike="noStrike" kern="1200" cap="none" spc="0" normalizeH="0" baseline="0" noProof="0">
                <a:ln>
                  <a:noFill/>
                </a:ln>
                <a:solidFill>
                  <a:srgbClr val="333333"/>
                </a:solidFill>
                <a:effectLst/>
                <a:uLnTx/>
                <a:uFillTx/>
                <a:latin typeface="Poppins"/>
                <a:ea typeface="Poppins"/>
                <a:cs typeface="Poppins"/>
                <a:sym typeface="Poppins"/>
              </a:rPr>
              <a:t>Review the Location Notes to ensure all information is present</a:t>
            </a:r>
          </a:p>
        </p:txBody>
      </p:sp>
      <p:sp>
        <p:nvSpPr>
          <p:cNvPr id="87" name="TextBox 87"/>
          <p:cNvSpPr txBox="1"/>
          <p:nvPr/>
        </p:nvSpPr>
        <p:spPr>
          <a:xfrm>
            <a:off x="14501516" y="6316694"/>
            <a:ext cx="3139778" cy="1465658"/>
          </a:xfrm>
          <a:prstGeom prst="rect">
            <a:avLst/>
          </a:prstGeom>
        </p:spPr>
        <p:txBody>
          <a:bodyPr lIns="0" tIns="0" rIns="0" bIns="0" rtlCol="0" anchor="t">
            <a:spAutoFit/>
          </a:bodyPr>
          <a:lstStyle/>
          <a:p>
            <a:pPr marL="0" marR="0" lvl="0" indent="0" algn="ctr" defTabSz="914400" rtl="0" eaLnBrk="1" fontAlgn="auto" latinLnBrk="0" hangingPunct="1">
              <a:lnSpc>
                <a:spcPts val="234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333333"/>
                </a:solidFill>
                <a:effectLst/>
                <a:uLnTx/>
                <a:uFillTx/>
                <a:latin typeface="Poppins"/>
                <a:ea typeface="Poppins"/>
                <a:cs typeface="Poppins"/>
                <a:sym typeface="Poppins"/>
              </a:rPr>
              <a:t>If Type, Note, Email Recipient, Reason, or Time are missing - add a Note type "Story" with the letter details</a:t>
            </a:r>
          </a:p>
        </p:txBody>
      </p:sp>
      <p:sp>
        <p:nvSpPr>
          <p:cNvPr id="88" name="TextBox 88"/>
          <p:cNvSpPr txBox="1"/>
          <p:nvPr/>
        </p:nvSpPr>
        <p:spPr>
          <a:xfrm>
            <a:off x="2143606" y="8416604"/>
            <a:ext cx="14018232" cy="774636"/>
          </a:xfrm>
          <a:prstGeom prst="rect">
            <a:avLst/>
          </a:prstGeom>
        </p:spPr>
        <p:txBody>
          <a:bodyPr wrap="square" lIns="0" tIns="0" rIns="0" bIns="0" rtlCol="0" anchor="t">
            <a:spAutoFit/>
          </a:bodyPr>
          <a:lstStyle/>
          <a:p>
            <a:pPr marL="0" marR="0" lvl="0" indent="0" defTabSz="914400" rtl="0" eaLnBrk="1" fontAlgn="auto" latinLnBrk="0" hangingPunct="1">
              <a:lnSpc>
                <a:spcPts val="3079"/>
              </a:lnSpc>
              <a:spcBef>
                <a:spcPct val="0"/>
              </a:spcBef>
              <a:spcAft>
                <a:spcPts val="0"/>
              </a:spcAft>
              <a:buClrTx/>
              <a:buSzTx/>
              <a:buFontTx/>
              <a:buNone/>
              <a:tabLst/>
              <a:defRPr/>
            </a:pPr>
            <a:r>
              <a:rPr kumimoji="0" lang="en-US" sz="2199" b="1" i="0" u="none" strike="noStrike" kern="1200" cap="none" spc="0" normalizeH="0" baseline="0" noProof="0" dirty="0">
                <a:ln>
                  <a:noFill/>
                </a:ln>
                <a:solidFill>
                  <a:srgbClr val="333333"/>
                </a:solidFill>
                <a:effectLst/>
                <a:uLnTx/>
                <a:uFillTx/>
                <a:latin typeface="Poppins"/>
                <a:ea typeface="Poppins"/>
                <a:cs typeface="Poppins"/>
                <a:sym typeface="Poppins"/>
              </a:rPr>
              <a:t>Note: </a:t>
            </a:r>
            <a:r>
              <a:rPr kumimoji="0" lang="en-US" sz="2199" b="0" i="0" u="none" strike="noStrike" kern="1200" cap="none" spc="0" normalizeH="0" baseline="0" noProof="0" dirty="0">
                <a:ln>
                  <a:noFill/>
                </a:ln>
                <a:solidFill>
                  <a:srgbClr val="333333"/>
                </a:solidFill>
                <a:effectLst/>
                <a:uLnTx/>
                <a:uFillTx/>
                <a:latin typeface="Poppins"/>
                <a:ea typeface="Poppins"/>
                <a:cs typeface="Poppins"/>
                <a:sym typeface="Poppins"/>
              </a:rPr>
              <a:t>Never use Penalty letters, as these are reserved for T2 or the Investigations Team following a Red Badge approval.</a:t>
            </a:r>
          </a:p>
        </p:txBody>
      </p:sp>
      <p:sp>
        <p:nvSpPr>
          <p:cNvPr id="90" name="TextBox 89">
            <a:extLst>
              <a:ext uri="{FF2B5EF4-FFF2-40B4-BE49-F238E27FC236}">
                <a16:creationId xmlns:a16="http://schemas.microsoft.com/office/drawing/2014/main" id="{D05C7A77-AE23-C792-A776-B674D74CD3A0}"/>
              </a:ext>
            </a:extLst>
          </p:cNvPr>
          <p:cNvSpPr txBox="1"/>
          <p:nvPr/>
        </p:nvSpPr>
        <p:spPr>
          <a:xfrm>
            <a:off x="600001" y="9661690"/>
            <a:ext cx="10000001" cy="307777"/>
          </a:xfrm>
          <a:prstGeom prst="rect">
            <a:avLst/>
          </a:prstGeom>
          <a:noFill/>
        </p:spPr>
        <p:txBody>
          <a:bodyPr wrap="square" anchor="t">
            <a:spAutoFit/>
          </a:bodyPr>
          <a:lstStyle/>
          <a:p>
            <a:pPr defTabSz="914445"/>
            <a:r>
              <a:rPr sz="1400" dirty="0">
                <a:solidFill>
                  <a:srgbClr val="8A8272"/>
                </a:solidFill>
                <a:latin typeface="Poppins"/>
              </a:rPr>
              <a:t>T</a:t>
            </a:r>
            <a:r>
              <a:rPr lang="en-US" sz="1400" dirty="0">
                <a:solidFill>
                  <a:srgbClr val="8A8272"/>
                </a:solidFill>
                <a:latin typeface="Poppins"/>
              </a:rPr>
              <a:t>ripadvisor</a:t>
            </a:r>
            <a:r>
              <a:rPr sz="1400" dirty="0">
                <a:solidFill>
                  <a:srgbClr val="8A8272"/>
                </a:solidFill>
                <a:latin typeface="Poppins"/>
              </a:rPr>
              <a:t> / F</a:t>
            </a:r>
            <a:r>
              <a:rPr lang="en-US" sz="1400" dirty="0">
                <a:solidFill>
                  <a:srgbClr val="8A8272"/>
                </a:solidFill>
                <a:latin typeface="Poppins"/>
              </a:rPr>
              <a:t>raud letters</a:t>
            </a:r>
            <a:endParaRPr sz="1400" dirty="0">
              <a:solidFill>
                <a:srgbClr val="8A8272"/>
              </a:solidFill>
              <a:latin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70913130-ED14-5BA5-A3FD-72AF9357CCF9}"/>
              </a:ext>
            </a:extLst>
          </p:cNvPr>
          <p:cNvSpPr/>
          <p:nvPr/>
        </p:nvSpPr>
        <p:spPr>
          <a:xfrm>
            <a:off x="1013460" y="3060208"/>
            <a:ext cx="16331700" cy="1337375"/>
          </a:xfrm>
          <a:prstGeom prst="roundRect">
            <a:avLst/>
          </a:prstGeom>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defTabSz="914400"/>
            <a:endParaRPr lang="en-US" sz="1800" dirty="0">
              <a:solidFill>
                <a:prstClr val="black"/>
              </a:solidFill>
              <a:latin typeface="Calibri" panose="020F0502020204030204"/>
            </a:endParaRPr>
          </a:p>
        </p:txBody>
      </p:sp>
      <p:sp>
        <p:nvSpPr>
          <p:cNvPr id="5" name="Text 3">
            <a:extLst>
              <a:ext uri="{FF2B5EF4-FFF2-40B4-BE49-F238E27FC236}">
                <a16:creationId xmlns:a16="http://schemas.microsoft.com/office/drawing/2014/main" id="{096D6CC4-E973-1AF0-3BB6-C56E238331C8}"/>
              </a:ext>
            </a:extLst>
          </p:cNvPr>
          <p:cNvSpPr/>
          <p:nvPr/>
        </p:nvSpPr>
        <p:spPr>
          <a:xfrm>
            <a:off x="1013460" y="2210400"/>
            <a:ext cx="15087600" cy="548640"/>
          </a:xfrm>
          <a:prstGeom prst="rect">
            <a:avLst/>
          </a:prstGeom>
          <a:noFill/>
          <a:ln/>
        </p:spPr>
        <p:txBody>
          <a:bodyPr wrap="square" lIns="0" tIns="0" rIns="0" bIns="0" rtlCol="0" anchor="ctr"/>
          <a:lstStyle/>
          <a:p>
            <a:pPr defTabSz="1371669"/>
            <a:r>
              <a:rPr lang="en-US" sz="2800" b="1" dirty="0">
                <a:latin typeface="Poppins" panose="00000500000000000000" pitchFamily="2" charset="0"/>
                <a:cs typeface="Poppins" panose="00000500000000000000" pitchFamily="2" charset="0"/>
              </a:rPr>
              <a:t>General Re-send</a:t>
            </a:r>
            <a:endParaRPr lang="en-US" sz="2800" b="1" dirty="0">
              <a:solidFill>
                <a:srgbClr val="002B11"/>
              </a:solidFill>
              <a:latin typeface="Poppins" panose="00000500000000000000" pitchFamily="2" charset="0"/>
              <a:cs typeface="Poppins" panose="00000500000000000000" pitchFamily="2" charset="0"/>
            </a:endParaRPr>
          </a:p>
        </p:txBody>
      </p:sp>
      <p:sp>
        <p:nvSpPr>
          <p:cNvPr id="7" name="Text 3">
            <a:extLst>
              <a:ext uri="{FF2B5EF4-FFF2-40B4-BE49-F238E27FC236}">
                <a16:creationId xmlns:a16="http://schemas.microsoft.com/office/drawing/2014/main" id="{0938CE92-2F30-A3F8-5390-817FB0A81F3D}"/>
              </a:ext>
            </a:extLst>
          </p:cNvPr>
          <p:cNvSpPr/>
          <p:nvPr/>
        </p:nvSpPr>
        <p:spPr>
          <a:xfrm>
            <a:off x="1319211" y="2907667"/>
            <a:ext cx="15720198" cy="1547158"/>
          </a:xfrm>
          <a:prstGeom prst="rect">
            <a:avLst/>
          </a:prstGeom>
          <a:noFill/>
          <a:ln/>
        </p:spPr>
        <p:txBody>
          <a:bodyPr wrap="square" lIns="0" tIns="0" rIns="0" bIns="0" rtlCol="0" anchor="ctr"/>
          <a:lstStyle/>
          <a:p>
            <a:pPr defTabSz="1371669">
              <a:lnSpc>
                <a:spcPct val="150000"/>
              </a:lnSpc>
            </a:pPr>
            <a:r>
              <a:rPr lang="en-US" sz="2201" dirty="0">
                <a:solidFill>
                  <a:srgbClr val="4A4A4A"/>
                </a:solidFill>
                <a:latin typeface="Poppins" panose="00000500000000000000" pitchFamily="2" charset="0"/>
                <a:ea typeface="Calibri" pitchFamily="34" charset="-122"/>
                <a:cs typeface="Poppins" panose="00000500000000000000" pitchFamily="2" charset="0"/>
              </a:rPr>
              <a:t>If a Fraud Removal exists without a corresponding letter, you must re-send the fraud letter. This does not require</a:t>
            </a:r>
            <a:br>
              <a:rPr lang="en-US" sz="2201" dirty="0">
                <a:solidFill>
                  <a:srgbClr val="4A4A4A"/>
                </a:solidFill>
                <a:latin typeface="Poppins" panose="00000500000000000000" pitchFamily="2" charset="0"/>
                <a:ea typeface="Calibri" pitchFamily="34" charset="-122"/>
                <a:cs typeface="Poppins" panose="00000500000000000000" pitchFamily="2" charset="0"/>
              </a:rPr>
            </a:br>
            <a:r>
              <a:rPr lang="en-US" sz="2201" dirty="0">
                <a:solidFill>
                  <a:srgbClr val="4A4A4A"/>
                </a:solidFill>
                <a:latin typeface="Poppins" panose="00000500000000000000" pitchFamily="2" charset="0"/>
                <a:ea typeface="Calibri" pitchFamily="34" charset="-122"/>
                <a:cs typeface="Poppins" panose="00000500000000000000" pitchFamily="2" charset="0"/>
              </a:rPr>
              <a:t>T2 approval.</a:t>
            </a:r>
          </a:p>
        </p:txBody>
      </p:sp>
      <p:sp>
        <p:nvSpPr>
          <p:cNvPr id="11" name="Text 3">
            <a:extLst>
              <a:ext uri="{FF2B5EF4-FFF2-40B4-BE49-F238E27FC236}">
                <a16:creationId xmlns:a16="http://schemas.microsoft.com/office/drawing/2014/main" id="{73B3ED9A-D366-3F60-6810-D228F6F9E91B}"/>
              </a:ext>
            </a:extLst>
          </p:cNvPr>
          <p:cNvSpPr/>
          <p:nvPr/>
        </p:nvSpPr>
        <p:spPr>
          <a:xfrm>
            <a:off x="990600" y="4763340"/>
            <a:ext cx="15087600" cy="548640"/>
          </a:xfrm>
          <a:prstGeom prst="rect">
            <a:avLst/>
          </a:prstGeom>
          <a:noFill/>
          <a:ln/>
        </p:spPr>
        <p:txBody>
          <a:bodyPr wrap="square" lIns="0" tIns="0" rIns="0" bIns="0" rtlCol="0" anchor="ctr"/>
          <a:lstStyle/>
          <a:p>
            <a:pPr defTabSz="1371669"/>
            <a:r>
              <a:rPr lang="en-US" sz="2801" b="1" dirty="0">
                <a:solidFill>
                  <a:srgbClr val="002B11"/>
                </a:solidFill>
                <a:latin typeface="Poppins" panose="00000500000000000000" pitchFamily="2" charset="0"/>
                <a:ea typeface="Calibri" pitchFamily="34" charset="-122"/>
                <a:cs typeface="Poppins" panose="00000500000000000000" pitchFamily="2" charset="0"/>
              </a:rPr>
              <a:t>Boosting Letters</a:t>
            </a:r>
          </a:p>
        </p:txBody>
      </p:sp>
      <p:sp>
        <p:nvSpPr>
          <p:cNvPr id="12" name="TextBox 11">
            <a:extLst>
              <a:ext uri="{FF2B5EF4-FFF2-40B4-BE49-F238E27FC236}">
                <a16:creationId xmlns:a16="http://schemas.microsoft.com/office/drawing/2014/main" id="{FE6A809C-AE21-5F45-F4F2-AA1F83D40A1E}"/>
              </a:ext>
            </a:extLst>
          </p:cNvPr>
          <p:cNvSpPr txBox="1"/>
          <p:nvPr/>
        </p:nvSpPr>
        <p:spPr>
          <a:xfrm>
            <a:off x="990600" y="5308510"/>
            <a:ext cx="16682772" cy="552459"/>
          </a:xfrm>
          <a:prstGeom prst="rect">
            <a:avLst/>
          </a:prstGeom>
          <a:noFill/>
          <a:ln/>
        </p:spPr>
        <p:txBody>
          <a:bodyPr wrap="square" lIns="0" tIns="0" rIns="0" bIns="0" rtlCol="0" anchor="ctr"/>
          <a:lstStyle>
            <a:defPPr>
              <a:defRPr lang="en-US"/>
            </a:defPPr>
            <a:lvl1pPr defTabSz="1371669">
              <a:lnSpc>
                <a:spcPct val="150000"/>
              </a:lnSpc>
              <a:defRPr sz="2201">
                <a:solidFill>
                  <a:srgbClr val="4A4A4A"/>
                </a:solidFill>
                <a:latin typeface="Poppins" panose="00000500000000000000" pitchFamily="2" charset="0"/>
                <a:ea typeface="Calibri" pitchFamily="34" charset="-122"/>
                <a:cs typeface="Poppins" panose="00000500000000000000" pitchFamily="2" charset="0"/>
              </a:defRPr>
            </a:lvl1pPr>
          </a:lstStyle>
          <a:p>
            <a:r>
              <a:rPr lang="en-US" dirty="0"/>
              <a:t>Fraud Letters for Boosting cannot be re-sent from the Location Center. To manually send or re-send a Boosting Letter:</a:t>
            </a:r>
          </a:p>
        </p:txBody>
      </p:sp>
      <p:sp>
        <p:nvSpPr>
          <p:cNvPr id="14" name="TextBox 13">
            <a:extLst>
              <a:ext uri="{FF2B5EF4-FFF2-40B4-BE49-F238E27FC236}">
                <a16:creationId xmlns:a16="http://schemas.microsoft.com/office/drawing/2014/main" id="{74A7DE53-D123-61BC-493F-31EB6278E201}"/>
              </a:ext>
            </a:extLst>
          </p:cNvPr>
          <p:cNvSpPr txBox="1"/>
          <p:nvPr/>
        </p:nvSpPr>
        <p:spPr>
          <a:xfrm>
            <a:off x="600001" y="9661690"/>
            <a:ext cx="10000001" cy="307777"/>
          </a:xfrm>
          <a:prstGeom prst="rect">
            <a:avLst/>
          </a:prstGeom>
          <a:noFill/>
        </p:spPr>
        <p:txBody>
          <a:bodyPr wrap="square" anchor="t">
            <a:spAutoFit/>
          </a:bodyPr>
          <a:lstStyle/>
          <a:p>
            <a:pPr defTabSz="914445"/>
            <a:r>
              <a:rPr sz="1400" dirty="0">
                <a:solidFill>
                  <a:srgbClr val="8A8272"/>
                </a:solidFill>
                <a:latin typeface="Poppins"/>
              </a:rPr>
              <a:t>T</a:t>
            </a:r>
            <a:r>
              <a:rPr lang="en-US" sz="1400" dirty="0">
                <a:solidFill>
                  <a:srgbClr val="8A8272"/>
                </a:solidFill>
                <a:latin typeface="Poppins"/>
              </a:rPr>
              <a:t>ripadvisor</a:t>
            </a:r>
            <a:r>
              <a:rPr sz="1400" dirty="0">
                <a:solidFill>
                  <a:srgbClr val="8A8272"/>
                </a:solidFill>
                <a:latin typeface="Poppins"/>
              </a:rPr>
              <a:t> / F</a:t>
            </a:r>
            <a:r>
              <a:rPr lang="en-US" sz="1400" dirty="0">
                <a:solidFill>
                  <a:srgbClr val="8A8272"/>
                </a:solidFill>
                <a:latin typeface="Poppins"/>
              </a:rPr>
              <a:t>raud letters</a:t>
            </a:r>
            <a:endParaRPr sz="1400" dirty="0">
              <a:solidFill>
                <a:srgbClr val="8A8272"/>
              </a:solidFill>
              <a:latin typeface="Poppins"/>
            </a:endParaRPr>
          </a:p>
        </p:txBody>
      </p:sp>
      <p:graphicFrame>
        <p:nvGraphicFramePr>
          <p:cNvPr id="15" name="Diagram 14">
            <a:extLst>
              <a:ext uri="{FF2B5EF4-FFF2-40B4-BE49-F238E27FC236}">
                <a16:creationId xmlns:a16="http://schemas.microsoft.com/office/drawing/2014/main" id="{1995B8F8-DEDF-35F5-8212-F4D9F3694471}"/>
              </a:ext>
            </a:extLst>
          </p:cNvPr>
          <p:cNvGraphicFramePr/>
          <p:nvPr>
            <p:extLst>
              <p:ext uri="{D42A27DB-BD31-4B8C-83A1-F6EECF244321}">
                <p14:modId xmlns:p14="http://schemas.microsoft.com/office/powerpoint/2010/main" val="1648921938"/>
              </p:ext>
            </p:extLst>
          </p:nvPr>
        </p:nvGraphicFramePr>
        <p:xfrm>
          <a:off x="3205230" y="6258941"/>
          <a:ext cx="10314827" cy="27070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0" name="Freeform 8">
            <a:extLst>
              <a:ext uri="{FF2B5EF4-FFF2-40B4-BE49-F238E27FC236}">
                <a16:creationId xmlns:a16="http://schemas.microsoft.com/office/drawing/2014/main" id="{642B6A15-0485-6F15-5E8E-589D37ACDBC6}"/>
              </a:ext>
            </a:extLst>
          </p:cNvPr>
          <p:cNvSpPr/>
          <p:nvPr/>
        </p:nvSpPr>
        <p:spPr>
          <a:xfrm rot="8160421">
            <a:off x="12504921" y="7868573"/>
            <a:ext cx="8521263" cy="6558210"/>
          </a:xfrm>
          <a:custGeom>
            <a:avLst/>
            <a:gdLst/>
            <a:ahLst/>
            <a:cxnLst/>
            <a:rect l="l" t="t" r="r" b="b"/>
            <a:pathLst>
              <a:path w="4597542" h="4114800">
                <a:moveTo>
                  <a:pt x="0" y="0"/>
                </a:moveTo>
                <a:lnTo>
                  <a:pt x="4597542" y="0"/>
                </a:lnTo>
                <a:lnTo>
                  <a:pt x="4597542" y="4114800"/>
                </a:lnTo>
                <a:lnTo>
                  <a:pt x="0" y="4114800"/>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4" name="Text 2">
            <a:extLst>
              <a:ext uri="{FF2B5EF4-FFF2-40B4-BE49-F238E27FC236}">
                <a16:creationId xmlns:a16="http://schemas.microsoft.com/office/drawing/2014/main" id="{4316390C-D64C-8880-A135-753F67604F69}"/>
              </a:ext>
            </a:extLst>
          </p:cNvPr>
          <p:cNvSpPr/>
          <p:nvPr/>
        </p:nvSpPr>
        <p:spPr>
          <a:xfrm>
            <a:off x="990600" y="1016679"/>
            <a:ext cx="14488886" cy="892552"/>
          </a:xfrm>
          <a:prstGeom prst="rect">
            <a:avLst/>
          </a:prstGeom>
          <a:noFill/>
        </p:spPr>
        <p:txBody>
          <a:bodyPr wrap="square" anchor="t">
            <a:spAutoFit/>
          </a:bodyPr>
          <a:lstStyle/>
          <a:p>
            <a:pPr defTabSz="2057400"/>
            <a:r>
              <a:rPr lang="en-US" sz="5200" b="1" dirty="0">
                <a:latin typeface="Poppins" panose="00000500000000000000" pitchFamily="2" charset="0"/>
                <a:cs typeface="Poppins" panose="00000500000000000000" pitchFamily="2" charset="0"/>
              </a:rPr>
              <a:t>Missing or Re-sending Letters – Procedure</a:t>
            </a:r>
            <a:endParaRPr lang="en-US" sz="5200" dirty="0">
              <a:solidFill>
                <a:srgbClr val="002B1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4538723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3EEBE"/>
        </a:solidFill>
        <a:effectLst/>
      </p:bgPr>
    </p:bg>
    <p:spTree>
      <p:nvGrpSpPr>
        <p:cNvPr id="1" name="">
          <a:extLst>
            <a:ext uri="{FF2B5EF4-FFF2-40B4-BE49-F238E27FC236}">
              <a16:creationId xmlns:a16="http://schemas.microsoft.com/office/drawing/2014/main" id="{C03CC24A-AC66-A7EC-1EF0-A8CDC2AEC4F7}"/>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9AA05A13-5FB1-B6B5-9D98-363B0D16841A}"/>
              </a:ext>
            </a:extLst>
          </p:cNvPr>
          <p:cNvSpPr/>
          <p:nvPr/>
        </p:nvSpPr>
        <p:spPr>
          <a:xfrm>
            <a:off x="5249895" y="5895958"/>
            <a:ext cx="3424009" cy="1248441"/>
          </a:xfrm>
          <a:prstGeom prst="roundRect">
            <a:avLst/>
          </a:prstGeom>
          <a:solidFill>
            <a:srgbClr val="002B11"/>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Rounded Corners 16">
            <a:extLst>
              <a:ext uri="{FF2B5EF4-FFF2-40B4-BE49-F238E27FC236}">
                <a16:creationId xmlns:a16="http://schemas.microsoft.com/office/drawing/2014/main" id="{060625BB-9D10-B91D-A8BB-E040B47E70F3}"/>
              </a:ext>
            </a:extLst>
          </p:cNvPr>
          <p:cNvSpPr/>
          <p:nvPr/>
        </p:nvSpPr>
        <p:spPr>
          <a:xfrm>
            <a:off x="5326095" y="6001391"/>
            <a:ext cx="3424009" cy="1248441"/>
          </a:xfrm>
          <a:prstGeom prst="roundRect">
            <a:avLst/>
          </a:prstGeom>
          <a:ln>
            <a:solidFill>
              <a:srgbClr val="002B11"/>
            </a:solidFill>
          </a:ln>
          <a:effectLst>
            <a:outerShdw blurRad="50800" dist="38100" dir="5400000" algn="t"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 name="TextBox 1">
            <a:extLst>
              <a:ext uri="{FF2B5EF4-FFF2-40B4-BE49-F238E27FC236}">
                <a16:creationId xmlns:a16="http://schemas.microsoft.com/office/drawing/2014/main" id="{93E2DA6A-4FE1-A426-58ED-9C37DE9872C4}"/>
              </a:ext>
            </a:extLst>
          </p:cNvPr>
          <p:cNvSpPr txBox="1"/>
          <p:nvPr/>
        </p:nvSpPr>
        <p:spPr>
          <a:xfrm>
            <a:off x="1000000" y="700001"/>
            <a:ext cx="12000000" cy="43088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dirty="0">
                <a:ln>
                  <a:noFill/>
                </a:ln>
                <a:solidFill>
                  <a:srgbClr val="002B11"/>
                </a:solidFill>
                <a:effectLst/>
                <a:uLnTx/>
                <a:uFillTx/>
                <a:latin typeface="Poppins Black"/>
                <a:ea typeface="+mn-ea"/>
                <a:cs typeface="Arial"/>
                <a:sym typeface="Arial"/>
              </a:rPr>
              <a:t>KNOWLEDGE CHECK</a:t>
            </a:r>
          </a:p>
        </p:txBody>
      </p:sp>
      <p:sp>
        <p:nvSpPr>
          <p:cNvPr id="3" name="TextBox 2">
            <a:extLst>
              <a:ext uri="{FF2B5EF4-FFF2-40B4-BE49-F238E27FC236}">
                <a16:creationId xmlns:a16="http://schemas.microsoft.com/office/drawing/2014/main" id="{87737592-25E7-9B16-1C4C-1E6E847E3E23}"/>
              </a:ext>
            </a:extLst>
          </p:cNvPr>
          <p:cNvSpPr txBox="1"/>
          <p:nvPr/>
        </p:nvSpPr>
        <p:spPr>
          <a:xfrm>
            <a:off x="1000000" y="1395308"/>
            <a:ext cx="16200000" cy="1169551"/>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0" b="1" i="0" u="none" strike="noStrike" kern="1200" cap="none" spc="0" normalizeH="0" baseline="0" noProof="0" dirty="0">
                <a:ln>
                  <a:noFill/>
                </a:ln>
                <a:solidFill>
                  <a:srgbClr val="002B11"/>
                </a:solidFill>
                <a:effectLst/>
                <a:uLnTx/>
                <a:uFillTx/>
                <a:latin typeface="Poppins Black"/>
                <a:ea typeface="+mn-ea"/>
                <a:cs typeface="Arial"/>
                <a:sym typeface="Arial"/>
              </a:rPr>
              <a:t>True or False?</a:t>
            </a:r>
          </a:p>
        </p:txBody>
      </p:sp>
      <p:sp>
        <p:nvSpPr>
          <p:cNvPr id="4" name="Rounded Rectangle 3">
            <a:extLst>
              <a:ext uri="{FF2B5EF4-FFF2-40B4-BE49-F238E27FC236}">
                <a16:creationId xmlns:a16="http://schemas.microsoft.com/office/drawing/2014/main" id="{3F040BE2-7DFC-9075-0B1E-1E3992016208}"/>
              </a:ext>
            </a:extLst>
          </p:cNvPr>
          <p:cNvSpPr/>
          <p:nvPr/>
        </p:nvSpPr>
        <p:spPr>
          <a:xfrm>
            <a:off x="1000000" y="3048115"/>
            <a:ext cx="16280000" cy="2218544"/>
          </a:xfrm>
          <a:prstGeom prst="roundRect">
            <a:avLst/>
          </a:prstGeom>
          <a:solidFill>
            <a:srgbClr val="FFFFFF"/>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5" name="TextBox 4">
            <a:extLst>
              <a:ext uri="{FF2B5EF4-FFF2-40B4-BE49-F238E27FC236}">
                <a16:creationId xmlns:a16="http://schemas.microsoft.com/office/drawing/2014/main" id="{C24D7185-08A5-91B7-996A-2CFF01A238B7}"/>
              </a:ext>
            </a:extLst>
          </p:cNvPr>
          <p:cNvSpPr txBox="1"/>
          <p:nvPr/>
        </p:nvSpPr>
        <p:spPr>
          <a:xfrm>
            <a:off x="1524000" y="3421546"/>
            <a:ext cx="14680000" cy="1938992"/>
          </a:xfrm>
          <a:prstGeom prst="rect">
            <a:avLst/>
          </a:prstGeom>
          <a:noFill/>
        </p:spPr>
        <p:txBody>
          <a:bodyPr wrap="square" anchor="ctr">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A Warning Letter gives the property an immediate penalty that lowers its ranking.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4000" b="1" i="0" u="none" strike="noStrike" kern="1200" cap="none" spc="0" normalizeH="0" baseline="0" noProof="0" dirty="0">
              <a:ln>
                <a:noFill/>
              </a:ln>
              <a:solidFill>
                <a:srgbClr val="002B11"/>
              </a:solidFill>
              <a:effectLst/>
              <a:uLnTx/>
              <a:uFillTx/>
              <a:latin typeface="Poppins" panose="00000500000000000000" pitchFamily="2" charset="0"/>
              <a:ea typeface="+mn-ea"/>
              <a:cs typeface="Poppins" panose="00000500000000000000" pitchFamily="2" charset="0"/>
              <a:sym typeface="Arial"/>
            </a:endParaRPr>
          </a:p>
        </p:txBody>
      </p:sp>
      <p:sp>
        <p:nvSpPr>
          <p:cNvPr id="7" name="Rectangle: Rounded Corners 6">
            <a:extLst>
              <a:ext uri="{FF2B5EF4-FFF2-40B4-BE49-F238E27FC236}">
                <a16:creationId xmlns:a16="http://schemas.microsoft.com/office/drawing/2014/main" id="{FA0E2F64-F698-5F74-3407-9AA463076BC7}"/>
              </a:ext>
            </a:extLst>
          </p:cNvPr>
          <p:cNvSpPr/>
          <p:nvPr/>
        </p:nvSpPr>
        <p:spPr>
          <a:xfrm>
            <a:off x="1080725" y="5843242"/>
            <a:ext cx="3424009" cy="1248441"/>
          </a:xfrm>
          <a:prstGeom prst="roundRect">
            <a:avLst/>
          </a:prstGeom>
          <a:solidFill>
            <a:srgbClr val="002B11"/>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Rounded Corners 8">
            <a:extLst>
              <a:ext uri="{FF2B5EF4-FFF2-40B4-BE49-F238E27FC236}">
                <a16:creationId xmlns:a16="http://schemas.microsoft.com/office/drawing/2014/main" id="{E1C509A3-9610-C4BE-88C5-4950DAD7B6B4}"/>
              </a:ext>
            </a:extLst>
          </p:cNvPr>
          <p:cNvSpPr/>
          <p:nvPr/>
        </p:nvSpPr>
        <p:spPr>
          <a:xfrm>
            <a:off x="1156925" y="5948675"/>
            <a:ext cx="3424009" cy="1248441"/>
          </a:xfrm>
          <a:prstGeom prst="roundRect">
            <a:avLst/>
          </a:prstGeom>
          <a:ln>
            <a:solidFill>
              <a:srgbClr val="002B11"/>
            </a:solidFill>
          </a:ln>
          <a:effectLst>
            <a:outerShdw blurRad="50800" dist="38100" dir="5400000" algn="t"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2">
            <a:extLst>
              <a:ext uri="{FF2B5EF4-FFF2-40B4-BE49-F238E27FC236}">
                <a16:creationId xmlns:a16="http://schemas.microsoft.com/office/drawing/2014/main" id="{A61A350A-E733-594B-4E27-3A9166B985E2}"/>
              </a:ext>
            </a:extLst>
          </p:cNvPr>
          <p:cNvSpPr txBox="1"/>
          <p:nvPr/>
        </p:nvSpPr>
        <p:spPr>
          <a:xfrm>
            <a:off x="2106929" y="6257424"/>
            <a:ext cx="1524000" cy="630942"/>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500" b="1" i="0" u="none" strike="noStrike" kern="1200" cap="none" spc="0" normalizeH="0" baseline="0" noProof="0" dirty="0">
                <a:ln>
                  <a:noFill/>
                </a:ln>
                <a:solidFill>
                  <a:srgbClr val="002B11"/>
                </a:solidFill>
                <a:effectLst/>
                <a:uLnTx/>
                <a:uFillTx/>
                <a:latin typeface="Poppins Black"/>
                <a:ea typeface="+mn-ea"/>
                <a:cs typeface="Arial"/>
                <a:sym typeface="Arial"/>
              </a:rPr>
              <a:t>TRUE</a:t>
            </a:r>
          </a:p>
        </p:txBody>
      </p:sp>
      <p:sp>
        <p:nvSpPr>
          <p:cNvPr id="16" name="TextBox 15">
            <a:extLst>
              <a:ext uri="{FF2B5EF4-FFF2-40B4-BE49-F238E27FC236}">
                <a16:creationId xmlns:a16="http://schemas.microsoft.com/office/drawing/2014/main" id="{B46E43EA-9E9D-7EB6-9DD7-6A291E56796C}"/>
              </a:ext>
            </a:extLst>
          </p:cNvPr>
          <p:cNvSpPr txBox="1"/>
          <p:nvPr/>
        </p:nvSpPr>
        <p:spPr>
          <a:xfrm>
            <a:off x="6236970" y="6260630"/>
            <a:ext cx="1790700" cy="630942"/>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dirty="0">
                <a:ln>
                  <a:noFill/>
                </a:ln>
                <a:solidFill>
                  <a:srgbClr val="002B11"/>
                </a:solidFill>
                <a:effectLst/>
                <a:uLnTx/>
                <a:uFillTx/>
                <a:latin typeface="Poppins Black"/>
                <a:ea typeface="+mn-ea"/>
                <a:cs typeface="Arial"/>
                <a:sym typeface="Arial"/>
              </a:rPr>
              <a:t>FALSE</a:t>
            </a:r>
            <a:endParaRPr kumimoji="0" sz="3500" b="1" i="0" u="none" strike="noStrike" kern="1200" cap="none" spc="0" normalizeH="0" baseline="0" noProof="0" dirty="0">
              <a:ln>
                <a:noFill/>
              </a:ln>
              <a:solidFill>
                <a:srgbClr val="002B11"/>
              </a:solidFill>
              <a:effectLst/>
              <a:uLnTx/>
              <a:uFillTx/>
              <a:latin typeface="Poppins Black"/>
              <a:ea typeface="+mn-ea"/>
              <a:cs typeface="Arial"/>
              <a:sym typeface="Arial"/>
            </a:endParaRPr>
          </a:p>
        </p:txBody>
      </p:sp>
      <p:pic>
        <p:nvPicPr>
          <p:cNvPr id="19" name="Picture 18">
            <a:extLst>
              <a:ext uri="{FF2B5EF4-FFF2-40B4-BE49-F238E27FC236}">
                <a16:creationId xmlns:a16="http://schemas.microsoft.com/office/drawing/2014/main" id="{AF07D66B-C7D9-DCCE-38EE-199285C71CD3}"/>
              </a:ext>
            </a:extLst>
          </p:cNvPr>
          <p:cNvPicPr>
            <a:picLocks noChangeAspect="1"/>
          </p:cNvPicPr>
          <p:nvPr/>
        </p:nvPicPr>
        <p:blipFill>
          <a:blip r:embed="rId2"/>
          <a:srcRect l="60461" t="63789"/>
          <a:stretch>
            <a:fillRect/>
          </a:stretch>
        </p:blipFill>
        <p:spPr>
          <a:xfrm>
            <a:off x="15686551" y="3762089"/>
            <a:ext cx="1601449" cy="1747475"/>
          </a:xfrm>
          <a:prstGeom prst="rect">
            <a:avLst/>
          </a:prstGeom>
        </p:spPr>
      </p:pic>
      <p:pic>
        <p:nvPicPr>
          <p:cNvPr id="21" name="Picture 20">
            <a:extLst>
              <a:ext uri="{FF2B5EF4-FFF2-40B4-BE49-F238E27FC236}">
                <a16:creationId xmlns:a16="http://schemas.microsoft.com/office/drawing/2014/main" id="{CFA69803-89B2-C435-DA17-CEAA379B99A8}"/>
              </a:ext>
            </a:extLst>
          </p:cNvPr>
          <p:cNvPicPr>
            <a:picLocks noChangeAspect="1"/>
          </p:cNvPicPr>
          <p:nvPr/>
        </p:nvPicPr>
        <p:blipFill>
          <a:blip r:embed="rId3"/>
          <a:srcRect l="64628" t="2587" b="65063"/>
          <a:stretch>
            <a:fillRect/>
          </a:stretch>
        </p:blipFill>
        <p:spPr>
          <a:xfrm>
            <a:off x="10695323" y="6368984"/>
            <a:ext cx="2036016" cy="2218544"/>
          </a:xfrm>
          <a:prstGeom prst="rect">
            <a:avLst/>
          </a:prstGeom>
        </p:spPr>
      </p:pic>
      <p:sp>
        <p:nvSpPr>
          <p:cNvPr id="22" name="Rectangle: Rounded Corners 21">
            <a:extLst>
              <a:ext uri="{FF2B5EF4-FFF2-40B4-BE49-F238E27FC236}">
                <a16:creationId xmlns:a16="http://schemas.microsoft.com/office/drawing/2014/main" id="{092CA3B5-DBC1-F67F-3FA3-3179015E0CF5}"/>
              </a:ext>
            </a:extLst>
          </p:cNvPr>
          <p:cNvSpPr/>
          <p:nvPr/>
        </p:nvSpPr>
        <p:spPr>
          <a:xfrm>
            <a:off x="12788824" y="6330812"/>
            <a:ext cx="4453076" cy="2766386"/>
          </a:xfrm>
          <a:prstGeom prst="roundRect">
            <a:avLst/>
          </a:prstGeom>
          <a:ln>
            <a:solidFill>
              <a:srgbClr val="002B11"/>
            </a:solidFill>
          </a:ln>
          <a:effectLst>
            <a:outerShdw blurRad="50800" dist="38100" dir="5400000" algn="t"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Box 23">
            <a:extLst>
              <a:ext uri="{FF2B5EF4-FFF2-40B4-BE49-F238E27FC236}">
                <a16:creationId xmlns:a16="http://schemas.microsoft.com/office/drawing/2014/main" id="{426501E8-136B-2E8B-D0EE-EF35A3BB244D}"/>
              </a:ext>
            </a:extLst>
          </p:cNvPr>
          <p:cNvSpPr txBox="1"/>
          <p:nvPr/>
        </p:nvSpPr>
        <p:spPr>
          <a:xfrm>
            <a:off x="13086722" y="6419542"/>
            <a:ext cx="4006253" cy="2677656"/>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A Warning Letter is just a friendly heads up with no penalties. A Fraud Letter is what causes immediate ranking penalties</a:t>
            </a:r>
            <a:endParaRPr kumimoji="0" lang="en-US" sz="2800" b="0" i="0" u="none" strike="noStrike" kern="1200" cap="none" spc="0" normalizeH="0" baseline="0" noProof="0" dirty="0">
              <a:ln>
                <a:noFill/>
              </a:ln>
              <a:solidFill>
                <a:srgbClr val="002B11"/>
              </a:solidFill>
              <a:effectLst/>
              <a:uLnTx/>
              <a:uFillTx/>
              <a:latin typeface="Poppins" panose="00000500000000000000" pitchFamily="2" charset="0"/>
              <a:ea typeface="+mn-ea"/>
              <a:cs typeface="Poppins" panose="00000500000000000000" pitchFamily="2" charset="0"/>
              <a:sym typeface="Arial"/>
            </a:endParaRPr>
          </a:p>
        </p:txBody>
      </p:sp>
      <p:sp>
        <p:nvSpPr>
          <p:cNvPr id="14" name="TextBox 13">
            <a:extLst>
              <a:ext uri="{FF2B5EF4-FFF2-40B4-BE49-F238E27FC236}">
                <a16:creationId xmlns:a16="http://schemas.microsoft.com/office/drawing/2014/main" id="{2488C0A9-2146-62A4-91D5-20B04F79B254}"/>
              </a:ext>
            </a:extLst>
          </p:cNvPr>
          <p:cNvSpPr txBox="1"/>
          <p:nvPr/>
        </p:nvSpPr>
        <p:spPr>
          <a:xfrm>
            <a:off x="600000" y="9727001"/>
            <a:ext cx="10000000" cy="30777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Tripadvisor</a:t>
            </a:r>
            <a:r>
              <a:rPr kumimoji="0" sz="1400" b="0" i="0" u="none" strike="noStrike" kern="1200" cap="none" spc="0" normalizeH="0" baseline="0" noProof="0" dirty="0">
                <a:ln>
                  <a:noFill/>
                </a:ln>
                <a:solidFill>
                  <a:srgbClr val="8A8272"/>
                </a:solidFill>
                <a:effectLst/>
                <a:uLnTx/>
                <a:uFillTx/>
                <a:latin typeface="Poppins"/>
                <a:ea typeface="+mn-ea"/>
                <a:cs typeface="Arial"/>
                <a:sym typeface="Arial"/>
              </a:rPr>
              <a:t> / </a:t>
            </a: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Fraud support</a:t>
            </a:r>
            <a:r>
              <a:rPr kumimoji="0" sz="1400" b="0" i="0" u="none" strike="noStrike" kern="1200" cap="none" spc="0" normalizeH="0" baseline="0" noProof="0" dirty="0">
                <a:ln>
                  <a:noFill/>
                </a:ln>
                <a:solidFill>
                  <a:srgbClr val="8A8272"/>
                </a:solidFill>
                <a:effectLst/>
                <a:uLnTx/>
                <a:uFillTx/>
                <a:latin typeface="Poppins"/>
                <a:ea typeface="+mn-ea"/>
                <a:cs typeface="Arial"/>
                <a:sym typeface="Arial"/>
              </a:rPr>
              <a:t> / </a:t>
            </a: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Knowledge check</a:t>
            </a:r>
            <a:endParaRPr kumimoji="0" sz="1400" b="0" i="0" u="none" strike="noStrike" kern="1200" cap="none" spc="0" normalizeH="0" baseline="0" noProof="0" dirty="0">
              <a:ln>
                <a:noFill/>
              </a:ln>
              <a:solidFill>
                <a:srgbClr val="8A8272"/>
              </a:solidFill>
              <a:effectLst/>
              <a:uLnTx/>
              <a:uFillTx/>
              <a:latin typeface="Poppins"/>
              <a:ea typeface="+mn-ea"/>
              <a:cs typeface="Arial"/>
              <a:sym typeface="Arial"/>
            </a:endParaRPr>
          </a:p>
        </p:txBody>
      </p:sp>
    </p:spTree>
    <p:extLst>
      <p:ext uri="{BB962C8B-B14F-4D97-AF65-F5344CB8AC3E}">
        <p14:creationId xmlns:p14="http://schemas.microsoft.com/office/powerpoint/2010/main" val="1300489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 presetClass="emph" presetSubtype="2" fill="hold" nodeType="withEffect">
                                  <p:stCondLst>
                                    <p:cond delay="0"/>
                                  </p:stCondLst>
                                  <p:childTnLst>
                                    <p:animClr clrSpc="rgb" dir="cw">
                                      <p:cBhvr>
                                        <p:cTn id="15" dur="2000" fill="hold"/>
                                        <p:tgtEl>
                                          <p:spTgt spid="17"/>
                                        </p:tgtEl>
                                        <p:attrNameLst>
                                          <p:attrName>fillcolor</p:attrName>
                                        </p:attrNameLst>
                                      </p:cBhvr>
                                      <p:to>
                                        <a:srgbClr val="00B050"/>
                                      </p:to>
                                    </p:animClr>
                                    <p:set>
                                      <p:cBhvr>
                                        <p:cTn id="16" dur="2000" fill="hold"/>
                                        <p:tgtEl>
                                          <p:spTgt spid="17"/>
                                        </p:tgtEl>
                                        <p:attrNameLst>
                                          <p:attrName>fill.type</p:attrName>
                                        </p:attrNameLst>
                                      </p:cBhvr>
                                      <p:to>
                                        <p:strVal val="solid"/>
                                      </p:to>
                                    </p:set>
                                    <p:set>
                                      <p:cBhvr>
                                        <p:cTn id="17" dur="2000" fill="hold"/>
                                        <p:tgtEl>
                                          <p:spTgt spid="17"/>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997FF"/>
        </a:solidFill>
        <a:effectLst/>
      </p:bgPr>
    </p:bg>
    <p:spTree>
      <p:nvGrpSpPr>
        <p:cNvPr id="1" name="">
          <a:extLst>
            <a:ext uri="{FF2B5EF4-FFF2-40B4-BE49-F238E27FC236}">
              <a16:creationId xmlns:a16="http://schemas.microsoft.com/office/drawing/2014/main" id="{CFC01887-C814-A6A2-84F3-CA9842E4933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4345AEB-B185-FFD3-4B0A-4CEF16EEDA0F}"/>
              </a:ext>
            </a:extLst>
          </p:cNvPr>
          <p:cNvSpPr txBox="1"/>
          <p:nvPr/>
        </p:nvSpPr>
        <p:spPr>
          <a:xfrm>
            <a:off x="994557" y="511955"/>
            <a:ext cx="12000000" cy="43088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dirty="0">
                <a:ln>
                  <a:noFill/>
                </a:ln>
                <a:solidFill>
                  <a:srgbClr val="002B11"/>
                </a:solidFill>
                <a:effectLst/>
                <a:uLnTx/>
                <a:uFillTx/>
                <a:latin typeface="Poppins Black"/>
                <a:ea typeface="+mn-ea"/>
                <a:cs typeface="Arial"/>
                <a:sym typeface="Arial"/>
              </a:rPr>
              <a:t>KNOWLEDGE CHECK</a:t>
            </a:r>
          </a:p>
        </p:txBody>
      </p:sp>
      <p:sp>
        <p:nvSpPr>
          <p:cNvPr id="4" name="Rounded Rectangle 3">
            <a:extLst>
              <a:ext uri="{FF2B5EF4-FFF2-40B4-BE49-F238E27FC236}">
                <a16:creationId xmlns:a16="http://schemas.microsoft.com/office/drawing/2014/main" id="{5F1888D2-A122-55C4-E244-879A230C0080}"/>
              </a:ext>
            </a:extLst>
          </p:cNvPr>
          <p:cNvSpPr/>
          <p:nvPr/>
        </p:nvSpPr>
        <p:spPr>
          <a:xfrm>
            <a:off x="1004000" y="1349948"/>
            <a:ext cx="16280000" cy="2075905"/>
          </a:xfrm>
          <a:prstGeom prst="roundRect">
            <a:avLst/>
          </a:prstGeom>
          <a:solidFill>
            <a:srgbClr val="FFFFFF"/>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5" name="TextBox 4">
            <a:extLst>
              <a:ext uri="{FF2B5EF4-FFF2-40B4-BE49-F238E27FC236}">
                <a16:creationId xmlns:a16="http://schemas.microsoft.com/office/drawing/2014/main" id="{C445F090-5D09-BB97-D352-59D7C4D15B29}"/>
              </a:ext>
            </a:extLst>
          </p:cNvPr>
          <p:cNvSpPr txBox="1"/>
          <p:nvPr/>
        </p:nvSpPr>
        <p:spPr>
          <a:xfrm>
            <a:off x="1510086" y="1680278"/>
            <a:ext cx="14680000" cy="1323439"/>
          </a:xfrm>
          <a:prstGeom prst="rect">
            <a:avLst/>
          </a:prstGeom>
          <a:noFill/>
        </p:spPr>
        <p:txBody>
          <a:bodyPr wrap="square" anchor="ctr">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When sending a manual letter, which email address should you try to use first?</a:t>
            </a:r>
            <a:endParaRPr kumimoji="0" lang="en-US" sz="40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endParaRPr>
          </a:p>
        </p:txBody>
      </p:sp>
      <p:sp>
        <p:nvSpPr>
          <p:cNvPr id="10" name="Rounded Rectangle 3">
            <a:extLst>
              <a:ext uri="{FF2B5EF4-FFF2-40B4-BE49-F238E27FC236}">
                <a16:creationId xmlns:a16="http://schemas.microsoft.com/office/drawing/2014/main" id="{424A0BA5-6920-561F-6D0D-2244A470A0BD}"/>
              </a:ext>
            </a:extLst>
          </p:cNvPr>
          <p:cNvSpPr/>
          <p:nvPr/>
        </p:nvSpPr>
        <p:spPr>
          <a:xfrm>
            <a:off x="1004000" y="3837334"/>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14" name="TextBox 13">
            <a:extLst>
              <a:ext uri="{FF2B5EF4-FFF2-40B4-BE49-F238E27FC236}">
                <a16:creationId xmlns:a16="http://schemas.microsoft.com/office/drawing/2014/main" id="{E849049E-8922-2B09-5BBA-8A85B8E6E392}"/>
              </a:ext>
            </a:extLst>
          </p:cNvPr>
          <p:cNvSpPr txBox="1"/>
          <p:nvPr/>
        </p:nvSpPr>
        <p:spPr>
          <a:xfrm>
            <a:off x="1510086" y="4093417"/>
            <a:ext cx="14680000" cy="584775"/>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The contact email listed on the property's website</a:t>
            </a:r>
            <a:endParaRPr kumimoji="0" sz="3200" b="0" i="0" u="none" strike="noStrike" kern="1200" cap="none" spc="0" normalizeH="0" baseline="0" noProof="0" dirty="0">
              <a:ln>
                <a:noFill/>
              </a:ln>
              <a:solidFill>
                <a:srgbClr val="002B11"/>
              </a:solidFill>
              <a:effectLst/>
              <a:uLnTx/>
              <a:uFillTx/>
              <a:latin typeface="Poppins" panose="00000500000000000000" pitchFamily="2" charset="0"/>
              <a:ea typeface="+mn-ea"/>
              <a:cs typeface="Poppins" panose="00000500000000000000" pitchFamily="2" charset="0"/>
              <a:sym typeface="Arial"/>
            </a:endParaRPr>
          </a:p>
        </p:txBody>
      </p:sp>
      <p:sp>
        <p:nvSpPr>
          <p:cNvPr id="16" name="Rounded Rectangle 3">
            <a:extLst>
              <a:ext uri="{FF2B5EF4-FFF2-40B4-BE49-F238E27FC236}">
                <a16:creationId xmlns:a16="http://schemas.microsoft.com/office/drawing/2014/main" id="{6DD9B4A0-FCC6-2033-6874-6877C9E8CFB2}"/>
              </a:ext>
            </a:extLst>
          </p:cNvPr>
          <p:cNvSpPr/>
          <p:nvPr/>
        </p:nvSpPr>
        <p:spPr>
          <a:xfrm>
            <a:off x="1004000" y="5203639"/>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 typeface="Arial"/>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18" name="TextBox 17">
            <a:extLst>
              <a:ext uri="{FF2B5EF4-FFF2-40B4-BE49-F238E27FC236}">
                <a16:creationId xmlns:a16="http://schemas.microsoft.com/office/drawing/2014/main" id="{59913B56-2158-EE09-4629-AC2CE39C51DD}"/>
              </a:ext>
            </a:extLst>
          </p:cNvPr>
          <p:cNvSpPr txBox="1"/>
          <p:nvPr/>
        </p:nvSpPr>
        <p:spPr>
          <a:xfrm>
            <a:off x="1510086" y="5459722"/>
            <a:ext cx="14680000" cy="584775"/>
          </a:xfrm>
          <a:prstGeom prst="rect">
            <a:avLst/>
          </a:prstGeom>
          <a:noFill/>
        </p:spPr>
        <p:txBody>
          <a:bodyPr wrap="square" anchor="ctr">
            <a:spAutoFit/>
          </a:bodyPr>
          <a:lstStyle>
            <a:defPPr marR="0" lvl="0" algn="l" rtl="0">
              <a:lnSpc>
                <a:spcPct val="100000"/>
              </a:lnSpc>
              <a:spcBef>
                <a:spcPts val="0"/>
              </a:spcBef>
              <a:spcAft>
                <a:spcPts val="0"/>
              </a:spcAft>
            </a:defPPr>
            <a:lvl1pPr>
              <a:buClrTx/>
              <a:defRPr sz="3200" kern="1200">
                <a:solidFill>
                  <a:srgbClr val="002B11"/>
                </a:solidFill>
                <a:latin typeface="Poppins"/>
                <a:ea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2B11"/>
                </a:solidFill>
                <a:effectLst/>
                <a:uLnTx/>
                <a:uFillTx/>
                <a:latin typeface="Poppins"/>
                <a:ea typeface="+mn-ea"/>
                <a:cs typeface="+mn-cs"/>
              </a:rPr>
              <a:t>The most recently registered and verified owner email</a:t>
            </a:r>
            <a:endParaRPr kumimoji="0" sz="3200" b="0" i="0" u="none" strike="noStrike" kern="1200" cap="none" spc="0" normalizeH="0" baseline="0" noProof="0" dirty="0">
              <a:ln>
                <a:noFill/>
              </a:ln>
              <a:solidFill>
                <a:srgbClr val="002B11"/>
              </a:solidFill>
              <a:effectLst/>
              <a:uLnTx/>
              <a:uFillTx/>
              <a:latin typeface="Poppins"/>
              <a:ea typeface="+mn-ea"/>
              <a:cs typeface="Arial"/>
              <a:sym typeface="Arial"/>
            </a:endParaRPr>
          </a:p>
        </p:txBody>
      </p:sp>
      <p:sp>
        <p:nvSpPr>
          <p:cNvPr id="20" name="Rounded Rectangle 3">
            <a:extLst>
              <a:ext uri="{FF2B5EF4-FFF2-40B4-BE49-F238E27FC236}">
                <a16:creationId xmlns:a16="http://schemas.microsoft.com/office/drawing/2014/main" id="{FF648C10-8B58-5E33-00BB-F234B2BB6640}"/>
              </a:ext>
            </a:extLst>
          </p:cNvPr>
          <p:cNvSpPr/>
          <p:nvPr/>
        </p:nvSpPr>
        <p:spPr>
          <a:xfrm>
            <a:off x="1000000" y="6569944"/>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 typeface="Arial"/>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22" name="TextBox 21">
            <a:extLst>
              <a:ext uri="{FF2B5EF4-FFF2-40B4-BE49-F238E27FC236}">
                <a16:creationId xmlns:a16="http://schemas.microsoft.com/office/drawing/2014/main" id="{9E94187D-A396-007E-4A44-5DD57EBB4A7F}"/>
              </a:ext>
            </a:extLst>
          </p:cNvPr>
          <p:cNvSpPr txBox="1"/>
          <p:nvPr/>
        </p:nvSpPr>
        <p:spPr>
          <a:xfrm>
            <a:off x="1506086" y="6826026"/>
            <a:ext cx="14680000" cy="584775"/>
          </a:xfrm>
          <a:prstGeom prst="rect">
            <a:avLst/>
          </a:prstGeom>
          <a:noFill/>
        </p:spPr>
        <p:txBody>
          <a:bodyPr wrap="square" anchor="ctr">
            <a:spAutoFit/>
          </a:bodyPr>
          <a:lstStyle>
            <a:defPPr marR="0" lvl="0" algn="l" rtl="0">
              <a:lnSpc>
                <a:spcPct val="100000"/>
              </a:lnSpc>
              <a:spcBef>
                <a:spcPts val="0"/>
              </a:spcBef>
              <a:spcAft>
                <a:spcPts val="0"/>
              </a:spcAft>
              <a:defRPr/>
            </a:defPPr>
            <a:lvl1pPr>
              <a:buClrTx/>
              <a:defRPr sz="3200" kern="1200">
                <a:solidFill>
                  <a:srgbClr val="002B11"/>
                </a:solidFill>
                <a:latin typeface="Poppins"/>
                <a:ea typeface="+mn-ea"/>
              </a:defRPr>
            </a:lvl1p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2B11"/>
                </a:solidFill>
                <a:effectLst/>
                <a:uLnTx/>
                <a:uFillTx/>
                <a:latin typeface="Poppins"/>
                <a:ea typeface="+mn-ea"/>
                <a:cs typeface="+mn-cs"/>
              </a:rPr>
              <a:t>The email address of the person who wrote the review</a:t>
            </a:r>
          </a:p>
        </p:txBody>
      </p:sp>
      <p:sp>
        <p:nvSpPr>
          <p:cNvPr id="24" name="Rounded Rectangle 3">
            <a:extLst>
              <a:ext uri="{FF2B5EF4-FFF2-40B4-BE49-F238E27FC236}">
                <a16:creationId xmlns:a16="http://schemas.microsoft.com/office/drawing/2014/main" id="{63ACD14F-26EC-ABA0-5805-D415CCB280A0}"/>
              </a:ext>
            </a:extLst>
          </p:cNvPr>
          <p:cNvSpPr/>
          <p:nvPr/>
        </p:nvSpPr>
        <p:spPr>
          <a:xfrm>
            <a:off x="1000000" y="7949215"/>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 typeface="Arial"/>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26" name="TextBox 25">
            <a:extLst>
              <a:ext uri="{FF2B5EF4-FFF2-40B4-BE49-F238E27FC236}">
                <a16:creationId xmlns:a16="http://schemas.microsoft.com/office/drawing/2014/main" id="{A089578B-E45B-6B03-3447-7268F48042A3}"/>
              </a:ext>
            </a:extLst>
          </p:cNvPr>
          <p:cNvSpPr txBox="1"/>
          <p:nvPr/>
        </p:nvSpPr>
        <p:spPr>
          <a:xfrm>
            <a:off x="1506086" y="8205297"/>
            <a:ext cx="14680000" cy="584775"/>
          </a:xfrm>
          <a:prstGeom prst="rect">
            <a:avLst/>
          </a:prstGeom>
          <a:noFill/>
        </p:spPr>
        <p:txBody>
          <a:bodyPr wrap="square" anchor="ctr">
            <a:spAutoFit/>
          </a:bodyPr>
          <a:lstStyle>
            <a:defPPr marR="0" lvl="0" algn="l" rtl="0">
              <a:lnSpc>
                <a:spcPct val="100000"/>
              </a:lnSpc>
              <a:spcBef>
                <a:spcPts val="0"/>
              </a:spcBef>
              <a:spcAft>
                <a:spcPts val="0"/>
              </a:spcAft>
              <a:defRPr/>
            </a:defPPr>
            <a:lvl1pPr>
              <a:buClrTx/>
              <a:defRPr sz="3200" kern="1200">
                <a:solidFill>
                  <a:srgbClr val="002B11"/>
                </a:solidFill>
                <a:latin typeface="Poppins"/>
                <a:ea typeface="+mn-ea"/>
              </a:defRPr>
            </a:lvl1p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2B11"/>
                </a:solidFill>
                <a:effectLst/>
                <a:uLnTx/>
                <a:uFillTx/>
                <a:latin typeface="Poppins"/>
                <a:ea typeface="+mn-ea"/>
                <a:cs typeface="+mn-cs"/>
              </a:rPr>
              <a:t>The email used for owner responses</a:t>
            </a:r>
          </a:p>
        </p:txBody>
      </p:sp>
      <p:pic>
        <p:nvPicPr>
          <p:cNvPr id="6" name="Picture 5">
            <a:extLst>
              <a:ext uri="{FF2B5EF4-FFF2-40B4-BE49-F238E27FC236}">
                <a16:creationId xmlns:a16="http://schemas.microsoft.com/office/drawing/2014/main" id="{B8759B1E-3056-672D-C727-71965A35EA83}"/>
              </a:ext>
            </a:extLst>
          </p:cNvPr>
          <p:cNvPicPr>
            <a:picLocks noChangeAspect="1"/>
          </p:cNvPicPr>
          <p:nvPr/>
        </p:nvPicPr>
        <p:blipFill>
          <a:blip r:embed="rId2"/>
          <a:srcRect l="60461" t="63789"/>
          <a:stretch>
            <a:fillRect/>
          </a:stretch>
        </p:blipFill>
        <p:spPr>
          <a:xfrm>
            <a:off x="15687275" y="1935947"/>
            <a:ext cx="1601449" cy="1747475"/>
          </a:xfrm>
          <a:prstGeom prst="rect">
            <a:avLst/>
          </a:prstGeom>
        </p:spPr>
      </p:pic>
      <p:sp>
        <p:nvSpPr>
          <p:cNvPr id="13" name="TextBox 12">
            <a:extLst>
              <a:ext uri="{FF2B5EF4-FFF2-40B4-BE49-F238E27FC236}">
                <a16:creationId xmlns:a16="http://schemas.microsoft.com/office/drawing/2014/main" id="{25337120-0E18-6905-CEDC-1CD8EA49F83C}"/>
              </a:ext>
            </a:extLst>
          </p:cNvPr>
          <p:cNvSpPr txBox="1"/>
          <p:nvPr/>
        </p:nvSpPr>
        <p:spPr>
          <a:xfrm>
            <a:off x="600000" y="9727001"/>
            <a:ext cx="10000000" cy="30777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Tripadvisor</a:t>
            </a:r>
            <a:r>
              <a:rPr kumimoji="0" sz="1400" b="0" i="0" u="none" strike="noStrike" kern="1200" cap="none" spc="0" normalizeH="0" baseline="0" noProof="0" dirty="0">
                <a:ln>
                  <a:noFill/>
                </a:ln>
                <a:solidFill>
                  <a:srgbClr val="8A8272"/>
                </a:solidFill>
                <a:effectLst/>
                <a:uLnTx/>
                <a:uFillTx/>
                <a:latin typeface="Poppins"/>
                <a:ea typeface="+mn-ea"/>
                <a:cs typeface="Arial"/>
                <a:sym typeface="Arial"/>
              </a:rPr>
              <a:t> / </a:t>
            </a: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Fraud support</a:t>
            </a:r>
            <a:r>
              <a:rPr kumimoji="0" sz="1400" b="0" i="0" u="none" strike="noStrike" kern="1200" cap="none" spc="0" normalizeH="0" baseline="0" noProof="0" dirty="0">
                <a:ln>
                  <a:noFill/>
                </a:ln>
                <a:solidFill>
                  <a:srgbClr val="8A8272"/>
                </a:solidFill>
                <a:effectLst/>
                <a:uLnTx/>
                <a:uFillTx/>
                <a:latin typeface="Poppins"/>
                <a:ea typeface="+mn-ea"/>
                <a:cs typeface="Arial"/>
                <a:sym typeface="Arial"/>
              </a:rPr>
              <a:t> / </a:t>
            </a: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Knowledge check</a:t>
            </a:r>
            <a:endParaRPr kumimoji="0" sz="1400" b="0" i="0" u="none" strike="noStrike" kern="1200" cap="none" spc="0" normalizeH="0" baseline="0" noProof="0" dirty="0">
              <a:ln>
                <a:noFill/>
              </a:ln>
              <a:solidFill>
                <a:srgbClr val="8A8272"/>
              </a:solidFill>
              <a:effectLst/>
              <a:uLnTx/>
              <a:uFillTx/>
              <a:latin typeface="Poppins"/>
              <a:ea typeface="+mn-ea"/>
              <a:cs typeface="Arial"/>
              <a:sym typeface="Arial"/>
            </a:endParaRPr>
          </a:p>
        </p:txBody>
      </p:sp>
    </p:spTree>
    <p:extLst>
      <p:ext uri="{BB962C8B-B14F-4D97-AF65-F5344CB8AC3E}">
        <p14:creationId xmlns:p14="http://schemas.microsoft.com/office/powerpoint/2010/main" val="3746823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grpId="0" nodeType="clickEffect">
                                  <p:stCondLst>
                                    <p:cond delay="0"/>
                                  </p:stCondLst>
                                  <p:childTnLst>
                                    <p:set>
                                      <p:cBhvr>
                                        <p:cTn id="6" dur="indefinite"/>
                                        <p:tgtEl>
                                          <p:spTgt spid="10"/>
                                        </p:tgtEl>
                                        <p:attrNameLst>
                                          <p:attrName>style.opacity</p:attrName>
                                        </p:attrNameLst>
                                      </p:cBhvr>
                                      <p:to>
                                        <p:strVal val="0.5"/>
                                      </p:to>
                                    </p:set>
                                    <p:animEffect filter="image" prLst="opacity: 0.5">
                                      <p:cBhvr rctx="IE">
                                        <p:cTn id="7" dur="indefinite"/>
                                        <p:tgtEl>
                                          <p:spTgt spid="10"/>
                                        </p:tgtEl>
                                      </p:cBhvr>
                                    </p:animEffect>
                                  </p:childTnLst>
                                </p:cTn>
                              </p:par>
                              <p:par>
                                <p:cTn id="8" presetID="9" presetClass="emph" presetSubtype="0" grpId="0" nodeType="withEffect">
                                  <p:stCondLst>
                                    <p:cond delay="0"/>
                                  </p:stCondLst>
                                  <p:childTnLst>
                                    <p:set>
                                      <p:cBhvr>
                                        <p:cTn id="9" dur="indefinite"/>
                                        <p:tgtEl>
                                          <p:spTgt spid="20"/>
                                        </p:tgtEl>
                                        <p:attrNameLst>
                                          <p:attrName>style.opacity</p:attrName>
                                        </p:attrNameLst>
                                      </p:cBhvr>
                                      <p:to>
                                        <p:strVal val="0.5"/>
                                      </p:to>
                                    </p:set>
                                    <p:animEffect filter="image" prLst="opacity: 0.5">
                                      <p:cBhvr rctx="IE">
                                        <p:cTn id="10" dur="indefinite"/>
                                        <p:tgtEl>
                                          <p:spTgt spid="20"/>
                                        </p:tgtEl>
                                      </p:cBhvr>
                                    </p:animEffect>
                                  </p:childTnLst>
                                </p:cTn>
                              </p:par>
                              <p:par>
                                <p:cTn id="11" presetID="9" presetClass="emph" presetSubtype="0" grpId="0" nodeType="withEffect">
                                  <p:stCondLst>
                                    <p:cond delay="0"/>
                                  </p:stCondLst>
                                  <p:childTnLst>
                                    <p:set>
                                      <p:cBhvr>
                                        <p:cTn id="12" dur="indefinite"/>
                                        <p:tgtEl>
                                          <p:spTgt spid="24"/>
                                        </p:tgtEl>
                                        <p:attrNameLst>
                                          <p:attrName>style.opacity</p:attrName>
                                        </p:attrNameLst>
                                      </p:cBhvr>
                                      <p:to>
                                        <p:strVal val="0.5"/>
                                      </p:to>
                                    </p:set>
                                    <p:animEffect filter="image" prLst="opacity: 0.5">
                                      <p:cBhvr rctx="IE">
                                        <p:cTn id="13" dur="indefinite"/>
                                        <p:tgtEl>
                                          <p:spTgt spid="24"/>
                                        </p:tgtEl>
                                      </p:cBhvr>
                                    </p:animEffect>
                                  </p:childTnLst>
                                </p:cTn>
                              </p:par>
                              <p:par>
                                <p:cTn id="14" presetID="1" presetClass="emph" presetSubtype="2" fill="hold" nodeType="withEffect">
                                  <p:stCondLst>
                                    <p:cond delay="0"/>
                                  </p:stCondLst>
                                  <p:childTnLst>
                                    <p:animClr clrSpc="rgb" dir="cw">
                                      <p:cBhvr>
                                        <p:cTn id="15" dur="2000" fill="hold"/>
                                        <p:tgtEl>
                                          <p:spTgt spid="16"/>
                                        </p:tgtEl>
                                        <p:attrNameLst>
                                          <p:attrName>fillcolor</p:attrName>
                                        </p:attrNameLst>
                                      </p:cBhvr>
                                      <p:to>
                                        <a:srgbClr val="00B050"/>
                                      </p:to>
                                    </p:animClr>
                                    <p:set>
                                      <p:cBhvr>
                                        <p:cTn id="16" dur="2000" fill="hold"/>
                                        <p:tgtEl>
                                          <p:spTgt spid="16"/>
                                        </p:tgtEl>
                                        <p:attrNameLst>
                                          <p:attrName>fill.type</p:attrName>
                                        </p:attrNameLst>
                                      </p:cBhvr>
                                      <p:to>
                                        <p:strVal val="solid"/>
                                      </p:to>
                                    </p:set>
                                    <p:set>
                                      <p:cBhvr>
                                        <p:cTn id="17" dur="2000" fill="hold"/>
                                        <p:tgtEl>
                                          <p:spTgt spid="16"/>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0" grpId="0" animBg="1"/>
      <p:bldP spid="2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997FF"/>
        </a:solidFill>
        <a:effectLst/>
      </p:bgPr>
    </p:bg>
    <p:spTree>
      <p:nvGrpSpPr>
        <p:cNvPr id="1" name="">
          <a:extLst>
            <a:ext uri="{FF2B5EF4-FFF2-40B4-BE49-F238E27FC236}">
              <a16:creationId xmlns:a16="http://schemas.microsoft.com/office/drawing/2014/main" id="{30089963-23C2-7BAD-7ABE-03F7710398B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2DF0B52-C777-7EC6-D345-8FC4D32E891B}"/>
              </a:ext>
            </a:extLst>
          </p:cNvPr>
          <p:cNvSpPr txBox="1"/>
          <p:nvPr/>
        </p:nvSpPr>
        <p:spPr>
          <a:xfrm>
            <a:off x="994557" y="511955"/>
            <a:ext cx="12000000" cy="43088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dirty="0">
                <a:ln>
                  <a:noFill/>
                </a:ln>
                <a:solidFill>
                  <a:srgbClr val="002B11"/>
                </a:solidFill>
                <a:effectLst/>
                <a:uLnTx/>
                <a:uFillTx/>
                <a:latin typeface="Poppins Black"/>
                <a:ea typeface="+mn-ea"/>
                <a:cs typeface="Arial"/>
                <a:sym typeface="Arial"/>
              </a:rPr>
              <a:t>KNOWLEDGE CHECK</a:t>
            </a:r>
          </a:p>
        </p:txBody>
      </p:sp>
      <p:sp>
        <p:nvSpPr>
          <p:cNvPr id="4" name="Rounded Rectangle 3">
            <a:extLst>
              <a:ext uri="{FF2B5EF4-FFF2-40B4-BE49-F238E27FC236}">
                <a16:creationId xmlns:a16="http://schemas.microsoft.com/office/drawing/2014/main" id="{60675CE2-E771-762F-8A81-75093AE7ECC6}"/>
              </a:ext>
            </a:extLst>
          </p:cNvPr>
          <p:cNvSpPr/>
          <p:nvPr/>
        </p:nvSpPr>
        <p:spPr>
          <a:xfrm>
            <a:off x="1004000" y="1349948"/>
            <a:ext cx="16280000" cy="2075905"/>
          </a:xfrm>
          <a:prstGeom prst="roundRect">
            <a:avLst/>
          </a:prstGeom>
          <a:solidFill>
            <a:srgbClr val="FFFFFF"/>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5" name="TextBox 4">
            <a:extLst>
              <a:ext uri="{FF2B5EF4-FFF2-40B4-BE49-F238E27FC236}">
                <a16:creationId xmlns:a16="http://schemas.microsoft.com/office/drawing/2014/main" id="{6E2CA003-FF69-F4DA-5201-971036BDA862}"/>
              </a:ext>
            </a:extLst>
          </p:cNvPr>
          <p:cNvSpPr txBox="1"/>
          <p:nvPr/>
        </p:nvSpPr>
        <p:spPr>
          <a:xfrm>
            <a:off x="1510086" y="1680277"/>
            <a:ext cx="14680000" cy="1323439"/>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Where can you find the history of past Fraud Letters sent to a property?</a:t>
            </a:r>
          </a:p>
        </p:txBody>
      </p:sp>
      <p:sp>
        <p:nvSpPr>
          <p:cNvPr id="11" name="TextBox 10">
            <a:extLst>
              <a:ext uri="{FF2B5EF4-FFF2-40B4-BE49-F238E27FC236}">
                <a16:creationId xmlns:a16="http://schemas.microsoft.com/office/drawing/2014/main" id="{824B2669-9F8D-1AAF-ECC7-8CF65BFD9440}"/>
              </a:ext>
            </a:extLst>
          </p:cNvPr>
          <p:cNvSpPr txBox="1"/>
          <p:nvPr/>
        </p:nvSpPr>
        <p:spPr>
          <a:xfrm>
            <a:off x="600000" y="9727001"/>
            <a:ext cx="10000000" cy="30777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Tripadvisor</a:t>
            </a:r>
            <a:r>
              <a:rPr kumimoji="0" sz="1400" b="0" i="0" u="none" strike="noStrike" kern="1200" cap="none" spc="0" normalizeH="0" baseline="0" noProof="0" dirty="0">
                <a:ln>
                  <a:noFill/>
                </a:ln>
                <a:solidFill>
                  <a:srgbClr val="8A8272"/>
                </a:solidFill>
                <a:effectLst/>
                <a:uLnTx/>
                <a:uFillTx/>
                <a:latin typeface="Poppins"/>
                <a:ea typeface="+mn-ea"/>
                <a:cs typeface="Arial"/>
                <a:sym typeface="Arial"/>
              </a:rPr>
              <a:t> / </a:t>
            </a: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Fraud support</a:t>
            </a:r>
            <a:r>
              <a:rPr kumimoji="0" sz="1400" b="0" i="0" u="none" strike="noStrike" kern="1200" cap="none" spc="0" normalizeH="0" baseline="0" noProof="0" dirty="0">
                <a:ln>
                  <a:noFill/>
                </a:ln>
                <a:solidFill>
                  <a:srgbClr val="8A8272"/>
                </a:solidFill>
                <a:effectLst/>
                <a:uLnTx/>
                <a:uFillTx/>
                <a:latin typeface="Poppins"/>
                <a:ea typeface="+mn-ea"/>
                <a:cs typeface="Arial"/>
                <a:sym typeface="Arial"/>
              </a:rPr>
              <a:t> / </a:t>
            </a: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Knowledge check</a:t>
            </a:r>
            <a:endParaRPr kumimoji="0" sz="1400" b="0" i="0" u="none" strike="noStrike" kern="1200" cap="none" spc="0" normalizeH="0" baseline="0" noProof="0" dirty="0">
              <a:ln>
                <a:noFill/>
              </a:ln>
              <a:solidFill>
                <a:srgbClr val="8A8272"/>
              </a:solidFill>
              <a:effectLst/>
              <a:uLnTx/>
              <a:uFillTx/>
              <a:latin typeface="Poppins"/>
              <a:ea typeface="+mn-ea"/>
              <a:cs typeface="Arial"/>
              <a:sym typeface="Arial"/>
            </a:endParaRPr>
          </a:p>
        </p:txBody>
      </p:sp>
      <p:sp>
        <p:nvSpPr>
          <p:cNvPr id="10" name="Rounded Rectangle 3">
            <a:extLst>
              <a:ext uri="{FF2B5EF4-FFF2-40B4-BE49-F238E27FC236}">
                <a16:creationId xmlns:a16="http://schemas.microsoft.com/office/drawing/2014/main" id="{3F807688-A3D0-83C2-650C-88C18B19E230}"/>
              </a:ext>
            </a:extLst>
          </p:cNvPr>
          <p:cNvSpPr/>
          <p:nvPr/>
        </p:nvSpPr>
        <p:spPr>
          <a:xfrm>
            <a:off x="1004000" y="3837334"/>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14" name="TextBox 13">
            <a:extLst>
              <a:ext uri="{FF2B5EF4-FFF2-40B4-BE49-F238E27FC236}">
                <a16:creationId xmlns:a16="http://schemas.microsoft.com/office/drawing/2014/main" id="{F7E573BA-4A3F-7407-B18E-BAD9D0C0ADF9}"/>
              </a:ext>
            </a:extLst>
          </p:cNvPr>
          <p:cNvSpPr txBox="1"/>
          <p:nvPr/>
        </p:nvSpPr>
        <p:spPr>
          <a:xfrm>
            <a:off x="1510086" y="4093416"/>
            <a:ext cx="14680000" cy="584775"/>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On the public review page</a:t>
            </a:r>
            <a:endParaRPr kumimoji="0" sz="3200" b="0" i="0" u="none" strike="noStrike" kern="1200" cap="none" spc="0" normalizeH="0" baseline="0" noProof="0" dirty="0">
              <a:ln>
                <a:noFill/>
              </a:ln>
              <a:solidFill>
                <a:srgbClr val="002B11"/>
              </a:solidFill>
              <a:effectLst/>
              <a:uLnTx/>
              <a:uFillTx/>
              <a:latin typeface="Poppins" panose="00000500000000000000" pitchFamily="2" charset="0"/>
              <a:ea typeface="+mn-ea"/>
              <a:cs typeface="Poppins" panose="00000500000000000000" pitchFamily="2" charset="0"/>
              <a:sym typeface="Arial"/>
            </a:endParaRPr>
          </a:p>
        </p:txBody>
      </p:sp>
      <p:sp>
        <p:nvSpPr>
          <p:cNvPr id="16" name="Rounded Rectangle 3">
            <a:extLst>
              <a:ext uri="{FF2B5EF4-FFF2-40B4-BE49-F238E27FC236}">
                <a16:creationId xmlns:a16="http://schemas.microsoft.com/office/drawing/2014/main" id="{7896AF48-4EB4-BCA6-87D2-96365FBD6643}"/>
              </a:ext>
            </a:extLst>
          </p:cNvPr>
          <p:cNvSpPr/>
          <p:nvPr/>
        </p:nvSpPr>
        <p:spPr>
          <a:xfrm>
            <a:off x="1004000" y="5203639"/>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 typeface="Arial"/>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18" name="TextBox 17">
            <a:extLst>
              <a:ext uri="{FF2B5EF4-FFF2-40B4-BE49-F238E27FC236}">
                <a16:creationId xmlns:a16="http://schemas.microsoft.com/office/drawing/2014/main" id="{6B648DA1-46A9-15B9-4537-DB23E44BFDCA}"/>
              </a:ext>
            </a:extLst>
          </p:cNvPr>
          <p:cNvSpPr txBox="1"/>
          <p:nvPr/>
        </p:nvSpPr>
        <p:spPr>
          <a:xfrm>
            <a:off x="1510086" y="5459721"/>
            <a:ext cx="14680000" cy="584775"/>
          </a:xfrm>
          <a:prstGeom prst="rect">
            <a:avLst/>
          </a:prstGeom>
          <a:noFill/>
        </p:spPr>
        <p:txBody>
          <a:bodyPr wrap="square" anchor="ctr">
            <a:spAutoFit/>
          </a:bodyPr>
          <a:lstStyle>
            <a:defPPr marR="0" lvl="0" algn="l" rtl="0">
              <a:lnSpc>
                <a:spcPct val="100000"/>
              </a:lnSpc>
              <a:spcBef>
                <a:spcPts val="0"/>
              </a:spcBef>
              <a:spcAft>
                <a:spcPts val="0"/>
              </a:spcAft>
            </a:defPPr>
            <a:lvl1pPr>
              <a:buClrTx/>
              <a:defRPr sz="3200" kern="1200">
                <a:solidFill>
                  <a:srgbClr val="002B11"/>
                </a:solidFill>
                <a:latin typeface="Poppins"/>
                <a:ea typeface="+mn-ea"/>
              </a:defRPr>
            </a:lvl1p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2B11"/>
                </a:solidFill>
                <a:effectLst/>
                <a:uLnTx/>
                <a:uFillTx/>
                <a:latin typeface="Poppins"/>
                <a:ea typeface="+mn-ea"/>
                <a:cs typeface="+mn-cs"/>
              </a:rPr>
              <a:t>On the property's social media page</a:t>
            </a:r>
          </a:p>
        </p:txBody>
      </p:sp>
      <p:sp>
        <p:nvSpPr>
          <p:cNvPr id="20" name="Rounded Rectangle 3">
            <a:extLst>
              <a:ext uri="{FF2B5EF4-FFF2-40B4-BE49-F238E27FC236}">
                <a16:creationId xmlns:a16="http://schemas.microsoft.com/office/drawing/2014/main" id="{22CAEA74-0BF9-436F-3BA1-49FA53593F30}"/>
              </a:ext>
            </a:extLst>
          </p:cNvPr>
          <p:cNvSpPr/>
          <p:nvPr/>
        </p:nvSpPr>
        <p:spPr>
          <a:xfrm>
            <a:off x="1000000" y="6569944"/>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 typeface="Arial"/>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22" name="TextBox 21">
            <a:extLst>
              <a:ext uri="{FF2B5EF4-FFF2-40B4-BE49-F238E27FC236}">
                <a16:creationId xmlns:a16="http://schemas.microsoft.com/office/drawing/2014/main" id="{C6F41A3B-1BEB-4397-7A97-4E45FB19BB34}"/>
              </a:ext>
            </a:extLst>
          </p:cNvPr>
          <p:cNvSpPr txBox="1"/>
          <p:nvPr/>
        </p:nvSpPr>
        <p:spPr>
          <a:xfrm>
            <a:off x="1506086" y="6826026"/>
            <a:ext cx="14680000" cy="584775"/>
          </a:xfrm>
          <a:prstGeom prst="rect">
            <a:avLst/>
          </a:prstGeom>
          <a:noFill/>
        </p:spPr>
        <p:txBody>
          <a:bodyPr wrap="square" anchor="ctr">
            <a:spAutoFit/>
          </a:bodyPr>
          <a:lstStyle>
            <a:defPPr marR="0" lvl="0" algn="l" rtl="0">
              <a:lnSpc>
                <a:spcPct val="100000"/>
              </a:lnSpc>
              <a:spcBef>
                <a:spcPts val="0"/>
              </a:spcBef>
              <a:spcAft>
                <a:spcPts val="0"/>
              </a:spcAft>
              <a:defRPr/>
            </a:defPPr>
            <a:lvl1pPr>
              <a:buClrTx/>
              <a:defRPr sz="3200" kern="1200">
                <a:solidFill>
                  <a:srgbClr val="002B11"/>
                </a:solidFill>
                <a:latin typeface="Poppins"/>
                <a:ea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2B11"/>
                </a:solidFill>
                <a:effectLst/>
                <a:uLnTx/>
                <a:uFillTx/>
                <a:latin typeface="Poppins"/>
                <a:ea typeface="+mn-ea"/>
                <a:cs typeface="+mn-cs"/>
              </a:rPr>
              <a:t>In the Location Center</a:t>
            </a:r>
            <a:endParaRPr kumimoji="0" sz="3200" b="0" i="0" u="none" strike="noStrike" kern="1200" cap="none" spc="0" normalizeH="0" baseline="0" noProof="0" dirty="0">
              <a:ln>
                <a:noFill/>
              </a:ln>
              <a:solidFill>
                <a:srgbClr val="002B11"/>
              </a:solidFill>
              <a:effectLst/>
              <a:uLnTx/>
              <a:uFillTx/>
              <a:latin typeface="Poppins"/>
              <a:ea typeface="+mn-ea"/>
              <a:cs typeface="Arial"/>
              <a:sym typeface="Arial"/>
            </a:endParaRPr>
          </a:p>
        </p:txBody>
      </p:sp>
      <p:sp>
        <p:nvSpPr>
          <p:cNvPr id="24" name="Rounded Rectangle 3">
            <a:extLst>
              <a:ext uri="{FF2B5EF4-FFF2-40B4-BE49-F238E27FC236}">
                <a16:creationId xmlns:a16="http://schemas.microsoft.com/office/drawing/2014/main" id="{2AF99D2A-66DD-4FB6-9BAE-9FF330054672}"/>
              </a:ext>
            </a:extLst>
          </p:cNvPr>
          <p:cNvSpPr/>
          <p:nvPr/>
        </p:nvSpPr>
        <p:spPr>
          <a:xfrm>
            <a:off x="1000000" y="7949215"/>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 typeface="Arial"/>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26" name="TextBox 25">
            <a:extLst>
              <a:ext uri="{FF2B5EF4-FFF2-40B4-BE49-F238E27FC236}">
                <a16:creationId xmlns:a16="http://schemas.microsoft.com/office/drawing/2014/main" id="{25BA2D9E-B185-550A-C7EC-EE051D85D573}"/>
              </a:ext>
            </a:extLst>
          </p:cNvPr>
          <p:cNvSpPr txBox="1"/>
          <p:nvPr/>
        </p:nvSpPr>
        <p:spPr>
          <a:xfrm>
            <a:off x="1506086" y="8205297"/>
            <a:ext cx="14680000" cy="584775"/>
          </a:xfrm>
          <a:prstGeom prst="rect">
            <a:avLst/>
          </a:prstGeom>
          <a:noFill/>
        </p:spPr>
        <p:txBody>
          <a:bodyPr wrap="square" anchor="ctr">
            <a:spAutoFit/>
          </a:bodyPr>
          <a:lstStyle>
            <a:defPPr marR="0" lvl="0" algn="l" rtl="0">
              <a:lnSpc>
                <a:spcPct val="100000"/>
              </a:lnSpc>
              <a:spcBef>
                <a:spcPts val="0"/>
              </a:spcBef>
              <a:spcAft>
                <a:spcPts val="0"/>
              </a:spcAft>
              <a:defRPr/>
            </a:defPPr>
            <a:lvl1pPr>
              <a:buClrTx/>
              <a:defRPr sz="3200" kern="1200">
                <a:solidFill>
                  <a:srgbClr val="002B11"/>
                </a:solidFill>
                <a:latin typeface="Poppins"/>
                <a:ea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2B11"/>
                </a:solidFill>
                <a:effectLst/>
                <a:uLnTx/>
                <a:uFillTx/>
                <a:latin typeface="Poppins"/>
                <a:ea typeface="+mn-ea"/>
                <a:cs typeface="+mn-cs"/>
              </a:rPr>
              <a:t>In the guest support inbox</a:t>
            </a:r>
            <a:endParaRPr kumimoji="0" sz="3200" b="0" i="0" u="none" strike="noStrike" kern="1200" cap="none" spc="0" normalizeH="0" baseline="0" noProof="0" dirty="0">
              <a:ln>
                <a:noFill/>
              </a:ln>
              <a:solidFill>
                <a:srgbClr val="002B11"/>
              </a:solidFill>
              <a:effectLst/>
              <a:uLnTx/>
              <a:uFillTx/>
              <a:latin typeface="Poppins"/>
              <a:ea typeface="+mn-ea"/>
              <a:cs typeface="Arial"/>
              <a:sym typeface="Arial"/>
            </a:endParaRPr>
          </a:p>
        </p:txBody>
      </p:sp>
      <p:pic>
        <p:nvPicPr>
          <p:cNvPr id="6" name="Picture 5">
            <a:extLst>
              <a:ext uri="{FF2B5EF4-FFF2-40B4-BE49-F238E27FC236}">
                <a16:creationId xmlns:a16="http://schemas.microsoft.com/office/drawing/2014/main" id="{4B5C7CA1-5907-1E99-8FC8-800C4160C578}"/>
              </a:ext>
            </a:extLst>
          </p:cNvPr>
          <p:cNvPicPr>
            <a:picLocks noChangeAspect="1"/>
          </p:cNvPicPr>
          <p:nvPr/>
        </p:nvPicPr>
        <p:blipFill>
          <a:blip r:embed="rId2"/>
          <a:srcRect l="60461" t="63789"/>
          <a:stretch>
            <a:fillRect/>
          </a:stretch>
        </p:blipFill>
        <p:spPr>
          <a:xfrm>
            <a:off x="15687275" y="1935947"/>
            <a:ext cx="1601449" cy="1747475"/>
          </a:xfrm>
          <a:prstGeom prst="rect">
            <a:avLst/>
          </a:prstGeom>
        </p:spPr>
      </p:pic>
    </p:spTree>
    <p:extLst>
      <p:ext uri="{BB962C8B-B14F-4D97-AF65-F5344CB8AC3E}">
        <p14:creationId xmlns:p14="http://schemas.microsoft.com/office/powerpoint/2010/main" val="428061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grpId="0" nodeType="clickEffect">
                                  <p:stCondLst>
                                    <p:cond delay="0"/>
                                  </p:stCondLst>
                                  <p:childTnLst>
                                    <p:set>
                                      <p:cBhvr>
                                        <p:cTn id="6" dur="indefinite"/>
                                        <p:tgtEl>
                                          <p:spTgt spid="10"/>
                                        </p:tgtEl>
                                        <p:attrNameLst>
                                          <p:attrName>style.opacity</p:attrName>
                                        </p:attrNameLst>
                                      </p:cBhvr>
                                      <p:to>
                                        <p:strVal val="0.5"/>
                                      </p:to>
                                    </p:set>
                                    <p:animEffect filter="image" prLst="opacity: 0.5">
                                      <p:cBhvr rctx="IE">
                                        <p:cTn id="7" dur="indefinite"/>
                                        <p:tgtEl>
                                          <p:spTgt spid="10"/>
                                        </p:tgtEl>
                                      </p:cBhvr>
                                    </p:animEffect>
                                  </p:childTnLst>
                                </p:cTn>
                              </p:par>
                              <p:par>
                                <p:cTn id="8" presetID="1" presetClass="emph" presetSubtype="2" fill="hold" nodeType="withEffect">
                                  <p:stCondLst>
                                    <p:cond delay="0"/>
                                  </p:stCondLst>
                                  <p:childTnLst>
                                    <p:animClr clrSpc="rgb" dir="cw">
                                      <p:cBhvr>
                                        <p:cTn id="9" dur="2000" fill="hold"/>
                                        <p:tgtEl>
                                          <p:spTgt spid="20"/>
                                        </p:tgtEl>
                                        <p:attrNameLst>
                                          <p:attrName>fillcolor</p:attrName>
                                        </p:attrNameLst>
                                      </p:cBhvr>
                                      <p:to>
                                        <a:srgbClr val="00B050"/>
                                      </p:to>
                                    </p:animClr>
                                    <p:set>
                                      <p:cBhvr>
                                        <p:cTn id="10" dur="2000" fill="hold"/>
                                        <p:tgtEl>
                                          <p:spTgt spid="20"/>
                                        </p:tgtEl>
                                        <p:attrNameLst>
                                          <p:attrName>fill.type</p:attrName>
                                        </p:attrNameLst>
                                      </p:cBhvr>
                                      <p:to>
                                        <p:strVal val="solid"/>
                                      </p:to>
                                    </p:set>
                                    <p:set>
                                      <p:cBhvr>
                                        <p:cTn id="11" dur="2000" fill="hold"/>
                                        <p:tgtEl>
                                          <p:spTgt spid="20"/>
                                        </p:tgtEl>
                                        <p:attrNameLst>
                                          <p:attrName>fill.on</p:attrName>
                                        </p:attrNameLst>
                                      </p:cBhvr>
                                      <p:to>
                                        <p:strVal val="true"/>
                                      </p:to>
                                    </p:set>
                                  </p:childTnLst>
                                </p:cTn>
                              </p:par>
                              <p:par>
                                <p:cTn id="12" presetID="9" presetClass="emph" presetSubtype="0" grpId="0" nodeType="withEffect">
                                  <p:stCondLst>
                                    <p:cond delay="0"/>
                                  </p:stCondLst>
                                  <p:childTnLst>
                                    <p:set>
                                      <p:cBhvr>
                                        <p:cTn id="13" dur="indefinite"/>
                                        <p:tgtEl>
                                          <p:spTgt spid="24"/>
                                        </p:tgtEl>
                                        <p:attrNameLst>
                                          <p:attrName>style.opacity</p:attrName>
                                        </p:attrNameLst>
                                      </p:cBhvr>
                                      <p:to>
                                        <p:strVal val="0.5"/>
                                      </p:to>
                                    </p:set>
                                    <p:animEffect filter="image" prLst="opacity: 0.5">
                                      <p:cBhvr rctx="IE">
                                        <p:cTn id="14" dur="indefinite"/>
                                        <p:tgtEl>
                                          <p:spTgt spid="24"/>
                                        </p:tgtEl>
                                      </p:cBhvr>
                                    </p:animEffect>
                                  </p:childTnLst>
                                </p:cTn>
                              </p:par>
                              <p:par>
                                <p:cTn id="15" presetID="9" presetClass="emph" presetSubtype="0" grpId="0" nodeType="withEffect">
                                  <p:stCondLst>
                                    <p:cond delay="0"/>
                                  </p:stCondLst>
                                  <p:childTnLst>
                                    <p:set>
                                      <p:cBhvr>
                                        <p:cTn id="16" dur="indefinite"/>
                                        <p:tgtEl>
                                          <p:spTgt spid="16"/>
                                        </p:tgtEl>
                                        <p:attrNameLst>
                                          <p:attrName>style.opacity</p:attrName>
                                        </p:attrNameLst>
                                      </p:cBhvr>
                                      <p:to>
                                        <p:strVal val="0.5"/>
                                      </p:to>
                                    </p:set>
                                    <p:animEffect filter="image" prLst="opacity: 0.5">
                                      <p:cBhvr rctx="IE">
                                        <p:cTn id="17" dur="indefinite"/>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6" grpId="0" animBg="1"/>
      <p:bldP spid="2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23EEBE"/>
        </a:solidFill>
        <a:effectLst/>
      </p:bgPr>
    </p:bg>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B007505A-3770-06CF-9D55-7D2C35099AEC}"/>
              </a:ext>
            </a:extLst>
          </p:cNvPr>
          <p:cNvSpPr/>
          <p:nvPr/>
        </p:nvSpPr>
        <p:spPr>
          <a:xfrm>
            <a:off x="5249895" y="5895958"/>
            <a:ext cx="3424009" cy="1248441"/>
          </a:xfrm>
          <a:prstGeom prst="roundRect">
            <a:avLst/>
          </a:prstGeom>
          <a:solidFill>
            <a:srgbClr val="002B11"/>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Rounded Corners 16">
            <a:extLst>
              <a:ext uri="{FF2B5EF4-FFF2-40B4-BE49-F238E27FC236}">
                <a16:creationId xmlns:a16="http://schemas.microsoft.com/office/drawing/2014/main" id="{8875AD5F-C5C4-4F32-542C-0254275D6779}"/>
              </a:ext>
            </a:extLst>
          </p:cNvPr>
          <p:cNvSpPr/>
          <p:nvPr/>
        </p:nvSpPr>
        <p:spPr>
          <a:xfrm>
            <a:off x="5326095" y="6001391"/>
            <a:ext cx="3424009" cy="1248441"/>
          </a:xfrm>
          <a:prstGeom prst="roundRect">
            <a:avLst/>
          </a:prstGeom>
          <a:ln>
            <a:solidFill>
              <a:srgbClr val="002B11"/>
            </a:solidFill>
          </a:ln>
          <a:effectLst>
            <a:outerShdw blurRad="50800" dist="38100" dir="5400000" algn="t"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 name="TextBox 1"/>
          <p:cNvSpPr txBox="1"/>
          <p:nvPr/>
        </p:nvSpPr>
        <p:spPr>
          <a:xfrm>
            <a:off x="1000000" y="700001"/>
            <a:ext cx="12000000" cy="43088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dirty="0">
                <a:ln>
                  <a:noFill/>
                </a:ln>
                <a:solidFill>
                  <a:srgbClr val="002B11"/>
                </a:solidFill>
                <a:effectLst/>
                <a:uLnTx/>
                <a:uFillTx/>
                <a:latin typeface="Poppins Black"/>
                <a:ea typeface="+mn-ea"/>
                <a:cs typeface="Arial"/>
                <a:sym typeface="Arial"/>
              </a:rPr>
              <a:t>KNOWLEDGE CHECK</a:t>
            </a:r>
          </a:p>
        </p:txBody>
      </p:sp>
      <p:sp>
        <p:nvSpPr>
          <p:cNvPr id="3" name="TextBox 2"/>
          <p:cNvSpPr txBox="1"/>
          <p:nvPr/>
        </p:nvSpPr>
        <p:spPr>
          <a:xfrm>
            <a:off x="1000000" y="1395308"/>
            <a:ext cx="16200000" cy="1169551"/>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0" b="1" i="0" u="none" strike="noStrike" kern="1200" cap="none" spc="0" normalizeH="0" baseline="0" noProof="0" dirty="0">
                <a:ln>
                  <a:noFill/>
                </a:ln>
                <a:solidFill>
                  <a:srgbClr val="002B11"/>
                </a:solidFill>
                <a:effectLst/>
                <a:uLnTx/>
                <a:uFillTx/>
                <a:latin typeface="Poppins Black"/>
                <a:ea typeface="+mn-ea"/>
                <a:cs typeface="Arial"/>
                <a:sym typeface="Arial"/>
              </a:rPr>
              <a:t>True or False?</a:t>
            </a:r>
          </a:p>
        </p:txBody>
      </p:sp>
      <p:sp>
        <p:nvSpPr>
          <p:cNvPr id="4" name="Rounded Rectangle 3"/>
          <p:cNvSpPr/>
          <p:nvPr/>
        </p:nvSpPr>
        <p:spPr>
          <a:xfrm>
            <a:off x="1000000" y="3048115"/>
            <a:ext cx="16280000" cy="2218544"/>
          </a:xfrm>
          <a:prstGeom prst="roundRect">
            <a:avLst/>
          </a:prstGeom>
          <a:solidFill>
            <a:srgbClr val="FFFFFF"/>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5" name="TextBox 4"/>
          <p:cNvSpPr txBox="1"/>
          <p:nvPr/>
        </p:nvSpPr>
        <p:spPr>
          <a:xfrm>
            <a:off x="1564165" y="3527990"/>
            <a:ext cx="14680000" cy="1323439"/>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If a property gets a Fraud Letter, it will not get a new Warning Letter for the next 90 days</a:t>
            </a:r>
            <a:endParaRPr kumimoji="0" sz="4000" b="1" i="0" u="none" strike="noStrike" kern="1200" cap="none" spc="0" normalizeH="0" baseline="0" noProof="0" dirty="0">
              <a:ln>
                <a:noFill/>
              </a:ln>
              <a:solidFill>
                <a:srgbClr val="002B11"/>
              </a:solidFill>
              <a:effectLst/>
              <a:uLnTx/>
              <a:uFillTx/>
              <a:latin typeface="Poppins" panose="00000500000000000000" pitchFamily="2" charset="0"/>
              <a:ea typeface="+mn-ea"/>
              <a:cs typeface="Poppins" panose="00000500000000000000" pitchFamily="2" charset="0"/>
              <a:sym typeface="Arial"/>
            </a:endParaRPr>
          </a:p>
        </p:txBody>
      </p:sp>
      <p:sp>
        <p:nvSpPr>
          <p:cNvPr id="7" name="Rectangle: Rounded Corners 6">
            <a:extLst>
              <a:ext uri="{FF2B5EF4-FFF2-40B4-BE49-F238E27FC236}">
                <a16:creationId xmlns:a16="http://schemas.microsoft.com/office/drawing/2014/main" id="{597AF034-BA1F-A326-423B-9CF6721F06FA}"/>
              </a:ext>
            </a:extLst>
          </p:cNvPr>
          <p:cNvSpPr/>
          <p:nvPr/>
        </p:nvSpPr>
        <p:spPr>
          <a:xfrm>
            <a:off x="1080725" y="5843242"/>
            <a:ext cx="3424009" cy="1248441"/>
          </a:xfrm>
          <a:prstGeom prst="roundRect">
            <a:avLst/>
          </a:prstGeom>
          <a:solidFill>
            <a:srgbClr val="002B11"/>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Rounded Corners 8">
            <a:extLst>
              <a:ext uri="{FF2B5EF4-FFF2-40B4-BE49-F238E27FC236}">
                <a16:creationId xmlns:a16="http://schemas.microsoft.com/office/drawing/2014/main" id="{272F48A3-5C19-D568-A2CC-70BAC16E2A50}"/>
              </a:ext>
            </a:extLst>
          </p:cNvPr>
          <p:cNvSpPr/>
          <p:nvPr/>
        </p:nvSpPr>
        <p:spPr>
          <a:xfrm>
            <a:off x="1156925" y="5948675"/>
            <a:ext cx="3424009" cy="1248441"/>
          </a:xfrm>
          <a:prstGeom prst="roundRect">
            <a:avLst/>
          </a:prstGeom>
          <a:ln>
            <a:solidFill>
              <a:srgbClr val="002B11"/>
            </a:solidFill>
          </a:ln>
          <a:effectLst>
            <a:outerShdw blurRad="50800" dist="38100" dir="5400000" algn="t"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2"/>
          <p:cNvSpPr txBox="1"/>
          <p:nvPr/>
        </p:nvSpPr>
        <p:spPr>
          <a:xfrm>
            <a:off x="2106928" y="6257424"/>
            <a:ext cx="1703071" cy="630942"/>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dirty="0">
                <a:ln>
                  <a:noFill/>
                </a:ln>
                <a:solidFill>
                  <a:srgbClr val="002B11"/>
                </a:solidFill>
                <a:effectLst/>
                <a:uLnTx/>
                <a:uFillTx/>
                <a:latin typeface="Poppins Black"/>
                <a:ea typeface="+mn-ea"/>
                <a:cs typeface="Arial"/>
                <a:sym typeface="Arial"/>
              </a:rPr>
              <a:t>TRUE</a:t>
            </a:r>
          </a:p>
        </p:txBody>
      </p:sp>
      <p:sp>
        <p:nvSpPr>
          <p:cNvPr id="16" name="TextBox 15">
            <a:extLst>
              <a:ext uri="{FF2B5EF4-FFF2-40B4-BE49-F238E27FC236}">
                <a16:creationId xmlns:a16="http://schemas.microsoft.com/office/drawing/2014/main" id="{075DA601-95A4-B730-921B-A096D5C46115}"/>
              </a:ext>
            </a:extLst>
          </p:cNvPr>
          <p:cNvSpPr txBox="1"/>
          <p:nvPr/>
        </p:nvSpPr>
        <p:spPr>
          <a:xfrm>
            <a:off x="6236970" y="6260630"/>
            <a:ext cx="1790700" cy="630942"/>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dirty="0">
                <a:ln>
                  <a:noFill/>
                </a:ln>
                <a:solidFill>
                  <a:srgbClr val="002B11"/>
                </a:solidFill>
                <a:effectLst/>
                <a:uLnTx/>
                <a:uFillTx/>
                <a:latin typeface="Poppins Black"/>
                <a:ea typeface="+mn-ea"/>
                <a:cs typeface="Arial"/>
                <a:sym typeface="Arial"/>
              </a:rPr>
              <a:t>FALSE</a:t>
            </a:r>
            <a:endParaRPr kumimoji="0" sz="3500" b="1" i="0" u="none" strike="noStrike" kern="1200" cap="none" spc="0" normalizeH="0" baseline="0" noProof="0" dirty="0">
              <a:ln>
                <a:noFill/>
              </a:ln>
              <a:solidFill>
                <a:srgbClr val="002B11"/>
              </a:solidFill>
              <a:effectLst/>
              <a:uLnTx/>
              <a:uFillTx/>
              <a:latin typeface="Poppins Black"/>
              <a:ea typeface="+mn-ea"/>
              <a:cs typeface="Arial"/>
              <a:sym typeface="Arial"/>
            </a:endParaRPr>
          </a:p>
        </p:txBody>
      </p:sp>
      <p:pic>
        <p:nvPicPr>
          <p:cNvPr id="19" name="Picture 18">
            <a:extLst>
              <a:ext uri="{FF2B5EF4-FFF2-40B4-BE49-F238E27FC236}">
                <a16:creationId xmlns:a16="http://schemas.microsoft.com/office/drawing/2014/main" id="{04771DE0-7BF9-E41C-7B90-9EE045B0D86D}"/>
              </a:ext>
            </a:extLst>
          </p:cNvPr>
          <p:cNvPicPr>
            <a:picLocks noChangeAspect="1"/>
          </p:cNvPicPr>
          <p:nvPr/>
        </p:nvPicPr>
        <p:blipFill>
          <a:blip r:embed="rId2"/>
          <a:srcRect l="60461" t="63789"/>
          <a:stretch>
            <a:fillRect/>
          </a:stretch>
        </p:blipFill>
        <p:spPr>
          <a:xfrm>
            <a:off x="15598551" y="3786881"/>
            <a:ext cx="1601449" cy="1747475"/>
          </a:xfrm>
          <a:prstGeom prst="rect">
            <a:avLst/>
          </a:prstGeom>
        </p:spPr>
      </p:pic>
      <p:pic>
        <p:nvPicPr>
          <p:cNvPr id="21" name="Picture 20">
            <a:extLst>
              <a:ext uri="{FF2B5EF4-FFF2-40B4-BE49-F238E27FC236}">
                <a16:creationId xmlns:a16="http://schemas.microsoft.com/office/drawing/2014/main" id="{0A0B5FB7-6759-74B4-462E-02A1ADAE39E3}"/>
              </a:ext>
            </a:extLst>
          </p:cNvPr>
          <p:cNvPicPr>
            <a:picLocks noChangeAspect="1"/>
          </p:cNvPicPr>
          <p:nvPr/>
        </p:nvPicPr>
        <p:blipFill>
          <a:blip r:embed="rId3"/>
          <a:srcRect l="64628" t="2587" b="65063"/>
          <a:stretch>
            <a:fillRect/>
          </a:stretch>
        </p:blipFill>
        <p:spPr>
          <a:xfrm>
            <a:off x="10695323" y="6368984"/>
            <a:ext cx="2036016" cy="2218544"/>
          </a:xfrm>
          <a:prstGeom prst="rect">
            <a:avLst/>
          </a:prstGeom>
        </p:spPr>
      </p:pic>
      <p:sp>
        <p:nvSpPr>
          <p:cNvPr id="22" name="Rectangle: Rounded Corners 21">
            <a:extLst>
              <a:ext uri="{FF2B5EF4-FFF2-40B4-BE49-F238E27FC236}">
                <a16:creationId xmlns:a16="http://schemas.microsoft.com/office/drawing/2014/main" id="{8CAA1E1D-84D5-A376-7198-6674888A462B}"/>
              </a:ext>
            </a:extLst>
          </p:cNvPr>
          <p:cNvSpPr/>
          <p:nvPr/>
        </p:nvSpPr>
        <p:spPr>
          <a:xfrm>
            <a:off x="12809657" y="6257424"/>
            <a:ext cx="4640143" cy="2467476"/>
          </a:xfrm>
          <a:prstGeom prst="roundRect">
            <a:avLst/>
          </a:prstGeom>
          <a:ln>
            <a:solidFill>
              <a:srgbClr val="002B11"/>
            </a:solidFill>
          </a:ln>
          <a:effectLst>
            <a:outerShdw blurRad="50800" dist="38100" dir="5400000" algn="t"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Box 23">
            <a:extLst>
              <a:ext uri="{FF2B5EF4-FFF2-40B4-BE49-F238E27FC236}">
                <a16:creationId xmlns:a16="http://schemas.microsoft.com/office/drawing/2014/main" id="{AF4755A6-EB97-F7EB-68D1-9F2206EBF22B}"/>
              </a:ext>
            </a:extLst>
          </p:cNvPr>
          <p:cNvSpPr txBox="1"/>
          <p:nvPr/>
        </p:nvSpPr>
        <p:spPr>
          <a:xfrm>
            <a:off x="13142480" y="6311683"/>
            <a:ext cx="3974496" cy="2246769"/>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The system automatically blocks new Warning Letters for 90 days after a Fraud Letter is sent</a:t>
            </a:r>
            <a:endParaRPr kumimoji="0" sz="2800" b="0" i="0" u="none" strike="noStrike" kern="1200" cap="none" spc="0" normalizeH="0" baseline="0" noProof="0" dirty="0">
              <a:ln>
                <a:noFill/>
              </a:ln>
              <a:solidFill>
                <a:srgbClr val="002B11"/>
              </a:solidFill>
              <a:effectLst/>
              <a:uLnTx/>
              <a:uFillTx/>
              <a:latin typeface="Poppins" panose="00000500000000000000" pitchFamily="2" charset="0"/>
              <a:ea typeface="+mn-ea"/>
              <a:cs typeface="Poppins" panose="00000500000000000000" pitchFamily="2" charset="0"/>
              <a:sym typeface="Arial"/>
            </a:endParaRPr>
          </a:p>
        </p:txBody>
      </p:sp>
      <p:sp>
        <p:nvSpPr>
          <p:cNvPr id="14" name="TextBox 13">
            <a:extLst>
              <a:ext uri="{FF2B5EF4-FFF2-40B4-BE49-F238E27FC236}">
                <a16:creationId xmlns:a16="http://schemas.microsoft.com/office/drawing/2014/main" id="{7FA60069-8C8A-3E82-31FA-2AB7B675E7EF}"/>
              </a:ext>
            </a:extLst>
          </p:cNvPr>
          <p:cNvSpPr txBox="1"/>
          <p:nvPr/>
        </p:nvSpPr>
        <p:spPr>
          <a:xfrm>
            <a:off x="600000" y="9727001"/>
            <a:ext cx="10000000" cy="30777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Tripadvisor</a:t>
            </a:r>
            <a:r>
              <a:rPr kumimoji="0" sz="1400" b="0" i="0" u="none" strike="noStrike" kern="1200" cap="none" spc="0" normalizeH="0" baseline="0" noProof="0" dirty="0">
                <a:ln>
                  <a:noFill/>
                </a:ln>
                <a:solidFill>
                  <a:srgbClr val="8A8272"/>
                </a:solidFill>
                <a:effectLst/>
                <a:uLnTx/>
                <a:uFillTx/>
                <a:latin typeface="Poppins"/>
                <a:ea typeface="+mn-ea"/>
                <a:cs typeface="Arial"/>
                <a:sym typeface="Arial"/>
              </a:rPr>
              <a:t> / </a:t>
            </a: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Fraud support</a:t>
            </a:r>
            <a:r>
              <a:rPr kumimoji="0" sz="1400" b="0" i="0" u="none" strike="noStrike" kern="1200" cap="none" spc="0" normalizeH="0" baseline="0" noProof="0" dirty="0">
                <a:ln>
                  <a:noFill/>
                </a:ln>
                <a:solidFill>
                  <a:srgbClr val="8A8272"/>
                </a:solidFill>
                <a:effectLst/>
                <a:uLnTx/>
                <a:uFillTx/>
                <a:latin typeface="Poppins"/>
                <a:ea typeface="+mn-ea"/>
                <a:cs typeface="Arial"/>
                <a:sym typeface="Arial"/>
              </a:rPr>
              <a:t> / </a:t>
            </a: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Knowledge check</a:t>
            </a:r>
            <a:endParaRPr kumimoji="0" sz="1400" b="0" i="0" u="none" strike="noStrike" kern="1200" cap="none" spc="0" normalizeH="0" baseline="0" noProof="0" dirty="0">
              <a:ln>
                <a:noFill/>
              </a:ln>
              <a:solidFill>
                <a:srgbClr val="8A8272"/>
              </a:solidFill>
              <a:effectLst/>
              <a:uLnTx/>
              <a:uFillTx/>
              <a:latin typeface="Poppins"/>
              <a:ea typeface="+mn-ea"/>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 presetClass="emph" presetSubtype="2" fill="hold" nodeType="withEffect">
                                  <p:stCondLst>
                                    <p:cond delay="0"/>
                                  </p:stCondLst>
                                  <p:childTnLst>
                                    <p:animClr clrSpc="rgb" dir="cw">
                                      <p:cBhvr>
                                        <p:cTn id="15" dur="2000" fill="hold"/>
                                        <p:tgtEl>
                                          <p:spTgt spid="9"/>
                                        </p:tgtEl>
                                        <p:attrNameLst>
                                          <p:attrName>fillcolor</p:attrName>
                                        </p:attrNameLst>
                                      </p:cBhvr>
                                      <p:to>
                                        <a:srgbClr val="00B050"/>
                                      </p:to>
                                    </p:animClr>
                                    <p:set>
                                      <p:cBhvr>
                                        <p:cTn id="16" dur="2000" fill="hold"/>
                                        <p:tgtEl>
                                          <p:spTgt spid="9"/>
                                        </p:tgtEl>
                                        <p:attrNameLst>
                                          <p:attrName>fill.type</p:attrName>
                                        </p:attrNameLst>
                                      </p:cBhvr>
                                      <p:to>
                                        <p:strVal val="solid"/>
                                      </p:to>
                                    </p:set>
                                    <p:set>
                                      <p:cBhvr>
                                        <p:cTn id="17" dur="2000" fill="hold"/>
                                        <p:tgtEl>
                                          <p:spTgt spid="9"/>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4"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997FF"/>
        </a:solidFill>
        <a:effectLst/>
      </p:bgPr>
    </p:bg>
    <p:spTree>
      <p:nvGrpSpPr>
        <p:cNvPr id="1" name="">
          <a:extLst>
            <a:ext uri="{FF2B5EF4-FFF2-40B4-BE49-F238E27FC236}">
              <a16:creationId xmlns:a16="http://schemas.microsoft.com/office/drawing/2014/main" id="{4DE5C996-C06F-BEA4-77C4-36F50F9E027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C286C99-F5E2-A3A0-D750-77110B95485F}"/>
              </a:ext>
            </a:extLst>
          </p:cNvPr>
          <p:cNvSpPr txBox="1"/>
          <p:nvPr/>
        </p:nvSpPr>
        <p:spPr>
          <a:xfrm>
            <a:off x="994557" y="511955"/>
            <a:ext cx="12000000" cy="43088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dirty="0">
                <a:ln>
                  <a:noFill/>
                </a:ln>
                <a:solidFill>
                  <a:srgbClr val="002B11"/>
                </a:solidFill>
                <a:effectLst/>
                <a:uLnTx/>
                <a:uFillTx/>
                <a:latin typeface="Poppins Black"/>
                <a:ea typeface="+mn-ea"/>
                <a:cs typeface="Arial"/>
                <a:sym typeface="Arial"/>
              </a:rPr>
              <a:t>KNOWLEDGE CHECK</a:t>
            </a:r>
          </a:p>
        </p:txBody>
      </p:sp>
      <p:sp>
        <p:nvSpPr>
          <p:cNvPr id="4" name="Rounded Rectangle 3">
            <a:extLst>
              <a:ext uri="{FF2B5EF4-FFF2-40B4-BE49-F238E27FC236}">
                <a16:creationId xmlns:a16="http://schemas.microsoft.com/office/drawing/2014/main" id="{F9876985-1358-AE9C-781C-11BFB24637CE}"/>
              </a:ext>
            </a:extLst>
          </p:cNvPr>
          <p:cNvSpPr/>
          <p:nvPr/>
        </p:nvSpPr>
        <p:spPr>
          <a:xfrm>
            <a:off x="1004000" y="1349948"/>
            <a:ext cx="16280000" cy="2075905"/>
          </a:xfrm>
          <a:prstGeom prst="roundRect">
            <a:avLst/>
          </a:prstGeom>
          <a:solidFill>
            <a:srgbClr val="FFFFFF"/>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5" name="TextBox 4">
            <a:extLst>
              <a:ext uri="{FF2B5EF4-FFF2-40B4-BE49-F238E27FC236}">
                <a16:creationId xmlns:a16="http://schemas.microsoft.com/office/drawing/2014/main" id="{6634576F-2249-980B-938F-1B789D69F5BC}"/>
              </a:ext>
            </a:extLst>
          </p:cNvPr>
          <p:cNvSpPr txBox="1"/>
          <p:nvPr/>
        </p:nvSpPr>
        <p:spPr>
          <a:xfrm>
            <a:off x="1510086" y="1680277"/>
            <a:ext cx="14680000" cy="1323439"/>
          </a:xfrm>
          <a:prstGeom prst="rect">
            <a:avLst/>
          </a:prstGeom>
          <a:noFill/>
        </p:spPr>
        <p:txBody>
          <a:bodyPr wrap="square" anchor="ctr">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What causes the system to automatically send a Warning Letter?</a:t>
            </a:r>
            <a:endParaRPr kumimoji="0" lang="en-US" sz="40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endParaRPr>
          </a:p>
        </p:txBody>
      </p:sp>
      <p:sp>
        <p:nvSpPr>
          <p:cNvPr id="11" name="TextBox 10">
            <a:extLst>
              <a:ext uri="{FF2B5EF4-FFF2-40B4-BE49-F238E27FC236}">
                <a16:creationId xmlns:a16="http://schemas.microsoft.com/office/drawing/2014/main" id="{BB0F5B3A-3075-74E9-09C2-D2681BF51CE0}"/>
              </a:ext>
            </a:extLst>
          </p:cNvPr>
          <p:cNvSpPr txBox="1"/>
          <p:nvPr/>
        </p:nvSpPr>
        <p:spPr>
          <a:xfrm>
            <a:off x="600000" y="9727001"/>
            <a:ext cx="10000000" cy="30777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Tripadvisor</a:t>
            </a:r>
            <a:r>
              <a:rPr kumimoji="0" sz="1400" b="0" i="0" u="none" strike="noStrike" kern="1200" cap="none" spc="0" normalizeH="0" baseline="0" noProof="0" dirty="0">
                <a:ln>
                  <a:noFill/>
                </a:ln>
                <a:solidFill>
                  <a:srgbClr val="8A8272"/>
                </a:solidFill>
                <a:effectLst/>
                <a:uLnTx/>
                <a:uFillTx/>
                <a:latin typeface="Poppins"/>
                <a:ea typeface="+mn-ea"/>
                <a:cs typeface="Arial"/>
                <a:sym typeface="Arial"/>
              </a:rPr>
              <a:t> / </a:t>
            </a: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Fraud support</a:t>
            </a:r>
            <a:r>
              <a:rPr kumimoji="0" sz="1400" b="0" i="0" u="none" strike="noStrike" kern="1200" cap="none" spc="0" normalizeH="0" baseline="0" noProof="0" dirty="0">
                <a:ln>
                  <a:noFill/>
                </a:ln>
                <a:solidFill>
                  <a:srgbClr val="8A8272"/>
                </a:solidFill>
                <a:effectLst/>
                <a:uLnTx/>
                <a:uFillTx/>
                <a:latin typeface="Poppins"/>
                <a:ea typeface="+mn-ea"/>
                <a:cs typeface="Arial"/>
                <a:sym typeface="Arial"/>
              </a:rPr>
              <a:t> / </a:t>
            </a: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Knowledge check</a:t>
            </a:r>
            <a:endParaRPr kumimoji="0" sz="1400" b="0" i="0" u="none" strike="noStrike" kern="1200" cap="none" spc="0" normalizeH="0" baseline="0" noProof="0" dirty="0">
              <a:ln>
                <a:noFill/>
              </a:ln>
              <a:solidFill>
                <a:srgbClr val="8A8272"/>
              </a:solidFill>
              <a:effectLst/>
              <a:uLnTx/>
              <a:uFillTx/>
              <a:latin typeface="Poppins"/>
              <a:ea typeface="+mn-ea"/>
              <a:cs typeface="Arial"/>
              <a:sym typeface="Arial"/>
            </a:endParaRPr>
          </a:p>
        </p:txBody>
      </p:sp>
      <p:sp>
        <p:nvSpPr>
          <p:cNvPr id="10" name="Rounded Rectangle 3">
            <a:extLst>
              <a:ext uri="{FF2B5EF4-FFF2-40B4-BE49-F238E27FC236}">
                <a16:creationId xmlns:a16="http://schemas.microsoft.com/office/drawing/2014/main" id="{DD4BF052-FAF6-0E41-BDC6-6F99F5BECB5F}"/>
              </a:ext>
            </a:extLst>
          </p:cNvPr>
          <p:cNvSpPr/>
          <p:nvPr/>
        </p:nvSpPr>
        <p:spPr>
          <a:xfrm>
            <a:off x="1004000" y="3837334"/>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14" name="TextBox 13">
            <a:extLst>
              <a:ext uri="{FF2B5EF4-FFF2-40B4-BE49-F238E27FC236}">
                <a16:creationId xmlns:a16="http://schemas.microsoft.com/office/drawing/2014/main" id="{B1BE0F51-3F24-8D89-EA78-565F77E02471}"/>
              </a:ext>
            </a:extLst>
          </p:cNvPr>
          <p:cNvSpPr txBox="1"/>
          <p:nvPr/>
        </p:nvSpPr>
        <p:spPr>
          <a:xfrm>
            <a:off x="1510086" y="4093417"/>
            <a:ext cx="14680000" cy="584775"/>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A customer leaves a bad 1-star review</a:t>
            </a:r>
            <a:endParaRPr kumimoji="0" sz="3200" b="0" i="0" u="none" strike="noStrike" kern="1200" cap="none" spc="0" normalizeH="0" baseline="0" noProof="0" dirty="0">
              <a:ln>
                <a:noFill/>
              </a:ln>
              <a:solidFill>
                <a:srgbClr val="002B11"/>
              </a:solidFill>
              <a:effectLst/>
              <a:uLnTx/>
              <a:uFillTx/>
              <a:latin typeface="Poppins" panose="00000500000000000000" pitchFamily="2" charset="0"/>
              <a:ea typeface="+mn-ea"/>
              <a:cs typeface="Poppins" panose="00000500000000000000" pitchFamily="2" charset="0"/>
              <a:sym typeface="Arial"/>
            </a:endParaRPr>
          </a:p>
        </p:txBody>
      </p:sp>
      <p:sp>
        <p:nvSpPr>
          <p:cNvPr id="16" name="Rounded Rectangle 3">
            <a:extLst>
              <a:ext uri="{FF2B5EF4-FFF2-40B4-BE49-F238E27FC236}">
                <a16:creationId xmlns:a16="http://schemas.microsoft.com/office/drawing/2014/main" id="{6D3E00C6-C5D8-2F90-8FD7-8C1102934DCD}"/>
              </a:ext>
            </a:extLst>
          </p:cNvPr>
          <p:cNvSpPr/>
          <p:nvPr/>
        </p:nvSpPr>
        <p:spPr>
          <a:xfrm>
            <a:off x="1004000" y="5203639"/>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 typeface="Arial"/>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18" name="TextBox 17">
            <a:extLst>
              <a:ext uri="{FF2B5EF4-FFF2-40B4-BE49-F238E27FC236}">
                <a16:creationId xmlns:a16="http://schemas.microsoft.com/office/drawing/2014/main" id="{0A9AC0D2-3111-F37D-751D-2058E62872F0}"/>
              </a:ext>
            </a:extLst>
          </p:cNvPr>
          <p:cNvSpPr txBox="1"/>
          <p:nvPr/>
        </p:nvSpPr>
        <p:spPr>
          <a:xfrm>
            <a:off x="1510086" y="5459721"/>
            <a:ext cx="14680000" cy="584775"/>
          </a:xfrm>
          <a:prstGeom prst="rect">
            <a:avLst/>
          </a:prstGeom>
          <a:noFill/>
        </p:spPr>
        <p:txBody>
          <a:bodyPr wrap="square" anchor="ctr">
            <a:spAutoFit/>
          </a:bodyPr>
          <a:lstStyle>
            <a:defPPr marR="0" lvl="0" algn="l" rtl="0">
              <a:lnSpc>
                <a:spcPct val="100000"/>
              </a:lnSpc>
              <a:spcBef>
                <a:spcPts val="0"/>
              </a:spcBef>
              <a:spcAft>
                <a:spcPts val="0"/>
              </a:spcAft>
            </a:defPPr>
            <a:lvl1pPr>
              <a:buClrTx/>
              <a:defRPr sz="3200" kern="1200">
                <a:solidFill>
                  <a:srgbClr val="002B11"/>
                </a:solidFill>
                <a:latin typeface="Poppins"/>
                <a:ea typeface="+mn-ea"/>
              </a:defRPr>
            </a:lvl1p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2B11"/>
                </a:solidFill>
                <a:effectLst/>
                <a:uLnTx/>
                <a:uFillTx/>
                <a:latin typeface="Poppins"/>
                <a:ea typeface="+mn-ea"/>
                <a:cs typeface="+mn-cs"/>
              </a:rPr>
              <a:t>The owner changes their business phone number</a:t>
            </a:r>
          </a:p>
        </p:txBody>
      </p:sp>
      <p:sp>
        <p:nvSpPr>
          <p:cNvPr id="20" name="Rounded Rectangle 3">
            <a:extLst>
              <a:ext uri="{FF2B5EF4-FFF2-40B4-BE49-F238E27FC236}">
                <a16:creationId xmlns:a16="http://schemas.microsoft.com/office/drawing/2014/main" id="{87FDF5CE-5CF7-33EF-0B3E-408610FE696F}"/>
              </a:ext>
            </a:extLst>
          </p:cNvPr>
          <p:cNvSpPr/>
          <p:nvPr/>
        </p:nvSpPr>
        <p:spPr>
          <a:xfrm>
            <a:off x="1000000" y="6569944"/>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 typeface="Arial"/>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22" name="TextBox 21">
            <a:extLst>
              <a:ext uri="{FF2B5EF4-FFF2-40B4-BE49-F238E27FC236}">
                <a16:creationId xmlns:a16="http://schemas.microsoft.com/office/drawing/2014/main" id="{DFEA8F93-03E6-D8FF-4C69-6EFDC44F9891}"/>
              </a:ext>
            </a:extLst>
          </p:cNvPr>
          <p:cNvSpPr txBox="1"/>
          <p:nvPr/>
        </p:nvSpPr>
        <p:spPr>
          <a:xfrm>
            <a:off x="1506086" y="6826026"/>
            <a:ext cx="14680000" cy="584775"/>
          </a:xfrm>
          <a:prstGeom prst="rect">
            <a:avLst/>
          </a:prstGeom>
          <a:noFill/>
        </p:spPr>
        <p:txBody>
          <a:bodyPr wrap="square" anchor="ctr">
            <a:spAutoFit/>
          </a:bodyPr>
          <a:lstStyle>
            <a:defPPr marR="0" lvl="0" algn="l" rtl="0">
              <a:lnSpc>
                <a:spcPct val="100000"/>
              </a:lnSpc>
              <a:spcBef>
                <a:spcPts val="0"/>
              </a:spcBef>
              <a:spcAft>
                <a:spcPts val="0"/>
              </a:spcAft>
              <a:defRPr/>
            </a:defPPr>
            <a:lvl1pPr>
              <a:buClrTx/>
              <a:defRPr sz="3200" kern="1200">
                <a:solidFill>
                  <a:srgbClr val="002B11"/>
                </a:solidFill>
                <a:latin typeface="Poppins"/>
                <a:ea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2B11"/>
                </a:solidFill>
                <a:effectLst/>
                <a:uLnTx/>
                <a:uFillTx/>
                <a:latin typeface="Poppins"/>
                <a:ea typeface="+mn-ea"/>
                <a:cs typeface="+mn-cs"/>
              </a:rPr>
              <a:t>3 fake or suspicious reviews are removed within 30 days</a:t>
            </a:r>
            <a:endParaRPr kumimoji="0" sz="3200" b="0" i="0" u="none" strike="noStrike" kern="1200" cap="none" spc="0" normalizeH="0" baseline="0" noProof="0" dirty="0">
              <a:ln>
                <a:noFill/>
              </a:ln>
              <a:solidFill>
                <a:srgbClr val="002B11"/>
              </a:solidFill>
              <a:effectLst/>
              <a:uLnTx/>
              <a:uFillTx/>
              <a:latin typeface="Poppins"/>
              <a:ea typeface="+mn-ea"/>
              <a:cs typeface="Arial"/>
              <a:sym typeface="Arial"/>
            </a:endParaRPr>
          </a:p>
        </p:txBody>
      </p:sp>
      <p:sp>
        <p:nvSpPr>
          <p:cNvPr id="24" name="Rounded Rectangle 3">
            <a:extLst>
              <a:ext uri="{FF2B5EF4-FFF2-40B4-BE49-F238E27FC236}">
                <a16:creationId xmlns:a16="http://schemas.microsoft.com/office/drawing/2014/main" id="{84864ACC-409E-3D74-8B7F-E545B0E90E76}"/>
              </a:ext>
            </a:extLst>
          </p:cNvPr>
          <p:cNvSpPr/>
          <p:nvPr/>
        </p:nvSpPr>
        <p:spPr>
          <a:xfrm>
            <a:off x="1000000" y="7949215"/>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 typeface="Arial"/>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26" name="TextBox 25">
            <a:extLst>
              <a:ext uri="{FF2B5EF4-FFF2-40B4-BE49-F238E27FC236}">
                <a16:creationId xmlns:a16="http://schemas.microsoft.com/office/drawing/2014/main" id="{5B811E85-0E75-D070-CCA5-F77DD6BA7FEE}"/>
              </a:ext>
            </a:extLst>
          </p:cNvPr>
          <p:cNvSpPr txBox="1"/>
          <p:nvPr/>
        </p:nvSpPr>
        <p:spPr>
          <a:xfrm>
            <a:off x="1506086" y="8205297"/>
            <a:ext cx="14680000" cy="584775"/>
          </a:xfrm>
          <a:prstGeom prst="rect">
            <a:avLst/>
          </a:prstGeom>
          <a:noFill/>
        </p:spPr>
        <p:txBody>
          <a:bodyPr wrap="square" anchor="ctr">
            <a:spAutoFit/>
          </a:bodyPr>
          <a:lstStyle>
            <a:defPPr marR="0" lvl="0" algn="l" rtl="0">
              <a:lnSpc>
                <a:spcPct val="100000"/>
              </a:lnSpc>
              <a:spcBef>
                <a:spcPts val="0"/>
              </a:spcBef>
              <a:spcAft>
                <a:spcPts val="0"/>
              </a:spcAft>
              <a:defRPr/>
            </a:defPPr>
            <a:lvl1pPr>
              <a:buClrTx/>
              <a:defRPr sz="3200" kern="1200">
                <a:solidFill>
                  <a:srgbClr val="002B11"/>
                </a:solidFill>
                <a:latin typeface="Poppins"/>
                <a:ea typeface="+mn-ea"/>
              </a:defRPr>
            </a:lvl1p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2B11"/>
                </a:solidFill>
                <a:effectLst/>
                <a:uLnTx/>
                <a:uFillTx/>
                <a:latin typeface="Poppins"/>
                <a:ea typeface="+mn-ea"/>
                <a:cs typeface="+mn-cs"/>
              </a:rPr>
              <a:t>The owner takes too long to reply to customer messages</a:t>
            </a:r>
          </a:p>
        </p:txBody>
      </p:sp>
      <p:pic>
        <p:nvPicPr>
          <p:cNvPr id="6" name="Picture 5">
            <a:extLst>
              <a:ext uri="{FF2B5EF4-FFF2-40B4-BE49-F238E27FC236}">
                <a16:creationId xmlns:a16="http://schemas.microsoft.com/office/drawing/2014/main" id="{E3CC7161-1B67-A922-3768-203C3CCA24C6}"/>
              </a:ext>
            </a:extLst>
          </p:cNvPr>
          <p:cNvPicPr>
            <a:picLocks noChangeAspect="1"/>
          </p:cNvPicPr>
          <p:nvPr/>
        </p:nvPicPr>
        <p:blipFill>
          <a:blip r:embed="rId2"/>
          <a:srcRect l="60461" t="63789"/>
          <a:stretch>
            <a:fillRect/>
          </a:stretch>
        </p:blipFill>
        <p:spPr>
          <a:xfrm>
            <a:off x="15687275" y="1935947"/>
            <a:ext cx="1601449" cy="1747475"/>
          </a:xfrm>
          <a:prstGeom prst="rect">
            <a:avLst/>
          </a:prstGeom>
        </p:spPr>
      </p:pic>
    </p:spTree>
    <p:extLst>
      <p:ext uri="{BB962C8B-B14F-4D97-AF65-F5344CB8AC3E}">
        <p14:creationId xmlns:p14="http://schemas.microsoft.com/office/powerpoint/2010/main" val="694765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grpId="0" nodeType="clickEffect">
                                  <p:stCondLst>
                                    <p:cond delay="0"/>
                                  </p:stCondLst>
                                  <p:childTnLst>
                                    <p:set>
                                      <p:cBhvr>
                                        <p:cTn id="6" dur="indefinite"/>
                                        <p:tgtEl>
                                          <p:spTgt spid="10"/>
                                        </p:tgtEl>
                                        <p:attrNameLst>
                                          <p:attrName>style.opacity</p:attrName>
                                        </p:attrNameLst>
                                      </p:cBhvr>
                                      <p:to>
                                        <p:strVal val="0.5"/>
                                      </p:to>
                                    </p:set>
                                    <p:animEffect filter="image" prLst="opacity: 0.5">
                                      <p:cBhvr rctx="IE">
                                        <p:cTn id="7" dur="indefinite"/>
                                        <p:tgtEl>
                                          <p:spTgt spid="10"/>
                                        </p:tgtEl>
                                      </p:cBhvr>
                                    </p:animEffect>
                                  </p:childTnLst>
                                </p:cTn>
                              </p:par>
                              <p:par>
                                <p:cTn id="8" presetID="1" presetClass="emph" presetSubtype="2" fill="hold" nodeType="withEffect">
                                  <p:stCondLst>
                                    <p:cond delay="0"/>
                                  </p:stCondLst>
                                  <p:childTnLst>
                                    <p:animClr clrSpc="rgb" dir="cw">
                                      <p:cBhvr>
                                        <p:cTn id="9" dur="2000" fill="hold"/>
                                        <p:tgtEl>
                                          <p:spTgt spid="20"/>
                                        </p:tgtEl>
                                        <p:attrNameLst>
                                          <p:attrName>fillcolor</p:attrName>
                                        </p:attrNameLst>
                                      </p:cBhvr>
                                      <p:to>
                                        <a:srgbClr val="00B050"/>
                                      </p:to>
                                    </p:animClr>
                                    <p:set>
                                      <p:cBhvr>
                                        <p:cTn id="10" dur="2000" fill="hold"/>
                                        <p:tgtEl>
                                          <p:spTgt spid="20"/>
                                        </p:tgtEl>
                                        <p:attrNameLst>
                                          <p:attrName>fill.type</p:attrName>
                                        </p:attrNameLst>
                                      </p:cBhvr>
                                      <p:to>
                                        <p:strVal val="solid"/>
                                      </p:to>
                                    </p:set>
                                    <p:set>
                                      <p:cBhvr>
                                        <p:cTn id="11" dur="2000" fill="hold"/>
                                        <p:tgtEl>
                                          <p:spTgt spid="20"/>
                                        </p:tgtEl>
                                        <p:attrNameLst>
                                          <p:attrName>fill.on</p:attrName>
                                        </p:attrNameLst>
                                      </p:cBhvr>
                                      <p:to>
                                        <p:strVal val="true"/>
                                      </p:to>
                                    </p:set>
                                  </p:childTnLst>
                                </p:cTn>
                              </p:par>
                              <p:par>
                                <p:cTn id="12" presetID="9" presetClass="emph" presetSubtype="0" grpId="0" nodeType="withEffect">
                                  <p:stCondLst>
                                    <p:cond delay="0"/>
                                  </p:stCondLst>
                                  <p:childTnLst>
                                    <p:set>
                                      <p:cBhvr>
                                        <p:cTn id="13" dur="indefinite"/>
                                        <p:tgtEl>
                                          <p:spTgt spid="24"/>
                                        </p:tgtEl>
                                        <p:attrNameLst>
                                          <p:attrName>style.opacity</p:attrName>
                                        </p:attrNameLst>
                                      </p:cBhvr>
                                      <p:to>
                                        <p:strVal val="0.5"/>
                                      </p:to>
                                    </p:set>
                                    <p:animEffect filter="image" prLst="opacity: 0.5">
                                      <p:cBhvr rctx="IE">
                                        <p:cTn id="14" dur="indefinite"/>
                                        <p:tgtEl>
                                          <p:spTgt spid="24"/>
                                        </p:tgtEl>
                                      </p:cBhvr>
                                    </p:animEffect>
                                  </p:childTnLst>
                                </p:cTn>
                              </p:par>
                              <p:par>
                                <p:cTn id="15" presetID="9" presetClass="emph" presetSubtype="0" grpId="0" nodeType="withEffect">
                                  <p:stCondLst>
                                    <p:cond delay="0"/>
                                  </p:stCondLst>
                                  <p:childTnLst>
                                    <p:set>
                                      <p:cBhvr>
                                        <p:cTn id="16" dur="indefinite"/>
                                        <p:tgtEl>
                                          <p:spTgt spid="16"/>
                                        </p:tgtEl>
                                        <p:attrNameLst>
                                          <p:attrName>style.opacity</p:attrName>
                                        </p:attrNameLst>
                                      </p:cBhvr>
                                      <p:to>
                                        <p:strVal val="0.5"/>
                                      </p:to>
                                    </p:set>
                                    <p:animEffect filter="image" prLst="opacity: 0.5">
                                      <p:cBhvr rctx="IE">
                                        <p:cTn id="17" dur="indefinite"/>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6" grpId="0" animBg="1"/>
      <p:bldP spid="2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997FF"/>
        </a:solidFill>
        <a:effectLst/>
      </p:bgPr>
    </p:bg>
    <p:spTree>
      <p:nvGrpSpPr>
        <p:cNvPr id="1" name="">
          <a:extLst>
            <a:ext uri="{FF2B5EF4-FFF2-40B4-BE49-F238E27FC236}">
              <a16:creationId xmlns:a16="http://schemas.microsoft.com/office/drawing/2014/main" id="{F941567F-D9AA-E82F-A4B9-F85C49E6C88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84B57CC-E02A-F2CD-7082-75A1E10E8409}"/>
              </a:ext>
            </a:extLst>
          </p:cNvPr>
          <p:cNvSpPr txBox="1"/>
          <p:nvPr/>
        </p:nvSpPr>
        <p:spPr>
          <a:xfrm>
            <a:off x="994557" y="511955"/>
            <a:ext cx="12000000" cy="43088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dirty="0">
                <a:ln>
                  <a:noFill/>
                </a:ln>
                <a:solidFill>
                  <a:srgbClr val="002B11"/>
                </a:solidFill>
                <a:effectLst/>
                <a:uLnTx/>
                <a:uFillTx/>
                <a:latin typeface="Poppins Black"/>
                <a:ea typeface="+mn-ea"/>
                <a:cs typeface="Arial"/>
                <a:sym typeface="Arial"/>
              </a:rPr>
              <a:t>KNOWLEDGE CHECK</a:t>
            </a:r>
          </a:p>
        </p:txBody>
      </p:sp>
      <p:sp>
        <p:nvSpPr>
          <p:cNvPr id="4" name="Rounded Rectangle 3">
            <a:extLst>
              <a:ext uri="{FF2B5EF4-FFF2-40B4-BE49-F238E27FC236}">
                <a16:creationId xmlns:a16="http://schemas.microsoft.com/office/drawing/2014/main" id="{C5A5C98E-1D42-864E-8431-E54AC1BA30C3}"/>
              </a:ext>
            </a:extLst>
          </p:cNvPr>
          <p:cNvSpPr/>
          <p:nvPr/>
        </p:nvSpPr>
        <p:spPr>
          <a:xfrm>
            <a:off x="1004000" y="1349948"/>
            <a:ext cx="16280000" cy="2075905"/>
          </a:xfrm>
          <a:prstGeom prst="roundRect">
            <a:avLst/>
          </a:prstGeom>
          <a:solidFill>
            <a:srgbClr val="FFFFFF"/>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5" name="TextBox 4">
            <a:extLst>
              <a:ext uri="{FF2B5EF4-FFF2-40B4-BE49-F238E27FC236}">
                <a16:creationId xmlns:a16="http://schemas.microsoft.com/office/drawing/2014/main" id="{8DA67A14-E9C7-9146-A1EB-73D335086C5B}"/>
              </a:ext>
            </a:extLst>
          </p:cNvPr>
          <p:cNvSpPr txBox="1"/>
          <p:nvPr/>
        </p:nvSpPr>
        <p:spPr>
          <a:xfrm>
            <a:off x="1510086" y="1680277"/>
            <a:ext cx="14680000" cy="1323439"/>
          </a:xfrm>
          <a:prstGeom prst="rect">
            <a:avLst/>
          </a:prstGeom>
          <a:noFill/>
        </p:spPr>
        <p:txBody>
          <a:bodyPr wrap="square" anchor="ctr">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Which of these bad behaviors requires an agent to send a Fraud Letter manually?</a:t>
            </a:r>
            <a:endParaRPr kumimoji="0" lang="en-US" sz="40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endParaRPr>
          </a:p>
        </p:txBody>
      </p:sp>
      <p:sp>
        <p:nvSpPr>
          <p:cNvPr id="11" name="TextBox 10">
            <a:extLst>
              <a:ext uri="{FF2B5EF4-FFF2-40B4-BE49-F238E27FC236}">
                <a16:creationId xmlns:a16="http://schemas.microsoft.com/office/drawing/2014/main" id="{D781D288-D57E-E2C1-96E2-A5C2914D61FC}"/>
              </a:ext>
            </a:extLst>
          </p:cNvPr>
          <p:cNvSpPr txBox="1"/>
          <p:nvPr/>
        </p:nvSpPr>
        <p:spPr>
          <a:xfrm>
            <a:off x="600000" y="9727001"/>
            <a:ext cx="10000000" cy="30777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Tripadvisor</a:t>
            </a:r>
            <a:r>
              <a:rPr kumimoji="0" sz="1400" b="0" i="0" u="none" strike="noStrike" kern="1200" cap="none" spc="0" normalizeH="0" baseline="0" noProof="0" dirty="0">
                <a:ln>
                  <a:noFill/>
                </a:ln>
                <a:solidFill>
                  <a:srgbClr val="8A8272"/>
                </a:solidFill>
                <a:effectLst/>
                <a:uLnTx/>
                <a:uFillTx/>
                <a:latin typeface="Poppins"/>
                <a:ea typeface="+mn-ea"/>
                <a:cs typeface="Arial"/>
                <a:sym typeface="Arial"/>
              </a:rPr>
              <a:t> / </a:t>
            </a: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Fraud support</a:t>
            </a:r>
            <a:r>
              <a:rPr kumimoji="0" sz="1400" b="0" i="0" u="none" strike="noStrike" kern="1200" cap="none" spc="0" normalizeH="0" baseline="0" noProof="0" dirty="0">
                <a:ln>
                  <a:noFill/>
                </a:ln>
                <a:solidFill>
                  <a:srgbClr val="8A8272"/>
                </a:solidFill>
                <a:effectLst/>
                <a:uLnTx/>
                <a:uFillTx/>
                <a:latin typeface="Poppins"/>
                <a:ea typeface="+mn-ea"/>
                <a:cs typeface="Arial"/>
                <a:sym typeface="Arial"/>
              </a:rPr>
              <a:t> / </a:t>
            </a: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Knowledge check</a:t>
            </a:r>
            <a:endParaRPr kumimoji="0" sz="1400" b="0" i="0" u="none" strike="noStrike" kern="1200" cap="none" spc="0" normalizeH="0" baseline="0" noProof="0" dirty="0">
              <a:ln>
                <a:noFill/>
              </a:ln>
              <a:solidFill>
                <a:srgbClr val="8A8272"/>
              </a:solidFill>
              <a:effectLst/>
              <a:uLnTx/>
              <a:uFillTx/>
              <a:latin typeface="Poppins"/>
              <a:ea typeface="+mn-ea"/>
              <a:cs typeface="Arial"/>
              <a:sym typeface="Arial"/>
            </a:endParaRPr>
          </a:p>
        </p:txBody>
      </p:sp>
      <p:sp>
        <p:nvSpPr>
          <p:cNvPr id="10" name="Rounded Rectangle 3">
            <a:extLst>
              <a:ext uri="{FF2B5EF4-FFF2-40B4-BE49-F238E27FC236}">
                <a16:creationId xmlns:a16="http://schemas.microsoft.com/office/drawing/2014/main" id="{C28058B8-3C2C-C640-09AD-263BF017B185}"/>
              </a:ext>
            </a:extLst>
          </p:cNvPr>
          <p:cNvSpPr/>
          <p:nvPr/>
        </p:nvSpPr>
        <p:spPr>
          <a:xfrm>
            <a:off x="1004000" y="3837334"/>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14" name="TextBox 13">
            <a:extLst>
              <a:ext uri="{FF2B5EF4-FFF2-40B4-BE49-F238E27FC236}">
                <a16:creationId xmlns:a16="http://schemas.microsoft.com/office/drawing/2014/main" id="{7267CA56-FA5B-9712-4073-17DA7ED95149}"/>
              </a:ext>
            </a:extLst>
          </p:cNvPr>
          <p:cNvSpPr txBox="1"/>
          <p:nvPr/>
        </p:nvSpPr>
        <p:spPr>
          <a:xfrm>
            <a:off x="1510086" y="4093417"/>
            <a:ext cx="14680000" cy="584775"/>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Updating the property description</a:t>
            </a:r>
            <a:endParaRPr kumimoji="0" sz="3200" b="0" i="0" u="none" strike="noStrike" kern="1200" cap="none" spc="0" normalizeH="0" baseline="0" noProof="0" dirty="0">
              <a:ln>
                <a:noFill/>
              </a:ln>
              <a:solidFill>
                <a:srgbClr val="002B11"/>
              </a:solidFill>
              <a:effectLst/>
              <a:uLnTx/>
              <a:uFillTx/>
              <a:latin typeface="Poppins" panose="00000500000000000000" pitchFamily="2" charset="0"/>
              <a:ea typeface="+mn-ea"/>
              <a:cs typeface="Poppins" panose="00000500000000000000" pitchFamily="2" charset="0"/>
              <a:sym typeface="Arial"/>
            </a:endParaRPr>
          </a:p>
        </p:txBody>
      </p:sp>
      <p:sp>
        <p:nvSpPr>
          <p:cNvPr id="16" name="Rounded Rectangle 3">
            <a:extLst>
              <a:ext uri="{FF2B5EF4-FFF2-40B4-BE49-F238E27FC236}">
                <a16:creationId xmlns:a16="http://schemas.microsoft.com/office/drawing/2014/main" id="{94FBB77D-AA11-4061-2E66-6310A2CE7895}"/>
              </a:ext>
            </a:extLst>
          </p:cNvPr>
          <p:cNvSpPr/>
          <p:nvPr/>
        </p:nvSpPr>
        <p:spPr>
          <a:xfrm>
            <a:off x="1004000" y="5203639"/>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 typeface="Arial"/>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18" name="TextBox 17">
            <a:extLst>
              <a:ext uri="{FF2B5EF4-FFF2-40B4-BE49-F238E27FC236}">
                <a16:creationId xmlns:a16="http://schemas.microsoft.com/office/drawing/2014/main" id="{BDCFF718-33FA-1A82-8820-81A02392C404}"/>
              </a:ext>
            </a:extLst>
          </p:cNvPr>
          <p:cNvSpPr txBox="1"/>
          <p:nvPr/>
        </p:nvSpPr>
        <p:spPr>
          <a:xfrm>
            <a:off x="1510086" y="5459722"/>
            <a:ext cx="14680000" cy="584775"/>
          </a:xfrm>
          <a:prstGeom prst="rect">
            <a:avLst/>
          </a:prstGeom>
          <a:noFill/>
        </p:spPr>
        <p:txBody>
          <a:bodyPr wrap="square" anchor="ctr">
            <a:spAutoFit/>
          </a:bodyPr>
          <a:lstStyle>
            <a:defPPr marR="0" lvl="0" algn="l" rtl="0">
              <a:lnSpc>
                <a:spcPct val="100000"/>
              </a:lnSpc>
              <a:spcBef>
                <a:spcPts val="0"/>
              </a:spcBef>
              <a:spcAft>
                <a:spcPts val="0"/>
              </a:spcAft>
            </a:defPPr>
            <a:lvl1pPr>
              <a:buClrTx/>
              <a:defRPr sz="3200" kern="1200">
                <a:solidFill>
                  <a:srgbClr val="002B11"/>
                </a:solidFill>
                <a:latin typeface="Poppins"/>
                <a:ea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2B11"/>
                </a:solidFill>
                <a:effectLst/>
                <a:uLnTx/>
                <a:uFillTx/>
                <a:latin typeface="Poppins"/>
                <a:ea typeface="+mn-ea"/>
                <a:cs typeface="+mn-cs"/>
              </a:rPr>
              <a:t>Bullying</a:t>
            </a:r>
            <a:endParaRPr kumimoji="0" sz="3200" b="0" i="0" u="none" strike="noStrike" kern="1200" cap="none" spc="0" normalizeH="0" baseline="0" noProof="0" dirty="0">
              <a:ln>
                <a:noFill/>
              </a:ln>
              <a:solidFill>
                <a:srgbClr val="002B11"/>
              </a:solidFill>
              <a:effectLst/>
              <a:uLnTx/>
              <a:uFillTx/>
              <a:latin typeface="Poppins"/>
              <a:ea typeface="+mn-ea"/>
              <a:cs typeface="Arial"/>
              <a:sym typeface="Arial"/>
            </a:endParaRPr>
          </a:p>
        </p:txBody>
      </p:sp>
      <p:sp>
        <p:nvSpPr>
          <p:cNvPr id="20" name="Rounded Rectangle 3">
            <a:extLst>
              <a:ext uri="{FF2B5EF4-FFF2-40B4-BE49-F238E27FC236}">
                <a16:creationId xmlns:a16="http://schemas.microsoft.com/office/drawing/2014/main" id="{8C776BE4-B1F0-CDF2-1607-AC5664AA46C1}"/>
              </a:ext>
            </a:extLst>
          </p:cNvPr>
          <p:cNvSpPr/>
          <p:nvPr/>
        </p:nvSpPr>
        <p:spPr>
          <a:xfrm>
            <a:off x="1000000" y="6569944"/>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 typeface="Arial"/>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22" name="TextBox 21">
            <a:extLst>
              <a:ext uri="{FF2B5EF4-FFF2-40B4-BE49-F238E27FC236}">
                <a16:creationId xmlns:a16="http://schemas.microsoft.com/office/drawing/2014/main" id="{D5B5EA38-2745-0046-576C-D4C96EBC4D76}"/>
              </a:ext>
            </a:extLst>
          </p:cNvPr>
          <p:cNvSpPr txBox="1"/>
          <p:nvPr/>
        </p:nvSpPr>
        <p:spPr>
          <a:xfrm>
            <a:off x="1506086" y="6826026"/>
            <a:ext cx="14680000" cy="584775"/>
          </a:xfrm>
          <a:prstGeom prst="rect">
            <a:avLst/>
          </a:prstGeom>
          <a:noFill/>
        </p:spPr>
        <p:txBody>
          <a:bodyPr wrap="square" anchor="ctr">
            <a:spAutoFit/>
          </a:bodyPr>
          <a:lstStyle>
            <a:defPPr marR="0" lvl="0" algn="l" rtl="0">
              <a:lnSpc>
                <a:spcPct val="100000"/>
              </a:lnSpc>
              <a:spcBef>
                <a:spcPts val="0"/>
              </a:spcBef>
              <a:spcAft>
                <a:spcPts val="0"/>
              </a:spcAft>
              <a:defRPr/>
            </a:defPPr>
            <a:lvl1pPr>
              <a:buClrTx/>
              <a:defRPr sz="3200" kern="1200">
                <a:solidFill>
                  <a:srgbClr val="002B11"/>
                </a:solidFill>
                <a:latin typeface="Poppins"/>
                <a:ea typeface="+mn-ea"/>
              </a:defRPr>
            </a:lvl1p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2B11"/>
                </a:solidFill>
                <a:effectLst/>
                <a:uLnTx/>
                <a:uFillTx/>
                <a:latin typeface="Poppins"/>
                <a:ea typeface="+mn-ea"/>
                <a:cs typeface="+mn-cs"/>
              </a:rPr>
              <a:t>Changing the profile photo</a:t>
            </a:r>
          </a:p>
        </p:txBody>
      </p:sp>
      <p:sp>
        <p:nvSpPr>
          <p:cNvPr id="24" name="Rounded Rectangle 3">
            <a:extLst>
              <a:ext uri="{FF2B5EF4-FFF2-40B4-BE49-F238E27FC236}">
                <a16:creationId xmlns:a16="http://schemas.microsoft.com/office/drawing/2014/main" id="{76BDE537-8E1B-2C82-FB9E-6AB680D5CA68}"/>
              </a:ext>
            </a:extLst>
          </p:cNvPr>
          <p:cNvSpPr/>
          <p:nvPr/>
        </p:nvSpPr>
        <p:spPr>
          <a:xfrm>
            <a:off x="1000000" y="7995677"/>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 typeface="Arial"/>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26" name="TextBox 25">
            <a:extLst>
              <a:ext uri="{FF2B5EF4-FFF2-40B4-BE49-F238E27FC236}">
                <a16:creationId xmlns:a16="http://schemas.microsoft.com/office/drawing/2014/main" id="{A39F6B56-38A5-CC7D-3504-939FDFBCB659}"/>
              </a:ext>
            </a:extLst>
          </p:cNvPr>
          <p:cNvSpPr txBox="1"/>
          <p:nvPr/>
        </p:nvSpPr>
        <p:spPr>
          <a:xfrm>
            <a:off x="1506086" y="8205297"/>
            <a:ext cx="14680000" cy="584775"/>
          </a:xfrm>
          <a:prstGeom prst="rect">
            <a:avLst/>
          </a:prstGeom>
          <a:noFill/>
        </p:spPr>
        <p:txBody>
          <a:bodyPr wrap="square" anchor="ctr">
            <a:spAutoFit/>
          </a:bodyPr>
          <a:lstStyle>
            <a:defPPr marR="0" lvl="0" algn="l" rtl="0">
              <a:lnSpc>
                <a:spcPct val="100000"/>
              </a:lnSpc>
              <a:spcBef>
                <a:spcPts val="0"/>
              </a:spcBef>
              <a:spcAft>
                <a:spcPts val="0"/>
              </a:spcAft>
              <a:defRPr/>
            </a:defPPr>
            <a:lvl1pPr>
              <a:buClrTx/>
              <a:defRPr sz="3200" kern="1200">
                <a:solidFill>
                  <a:srgbClr val="002B11"/>
                </a:solidFill>
                <a:latin typeface="Poppins"/>
                <a:ea typeface="+mn-ea"/>
              </a:defRPr>
            </a:lvl1p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2B11"/>
                </a:solidFill>
                <a:effectLst/>
                <a:uLnTx/>
                <a:uFillTx/>
                <a:latin typeface="Poppins"/>
                <a:ea typeface="+mn-ea"/>
                <a:cs typeface="+mn-cs"/>
              </a:rPr>
              <a:t> Fixing a typos in an address</a:t>
            </a:r>
          </a:p>
        </p:txBody>
      </p:sp>
      <p:pic>
        <p:nvPicPr>
          <p:cNvPr id="6" name="Picture 5">
            <a:extLst>
              <a:ext uri="{FF2B5EF4-FFF2-40B4-BE49-F238E27FC236}">
                <a16:creationId xmlns:a16="http://schemas.microsoft.com/office/drawing/2014/main" id="{696BD397-AB38-988A-9076-9EED6F7D3601}"/>
              </a:ext>
            </a:extLst>
          </p:cNvPr>
          <p:cNvPicPr>
            <a:picLocks noChangeAspect="1"/>
          </p:cNvPicPr>
          <p:nvPr/>
        </p:nvPicPr>
        <p:blipFill>
          <a:blip r:embed="rId2"/>
          <a:srcRect l="60461" t="63789"/>
          <a:stretch>
            <a:fillRect/>
          </a:stretch>
        </p:blipFill>
        <p:spPr>
          <a:xfrm>
            <a:off x="15687275" y="1935947"/>
            <a:ext cx="1601449" cy="1747475"/>
          </a:xfrm>
          <a:prstGeom prst="rect">
            <a:avLst/>
          </a:prstGeom>
        </p:spPr>
      </p:pic>
    </p:spTree>
    <p:extLst>
      <p:ext uri="{BB962C8B-B14F-4D97-AF65-F5344CB8AC3E}">
        <p14:creationId xmlns:p14="http://schemas.microsoft.com/office/powerpoint/2010/main" val="2444666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grpId="0" nodeType="clickEffect">
                                  <p:stCondLst>
                                    <p:cond delay="0"/>
                                  </p:stCondLst>
                                  <p:childTnLst>
                                    <p:set>
                                      <p:cBhvr>
                                        <p:cTn id="6" dur="indefinite"/>
                                        <p:tgtEl>
                                          <p:spTgt spid="10"/>
                                        </p:tgtEl>
                                        <p:attrNameLst>
                                          <p:attrName>style.opacity</p:attrName>
                                        </p:attrNameLst>
                                      </p:cBhvr>
                                      <p:to>
                                        <p:strVal val="0.5"/>
                                      </p:to>
                                    </p:set>
                                    <p:animEffect filter="image" prLst="opacity: 0.5">
                                      <p:cBhvr rctx="IE">
                                        <p:cTn id="7" dur="indefinite"/>
                                        <p:tgtEl>
                                          <p:spTgt spid="10"/>
                                        </p:tgtEl>
                                      </p:cBhvr>
                                    </p:animEffect>
                                  </p:childTnLst>
                                </p:cTn>
                              </p:par>
                              <p:par>
                                <p:cTn id="8" presetID="9" presetClass="emph" presetSubtype="0" nodeType="withEffect">
                                  <p:stCondLst>
                                    <p:cond delay="0"/>
                                  </p:stCondLst>
                                  <p:childTnLst>
                                    <p:set>
                                      <p:cBhvr>
                                        <p:cTn id="9" dur="indefinite"/>
                                        <p:tgtEl>
                                          <p:spTgt spid="20"/>
                                        </p:tgtEl>
                                        <p:attrNameLst>
                                          <p:attrName>style.opacity</p:attrName>
                                        </p:attrNameLst>
                                      </p:cBhvr>
                                      <p:to>
                                        <p:strVal val="0.5"/>
                                      </p:to>
                                    </p:set>
                                    <p:animEffect filter="image" prLst="opacity: 0.5">
                                      <p:cBhvr rctx="IE">
                                        <p:cTn id="10" dur="indefinite"/>
                                        <p:tgtEl>
                                          <p:spTgt spid="20"/>
                                        </p:tgtEl>
                                      </p:cBhvr>
                                    </p:animEffect>
                                  </p:childTnLst>
                                </p:cTn>
                              </p:par>
                              <p:par>
                                <p:cTn id="11" presetID="9" presetClass="emph" presetSubtype="0" grpId="0" nodeType="withEffect">
                                  <p:stCondLst>
                                    <p:cond delay="0"/>
                                  </p:stCondLst>
                                  <p:childTnLst>
                                    <p:set>
                                      <p:cBhvr>
                                        <p:cTn id="12" dur="indefinite"/>
                                        <p:tgtEl>
                                          <p:spTgt spid="24"/>
                                        </p:tgtEl>
                                        <p:attrNameLst>
                                          <p:attrName>style.opacity</p:attrName>
                                        </p:attrNameLst>
                                      </p:cBhvr>
                                      <p:to>
                                        <p:strVal val="0.5"/>
                                      </p:to>
                                    </p:set>
                                    <p:animEffect filter="image" prLst="opacity: 0.5">
                                      <p:cBhvr rctx="IE">
                                        <p:cTn id="13" dur="indefinite"/>
                                        <p:tgtEl>
                                          <p:spTgt spid="24"/>
                                        </p:tgtEl>
                                      </p:cBhvr>
                                    </p:animEffect>
                                  </p:childTnLst>
                                </p:cTn>
                              </p:par>
                              <p:par>
                                <p:cTn id="14" presetID="1" presetClass="emph" presetSubtype="2" fill="hold" grpId="0" nodeType="withEffect">
                                  <p:stCondLst>
                                    <p:cond delay="0"/>
                                  </p:stCondLst>
                                  <p:childTnLst>
                                    <p:animClr clrSpc="rgb" dir="cw">
                                      <p:cBhvr>
                                        <p:cTn id="15" dur="2000" fill="hold"/>
                                        <p:tgtEl>
                                          <p:spTgt spid="16"/>
                                        </p:tgtEl>
                                        <p:attrNameLst>
                                          <p:attrName>fillcolor</p:attrName>
                                        </p:attrNameLst>
                                      </p:cBhvr>
                                      <p:to>
                                        <a:srgbClr val="00B050"/>
                                      </p:to>
                                    </p:animClr>
                                    <p:set>
                                      <p:cBhvr>
                                        <p:cTn id="16" dur="2000" fill="hold"/>
                                        <p:tgtEl>
                                          <p:spTgt spid="16"/>
                                        </p:tgtEl>
                                        <p:attrNameLst>
                                          <p:attrName>fill.type</p:attrName>
                                        </p:attrNameLst>
                                      </p:cBhvr>
                                      <p:to>
                                        <p:strVal val="solid"/>
                                      </p:to>
                                    </p:set>
                                    <p:set>
                                      <p:cBhvr>
                                        <p:cTn id="17" dur="2000" fill="hold"/>
                                        <p:tgtEl>
                                          <p:spTgt spid="16"/>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6" grpId="0" animBg="1"/>
      <p:bldP spid="2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23EEBE"/>
        </a:solidFill>
        <a:effectLst/>
      </p:bgPr>
    </p:bg>
    <p:spTree>
      <p:nvGrpSpPr>
        <p:cNvPr id="1" name="">
          <a:extLst>
            <a:ext uri="{FF2B5EF4-FFF2-40B4-BE49-F238E27FC236}">
              <a16:creationId xmlns:a16="http://schemas.microsoft.com/office/drawing/2014/main" id="{DE33CEC7-4409-45E8-2741-21B29F67A741}"/>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D971B695-DE8C-0C8F-A5FF-A998D449B406}"/>
              </a:ext>
            </a:extLst>
          </p:cNvPr>
          <p:cNvSpPr/>
          <p:nvPr/>
        </p:nvSpPr>
        <p:spPr>
          <a:xfrm>
            <a:off x="5249895" y="5895958"/>
            <a:ext cx="3424009" cy="1248441"/>
          </a:xfrm>
          <a:prstGeom prst="roundRect">
            <a:avLst/>
          </a:prstGeom>
          <a:solidFill>
            <a:srgbClr val="002B11"/>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Rounded Corners 16">
            <a:extLst>
              <a:ext uri="{FF2B5EF4-FFF2-40B4-BE49-F238E27FC236}">
                <a16:creationId xmlns:a16="http://schemas.microsoft.com/office/drawing/2014/main" id="{109858E9-4881-FFFB-8A82-880BBDD0E1A7}"/>
              </a:ext>
            </a:extLst>
          </p:cNvPr>
          <p:cNvSpPr/>
          <p:nvPr/>
        </p:nvSpPr>
        <p:spPr>
          <a:xfrm>
            <a:off x="5326095" y="6001391"/>
            <a:ext cx="3424009" cy="1248441"/>
          </a:xfrm>
          <a:prstGeom prst="roundRect">
            <a:avLst/>
          </a:prstGeom>
          <a:ln>
            <a:solidFill>
              <a:srgbClr val="002B11"/>
            </a:solidFill>
          </a:ln>
          <a:effectLst>
            <a:outerShdw blurRad="50800" dist="38100" dir="5400000" algn="t"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 name="TextBox 1">
            <a:extLst>
              <a:ext uri="{FF2B5EF4-FFF2-40B4-BE49-F238E27FC236}">
                <a16:creationId xmlns:a16="http://schemas.microsoft.com/office/drawing/2014/main" id="{721541B6-2A66-540D-D709-69A44582FCE4}"/>
              </a:ext>
            </a:extLst>
          </p:cNvPr>
          <p:cNvSpPr txBox="1"/>
          <p:nvPr/>
        </p:nvSpPr>
        <p:spPr>
          <a:xfrm>
            <a:off x="1000000" y="700001"/>
            <a:ext cx="12000000" cy="43088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dirty="0">
                <a:ln>
                  <a:noFill/>
                </a:ln>
                <a:solidFill>
                  <a:srgbClr val="002B11"/>
                </a:solidFill>
                <a:effectLst/>
                <a:uLnTx/>
                <a:uFillTx/>
                <a:latin typeface="Poppins Black"/>
                <a:ea typeface="+mn-ea"/>
                <a:cs typeface="Arial"/>
                <a:sym typeface="Arial"/>
              </a:rPr>
              <a:t>KNOWLEDGE CHECK</a:t>
            </a:r>
          </a:p>
        </p:txBody>
      </p:sp>
      <p:sp>
        <p:nvSpPr>
          <p:cNvPr id="3" name="TextBox 2">
            <a:extLst>
              <a:ext uri="{FF2B5EF4-FFF2-40B4-BE49-F238E27FC236}">
                <a16:creationId xmlns:a16="http://schemas.microsoft.com/office/drawing/2014/main" id="{D8FF9639-F4D0-75FD-A043-459EDCCEBD17}"/>
              </a:ext>
            </a:extLst>
          </p:cNvPr>
          <p:cNvSpPr txBox="1"/>
          <p:nvPr/>
        </p:nvSpPr>
        <p:spPr>
          <a:xfrm>
            <a:off x="1000000" y="1395308"/>
            <a:ext cx="16200000" cy="1169551"/>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0" b="1" i="0" u="none" strike="noStrike" kern="1200" cap="none" spc="0" normalizeH="0" baseline="0" noProof="0" dirty="0">
                <a:ln>
                  <a:noFill/>
                </a:ln>
                <a:solidFill>
                  <a:srgbClr val="002B11"/>
                </a:solidFill>
                <a:effectLst/>
                <a:uLnTx/>
                <a:uFillTx/>
                <a:latin typeface="Poppins Black"/>
                <a:ea typeface="+mn-ea"/>
                <a:cs typeface="Arial"/>
                <a:sym typeface="Arial"/>
              </a:rPr>
              <a:t>True or False?</a:t>
            </a:r>
          </a:p>
        </p:txBody>
      </p:sp>
      <p:sp>
        <p:nvSpPr>
          <p:cNvPr id="4" name="Rounded Rectangle 3">
            <a:extLst>
              <a:ext uri="{FF2B5EF4-FFF2-40B4-BE49-F238E27FC236}">
                <a16:creationId xmlns:a16="http://schemas.microsoft.com/office/drawing/2014/main" id="{B193EE70-B681-A700-9768-DCAEA4EE61D1}"/>
              </a:ext>
            </a:extLst>
          </p:cNvPr>
          <p:cNvSpPr/>
          <p:nvPr/>
        </p:nvSpPr>
        <p:spPr>
          <a:xfrm>
            <a:off x="1000000" y="3048115"/>
            <a:ext cx="16280000" cy="2218544"/>
          </a:xfrm>
          <a:prstGeom prst="roundRect">
            <a:avLst/>
          </a:prstGeom>
          <a:solidFill>
            <a:srgbClr val="FFFFFF"/>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5" name="TextBox 4">
            <a:extLst>
              <a:ext uri="{FF2B5EF4-FFF2-40B4-BE49-F238E27FC236}">
                <a16:creationId xmlns:a16="http://schemas.microsoft.com/office/drawing/2014/main" id="{B47CB853-B83D-763A-E015-7D6F7F41524F}"/>
              </a:ext>
            </a:extLst>
          </p:cNvPr>
          <p:cNvSpPr txBox="1"/>
          <p:nvPr/>
        </p:nvSpPr>
        <p:spPr>
          <a:xfrm>
            <a:off x="1564165" y="3527989"/>
            <a:ext cx="14680000" cy="1323439"/>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Frontline agents can send Penalty Letters to a property whenever rules are broken.</a:t>
            </a:r>
            <a:endParaRPr kumimoji="0" sz="4000" b="1" i="0" u="none" strike="noStrike" kern="1200" cap="none" spc="0" normalizeH="0" baseline="0" noProof="0" dirty="0">
              <a:ln>
                <a:noFill/>
              </a:ln>
              <a:solidFill>
                <a:srgbClr val="002B11"/>
              </a:solidFill>
              <a:effectLst/>
              <a:uLnTx/>
              <a:uFillTx/>
              <a:latin typeface="Poppins" panose="00000500000000000000" pitchFamily="2" charset="0"/>
              <a:ea typeface="+mn-ea"/>
              <a:cs typeface="Poppins" panose="00000500000000000000" pitchFamily="2" charset="0"/>
              <a:sym typeface="Arial"/>
            </a:endParaRPr>
          </a:p>
        </p:txBody>
      </p:sp>
      <p:sp>
        <p:nvSpPr>
          <p:cNvPr id="7" name="Rectangle: Rounded Corners 6">
            <a:extLst>
              <a:ext uri="{FF2B5EF4-FFF2-40B4-BE49-F238E27FC236}">
                <a16:creationId xmlns:a16="http://schemas.microsoft.com/office/drawing/2014/main" id="{2AFB13C0-27E4-4E81-E1BC-7DFBFF0F24F1}"/>
              </a:ext>
            </a:extLst>
          </p:cNvPr>
          <p:cNvSpPr/>
          <p:nvPr/>
        </p:nvSpPr>
        <p:spPr>
          <a:xfrm>
            <a:off x="1080725" y="5843242"/>
            <a:ext cx="3424009" cy="1248441"/>
          </a:xfrm>
          <a:prstGeom prst="roundRect">
            <a:avLst/>
          </a:prstGeom>
          <a:solidFill>
            <a:srgbClr val="002B11"/>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Rounded Corners 8">
            <a:extLst>
              <a:ext uri="{FF2B5EF4-FFF2-40B4-BE49-F238E27FC236}">
                <a16:creationId xmlns:a16="http://schemas.microsoft.com/office/drawing/2014/main" id="{BEB39F36-D4BA-1E31-F398-6509898CF162}"/>
              </a:ext>
            </a:extLst>
          </p:cNvPr>
          <p:cNvSpPr/>
          <p:nvPr/>
        </p:nvSpPr>
        <p:spPr>
          <a:xfrm>
            <a:off x="1156925" y="5948675"/>
            <a:ext cx="3424009" cy="1248441"/>
          </a:xfrm>
          <a:prstGeom prst="roundRect">
            <a:avLst/>
          </a:prstGeom>
          <a:ln>
            <a:solidFill>
              <a:srgbClr val="002B11"/>
            </a:solidFill>
          </a:ln>
          <a:effectLst>
            <a:outerShdw blurRad="50800" dist="38100" dir="5400000" algn="t"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2">
            <a:extLst>
              <a:ext uri="{FF2B5EF4-FFF2-40B4-BE49-F238E27FC236}">
                <a16:creationId xmlns:a16="http://schemas.microsoft.com/office/drawing/2014/main" id="{F94D9591-2D77-98B4-E729-E2B224C856C7}"/>
              </a:ext>
            </a:extLst>
          </p:cNvPr>
          <p:cNvSpPr txBox="1"/>
          <p:nvPr/>
        </p:nvSpPr>
        <p:spPr>
          <a:xfrm>
            <a:off x="2106929" y="6257424"/>
            <a:ext cx="1524000" cy="630942"/>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500" b="1" i="0" u="none" strike="noStrike" kern="1200" cap="none" spc="0" normalizeH="0" baseline="0" noProof="0" dirty="0">
                <a:ln>
                  <a:noFill/>
                </a:ln>
                <a:solidFill>
                  <a:srgbClr val="002B11"/>
                </a:solidFill>
                <a:effectLst/>
                <a:uLnTx/>
                <a:uFillTx/>
                <a:latin typeface="Poppins Black"/>
                <a:ea typeface="+mn-ea"/>
                <a:cs typeface="Arial"/>
                <a:sym typeface="Arial"/>
              </a:rPr>
              <a:t>TRUE</a:t>
            </a:r>
          </a:p>
        </p:txBody>
      </p:sp>
      <p:sp>
        <p:nvSpPr>
          <p:cNvPr id="16" name="TextBox 15">
            <a:extLst>
              <a:ext uri="{FF2B5EF4-FFF2-40B4-BE49-F238E27FC236}">
                <a16:creationId xmlns:a16="http://schemas.microsoft.com/office/drawing/2014/main" id="{0A4BA17E-BFD1-9DD7-610C-AAF21724B8D8}"/>
              </a:ext>
            </a:extLst>
          </p:cNvPr>
          <p:cNvSpPr txBox="1"/>
          <p:nvPr/>
        </p:nvSpPr>
        <p:spPr>
          <a:xfrm>
            <a:off x="6236970" y="6260630"/>
            <a:ext cx="1790700" cy="630942"/>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dirty="0">
                <a:ln>
                  <a:noFill/>
                </a:ln>
                <a:solidFill>
                  <a:srgbClr val="002B11"/>
                </a:solidFill>
                <a:effectLst/>
                <a:uLnTx/>
                <a:uFillTx/>
                <a:latin typeface="Poppins Black"/>
                <a:ea typeface="+mn-ea"/>
                <a:cs typeface="Arial"/>
                <a:sym typeface="Arial"/>
              </a:rPr>
              <a:t>FALSE</a:t>
            </a:r>
            <a:endParaRPr kumimoji="0" sz="3500" b="1" i="0" u="none" strike="noStrike" kern="1200" cap="none" spc="0" normalizeH="0" baseline="0" noProof="0" dirty="0">
              <a:ln>
                <a:noFill/>
              </a:ln>
              <a:solidFill>
                <a:srgbClr val="002B11"/>
              </a:solidFill>
              <a:effectLst/>
              <a:uLnTx/>
              <a:uFillTx/>
              <a:latin typeface="Poppins Black"/>
              <a:ea typeface="+mn-ea"/>
              <a:cs typeface="Arial"/>
              <a:sym typeface="Arial"/>
            </a:endParaRPr>
          </a:p>
        </p:txBody>
      </p:sp>
      <p:pic>
        <p:nvPicPr>
          <p:cNvPr id="19" name="Picture 18">
            <a:extLst>
              <a:ext uri="{FF2B5EF4-FFF2-40B4-BE49-F238E27FC236}">
                <a16:creationId xmlns:a16="http://schemas.microsoft.com/office/drawing/2014/main" id="{A357116C-A5A4-1257-C51E-2828B17D3FB2}"/>
              </a:ext>
            </a:extLst>
          </p:cNvPr>
          <p:cNvPicPr>
            <a:picLocks noChangeAspect="1"/>
          </p:cNvPicPr>
          <p:nvPr/>
        </p:nvPicPr>
        <p:blipFill>
          <a:blip r:embed="rId2"/>
          <a:srcRect l="60461" t="63789"/>
          <a:stretch>
            <a:fillRect/>
          </a:stretch>
        </p:blipFill>
        <p:spPr>
          <a:xfrm>
            <a:off x="15719208" y="3012813"/>
            <a:ext cx="1601449" cy="1747475"/>
          </a:xfrm>
          <a:prstGeom prst="rect">
            <a:avLst/>
          </a:prstGeom>
        </p:spPr>
      </p:pic>
      <p:pic>
        <p:nvPicPr>
          <p:cNvPr id="21" name="Picture 20">
            <a:extLst>
              <a:ext uri="{FF2B5EF4-FFF2-40B4-BE49-F238E27FC236}">
                <a16:creationId xmlns:a16="http://schemas.microsoft.com/office/drawing/2014/main" id="{1A00B18E-3BBC-2E2C-9909-9DF26347EA6B}"/>
              </a:ext>
            </a:extLst>
          </p:cNvPr>
          <p:cNvPicPr>
            <a:picLocks noChangeAspect="1"/>
          </p:cNvPicPr>
          <p:nvPr/>
        </p:nvPicPr>
        <p:blipFill>
          <a:blip r:embed="rId3"/>
          <a:srcRect l="64628" t="2587" b="65063"/>
          <a:stretch>
            <a:fillRect/>
          </a:stretch>
        </p:blipFill>
        <p:spPr>
          <a:xfrm>
            <a:off x="10695323" y="6368984"/>
            <a:ext cx="2036016" cy="2218544"/>
          </a:xfrm>
          <a:prstGeom prst="rect">
            <a:avLst/>
          </a:prstGeom>
        </p:spPr>
      </p:pic>
      <p:sp>
        <p:nvSpPr>
          <p:cNvPr id="22" name="Rectangle: Rounded Corners 21">
            <a:extLst>
              <a:ext uri="{FF2B5EF4-FFF2-40B4-BE49-F238E27FC236}">
                <a16:creationId xmlns:a16="http://schemas.microsoft.com/office/drawing/2014/main" id="{3FDFB70C-1823-F7F4-517E-83476F11C999}"/>
              </a:ext>
            </a:extLst>
          </p:cNvPr>
          <p:cNvSpPr/>
          <p:nvPr/>
        </p:nvSpPr>
        <p:spPr>
          <a:xfrm>
            <a:off x="12742225" y="6320838"/>
            <a:ext cx="4388850" cy="3013661"/>
          </a:xfrm>
          <a:prstGeom prst="roundRect">
            <a:avLst/>
          </a:prstGeom>
          <a:ln>
            <a:solidFill>
              <a:srgbClr val="002B11"/>
            </a:solidFill>
          </a:ln>
          <a:effectLst>
            <a:outerShdw blurRad="50800" dist="38100" dir="5400000" algn="t"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Box 23">
            <a:extLst>
              <a:ext uri="{FF2B5EF4-FFF2-40B4-BE49-F238E27FC236}">
                <a16:creationId xmlns:a16="http://schemas.microsoft.com/office/drawing/2014/main" id="{34246CC8-F831-1495-72E0-2B7D06A5A52F}"/>
              </a:ext>
            </a:extLst>
          </p:cNvPr>
          <p:cNvSpPr txBox="1"/>
          <p:nvPr/>
        </p:nvSpPr>
        <p:spPr>
          <a:xfrm>
            <a:off x="12999999" y="6467462"/>
            <a:ext cx="4131075" cy="2677656"/>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Frontline agents cannot send Penalty Letters. These are strictly saved for Tier 2 or the Investigations Team</a:t>
            </a:r>
            <a:endParaRPr kumimoji="0" sz="2800" b="0" i="0" u="none" strike="noStrike" kern="1200" cap="none" spc="0" normalizeH="0" baseline="0" noProof="0" dirty="0">
              <a:ln>
                <a:noFill/>
              </a:ln>
              <a:solidFill>
                <a:srgbClr val="002B11"/>
              </a:solidFill>
              <a:effectLst/>
              <a:uLnTx/>
              <a:uFillTx/>
              <a:latin typeface="Poppins" panose="00000500000000000000" pitchFamily="2" charset="0"/>
              <a:ea typeface="+mn-ea"/>
              <a:cs typeface="Poppins" panose="00000500000000000000" pitchFamily="2" charset="0"/>
              <a:sym typeface="Arial"/>
            </a:endParaRPr>
          </a:p>
        </p:txBody>
      </p:sp>
      <p:sp>
        <p:nvSpPr>
          <p:cNvPr id="14" name="TextBox 13">
            <a:extLst>
              <a:ext uri="{FF2B5EF4-FFF2-40B4-BE49-F238E27FC236}">
                <a16:creationId xmlns:a16="http://schemas.microsoft.com/office/drawing/2014/main" id="{96F52CF6-F4F4-8128-A78F-97FED63B343D}"/>
              </a:ext>
            </a:extLst>
          </p:cNvPr>
          <p:cNvSpPr txBox="1"/>
          <p:nvPr/>
        </p:nvSpPr>
        <p:spPr>
          <a:xfrm>
            <a:off x="600000" y="9727001"/>
            <a:ext cx="10000000" cy="30777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Tripadvisor</a:t>
            </a:r>
            <a:r>
              <a:rPr kumimoji="0" sz="1400" b="0" i="0" u="none" strike="noStrike" kern="1200" cap="none" spc="0" normalizeH="0" baseline="0" noProof="0" dirty="0">
                <a:ln>
                  <a:noFill/>
                </a:ln>
                <a:solidFill>
                  <a:srgbClr val="8A8272"/>
                </a:solidFill>
                <a:effectLst/>
                <a:uLnTx/>
                <a:uFillTx/>
                <a:latin typeface="Poppins"/>
                <a:ea typeface="+mn-ea"/>
                <a:cs typeface="Arial"/>
                <a:sym typeface="Arial"/>
              </a:rPr>
              <a:t> / </a:t>
            </a: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Fraud support</a:t>
            </a:r>
            <a:r>
              <a:rPr kumimoji="0" sz="1400" b="0" i="0" u="none" strike="noStrike" kern="1200" cap="none" spc="0" normalizeH="0" baseline="0" noProof="0" dirty="0">
                <a:ln>
                  <a:noFill/>
                </a:ln>
                <a:solidFill>
                  <a:srgbClr val="8A8272"/>
                </a:solidFill>
                <a:effectLst/>
                <a:uLnTx/>
                <a:uFillTx/>
                <a:latin typeface="Poppins"/>
                <a:ea typeface="+mn-ea"/>
                <a:cs typeface="Arial"/>
                <a:sym typeface="Arial"/>
              </a:rPr>
              <a:t> / </a:t>
            </a: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Knowledge check</a:t>
            </a:r>
            <a:endParaRPr kumimoji="0" sz="1400" b="0" i="0" u="none" strike="noStrike" kern="1200" cap="none" spc="0" normalizeH="0" baseline="0" noProof="0" dirty="0">
              <a:ln>
                <a:noFill/>
              </a:ln>
              <a:solidFill>
                <a:srgbClr val="8A8272"/>
              </a:solidFill>
              <a:effectLst/>
              <a:uLnTx/>
              <a:uFillTx/>
              <a:latin typeface="Poppins"/>
              <a:ea typeface="+mn-ea"/>
              <a:cs typeface="Arial"/>
              <a:sym typeface="Arial"/>
            </a:endParaRPr>
          </a:p>
        </p:txBody>
      </p:sp>
    </p:spTree>
    <p:extLst>
      <p:ext uri="{BB962C8B-B14F-4D97-AF65-F5344CB8AC3E}">
        <p14:creationId xmlns:p14="http://schemas.microsoft.com/office/powerpoint/2010/main" val="3343321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 presetClass="emph" presetSubtype="2" fill="hold" nodeType="withEffect">
                                  <p:stCondLst>
                                    <p:cond delay="0"/>
                                  </p:stCondLst>
                                  <p:childTnLst>
                                    <p:animClr clrSpc="rgb" dir="cw">
                                      <p:cBhvr>
                                        <p:cTn id="15" dur="2000" fill="hold"/>
                                        <p:tgtEl>
                                          <p:spTgt spid="17"/>
                                        </p:tgtEl>
                                        <p:attrNameLst>
                                          <p:attrName>fillcolor</p:attrName>
                                        </p:attrNameLst>
                                      </p:cBhvr>
                                      <p:to>
                                        <a:srgbClr val="00B050"/>
                                      </p:to>
                                    </p:animClr>
                                    <p:set>
                                      <p:cBhvr>
                                        <p:cTn id="16" dur="2000" fill="hold"/>
                                        <p:tgtEl>
                                          <p:spTgt spid="17"/>
                                        </p:tgtEl>
                                        <p:attrNameLst>
                                          <p:attrName>fill.type</p:attrName>
                                        </p:attrNameLst>
                                      </p:cBhvr>
                                      <p:to>
                                        <p:strVal val="solid"/>
                                      </p:to>
                                    </p:set>
                                    <p:set>
                                      <p:cBhvr>
                                        <p:cTn id="17" dur="2000" fill="hold"/>
                                        <p:tgtEl>
                                          <p:spTgt spid="17"/>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4"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997FF"/>
        </a:solidFill>
        <a:effectLst/>
      </p:bgPr>
    </p:bg>
    <p:spTree>
      <p:nvGrpSpPr>
        <p:cNvPr id="1" name="">
          <a:extLst>
            <a:ext uri="{FF2B5EF4-FFF2-40B4-BE49-F238E27FC236}">
              <a16:creationId xmlns:a16="http://schemas.microsoft.com/office/drawing/2014/main" id="{05205EDF-D843-9D63-531F-7E232D630C5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A6CE986-3C5B-41A6-5E0E-66EA147D9B03}"/>
              </a:ext>
            </a:extLst>
          </p:cNvPr>
          <p:cNvSpPr txBox="1"/>
          <p:nvPr/>
        </p:nvSpPr>
        <p:spPr>
          <a:xfrm>
            <a:off x="994557" y="511955"/>
            <a:ext cx="12000000" cy="43088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dirty="0">
                <a:ln>
                  <a:noFill/>
                </a:ln>
                <a:solidFill>
                  <a:srgbClr val="002B11"/>
                </a:solidFill>
                <a:effectLst/>
                <a:uLnTx/>
                <a:uFillTx/>
                <a:latin typeface="Poppins Black"/>
                <a:ea typeface="+mn-ea"/>
                <a:cs typeface="Arial"/>
                <a:sym typeface="Arial"/>
              </a:rPr>
              <a:t>KNOWLEDGE CHECK</a:t>
            </a:r>
          </a:p>
        </p:txBody>
      </p:sp>
      <p:sp>
        <p:nvSpPr>
          <p:cNvPr id="4" name="Rounded Rectangle 3">
            <a:extLst>
              <a:ext uri="{FF2B5EF4-FFF2-40B4-BE49-F238E27FC236}">
                <a16:creationId xmlns:a16="http://schemas.microsoft.com/office/drawing/2014/main" id="{3F5A5035-E257-4636-240B-A69E7D056D0A}"/>
              </a:ext>
            </a:extLst>
          </p:cNvPr>
          <p:cNvSpPr/>
          <p:nvPr/>
        </p:nvSpPr>
        <p:spPr>
          <a:xfrm>
            <a:off x="1004000" y="1349948"/>
            <a:ext cx="16280000" cy="2075905"/>
          </a:xfrm>
          <a:prstGeom prst="roundRect">
            <a:avLst/>
          </a:prstGeom>
          <a:solidFill>
            <a:srgbClr val="FFFFFF"/>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5" name="TextBox 4">
            <a:extLst>
              <a:ext uri="{FF2B5EF4-FFF2-40B4-BE49-F238E27FC236}">
                <a16:creationId xmlns:a16="http://schemas.microsoft.com/office/drawing/2014/main" id="{B715F62F-F2E8-8F80-F2B6-50DF509B2553}"/>
              </a:ext>
            </a:extLst>
          </p:cNvPr>
          <p:cNvSpPr txBox="1"/>
          <p:nvPr/>
        </p:nvSpPr>
        <p:spPr>
          <a:xfrm>
            <a:off x="1510086" y="1680277"/>
            <a:ext cx="14680000" cy="1323439"/>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What happens if a property breaks the exact same rule again within 180 days of receiving a Fraud Letter?</a:t>
            </a:r>
            <a:endParaRPr kumimoji="0" sz="4000" b="1" i="0" u="none" strike="noStrike" kern="1200" cap="none" spc="0" normalizeH="0" baseline="0" noProof="0" dirty="0">
              <a:ln>
                <a:noFill/>
              </a:ln>
              <a:solidFill>
                <a:srgbClr val="002B11"/>
              </a:solidFill>
              <a:effectLst/>
              <a:uLnTx/>
              <a:uFillTx/>
              <a:latin typeface="Poppins" panose="00000500000000000000" pitchFamily="2" charset="0"/>
              <a:ea typeface="+mn-ea"/>
              <a:cs typeface="Poppins" panose="00000500000000000000" pitchFamily="2" charset="0"/>
              <a:sym typeface="Arial"/>
            </a:endParaRPr>
          </a:p>
        </p:txBody>
      </p:sp>
      <p:sp>
        <p:nvSpPr>
          <p:cNvPr id="11" name="TextBox 10">
            <a:extLst>
              <a:ext uri="{FF2B5EF4-FFF2-40B4-BE49-F238E27FC236}">
                <a16:creationId xmlns:a16="http://schemas.microsoft.com/office/drawing/2014/main" id="{63436CE9-1425-1F78-68FE-9417D6A3D957}"/>
              </a:ext>
            </a:extLst>
          </p:cNvPr>
          <p:cNvSpPr txBox="1"/>
          <p:nvPr/>
        </p:nvSpPr>
        <p:spPr>
          <a:xfrm>
            <a:off x="600000" y="9727001"/>
            <a:ext cx="10000000" cy="30777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Tripadvisor</a:t>
            </a:r>
            <a:r>
              <a:rPr kumimoji="0" sz="1400" b="0" i="0" u="none" strike="noStrike" kern="1200" cap="none" spc="0" normalizeH="0" baseline="0" noProof="0" dirty="0">
                <a:ln>
                  <a:noFill/>
                </a:ln>
                <a:solidFill>
                  <a:srgbClr val="8A8272"/>
                </a:solidFill>
                <a:effectLst/>
                <a:uLnTx/>
                <a:uFillTx/>
                <a:latin typeface="Poppins"/>
                <a:ea typeface="+mn-ea"/>
                <a:cs typeface="Arial"/>
                <a:sym typeface="Arial"/>
              </a:rPr>
              <a:t> / </a:t>
            </a: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Fraud support</a:t>
            </a:r>
            <a:r>
              <a:rPr kumimoji="0" sz="1400" b="0" i="0" u="none" strike="noStrike" kern="1200" cap="none" spc="0" normalizeH="0" baseline="0" noProof="0" dirty="0">
                <a:ln>
                  <a:noFill/>
                </a:ln>
                <a:solidFill>
                  <a:srgbClr val="8A8272"/>
                </a:solidFill>
                <a:effectLst/>
                <a:uLnTx/>
                <a:uFillTx/>
                <a:latin typeface="Poppins"/>
                <a:ea typeface="+mn-ea"/>
                <a:cs typeface="Arial"/>
                <a:sym typeface="Arial"/>
              </a:rPr>
              <a:t> / </a:t>
            </a: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Knowledge check</a:t>
            </a:r>
            <a:endParaRPr kumimoji="0" sz="1400" b="0" i="0" u="none" strike="noStrike" kern="1200" cap="none" spc="0" normalizeH="0" baseline="0" noProof="0" dirty="0">
              <a:ln>
                <a:noFill/>
              </a:ln>
              <a:solidFill>
                <a:srgbClr val="8A8272"/>
              </a:solidFill>
              <a:effectLst/>
              <a:uLnTx/>
              <a:uFillTx/>
              <a:latin typeface="Poppins"/>
              <a:ea typeface="+mn-ea"/>
              <a:cs typeface="Arial"/>
              <a:sym typeface="Arial"/>
            </a:endParaRPr>
          </a:p>
        </p:txBody>
      </p:sp>
      <p:sp>
        <p:nvSpPr>
          <p:cNvPr id="10" name="Rounded Rectangle 3">
            <a:extLst>
              <a:ext uri="{FF2B5EF4-FFF2-40B4-BE49-F238E27FC236}">
                <a16:creationId xmlns:a16="http://schemas.microsoft.com/office/drawing/2014/main" id="{F36C808A-A671-A4A3-0CC5-6AF48044F306}"/>
              </a:ext>
            </a:extLst>
          </p:cNvPr>
          <p:cNvSpPr/>
          <p:nvPr/>
        </p:nvSpPr>
        <p:spPr>
          <a:xfrm>
            <a:off x="1004000" y="3837334"/>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14" name="TextBox 13">
            <a:extLst>
              <a:ext uri="{FF2B5EF4-FFF2-40B4-BE49-F238E27FC236}">
                <a16:creationId xmlns:a16="http://schemas.microsoft.com/office/drawing/2014/main" id="{3B79C0C2-5877-9425-3BCE-167DF82BDE99}"/>
              </a:ext>
            </a:extLst>
          </p:cNvPr>
          <p:cNvSpPr txBox="1"/>
          <p:nvPr/>
        </p:nvSpPr>
        <p:spPr>
          <a:xfrm>
            <a:off x="1510086" y="4093417"/>
            <a:ext cx="14680000" cy="584775"/>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They get a new Warning Letter</a:t>
            </a:r>
            <a:endParaRPr kumimoji="0" sz="3200" b="0" i="0" u="none" strike="noStrike" kern="1200" cap="none" spc="0" normalizeH="0" baseline="0" noProof="0" dirty="0">
              <a:ln>
                <a:noFill/>
              </a:ln>
              <a:solidFill>
                <a:srgbClr val="002B11"/>
              </a:solidFill>
              <a:effectLst/>
              <a:uLnTx/>
              <a:uFillTx/>
              <a:latin typeface="Poppins" panose="00000500000000000000" pitchFamily="2" charset="0"/>
              <a:ea typeface="+mn-ea"/>
              <a:cs typeface="Poppins" panose="00000500000000000000" pitchFamily="2" charset="0"/>
              <a:sym typeface="Arial"/>
            </a:endParaRPr>
          </a:p>
        </p:txBody>
      </p:sp>
      <p:sp>
        <p:nvSpPr>
          <p:cNvPr id="16" name="Rounded Rectangle 3">
            <a:extLst>
              <a:ext uri="{FF2B5EF4-FFF2-40B4-BE49-F238E27FC236}">
                <a16:creationId xmlns:a16="http://schemas.microsoft.com/office/drawing/2014/main" id="{DE127740-0D47-A65A-B347-FFC0332DC7D2}"/>
              </a:ext>
            </a:extLst>
          </p:cNvPr>
          <p:cNvSpPr/>
          <p:nvPr/>
        </p:nvSpPr>
        <p:spPr>
          <a:xfrm>
            <a:off x="1004000" y="5203639"/>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 typeface="Arial"/>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18" name="TextBox 17">
            <a:extLst>
              <a:ext uri="{FF2B5EF4-FFF2-40B4-BE49-F238E27FC236}">
                <a16:creationId xmlns:a16="http://schemas.microsoft.com/office/drawing/2014/main" id="{B2469DE1-2065-4345-CC25-B382F9632E58}"/>
              </a:ext>
            </a:extLst>
          </p:cNvPr>
          <p:cNvSpPr txBox="1"/>
          <p:nvPr/>
        </p:nvSpPr>
        <p:spPr>
          <a:xfrm>
            <a:off x="1510086" y="5213500"/>
            <a:ext cx="14680000" cy="1077218"/>
          </a:xfrm>
          <a:prstGeom prst="rect">
            <a:avLst/>
          </a:prstGeom>
          <a:noFill/>
        </p:spPr>
        <p:txBody>
          <a:bodyPr wrap="square" anchor="ctr">
            <a:spAutoFit/>
          </a:bodyPr>
          <a:lstStyle>
            <a:defPPr marR="0" lvl="0" algn="l" rtl="0">
              <a:lnSpc>
                <a:spcPct val="100000"/>
              </a:lnSpc>
              <a:spcBef>
                <a:spcPts val="0"/>
              </a:spcBef>
              <a:spcAft>
                <a:spcPts val="0"/>
              </a:spcAft>
            </a:defPPr>
            <a:lvl1pPr>
              <a:buClrTx/>
              <a:defRPr sz="3200" kern="1200">
                <a:solidFill>
                  <a:srgbClr val="002B11"/>
                </a:solidFill>
                <a:latin typeface="Poppins"/>
                <a:ea typeface="+mn-ea"/>
              </a:defRPr>
            </a:lvl1p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2B11"/>
                </a:solidFill>
                <a:effectLst/>
                <a:uLnTx/>
                <a:uFillTx/>
                <a:latin typeface="Poppins"/>
                <a:ea typeface="+mn-ea"/>
                <a:cs typeface="+mn-cs"/>
              </a:rPr>
              <a:t>No new Fraud Letter is sent, and the case is passed up for a Red Badge review</a:t>
            </a:r>
          </a:p>
        </p:txBody>
      </p:sp>
      <p:sp>
        <p:nvSpPr>
          <p:cNvPr id="20" name="Rounded Rectangle 3">
            <a:extLst>
              <a:ext uri="{FF2B5EF4-FFF2-40B4-BE49-F238E27FC236}">
                <a16:creationId xmlns:a16="http://schemas.microsoft.com/office/drawing/2014/main" id="{FDF9D567-1A3D-F4EC-766F-CED64FAFAA90}"/>
              </a:ext>
            </a:extLst>
          </p:cNvPr>
          <p:cNvSpPr/>
          <p:nvPr/>
        </p:nvSpPr>
        <p:spPr>
          <a:xfrm>
            <a:off x="1000000" y="6569944"/>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 typeface="Arial"/>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22" name="TextBox 21">
            <a:extLst>
              <a:ext uri="{FF2B5EF4-FFF2-40B4-BE49-F238E27FC236}">
                <a16:creationId xmlns:a16="http://schemas.microsoft.com/office/drawing/2014/main" id="{287B71C7-7F72-25EF-654D-2FBBCBCC11E0}"/>
              </a:ext>
            </a:extLst>
          </p:cNvPr>
          <p:cNvSpPr txBox="1"/>
          <p:nvPr/>
        </p:nvSpPr>
        <p:spPr>
          <a:xfrm>
            <a:off x="1506086" y="6826026"/>
            <a:ext cx="14680000" cy="584775"/>
          </a:xfrm>
          <a:prstGeom prst="rect">
            <a:avLst/>
          </a:prstGeom>
          <a:noFill/>
        </p:spPr>
        <p:txBody>
          <a:bodyPr wrap="square" anchor="ctr">
            <a:spAutoFit/>
          </a:bodyPr>
          <a:lstStyle>
            <a:defPPr marR="0" lvl="0" algn="l" rtl="0">
              <a:lnSpc>
                <a:spcPct val="100000"/>
              </a:lnSpc>
              <a:spcBef>
                <a:spcPts val="0"/>
              </a:spcBef>
              <a:spcAft>
                <a:spcPts val="0"/>
              </a:spcAft>
              <a:defRPr/>
            </a:defPPr>
            <a:lvl1pPr>
              <a:buClrTx/>
              <a:defRPr sz="3200" kern="1200">
                <a:solidFill>
                  <a:srgbClr val="002B11"/>
                </a:solidFill>
                <a:latin typeface="Poppins"/>
                <a:ea typeface="+mn-ea"/>
              </a:defRPr>
            </a:lvl1p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2B11"/>
                </a:solidFill>
                <a:effectLst/>
                <a:uLnTx/>
                <a:uFillTx/>
                <a:latin typeface="Poppins"/>
                <a:ea typeface="+mn-ea"/>
                <a:cs typeface="+mn-cs"/>
              </a:rPr>
              <a:t>A second Fraud Letter is sent automatically</a:t>
            </a:r>
          </a:p>
        </p:txBody>
      </p:sp>
      <p:sp>
        <p:nvSpPr>
          <p:cNvPr id="24" name="Rounded Rectangle 3">
            <a:extLst>
              <a:ext uri="{FF2B5EF4-FFF2-40B4-BE49-F238E27FC236}">
                <a16:creationId xmlns:a16="http://schemas.microsoft.com/office/drawing/2014/main" id="{63FDBBF7-8D3A-ECBE-E8DB-2404142FF642}"/>
              </a:ext>
            </a:extLst>
          </p:cNvPr>
          <p:cNvSpPr/>
          <p:nvPr/>
        </p:nvSpPr>
        <p:spPr>
          <a:xfrm>
            <a:off x="1000000" y="7949215"/>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 typeface="Arial"/>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26" name="TextBox 25">
            <a:extLst>
              <a:ext uri="{FF2B5EF4-FFF2-40B4-BE49-F238E27FC236}">
                <a16:creationId xmlns:a16="http://schemas.microsoft.com/office/drawing/2014/main" id="{C9A12EF9-B9A9-3041-EA81-D953E6AAB2E8}"/>
              </a:ext>
            </a:extLst>
          </p:cNvPr>
          <p:cNvSpPr txBox="1"/>
          <p:nvPr/>
        </p:nvSpPr>
        <p:spPr>
          <a:xfrm>
            <a:off x="1506086" y="8205297"/>
            <a:ext cx="14680000" cy="584775"/>
          </a:xfrm>
          <a:prstGeom prst="rect">
            <a:avLst/>
          </a:prstGeom>
          <a:noFill/>
        </p:spPr>
        <p:txBody>
          <a:bodyPr wrap="square" anchor="ctr">
            <a:spAutoFit/>
          </a:bodyPr>
          <a:lstStyle>
            <a:defPPr marR="0" lvl="0" algn="l" rtl="0">
              <a:lnSpc>
                <a:spcPct val="100000"/>
              </a:lnSpc>
              <a:spcBef>
                <a:spcPts val="0"/>
              </a:spcBef>
              <a:spcAft>
                <a:spcPts val="0"/>
              </a:spcAft>
              <a:defRPr/>
            </a:defPPr>
            <a:lvl1pPr>
              <a:buClrTx/>
              <a:defRPr sz="3200" kern="1200">
                <a:solidFill>
                  <a:srgbClr val="002B11"/>
                </a:solidFill>
                <a:latin typeface="Poppins"/>
                <a:ea typeface="+mn-ea"/>
              </a:defRPr>
            </a:lvl1p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2B11"/>
                </a:solidFill>
                <a:effectLst/>
                <a:uLnTx/>
                <a:uFillTx/>
                <a:latin typeface="Poppins"/>
                <a:ea typeface="+mn-ea"/>
                <a:cs typeface="+mn-cs"/>
              </a:rPr>
              <a:t>The property's listing is permanently deleted</a:t>
            </a:r>
          </a:p>
        </p:txBody>
      </p:sp>
      <p:pic>
        <p:nvPicPr>
          <p:cNvPr id="6" name="Picture 5">
            <a:extLst>
              <a:ext uri="{FF2B5EF4-FFF2-40B4-BE49-F238E27FC236}">
                <a16:creationId xmlns:a16="http://schemas.microsoft.com/office/drawing/2014/main" id="{50BD080A-FC8D-3BA2-7B25-AF88F8F96C51}"/>
              </a:ext>
            </a:extLst>
          </p:cNvPr>
          <p:cNvPicPr>
            <a:picLocks noChangeAspect="1"/>
          </p:cNvPicPr>
          <p:nvPr/>
        </p:nvPicPr>
        <p:blipFill>
          <a:blip r:embed="rId2"/>
          <a:srcRect l="60461" t="63789"/>
          <a:stretch>
            <a:fillRect/>
          </a:stretch>
        </p:blipFill>
        <p:spPr>
          <a:xfrm>
            <a:off x="15687275" y="1935947"/>
            <a:ext cx="1601449" cy="1747475"/>
          </a:xfrm>
          <a:prstGeom prst="rect">
            <a:avLst/>
          </a:prstGeom>
        </p:spPr>
      </p:pic>
    </p:spTree>
    <p:extLst>
      <p:ext uri="{BB962C8B-B14F-4D97-AF65-F5344CB8AC3E}">
        <p14:creationId xmlns:p14="http://schemas.microsoft.com/office/powerpoint/2010/main" val="679576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grpId="0" nodeType="clickEffect">
                                  <p:stCondLst>
                                    <p:cond delay="0"/>
                                  </p:stCondLst>
                                  <p:childTnLst>
                                    <p:set>
                                      <p:cBhvr>
                                        <p:cTn id="6" dur="indefinite"/>
                                        <p:tgtEl>
                                          <p:spTgt spid="10"/>
                                        </p:tgtEl>
                                        <p:attrNameLst>
                                          <p:attrName>style.opacity</p:attrName>
                                        </p:attrNameLst>
                                      </p:cBhvr>
                                      <p:to>
                                        <p:strVal val="0.5"/>
                                      </p:to>
                                    </p:set>
                                    <p:animEffect filter="image" prLst="opacity: 0.5">
                                      <p:cBhvr rctx="IE">
                                        <p:cTn id="7" dur="indefinite"/>
                                        <p:tgtEl>
                                          <p:spTgt spid="10"/>
                                        </p:tgtEl>
                                      </p:cBhvr>
                                    </p:animEffect>
                                  </p:childTnLst>
                                </p:cTn>
                              </p:par>
                              <p:par>
                                <p:cTn id="8" presetID="9" presetClass="emph" presetSubtype="0" nodeType="withEffect">
                                  <p:stCondLst>
                                    <p:cond delay="0"/>
                                  </p:stCondLst>
                                  <p:childTnLst>
                                    <p:set>
                                      <p:cBhvr>
                                        <p:cTn id="9" dur="indefinite"/>
                                        <p:tgtEl>
                                          <p:spTgt spid="20"/>
                                        </p:tgtEl>
                                        <p:attrNameLst>
                                          <p:attrName>style.opacity</p:attrName>
                                        </p:attrNameLst>
                                      </p:cBhvr>
                                      <p:to>
                                        <p:strVal val="0.5"/>
                                      </p:to>
                                    </p:set>
                                    <p:animEffect filter="image" prLst="opacity: 0.5">
                                      <p:cBhvr rctx="IE">
                                        <p:cTn id="10" dur="indefinite"/>
                                        <p:tgtEl>
                                          <p:spTgt spid="20"/>
                                        </p:tgtEl>
                                      </p:cBhvr>
                                    </p:animEffect>
                                  </p:childTnLst>
                                </p:cTn>
                              </p:par>
                              <p:par>
                                <p:cTn id="11" presetID="9" presetClass="emph" presetSubtype="0" grpId="0" nodeType="withEffect">
                                  <p:stCondLst>
                                    <p:cond delay="0"/>
                                  </p:stCondLst>
                                  <p:childTnLst>
                                    <p:set>
                                      <p:cBhvr>
                                        <p:cTn id="12" dur="indefinite"/>
                                        <p:tgtEl>
                                          <p:spTgt spid="24"/>
                                        </p:tgtEl>
                                        <p:attrNameLst>
                                          <p:attrName>style.opacity</p:attrName>
                                        </p:attrNameLst>
                                      </p:cBhvr>
                                      <p:to>
                                        <p:strVal val="0.5"/>
                                      </p:to>
                                    </p:set>
                                    <p:animEffect filter="image" prLst="opacity: 0.5">
                                      <p:cBhvr rctx="IE">
                                        <p:cTn id="13" dur="indefinite"/>
                                        <p:tgtEl>
                                          <p:spTgt spid="24"/>
                                        </p:tgtEl>
                                      </p:cBhvr>
                                    </p:animEffect>
                                  </p:childTnLst>
                                </p:cTn>
                              </p:par>
                              <p:par>
                                <p:cTn id="14" presetID="1" presetClass="emph" presetSubtype="2" fill="hold" grpId="0" nodeType="withEffect">
                                  <p:stCondLst>
                                    <p:cond delay="0"/>
                                  </p:stCondLst>
                                  <p:childTnLst>
                                    <p:animClr clrSpc="rgb" dir="cw">
                                      <p:cBhvr>
                                        <p:cTn id="15" dur="2000" fill="hold"/>
                                        <p:tgtEl>
                                          <p:spTgt spid="16"/>
                                        </p:tgtEl>
                                        <p:attrNameLst>
                                          <p:attrName>fillcolor</p:attrName>
                                        </p:attrNameLst>
                                      </p:cBhvr>
                                      <p:to>
                                        <a:srgbClr val="00B050"/>
                                      </p:to>
                                    </p:animClr>
                                    <p:set>
                                      <p:cBhvr>
                                        <p:cTn id="16" dur="2000" fill="hold"/>
                                        <p:tgtEl>
                                          <p:spTgt spid="16"/>
                                        </p:tgtEl>
                                        <p:attrNameLst>
                                          <p:attrName>fill.type</p:attrName>
                                        </p:attrNameLst>
                                      </p:cBhvr>
                                      <p:to>
                                        <p:strVal val="solid"/>
                                      </p:to>
                                    </p:set>
                                    <p:set>
                                      <p:cBhvr>
                                        <p:cTn id="17" dur="2000" fill="hold"/>
                                        <p:tgtEl>
                                          <p:spTgt spid="16"/>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6" grpId="0" animBg="1"/>
      <p:bldP spid="24" grpId="0" animBg="1"/>
    </p:bld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5fb9b3e-a026-48a2-bdfc-bbf57372bf68">
      <Terms xmlns="http://schemas.microsoft.com/office/infopath/2007/PartnerControls"/>
    </lcf76f155ced4ddcb4097134ff3c332f>
    <TaxCatchAll xmlns="363a3933-3acd-4138-81fd-92928eeda28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0EE4AE8D3AC874580C728DBD6C58F20" ma:contentTypeVersion="16" ma:contentTypeDescription="Create a new document." ma:contentTypeScope="" ma:versionID="006169719bc193b9aed0450dc1fb951c">
  <xsd:schema xmlns:xsd="http://www.w3.org/2001/XMLSchema" xmlns:xs="http://www.w3.org/2001/XMLSchema" xmlns:p="http://schemas.microsoft.com/office/2006/metadata/properties" xmlns:ns2="363a3933-3acd-4138-81fd-92928eeda287" xmlns:ns3="55fb9b3e-a026-48a2-bdfc-bbf57372bf68" targetNamespace="http://schemas.microsoft.com/office/2006/metadata/properties" ma:root="true" ma:fieldsID="dad33e39320f44d79dd0383e43ad2fe2" ns2:_="" ns3:_="">
    <xsd:import namespace="363a3933-3acd-4138-81fd-92928eeda287"/>
    <xsd:import namespace="55fb9b3e-a026-48a2-bdfc-bbf57372bf6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MediaServiceGenerationTime" minOccurs="0"/>
                <xsd:element ref="ns3:MediaServiceEventHashCode" minOccurs="0"/>
                <xsd:element ref="ns3:MediaServiceDateTaken" minOccurs="0"/>
                <xsd:element ref="ns3:MediaLengthInSeconds" minOccurs="0"/>
                <xsd:element ref="ns3:lcf76f155ced4ddcb4097134ff3c332f" minOccurs="0"/>
                <xsd:element ref="ns2:TaxCatchAll" minOccurs="0"/>
                <xsd:element ref="ns3:MediaServiceOCR" minOccurs="0"/>
                <xsd:element ref="ns3:MediaServiceLocation"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63a3933-3acd-4138-81fd-92928eeda28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6b6606f3-8e38-4bb2-982d-ae60526f985d}" ma:internalName="TaxCatchAll" ma:showField="CatchAllData" ma:web="363a3933-3acd-4138-81fd-92928eeda28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5fb9b3e-a026-48a2-bdfc-bbf57372bf68"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d924c95-84b7-4d1c-8a87-b591b54e0cf6"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96DB6E-1235-4F67-9BE8-7C7FF598EAFF}">
  <ds:schemaRefs>
    <ds:schemaRef ds:uri="http://purl.org/dc/dcmitype/"/>
    <ds:schemaRef ds:uri="http://purl.org/dc/elements/1.1/"/>
    <ds:schemaRef ds:uri="http://www.w3.org/XML/1998/namespace"/>
    <ds:schemaRef ds:uri="363a3933-3acd-4138-81fd-92928eeda287"/>
    <ds:schemaRef ds:uri="http://schemas.microsoft.com/office/2006/documentManagement/types"/>
    <ds:schemaRef ds:uri="http://schemas.openxmlformats.org/package/2006/metadata/core-properties"/>
    <ds:schemaRef ds:uri="http://schemas.microsoft.com/office/2006/metadata/properties"/>
    <ds:schemaRef ds:uri="http://schemas.microsoft.com/office/infopath/2007/PartnerControls"/>
    <ds:schemaRef ds:uri="55fb9b3e-a026-48a2-bdfc-bbf57372bf68"/>
    <ds:schemaRef ds:uri="http://purl.org/dc/terms/"/>
  </ds:schemaRefs>
</ds:datastoreItem>
</file>

<file path=customXml/itemProps2.xml><?xml version="1.0" encoding="utf-8"?>
<ds:datastoreItem xmlns:ds="http://schemas.openxmlformats.org/officeDocument/2006/customXml" ds:itemID="{28A3AF77-3A85-4737-92ED-36991D08FAF5}">
  <ds:schemaRefs>
    <ds:schemaRef ds:uri="http://schemas.microsoft.com/sharepoint/v3/contenttype/forms"/>
  </ds:schemaRefs>
</ds:datastoreItem>
</file>

<file path=customXml/itemProps3.xml><?xml version="1.0" encoding="utf-8"?>
<ds:datastoreItem xmlns:ds="http://schemas.openxmlformats.org/officeDocument/2006/customXml" ds:itemID="{BB4AC9E1-B8D0-43FE-B5F8-2E653F2D0E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63a3933-3acd-4138-81fd-92928eeda287"/>
    <ds:schemaRef ds:uri="55fb9b3e-a026-48a2-bdfc-bbf57372bf6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1705</TotalTime>
  <Words>1726</Words>
  <Application>Microsoft Office PowerPoint</Application>
  <PresentationFormat>Custom</PresentationFormat>
  <Paragraphs>231</Paragraphs>
  <Slides>24</Slides>
  <Notes>8</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24</vt:i4>
      </vt:variant>
    </vt:vector>
  </HeadingPairs>
  <TitlesOfParts>
    <vt:vector size="35" baseType="lpstr">
      <vt:lpstr>Aptos</vt:lpstr>
      <vt:lpstr>Arial</vt:lpstr>
      <vt:lpstr>Calibri</vt:lpstr>
      <vt:lpstr>Calibri Light</vt:lpstr>
      <vt:lpstr>Poppins</vt:lpstr>
      <vt:lpstr>Poppins Black</vt:lpstr>
      <vt:lpstr>Poppins Bold</vt:lpstr>
      <vt:lpstr>1_Office Theme</vt:lpstr>
      <vt:lpstr>Office 2013 - 2022 Theme</vt:lpstr>
      <vt:lpstr>2_Office Theme</vt:lpstr>
      <vt:lpstr>3_Office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Sutherland Global Service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Nithese Krrishna V M</dc:creator>
  <cp:lastModifiedBy>Anupama Chatti</cp:lastModifiedBy>
  <cp:revision>30</cp:revision>
  <dcterms:created xsi:type="dcterms:W3CDTF">2026-08-13T11:47:34Z</dcterms:created>
  <dcterms:modified xsi:type="dcterms:W3CDTF">2026-09-21T09:46:13Z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0x01010080EE4AE8D3AC874580C728DBD6C58F20</vt:lpwstr>
  </property>
  <property fmtid="{D5CDD505-2E9C-101B-9397-08002B2CF9AE}" pid="3" name="MediaServiceImageTags">
    <vt:lpwstr/>
  </property>
</Properties>
</file>