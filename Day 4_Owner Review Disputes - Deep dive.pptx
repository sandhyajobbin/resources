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omments/modernComment_100_0.xml" ContentType="application/vnd.ms-powerpoint.comments+xml"/>
  <Override PartName="/ppt/comments/modernComment_102_0.xml" ContentType="application/vnd.ms-powerpoint.comments+xml"/>
  <Override PartName="/ppt/comments/modernComment_103_0.xml" ContentType="application/vnd.ms-powerpoint.comments+xml"/>
  <Override PartName="/ppt/comments/modernComment_104_0.xml" ContentType="application/vnd.ms-powerpoint.comments+xml"/>
  <Override PartName="/ppt/notesSlides/notesSlide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notesMasterIdLst>
    <p:notesMasterId r:id="rId19"/>
  </p:notesMasterIdLst>
  <p:sldIdLst>
    <p:sldId id="256" r:id="rId5"/>
    <p:sldId id="332" r:id="rId6"/>
    <p:sldId id="257" r:id="rId7"/>
    <p:sldId id="258" r:id="rId8"/>
    <p:sldId id="259" r:id="rId9"/>
    <p:sldId id="260" r:id="rId10"/>
    <p:sldId id="261" r:id="rId11"/>
    <p:sldId id="262" r:id="rId12"/>
    <p:sldId id="263" r:id="rId13"/>
    <p:sldId id="333" r:id="rId14"/>
    <p:sldId id="264" r:id="rId15"/>
    <p:sldId id="265" r:id="rId16"/>
    <p:sldId id="266" r:id="rId17"/>
    <p:sldId id="267" r:id="rId18"/>
  </p:sldIdLst>
  <p:sldSz cx="18288000" cy="10287000"/>
  <p:notesSz cx="6858000" cy="9144000"/>
  <p:embeddedFontLst>
    <p:embeddedFont>
      <p:font typeface="Poppins" panose="00000500000000000000" pitchFamily="2" charset="0"/>
      <p:regular r:id="rId20"/>
      <p:bold r:id="rId21"/>
      <p:italic r:id="rId22"/>
      <p:boldItalic r:id="rId23"/>
    </p:embeddedFont>
    <p:embeddedFont>
      <p:font typeface="Poppins Bold" panose="00000800000000000000" pitchFamily="2" charset="0"/>
      <p:regular r:id="rId24"/>
      <p:bold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95F3B1D-BD64-D56F-BDF3-FF9849864469}" name="Subharanjani S" initials="SS" userId="S::ssubha7@sutherlandglobal.com::82efc66b-b615-4333-a034-1568f5647c5b" providerId="AD"/>
  <p188:author id="{601739CD-6BD1-BAA4-2804-D2A8DA1BC46A}" name="Anupama Chatti" initials="AC" userId="S::chaanupa@sutherlandglobal.com::8d317b31-7766-4d69-bc0a-0192281c33af"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E8FD31B-8BC6-253A-5CAB-31880F7B7F6B}" v="2" dt="2026-09-21T13:09:50.96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39" d="100"/>
          <a:sy n="39" d="100"/>
        </p:scale>
        <p:origin x="940" y="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font" Target="fonts/font2.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6.fnt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font" Target="fonts/font1.fntdata"/><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5.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4.fntdata"/><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3.fntdata"/><Relationship Id="rId27" Type="http://schemas.openxmlformats.org/officeDocument/2006/relationships/viewProps" Target="viewProps.xml"/><Relationship Id="rId30" Type="http://schemas.microsoft.com/office/2015/10/relationships/revisionInfo" Target="revisionInfo.xml"/></Relationships>
</file>

<file path=ppt/comments/modernComment_100_0.xml><?xml version="1.0" encoding="utf-8"?>
<p188:cmLst xmlns:a="http://schemas.openxmlformats.org/drawingml/2006/main" xmlns:r="http://schemas.openxmlformats.org/officeDocument/2006/relationships" xmlns:p188="http://schemas.microsoft.com/office/powerpoint/2018/8/main">
  <p188:cm id="{8CBB1C50-B8D0-4368-B2F8-1FBC6859E2CE}" authorId="{601739CD-6BD1-BAA4-2804-D2A8DA1BC46A}" created="2026-09-05T11:35:31.293">
    <pc:sldMkLst xmlns:pc="http://schemas.microsoft.com/office/powerpoint/2013/main/command">
      <pc:docMk/>
      <pc:sldMk cId="0" sldId="256"/>
    </pc:sldMkLst>
    <p188:replyLst>
      <p188:reply id="{97B84743-7828-4187-92CB-852742A2997F}" authorId="{295F3B1D-BD64-D56F-BDF3-FF9849864469}" created="2026-09-23T11:56:17.892">
        <p188:txBody>
          <a:bodyPr/>
          <a:lstStyle/>
          <a:p>
            <a:r>
              <a:rPr lang="en-US"/>
              <a:t>Updated with examples</a:t>
            </a:r>
          </a:p>
        </p188:txBody>
      </p188:reply>
    </p188:replyLst>
    <p188:txBody>
      <a:bodyPr/>
      <a:lstStyle/>
      <a:p>
        <a:r>
          <a:rPr lang="en-US"/>
          <a:t>Add examples for legitimate and non legitimate reviews</a:t>
        </a:r>
      </a:p>
    </p188:txBody>
  </p188:cm>
</p188:cmLst>
</file>

<file path=ppt/comments/modernComment_102_0.xml><?xml version="1.0" encoding="utf-8"?>
<p188:cmLst xmlns:a="http://schemas.openxmlformats.org/drawingml/2006/main" xmlns:r="http://schemas.openxmlformats.org/officeDocument/2006/relationships" xmlns:p188="http://schemas.microsoft.com/office/powerpoint/2018/8/main">
  <p188:cm id="{DF03A7CC-DCAE-48C8-8F17-E32B191AC8DB}" authorId="{601739CD-6BD1-BAA4-2804-D2A8DA1BC46A}" created="2026-09-05T11:37:38.131">
    <ac:txMkLst xmlns:ac="http://schemas.microsoft.com/office/drawing/2013/main/command">
      <pc:docMk xmlns:pc="http://schemas.microsoft.com/office/powerpoint/2013/main/command"/>
      <pc:sldMk xmlns:pc="http://schemas.microsoft.com/office/powerpoint/2013/main/command" cId="0" sldId="258"/>
      <ac:spMk id="3" creationId="{00000000-0000-0000-0000-000000000000}"/>
      <ac:txMk cp="65" len="21">
        <ac:context len="201" hash="887309336"/>
      </ac:txMk>
    </ac:txMkLst>
    <p188:pos x="5029200" y="1173480"/>
    <p188:txBody>
      <a:bodyPr/>
      <a:lstStyle/>
      <a:p>
        <a:r>
          <a:rPr lang="en-US"/>
          <a:t>can we add an image to show this?</a:t>
        </a:r>
      </a:p>
    </p188:txBody>
  </p188:cm>
  <p188:cm id="{05B4281A-7595-4822-A949-68A9284422BD}" authorId="{601739CD-6BD1-BAA4-2804-D2A8DA1BC46A}" created="2026-09-05T11:38:12.180">
    <ac:txMkLst xmlns:ac="http://schemas.microsoft.com/office/drawing/2013/main/command">
      <pc:docMk xmlns:pc="http://schemas.microsoft.com/office/powerpoint/2013/main/command"/>
      <pc:sldMk xmlns:pc="http://schemas.microsoft.com/office/powerpoint/2013/main/command" cId="0" sldId="258"/>
      <ac:spMk id="13" creationId="{36E38BD8-E228-8074-59AA-89E2EBC5A545}"/>
      <ac:txMk cp="2" len="4">
        <ac:context len="72" hash="3185047595"/>
      </ac:txMk>
    </ac:txMkLst>
    <p188:replyLst>
      <p188:reply id="{28755689-FA1F-43D2-9F49-FB5296C36632}" authorId="{295F3B1D-BD64-D56F-BDF3-FF9849864469}" created="2026-09-23T12:00:24.510">
        <p188:txBody>
          <a:bodyPr/>
          <a:lstStyle/>
          <a:p>
            <a:r>
              <a:rPr lang="en-US"/>
              <a:t>updated</a:t>
            </a:r>
          </a:p>
        </p188:txBody>
      </p188:reply>
    </p188:replyLst>
    <p188:txBody>
      <a:bodyPr/>
      <a:lstStyle/>
      <a:p>
        <a:r>
          <a:rPr lang="en-US"/>
          <a:t>Can we make this into note?</a:t>
        </a:r>
      </a:p>
    </p188:txBody>
  </p188:cm>
</p188:cmLst>
</file>

<file path=ppt/comments/modernComment_103_0.xml><?xml version="1.0" encoding="utf-8"?>
<p188:cmLst xmlns:a="http://schemas.openxmlformats.org/drawingml/2006/main" xmlns:r="http://schemas.openxmlformats.org/officeDocument/2006/relationships" xmlns:p188="http://schemas.microsoft.com/office/powerpoint/2018/8/main">
  <p188:cm id="{EDFB24B3-8D41-4057-9BC6-BB1D4F9CD668}" authorId="{601739CD-6BD1-BAA4-2804-D2A8DA1BC46A}" created="2026-09-05T11:38:57.230">
    <ac:txMkLst xmlns:ac="http://schemas.microsoft.com/office/drawing/2013/main/command">
      <pc:docMk xmlns:pc="http://schemas.microsoft.com/office/powerpoint/2013/main/command"/>
      <pc:sldMk xmlns:pc="http://schemas.microsoft.com/office/powerpoint/2013/main/command" cId="0" sldId="259"/>
      <ac:spMk id="25" creationId="{00000000-0000-0000-0000-000000000000}"/>
      <ac:txMk cp="5" len="29">
        <ac:context len="73" hash="265010516"/>
      </ac:txMk>
    </ac:txMkLst>
    <p188:pos x="7223760" y="426720"/>
    <p188:txBody>
      <a:bodyPr/>
      <a:lstStyle/>
      <a:p>
        <a:r>
          <a:rPr lang="en-US"/>
          <a:t>Can we add an example or image that uses this macro</a:t>
        </a:r>
      </a:p>
    </p188:txBody>
  </p188:cm>
</p188:cmLst>
</file>

<file path=ppt/comments/modernComment_104_0.xml><?xml version="1.0" encoding="utf-8"?>
<p188:cmLst xmlns:a="http://schemas.openxmlformats.org/drawingml/2006/main" xmlns:r="http://schemas.openxmlformats.org/officeDocument/2006/relationships" xmlns:p188="http://schemas.microsoft.com/office/powerpoint/2018/8/main">
  <p188:cm id="{C3CC9D5B-9506-4F71-84C3-69DC7C16750E}" authorId="{601739CD-6BD1-BAA4-2804-D2A8DA1BC46A}" created="2026-09-05T11:39:38.045">
    <ac:txMkLst xmlns:ac="http://schemas.microsoft.com/office/drawing/2013/main/command">
      <pc:docMk xmlns:pc="http://schemas.microsoft.com/office/powerpoint/2013/main/command"/>
      <pc:sldMk xmlns:pc="http://schemas.microsoft.com/office/powerpoint/2013/main/command" cId="0" sldId="260"/>
      <ac:spMk id="29" creationId="{00000000-0000-0000-0000-000000000000}"/>
      <ac:txMk cp="0" len="96">
        <ac:context len="97" hash="1166209573"/>
      </ac:txMk>
    </ac:txMkLst>
    <p188:pos x="4922520" y="1249680"/>
    <p188:replyLst>
      <p188:reply id="{E68CDE3C-EB06-46DA-A1DF-CE1528A70634}" authorId="{295F3B1D-BD64-D56F-BDF3-FF9849864469}" created="2026-09-23T12:06:44.780">
        <p188:txBody>
          <a:bodyPr/>
          <a:lstStyle/>
          <a:p>
            <a:r>
              <a:rPr lang="en-US"/>
              <a:t>Rephrased the sentence</a:t>
            </a:r>
          </a:p>
        </p188:txBody>
      </p188:reply>
    </p188:replyLst>
    <p188:txBody>
      <a:bodyPr/>
      <a:lstStyle/>
      <a:p>
        <a:r>
          <a:rPr lang="en-US"/>
          <a:t>sentence is not quite clear can we rephrase for better understanding/</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608DD0-2693-4B05-885A-BBE41C726D95}" type="datetimeFigureOut">
              <a:t>9/28/2026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586C76-2CAD-44F0-B73C-2130821FB279}" type="slidenum">
              <a:t>‹#›</a:t>
            </a:fld>
            <a:endParaRPr lang="en-US"/>
          </a:p>
        </p:txBody>
      </p:sp>
    </p:spTree>
    <p:extLst>
      <p:ext uri="{BB962C8B-B14F-4D97-AF65-F5344CB8AC3E}">
        <p14:creationId xmlns:p14="http://schemas.microsoft.com/office/powerpoint/2010/main" val="19314089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ZD = Zendesk</a:t>
            </a:r>
          </a:p>
        </p:txBody>
      </p:sp>
      <p:sp>
        <p:nvSpPr>
          <p:cNvPr id="4" name="Slide Number Placeholder 3"/>
          <p:cNvSpPr>
            <a:spLocks noGrp="1"/>
          </p:cNvSpPr>
          <p:nvPr>
            <p:ph type="sldNum" sz="quarter" idx="5"/>
          </p:nvPr>
        </p:nvSpPr>
        <p:spPr/>
        <p:txBody>
          <a:bodyPr/>
          <a:lstStyle/>
          <a:p>
            <a:fld id="{F4586C76-2CAD-44F0-B73C-2130821FB279}" type="slidenum">
              <a:t>8</a:t>
            </a:fld>
            <a:endParaRPr lang="en-US"/>
          </a:p>
        </p:txBody>
      </p:sp>
    </p:spTree>
    <p:extLst>
      <p:ext uri="{BB962C8B-B14F-4D97-AF65-F5344CB8AC3E}">
        <p14:creationId xmlns:p14="http://schemas.microsoft.com/office/powerpoint/2010/main" val="13542606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8/10/relationships/comments" Target="../comments/modernComment_100_0.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9.svg"/><Relationship Id="rId13" Type="http://schemas.openxmlformats.org/officeDocument/2006/relationships/image" Target="../media/image14.svg"/><Relationship Id="rId3" Type="http://schemas.openxmlformats.org/officeDocument/2006/relationships/image" Target="../media/image4.svg"/><Relationship Id="rId7" Type="http://schemas.openxmlformats.org/officeDocument/2006/relationships/image" Target="../media/image8.svg"/><Relationship Id="rId12" Type="http://schemas.openxmlformats.org/officeDocument/2006/relationships/image" Target="../media/image13.svg"/><Relationship Id="rId2" Type="http://schemas.openxmlformats.org/officeDocument/2006/relationships/image" Target="../media/image3.svg"/><Relationship Id="rId1" Type="http://schemas.openxmlformats.org/officeDocument/2006/relationships/slideLayout" Target="../slideLayouts/slideLayout7.xml"/><Relationship Id="rId6" Type="http://schemas.openxmlformats.org/officeDocument/2006/relationships/image" Target="../media/image7.svg"/><Relationship Id="rId11" Type="http://schemas.openxmlformats.org/officeDocument/2006/relationships/image" Target="../media/image12.svg"/><Relationship Id="rId5" Type="http://schemas.openxmlformats.org/officeDocument/2006/relationships/image" Target="../media/image6.svg"/><Relationship Id="rId15" Type="http://schemas.openxmlformats.org/officeDocument/2006/relationships/image" Target="../media/image16.sv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 Id="rId14" Type="http://schemas.openxmlformats.org/officeDocument/2006/relationships/image" Target="../media/image15.svg"/></Relationships>
</file>

<file path=ppt/slides/_rels/slide4.xml.rels><?xml version="1.0" encoding="UTF-8" standalone="yes"?>
<Relationships xmlns="http://schemas.openxmlformats.org/package/2006/relationships"><Relationship Id="rId3" Type="http://schemas.openxmlformats.org/officeDocument/2006/relationships/hyperlink" Target="https://tripadvisor.atlassian.net/wiki/spaces/ASK/pages/300090517/08a.+What+to+check+before+replying+to+an+Owner+in+FPS+Conversation" TargetMode="External"/><Relationship Id="rId2" Type="http://schemas.microsoft.com/office/2018/10/relationships/comments" Target="../comments/modernComment_102_0.xml"/><Relationship Id="rId1" Type="http://schemas.openxmlformats.org/officeDocument/2006/relationships/slideLayout" Target="../slideLayouts/slideLayout7.xml"/><Relationship Id="rId6" Type="http://schemas.openxmlformats.org/officeDocument/2006/relationships/image" Target="../media/image17.svg"/><Relationship Id="rId5" Type="http://schemas.openxmlformats.org/officeDocument/2006/relationships/image" Target="../media/image11.sv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8.svg"/><Relationship Id="rId2" Type="http://schemas.microsoft.com/office/2018/10/relationships/comments" Target="../comments/modernComment_103_0.xml"/><Relationship Id="rId1" Type="http://schemas.openxmlformats.org/officeDocument/2006/relationships/slideLayout" Target="../slideLayouts/slideLayout7.xml"/><Relationship Id="rId4" Type="http://schemas.openxmlformats.org/officeDocument/2006/relationships/image" Target="../media/image19.svg"/></Relationships>
</file>

<file path=ppt/slides/_rels/slide6.xml.rels><?xml version="1.0" encoding="UTF-8" standalone="yes"?>
<Relationships xmlns="http://schemas.openxmlformats.org/package/2006/relationships"><Relationship Id="rId3" Type="http://schemas.openxmlformats.org/officeDocument/2006/relationships/image" Target="../media/image20.svg"/><Relationship Id="rId2" Type="http://schemas.microsoft.com/office/2018/10/relationships/comments" Target="../comments/modernComment_104_0.xml"/><Relationship Id="rId1" Type="http://schemas.openxmlformats.org/officeDocument/2006/relationships/slideLayout" Target="../slideLayouts/slideLayout7.xml"/><Relationship Id="rId4" Type="http://schemas.openxmlformats.org/officeDocument/2006/relationships/image" Target="../media/image17.svg"/></Relationships>
</file>

<file path=ppt/slides/_rels/slide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21.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3.svg"/></Relationships>
</file>

<file path=ppt/slides/_rels/slide9.xml.rels><?xml version="1.0" encoding="UTF-8" standalone="yes"?>
<Relationships xmlns="http://schemas.openxmlformats.org/package/2006/relationships"><Relationship Id="rId3" Type="http://schemas.openxmlformats.org/officeDocument/2006/relationships/image" Target="../media/image25.svg"/><Relationship Id="rId7" Type="http://schemas.openxmlformats.org/officeDocument/2006/relationships/image" Target="../media/image29.svg"/><Relationship Id="rId2" Type="http://schemas.openxmlformats.org/officeDocument/2006/relationships/image" Target="../media/image24.svg"/><Relationship Id="rId1" Type="http://schemas.openxmlformats.org/officeDocument/2006/relationships/slideLayout" Target="../slideLayouts/slideLayout7.xml"/><Relationship Id="rId6" Type="http://schemas.openxmlformats.org/officeDocument/2006/relationships/image" Target="../media/image28.svg"/><Relationship Id="rId5" Type="http://schemas.openxmlformats.org/officeDocument/2006/relationships/image" Target="../media/image27.svg"/><Relationship Id="rId4" Type="http://schemas.openxmlformats.org/officeDocument/2006/relationships/image" Target="../media/image26.svg"/></Relationships>
</file>

<file path=ppt/slides/_rels/slide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svg"/><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1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7.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897772" y="2400300"/>
            <a:ext cx="5108831" cy="6180038"/>
          </a:xfrm>
          <a:custGeom>
            <a:avLst/>
            <a:gdLst/>
            <a:ahLst/>
            <a:cxnLst/>
            <a:rect l="l" t="t" r="r" b="b"/>
            <a:pathLst>
              <a:path w="5108831" h="6180038">
                <a:moveTo>
                  <a:pt x="0" y="0"/>
                </a:moveTo>
                <a:lnTo>
                  <a:pt x="5108831" y="0"/>
                </a:lnTo>
                <a:lnTo>
                  <a:pt x="5108831" y="6180038"/>
                </a:lnTo>
                <a:lnTo>
                  <a:pt x="0" y="6180038"/>
                </a:lnTo>
                <a:lnTo>
                  <a:pt x="0" y="0"/>
                </a:lnTo>
                <a:close/>
              </a:path>
            </a:pathLst>
          </a:custGeom>
          <a:blipFill>
            <a:blip r:embed="rId3"/>
            <a:stretch>
              <a:fillRect/>
            </a:stretch>
          </a:blipFill>
          <a:effectLst>
            <a:outerShdw blurRad="50800" dist="38100" dir="5400000" algn="t" rotWithShape="0">
              <a:prstClr val="black">
                <a:alpha val="40000"/>
              </a:prstClr>
            </a:outerShdw>
          </a:effectLst>
        </p:spPr>
        <p:txBody>
          <a:bodyPr/>
          <a:lstStyle/>
          <a:p>
            <a:endParaRPr lang="en-US"/>
          </a:p>
        </p:txBody>
      </p:sp>
      <p:sp>
        <p:nvSpPr>
          <p:cNvPr id="3" name="TextBox 3"/>
          <p:cNvSpPr txBox="1"/>
          <p:nvPr/>
        </p:nvSpPr>
        <p:spPr>
          <a:xfrm>
            <a:off x="1340430" y="1084199"/>
            <a:ext cx="13111758" cy="934720"/>
          </a:xfrm>
          <a:prstGeom prst="rect">
            <a:avLst/>
          </a:prstGeom>
        </p:spPr>
        <p:txBody>
          <a:bodyPr lIns="0" tIns="0" rIns="0" bIns="0" rtlCol="0" anchor="t">
            <a:spAutoFit/>
          </a:bodyPr>
          <a:lstStyle/>
          <a:p>
            <a:pPr algn="ctr">
              <a:lnSpc>
                <a:spcPts val="7279"/>
              </a:lnSpc>
              <a:spcBef>
                <a:spcPct val="0"/>
              </a:spcBef>
            </a:pPr>
            <a:r>
              <a:rPr lang="en-US" sz="5199" b="1" dirty="0">
                <a:solidFill>
                  <a:srgbClr val="000000"/>
                </a:solidFill>
                <a:latin typeface="Poppins Bold"/>
                <a:ea typeface="Poppins Bold"/>
                <a:cs typeface="Poppins Bold"/>
                <a:sym typeface="Poppins Bold"/>
              </a:rPr>
              <a:t>Introduction to Owner Review Disputes</a:t>
            </a:r>
          </a:p>
        </p:txBody>
      </p:sp>
      <p:sp>
        <p:nvSpPr>
          <p:cNvPr id="4" name="TextBox 4"/>
          <p:cNvSpPr txBox="1"/>
          <p:nvPr/>
        </p:nvSpPr>
        <p:spPr>
          <a:xfrm>
            <a:off x="1203322" y="2252454"/>
            <a:ext cx="10000001" cy="7058984"/>
          </a:xfrm>
          <a:prstGeom prst="rect">
            <a:avLst/>
          </a:prstGeom>
        </p:spPr>
        <p:txBody>
          <a:bodyPr wrap="square" lIns="0" tIns="0" rIns="0" bIns="0" rtlCol="0" anchor="t">
            <a:spAutoFit/>
          </a:bodyPr>
          <a:lstStyle/>
          <a:p>
            <a:pPr marL="580389" lvl="1" indent="-342900" algn="l">
              <a:lnSpc>
                <a:spcPct val="150000"/>
              </a:lnSpc>
              <a:buFont typeface="Arial" panose="020B0604020202020204" pitchFamily="34" charset="0"/>
              <a:buChar char="•"/>
            </a:pPr>
            <a:r>
              <a:rPr lang="en-US" sz="2199" dirty="0">
                <a:solidFill>
                  <a:srgbClr val="000000"/>
                </a:solidFill>
                <a:latin typeface="Poppins"/>
                <a:ea typeface="Poppins"/>
                <a:cs typeface="Poppins"/>
                <a:sym typeface="Poppins"/>
              </a:rPr>
              <a:t>Owners contact Fraud Support to dispute reviews</a:t>
            </a:r>
          </a:p>
          <a:p>
            <a:pPr marL="580389" lvl="1" indent="-342900" algn="l">
              <a:lnSpc>
                <a:spcPct val="150000"/>
              </a:lnSpc>
              <a:buFont typeface="Arial" panose="020B0604020202020204" pitchFamily="34" charset="0"/>
              <a:buChar char="•"/>
            </a:pPr>
            <a:r>
              <a:rPr lang="en-US" sz="2199" dirty="0">
                <a:solidFill>
                  <a:srgbClr val="000000"/>
                </a:solidFill>
                <a:latin typeface="Poppins"/>
                <a:ea typeface="Poppins"/>
                <a:cs typeface="Poppins"/>
                <a:sym typeface="Poppins"/>
              </a:rPr>
              <a:t>Some disputes are legitimate </a:t>
            </a:r>
          </a:p>
          <a:p>
            <a:pPr marL="1257300" lvl="2" indent="-342900">
              <a:lnSpc>
                <a:spcPct val="150000"/>
              </a:lnSpc>
              <a:buFont typeface="Courier New" panose="02070309020205020404" pitchFamily="49" charset="0"/>
              <a:buChar char="o"/>
            </a:pPr>
            <a:r>
              <a:rPr lang="en-US" sz="2199" b="1" dirty="0">
                <a:solidFill>
                  <a:srgbClr val="000000"/>
                </a:solidFill>
                <a:latin typeface="Poppins"/>
                <a:cs typeface="Poppins"/>
              </a:rPr>
              <a:t>Blackmail: </a:t>
            </a:r>
            <a:r>
              <a:rPr lang="en-US" sz="2199" dirty="0">
                <a:solidFill>
                  <a:srgbClr val="000000"/>
                </a:solidFill>
                <a:latin typeface="Poppins"/>
                <a:cs typeface="Poppins"/>
              </a:rPr>
              <a:t>A guest threatens to post a negative review unless they receive a refund.</a:t>
            </a:r>
          </a:p>
          <a:p>
            <a:pPr marL="1257300" lvl="2" indent="-342900">
              <a:lnSpc>
                <a:spcPct val="150000"/>
              </a:lnSpc>
              <a:buFont typeface="Courier New" panose="02070309020205020404" pitchFamily="49" charset="0"/>
              <a:buChar char="o"/>
            </a:pPr>
            <a:r>
              <a:rPr lang="en-US" sz="2199" b="1" dirty="0">
                <a:solidFill>
                  <a:srgbClr val="000000"/>
                </a:solidFill>
                <a:latin typeface="Poppins"/>
                <a:cs typeface="Poppins"/>
              </a:rPr>
              <a:t>Vandalism: </a:t>
            </a:r>
            <a:r>
              <a:rPr lang="en-US" sz="2199" dirty="0">
                <a:solidFill>
                  <a:srgbClr val="000000"/>
                </a:solidFill>
                <a:latin typeface="Poppins"/>
                <a:cs typeface="Poppins"/>
              </a:rPr>
              <a:t>A review is posted about a property the reviewer did not visit.</a:t>
            </a:r>
            <a:br>
              <a:rPr lang="en-US" sz="2199" dirty="0">
                <a:solidFill>
                  <a:srgbClr val="000000"/>
                </a:solidFill>
                <a:latin typeface="Poppins"/>
                <a:cs typeface="Poppins"/>
              </a:rPr>
            </a:br>
            <a:endParaRPr lang="en-US" sz="2199" dirty="0">
              <a:solidFill>
                <a:srgbClr val="000000"/>
              </a:solidFill>
              <a:latin typeface="Poppins"/>
              <a:ea typeface="Poppins"/>
              <a:cs typeface="Poppins"/>
              <a:sym typeface="Poppins"/>
            </a:endParaRPr>
          </a:p>
          <a:p>
            <a:pPr marL="800100" lvl="1" indent="-342900">
              <a:lnSpc>
                <a:spcPct val="150000"/>
              </a:lnSpc>
              <a:buFont typeface="Arial" panose="020B0604020202020204" pitchFamily="34" charset="0"/>
              <a:buChar char="•"/>
            </a:pPr>
            <a:r>
              <a:rPr lang="en-US" sz="2199" dirty="0">
                <a:solidFill>
                  <a:srgbClr val="000000"/>
                </a:solidFill>
                <a:latin typeface="Poppins"/>
                <a:cs typeface="Poppins"/>
              </a:rPr>
              <a:t>Other disputes are not legitimate and are attempts to remove negative feedback, such as:</a:t>
            </a:r>
            <a:endParaRPr lang="en-US" sz="2199" dirty="0">
              <a:solidFill>
                <a:srgbClr val="000000"/>
              </a:solidFill>
              <a:latin typeface="Poppins"/>
              <a:cs typeface="Poppins"/>
              <a:sym typeface="Poppins"/>
            </a:endParaRPr>
          </a:p>
          <a:p>
            <a:pPr marL="1257300" lvl="2" indent="-342900">
              <a:lnSpc>
                <a:spcPct val="150000"/>
              </a:lnSpc>
              <a:buFont typeface="Courier New" panose="02070309020205020404" pitchFamily="49" charset="0"/>
              <a:buChar char="o"/>
            </a:pPr>
            <a:r>
              <a:rPr lang="en-US" sz="2199" dirty="0">
                <a:solidFill>
                  <a:srgbClr val="000000"/>
                </a:solidFill>
                <a:latin typeface="Poppins"/>
                <a:cs typeface="Poppins"/>
              </a:rPr>
              <a:t>A guest had a poor experience and honestly described it in their review.</a:t>
            </a:r>
          </a:p>
          <a:p>
            <a:pPr marL="1257300" lvl="2" indent="-342900">
              <a:lnSpc>
                <a:spcPct val="150000"/>
              </a:lnSpc>
              <a:buFont typeface="Courier New" panose="02070309020205020404" pitchFamily="49" charset="0"/>
              <a:buChar char="o"/>
            </a:pPr>
            <a:r>
              <a:rPr lang="en-US" sz="2199" dirty="0">
                <a:solidFill>
                  <a:srgbClr val="000000"/>
                </a:solidFill>
                <a:latin typeface="Poppins"/>
                <a:cs typeface="Poppins"/>
              </a:rPr>
              <a:t>An owner claims a review is unfair even though it meets the review guidelines.</a:t>
            </a:r>
          </a:p>
          <a:p>
            <a:pPr marL="236855" lvl="1" algn="l">
              <a:lnSpc>
                <a:spcPct val="150000"/>
              </a:lnSpc>
            </a:pPr>
            <a:endParaRPr lang="en-US" sz="2199" dirty="0">
              <a:solidFill>
                <a:srgbClr val="000000"/>
              </a:solidFill>
              <a:latin typeface="Poppins"/>
              <a:ea typeface="Poppins"/>
              <a:cs typeface="Poppins"/>
            </a:endParaRPr>
          </a:p>
        </p:txBody>
      </p:sp>
      <p:sp>
        <p:nvSpPr>
          <p:cNvPr id="7" name="TextBox 6">
            <a:extLst>
              <a:ext uri="{FF2B5EF4-FFF2-40B4-BE49-F238E27FC236}">
                <a16:creationId xmlns:a16="http://schemas.microsoft.com/office/drawing/2014/main" id="{F11FDDC0-BA48-B4A2-3904-255DFFA6A4DB}"/>
              </a:ext>
            </a:extLst>
          </p:cNvPr>
          <p:cNvSpPr txBox="1"/>
          <p:nvPr/>
        </p:nvSpPr>
        <p:spPr>
          <a:xfrm>
            <a:off x="600003" y="9661691"/>
            <a:ext cx="10000001" cy="314772"/>
          </a:xfrm>
          <a:prstGeom prst="rect">
            <a:avLst/>
          </a:prstGeom>
          <a:noFill/>
        </p:spPr>
        <p:txBody>
          <a:bodyPr wrap="square" anchor="t">
            <a:spAutoFit/>
          </a:bodyPr>
          <a:lstStyle>
            <a:defPPr>
              <a:defRPr lang="en-US"/>
            </a:defPPr>
            <a:lvl1pPr defTabSz="914445">
              <a:defRPr sz="1400">
                <a:solidFill>
                  <a:srgbClr val="8A8272"/>
                </a:solidFill>
                <a:latin typeface="Poppins"/>
              </a:defRPr>
            </a:lvl1pPr>
            <a:lvl2pPr marL="685800" defTabSz="1371600">
              <a:defRPr sz="2700"/>
            </a:lvl2pPr>
            <a:lvl3pPr marL="1371600" defTabSz="1371600">
              <a:defRPr sz="2700"/>
            </a:lvl3pPr>
            <a:lvl4pPr marL="2057400" defTabSz="1371600">
              <a:defRPr sz="2700"/>
            </a:lvl4pPr>
            <a:lvl5pPr marL="2743200" defTabSz="1371600">
              <a:defRPr sz="2700"/>
            </a:lvl5pPr>
            <a:lvl6pPr marL="3429000" defTabSz="1371600">
              <a:defRPr sz="2700"/>
            </a:lvl6pPr>
            <a:lvl7pPr marL="4114800" defTabSz="1371600">
              <a:defRPr sz="2700"/>
            </a:lvl7pPr>
            <a:lvl8pPr marL="4800600" defTabSz="1371600">
              <a:defRPr sz="2700"/>
            </a:lvl8pPr>
            <a:lvl9pPr marL="5486400" defTabSz="1371600">
              <a:defRPr sz="2700"/>
            </a:lvl9pPr>
          </a:lstStyle>
          <a:p>
            <a:pPr defTabSz="914441"/>
            <a:r>
              <a:rPr dirty="0"/>
              <a:t>T</a:t>
            </a:r>
            <a:r>
              <a:rPr lang="en-US" dirty="0"/>
              <a:t>ripadvisor / Owner Review Disputes</a:t>
            </a:r>
            <a:endParaRPr dirty="0"/>
          </a:p>
        </p:txBody>
      </p:sp>
    </p:spTree>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5184"/>
        </a:solidFill>
        <a:effectLst/>
      </p:bgPr>
    </p:bg>
    <p:spTree>
      <p:nvGrpSpPr>
        <p:cNvPr id="1" name="">
          <a:extLst>
            <a:ext uri="{FF2B5EF4-FFF2-40B4-BE49-F238E27FC236}">
              <a16:creationId xmlns:a16="http://schemas.microsoft.com/office/drawing/2014/main" id="{8532CAEF-AB96-91C2-8075-99EE2E31151A}"/>
            </a:ext>
          </a:extLst>
        </p:cNvPr>
        <p:cNvGrpSpPr/>
        <p:nvPr/>
      </p:nvGrpSpPr>
      <p:grpSpPr>
        <a:xfrm>
          <a:off x="0" y="0"/>
          <a:ext cx="0" cy="0"/>
          <a:chOff x="0" y="0"/>
          <a:chExt cx="0" cy="0"/>
        </a:xfrm>
      </p:grpSpPr>
      <p:pic>
        <p:nvPicPr>
          <p:cNvPr id="29" name="Picture 28">
            <a:extLst>
              <a:ext uri="{FF2B5EF4-FFF2-40B4-BE49-F238E27FC236}">
                <a16:creationId xmlns:a16="http://schemas.microsoft.com/office/drawing/2014/main" id="{60C987CE-946D-C30A-5777-9882A80A4E4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78385" y="190500"/>
            <a:ext cx="17331231" cy="8229600"/>
          </a:xfrm>
          <a:prstGeom prst="rect">
            <a:avLst/>
          </a:prstGeom>
        </p:spPr>
      </p:pic>
      <p:sp>
        <p:nvSpPr>
          <p:cNvPr id="3" name="AutoShape 3">
            <a:extLst>
              <a:ext uri="{FF2B5EF4-FFF2-40B4-BE49-F238E27FC236}">
                <a16:creationId xmlns:a16="http://schemas.microsoft.com/office/drawing/2014/main" id="{B22C2110-94AE-59B9-CB3D-E32EF3A8F670}"/>
              </a:ext>
            </a:extLst>
          </p:cNvPr>
          <p:cNvSpPr/>
          <p:nvPr/>
        </p:nvSpPr>
        <p:spPr>
          <a:xfrm>
            <a:off x="478385" y="8703951"/>
            <a:ext cx="17331231" cy="0"/>
          </a:xfrm>
          <a:prstGeom prst="line">
            <a:avLst/>
          </a:prstGeom>
          <a:ln w="38100" cap="flat">
            <a:solidFill>
              <a:srgbClr val="002B11"/>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4" name="Group 4">
            <a:extLst>
              <a:ext uri="{FF2B5EF4-FFF2-40B4-BE49-F238E27FC236}">
                <a16:creationId xmlns:a16="http://schemas.microsoft.com/office/drawing/2014/main" id="{25215F4A-8514-9DCA-9672-AF01F1A12E97}"/>
              </a:ext>
            </a:extLst>
          </p:cNvPr>
          <p:cNvGrpSpPr/>
          <p:nvPr/>
        </p:nvGrpSpPr>
        <p:grpSpPr>
          <a:xfrm>
            <a:off x="1028700" y="671195"/>
            <a:ext cx="2239382" cy="670446"/>
            <a:chOff x="0" y="0"/>
            <a:chExt cx="589796" cy="176578"/>
          </a:xfrm>
        </p:grpSpPr>
        <p:sp>
          <p:nvSpPr>
            <p:cNvPr id="5" name="Freeform 5">
              <a:extLst>
                <a:ext uri="{FF2B5EF4-FFF2-40B4-BE49-F238E27FC236}">
                  <a16:creationId xmlns:a16="http://schemas.microsoft.com/office/drawing/2014/main" id="{B0AB800A-3DF2-D222-E91D-8667D0D28093}"/>
                </a:ext>
              </a:extLst>
            </p:cNvPr>
            <p:cNvSpPr/>
            <p:nvPr/>
          </p:nvSpPr>
          <p:spPr>
            <a:xfrm>
              <a:off x="0" y="0"/>
              <a:ext cx="589796" cy="176578"/>
            </a:xfrm>
            <a:custGeom>
              <a:avLst/>
              <a:gdLst/>
              <a:ahLst/>
              <a:cxnLst/>
              <a:rect l="l" t="t" r="r" b="b"/>
              <a:pathLst>
                <a:path w="589796" h="176578">
                  <a:moveTo>
                    <a:pt x="88289" y="0"/>
                  </a:moveTo>
                  <a:lnTo>
                    <a:pt x="501507" y="0"/>
                  </a:lnTo>
                  <a:cubicBezTo>
                    <a:pt x="524923" y="0"/>
                    <a:pt x="547379" y="9302"/>
                    <a:pt x="563937" y="25859"/>
                  </a:cubicBezTo>
                  <a:cubicBezTo>
                    <a:pt x="580494" y="42417"/>
                    <a:pt x="589796" y="64873"/>
                    <a:pt x="589796" y="88289"/>
                  </a:cubicBezTo>
                  <a:lnTo>
                    <a:pt x="589796" y="88289"/>
                  </a:lnTo>
                  <a:cubicBezTo>
                    <a:pt x="589796" y="137050"/>
                    <a:pt x="550268" y="176578"/>
                    <a:pt x="501507" y="176578"/>
                  </a:cubicBezTo>
                  <a:lnTo>
                    <a:pt x="88289" y="176578"/>
                  </a:lnTo>
                  <a:cubicBezTo>
                    <a:pt x="39528" y="176578"/>
                    <a:pt x="0" y="137050"/>
                    <a:pt x="0" y="88289"/>
                  </a:cubicBezTo>
                  <a:lnTo>
                    <a:pt x="0" y="88289"/>
                  </a:lnTo>
                  <a:cubicBezTo>
                    <a:pt x="0" y="39528"/>
                    <a:pt x="39528" y="0"/>
                    <a:pt x="88289" y="0"/>
                  </a:cubicBezTo>
                  <a:close/>
                </a:path>
              </a:pathLst>
            </a:custGeom>
            <a:solidFill>
              <a:srgbClr val="FB5184"/>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6">
              <a:extLst>
                <a:ext uri="{FF2B5EF4-FFF2-40B4-BE49-F238E27FC236}">
                  <a16:creationId xmlns:a16="http://schemas.microsoft.com/office/drawing/2014/main" id="{8B3A8175-27A6-7563-D58D-36AC5C29E575}"/>
                </a:ext>
              </a:extLst>
            </p:cNvPr>
            <p:cNvSpPr txBox="1"/>
            <p:nvPr/>
          </p:nvSpPr>
          <p:spPr>
            <a:xfrm>
              <a:off x="0" y="-47625"/>
              <a:ext cx="589796" cy="224203"/>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 name="Group 7">
            <a:extLst>
              <a:ext uri="{FF2B5EF4-FFF2-40B4-BE49-F238E27FC236}">
                <a16:creationId xmlns:a16="http://schemas.microsoft.com/office/drawing/2014/main" id="{22E6961E-690B-996C-315B-8492CF20BBE8}"/>
              </a:ext>
            </a:extLst>
          </p:cNvPr>
          <p:cNvGrpSpPr/>
          <p:nvPr/>
        </p:nvGrpSpPr>
        <p:grpSpPr>
          <a:xfrm>
            <a:off x="14684028" y="574219"/>
            <a:ext cx="2725614" cy="622382"/>
            <a:chOff x="0" y="0"/>
            <a:chExt cx="717857" cy="163920"/>
          </a:xfrm>
        </p:grpSpPr>
        <p:sp>
          <p:nvSpPr>
            <p:cNvPr id="8" name="Freeform 8">
              <a:extLst>
                <a:ext uri="{FF2B5EF4-FFF2-40B4-BE49-F238E27FC236}">
                  <a16:creationId xmlns:a16="http://schemas.microsoft.com/office/drawing/2014/main" id="{97E4E7FB-2529-0541-8812-AF4299BB931E}"/>
                </a:ext>
              </a:extLst>
            </p:cNvPr>
            <p:cNvSpPr/>
            <p:nvPr/>
          </p:nvSpPr>
          <p:spPr>
            <a:xfrm>
              <a:off x="0" y="0"/>
              <a:ext cx="717857" cy="163920"/>
            </a:xfrm>
            <a:custGeom>
              <a:avLst/>
              <a:gdLst/>
              <a:ahLst/>
              <a:cxnLst/>
              <a:rect l="l" t="t" r="r" b="b"/>
              <a:pathLst>
                <a:path w="717857" h="163920">
                  <a:moveTo>
                    <a:pt x="81960" y="0"/>
                  </a:moveTo>
                  <a:lnTo>
                    <a:pt x="635897" y="0"/>
                  </a:lnTo>
                  <a:cubicBezTo>
                    <a:pt x="681163" y="0"/>
                    <a:pt x="717857" y="36695"/>
                    <a:pt x="717857" y="81960"/>
                  </a:cubicBezTo>
                  <a:lnTo>
                    <a:pt x="717857" y="81960"/>
                  </a:lnTo>
                  <a:cubicBezTo>
                    <a:pt x="717857" y="103697"/>
                    <a:pt x="709222" y="124544"/>
                    <a:pt x="693852" y="139914"/>
                  </a:cubicBezTo>
                  <a:cubicBezTo>
                    <a:pt x="678481" y="155285"/>
                    <a:pt x="657634" y="163920"/>
                    <a:pt x="635897" y="163920"/>
                  </a:cubicBezTo>
                  <a:lnTo>
                    <a:pt x="81960" y="163920"/>
                  </a:lnTo>
                  <a:cubicBezTo>
                    <a:pt x="36695" y="163920"/>
                    <a:pt x="0" y="127225"/>
                    <a:pt x="0" y="81960"/>
                  </a:cubicBezTo>
                  <a:lnTo>
                    <a:pt x="0" y="81960"/>
                  </a:lnTo>
                  <a:cubicBezTo>
                    <a:pt x="0" y="36695"/>
                    <a:pt x="36695" y="0"/>
                    <a:pt x="81960" y="0"/>
                  </a:cubicBezTo>
                  <a:close/>
                </a:path>
              </a:pathLst>
            </a:custGeom>
            <a:solidFill>
              <a:srgbClr val="FB5184"/>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TextBox 9">
              <a:extLst>
                <a:ext uri="{FF2B5EF4-FFF2-40B4-BE49-F238E27FC236}">
                  <a16:creationId xmlns:a16="http://schemas.microsoft.com/office/drawing/2014/main" id="{8FAD0CF6-E729-5D8D-6386-0BD730631483}"/>
                </a:ext>
              </a:extLst>
            </p:cNvPr>
            <p:cNvSpPr txBox="1"/>
            <p:nvPr/>
          </p:nvSpPr>
          <p:spPr>
            <a:xfrm>
              <a:off x="0" y="-47625"/>
              <a:ext cx="717857" cy="211545"/>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0" name="TextBox 10">
            <a:extLst>
              <a:ext uri="{FF2B5EF4-FFF2-40B4-BE49-F238E27FC236}">
                <a16:creationId xmlns:a16="http://schemas.microsoft.com/office/drawing/2014/main" id="{ADF88D0C-EC67-BDCF-C8AB-FAA60F8BAA46}"/>
              </a:ext>
            </a:extLst>
          </p:cNvPr>
          <p:cNvSpPr txBox="1"/>
          <p:nvPr/>
        </p:nvSpPr>
        <p:spPr>
          <a:xfrm>
            <a:off x="478385" y="8719968"/>
            <a:ext cx="17809615" cy="1279196"/>
          </a:xfrm>
          <a:prstGeom prst="rect">
            <a:avLst/>
          </a:prstGeom>
        </p:spPr>
        <p:txBody>
          <a:bodyPr wrap="square" lIns="0" tIns="0" rIns="0" bIns="0" rtlCol="0" anchor="t">
            <a:spAutoFit/>
          </a:bodyPr>
          <a:lstStyle/>
          <a:p>
            <a:pPr marL="0" marR="0" lvl="0" indent="0" algn="l" defTabSz="914400" rtl="0" eaLnBrk="1" fontAlgn="auto" latinLnBrk="0" hangingPunct="1">
              <a:lnSpc>
                <a:spcPts val="10500"/>
              </a:lnSpc>
              <a:spcBef>
                <a:spcPts val="0"/>
              </a:spcBef>
              <a:spcAft>
                <a:spcPts val="0"/>
              </a:spcAft>
              <a:buClrTx/>
              <a:buSzTx/>
              <a:buFontTx/>
              <a:buNone/>
              <a:tabLst/>
              <a:defRPr/>
            </a:pPr>
            <a:r>
              <a:rPr kumimoji="0" lang="en-US" sz="7500" b="1" i="0" u="none" strike="noStrike" kern="1200" cap="none" spc="0" normalizeH="0" baseline="0" noProof="0" dirty="0">
                <a:ln>
                  <a:noFill/>
                </a:ln>
                <a:solidFill>
                  <a:srgbClr val="002B11"/>
                </a:solidFill>
                <a:effectLst/>
                <a:uLnTx/>
                <a:uFillTx/>
                <a:latin typeface="Poppins Bold"/>
                <a:ea typeface="Poppins Bold"/>
                <a:cs typeface="Poppins Bold"/>
                <a:sym typeface="Poppins Bold"/>
              </a:rPr>
              <a:t>01. </a:t>
            </a:r>
            <a:r>
              <a:rPr lang="en-US" sz="7500" b="1" dirty="0">
                <a:solidFill>
                  <a:srgbClr val="002B11"/>
                </a:solidFill>
                <a:latin typeface="Poppins Bold"/>
                <a:ea typeface="Poppins Bold"/>
                <a:cs typeface="Poppins Bold"/>
                <a:sym typeface="Poppins Bold"/>
              </a:rPr>
              <a:t>Owner Review Disputes Handling</a:t>
            </a:r>
            <a:endParaRPr kumimoji="0" lang="en-US" sz="7500" b="1" i="0" u="none" strike="noStrike" kern="1200" cap="none" spc="0" normalizeH="0" baseline="0" noProof="0" dirty="0">
              <a:ln>
                <a:noFill/>
              </a:ln>
              <a:solidFill>
                <a:srgbClr val="002B11"/>
              </a:solidFill>
              <a:effectLst/>
              <a:uLnTx/>
              <a:uFillTx/>
              <a:latin typeface="Poppins Bold"/>
              <a:ea typeface="Poppins Bold"/>
              <a:cs typeface="Poppins Bold"/>
              <a:sym typeface="Poppins Bold"/>
            </a:endParaRPr>
          </a:p>
        </p:txBody>
      </p:sp>
      <p:sp>
        <p:nvSpPr>
          <p:cNvPr id="11" name="TextBox 11">
            <a:extLst>
              <a:ext uri="{FF2B5EF4-FFF2-40B4-BE49-F238E27FC236}">
                <a16:creationId xmlns:a16="http://schemas.microsoft.com/office/drawing/2014/main" id="{ACD0912C-5341-493A-7178-51E36A054D28}"/>
              </a:ext>
            </a:extLst>
          </p:cNvPr>
          <p:cNvSpPr txBox="1"/>
          <p:nvPr/>
        </p:nvSpPr>
        <p:spPr>
          <a:xfrm>
            <a:off x="1141613" y="801147"/>
            <a:ext cx="2013556" cy="377091"/>
          </a:xfrm>
          <a:prstGeom prst="rect">
            <a:avLst/>
          </a:prstGeom>
        </p:spPr>
        <p:txBody>
          <a:bodyPr wrap="square" lIns="0" tIns="0" rIns="0" bIns="0" rtlCol="0" anchor="t">
            <a:spAutoFit/>
          </a:bodyPr>
          <a:lstStyle/>
          <a:p>
            <a:pPr marL="0" marR="0" lvl="0" indent="0" algn="ctr" defTabSz="914400" rtl="0" eaLnBrk="1" fontAlgn="auto" latinLnBrk="0" hangingPunct="1">
              <a:lnSpc>
                <a:spcPts val="3079"/>
              </a:lnSpc>
              <a:spcBef>
                <a:spcPts val="0"/>
              </a:spcBef>
              <a:spcAft>
                <a:spcPts val="0"/>
              </a:spcAft>
              <a:buClrTx/>
              <a:buSzTx/>
              <a:buFontTx/>
              <a:buNone/>
              <a:tabLst/>
              <a:defRPr/>
            </a:pPr>
            <a:r>
              <a:rPr kumimoji="0" lang="en-US" sz="2199" b="1" i="0" u="none" strike="noStrike" kern="1200" cap="none" spc="0" normalizeH="0" baseline="0" noProof="0" dirty="0">
                <a:ln>
                  <a:noFill/>
                </a:ln>
                <a:solidFill>
                  <a:srgbClr val="002B11"/>
                </a:solidFill>
                <a:effectLst/>
                <a:uLnTx/>
                <a:uFillTx/>
                <a:latin typeface="Poppins Bold"/>
                <a:ea typeface="Poppins Bold"/>
                <a:cs typeface="Poppins Bold"/>
                <a:sym typeface="Poppins Bold"/>
              </a:rPr>
              <a:t>Canada</a:t>
            </a:r>
          </a:p>
        </p:txBody>
      </p:sp>
      <p:grpSp>
        <p:nvGrpSpPr>
          <p:cNvPr id="12" name="Group 12">
            <a:extLst>
              <a:ext uri="{FF2B5EF4-FFF2-40B4-BE49-F238E27FC236}">
                <a16:creationId xmlns:a16="http://schemas.microsoft.com/office/drawing/2014/main" id="{BA8285A3-F15D-86E3-901F-07F2F7442781}"/>
              </a:ext>
            </a:extLst>
          </p:cNvPr>
          <p:cNvGrpSpPr/>
          <p:nvPr/>
        </p:nvGrpSpPr>
        <p:grpSpPr>
          <a:xfrm>
            <a:off x="14869769" y="660457"/>
            <a:ext cx="2354131" cy="449905"/>
            <a:chOff x="0" y="0"/>
            <a:chExt cx="3138841" cy="599873"/>
          </a:xfrm>
        </p:grpSpPr>
        <p:grpSp>
          <p:nvGrpSpPr>
            <p:cNvPr id="13" name="Group 13">
              <a:extLst>
                <a:ext uri="{FF2B5EF4-FFF2-40B4-BE49-F238E27FC236}">
                  <a16:creationId xmlns:a16="http://schemas.microsoft.com/office/drawing/2014/main" id="{6670B03B-927B-F542-DEA7-7C79099C62EB}"/>
                </a:ext>
              </a:extLst>
            </p:cNvPr>
            <p:cNvGrpSpPr/>
            <p:nvPr/>
          </p:nvGrpSpPr>
          <p:grpSpPr>
            <a:xfrm>
              <a:off x="0" y="9544"/>
              <a:ext cx="590328" cy="590328"/>
              <a:chOff x="0" y="0"/>
              <a:chExt cx="812800" cy="812800"/>
            </a:xfrm>
          </p:grpSpPr>
          <p:sp>
            <p:nvSpPr>
              <p:cNvPr id="14" name="Freeform 14">
                <a:extLst>
                  <a:ext uri="{FF2B5EF4-FFF2-40B4-BE49-F238E27FC236}">
                    <a16:creationId xmlns:a16="http://schemas.microsoft.com/office/drawing/2014/main" id="{E49615ED-22ED-FC89-BB04-EC861AA76BB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2B11"/>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TextBox 15">
                <a:extLst>
                  <a:ext uri="{FF2B5EF4-FFF2-40B4-BE49-F238E27FC236}">
                    <a16:creationId xmlns:a16="http://schemas.microsoft.com/office/drawing/2014/main" id="{D06A9F5B-B360-DB1B-B73A-DA9689556A70}"/>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6" name="Group 16">
              <a:extLst>
                <a:ext uri="{FF2B5EF4-FFF2-40B4-BE49-F238E27FC236}">
                  <a16:creationId xmlns:a16="http://schemas.microsoft.com/office/drawing/2014/main" id="{54ED91C7-9E21-68D6-7CDA-E4B021BE5535}"/>
                </a:ext>
              </a:extLst>
            </p:cNvPr>
            <p:cNvGrpSpPr/>
            <p:nvPr/>
          </p:nvGrpSpPr>
          <p:grpSpPr>
            <a:xfrm>
              <a:off x="634797" y="9544"/>
              <a:ext cx="590328" cy="590328"/>
              <a:chOff x="0" y="0"/>
              <a:chExt cx="812800" cy="812800"/>
            </a:xfrm>
          </p:grpSpPr>
          <p:sp>
            <p:nvSpPr>
              <p:cNvPr id="17" name="Freeform 17">
                <a:extLst>
                  <a:ext uri="{FF2B5EF4-FFF2-40B4-BE49-F238E27FC236}">
                    <a16:creationId xmlns:a16="http://schemas.microsoft.com/office/drawing/2014/main" id="{94B24942-27DA-5BC5-FDB2-B4FB3982284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2B11"/>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8" name="TextBox 18">
                <a:extLst>
                  <a:ext uri="{FF2B5EF4-FFF2-40B4-BE49-F238E27FC236}">
                    <a16:creationId xmlns:a16="http://schemas.microsoft.com/office/drawing/2014/main" id="{F132111F-1F63-808E-68CE-6CDF01BCD89A}"/>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9" name="Group 19">
              <a:extLst>
                <a:ext uri="{FF2B5EF4-FFF2-40B4-BE49-F238E27FC236}">
                  <a16:creationId xmlns:a16="http://schemas.microsoft.com/office/drawing/2014/main" id="{D6D0DAC6-59A4-BA3C-D06C-E269E6C6EBAE}"/>
                </a:ext>
              </a:extLst>
            </p:cNvPr>
            <p:cNvGrpSpPr/>
            <p:nvPr/>
          </p:nvGrpSpPr>
          <p:grpSpPr>
            <a:xfrm>
              <a:off x="1275925" y="9544"/>
              <a:ext cx="590328" cy="590328"/>
              <a:chOff x="0" y="0"/>
              <a:chExt cx="812800" cy="812800"/>
            </a:xfrm>
          </p:grpSpPr>
          <p:sp>
            <p:nvSpPr>
              <p:cNvPr id="20" name="Freeform 20">
                <a:extLst>
                  <a:ext uri="{FF2B5EF4-FFF2-40B4-BE49-F238E27FC236}">
                    <a16:creationId xmlns:a16="http://schemas.microsoft.com/office/drawing/2014/main" id="{FF9D5ACA-10B2-DAA8-AD5A-DDAEE1B47B0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2B11"/>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1" name="TextBox 21">
                <a:extLst>
                  <a:ext uri="{FF2B5EF4-FFF2-40B4-BE49-F238E27FC236}">
                    <a16:creationId xmlns:a16="http://schemas.microsoft.com/office/drawing/2014/main" id="{0F5C02DD-AA84-690F-DDEC-5BFADED646CA}"/>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2" name="Group 22">
              <a:extLst>
                <a:ext uri="{FF2B5EF4-FFF2-40B4-BE49-F238E27FC236}">
                  <a16:creationId xmlns:a16="http://schemas.microsoft.com/office/drawing/2014/main" id="{22ED8D2D-F56A-60C1-D417-20E7D2D3CD34}"/>
                </a:ext>
              </a:extLst>
            </p:cNvPr>
            <p:cNvGrpSpPr/>
            <p:nvPr/>
          </p:nvGrpSpPr>
          <p:grpSpPr>
            <a:xfrm>
              <a:off x="1917053" y="0"/>
              <a:ext cx="590328" cy="590328"/>
              <a:chOff x="0" y="0"/>
              <a:chExt cx="812800" cy="812800"/>
            </a:xfrm>
          </p:grpSpPr>
          <p:sp>
            <p:nvSpPr>
              <p:cNvPr id="23" name="Freeform 23">
                <a:extLst>
                  <a:ext uri="{FF2B5EF4-FFF2-40B4-BE49-F238E27FC236}">
                    <a16:creationId xmlns:a16="http://schemas.microsoft.com/office/drawing/2014/main" id="{D8B7E3D8-3F33-95D6-E70F-C779EA69CBC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2B11"/>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4" name="TextBox 24">
                <a:extLst>
                  <a:ext uri="{FF2B5EF4-FFF2-40B4-BE49-F238E27FC236}">
                    <a16:creationId xmlns:a16="http://schemas.microsoft.com/office/drawing/2014/main" id="{3B231E43-28D8-507C-F462-DB2220812750}"/>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5" name="Group 25">
              <a:extLst>
                <a:ext uri="{FF2B5EF4-FFF2-40B4-BE49-F238E27FC236}">
                  <a16:creationId xmlns:a16="http://schemas.microsoft.com/office/drawing/2014/main" id="{B8FADC71-B61C-A247-89D1-607625430C7F}"/>
                </a:ext>
              </a:extLst>
            </p:cNvPr>
            <p:cNvGrpSpPr/>
            <p:nvPr/>
          </p:nvGrpSpPr>
          <p:grpSpPr>
            <a:xfrm>
              <a:off x="2548513" y="9544"/>
              <a:ext cx="590328" cy="590328"/>
              <a:chOff x="0" y="0"/>
              <a:chExt cx="812800" cy="812800"/>
            </a:xfrm>
          </p:grpSpPr>
          <p:sp>
            <p:nvSpPr>
              <p:cNvPr id="26" name="Freeform 26">
                <a:extLst>
                  <a:ext uri="{FF2B5EF4-FFF2-40B4-BE49-F238E27FC236}">
                    <a16:creationId xmlns:a16="http://schemas.microsoft.com/office/drawing/2014/main" id="{FC4D4A55-048D-BD7F-4DB3-942E0BC07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2B11"/>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 name="TextBox 27">
                <a:extLst>
                  <a:ext uri="{FF2B5EF4-FFF2-40B4-BE49-F238E27FC236}">
                    <a16:creationId xmlns:a16="http://schemas.microsoft.com/office/drawing/2014/main" id="{8E8110E5-9B21-725C-479B-28CE8205247F}"/>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Tree>
    <p:extLst>
      <p:ext uri="{BB962C8B-B14F-4D97-AF65-F5344CB8AC3E}">
        <p14:creationId xmlns:p14="http://schemas.microsoft.com/office/powerpoint/2010/main" val="10844439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flipV="1">
            <a:off x="1690719" y="6164487"/>
            <a:ext cx="14694655" cy="0"/>
          </a:xfrm>
          <a:prstGeom prst="line">
            <a:avLst/>
          </a:prstGeom>
          <a:ln w="38100" cap="flat">
            <a:solidFill>
              <a:srgbClr val="D9DADC"/>
            </a:solidFill>
            <a:prstDash val="sysDash"/>
            <a:headEnd type="none" w="sm" len="sm"/>
            <a:tailEnd type="none" w="sm" len="sm"/>
          </a:ln>
        </p:spPr>
        <p:txBody>
          <a:bodyPr/>
          <a:lstStyle/>
          <a:p>
            <a:endParaRPr lang="en-US"/>
          </a:p>
        </p:txBody>
      </p:sp>
      <p:sp>
        <p:nvSpPr>
          <p:cNvPr id="3" name="Freeform 3"/>
          <p:cNvSpPr/>
          <p:nvPr/>
        </p:nvSpPr>
        <p:spPr>
          <a:xfrm>
            <a:off x="977890" y="3609081"/>
            <a:ext cx="1159575" cy="1714714"/>
          </a:xfrm>
          <a:custGeom>
            <a:avLst/>
            <a:gdLst/>
            <a:ahLst/>
            <a:cxnLst/>
            <a:rect l="l" t="t" r="r" b="b"/>
            <a:pathLst>
              <a:path w="1159575" h="1714714">
                <a:moveTo>
                  <a:pt x="0" y="0"/>
                </a:moveTo>
                <a:lnTo>
                  <a:pt x="1159575" y="0"/>
                </a:lnTo>
                <a:lnTo>
                  <a:pt x="1159575" y="1714713"/>
                </a:lnTo>
                <a:lnTo>
                  <a:pt x="0" y="171471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4" name="Group 4"/>
          <p:cNvGrpSpPr/>
          <p:nvPr/>
        </p:nvGrpSpPr>
        <p:grpSpPr>
          <a:xfrm>
            <a:off x="1424636" y="6031445"/>
            <a:ext cx="266084" cy="266084"/>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FD441"/>
            </a:solidFill>
          </p:spPr>
          <p:txBody>
            <a:bodyPr/>
            <a:lstStyle/>
            <a:p>
              <a:endParaRPr lang="en-US"/>
            </a:p>
          </p:txBody>
        </p:sp>
        <p:sp>
          <p:nvSpPr>
            <p:cNvPr id="6" name="TextBox 6"/>
            <p:cNvSpPr txBox="1"/>
            <p:nvPr/>
          </p:nvSpPr>
          <p:spPr>
            <a:xfrm>
              <a:off x="76200" y="47625"/>
              <a:ext cx="660400" cy="688975"/>
            </a:xfrm>
            <a:prstGeom prst="rect">
              <a:avLst/>
            </a:prstGeom>
          </p:spPr>
          <p:txBody>
            <a:bodyPr lIns="50800" tIns="50800" rIns="50800" bIns="50800" rtlCol="0" anchor="ctr"/>
            <a:lstStyle/>
            <a:p>
              <a:pPr algn="ctr">
                <a:lnSpc>
                  <a:spcPts val="2239"/>
                </a:lnSpc>
              </a:pPr>
              <a:endParaRPr/>
            </a:p>
          </p:txBody>
        </p:sp>
      </p:grpSp>
      <p:grpSp>
        <p:nvGrpSpPr>
          <p:cNvPr id="7" name="Group 7"/>
          <p:cNvGrpSpPr/>
          <p:nvPr/>
        </p:nvGrpSpPr>
        <p:grpSpPr>
          <a:xfrm>
            <a:off x="805118" y="6838347"/>
            <a:ext cx="1505119" cy="401435"/>
            <a:chOff x="0" y="0"/>
            <a:chExt cx="434472" cy="115879"/>
          </a:xfrm>
        </p:grpSpPr>
        <p:sp>
          <p:nvSpPr>
            <p:cNvPr id="8" name="Freeform 8"/>
            <p:cNvSpPr/>
            <p:nvPr/>
          </p:nvSpPr>
          <p:spPr>
            <a:xfrm>
              <a:off x="0" y="0"/>
              <a:ext cx="434472" cy="115879"/>
            </a:xfrm>
            <a:custGeom>
              <a:avLst/>
              <a:gdLst/>
              <a:ahLst/>
              <a:cxnLst/>
              <a:rect l="l" t="t" r="r" b="b"/>
              <a:pathLst>
                <a:path w="434472" h="115879">
                  <a:moveTo>
                    <a:pt x="0" y="0"/>
                  </a:moveTo>
                  <a:lnTo>
                    <a:pt x="434472" y="0"/>
                  </a:lnTo>
                  <a:lnTo>
                    <a:pt x="434472" y="115879"/>
                  </a:lnTo>
                  <a:lnTo>
                    <a:pt x="0" y="115879"/>
                  </a:lnTo>
                  <a:close/>
                </a:path>
              </a:pathLst>
            </a:custGeom>
            <a:solidFill>
              <a:srgbClr val="D9DADC"/>
            </a:solidFill>
          </p:spPr>
          <p:txBody>
            <a:bodyPr/>
            <a:lstStyle/>
            <a:p>
              <a:endParaRPr lang="en-US"/>
            </a:p>
          </p:txBody>
        </p:sp>
        <p:sp>
          <p:nvSpPr>
            <p:cNvPr id="9" name="TextBox 9"/>
            <p:cNvSpPr txBox="1"/>
            <p:nvPr/>
          </p:nvSpPr>
          <p:spPr>
            <a:xfrm>
              <a:off x="0" y="-47625"/>
              <a:ext cx="434472" cy="163504"/>
            </a:xfrm>
            <a:prstGeom prst="rect">
              <a:avLst/>
            </a:prstGeom>
          </p:spPr>
          <p:txBody>
            <a:bodyPr lIns="50800" tIns="50800" rIns="50800" bIns="50800" rtlCol="0" anchor="ctr"/>
            <a:lstStyle/>
            <a:p>
              <a:pPr algn="ctr">
                <a:lnSpc>
                  <a:spcPts val="2239"/>
                </a:lnSpc>
              </a:pPr>
              <a:endParaRPr/>
            </a:p>
          </p:txBody>
        </p:sp>
      </p:grpSp>
      <p:sp>
        <p:nvSpPr>
          <p:cNvPr id="10" name="Freeform 10"/>
          <p:cNvSpPr/>
          <p:nvPr/>
        </p:nvSpPr>
        <p:spPr>
          <a:xfrm>
            <a:off x="3471242" y="3609081"/>
            <a:ext cx="1159575" cy="1714714"/>
          </a:xfrm>
          <a:custGeom>
            <a:avLst/>
            <a:gdLst/>
            <a:ahLst/>
            <a:cxnLst/>
            <a:rect l="l" t="t" r="r" b="b"/>
            <a:pathLst>
              <a:path w="1159575" h="1714714">
                <a:moveTo>
                  <a:pt x="0" y="0"/>
                </a:moveTo>
                <a:lnTo>
                  <a:pt x="1159575" y="0"/>
                </a:lnTo>
                <a:lnTo>
                  <a:pt x="1159575" y="1714713"/>
                </a:lnTo>
                <a:lnTo>
                  <a:pt x="0" y="171471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11" name="Group 11"/>
          <p:cNvGrpSpPr/>
          <p:nvPr/>
        </p:nvGrpSpPr>
        <p:grpSpPr>
          <a:xfrm>
            <a:off x="3917988" y="6031445"/>
            <a:ext cx="266084" cy="266084"/>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FD441"/>
            </a:solidFill>
          </p:spPr>
          <p:txBody>
            <a:bodyPr/>
            <a:lstStyle/>
            <a:p>
              <a:endParaRPr lang="en-US"/>
            </a:p>
          </p:txBody>
        </p:sp>
        <p:sp>
          <p:nvSpPr>
            <p:cNvPr id="13" name="TextBox 13"/>
            <p:cNvSpPr txBox="1"/>
            <p:nvPr/>
          </p:nvSpPr>
          <p:spPr>
            <a:xfrm>
              <a:off x="76200" y="47625"/>
              <a:ext cx="660400" cy="688975"/>
            </a:xfrm>
            <a:prstGeom prst="rect">
              <a:avLst/>
            </a:prstGeom>
          </p:spPr>
          <p:txBody>
            <a:bodyPr lIns="50800" tIns="50800" rIns="50800" bIns="50800" rtlCol="0" anchor="ctr"/>
            <a:lstStyle/>
            <a:p>
              <a:pPr algn="ctr">
                <a:lnSpc>
                  <a:spcPts val="2239"/>
                </a:lnSpc>
              </a:pPr>
              <a:endParaRPr/>
            </a:p>
          </p:txBody>
        </p:sp>
      </p:grpSp>
      <p:grpSp>
        <p:nvGrpSpPr>
          <p:cNvPr id="14" name="Group 14"/>
          <p:cNvGrpSpPr/>
          <p:nvPr/>
        </p:nvGrpSpPr>
        <p:grpSpPr>
          <a:xfrm>
            <a:off x="3298470" y="6838347"/>
            <a:ext cx="1505119" cy="401435"/>
            <a:chOff x="0" y="0"/>
            <a:chExt cx="434472" cy="115879"/>
          </a:xfrm>
        </p:grpSpPr>
        <p:sp>
          <p:nvSpPr>
            <p:cNvPr id="15" name="Freeform 15"/>
            <p:cNvSpPr/>
            <p:nvPr/>
          </p:nvSpPr>
          <p:spPr>
            <a:xfrm>
              <a:off x="0" y="0"/>
              <a:ext cx="434472" cy="115879"/>
            </a:xfrm>
            <a:custGeom>
              <a:avLst/>
              <a:gdLst/>
              <a:ahLst/>
              <a:cxnLst/>
              <a:rect l="l" t="t" r="r" b="b"/>
              <a:pathLst>
                <a:path w="434472" h="115879">
                  <a:moveTo>
                    <a:pt x="0" y="0"/>
                  </a:moveTo>
                  <a:lnTo>
                    <a:pt x="434472" y="0"/>
                  </a:lnTo>
                  <a:lnTo>
                    <a:pt x="434472" y="115879"/>
                  </a:lnTo>
                  <a:lnTo>
                    <a:pt x="0" y="115879"/>
                  </a:lnTo>
                  <a:close/>
                </a:path>
              </a:pathLst>
            </a:custGeom>
            <a:solidFill>
              <a:srgbClr val="D9DADC"/>
            </a:solidFill>
          </p:spPr>
          <p:txBody>
            <a:bodyPr/>
            <a:lstStyle/>
            <a:p>
              <a:endParaRPr lang="en-US"/>
            </a:p>
          </p:txBody>
        </p:sp>
        <p:sp>
          <p:nvSpPr>
            <p:cNvPr id="16" name="TextBox 16"/>
            <p:cNvSpPr txBox="1"/>
            <p:nvPr/>
          </p:nvSpPr>
          <p:spPr>
            <a:xfrm>
              <a:off x="0" y="-47625"/>
              <a:ext cx="434472" cy="163504"/>
            </a:xfrm>
            <a:prstGeom prst="rect">
              <a:avLst/>
            </a:prstGeom>
          </p:spPr>
          <p:txBody>
            <a:bodyPr lIns="50800" tIns="50800" rIns="50800" bIns="50800" rtlCol="0" anchor="ctr"/>
            <a:lstStyle/>
            <a:p>
              <a:pPr algn="ctr">
                <a:lnSpc>
                  <a:spcPts val="2239"/>
                </a:lnSpc>
              </a:pPr>
              <a:endParaRPr/>
            </a:p>
          </p:txBody>
        </p:sp>
      </p:grpSp>
      <p:sp>
        <p:nvSpPr>
          <p:cNvPr id="17" name="Freeform 17"/>
          <p:cNvSpPr/>
          <p:nvPr/>
        </p:nvSpPr>
        <p:spPr>
          <a:xfrm>
            <a:off x="5964595" y="3609081"/>
            <a:ext cx="1159575" cy="1714714"/>
          </a:xfrm>
          <a:custGeom>
            <a:avLst/>
            <a:gdLst/>
            <a:ahLst/>
            <a:cxnLst/>
            <a:rect l="l" t="t" r="r" b="b"/>
            <a:pathLst>
              <a:path w="1159575" h="1714714">
                <a:moveTo>
                  <a:pt x="0" y="0"/>
                </a:moveTo>
                <a:lnTo>
                  <a:pt x="1159575" y="0"/>
                </a:lnTo>
                <a:lnTo>
                  <a:pt x="1159575" y="1714713"/>
                </a:lnTo>
                <a:lnTo>
                  <a:pt x="0" y="171471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18" name="Group 18"/>
          <p:cNvGrpSpPr/>
          <p:nvPr/>
        </p:nvGrpSpPr>
        <p:grpSpPr>
          <a:xfrm>
            <a:off x="6411340" y="6031445"/>
            <a:ext cx="266084" cy="266084"/>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FD441"/>
            </a:solidFill>
          </p:spPr>
          <p:txBody>
            <a:bodyPr/>
            <a:lstStyle/>
            <a:p>
              <a:endParaRPr lang="en-US"/>
            </a:p>
          </p:txBody>
        </p:sp>
        <p:sp>
          <p:nvSpPr>
            <p:cNvPr id="20" name="TextBox 20"/>
            <p:cNvSpPr txBox="1"/>
            <p:nvPr/>
          </p:nvSpPr>
          <p:spPr>
            <a:xfrm>
              <a:off x="76200" y="47625"/>
              <a:ext cx="660400" cy="688975"/>
            </a:xfrm>
            <a:prstGeom prst="rect">
              <a:avLst/>
            </a:prstGeom>
          </p:spPr>
          <p:txBody>
            <a:bodyPr lIns="50800" tIns="50800" rIns="50800" bIns="50800" rtlCol="0" anchor="ctr"/>
            <a:lstStyle/>
            <a:p>
              <a:pPr algn="ctr">
                <a:lnSpc>
                  <a:spcPts val="2239"/>
                </a:lnSpc>
              </a:pPr>
              <a:endParaRPr/>
            </a:p>
          </p:txBody>
        </p:sp>
      </p:grpSp>
      <p:grpSp>
        <p:nvGrpSpPr>
          <p:cNvPr id="21" name="Group 21"/>
          <p:cNvGrpSpPr/>
          <p:nvPr/>
        </p:nvGrpSpPr>
        <p:grpSpPr>
          <a:xfrm>
            <a:off x="5760061" y="6838347"/>
            <a:ext cx="1505119" cy="401435"/>
            <a:chOff x="0" y="0"/>
            <a:chExt cx="434472" cy="115879"/>
          </a:xfrm>
        </p:grpSpPr>
        <p:sp>
          <p:nvSpPr>
            <p:cNvPr id="22" name="Freeform 22"/>
            <p:cNvSpPr/>
            <p:nvPr/>
          </p:nvSpPr>
          <p:spPr>
            <a:xfrm>
              <a:off x="0" y="0"/>
              <a:ext cx="434472" cy="115879"/>
            </a:xfrm>
            <a:custGeom>
              <a:avLst/>
              <a:gdLst/>
              <a:ahLst/>
              <a:cxnLst/>
              <a:rect l="l" t="t" r="r" b="b"/>
              <a:pathLst>
                <a:path w="434472" h="115879">
                  <a:moveTo>
                    <a:pt x="0" y="0"/>
                  </a:moveTo>
                  <a:lnTo>
                    <a:pt x="434472" y="0"/>
                  </a:lnTo>
                  <a:lnTo>
                    <a:pt x="434472" y="115879"/>
                  </a:lnTo>
                  <a:lnTo>
                    <a:pt x="0" y="115879"/>
                  </a:lnTo>
                  <a:close/>
                </a:path>
              </a:pathLst>
            </a:custGeom>
            <a:solidFill>
              <a:srgbClr val="D9DADC"/>
            </a:solidFill>
          </p:spPr>
          <p:txBody>
            <a:bodyPr/>
            <a:lstStyle/>
            <a:p>
              <a:endParaRPr lang="en-US"/>
            </a:p>
          </p:txBody>
        </p:sp>
        <p:sp>
          <p:nvSpPr>
            <p:cNvPr id="23" name="TextBox 23"/>
            <p:cNvSpPr txBox="1"/>
            <p:nvPr/>
          </p:nvSpPr>
          <p:spPr>
            <a:xfrm>
              <a:off x="0" y="-47625"/>
              <a:ext cx="434472" cy="163504"/>
            </a:xfrm>
            <a:prstGeom prst="rect">
              <a:avLst/>
            </a:prstGeom>
          </p:spPr>
          <p:txBody>
            <a:bodyPr lIns="50800" tIns="50800" rIns="50800" bIns="50800" rtlCol="0" anchor="ctr"/>
            <a:lstStyle/>
            <a:p>
              <a:pPr algn="ctr">
                <a:lnSpc>
                  <a:spcPts val="2239"/>
                </a:lnSpc>
              </a:pPr>
              <a:endParaRPr/>
            </a:p>
          </p:txBody>
        </p:sp>
      </p:grpSp>
      <p:sp>
        <p:nvSpPr>
          <p:cNvPr id="24" name="Freeform 24"/>
          <p:cNvSpPr/>
          <p:nvPr/>
        </p:nvSpPr>
        <p:spPr>
          <a:xfrm>
            <a:off x="8457947" y="3609081"/>
            <a:ext cx="1159575" cy="1714714"/>
          </a:xfrm>
          <a:custGeom>
            <a:avLst/>
            <a:gdLst/>
            <a:ahLst/>
            <a:cxnLst/>
            <a:rect l="l" t="t" r="r" b="b"/>
            <a:pathLst>
              <a:path w="1159575" h="1714714">
                <a:moveTo>
                  <a:pt x="0" y="0"/>
                </a:moveTo>
                <a:lnTo>
                  <a:pt x="1159575" y="0"/>
                </a:lnTo>
                <a:lnTo>
                  <a:pt x="1159575" y="1714713"/>
                </a:lnTo>
                <a:lnTo>
                  <a:pt x="0" y="1714713"/>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25" name="Group 25"/>
          <p:cNvGrpSpPr/>
          <p:nvPr/>
        </p:nvGrpSpPr>
        <p:grpSpPr>
          <a:xfrm>
            <a:off x="8904693" y="6031445"/>
            <a:ext cx="266084" cy="266084"/>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ACE74"/>
            </a:solidFill>
          </p:spPr>
          <p:txBody>
            <a:bodyPr/>
            <a:lstStyle/>
            <a:p>
              <a:endParaRPr lang="en-US"/>
            </a:p>
          </p:txBody>
        </p:sp>
        <p:sp>
          <p:nvSpPr>
            <p:cNvPr id="27" name="TextBox 27"/>
            <p:cNvSpPr txBox="1"/>
            <p:nvPr/>
          </p:nvSpPr>
          <p:spPr>
            <a:xfrm>
              <a:off x="76200" y="47625"/>
              <a:ext cx="660400" cy="688975"/>
            </a:xfrm>
            <a:prstGeom prst="rect">
              <a:avLst/>
            </a:prstGeom>
          </p:spPr>
          <p:txBody>
            <a:bodyPr lIns="50800" tIns="50800" rIns="50800" bIns="50800" rtlCol="0" anchor="ctr"/>
            <a:lstStyle/>
            <a:p>
              <a:pPr algn="ctr">
                <a:lnSpc>
                  <a:spcPts val="2239"/>
                </a:lnSpc>
              </a:pPr>
              <a:endParaRPr/>
            </a:p>
          </p:txBody>
        </p:sp>
      </p:grpSp>
      <p:grpSp>
        <p:nvGrpSpPr>
          <p:cNvPr id="28" name="Group 28"/>
          <p:cNvGrpSpPr/>
          <p:nvPr/>
        </p:nvGrpSpPr>
        <p:grpSpPr>
          <a:xfrm>
            <a:off x="8221651" y="6838347"/>
            <a:ext cx="1505119" cy="401435"/>
            <a:chOff x="0" y="0"/>
            <a:chExt cx="434472" cy="115879"/>
          </a:xfrm>
        </p:grpSpPr>
        <p:sp>
          <p:nvSpPr>
            <p:cNvPr id="29" name="Freeform 29"/>
            <p:cNvSpPr/>
            <p:nvPr/>
          </p:nvSpPr>
          <p:spPr>
            <a:xfrm>
              <a:off x="0" y="0"/>
              <a:ext cx="434472" cy="115879"/>
            </a:xfrm>
            <a:custGeom>
              <a:avLst/>
              <a:gdLst/>
              <a:ahLst/>
              <a:cxnLst/>
              <a:rect l="l" t="t" r="r" b="b"/>
              <a:pathLst>
                <a:path w="434472" h="115879">
                  <a:moveTo>
                    <a:pt x="0" y="0"/>
                  </a:moveTo>
                  <a:lnTo>
                    <a:pt x="434472" y="0"/>
                  </a:lnTo>
                  <a:lnTo>
                    <a:pt x="434472" y="115879"/>
                  </a:lnTo>
                  <a:lnTo>
                    <a:pt x="0" y="115879"/>
                  </a:lnTo>
                  <a:close/>
                </a:path>
              </a:pathLst>
            </a:custGeom>
            <a:solidFill>
              <a:srgbClr val="D9DADC"/>
            </a:solidFill>
          </p:spPr>
          <p:txBody>
            <a:bodyPr/>
            <a:lstStyle/>
            <a:p>
              <a:endParaRPr lang="en-US"/>
            </a:p>
          </p:txBody>
        </p:sp>
        <p:sp>
          <p:nvSpPr>
            <p:cNvPr id="30" name="TextBox 30"/>
            <p:cNvSpPr txBox="1"/>
            <p:nvPr/>
          </p:nvSpPr>
          <p:spPr>
            <a:xfrm>
              <a:off x="0" y="-47625"/>
              <a:ext cx="434472" cy="163504"/>
            </a:xfrm>
            <a:prstGeom prst="rect">
              <a:avLst/>
            </a:prstGeom>
          </p:spPr>
          <p:txBody>
            <a:bodyPr lIns="50800" tIns="50800" rIns="50800" bIns="50800" rtlCol="0" anchor="ctr"/>
            <a:lstStyle/>
            <a:p>
              <a:pPr algn="ctr">
                <a:lnSpc>
                  <a:spcPts val="2239"/>
                </a:lnSpc>
              </a:pPr>
              <a:endParaRPr/>
            </a:p>
          </p:txBody>
        </p:sp>
      </p:grpSp>
      <p:sp>
        <p:nvSpPr>
          <p:cNvPr id="31" name="Freeform 31"/>
          <p:cNvSpPr/>
          <p:nvPr/>
        </p:nvSpPr>
        <p:spPr>
          <a:xfrm>
            <a:off x="10951299" y="3609081"/>
            <a:ext cx="1159575" cy="1714714"/>
          </a:xfrm>
          <a:custGeom>
            <a:avLst/>
            <a:gdLst/>
            <a:ahLst/>
            <a:cxnLst/>
            <a:rect l="l" t="t" r="r" b="b"/>
            <a:pathLst>
              <a:path w="1159575" h="1714714">
                <a:moveTo>
                  <a:pt x="0" y="0"/>
                </a:moveTo>
                <a:lnTo>
                  <a:pt x="1159576" y="0"/>
                </a:lnTo>
                <a:lnTo>
                  <a:pt x="1159576" y="1714713"/>
                </a:lnTo>
                <a:lnTo>
                  <a:pt x="0" y="171471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32" name="Group 32"/>
          <p:cNvGrpSpPr/>
          <p:nvPr/>
        </p:nvGrpSpPr>
        <p:grpSpPr>
          <a:xfrm>
            <a:off x="11398045" y="6031445"/>
            <a:ext cx="266084" cy="266084"/>
            <a:chOff x="0" y="0"/>
            <a:chExt cx="812800" cy="812800"/>
          </a:xfrm>
        </p:grpSpPr>
        <p:sp>
          <p:nvSpPr>
            <p:cNvPr id="33" name="Freeform 3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p:spPr>
          <p:txBody>
            <a:bodyPr/>
            <a:lstStyle/>
            <a:p>
              <a:endParaRPr lang="en-US"/>
            </a:p>
          </p:txBody>
        </p:sp>
        <p:sp>
          <p:nvSpPr>
            <p:cNvPr id="34" name="TextBox 34"/>
            <p:cNvSpPr txBox="1"/>
            <p:nvPr/>
          </p:nvSpPr>
          <p:spPr>
            <a:xfrm>
              <a:off x="76200" y="47625"/>
              <a:ext cx="660400" cy="688975"/>
            </a:xfrm>
            <a:prstGeom prst="rect">
              <a:avLst/>
            </a:prstGeom>
          </p:spPr>
          <p:txBody>
            <a:bodyPr lIns="50800" tIns="50800" rIns="50800" bIns="50800" rtlCol="0" anchor="ctr"/>
            <a:lstStyle/>
            <a:p>
              <a:pPr algn="ctr">
                <a:lnSpc>
                  <a:spcPts val="2239"/>
                </a:lnSpc>
              </a:pPr>
              <a:endParaRPr/>
            </a:p>
          </p:txBody>
        </p:sp>
      </p:grpSp>
      <p:grpSp>
        <p:nvGrpSpPr>
          <p:cNvPr id="35" name="Group 35"/>
          <p:cNvGrpSpPr/>
          <p:nvPr/>
        </p:nvGrpSpPr>
        <p:grpSpPr>
          <a:xfrm>
            <a:off x="10776033" y="6838347"/>
            <a:ext cx="1505119" cy="401435"/>
            <a:chOff x="0" y="0"/>
            <a:chExt cx="434472" cy="115879"/>
          </a:xfrm>
        </p:grpSpPr>
        <p:sp>
          <p:nvSpPr>
            <p:cNvPr id="36" name="Freeform 36"/>
            <p:cNvSpPr/>
            <p:nvPr/>
          </p:nvSpPr>
          <p:spPr>
            <a:xfrm>
              <a:off x="0" y="0"/>
              <a:ext cx="434472" cy="115879"/>
            </a:xfrm>
            <a:custGeom>
              <a:avLst/>
              <a:gdLst/>
              <a:ahLst/>
              <a:cxnLst/>
              <a:rect l="l" t="t" r="r" b="b"/>
              <a:pathLst>
                <a:path w="434472" h="115879">
                  <a:moveTo>
                    <a:pt x="0" y="0"/>
                  </a:moveTo>
                  <a:lnTo>
                    <a:pt x="434472" y="0"/>
                  </a:lnTo>
                  <a:lnTo>
                    <a:pt x="434472" y="115879"/>
                  </a:lnTo>
                  <a:lnTo>
                    <a:pt x="0" y="115879"/>
                  </a:lnTo>
                  <a:close/>
                </a:path>
              </a:pathLst>
            </a:custGeom>
            <a:solidFill>
              <a:srgbClr val="D9DADC"/>
            </a:solidFill>
          </p:spPr>
          <p:txBody>
            <a:bodyPr/>
            <a:lstStyle/>
            <a:p>
              <a:endParaRPr lang="en-US"/>
            </a:p>
          </p:txBody>
        </p:sp>
        <p:sp>
          <p:nvSpPr>
            <p:cNvPr id="37" name="TextBox 37"/>
            <p:cNvSpPr txBox="1"/>
            <p:nvPr/>
          </p:nvSpPr>
          <p:spPr>
            <a:xfrm>
              <a:off x="0" y="-47625"/>
              <a:ext cx="434472" cy="163504"/>
            </a:xfrm>
            <a:prstGeom prst="rect">
              <a:avLst/>
            </a:prstGeom>
          </p:spPr>
          <p:txBody>
            <a:bodyPr lIns="50800" tIns="50800" rIns="50800" bIns="50800" rtlCol="0" anchor="ctr"/>
            <a:lstStyle/>
            <a:p>
              <a:pPr algn="ctr">
                <a:lnSpc>
                  <a:spcPts val="2239"/>
                </a:lnSpc>
              </a:pPr>
              <a:endParaRPr/>
            </a:p>
          </p:txBody>
        </p:sp>
      </p:grpSp>
      <p:sp>
        <p:nvSpPr>
          <p:cNvPr id="38" name="Freeform 38"/>
          <p:cNvSpPr/>
          <p:nvPr/>
        </p:nvSpPr>
        <p:spPr>
          <a:xfrm>
            <a:off x="13444652" y="3609081"/>
            <a:ext cx="1159575" cy="1714714"/>
          </a:xfrm>
          <a:custGeom>
            <a:avLst/>
            <a:gdLst/>
            <a:ahLst/>
            <a:cxnLst/>
            <a:rect l="l" t="t" r="r" b="b"/>
            <a:pathLst>
              <a:path w="1159575" h="1714714">
                <a:moveTo>
                  <a:pt x="0" y="0"/>
                </a:moveTo>
                <a:lnTo>
                  <a:pt x="1159575" y="0"/>
                </a:lnTo>
                <a:lnTo>
                  <a:pt x="1159575" y="1714713"/>
                </a:lnTo>
                <a:lnTo>
                  <a:pt x="0" y="1714713"/>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grpSp>
        <p:nvGrpSpPr>
          <p:cNvPr id="39" name="Group 39"/>
          <p:cNvGrpSpPr/>
          <p:nvPr/>
        </p:nvGrpSpPr>
        <p:grpSpPr>
          <a:xfrm>
            <a:off x="13891398" y="6031445"/>
            <a:ext cx="266084" cy="266084"/>
            <a:chOff x="0" y="0"/>
            <a:chExt cx="812800" cy="812800"/>
          </a:xfrm>
        </p:grpSpPr>
        <p:sp>
          <p:nvSpPr>
            <p:cNvPr id="40" name="Freeform 4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763D"/>
            </a:solidFill>
          </p:spPr>
          <p:txBody>
            <a:bodyPr/>
            <a:lstStyle/>
            <a:p>
              <a:endParaRPr lang="en-US"/>
            </a:p>
          </p:txBody>
        </p:sp>
        <p:sp>
          <p:nvSpPr>
            <p:cNvPr id="41" name="TextBox 41"/>
            <p:cNvSpPr txBox="1"/>
            <p:nvPr/>
          </p:nvSpPr>
          <p:spPr>
            <a:xfrm>
              <a:off x="76200" y="47625"/>
              <a:ext cx="660400" cy="688975"/>
            </a:xfrm>
            <a:prstGeom prst="rect">
              <a:avLst/>
            </a:prstGeom>
          </p:spPr>
          <p:txBody>
            <a:bodyPr lIns="50800" tIns="50800" rIns="50800" bIns="50800" rtlCol="0" anchor="ctr"/>
            <a:lstStyle/>
            <a:p>
              <a:pPr algn="ctr">
                <a:lnSpc>
                  <a:spcPts val="2239"/>
                </a:lnSpc>
              </a:pPr>
              <a:endParaRPr/>
            </a:p>
          </p:txBody>
        </p:sp>
      </p:grpSp>
      <p:grpSp>
        <p:nvGrpSpPr>
          <p:cNvPr id="42" name="Group 42"/>
          <p:cNvGrpSpPr/>
          <p:nvPr/>
        </p:nvGrpSpPr>
        <p:grpSpPr>
          <a:xfrm>
            <a:off x="13331728" y="6838347"/>
            <a:ext cx="1505119" cy="401435"/>
            <a:chOff x="0" y="0"/>
            <a:chExt cx="434472" cy="115879"/>
          </a:xfrm>
        </p:grpSpPr>
        <p:sp>
          <p:nvSpPr>
            <p:cNvPr id="43" name="Freeform 43"/>
            <p:cNvSpPr/>
            <p:nvPr/>
          </p:nvSpPr>
          <p:spPr>
            <a:xfrm>
              <a:off x="0" y="0"/>
              <a:ext cx="434472" cy="115879"/>
            </a:xfrm>
            <a:custGeom>
              <a:avLst/>
              <a:gdLst/>
              <a:ahLst/>
              <a:cxnLst/>
              <a:rect l="l" t="t" r="r" b="b"/>
              <a:pathLst>
                <a:path w="434472" h="115879">
                  <a:moveTo>
                    <a:pt x="0" y="0"/>
                  </a:moveTo>
                  <a:lnTo>
                    <a:pt x="434472" y="0"/>
                  </a:lnTo>
                  <a:lnTo>
                    <a:pt x="434472" y="115879"/>
                  </a:lnTo>
                  <a:lnTo>
                    <a:pt x="0" y="115879"/>
                  </a:lnTo>
                  <a:close/>
                </a:path>
              </a:pathLst>
            </a:custGeom>
            <a:solidFill>
              <a:srgbClr val="D9DADC"/>
            </a:solidFill>
          </p:spPr>
          <p:txBody>
            <a:bodyPr/>
            <a:lstStyle/>
            <a:p>
              <a:endParaRPr lang="en-US"/>
            </a:p>
          </p:txBody>
        </p:sp>
        <p:sp>
          <p:nvSpPr>
            <p:cNvPr id="44" name="TextBox 44"/>
            <p:cNvSpPr txBox="1"/>
            <p:nvPr/>
          </p:nvSpPr>
          <p:spPr>
            <a:xfrm>
              <a:off x="0" y="-47625"/>
              <a:ext cx="434472" cy="163504"/>
            </a:xfrm>
            <a:prstGeom prst="rect">
              <a:avLst/>
            </a:prstGeom>
          </p:spPr>
          <p:txBody>
            <a:bodyPr lIns="50800" tIns="50800" rIns="50800" bIns="50800" rtlCol="0" anchor="ctr"/>
            <a:lstStyle/>
            <a:p>
              <a:pPr algn="ctr">
                <a:lnSpc>
                  <a:spcPts val="2239"/>
                </a:lnSpc>
              </a:pPr>
              <a:endParaRPr/>
            </a:p>
          </p:txBody>
        </p:sp>
      </p:grpSp>
      <p:sp>
        <p:nvSpPr>
          <p:cNvPr id="45" name="AutoShape 45"/>
          <p:cNvSpPr/>
          <p:nvPr/>
        </p:nvSpPr>
        <p:spPr>
          <a:xfrm>
            <a:off x="1557677" y="5323794"/>
            <a:ext cx="0" cy="707651"/>
          </a:xfrm>
          <a:prstGeom prst="line">
            <a:avLst/>
          </a:prstGeom>
          <a:ln w="38100" cap="flat">
            <a:solidFill>
              <a:srgbClr val="D9DADC"/>
            </a:solidFill>
            <a:prstDash val="sysDash"/>
            <a:headEnd type="none" w="sm" len="sm"/>
            <a:tailEnd type="none" w="sm" len="sm"/>
          </a:ln>
        </p:spPr>
        <p:txBody>
          <a:bodyPr/>
          <a:lstStyle/>
          <a:p>
            <a:endParaRPr lang="en-US"/>
          </a:p>
        </p:txBody>
      </p:sp>
      <p:sp>
        <p:nvSpPr>
          <p:cNvPr id="46" name="AutoShape 46"/>
          <p:cNvSpPr/>
          <p:nvPr/>
        </p:nvSpPr>
        <p:spPr>
          <a:xfrm>
            <a:off x="4051030" y="5323794"/>
            <a:ext cx="0" cy="707651"/>
          </a:xfrm>
          <a:prstGeom prst="line">
            <a:avLst/>
          </a:prstGeom>
          <a:ln w="38100" cap="flat">
            <a:solidFill>
              <a:srgbClr val="D9DADC"/>
            </a:solidFill>
            <a:prstDash val="sysDash"/>
            <a:headEnd type="none" w="sm" len="sm"/>
            <a:tailEnd type="none" w="sm" len="sm"/>
          </a:ln>
        </p:spPr>
        <p:txBody>
          <a:bodyPr/>
          <a:lstStyle/>
          <a:p>
            <a:endParaRPr lang="en-US"/>
          </a:p>
        </p:txBody>
      </p:sp>
      <p:sp>
        <p:nvSpPr>
          <p:cNvPr id="47" name="AutoShape 47"/>
          <p:cNvSpPr/>
          <p:nvPr/>
        </p:nvSpPr>
        <p:spPr>
          <a:xfrm flipH="1">
            <a:off x="6544382" y="5323794"/>
            <a:ext cx="0" cy="707651"/>
          </a:xfrm>
          <a:prstGeom prst="line">
            <a:avLst/>
          </a:prstGeom>
          <a:ln w="38100" cap="flat">
            <a:solidFill>
              <a:srgbClr val="D9DADC"/>
            </a:solidFill>
            <a:prstDash val="sysDash"/>
            <a:headEnd type="none" w="sm" len="sm"/>
            <a:tailEnd type="none" w="sm" len="sm"/>
          </a:ln>
        </p:spPr>
        <p:txBody>
          <a:bodyPr/>
          <a:lstStyle/>
          <a:p>
            <a:endParaRPr lang="en-US"/>
          </a:p>
        </p:txBody>
      </p:sp>
      <p:sp>
        <p:nvSpPr>
          <p:cNvPr id="48" name="AutoShape 48"/>
          <p:cNvSpPr/>
          <p:nvPr/>
        </p:nvSpPr>
        <p:spPr>
          <a:xfrm flipH="1">
            <a:off x="11531087" y="5323794"/>
            <a:ext cx="0" cy="707651"/>
          </a:xfrm>
          <a:prstGeom prst="line">
            <a:avLst/>
          </a:prstGeom>
          <a:ln w="38100" cap="flat">
            <a:solidFill>
              <a:srgbClr val="D9DADC"/>
            </a:solidFill>
            <a:prstDash val="sysDash"/>
            <a:headEnd type="none" w="sm" len="sm"/>
            <a:tailEnd type="none" w="sm" len="sm"/>
          </a:ln>
        </p:spPr>
        <p:txBody>
          <a:bodyPr/>
          <a:lstStyle/>
          <a:p>
            <a:endParaRPr lang="en-US"/>
          </a:p>
        </p:txBody>
      </p:sp>
      <p:sp>
        <p:nvSpPr>
          <p:cNvPr id="49" name="AutoShape 49"/>
          <p:cNvSpPr/>
          <p:nvPr/>
        </p:nvSpPr>
        <p:spPr>
          <a:xfrm>
            <a:off x="9037735" y="5323794"/>
            <a:ext cx="0" cy="707651"/>
          </a:xfrm>
          <a:prstGeom prst="line">
            <a:avLst/>
          </a:prstGeom>
          <a:ln w="38100" cap="flat">
            <a:solidFill>
              <a:srgbClr val="D9DADC"/>
            </a:solidFill>
            <a:prstDash val="sysDash"/>
            <a:headEnd type="none" w="sm" len="sm"/>
            <a:tailEnd type="none" w="sm" len="sm"/>
          </a:ln>
        </p:spPr>
        <p:txBody>
          <a:bodyPr/>
          <a:lstStyle/>
          <a:p>
            <a:endParaRPr lang="en-US"/>
          </a:p>
        </p:txBody>
      </p:sp>
      <p:sp>
        <p:nvSpPr>
          <p:cNvPr id="50" name="AutoShape 50"/>
          <p:cNvSpPr/>
          <p:nvPr/>
        </p:nvSpPr>
        <p:spPr>
          <a:xfrm>
            <a:off x="14024439" y="5323794"/>
            <a:ext cx="0" cy="707651"/>
          </a:xfrm>
          <a:prstGeom prst="line">
            <a:avLst/>
          </a:prstGeom>
          <a:ln w="38100" cap="flat">
            <a:solidFill>
              <a:srgbClr val="D9DADC"/>
            </a:solidFill>
            <a:prstDash val="sysDash"/>
            <a:headEnd type="none" w="sm" len="sm"/>
            <a:tailEnd type="none" w="sm" len="sm"/>
          </a:ln>
        </p:spPr>
        <p:txBody>
          <a:bodyPr/>
          <a:lstStyle/>
          <a:p>
            <a:endParaRPr lang="en-US"/>
          </a:p>
        </p:txBody>
      </p:sp>
      <p:sp>
        <p:nvSpPr>
          <p:cNvPr id="51" name="Freeform 51"/>
          <p:cNvSpPr/>
          <p:nvPr/>
        </p:nvSpPr>
        <p:spPr>
          <a:xfrm>
            <a:off x="15938629" y="3609081"/>
            <a:ext cx="1159575" cy="1714714"/>
          </a:xfrm>
          <a:custGeom>
            <a:avLst/>
            <a:gdLst/>
            <a:ahLst/>
            <a:cxnLst/>
            <a:rect l="l" t="t" r="r" b="b"/>
            <a:pathLst>
              <a:path w="1159575" h="1714714">
                <a:moveTo>
                  <a:pt x="0" y="0"/>
                </a:moveTo>
                <a:lnTo>
                  <a:pt x="1159575" y="0"/>
                </a:lnTo>
                <a:lnTo>
                  <a:pt x="1159575" y="1714713"/>
                </a:lnTo>
                <a:lnTo>
                  <a:pt x="0" y="1714713"/>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52" name="AutoShape 52"/>
          <p:cNvSpPr/>
          <p:nvPr/>
        </p:nvSpPr>
        <p:spPr>
          <a:xfrm>
            <a:off x="16518416" y="5323794"/>
            <a:ext cx="0" cy="840693"/>
          </a:xfrm>
          <a:prstGeom prst="line">
            <a:avLst/>
          </a:prstGeom>
          <a:ln w="38100" cap="flat">
            <a:solidFill>
              <a:srgbClr val="D9DADC"/>
            </a:solidFill>
            <a:prstDash val="sysDash"/>
            <a:headEnd type="none" w="sm" len="sm"/>
            <a:tailEnd type="none" w="sm" len="sm"/>
          </a:ln>
        </p:spPr>
        <p:txBody>
          <a:bodyPr/>
          <a:lstStyle/>
          <a:p>
            <a:endParaRPr lang="en-US"/>
          </a:p>
        </p:txBody>
      </p:sp>
      <p:grpSp>
        <p:nvGrpSpPr>
          <p:cNvPr id="53" name="Group 53"/>
          <p:cNvGrpSpPr/>
          <p:nvPr/>
        </p:nvGrpSpPr>
        <p:grpSpPr>
          <a:xfrm>
            <a:off x="16385374" y="6031445"/>
            <a:ext cx="266084" cy="266084"/>
            <a:chOff x="0" y="0"/>
            <a:chExt cx="812800" cy="812800"/>
          </a:xfrm>
        </p:grpSpPr>
        <p:sp>
          <p:nvSpPr>
            <p:cNvPr id="54" name="Freeform 5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2B11"/>
            </a:solidFill>
          </p:spPr>
          <p:txBody>
            <a:bodyPr/>
            <a:lstStyle/>
            <a:p>
              <a:endParaRPr lang="en-US"/>
            </a:p>
          </p:txBody>
        </p:sp>
        <p:sp>
          <p:nvSpPr>
            <p:cNvPr id="55" name="TextBox 55"/>
            <p:cNvSpPr txBox="1"/>
            <p:nvPr/>
          </p:nvSpPr>
          <p:spPr>
            <a:xfrm>
              <a:off x="76200" y="47625"/>
              <a:ext cx="660400" cy="688975"/>
            </a:xfrm>
            <a:prstGeom prst="rect">
              <a:avLst/>
            </a:prstGeom>
          </p:spPr>
          <p:txBody>
            <a:bodyPr lIns="50800" tIns="50800" rIns="50800" bIns="50800" rtlCol="0" anchor="ctr"/>
            <a:lstStyle/>
            <a:p>
              <a:pPr algn="ctr">
                <a:lnSpc>
                  <a:spcPts val="2239"/>
                </a:lnSpc>
              </a:pPr>
              <a:endParaRPr/>
            </a:p>
          </p:txBody>
        </p:sp>
      </p:grpSp>
      <p:grpSp>
        <p:nvGrpSpPr>
          <p:cNvPr id="56" name="Group 56"/>
          <p:cNvGrpSpPr/>
          <p:nvPr/>
        </p:nvGrpSpPr>
        <p:grpSpPr>
          <a:xfrm>
            <a:off x="15887423" y="6838347"/>
            <a:ext cx="1505119" cy="401435"/>
            <a:chOff x="0" y="0"/>
            <a:chExt cx="434472" cy="115879"/>
          </a:xfrm>
        </p:grpSpPr>
        <p:sp>
          <p:nvSpPr>
            <p:cNvPr id="57" name="Freeform 57"/>
            <p:cNvSpPr/>
            <p:nvPr/>
          </p:nvSpPr>
          <p:spPr>
            <a:xfrm>
              <a:off x="0" y="0"/>
              <a:ext cx="434472" cy="115879"/>
            </a:xfrm>
            <a:custGeom>
              <a:avLst/>
              <a:gdLst/>
              <a:ahLst/>
              <a:cxnLst/>
              <a:rect l="l" t="t" r="r" b="b"/>
              <a:pathLst>
                <a:path w="434472" h="115879">
                  <a:moveTo>
                    <a:pt x="0" y="0"/>
                  </a:moveTo>
                  <a:lnTo>
                    <a:pt x="434472" y="0"/>
                  </a:lnTo>
                  <a:lnTo>
                    <a:pt x="434472" y="115879"/>
                  </a:lnTo>
                  <a:lnTo>
                    <a:pt x="0" y="115879"/>
                  </a:lnTo>
                  <a:close/>
                </a:path>
              </a:pathLst>
            </a:custGeom>
            <a:solidFill>
              <a:srgbClr val="D9DADC"/>
            </a:solidFill>
          </p:spPr>
          <p:txBody>
            <a:bodyPr/>
            <a:lstStyle/>
            <a:p>
              <a:endParaRPr lang="en-US"/>
            </a:p>
          </p:txBody>
        </p:sp>
        <p:sp>
          <p:nvSpPr>
            <p:cNvPr id="58" name="TextBox 58"/>
            <p:cNvSpPr txBox="1"/>
            <p:nvPr/>
          </p:nvSpPr>
          <p:spPr>
            <a:xfrm>
              <a:off x="0" y="-47625"/>
              <a:ext cx="434472" cy="163504"/>
            </a:xfrm>
            <a:prstGeom prst="rect">
              <a:avLst/>
            </a:prstGeom>
          </p:spPr>
          <p:txBody>
            <a:bodyPr lIns="50800" tIns="50800" rIns="50800" bIns="50800" rtlCol="0" anchor="ctr"/>
            <a:lstStyle/>
            <a:p>
              <a:pPr algn="ctr">
                <a:lnSpc>
                  <a:spcPts val="2239"/>
                </a:lnSpc>
              </a:pPr>
              <a:endParaRPr/>
            </a:p>
          </p:txBody>
        </p:sp>
      </p:grpSp>
      <p:sp>
        <p:nvSpPr>
          <p:cNvPr id="59" name="Freeform 59"/>
          <p:cNvSpPr/>
          <p:nvPr/>
        </p:nvSpPr>
        <p:spPr>
          <a:xfrm>
            <a:off x="1231719" y="3870945"/>
            <a:ext cx="651917" cy="643224"/>
          </a:xfrm>
          <a:custGeom>
            <a:avLst/>
            <a:gdLst/>
            <a:ahLst/>
            <a:cxnLst/>
            <a:rect l="l" t="t" r="r" b="b"/>
            <a:pathLst>
              <a:path w="651917" h="643224">
                <a:moveTo>
                  <a:pt x="0" y="0"/>
                </a:moveTo>
                <a:lnTo>
                  <a:pt x="651917" y="0"/>
                </a:lnTo>
                <a:lnTo>
                  <a:pt x="651917" y="643224"/>
                </a:lnTo>
                <a:lnTo>
                  <a:pt x="0" y="643224"/>
                </a:lnTo>
                <a:lnTo>
                  <a:pt x="0" y="0"/>
                </a:lnTo>
                <a:close/>
              </a:path>
            </a:pathLst>
          </a:custGeom>
          <a:blipFill>
            <a:blip r:embed="rId9"/>
            <a:stretch>
              <a:fillRect/>
            </a:stretch>
          </a:blipFill>
        </p:spPr>
        <p:txBody>
          <a:bodyPr/>
          <a:lstStyle/>
          <a:p>
            <a:endParaRPr lang="en-US"/>
          </a:p>
        </p:txBody>
      </p:sp>
      <p:sp>
        <p:nvSpPr>
          <p:cNvPr id="60" name="Freeform 60"/>
          <p:cNvSpPr/>
          <p:nvPr/>
        </p:nvSpPr>
        <p:spPr>
          <a:xfrm>
            <a:off x="3715510" y="3861511"/>
            <a:ext cx="671040" cy="662093"/>
          </a:xfrm>
          <a:custGeom>
            <a:avLst/>
            <a:gdLst/>
            <a:ahLst/>
            <a:cxnLst/>
            <a:rect l="l" t="t" r="r" b="b"/>
            <a:pathLst>
              <a:path w="671040" h="662093">
                <a:moveTo>
                  <a:pt x="0" y="0"/>
                </a:moveTo>
                <a:lnTo>
                  <a:pt x="671040" y="0"/>
                </a:lnTo>
                <a:lnTo>
                  <a:pt x="671040" y="662092"/>
                </a:lnTo>
                <a:lnTo>
                  <a:pt x="0" y="662092"/>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61" name="Freeform 61"/>
          <p:cNvSpPr/>
          <p:nvPr/>
        </p:nvSpPr>
        <p:spPr>
          <a:xfrm>
            <a:off x="6235726" y="3883901"/>
            <a:ext cx="617313" cy="617313"/>
          </a:xfrm>
          <a:custGeom>
            <a:avLst/>
            <a:gdLst/>
            <a:ahLst/>
            <a:cxnLst/>
            <a:rect l="l" t="t" r="r" b="b"/>
            <a:pathLst>
              <a:path w="617313" h="617313">
                <a:moveTo>
                  <a:pt x="0" y="0"/>
                </a:moveTo>
                <a:lnTo>
                  <a:pt x="617313" y="0"/>
                </a:lnTo>
                <a:lnTo>
                  <a:pt x="617313" y="617312"/>
                </a:lnTo>
                <a:lnTo>
                  <a:pt x="0" y="617312"/>
                </a:lnTo>
                <a:lnTo>
                  <a:pt x="0" y="0"/>
                </a:lnTo>
                <a:close/>
              </a:path>
            </a:pathLst>
          </a:custGeom>
          <a:blipFill>
            <a:blip>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62" name="Freeform 62"/>
          <p:cNvSpPr/>
          <p:nvPr/>
        </p:nvSpPr>
        <p:spPr>
          <a:xfrm>
            <a:off x="8733194" y="3883901"/>
            <a:ext cx="609082" cy="617313"/>
          </a:xfrm>
          <a:custGeom>
            <a:avLst/>
            <a:gdLst/>
            <a:ahLst/>
            <a:cxnLst/>
            <a:rect l="l" t="t" r="r" b="b"/>
            <a:pathLst>
              <a:path w="609082" h="617313">
                <a:moveTo>
                  <a:pt x="0" y="0"/>
                </a:moveTo>
                <a:lnTo>
                  <a:pt x="609082" y="0"/>
                </a:lnTo>
                <a:lnTo>
                  <a:pt x="609082" y="617312"/>
                </a:lnTo>
                <a:lnTo>
                  <a:pt x="0" y="617312"/>
                </a:lnTo>
                <a:lnTo>
                  <a:pt x="0" y="0"/>
                </a:lnTo>
                <a:close/>
              </a:path>
            </a:pathLst>
          </a:custGeom>
          <a:blipFill>
            <a:blip>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63" name="Freeform 63"/>
          <p:cNvSpPr/>
          <p:nvPr/>
        </p:nvSpPr>
        <p:spPr>
          <a:xfrm flipH="1">
            <a:off x="11252105" y="3861511"/>
            <a:ext cx="557963" cy="674956"/>
          </a:xfrm>
          <a:custGeom>
            <a:avLst/>
            <a:gdLst/>
            <a:ahLst/>
            <a:cxnLst/>
            <a:rect l="l" t="t" r="r" b="b"/>
            <a:pathLst>
              <a:path w="557963" h="674956">
                <a:moveTo>
                  <a:pt x="557964" y="0"/>
                </a:moveTo>
                <a:lnTo>
                  <a:pt x="0" y="0"/>
                </a:lnTo>
                <a:lnTo>
                  <a:pt x="0" y="674955"/>
                </a:lnTo>
                <a:lnTo>
                  <a:pt x="557964" y="674955"/>
                </a:lnTo>
                <a:lnTo>
                  <a:pt x="557964" y="0"/>
                </a:lnTo>
                <a:close/>
              </a:path>
            </a:pathLst>
          </a:custGeom>
          <a:blipFill>
            <a:blip>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64" name="Freeform 64"/>
          <p:cNvSpPr/>
          <p:nvPr/>
        </p:nvSpPr>
        <p:spPr>
          <a:xfrm>
            <a:off x="13692025" y="3836185"/>
            <a:ext cx="659922" cy="687419"/>
          </a:xfrm>
          <a:custGeom>
            <a:avLst/>
            <a:gdLst/>
            <a:ahLst/>
            <a:cxnLst/>
            <a:rect l="l" t="t" r="r" b="b"/>
            <a:pathLst>
              <a:path w="659922" h="687419">
                <a:moveTo>
                  <a:pt x="0" y="0"/>
                </a:moveTo>
                <a:lnTo>
                  <a:pt x="659921" y="0"/>
                </a:lnTo>
                <a:lnTo>
                  <a:pt x="659921" y="687418"/>
                </a:lnTo>
                <a:lnTo>
                  <a:pt x="0" y="687418"/>
                </a:lnTo>
                <a:lnTo>
                  <a:pt x="0" y="0"/>
                </a:lnTo>
                <a:close/>
              </a:path>
            </a:pathLst>
          </a:custGeom>
          <a:blipFill>
            <a:blip>
              <a:extLst>
                <a:ext uri="{96DAC541-7B7A-43D3-8B79-37D633B846F1}">
                  <asvg:svgBlip xmlns:asvg="http://schemas.microsoft.com/office/drawing/2016/SVG/main" r:embed="rId14"/>
                </a:ext>
              </a:extLst>
            </a:blip>
            <a:stretch>
              <a:fillRect/>
            </a:stretch>
          </a:blipFill>
        </p:spPr>
        <p:txBody>
          <a:bodyPr/>
          <a:lstStyle/>
          <a:p>
            <a:endParaRPr lang="en-US"/>
          </a:p>
        </p:txBody>
      </p:sp>
      <p:sp>
        <p:nvSpPr>
          <p:cNvPr id="65" name="Freeform 65"/>
          <p:cNvSpPr/>
          <p:nvPr/>
        </p:nvSpPr>
        <p:spPr>
          <a:xfrm>
            <a:off x="16179478" y="3860050"/>
            <a:ext cx="677877" cy="677877"/>
          </a:xfrm>
          <a:custGeom>
            <a:avLst/>
            <a:gdLst/>
            <a:ahLst/>
            <a:cxnLst/>
            <a:rect l="l" t="t" r="r" b="b"/>
            <a:pathLst>
              <a:path w="677877" h="677877">
                <a:moveTo>
                  <a:pt x="0" y="0"/>
                </a:moveTo>
                <a:lnTo>
                  <a:pt x="677877" y="0"/>
                </a:lnTo>
                <a:lnTo>
                  <a:pt x="677877" y="677877"/>
                </a:lnTo>
                <a:lnTo>
                  <a:pt x="0" y="677877"/>
                </a:lnTo>
                <a:lnTo>
                  <a:pt x="0" y="0"/>
                </a:lnTo>
                <a:close/>
              </a:path>
            </a:pathLst>
          </a:custGeom>
          <a:blipFill>
            <a:blip>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66" name="TextBox 66"/>
          <p:cNvSpPr txBox="1"/>
          <p:nvPr/>
        </p:nvSpPr>
        <p:spPr>
          <a:xfrm>
            <a:off x="977890" y="1062195"/>
            <a:ext cx="6579989" cy="934720"/>
          </a:xfrm>
          <a:prstGeom prst="rect">
            <a:avLst/>
          </a:prstGeom>
        </p:spPr>
        <p:txBody>
          <a:bodyPr lIns="0" tIns="0" rIns="0" bIns="0" rtlCol="0" anchor="t">
            <a:spAutoFit/>
          </a:bodyPr>
          <a:lstStyle/>
          <a:p>
            <a:pPr algn="ctr">
              <a:lnSpc>
                <a:spcPts val="7279"/>
              </a:lnSpc>
              <a:spcBef>
                <a:spcPct val="0"/>
              </a:spcBef>
            </a:pPr>
            <a:r>
              <a:rPr lang="en-US" sz="5199" b="1" dirty="0">
                <a:solidFill>
                  <a:srgbClr val="000000"/>
                </a:solidFill>
                <a:latin typeface="Poppins Bold"/>
                <a:ea typeface="Poppins Bold"/>
                <a:cs typeface="Poppins Bold"/>
                <a:sym typeface="Poppins Bold"/>
              </a:rPr>
              <a:t>Workflow Overview</a:t>
            </a:r>
          </a:p>
        </p:txBody>
      </p:sp>
      <p:sp>
        <p:nvSpPr>
          <p:cNvPr id="67" name="TextBox 67"/>
          <p:cNvSpPr txBox="1"/>
          <p:nvPr/>
        </p:nvSpPr>
        <p:spPr>
          <a:xfrm>
            <a:off x="977890" y="2290315"/>
            <a:ext cx="7368927" cy="509905"/>
          </a:xfrm>
          <a:prstGeom prst="rect">
            <a:avLst/>
          </a:prstGeom>
        </p:spPr>
        <p:txBody>
          <a:bodyPr lIns="0" tIns="0" rIns="0" bIns="0" rtlCol="0" anchor="t">
            <a:spAutoFit/>
          </a:bodyPr>
          <a:lstStyle/>
          <a:p>
            <a:pPr algn="ctr">
              <a:lnSpc>
                <a:spcPts val="3919"/>
              </a:lnSpc>
              <a:spcBef>
                <a:spcPct val="0"/>
              </a:spcBef>
            </a:pPr>
            <a:r>
              <a:rPr lang="en-US" sz="2799" b="1" dirty="0">
                <a:solidFill>
                  <a:srgbClr val="000000"/>
                </a:solidFill>
                <a:latin typeface="Poppins Bold"/>
                <a:ea typeface="Poppins Bold"/>
                <a:cs typeface="Poppins Bold"/>
                <a:sym typeface="Poppins Bold"/>
              </a:rPr>
              <a:t>Steps to Systematically Handle Disputes</a:t>
            </a:r>
          </a:p>
        </p:txBody>
      </p:sp>
      <p:sp>
        <p:nvSpPr>
          <p:cNvPr id="68" name="TextBox 68"/>
          <p:cNvSpPr txBox="1"/>
          <p:nvPr/>
        </p:nvSpPr>
        <p:spPr>
          <a:xfrm>
            <a:off x="710708" y="7454032"/>
            <a:ext cx="1793368" cy="641201"/>
          </a:xfrm>
          <a:prstGeom prst="rect">
            <a:avLst/>
          </a:prstGeom>
        </p:spPr>
        <p:txBody>
          <a:bodyPr lIns="0" tIns="0" rIns="0" bIns="0" rtlCol="0" anchor="t">
            <a:spAutoFit/>
          </a:bodyPr>
          <a:lstStyle/>
          <a:p>
            <a:pPr algn="ctr">
              <a:lnSpc>
                <a:spcPts val="2489"/>
              </a:lnSpc>
              <a:spcBef>
                <a:spcPct val="0"/>
              </a:spcBef>
            </a:pPr>
            <a:r>
              <a:rPr lang="en-US" sz="2200" dirty="0">
                <a:solidFill>
                  <a:srgbClr val="000000"/>
                </a:solidFill>
                <a:latin typeface="Poppins" panose="00000500000000000000" pitchFamily="2" charset="0"/>
                <a:ea typeface="Poppins Bold"/>
                <a:cs typeface="Poppins" panose="00000500000000000000" pitchFamily="2" charset="0"/>
                <a:sym typeface="Poppins Bold"/>
              </a:rPr>
              <a:t>Verify Affiliation</a:t>
            </a:r>
          </a:p>
        </p:txBody>
      </p:sp>
      <p:sp>
        <p:nvSpPr>
          <p:cNvPr id="69" name="TextBox 69"/>
          <p:cNvSpPr txBox="1"/>
          <p:nvPr/>
        </p:nvSpPr>
        <p:spPr>
          <a:xfrm>
            <a:off x="977890" y="6909558"/>
            <a:ext cx="1153377" cy="255103"/>
          </a:xfrm>
          <a:prstGeom prst="rect">
            <a:avLst/>
          </a:prstGeom>
        </p:spPr>
        <p:txBody>
          <a:bodyPr lIns="0" tIns="0" rIns="0" bIns="0" rtlCol="0" anchor="t">
            <a:spAutoFit/>
          </a:bodyPr>
          <a:lstStyle/>
          <a:p>
            <a:pPr algn="ctr">
              <a:lnSpc>
                <a:spcPts val="2043"/>
              </a:lnSpc>
              <a:spcBef>
                <a:spcPct val="0"/>
              </a:spcBef>
            </a:pPr>
            <a:r>
              <a:rPr lang="en-US" b="1" dirty="0">
                <a:solidFill>
                  <a:srgbClr val="000000"/>
                </a:solidFill>
                <a:latin typeface="Poppins Bold"/>
                <a:ea typeface="Poppins Bold"/>
                <a:cs typeface="Poppins Bold"/>
                <a:sym typeface="Poppins Bold"/>
              </a:rPr>
              <a:t>Step 1</a:t>
            </a:r>
          </a:p>
        </p:txBody>
      </p:sp>
      <p:sp>
        <p:nvSpPr>
          <p:cNvPr id="70" name="TextBox 70"/>
          <p:cNvSpPr txBox="1"/>
          <p:nvPr/>
        </p:nvSpPr>
        <p:spPr>
          <a:xfrm>
            <a:off x="3066410" y="7454032"/>
            <a:ext cx="1969239" cy="623545"/>
          </a:xfrm>
          <a:prstGeom prst="rect">
            <a:avLst/>
          </a:prstGeom>
        </p:spPr>
        <p:txBody>
          <a:bodyPr lIns="0" tIns="0" rIns="0" bIns="0" rtlCol="0" anchor="t">
            <a:spAutoFit/>
          </a:bodyPr>
          <a:lstStyle>
            <a:defPPr>
              <a:defRPr lang="en-US"/>
            </a:defPPr>
            <a:lvl1pPr algn="ctr">
              <a:lnSpc>
                <a:spcPts val="2489"/>
              </a:lnSpc>
              <a:spcBef>
                <a:spcPct val="0"/>
              </a:spcBef>
              <a:defRPr sz="2200">
                <a:solidFill>
                  <a:srgbClr val="000000"/>
                </a:solidFill>
                <a:latin typeface="Poppins" panose="00000500000000000000" pitchFamily="2" charset="0"/>
                <a:ea typeface="Poppins Bold"/>
                <a:cs typeface="Poppins" panose="00000500000000000000" pitchFamily="2" charset="0"/>
              </a:defRPr>
            </a:lvl1pPr>
          </a:lstStyle>
          <a:p>
            <a:r>
              <a:rPr lang="en-US" dirty="0">
                <a:sym typeface="Poppins Bold"/>
              </a:rPr>
              <a:t>Manage Duplicates</a:t>
            </a:r>
          </a:p>
        </p:txBody>
      </p:sp>
      <p:sp>
        <p:nvSpPr>
          <p:cNvPr id="71" name="TextBox 71"/>
          <p:cNvSpPr txBox="1"/>
          <p:nvPr/>
        </p:nvSpPr>
        <p:spPr>
          <a:xfrm>
            <a:off x="3474340" y="6907668"/>
            <a:ext cx="1153377" cy="256993"/>
          </a:xfrm>
          <a:prstGeom prst="rect">
            <a:avLst/>
          </a:prstGeom>
        </p:spPr>
        <p:txBody>
          <a:bodyPr lIns="0" tIns="0" rIns="0" bIns="0" rtlCol="0" anchor="t">
            <a:spAutoFit/>
          </a:bodyPr>
          <a:lstStyle>
            <a:defPPr>
              <a:defRPr lang="en-US"/>
            </a:defPPr>
            <a:lvl1pPr algn="ctr">
              <a:lnSpc>
                <a:spcPts val="2043"/>
              </a:lnSpc>
              <a:spcBef>
                <a:spcPct val="0"/>
              </a:spcBef>
              <a:defRPr b="1">
                <a:solidFill>
                  <a:srgbClr val="000000"/>
                </a:solidFill>
                <a:latin typeface="Poppins Bold"/>
                <a:ea typeface="Poppins Bold"/>
                <a:cs typeface="Poppins Bold"/>
              </a:defRPr>
            </a:lvl1pPr>
          </a:lstStyle>
          <a:p>
            <a:r>
              <a:rPr lang="en-US" dirty="0">
                <a:sym typeface="Poppins Bold"/>
              </a:rPr>
              <a:t>Step 2</a:t>
            </a:r>
          </a:p>
        </p:txBody>
      </p:sp>
      <p:sp>
        <p:nvSpPr>
          <p:cNvPr id="72" name="TextBox 72"/>
          <p:cNvSpPr txBox="1"/>
          <p:nvPr/>
        </p:nvSpPr>
        <p:spPr>
          <a:xfrm>
            <a:off x="5625511" y="7454032"/>
            <a:ext cx="1831090" cy="623545"/>
          </a:xfrm>
          <a:prstGeom prst="rect">
            <a:avLst/>
          </a:prstGeom>
        </p:spPr>
        <p:txBody>
          <a:bodyPr lIns="0" tIns="0" rIns="0" bIns="0" rtlCol="0" anchor="t">
            <a:spAutoFit/>
          </a:bodyPr>
          <a:lstStyle>
            <a:defPPr>
              <a:defRPr lang="en-US"/>
            </a:defPPr>
            <a:lvl1pPr algn="ctr">
              <a:lnSpc>
                <a:spcPts val="2489"/>
              </a:lnSpc>
              <a:spcBef>
                <a:spcPct val="0"/>
              </a:spcBef>
              <a:defRPr sz="2200">
                <a:solidFill>
                  <a:srgbClr val="000000"/>
                </a:solidFill>
                <a:latin typeface="Poppins" panose="00000500000000000000" pitchFamily="2" charset="0"/>
                <a:ea typeface="Poppins Bold"/>
                <a:cs typeface="Poppins" panose="00000500000000000000" pitchFamily="2" charset="0"/>
              </a:defRPr>
            </a:lvl1pPr>
          </a:lstStyle>
          <a:p>
            <a:r>
              <a:rPr lang="en-US" dirty="0">
                <a:sym typeface="Poppins Bold"/>
              </a:rPr>
              <a:t>Locate the Review</a:t>
            </a:r>
          </a:p>
        </p:txBody>
      </p:sp>
      <p:sp>
        <p:nvSpPr>
          <p:cNvPr id="73" name="TextBox 73"/>
          <p:cNvSpPr txBox="1"/>
          <p:nvPr/>
        </p:nvSpPr>
        <p:spPr>
          <a:xfrm>
            <a:off x="5935931" y="6907875"/>
            <a:ext cx="1153377" cy="256993"/>
          </a:xfrm>
          <a:prstGeom prst="rect">
            <a:avLst/>
          </a:prstGeom>
        </p:spPr>
        <p:txBody>
          <a:bodyPr lIns="0" tIns="0" rIns="0" bIns="0" rtlCol="0" anchor="t">
            <a:spAutoFit/>
          </a:bodyPr>
          <a:lstStyle>
            <a:defPPr>
              <a:defRPr lang="en-US"/>
            </a:defPPr>
            <a:lvl1pPr algn="ctr">
              <a:lnSpc>
                <a:spcPts val="2043"/>
              </a:lnSpc>
              <a:spcBef>
                <a:spcPct val="0"/>
              </a:spcBef>
              <a:defRPr b="1">
                <a:solidFill>
                  <a:srgbClr val="000000"/>
                </a:solidFill>
                <a:latin typeface="Poppins Bold"/>
                <a:ea typeface="Poppins Bold"/>
                <a:cs typeface="Poppins Bold"/>
              </a:defRPr>
            </a:lvl1pPr>
          </a:lstStyle>
          <a:p>
            <a:r>
              <a:rPr lang="en-US" dirty="0">
                <a:sym typeface="Poppins Bold"/>
              </a:rPr>
              <a:t>Step 3</a:t>
            </a:r>
          </a:p>
        </p:txBody>
      </p:sp>
      <p:sp>
        <p:nvSpPr>
          <p:cNvPr id="74" name="TextBox 74"/>
          <p:cNvSpPr txBox="1"/>
          <p:nvPr/>
        </p:nvSpPr>
        <p:spPr>
          <a:xfrm>
            <a:off x="7958517" y="7454032"/>
            <a:ext cx="2158435" cy="623545"/>
          </a:xfrm>
          <a:prstGeom prst="rect">
            <a:avLst/>
          </a:prstGeom>
        </p:spPr>
        <p:txBody>
          <a:bodyPr lIns="0" tIns="0" rIns="0" bIns="0" rtlCol="0" anchor="t">
            <a:spAutoFit/>
          </a:bodyPr>
          <a:lstStyle>
            <a:defPPr>
              <a:defRPr lang="en-US"/>
            </a:defPPr>
            <a:lvl1pPr algn="ctr">
              <a:lnSpc>
                <a:spcPts val="2489"/>
              </a:lnSpc>
              <a:spcBef>
                <a:spcPct val="0"/>
              </a:spcBef>
              <a:defRPr sz="2200">
                <a:solidFill>
                  <a:srgbClr val="000000"/>
                </a:solidFill>
                <a:latin typeface="Poppins" panose="00000500000000000000" pitchFamily="2" charset="0"/>
                <a:ea typeface="Poppins Bold"/>
                <a:cs typeface="Poppins" panose="00000500000000000000" pitchFamily="2" charset="0"/>
              </a:defRPr>
            </a:lvl1pPr>
          </a:lstStyle>
          <a:p>
            <a:r>
              <a:rPr lang="en-US" dirty="0">
                <a:sym typeface="Poppins Bold"/>
              </a:rPr>
              <a:t>Voting &amp; Moderation Check</a:t>
            </a:r>
          </a:p>
        </p:txBody>
      </p:sp>
      <p:sp>
        <p:nvSpPr>
          <p:cNvPr id="75" name="TextBox 75"/>
          <p:cNvSpPr txBox="1"/>
          <p:nvPr/>
        </p:nvSpPr>
        <p:spPr>
          <a:xfrm>
            <a:off x="8397521" y="6907875"/>
            <a:ext cx="1153377" cy="256993"/>
          </a:xfrm>
          <a:prstGeom prst="rect">
            <a:avLst/>
          </a:prstGeom>
        </p:spPr>
        <p:txBody>
          <a:bodyPr lIns="0" tIns="0" rIns="0" bIns="0" rtlCol="0" anchor="t">
            <a:spAutoFit/>
          </a:bodyPr>
          <a:lstStyle>
            <a:defPPr>
              <a:defRPr lang="en-US"/>
            </a:defPPr>
            <a:lvl1pPr algn="ctr">
              <a:lnSpc>
                <a:spcPts val="2043"/>
              </a:lnSpc>
              <a:spcBef>
                <a:spcPct val="0"/>
              </a:spcBef>
              <a:defRPr b="1">
                <a:solidFill>
                  <a:srgbClr val="000000"/>
                </a:solidFill>
                <a:latin typeface="Poppins Bold"/>
                <a:ea typeface="Poppins Bold"/>
                <a:cs typeface="Poppins Bold"/>
              </a:defRPr>
            </a:lvl1pPr>
          </a:lstStyle>
          <a:p>
            <a:r>
              <a:rPr lang="en-US" dirty="0">
                <a:sym typeface="Poppins Bold"/>
              </a:rPr>
              <a:t>Step 4</a:t>
            </a:r>
          </a:p>
        </p:txBody>
      </p:sp>
      <p:sp>
        <p:nvSpPr>
          <p:cNvPr id="76" name="TextBox 76"/>
          <p:cNvSpPr txBox="1"/>
          <p:nvPr/>
        </p:nvSpPr>
        <p:spPr>
          <a:xfrm>
            <a:off x="10546467" y="7454032"/>
            <a:ext cx="1969239" cy="623545"/>
          </a:xfrm>
          <a:prstGeom prst="rect">
            <a:avLst/>
          </a:prstGeom>
        </p:spPr>
        <p:txBody>
          <a:bodyPr lIns="0" tIns="0" rIns="0" bIns="0" rtlCol="0" anchor="t">
            <a:spAutoFit/>
          </a:bodyPr>
          <a:lstStyle>
            <a:defPPr>
              <a:defRPr lang="en-US"/>
            </a:defPPr>
            <a:lvl1pPr algn="ctr">
              <a:lnSpc>
                <a:spcPts val="2489"/>
              </a:lnSpc>
              <a:spcBef>
                <a:spcPct val="0"/>
              </a:spcBef>
              <a:defRPr sz="2200">
                <a:solidFill>
                  <a:srgbClr val="000000"/>
                </a:solidFill>
                <a:latin typeface="Poppins" panose="00000500000000000000" pitchFamily="2" charset="0"/>
                <a:ea typeface="Poppins Bold"/>
                <a:cs typeface="Poppins" panose="00000500000000000000" pitchFamily="2" charset="0"/>
              </a:defRPr>
            </a:lvl1pPr>
          </a:lstStyle>
          <a:p>
            <a:r>
              <a:rPr lang="en-US" dirty="0">
                <a:sym typeface="Poppins Bold"/>
              </a:rPr>
              <a:t>Evidence Requirements</a:t>
            </a:r>
          </a:p>
        </p:txBody>
      </p:sp>
      <p:sp>
        <p:nvSpPr>
          <p:cNvPr id="77" name="TextBox 77"/>
          <p:cNvSpPr txBox="1"/>
          <p:nvPr/>
        </p:nvSpPr>
        <p:spPr>
          <a:xfrm>
            <a:off x="10951299" y="6907667"/>
            <a:ext cx="1153377" cy="256993"/>
          </a:xfrm>
          <a:prstGeom prst="rect">
            <a:avLst/>
          </a:prstGeom>
        </p:spPr>
        <p:txBody>
          <a:bodyPr lIns="0" tIns="0" rIns="0" bIns="0" rtlCol="0" anchor="t">
            <a:spAutoFit/>
          </a:bodyPr>
          <a:lstStyle>
            <a:defPPr>
              <a:defRPr lang="en-US"/>
            </a:defPPr>
            <a:lvl1pPr algn="ctr">
              <a:lnSpc>
                <a:spcPts val="2043"/>
              </a:lnSpc>
              <a:spcBef>
                <a:spcPct val="0"/>
              </a:spcBef>
              <a:defRPr b="1">
                <a:solidFill>
                  <a:srgbClr val="000000"/>
                </a:solidFill>
                <a:latin typeface="Poppins Bold"/>
                <a:ea typeface="Poppins Bold"/>
                <a:cs typeface="Poppins Bold"/>
              </a:defRPr>
            </a:lvl1pPr>
          </a:lstStyle>
          <a:p>
            <a:r>
              <a:rPr lang="en-US" dirty="0">
                <a:sym typeface="Poppins Bold"/>
              </a:rPr>
              <a:t>Step 5</a:t>
            </a:r>
          </a:p>
        </p:txBody>
      </p:sp>
      <p:sp>
        <p:nvSpPr>
          <p:cNvPr id="78" name="TextBox 78"/>
          <p:cNvSpPr txBox="1"/>
          <p:nvPr/>
        </p:nvSpPr>
        <p:spPr>
          <a:xfrm>
            <a:off x="13023610" y="7418008"/>
            <a:ext cx="2292589" cy="641201"/>
          </a:xfrm>
          <a:prstGeom prst="rect">
            <a:avLst/>
          </a:prstGeom>
        </p:spPr>
        <p:txBody>
          <a:bodyPr wrap="square" lIns="0" tIns="0" rIns="0" bIns="0" rtlCol="0" anchor="t">
            <a:spAutoFit/>
          </a:bodyPr>
          <a:lstStyle>
            <a:defPPr>
              <a:defRPr lang="en-US"/>
            </a:defPPr>
            <a:lvl1pPr algn="ctr">
              <a:lnSpc>
                <a:spcPts val="2489"/>
              </a:lnSpc>
              <a:spcBef>
                <a:spcPct val="0"/>
              </a:spcBef>
              <a:defRPr sz="2200">
                <a:solidFill>
                  <a:srgbClr val="000000"/>
                </a:solidFill>
                <a:latin typeface="Poppins" panose="00000500000000000000" pitchFamily="2" charset="0"/>
                <a:ea typeface="Poppins Bold"/>
                <a:cs typeface="Poppins" panose="00000500000000000000" pitchFamily="2" charset="0"/>
              </a:defRPr>
            </a:lvl1pPr>
          </a:lstStyle>
          <a:p>
            <a:r>
              <a:rPr lang="en-US" dirty="0">
                <a:sym typeface="Poppins Bold"/>
              </a:rPr>
              <a:t>Process &amp; Documentation</a:t>
            </a:r>
          </a:p>
        </p:txBody>
      </p:sp>
      <p:sp>
        <p:nvSpPr>
          <p:cNvPr id="79" name="TextBox 79"/>
          <p:cNvSpPr txBox="1"/>
          <p:nvPr/>
        </p:nvSpPr>
        <p:spPr>
          <a:xfrm>
            <a:off x="13507598" y="6909765"/>
            <a:ext cx="1153377" cy="256993"/>
          </a:xfrm>
          <a:prstGeom prst="rect">
            <a:avLst/>
          </a:prstGeom>
        </p:spPr>
        <p:txBody>
          <a:bodyPr lIns="0" tIns="0" rIns="0" bIns="0" rtlCol="0" anchor="t">
            <a:spAutoFit/>
          </a:bodyPr>
          <a:lstStyle>
            <a:defPPr>
              <a:defRPr lang="en-US"/>
            </a:defPPr>
            <a:lvl1pPr algn="ctr">
              <a:lnSpc>
                <a:spcPts val="2043"/>
              </a:lnSpc>
              <a:spcBef>
                <a:spcPct val="0"/>
              </a:spcBef>
              <a:defRPr b="1">
                <a:solidFill>
                  <a:srgbClr val="000000"/>
                </a:solidFill>
                <a:latin typeface="Poppins Bold"/>
                <a:ea typeface="Poppins Bold"/>
                <a:cs typeface="Poppins Bold"/>
              </a:defRPr>
            </a:lvl1pPr>
          </a:lstStyle>
          <a:p>
            <a:r>
              <a:rPr lang="en-US" dirty="0">
                <a:sym typeface="Poppins Bold"/>
              </a:rPr>
              <a:t>Step 6</a:t>
            </a:r>
          </a:p>
        </p:txBody>
      </p:sp>
      <p:sp>
        <p:nvSpPr>
          <p:cNvPr id="80" name="TextBox 80"/>
          <p:cNvSpPr txBox="1"/>
          <p:nvPr/>
        </p:nvSpPr>
        <p:spPr>
          <a:xfrm>
            <a:off x="15788036" y="7418008"/>
            <a:ext cx="1789256" cy="623545"/>
          </a:xfrm>
          <a:prstGeom prst="rect">
            <a:avLst/>
          </a:prstGeom>
        </p:spPr>
        <p:txBody>
          <a:bodyPr wrap="square" lIns="0" tIns="0" rIns="0" bIns="0" rtlCol="0" anchor="t">
            <a:spAutoFit/>
          </a:bodyPr>
          <a:lstStyle>
            <a:defPPr>
              <a:defRPr lang="en-US"/>
            </a:defPPr>
            <a:lvl1pPr algn="ctr">
              <a:lnSpc>
                <a:spcPts val="2489"/>
              </a:lnSpc>
              <a:spcBef>
                <a:spcPct val="0"/>
              </a:spcBef>
              <a:defRPr sz="2200">
                <a:solidFill>
                  <a:srgbClr val="000000"/>
                </a:solidFill>
                <a:latin typeface="Poppins" panose="00000500000000000000" pitchFamily="2" charset="0"/>
                <a:ea typeface="Poppins Bold"/>
                <a:cs typeface="Poppins" panose="00000500000000000000" pitchFamily="2" charset="0"/>
              </a:defRPr>
            </a:lvl1pPr>
          </a:lstStyle>
          <a:p>
            <a:r>
              <a:rPr lang="en-US" dirty="0">
                <a:sym typeface="Poppins Bold"/>
              </a:rPr>
              <a:t>Emailing the Owner</a:t>
            </a:r>
          </a:p>
        </p:txBody>
      </p:sp>
      <p:sp>
        <p:nvSpPr>
          <p:cNvPr id="81" name="TextBox 81"/>
          <p:cNvSpPr txBox="1"/>
          <p:nvPr/>
        </p:nvSpPr>
        <p:spPr>
          <a:xfrm>
            <a:off x="16063293" y="6907667"/>
            <a:ext cx="1153377" cy="256993"/>
          </a:xfrm>
          <a:prstGeom prst="rect">
            <a:avLst/>
          </a:prstGeom>
        </p:spPr>
        <p:txBody>
          <a:bodyPr lIns="0" tIns="0" rIns="0" bIns="0" rtlCol="0" anchor="t">
            <a:spAutoFit/>
          </a:bodyPr>
          <a:lstStyle>
            <a:defPPr>
              <a:defRPr lang="en-US"/>
            </a:defPPr>
            <a:lvl1pPr algn="ctr">
              <a:lnSpc>
                <a:spcPts val="2043"/>
              </a:lnSpc>
              <a:spcBef>
                <a:spcPct val="0"/>
              </a:spcBef>
              <a:defRPr b="1">
                <a:solidFill>
                  <a:srgbClr val="000000"/>
                </a:solidFill>
                <a:latin typeface="Poppins Bold"/>
                <a:ea typeface="Poppins Bold"/>
                <a:cs typeface="Poppins Bold"/>
              </a:defRPr>
            </a:lvl1pPr>
          </a:lstStyle>
          <a:p>
            <a:r>
              <a:rPr lang="en-US" dirty="0">
                <a:sym typeface="Poppins Bold"/>
              </a:rPr>
              <a:t>Step 7</a:t>
            </a:r>
          </a:p>
        </p:txBody>
      </p:sp>
      <p:sp>
        <p:nvSpPr>
          <p:cNvPr id="83" name="TextBox 82">
            <a:extLst>
              <a:ext uri="{FF2B5EF4-FFF2-40B4-BE49-F238E27FC236}">
                <a16:creationId xmlns:a16="http://schemas.microsoft.com/office/drawing/2014/main" id="{B3B9C01A-893F-4682-E6E8-02377CC0497C}"/>
              </a:ext>
            </a:extLst>
          </p:cNvPr>
          <p:cNvSpPr txBox="1"/>
          <p:nvPr/>
        </p:nvSpPr>
        <p:spPr>
          <a:xfrm>
            <a:off x="600003" y="9661691"/>
            <a:ext cx="10000001" cy="314772"/>
          </a:xfrm>
          <a:prstGeom prst="rect">
            <a:avLst/>
          </a:prstGeom>
          <a:noFill/>
        </p:spPr>
        <p:txBody>
          <a:bodyPr wrap="square" anchor="t">
            <a:spAutoFit/>
          </a:bodyPr>
          <a:lstStyle>
            <a:defPPr>
              <a:defRPr lang="en-US"/>
            </a:defPPr>
            <a:lvl1pPr defTabSz="914445">
              <a:defRPr sz="1400">
                <a:solidFill>
                  <a:srgbClr val="8A8272"/>
                </a:solidFill>
                <a:latin typeface="Poppins"/>
              </a:defRPr>
            </a:lvl1pPr>
            <a:lvl2pPr marL="685800" defTabSz="1371600">
              <a:defRPr sz="2700"/>
            </a:lvl2pPr>
            <a:lvl3pPr marL="1371600" defTabSz="1371600">
              <a:defRPr sz="2700"/>
            </a:lvl3pPr>
            <a:lvl4pPr marL="2057400" defTabSz="1371600">
              <a:defRPr sz="2700"/>
            </a:lvl4pPr>
            <a:lvl5pPr marL="2743200" defTabSz="1371600">
              <a:defRPr sz="2700"/>
            </a:lvl5pPr>
            <a:lvl6pPr marL="3429000" defTabSz="1371600">
              <a:defRPr sz="2700"/>
            </a:lvl6pPr>
            <a:lvl7pPr marL="4114800" defTabSz="1371600">
              <a:defRPr sz="2700"/>
            </a:lvl7pPr>
            <a:lvl8pPr marL="4800600" defTabSz="1371600">
              <a:defRPr sz="2700"/>
            </a:lvl8pPr>
            <a:lvl9pPr marL="5486400" defTabSz="1371600">
              <a:defRPr sz="2700"/>
            </a:lvl9pPr>
          </a:lstStyle>
          <a:p>
            <a:pPr defTabSz="914441"/>
            <a:r>
              <a:rPr dirty="0"/>
              <a:t>T</a:t>
            </a:r>
            <a:r>
              <a:rPr lang="en-US" dirty="0"/>
              <a:t>ripadvisor / Owner Review Disputes</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295400" y="877802"/>
            <a:ext cx="8903940" cy="888769"/>
          </a:xfrm>
          <a:prstGeom prst="rect">
            <a:avLst/>
          </a:prstGeom>
        </p:spPr>
        <p:txBody>
          <a:bodyPr wrap="square" lIns="0" tIns="0" rIns="0" bIns="0" rtlCol="0" anchor="t">
            <a:spAutoFit/>
          </a:bodyPr>
          <a:lstStyle/>
          <a:p>
            <a:pPr>
              <a:lnSpc>
                <a:spcPts val="7279"/>
              </a:lnSpc>
              <a:spcBef>
                <a:spcPct val="0"/>
              </a:spcBef>
            </a:pPr>
            <a:r>
              <a:rPr lang="en-US" sz="5199" b="1" dirty="0">
                <a:solidFill>
                  <a:srgbClr val="000000"/>
                </a:solidFill>
                <a:latin typeface="Poppins Bold"/>
                <a:ea typeface="Poppins Bold"/>
                <a:cs typeface="Poppins Bold"/>
                <a:sym typeface="Poppins Bold"/>
              </a:rPr>
              <a:t>Step 1 - Verify Affiliation</a:t>
            </a:r>
          </a:p>
        </p:txBody>
      </p:sp>
      <p:sp>
        <p:nvSpPr>
          <p:cNvPr id="3" name="TextBox 3"/>
          <p:cNvSpPr txBox="1"/>
          <p:nvPr/>
        </p:nvSpPr>
        <p:spPr>
          <a:xfrm>
            <a:off x="1439036" y="2065672"/>
            <a:ext cx="10981564" cy="1983363"/>
          </a:xfrm>
          <a:prstGeom prst="rect">
            <a:avLst/>
          </a:prstGeom>
        </p:spPr>
        <p:txBody>
          <a:bodyPr wrap="square" lIns="0" tIns="0" rIns="0" bIns="0" rtlCol="0" anchor="t">
            <a:spAutoFit/>
          </a:bodyPr>
          <a:lstStyle/>
          <a:p>
            <a:pPr marL="474345" lvl="1" indent="-237490" algn="l">
              <a:lnSpc>
                <a:spcPct val="150000"/>
              </a:lnSpc>
              <a:buFont typeface="Arial"/>
              <a:buChar char="•"/>
            </a:pPr>
            <a:r>
              <a:rPr lang="en-US" sz="2200" dirty="0">
                <a:solidFill>
                  <a:srgbClr val="000000"/>
                </a:solidFill>
                <a:latin typeface="Poppins"/>
                <a:ea typeface="Poppins"/>
                <a:cs typeface="Poppins"/>
                <a:sym typeface="Poppins"/>
              </a:rPr>
              <a:t>Confirm user authorization before sharing property details</a:t>
            </a:r>
            <a:endParaRPr lang="en-US" sz="2200" dirty="0"/>
          </a:p>
          <a:p>
            <a:pPr marL="474345" lvl="1" indent="-237490" algn="l">
              <a:lnSpc>
                <a:spcPct val="150000"/>
              </a:lnSpc>
              <a:buFont typeface="Arial"/>
              <a:buChar char="•"/>
            </a:pPr>
            <a:r>
              <a:rPr lang="en-US" sz="2200" dirty="0">
                <a:solidFill>
                  <a:srgbClr val="000000"/>
                </a:solidFill>
                <a:latin typeface="Poppins"/>
                <a:ea typeface="Poppins"/>
                <a:cs typeface="Poppins"/>
                <a:sym typeface="Poppins"/>
              </a:rPr>
              <a:t>If an Owner Voter Template is provided, consider them affiliated</a:t>
            </a:r>
            <a:endParaRPr lang="en-US" sz="2200" dirty="0">
              <a:solidFill>
                <a:srgbClr val="000000"/>
              </a:solidFill>
              <a:latin typeface="Poppins"/>
              <a:ea typeface="Poppins"/>
              <a:cs typeface="Poppins"/>
            </a:endParaRPr>
          </a:p>
          <a:p>
            <a:pPr marL="474345" lvl="1" indent="-237490" algn="l">
              <a:lnSpc>
                <a:spcPct val="150000"/>
              </a:lnSpc>
              <a:buFont typeface="Arial"/>
              <a:buChar char="•"/>
            </a:pPr>
            <a:r>
              <a:rPr lang="en-US" sz="2200" dirty="0">
                <a:solidFill>
                  <a:srgbClr val="000000"/>
                </a:solidFill>
                <a:latin typeface="Poppins"/>
                <a:ea typeface="Poppins"/>
                <a:cs typeface="Poppins"/>
                <a:sym typeface="Poppins"/>
              </a:rPr>
              <a:t>If unsure, then refer to the </a:t>
            </a:r>
            <a:r>
              <a:rPr lang="en-US" sz="2200" b="1" dirty="0">
                <a:solidFill>
                  <a:srgbClr val="000000"/>
                </a:solidFill>
                <a:latin typeface="Poppins Bold"/>
                <a:ea typeface="Poppins Bold"/>
                <a:cs typeface="Poppins Bold"/>
                <a:sym typeface="Poppins Bold"/>
              </a:rPr>
              <a:t>[</a:t>
            </a:r>
            <a:r>
              <a:rPr lang="en-US" sz="2200" dirty="0">
                <a:latin typeface="Poppins Bold"/>
                <a:ea typeface="Poppins Bold"/>
                <a:cs typeface="Poppins Bold"/>
                <a:sym typeface="Poppins Bold"/>
                <a:hlinkClick r:id="rId3">
                  <a:extLst>
                    <a:ext uri="{A12FA001-AC4F-418D-AE19-62706E023703}">
                      <ahyp:hlinkClr xmlns:ahyp="http://schemas.microsoft.com/office/drawing/2018/hyperlinkcolor" val="tx"/>
                    </a:ext>
                  </a:extLst>
                </a:hlinkClick>
              </a:rPr>
              <a:t>08. What to check before replying to an Owner</a:t>
            </a:r>
            <a:r>
              <a:rPr lang="en-US" sz="2200" b="1" dirty="0">
                <a:solidFill>
                  <a:srgbClr val="000000"/>
                </a:solidFill>
                <a:latin typeface="Poppins Bold"/>
                <a:ea typeface="Poppins Bold"/>
                <a:cs typeface="Poppins Bold"/>
                <a:sym typeface="Poppins Bold"/>
              </a:rPr>
              <a:t>]</a:t>
            </a:r>
            <a:endParaRPr lang="en-US" sz="2200" b="1" dirty="0">
              <a:solidFill>
                <a:srgbClr val="000000"/>
              </a:solidFill>
              <a:latin typeface="Poppins Bold"/>
              <a:ea typeface="Poppins Bold"/>
              <a:cs typeface="Poppins Bold"/>
            </a:endParaRPr>
          </a:p>
        </p:txBody>
      </p:sp>
      <p:sp>
        <p:nvSpPr>
          <p:cNvPr id="4" name="TextBox 4"/>
          <p:cNvSpPr txBox="1"/>
          <p:nvPr/>
        </p:nvSpPr>
        <p:spPr>
          <a:xfrm>
            <a:off x="1066800" y="4583442"/>
            <a:ext cx="9834985" cy="934720"/>
          </a:xfrm>
          <a:prstGeom prst="rect">
            <a:avLst/>
          </a:prstGeom>
        </p:spPr>
        <p:txBody>
          <a:bodyPr lIns="0" tIns="0" rIns="0" bIns="0" rtlCol="0" anchor="t">
            <a:spAutoFit/>
          </a:bodyPr>
          <a:lstStyle/>
          <a:p>
            <a:pPr algn="ctr">
              <a:lnSpc>
                <a:spcPts val="7279"/>
              </a:lnSpc>
              <a:spcBef>
                <a:spcPct val="0"/>
              </a:spcBef>
            </a:pPr>
            <a:r>
              <a:rPr lang="en-US" sz="5199" b="1" dirty="0">
                <a:solidFill>
                  <a:srgbClr val="000000"/>
                </a:solidFill>
                <a:latin typeface="Poppins Bold"/>
                <a:ea typeface="Poppins Bold"/>
                <a:cs typeface="Poppins Bold"/>
                <a:sym typeface="Poppins Bold"/>
              </a:rPr>
              <a:t>Step 2 - Manage Duplicates</a:t>
            </a:r>
          </a:p>
        </p:txBody>
      </p:sp>
      <p:sp>
        <p:nvSpPr>
          <p:cNvPr id="5" name="TextBox 5"/>
          <p:cNvSpPr txBox="1"/>
          <p:nvPr/>
        </p:nvSpPr>
        <p:spPr>
          <a:xfrm>
            <a:off x="1439036" y="5888714"/>
            <a:ext cx="10562908" cy="1982594"/>
          </a:xfrm>
          <a:prstGeom prst="rect">
            <a:avLst/>
          </a:prstGeom>
        </p:spPr>
        <p:txBody>
          <a:bodyPr wrap="square" lIns="0" tIns="0" rIns="0" bIns="0" rtlCol="0" anchor="t">
            <a:spAutoFit/>
          </a:bodyPr>
          <a:lstStyle/>
          <a:p>
            <a:pPr marL="474979" lvl="1" indent="-237490" algn="l">
              <a:lnSpc>
                <a:spcPct val="150000"/>
              </a:lnSpc>
              <a:buFont typeface="Arial"/>
              <a:buChar char="•"/>
            </a:pPr>
            <a:r>
              <a:rPr lang="en-US" sz="2199" dirty="0">
                <a:solidFill>
                  <a:srgbClr val="000000"/>
                </a:solidFill>
                <a:latin typeface="Poppins"/>
                <a:ea typeface="Poppins"/>
                <a:cs typeface="Poppins"/>
                <a:sym typeface="Poppins"/>
              </a:rPr>
              <a:t>Check if another agent is handling the dispute.</a:t>
            </a:r>
          </a:p>
          <a:p>
            <a:pPr marL="474979" lvl="1" indent="-237490" algn="l">
              <a:lnSpc>
                <a:spcPct val="150000"/>
              </a:lnSpc>
              <a:buFont typeface="Arial"/>
              <a:buChar char="•"/>
            </a:pPr>
            <a:r>
              <a:rPr lang="en-US" sz="2199" dirty="0">
                <a:solidFill>
                  <a:srgbClr val="000000"/>
                </a:solidFill>
                <a:latin typeface="Poppins"/>
                <a:ea typeface="Poppins"/>
                <a:cs typeface="Poppins"/>
                <a:sym typeface="Poppins"/>
              </a:rPr>
              <a:t>Merge duplicates into the Active Ticket.</a:t>
            </a:r>
          </a:p>
          <a:p>
            <a:pPr marL="474979" lvl="1" indent="-237490" algn="l">
              <a:lnSpc>
                <a:spcPct val="150000"/>
              </a:lnSpc>
              <a:buFont typeface="Arial"/>
              <a:buChar char="•"/>
            </a:pPr>
            <a:r>
              <a:rPr lang="en-US" sz="2199" dirty="0">
                <a:solidFill>
                  <a:srgbClr val="000000"/>
                </a:solidFill>
                <a:latin typeface="Poppins"/>
                <a:ea typeface="Poppins"/>
                <a:cs typeface="Poppins"/>
                <a:sym typeface="Poppins"/>
              </a:rPr>
              <a:t>Handle multiple reviews in one ticket by referencing Review ID internally and Title in replies.</a:t>
            </a:r>
          </a:p>
        </p:txBody>
      </p:sp>
      <p:sp>
        <p:nvSpPr>
          <p:cNvPr id="6" name="Freeform 6"/>
          <p:cNvSpPr/>
          <p:nvPr/>
        </p:nvSpPr>
        <p:spPr>
          <a:xfrm>
            <a:off x="13716000" y="1667681"/>
            <a:ext cx="2268222" cy="2237979"/>
          </a:xfrm>
          <a:custGeom>
            <a:avLst/>
            <a:gdLst/>
            <a:ahLst/>
            <a:cxnLst/>
            <a:rect l="l" t="t" r="r" b="b"/>
            <a:pathLst>
              <a:path w="2268222" h="2237979">
                <a:moveTo>
                  <a:pt x="0" y="0"/>
                </a:moveTo>
                <a:lnTo>
                  <a:pt x="2268222" y="0"/>
                </a:lnTo>
                <a:lnTo>
                  <a:pt x="2268222" y="2237979"/>
                </a:lnTo>
                <a:lnTo>
                  <a:pt x="0" y="2237979"/>
                </a:lnTo>
                <a:lnTo>
                  <a:pt x="0" y="0"/>
                </a:lnTo>
                <a:close/>
              </a:path>
            </a:pathLst>
          </a:custGeom>
          <a:blipFill>
            <a:blip r:embed="rId4"/>
            <a:stretch>
              <a:fillRect/>
            </a:stretch>
          </a:blipFill>
          <a:effectLst>
            <a:outerShdw blurRad="50800" dist="38100" dir="5400000" algn="t" rotWithShape="0">
              <a:prstClr val="black">
                <a:alpha val="40000"/>
              </a:prstClr>
            </a:outerShdw>
          </a:effectLst>
        </p:spPr>
        <p:txBody>
          <a:bodyPr/>
          <a:lstStyle/>
          <a:p>
            <a:endParaRPr lang="en-US"/>
          </a:p>
        </p:txBody>
      </p:sp>
      <p:sp>
        <p:nvSpPr>
          <p:cNvPr id="7" name="Freeform 7"/>
          <p:cNvSpPr/>
          <p:nvPr/>
        </p:nvSpPr>
        <p:spPr>
          <a:xfrm>
            <a:off x="13117068" y="5300924"/>
            <a:ext cx="3200851" cy="3158173"/>
          </a:xfrm>
          <a:custGeom>
            <a:avLst/>
            <a:gdLst/>
            <a:ahLst/>
            <a:cxnLst/>
            <a:rect l="l" t="t" r="r" b="b"/>
            <a:pathLst>
              <a:path w="3200851" h="3158173">
                <a:moveTo>
                  <a:pt x="0" y="0"/>
                </a:moveTo>
                <a:lnTo>
                  <a:pt x="3200852" y="0"/>
                </a:lnTo>
                <a:lnTo>
                  <a:pt x="3200852" y="3158173"/>
                </a:lnTo>
                <a:lnTo>
                  <a:pt x="0" y="3158173"/>
                </a:lnTo>
                <a:lnTo>
                  <a:pt x="0" y="0"/>
                </a:lnTo>
                <a:close/>
              </a:path>
            </a:pathLst>
          </a:custGeom>
          <a:blipFill>
            <a:blip>
              <a:extLst>
                <a:ext uri="{96DAC541-7B7A-43D3-8B79-37D633B846F1}">
                  <asvg:svgBlip xmlns:asvg="http://schemas.microsoft.com/office/drawing/2016/SVG/main" r:embed="rId5"/>
                </a:ext>
              </a:extLst>
            </a:blip>
            <a:stretch>
              <a:fillRect/>
            </a:stretch>
          </a:blipFill>
          <a:effectLst>
            <a:outerShdw blurRad="50800" dist="38100" dir="5400000" algn="t" rotWithShape="0">
              <a:prstClr val="black">
                <a:alpha val="40000"/>
              </a:prstClr>
            </a:outerShdw>
          </a:effectLst>
        </p:spPr>
        <p:txBody>
          <a:bodyPr/>
          <a:lstStyle/>
          <a:p>
            <a:endParaRPr lang="en-US"/>
          </a:p>
        </p:txBody>
      </p:sp>
      <p:sp>
        <p:nvSpPr>
          <p:cNvPr id="10" name="TextBox 9">
            <a:extLst>
              <a:ext uri="{FF2B5EF4-FFF2-40B4-BE49-F238E27FC236}">
                <a16:creationId xmlns:a16="http://schemas.microsoft.com/office/drawing/2014/main" id="{BA18A16F-39F3-9E89-3EAD-41D60EB85424}"/>
              </a:ext>
            </a:extLst>
          </p:cNvPr>
          <p:cNvSpPr txBox="1"/>
          <p:nvPr/>
        </p:nvSpPr>
        <p:spPr>
          <a:xfrm>
            <a:off x="600003" y="9661691"/>
            <a:ext cx="10000001" cy="314772"/>
          </a:xfrm>
          <a:prstGeom prst="rect">
            <a:avLst/>
          </a:prstGeom>
          <a:noFill/>
        </p:spPr>
        <p:txBody>
          <a:bodyPr wrap="square" anchor="t">
            <a:spAutoFit/>
          </a:bodyPr>
          <a:lstStyle>
            <a:defPPr>
              <a:defRPr lang="en-US"/>
            </a:defPPr>
            <a:lvl1pPr defTabSz="914445">
              <a:defRPr sz="1400">
                <a:solidFill>
                  <a:srgbClr val="8A8272"/>
                </a:solidFill>
                <a:latin typeface="Poppins"/>
              </a:defRPr>
            </a:lvl1pPr>
            <a:lvl2pPr marL="685800" defTabSz="1371600">
              <a:defRPr sz="2700"/>
            </a:lvl2pPr>
            <a:lvl3pPr marL="1371600" defTabSz="1371600">
              <a:defRPr sz="2700"/>
            </a:lvl3pPr>
            <a:lvl4pPr marL="2057400" defTabSz="1371600">
              <a:defRPr sz="2700"/>
            </a:lvl4pPr>
            <a:lvl5pPr marL="2743200" defTabSz="1371600">
              <a:defRPr sz="2700"/>
            </a:lvl5pPr>
            <a:lvl6pPr marL="3429000" defTabSz="1371600">
              <a:defRPr sz="2700"/>
            </a:lvl6pPr>
            <a:lvl7pPr marL="4114800" defTabSz="1371600">
              <a:defRPr sz="2700"/>
            </a:lvl7pPr>
            <a:lvl8pPr marL="4800600" defTabSz="1371600">
              <a:defRPr sz="2700"/>
            </a:lvl8pPr>
            <a:lvl9pPr marL="5486400" defTabSz="1371600">
              <a:defRPr sz="2700"/>
            </a:lvl9pPr>
          </a:lstStyle>
          <a:p>
            <a:pPr defTabSz="914441"/>
            <a:r>
              <a:rPr dirty="0"/>
              <a:t>T</a:t>
            </a:r>
            <a:r>
              <a:rPr lang="en-US" dirty="0"/>
              <a:t>ripadvisor / Owner Review Disputes</a:t>
            </a:r>
            <a:endParaRPr dirty="0"/>
          </a:p>
        </p:txBody>
      </p:sp>
      <p:grpSp>
        <p:nvGrpSpPr>
          <p:cNvPr id="31" name="Group 30">
            <a:extLst>
              <a:ext uri="{FF2B5EF4-FFF2-40B4-BE49-F238E27FC236}">
                <a16:creationId xmlns:a16="http://schemas.microsoft.com/office/drawing/2014/main" id="{AD15375F-4E42-DB16-439C-3B7F105B98A7}"/>
              </a:ext>
            </a:extLst>
          </p:cNvPr>
          <p:cNvGrpSpPr/>
          <p:nvPr/>
        </p:nvGrpSpPr>
        <p:grpSpPr>
          <a:xfrm>
            <a:off x="1600200" y="8280606"/>
            <a:ext cx="10352758" cy="1538471"/>
            <a:chOff x="1395189" y="7380313"/>
            <a:chExt cx="14699812" cy="1899981"/>
          </a:xfrm>
        </p:grpSpPr>
        <p:grpSp>
          <p:nvGrpSpPr>
            <p:cNvPr id="32" name="Group 30">
              <a:extLst>
                <a:ext uri="{FF2B5EF4-FFF2-40B4-BE49-F238E27FC236}">
                  <a16:creationId xmlns:a16="http://schemas.microsoft.com/office/drawing/2014/main" id="{B320A711-77E5-D989-2338-F1F1716AAD8B}"/>
                </a:ext>
              </a:extLst>
            </p:cNvPr>
            <p:cNvGrpSpPr/>
            <p:nvPr/>
          </p:nvGrpSpPr>
          <p:grpSpPr>
            <a:xfrm>
              <a:off x="1558373" y="7515798"/>
              <a:ext cx="14536628" cy="1764496"/>
              <a:chOff x="0" y="-47625"/>
              <a:chExt cx="3828577" cy="464723"/>
            </a:xfrm>
          </p:grpSpPr>
          <p:sp>
            <p:nvSpPr>
              <p:cNvPr id="38" name="Freeform 31">
                <a:extLst>
                  <a:ext uri="{FF2B5EF4-FFF2-40B4-BE49-F238E27FC236}">
                    <a16:creationId xmlns:a16="http://schemas.microsoft.com/office/drawing/2014/main" id="{76DB97BC-3332-0659-F292-5CBEDC481FAA}"/>
                  </a:ext>
                </a:extLst>
              </p:cNvPr>
              <p:cNvSpPr/>
              <p:nvPr/>
            </p:nvSpPr>
            <p:spPr>
              <a:xfrm>
                <a:off x="24591" y="-33265"/>
                <a:ext cx="3803986" cy="230359"/>
              </a:xfrm>
              <a:custGeom>
                <a:avLst/>
                <a:gdLst/>
                <a:ahLst/>
                <a:cxnLst/>
                <a:rect l="l" t="t" r="r" b="b"/>
                <a:pathLst>
                  <a:path w="3803986" h="417098">
                    <a:moveTo>
                      <a:pt x="27337" y="0"/>
                    </a:moveTo>
                    <a:lnTo>
                      <a:pt x="3776649" y="0"/>
                    </a:lnTo>
                    <a:cubicBezTo>
                      <a:pt x="3783899" y="0"/>
                      <a:pt x="3790852" y="2880"/>
                      <a:pt x="3795979" y="8007"/>
                    </a:cubicBezTo>
                    <a:cubicBezTo>
                      <a:pt x="3801106" y="13134"/>
                      <a:pt x="3803986" y="20087"/>
                      <a:pt x="3803986" y="27337"/>
                    </a:cubicBezTo>
                    <a:lnTo>
                      <a:pt x="3803986" y="389761"/>
                    </a:lnTo>
                    <a:cubicBezTo>
                      <a:pt x="3803986" y="404859"/>
                      <a:pt x="3791747" y="417098"/>
                      <a:pt x="3776649" y="417098"/>
                    </a:cubicBezTo>
                    <a:lnTo>
                      <a:pt x="27337" y="417098"/>
                    </a:lnTo>
                    <a:cubicBezTo>
                      <a:pt x="20087" y="417098"/>
                      <a:pt x="13134" y="414218"/>
                      <a:pt x="8007" y="409091"/>
                    </a:cubicBezTo>
                    <a:cubicBezTo>
                      <a:pt x="2880" y="403965"/>
                      <a:pt x="0" y="397011"/>
                      <a:pt x="0" y="389761"/>
                    </a:cubicBezTo>
                    <a:lnTo>
                      <a:pt x="0" y="27337"/>
                    </a:lnTo>
                    <a:cubicBezTo>
                      <a:pt x="0" y="20087"/>
                      <a:pt x="2880" y="13134"/>
                      <a:pt x="8007" y="8007"/>
                    </a:cubicBezTo>
                    <a:cubicBezTo>
                      <a:pt x="13134" y="2880"/>
                      <a:pt x="20087" y="0"/>
                      <a:pt x="27337" y="0"/>
                    </a:cubicBezTo>
                    <a:close/>
                  </a:path>
                </a:pathLst>
              </a:custGeom>
              <a:solidFill>
                <a:srgbClr val="FFFFFF"/>
              </a:solidFill>
              <a:ln w="19050" cap="rnd">
                <a:solidFill>
                  <a:srgbClr val="00763D"/>
                </a:solidFill>
                <a:prstDash val="solid"/>
                <a:round/>
              </a:ln>
              <a:effectLst>
                <a:outerShdw blurRad="50800" dist="38100" dir="5400000" algn="t" rotWithShape="0">
                  <a:prstClr val="black">
                    <a:alpha val="40000"/>
                  </a:prstClr>
                </a:outerShdw>
              </a:effectLst>
            </p:spPr>
            <p:txBody>
              <a:bodyPr/>
              <a:lstStyle/>
              <a:p>
                <a:endParaRPr lang="en-US" dirty="0"/>
              </a:p>
            </p:txBody>
          </p:sp>
          <p:sp>
            <p:nvSpPr>
              <p:cNvPr id="39" name="TextBox 32">
                <a:extLst>
                  <a:ext uri="{FF2B5EF4-FFF2-40B4-BE49-F238E27FC236}">
                    <a16:creationId xmlns:a16="http://schemas.microsoft.com/office/drawing/2014/main" id="{84F9E3BA-AFD3-83EB-1893-96823CE0808B}"/>
                  </a:ext>
                </a:extLst>
              </p:cNvPr>
              <p:cNvSpPr txBox="1"/>
              <p:nvPr/>
            </p:nvSpPr>
            <p:spPr>
              <a:xfrm>
                <a:off x="0" y="-47625"/>
                <a:ext cx="3803986" cy="464723"/>
              </a:xfrm>
              <a:prstGeom prst="rect">
                <a:avLst/>
              </a:prstGeom>
            </p:spPr>
            <p:txBody>
              <a:bodyPr lIns="50800" tIns="50800" rIns="50800" bIns="50800" rtlCol="0" anchor="ctr"/>
              <a:lstStyle/>
              <a:p>
                <a:pPr algn="ctr">
                  <a:lnSpc>
                    <a:spcPts val="2806"/>
                  </a:lnSpc>
                </a:pPr>
                <a:endParaRPr/>
              </a:p>
            </p:txBody>
          </p:sp>
        </p:grpSp>
        <p:sp>
          <p:nvSpPr>
            <p:cNvPr id="33" name="TextBox 33">
              <a:extLst>
                <a:ext uri="{FF2B5EF4-FFF2-40B4-BE49-F238E27FC236}">
                  <a16:creationId xmlns:a16="http://schemas.microsoft.com/office/drawing/2014/main" id="{C76DF2E5-91CA-2C88-4DFC-ECB7DF839C0C}"/>
                </a:ext>
              </a:extLst>
            </p:cNvPr>
            <p:cNvSpPr txBox="1"/>
            <p:nvPr/>
          </p:nvSpPr>
          <p:spPr>
            <a:xfrm>
              <a:off x="2242471" y="7847461"/>
              <a:ext cx="12982007" cy="430144"/>
            </a:xfrm>
            <a:prstGeom prst="rect">
              <a:avLst/>
            </a:prstGeom>
          </p:spPr>
          <p:txBody>
            <a:bodyPr lIns="0" tIns="0" rIns="0" bIns="0" rtlCol="0" anchor="t">
              <a:spAutoFit/>
            </a:bodyPr>
            <a:lstStyle/>
            <a:p>
              <a:pPr>
                <a:lnSpc>
                  <a:spcPts val="2806"/>
                </a:lnSpc>
                <a:spcBef>
                  <a:spcPct val="0"/>
                </a:spcBef>
              </a:pPr>
              <a:r>
                <a:rPr lang="en-US" sz="2200" b="1" dirty="0">
                  <a:solidFill>
                    <a:srgbClr val="000000"/>
                  </a:solidFill>
                  <a:latin typeface="Poppins Bold"/>
                  <a:ea typeface="Poppins Bold"/>
                  <a:cs typeface="Poppins Bold"/>
                  <a:sym typeface="Poppins Bold"/>
                </a:rPr>
                <a:t>Note: </a:t>
              </a:r>
              <a:r>
                <a:rPr lang="en-US" sz="2200" dirty="0">
                  <a:solidFill>
                    <a:srgbClr val="000000"/>
                  </a:solidFill>
                  <a:latin typeface="Poppins"/>
                  <a:ea typeface="Poppins"/>
                  <a:cs typeface="Poppins"/>
                  <a:sym typeface="Poppins"/>
                </a:rPr>
                <a:t>Never merge into a ticket that isn't in "New" or "Open” status.</a:t>
              </a:r>
            </a:p>
          </p:txBody>
        </p:sp>
        <p:grpSp>
          <p:nvGrpSpPr>
            <p:cNvPr id="34" name="Group 34">
              <a:extLst>
                <a:ext uri="{FF2B5EF4-FFF2-40B4-BE49-F238E27FC236}">
                  <a16:creationId xmlns:a16="http://schemas.microsoft.com/office/drawing/2014/main" id="{BB2510F1-77A2-A3D1-5D67-A967729AE689}"/>
                </a:ext>
              </a:extLst>
            </p:cNvPr>
            <p:cNvGrpSpPr/>
            <p:nvPr/>
          </p:nvGrpSpPr>
          <p:grpSpPr>
            <a:xfrm>
              <a:off x="1395189" y="7380313"/>
              <a:ext cx="882228" cy="882228"/>
              <a:chOff x="0" y="0"/>
              <a:chExt cx="812800" cy="812800"/>
            </a:xfrm>
          </p:grpSpPr>
          <p:sp>
            <p:nvSpPr>
              <p:cNvPr id="36" name="Freeform 35">
                <a:extLst>
                  <a:ext uri="{FF2B5EF4-FFF2-40B4-BE49-F238E27FC236}">
                    <a16:creationId xmlns:a16="http://schemas.microsoft.com/office/drawing/2014/main" id="{E7005F76-97B5-2F06-884D-C54077F4FDF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37" name="TextBox 36">
                <a:extLst>
                  <a:ext uri="{FF2B5EF4-FFF2-40B4-BE49-F238E27FC236}">
                    <a16:creationId xmlns:a16="http://schemas.microsoft.com/office/drawing/2014/main" id="{6837B76F-69B1-6E99-6A96-DB24ED87B7F9}"/>
                  </a:ext>
                </a:extLst>
              </p:cNvPr>
              <p:cNvSpPr txBox="1"/>
              <p:nvPr/>
            </p:nvSpPr>
            <p:spPr>
              <a:xfrm>
                <a:off x="76200" y="28575"/>
                <a:ext cx="660400" cy="708025"/>
              </a:xfrm>
              <a:prstGeom prst="rect">
                <a:avLst/>
              </a:prstGeom>
            </p:spPr>
            <p:txBody>
              <a:bodyPr lIns="50800" tIns="50800" rIns="50800" bIns="50800" rtlCol="0" anchor="ctr"/>
              <a:lstStyle/>
              <a:p>
                <a:pPr algn="ctr">
                  <a:lnSpc>
                    <a:spcPts val="2806"/>
                  </a:lnSpc>
                </a:pPr>
                <a:endParaRPr/>
              </a:p>
            </p:txBody>
          </p:sp>
        </p:grpSp>
        <p:sp>
          <p:nvSpPr>
            <p:cNvPr id="35" name="Freeform 37">
              <a:extLst>
                <a:ext uri="{FF2B5EF4-FFF2-40B4-BE49-F238E27FC236}">
                  <a16:creationId xmlns:a16="http://schemas.microsoft.com/office/drawing/2014/main" id="{3227F32B-48FB-DA6F-2569-8B67288F4549}"/>
                </a:ext>
              </a:extLst>
            </p:cNvPr>
            <p:cNvSpPr/>
            <p:nvPr/>
          </p:nvSpPr>
          <p:spPr>
            <a:xfrm>
              <a:off x="1570133" y="7555256"/>
              <a:ext cx="532340" cy="532340"/>
            </a:xfrm>
            <a:custGeom>
              <a:avLst/>
              <a:gdLst/>
              <a:ahLst/>
              <a:cxnLst/>
              <a:rect l="l" t="t" r="r" b="b"/>
              <a:pathLst>
                <a:path w="532340" h="532340">
                  <a:moveTo>
                    <a:pt x="0" y="0"/>
                  </a:moveTo>
                  <a:lnTo>
                    <a:pt x="532341" y="0"/>
                  </a:lnTo>
                  <a:lnTo>
                    <a:pt x="532341" y="532341"/>
                  </a:lnTo>
                  <a:lnTo>
                    <a:pt x="0" y="53234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grpSp>
    </p:spTree>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92720" y="2691411"/>
            <a:ext cx="8814643" cy="4100352"/>
            <a:chOff x="0" y="0"/>
            <a:chExt cx="11752858" cy="5467135"/>
          </a:xfrm>
          <a:effectLst>
            <a:outerShdw blurRad="50800" dist="38100" dir="5400000" algn="t" rotWithShape="0">
              <a:prstClr val="black">
                <a:alpha val="40000"/>
              </a:prstClr>
            </a:outerShdw>
          </a:effectLst>
        </p:grpSpPr>
        <p:grpSp>
          <p:nvGrpSpPr>
            <p:cNvPr id="3" name="Group 3"/>
            <p:cNvGrpSpPr/>
            <p:nvPr/>
          </p:nvGrpSpPr>
          <p:grpSpPr>
            <a:xfrm>
              <a:off x="0" y="0"/>
              <a:ext cx="11605073" cy="5336889"/>
              <a:chOff x="0" y="0"/>
              <a:chExt cx="2292360" cy="1054200"/>
            </a:xfrm>
          </p:grpSpPr>
          <p:sp>
            <p:nvSpPr>
              <p:cNvPr id="4" name="Freeform 4"/>
              <p:cNvSpPr/>
              <p:nvPr/>
            </p:nvSpPr>
            <p:spPr>
              <a:xfrm>
                <a:off x="0" y="0"/>
                <a:ext cx="2292360" cy="1054200"/>
              </a:xfrm>
              <a:custGeom>
                <a:avLst/>
                <a:gdLst/>
                <a:ahLst/>
                <a:cxnLst/>
                <a:rect l="l" t="t" r="r" b="b"/>
                <a:pathLst>
                  <a:path w="2292360" h="1054200">
                    <a:moveTo>
                      <a:pt x="45364" y="0"/>
                    </a:moveTo>
                    <a:lnTo>
                      <a:pt x="2246996" y="0"/>
                    </a:lnTo>
                    <a:cubicBezTo>
                      <a:pt x="2259028" y="0"/>
                      <a:pt x="2270566" y="4779"/>
                      <a:pt x="2279073" y="13287"/>
                    </a:cubicBezTo>
                    <a:cubicBezTo>
                      <a:pt x="2287581" y="21794"/>
                      <a:pt x="2292360" y="33333"/>
                      <a:pt x="2292360" y="45364"/>
                    </a:cubicBezTo>
                    <a:lnTo>
                      <a:pt x="2292360" y="1008837"/>
                    </a:lnTo>
                    <a:cubicBezTo>
                      <a:pt x="2292360" y="1020868"/>
                      <a:pt x="2287581" y="1032406"/>
                      <a:pt x="2279073" y="1040914"/>
                    </a:cubicBezTo>
                    <a:cubicBezTo>
                      <a:pt x="2270566" y="1049421"/>
                      <a:pt x="2259028" y="1054200"/>
                      <a:pt x="2246996" y="1054200"/>
                    </a:cubicBezTo>
                    <a:lnTo>
                      <a:pt x="45364" y="1054200"/>
                    </a:lnTo>
                    <a:cubicBezTo>
                      <a:pt x="33333" y="1054200"/>
                      <a:pt x="21794" y="1049421"/>
                      <a:pt x="13287" y="1040914"/>
                    </a:cubicBezTo>
                    <a:cubicBezTo>
                      <a:pt x="4779" y="1032406"/>
                      <a:pt x="0" y="1020868"/>
                      <a:pt x="0" y="1008837"/>
                    </a:cubicBezTo>
                    <a:lnTo>
                      <a:pt x="0" y="45364"/>
                    </a:lnTo>
                    <a:cubicBezTo>
                      <a:pt x="0" y="33333"/>
                      <a:pt x="4779" y="21794"/>
                      <a:pt x="13287" y="13287"/>
                    </a:cubicBezTo>
                    <a:cubicBezTo>
                      <a:pt x="21794" y="4779"/>
                      <a:pt x="33333" y="0"/>
                      <a:pt x="45364" y="0"/>
                    </a:cubicBezTo>
                    <a:close/>
                  </a:path>
                </a:pathLst>
              </a:custGeom>
              <a:solidFill>
                <a:srgbClr val="00763D"/>
              </a:solidFill>
            </p:spPr>
            <p:txBody>
              <a:bodyPr/>
              <a:lstStyle/>
              <a:p>
                <a:endParaRPr lang="en-US"/>
              </a:p>
            </p:txBody>
          </p:sp>
          <p:sp>
            <p:nvSpPr>
              <p:cNvPr id="5" name="TextBox 5"/>
              <p:cNvSpPr txBox="1"/>
              <p:nvPr/>
            </p:nvSpPr>
            <p:spPr>
              <a:xfrm>
                <a:off x="0" y="-47625"/>
                <a:ext cx="2292360" cy="1101825"/>
              </a:xfrm>
              <a:prstGeom prst="rect">
                <a:avLst/>
              </a:prstGeom>
            </p:spPr>
            <p:txBody>
              <a:bodyPr lIns="50800" tIns="50800" rIns="50800" bIns="50800" rtlCol="0" anchor="ctr"/>
              <a:lstStyle/>
              <a:p>
                <a:pPr algn="ctr">
                  <a:lnSpc>
                    <a:spcPts val="2806"/>
                  </a:lnSpc>
                </a:pPr>
                <a:endParaRPr/>
              </a:p>
            </p:txBody>
          </p:sp>
        </p:grpSp>
        <p:grpSp>
          <p:nvGrpSpPr>
            <p:cNvPr id="6" name="Group 6"/>
            <p:cNvGrpSpPr/>
            <p:nvPr/>
          </p:nvGrpSpPr>
          <p:grpSpPr>
            <a:xfrm>
              <a:off x="147784" y="130246"/>
              <a:ext cx="11605073" cy="5336889"/>
              <a:chOff x="0" y="0"/>
              <a:chExt cx="2292360" cy="1054200"/>
            </a:xfrm>
          </p:grpSpPr>
          <p:sp>
            <p:nvSpPr>
              <p:cNvPr id="7" name="Freeform 7"/>
              <p:cNvSpPr/>
              <p:nvPr/>
            </p:nvSpPr>
            <p:spPr>
              <a:xfrm>
                <a:off x="0" y="0"/>
                <a:ext cx="2292360" cy="1054200"/>
              </a:xfrm>
              <a:custGeom>
                <a:avLst/>
                <a:gdLst/>
                <a:ahLst/>
                <a:cxnLst/>
                <a:rect l="l" t="t" r="r" b="b"/>
                <a:pathLst>
                  <a:path w="2292360" h="1054200">
                    <a:moveTo>
                      <a:pt x="45364" y="0"/>
                    </a:moveTo>
                    <a:lnTo>
                      <a:pt x="2246996" y="0"/>
                    </a:lnTo>
                    <a:cubicBezTo>
                      <a:pt x="2259028" y="0"/>
                      <a:pt x="2270566" y="4779"/>
                      <a:pt x="2279073" y="13287"/>
                    </a:cubicBezTo>
                    <a:cubicBezTo>
                      <a:pt x="2287581" y="21794"/>
                      <a:pt x="2292360" y="33333"/>
                      <a:pt x="2292360" y="45364"/>
                    </a:cubicBezTo>
                    <a:lnTo>
                      <a:pt x="2292360" y="1008837"/>
                    </a:lnTo>
                    <a:cubicBezTo>
                      <a:pt x="2292360" y="1020868"/>
                      <a:pt x="2287581" y="1032406"/>
                      <a:pt x="2279073" y="1040914"/>
                    </a:cubicBezTo>
                    <a:cubicBezTo>
                      <a:pt x="2270566" y="1049421"/>
                      <a:pt x="2259028" y="1054200"/>
                      <a:pt x="2246996" y="1054200"/>
                    </a:cubicBezTo>
                    <a:lnTo>
                      <a:pt x="45364" y="1054200"/>
                    </a:lnTo>
                    <a:cubicBezTo>
                      <a:pt x="33333" y="1054200"/>
                      <a:pt x="21794" y="1049421"/>
                      <a:pt x="13287" y="1040914"/>
                    </a:cubicBezTo>
                    <a:cubicBezTo>
                      <a:pt x="4779" y="1032406"/>
                      <a:pt x="0" y="1020868"/>
                      <a:pt x="0" y="1008837"/>
                    </a:cubicBezTo>
                    <a:lnTo>
                      <a:pt x="0" y="45364"/>
                    </a:lnTo>
                    <a:cubicBezTo>
                      <a:pt x="0" y="33333"/>
                      <a:pt x="4779" y="21794"/>
                      <a:pt x="13287" y="13287"/>
                    </a:cubicBezTo>
                    <a:cubicBezTo>
                      <a:pt x="21794" y="4779"/>
                      <a:pt x="33333" y="0"/>
                      <a:pt x="45364" y="0"/>
                    </a:cubicBezTo>
                    <a:close/>
                  </a:path>
                </a:pathLst>
              </a:custGeom>
              <a:solidFill>
                <a:srgbClr val="FFFFFF"/>
              </a:solidFill>
              <a:ln w="38100" cap="rnd">
                <a:solidFill>
                  <a:srgbClr val="00763D"/>
                </a:solidFill>
                <a:prstDash val="solid"/>
                <a:round/>
              </a:ln>
            </p:spPr>
            <p:txBody>
              <a:bodyPr/>
              <a:lstStyle/>
              <a:p>
                <a:endParaRPr lang="en-US"/>
              </a:p>
            </p:txBody>
          </p:sp>
          <p:sp>
            <p:nvSpPr>
              <p:cNvPr id="8" name="TextBox 8"/>
              <p:cNvSpPr txBox="1"/>
              <p:nvPr/>
            </p:nvSpPr>
            <p:spPr>
              <a:xfrm>
                <a:off x="0" y="-47625"/>
                <a:ext cx="2292360" cy="1101825"/>
              </a:xfrm>
              <a:prstGeom prst="rect">
                <a:avLst/>
              </a:prstGeom>
            </p:spPr>
            <p:txBody>
              <a:bodyPr lIns="50800" tIns="50800" rIns="50800" bIns="50800" rtlCol="0" anchor="ctr"/>
              <a:lstStyle/>
              <a:p>
                <a:pPr algn="ctr">
                  <a:lnSpc>
                    <a:spcPts val="2806"/>
                  </a:lnSpc>
                </a:pPr>
                <a:endParaRPr/>
              </a:p>
            </p:txBody>
          </p:sp>
        </p:grpSp>
      </p:grpSp>
      <p:grpSp>
        <p:nvGrpSpPr>
          <p:cNvPr id="9" name="Group 9"/>
          <p:cNvGrpSpPr/>
          <p:nvPr/>
        </p:nvGrpSpPr>
        <p:grpSpPr>
          <a:xfrm>
            <a:off x="8944838" y="2272566"/>
            <a:ext cx="1543050" cy="1543050"/>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11" name="TextBox 11"/>
            <p:cNvSpPr txBox="1"/>
            <p:nvPr/>
          </p:nvSpPr>
          <p:spPr>
            <a:xfrm>
              <a:off x="76200" y="28575"/>
              <a:ext cx="660400" cy="708025"/>
            </a:xfrm>
            <a:prstGeom prst="rect">
              <a:avLst/>
            </a:prstGeom>
          </p:spPr>
          <p:txBody>
            <a:bodyPr lIns="50800" tIns="50800" rIns="50800" bIns="50800" rtlCol="0" anchor="ctr"/>
            <a:lstStyle/>
            <a:p>
              <a:pPr algn="ctr">
                <a:lnSpc>
                  <a:spcPts val="2806"/>
                </a:lnSpc>
              </a:pPr>
              <a:endParaRPr/>
            </a:p>
          </p:txBody>
        </p:sp>
      </p:grpSp>
      <p:sp>
        <p:nvSpPr>
          <p:cNvPr id="12" name="TextBox 12"/>
          <p:cNvSpPr txBox="1"/>
          <p:nvPr/>
        </p:nvSpPr>
        <p:spPr>
          <a:xfrm>
            <a:off x="1292720" y="1083840"/>
            <a:ext cx="8814643" cy="934720"/>
          </a:xfrm>
          <a:prstGeom prst="rect">
            <a:avLst/>
          </a:prstGeom>
        </p:spPr>
        <p:txBody>
          <a:bodyPr lIns="0" tIns="0" rIns="0" bIns="0" rtlCol="0" anchor="t">
            <a:spAutoFit/>
          </a:bodyPr>
          <a:lstStyle/>
          <a:p>
            <a:pPr algn="ctr">
              <a:lnSpc>
                <a:spcPts val="7279"/>
              </a:lnSpc>
              <a:spcBef>
                <a:spcPct val="0"/>
              </a:spcBef>
            </a:pPr>
            <a:r>
              <a:rPr lang="en-US" sz="5199" b="1" dirty="0">
                <a:solidFill>
                  <a:srgbClr val="000000"/>
                </a:solidFill>
                <a:latin typeface="Poppins Bold"/>
                <a:ea typeface="Poppins Bold"/>
                <a:cs typeface="Poppins Bold"/>
                <a:sym typeface="Poppins Bold"/>
              </a:rPr>
              <a:t>Step 3 - Locate the Review</a:t>
            </a:r>
          </a:p>
        </p:txBody>
      </p:sp>
      <p:sp>
        <p:nvSpPr>
          <p:cNvPr id="13" name="TextBox 13"/>
          <p:cNvSpPr txBox="1"/>
          <p:nvPr/>
        </p:nvSpPr>
        <p:spPr>
          <a:xfrm>
            <a:off x="1976734" y="2958366"/>
            <a:ext cx="1223665" cy="475579"/>
          </a:xfrm>
          <a:prstGeom prst="rect">
            <a:avLst/>
          </a:prstGeom>
        </p:spPr>
        <p:txBody>
          <a:bodyPr wrap="square" lIns="0" tIns="0" rIns="0" bIns="0" rtlCol="0" anchor="t">
            <a:spAutoFit/>
          </a:bodyPr>
          <a:lstStyle/>
          <a:p>
            <a:pPr algn="ctr">
              <a:lnSpc>
                <a:spcPts val="3919"/>
              </a:lnSpc>
              <a:spcBef>
                <a:spcPct val="0"/>
              </a:spcBef>
            </a:pPr>
            <a:r>
              <a:rPr lang="en-US" sz="2799" b="1" dirty="0">
                <a:solidFill>
                  <a:srgbClr val="000000"/>
                </a:solidFill>
                <a:latin typeface="Poppins Bold"/>
                <a:ea typeface="Poppins Bold"/>
                <a:cs typeface="Poppins Bold"/>
                <a:sym typeface="Poppins Bold"/>
              </a:rPr>
              <a:t>Tools:</a:t>
            </a:r>
          </a:p>
        </p:txBody>
      </p:sp>
      <p:sp>
        <p:nvSpPr>
          <p:cNvPr id="14" name="TextBox 14"/>
          <p:cNvSpPr txBox="1"/>
          <p:nvPr/>
        </p:nvSpPr>
        <p:spPr>
          <a:xfrm>
            <a:off x="1976735" y="3563522"/>
            <a:ext cx="7739628" cy="1983363"/>
          </a:xfrm>
          <a:prstGeom prst="rect">
            <a:avLst/>
          </a:prstGeom>
        </p:spPr>
        <p:txBody>
          <a:bodyPr lIns="0" tIns="0" rIns="0" bIns="0" rtlCol="0" anchor="t">
            <a:spAutoFit/>
          </a:bodyPr>
          <a:lstStyle/>
          <a:p>
            <a:pPr marL="474980" lvl="1" indent="-237490" algn="l">
              <a:lnSpc>
                <a:spcPct val="150000"/>
              </a:lnSpc>
              <a:buFont typeface="Arial"/>
              <a:buChar char="•"/>
            </a:pPr>
            <a:r>
              <a:rPr lang="en-US" sz="2200" b="1" dirty="0">
                <a:solidFill>
                  <a:srgbClr val="000000"/>
                </a:solidFill>
                <a:latin typeface="Poppins"/>
                <a:ea typeface="Poppins"/>
                <a:cs typeface="Poppins"/>
                <a:sym typeface="Poppins"/>
              </a:rPr>
              <a:t>URD: </a:t>
            </a:r>
            <a:r>
              <a:rPr lang="en-US" sz="2200" dirty="0">
                <a:solidFill>
                  <a:srgbClr val="000000"/>
                </a:solidFill>
                <a:latin typeface="Poppins"/>
                <a:ea typeface="Poppins"/>
                <a:cs typeface="Poppins"/>
                <a:sym typeface="Poppins"/>
              </a:rPr>
              <a:t>Search by voter email.</a:t>
            </a:r>
            <a:endParaRPr lang="en-US" dirty="0"/>
          </a:p>
          <a:p>
            <a:pPr marL="474980" lvl="1" indent="-237490" algn="l">
              <a:lnSpc>
                <a:spcPct val="150000"/>
              </a:lnSpc>
              <a:buFont typeface="Arial"/>
              <a:buChar char="•"/>
            </a:pPr>
            <a:r>
              <a:rPr lang="en-US" sz="2200" b="1" dirty="0">
                <a:solidFill>
                  <a:srgbClr val="000000"/>
                </a:solidFill>
                <a:latin typeface="Poppins"/>
                <a:ea typeface="Poppins"/>
                <a:cs typeface="Poppins"/>
                <a:sym typeface="Poppins"/>
              </a:rPr>
              <a:t>Owner Tool: </a:t>
            </a:r>
            <a:r>
              <a:rPr lang="en-US" sz="2200" dirty="0">
                <a:solidFill>
                  <a:srgbClr val="000000"/>
                </a:solidFill>
                <a:latin typeface="Poppins"/>
                <a:ea typeface="Poppins"/>
                <a:cs typeface="Poppins"/>
                <a:sym typeface="Poppins"/>
              </a:rPr>
              <a:t>Search email to find property and recent reviews.</a:t>
            </a:r>
            <a:endParaRPr lang="en-US" sz="2200" dirty="0">
              <a:solidFill>
                <a:srgbClr val="000000"/>
              </a:solidFill>
              <a:latin typeface="Poppins"/>
              <a:ea typeface="Poppins"/>
              <a:cs typeface="Poppins"/>
            </a:endParaRPr>
          </a:p>
          <a:p>
            <a:pPr marL="474980" lvl="1" indent="-237490" algn="l">
              <a:lnSpc>
                <a:spcPct val="150000"/>
              </a:lnSpc>
              <a:buFont typeface="Arial"/>
              <a:buChar char="•"/>
            </a:pPr>
            <a:r>
              <a:rPr lang="en-US" sz="2200" b="1" dirty="0">
                <a:solidFill>
                  <a:srgbClr val="000000"/>
                </a:solidFill>
                <a:latin typeface="Poppins"/>
                <a:ea typeface="Poppins"/>
                <a:cs typeface="Poppins"/>
                <a:sym typeface="Poppins"/>
              </a:rPr>
              <a:t>Google: </a:t>
            </a:r>
            <a:r>
              <a:rPr lang="en-US" sz="2200" dirty="0">
                <a:solidFill>
                  <a:srgbClr val="000000"/>
                </a:solidFill>
                <a:latin typeface="Poppins"/>
                <a:ea typeface="Poppins"/>
                <a:cs typeface="Poppins"/>
                <a:sym typeface="Poppins"/>
              </a:rPr>
              <a:t>Search "Tripadvisor + [Review Title]".</a:t>
            </a:r>
            <a:endParaRPr lang="en-US" sz="2200" dirty="0">
              <a:solidFill>
                <a:srgbClr val="000000"/>
              </a:solidFill>
              <a:latin typeface="Poppins"/>
              <a:ea typeface="Poppins"/>
              <a:cs typeface="Poppins"/>
            </a:endParaRPr>
          </a:p>
        </p:txBody>
      </p:sp>
      <p:sp>
        <p:nvSpPr>
          <p:cNvPr id="15" name="Freeform 15"/>
          <p:cNvSpPr/>
          <p:nvPr/>
        </p:nvSpPr>
        <p:spPr>
          <a:xfrm>
            <a:off x="9267417" y="2556791"/>
            <a:ext cx="868521" cy="917452"/>
          </a:xfrm>
          <a:custGeom>
            <a:avLst/>
            <a:gdLst/>
            <a:ahLst/>
            <a:cxnLst/>
            <a:rect l="l" t="t" r="r" b="b"/>
            <a:pathLst>
              <a:path w="868521" h="917452">
                <a:moveTo>
                  <a:pt x="0" y="0"/>
                </a:moveTo>
                <a:lnTo>
                  <a:pt x="868521" y="0"/>
                </a:lnTo>
                <a:lnTo>
                  <a:pt x="868521" y="917451"/>
                </a:lnTo>
                <a:lnTo>
                  <a:pt x="0" y="91745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6" name="TextBox 16"/>
          <p:cNvSpPr txBox="1"/>
          <p:nvPr/>
        </p:nvSpPr>
        <p:spPr>
          <a:xfrm>
            <a:off x="3044279" y="5937933"/>
            <a:ext cx="5198269" cy="391795"/>
          </a:xfrm>
          <a:prstGeom prst="rect">
            <a:avLst/>
          </a:prstGeom>
        </p:spPr>
        <p:txBody>
          <a:bodyPr lIns="0" tIns="0" rIns="0" bIns="0" rtlCol="0" anchor="t">
            <a:spAutoFit/>
          </a:bodyPr>
          <a:lstStyle/>
          <a:p>
            <a:pPr algn="ctr">
              <a:lnSpc>
                <a:spcPts val="3079"/>
              </a:lnSpc>
              <a:spcBef>
                <a:spcPct val="0"/>
              </a:spcBef>
            </a:pPr>
            <a:r>
              <a:rPr lang="en-US" sz="2199" b="1" dirty="0">
                <a:solidFill>
                  <a:srgbClr val="000000"/>
                </a:solidFill>
                <a:latin typeface="Poppins Bold"/>
                <a:ea typeface="Poppins Bold"/>
                <a:cs typeface="Poppins Bold"/>
                <a:sym typeface="Poppins Bold"/>
              </a:rPr>
              <a:t>Confirm review link/title with owner.</a:t>
            </a:r>
          </a:p>
        </p:txBody>
      </p:sp>
      <p:grpSp>
        <p:nvGrpSpPr>
          <p:cNvPr id="17" name="Group 17"/>
          <p:cNvGrpSpPr/>
          <p:nvPr/>
        </p:nvGrpSpPr>
        <p:grpSpPr>
          <a:xfrm>
            <a:off x="1292720" y="7045127"/>
            <a:ext cx="9490453" cy="1766574"/>
            <a:chOff x="0" y="0"/>
            <a:chExt cx="12653937" cy="2355432"/>
          </a:xfrm>
        </p:grpSpPr>
        <p:grpSp>
          <p:nvGrpSpPr>
            <p:cNvPr id="18" name="Group 18"/>
            <p:cNvGrpSpPr/>
            <p:nvPr/>
          </p:nvGrpSpPr>
          <p:grpSpPr>
            <a:xfrm>
              <a:off x="173186" y="49694"/>
              <a:ext cx="12480751" cy="2305738"/>
              <a:chOff x="0" y="-57150"/>
              <a:chExt cx="2036913" cy="376306"/>
            </a:xfrm>
          </p:grpSpPr>
          <p:sp>
            <p:nvSpPr>
              <p:cNvPr id="19" name="Freeform 19"/>
              <p:cNvSpPr/>
              <p:nvPr/>
            </p:nvSpPr>
            <p:spPr>
              <a:xfrm>
                <a:off x="0" y="0"/>
                <a:ext cx="2036913" cy="319156"/>
              </a:xfrm>
              <a:custGeom>
                <a:avLst/>
                <a:gdLst/>
                <a:ahLst/>
                <a:cxnLst/>
                <a:rect l="l" t="t" r="r" b="b"/>
                <a:pathLst>
                  <a:path w="2036913" h="319156">
                    <a:moveTo>
                      <a:pt x="51053" y="0"/>
                    </a:moveTo>
                    <a:lnTo>
                      <a:pt x="1985860" y="0"/>
                    </a:lnTo>
                    <a:cubicBezTo>
                      <a:pt x="2014056" y="0"/>
                      <a:pt x="2036913" y="22857"/>
                      <a:pt x="2036913" y="51053"/>
                    </a:cubicBezTo>
                    <a:lnTo>
                      <a:pt x="2036913" y="268104"/>
                    </a:lnTo>
                    <a:cubicBezTo>
                      <a:pt x="2036913" y="296299"/>
                      <a:pt x="2014056" y="319156"/>
                      <a:pt x="1985860" y="319156"/>
                    </a:cubicBezTo>
                    <a:lnTo>
                      <a:pt x="51053" y="319156"/>
                    </a:lnTo>
                    <a:cubicBezTo>
                      <a:pt x="22857" y="319156"/>
                      <a:pt x="0" y="296299"/>
                      <a:pt x="0" y="268104"/>
                    </a:cubicBezTo>
                    <a:lnTo>
                      <a:pt x="0" y="51053"/>
                    </a:lnTo>
                    <a:cubicBezTo>
                      <a:pt x="0" y="22857"/>
                      <a:pt x="22857" y="0"/>
                      <a:pt x="51053" y="0"/>
                    </a:cubicBezTo>
                    <a:close/>
                  </a:path>
                </a:pathLst>
              </a:custGeom>
              <a:solidFill>
                <a:srgbClr val="9DFBA8"/>
              </a:solidFill>
              <a:effectLst>
                <a:outerShdw blurRad="50800" dist="38100" dir="5400000" algn="t" rotWithShape="0">
                  <a:prstClr val="black">
                    <a:alpha val="40000"/>
                  </a:prstClr>
                </a:outerShdw>
              </a:effectLst>
            </p:spPr>
            <p:txBody>
              <a:bodyPr/>
              <a:lstStyle/>
              <a:p>
                <a:endParaRPr lang="en-US"/>
              </a:p>
            </p:txBody>
          </p:sp>
          <p:sp>
            <p:nvSpPr>
              <p:cNvPr id="20" name="TextBox 20"/>
              <p:cNvSpPr txBox="1"/>
              <p:nvPr/>
            </p:nvSpPr>
            <p:spPr>
              <a:xfrm>
                <a:off x="0" y="-57150"/>
                <a:ext cx="2036913" cy="376306"/>
              </a:xfrm>
              <a:prstGeom prst="rect">
                <a:avLst/>
              </a:prstGeom>
            </p:spPr>
            <p:txBody>
              <a:bodyPr lIns="50800" tIns="50800" rIns="50800" bIns="50800" rtlCol="0" anchor="ctr"/>
              <a:lstStyle/>
              <a:p>
                <a:pPr algn="ctr">
                  <a:lnSpc>
                    <a:spcPts val="3079"/>
                  </a:lnSpc>
                </a:pPr>
                <a:endParaRPr/>
              </a:p>
            </p:txBody>
          </p:sp>
        </p:grpSp>
        <p:grpSp>
          <p:nvGrpSpPr>
            <p:cNvPr id="21" name="Group 21"/>
            <p:cNvGrpSpPr/>
            <p:nvPr/>
          </p:nvGrpSpPr>
          <p:grpSpPr>
            <a:xfrm>
              <a:off x="0" y="0"/>
              <a:ext cx="1199389" cy="1199389"/>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23" name="TextBox 23"/>
              <p:cNvSpPr txBox="1"/>
              <p:nvPr/>
            </p:nvSpPr>
            <p:spPr>
              <a:xfrm>
                <a:off x="76200" y="19050"/>
                <a:ext cx="660400" cy="717550"/>
              </a:xfrm>
              <a:prstGeom prst="rect">
                <a:avLst/>
              </a:prstGeom>
            </p:spPr>
            <p:txBody>
              <a:bodyPr lIns="50800" tIns="50800" rIns="50800" bIns="50800" rtlCol="0" anchor="ctr"/>
              <a:lstStyle/>
              <a:p>
                <a:pPr algn="ctr">
                  <a:lnSpc>
                    <a:spcPts val="3079"/>
                  </a:lnSpc>
                </a:pPr>
                <a:endParaRPr/>
              </a:p>
            </p:txBody>
          </p:sp>
        </p:grpSp>
        <p:sp>
          <p:nvSpPr>
            <p:cNvPr id="24" name="Freeform 24"/>
            <p:cNvSpPr/>
            <p:nvPr/>
          </p:nvSpPr>
          <p:spPr>
            <a:xfrm>
              <a:off x="132207" y="114819"/>
              <a:ext cx="993712" cy="993712"/>
            </a:xfrm>
            <a:custGeom>
              <a:avLst/>
              <a:gdLst/>
              <a:ahLst/>
              <a:cxnLst/>
              <a:rect l="l" t="t" r="r" b="b"/>
              <a:pathLst>
                <a:path w="993712" h="993712">
                  <a:moveTo>
                    <a:pt x="0" y="0"/>
                  </a:moveTo>
                  <a:lnTo>
                    <a:pt x="993712" y="0"/>
                  </a:lnTo>
                  <a:lnTo>
                    <a:pt x="993712" y="993712"/>
                  </a:lnTo>
                  <a:lnTo>
                    <a:pt x="0" y="99371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25" name="TextBox 25"/>
            <p:cNvSpPr txBox="1"/>
            <p:nvPr/>
          </p:nvSpPr>
          <p:spPr>
            <a:xfrm>
              <a:off x="1378188" y="703519"/>
              <a:ext cx="11031524" cy="1311699"/>
            </a:xfrm>
            <a:prstGeom prst="rect">
              <a:avLst/>
            </a:prstGeom>
          </p:spPr>
          <p:txBody>
            <a:bodyPr wrap="square" lIns="0" tIns="0" rIns="0" bIns="0" rtlCol="0" anchor="t">
              <a:spAutoFit/>
            </a:bodyPr>
            <a:lstStyle/>
            <a:p>
              <a:pPr algn="l">
                <a:lnSpc>
                  <a:spcPts val="3919"/>
                </a:lnSpc>
                <a:spcBef>
                  <a:spcPct val="0"/>
                </a:spcBef>
              </a:pPr>
              <a:r>
                <a:rPr lang="en-US" sz="2750" dirty="0">
                  <a:solidFill>
                    <a:srgbClr val="000000"/>
                  </a:solidFill>
                  <a:latin typeface="Poppins"/>
                  <a:ea typeface="Poppins"/>
                  <a:cs typeface="Poppins"/>
                  <a:sym typeface="Poppins"/>
                </a:rPr>
                <a:t>Use</a:t>
              </a:r>
              <a:r>
                <a:rPr lang="en-US" sz="2750" b="1" dirty="0">
                  <a:solidFill>
                    <a:srgbClr val="000000"/>
                  </a:solidFill>
                  <a:latin typeface="Poppins Bold"/>
                  <a:ea typeface="Poppins Bold"/>
                  <a:cs typeface="Poppins Bold"/>
                  <a:sym typeface="Poppins Bold"/>
                </a:rPr>
                <a:t> "Dispute – Not Specific Enough" </a:t>
              </a:r>
              <a:r>
                <a:rPr lang="en-US" sz="2750" dirty="0">
                  <a:solidFill>
                    <a:srgbClr val="000000"/>
                  </a:solidFill>
                  <a:latin typeface="Poppins"/>
                  <a:ea typeface="Poppins"/>
                  <a:cs typeface="Poppins"/>
                  <a:sym typeface="Poppins"/>
                </a:rPr>
                <a:t>macro if the review cannot be found.</a:t>
              </a:r>
            </a:p>
          </p:txBody>
        </p:sp>
      </p:grpSp>
      <p:sp>
        <p:nvSpPr>
          <p:cNvPr id="27" name="TextBox 26">
            <a:extLst>
              <a:ext uri="{FF2B5EF4-FFF2-40B4-BE49-F238E27FC236}">
                <a16:creationId xmlns:a16="http://schemas.microsoft.com/office/drawing/2014/main" id="{0D65DB75-634F-9960-F984-C5EEC4F58818}"/>
              </a:ext>
            </a:extLst>
          </p:cNvPr>
          <p:cNvSpPr txBox="1"/>
          <p:nvPr/>
        </p:nvSpPr>
        <p:spPr>
          <a:xfrm>
            <a:off x="600003" y="9661691"/>
            <a:ext cx="10000001" cy="314772"/>
          </a:xfrm>
          <a:prstGeom prst="rect">
            <a:avLst/>
          </a:prstGeom>
          <a:noFill/>
        </p:spPr>
        <p:txBody>
          <a:bodyPr wrap="square" anchor="t">
            <a:spAutoFit/>
          </a:bodyPr>
          <a:lstStyle>
            <a:defPPr>
              <a:defRPr lang="en-US"/>
            </a:defPPr>
            <a:lvl1pPr defTabSz="914445">
              <a:defRPr sz="1400">
                <a:solidFill>
                  <a:srgbClr val="8A8272"/>
                </a:solidFill>
                <a:latin typeface="Poppins"/>
              </a:defRPr>
            </a:lvl1pPr>
            <a:lvl2pPr marL="685800" defTabSz="1371600">
              <a:defRPr sz="2700"/>
            </a:lvl2pPr>
            <a:lvl3pPr marL="1371600" defTabSz="1371600">
              <a:defRPr sz="2700"/>
            </a:lvl3pPr>
            <a:lvl4pPr marL="2057400" defTabSz="1371600">
              <a:defRPr sz="2700"/>
            </a:lvl4pPr>
            <a:lvl5pPr marL="2743200" defTabSz="1371600">
              <a:defRPr sz="2700"/>
            </a:lvl5pPr>
            <a:lvl6pPr marL="3429000" defTabSz="1371600">
              <a:defRPr sz="2700"/>
            </a:lvl6pPr>
            <a:lvl7pPr marL="4114800" defTabSz="1371600">
              <a:defRPr sz="2700"/>
            </a:lvl7pPr>
            <a:lvl8pPr marL="4800600" defTabSz="1371600">
              <a:defRPr sz="2700"/>
            </a:lvl8pPr>
            <a:lvl9pPr marL="5486400" defTabSz="1371600">
              <a:defRPr sz="2700"/>
            </a:lvl9pPr>
          </a:lstStyle>
          <a:p>
            <a:pPr defTabSz="914441"/>
            <a:r>
              <a:rPr dirty="0"/>
              <a:t>T</a:t>
            </a:r>
            <a:r>
              <a:rPr lang="en-US" dirty="0"/>
              <a:t>ripadvisor / Owner Review Disputes</a:t>
            </a:r>
            <a:endParaRPr dirty="0"/>
          </a:p>
        </p:txBody>
      </p:sp>
    </p:spTree>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669941" y="3581812"/>
            <a:ext cx="5580742" cy="1740376"/>
            <a:chOff x="0" y="0"/>
            <a:chExt cx="7440989" cy="2320502"/>
          </a:xfrm>
        </p:grpSpPr>
        <p:grpSp>
          <p:nvGrpSpPr>
            <p:cNvPr id="3" name="Group 3"/>
            <p:cNvGrpSpPr/>
            <p:nvPr/>
          </p:nvGrpSpPr>
          <p:grpSpPr>
            <a:xfrm>
              <a:off x="0" y="0"/>
              <a:ext cx="7288589" cy="2230336"/>
              <a:chOff x="0" y="0"/>
              <a:chExt cx="1439721" cy="440560"/>
            </a:xfrm>
          </p:grpSpPr>
          <p:sp>
            <p:nvSpPr>
              <p:cNvPr id="4" name="Freeform 4"/>
              <p:cNvSpPr/>
              <p:nvPr/>
            </p:nvSpPr>
            <p:spPr>
              <a:xfrm>
                <a:off x="0" y="0"/>
                <a:ext cx="1439721" cy="440560"/>
              </a:xfrm>
              <a:custGeom>
                <a:avLst/>
                <a:gdLst/>
                <a:ahLst/>
                <a:cxnLst/>
                <a:rect l="l" t="t" r="r" b="b"/>
                <a:pathLst>
                  <a:path w="1439721" h="440560">
                    <a:moveTo>
                      <a:pt x="72229" y="0"/>
                    </a:moveTo>
                    <a:lnTo>
                      <a:pt x="1367492" y="0"/>
                    </a:lnTo>
                    <a:cubicBezTo>
                      <a:pt x="1386648" y="0"/>
                      <a:pt x="1405020" y="7610"/>
                      <a:pt x="1418566" y="21156"/>
                    </a:cubicBezTo>
                    <a:cubicBezTo>
                      <a:pt x="1432112" y="34701"/>
                      <a:pt x="1439721" y="53073"/>
                      <a:pt x="1439721" y="72229"/>
                    </a:cubicBezTo>
                    <a:lnTo>
                      <a:pt x="1439721" y="368331"/>
                    </a:lnTo>
                    <a:cubicBezTo>
                      <a:pt x="1439721" y="387487"/>
                      <a:pt x="1432112" y="405859"/>
                      <a:pt x="1418566" y="419405"/>
                    </a:cubicBezTo>
                    <a:cubicBezTo>
                      <a:pt x="1405020" y="432950"/>
                      <a:pt x="1386648" y="440560"/>
                      <a:pt x="1367492" y="440560"/>
                    </a:cubicBezTo>
                    <a:lnTo>
                      <a:pt x="72229" y="440560"/>
                    </a:lnTo>
                    <a:cubicBezTo>
                      <a:pt x="53073" y="440560"/>
                      <a:pt x="34701" y="432950"/>
                      <a:pt x="21156" y="419405"/>
                    </a:cubicBezTo>
                    <a:cubicBezTo>
                      <a:pt x="7610" y="405859"/>
                      <a:pt x="0" y="387487"/>
                      <a:pt x="0" y="368331"/>
                    </a:cubicBezTo>
                    <a:lnTo>
                      <a:pt x="0" y="72229"/>
                    </a:lnTo>
                    <a:cubicBezTo>
                      <a:pt x="0" y="53073"/>
                      <a:pt x="7610" y="34701"/>
                      <a:pt x="21156" y="21156"/>
                    </a:cubicBezTo>
                    <a:cubicBezTo>
                      <a:pt x="34701" y="7610"/>
                      <a:pt x="53073" y="0"/>
                      <a:pt x="72229" y="0"/>
                    </a:cubicBezTo>
                    <a:close/>
                  </a:path>
                </a:pathLst>
              </a:custGeom>
              <a:solidFill>
                <a:srgbClr val="00763D"/>
              </a:solidFill>
            </p:spPr>
            <p:txBody>
              <a:bodyPr/>
              <a:lstStyle/>
              <a:p>
                <a:endParaRPr lang="en-US"/>
              </a:p>
            </p:txBody>
          </p:sp>
          <p:sp>
            <p:nvSpPr>
              <p:cNvPr id="5" name="TextBox 5"/>
              <p:cNvSpPr txBox="1"/>
              <p:nvPr/>
            </p:nvSpPr>
            <p:spPr>
              <a:xfrm>
                <a:off x="0" y="-47625"/>
                <a:ext cx="1439721" cy="488185"/>
              </a:xfrm>
              <a:prstGeom prst="rect">
                <a:avLst/>
              </a:prstGeom>
            </p:spPr>
            <p:txBody>
              <a:bodyPr lIns="50800" tIns="50800" rIns="50800" bIns="50800" rtlCol="0" anchor="ctr"/>
              <a:lstStyle/>
              <a:p>
                <a:pPr algn="ctr">
                  <a:lnSpc>
                    <a:spcPts val="2806"/>
                  </a:lnSpc>
                </a:pPr>
                <a:endParaRPr/>
              </a:p>
            </p:txBody>
          </p:sp>
        </p:grpSp>
        <p:grpSp>
          <p:nvGrpSpPr>
            <p:cNvPr id="6" name="Group 6"/>
            <p:cNvGrpSpPr/>
            <p:nvPr/>
          </p:nvGrpSpPr>
          <p:grpSpPr>
            <a:xfrm>
              <a:off x="152400" y="90166"/>
              <a:ext cx="7288589" cy="2230336"/>
              <a:chOff x="0" y="0"/>
              <a:chExt cx="1439721" cy="440560"/>
            </a:xfrm>
          </p:grpSpPr>
          <p:sp>
            <p:nvSpPr>
              <p:cNvPr id="7" name="Freeform 7"/>
              <p:cNvSpPr/>
              <p:nvPr/>
            </p:nvSpPr>
            <p:spPr>
              <a:xfrm>
                <a:off x="0" y="0"/>
                <a:ext cx="1439721" cy="440560"/>
              </a:xfrm>
              <a:custGeom>
                <a:avLst/>
                <a:gdLst/>
                <a:ahLst/>
                <a:cxnLst/>
                <a:rect l="l" t="t" r="r" b="b"/>
                <a:pathLst>
                  <a:path w="1439721" h="440560">
                    <a:moveTo>
                      <a:pt x="72229" y="0"/>
                    </a:moveTo>
                    <a:lnTo>
                      <a:pt x="1367492" y="0"/>
                    </a:lnTo>
                    <a:cubicBezTo>
                      <a:pt x="1386648" y="0"/>
                      <a:pt x="1405020" y="7610"/>
                      <a:pt x="1418566" y="21156"/>
                    </a:cubicBezTo>
                    <a:cubicBezTo>
                      <a:pt x="1432112" y="34701"/>
                      <a:pt x="1439721" y="53073"/>
                      <a:pt x="1439721" y="72229"/>
                    </a:cubicBezTo>
                    <a:lnTo>
                      <a:pt x="1439721" y="368331"/>
                    </a:lnTo>
                    <a:cubicBezTo>
                      <a:pt x="1439721" y="387487"/>
                      <a:pt x="1432112" y="405859"/>
                      <a:pt x="1418566" y="419405"/>
                    </a:cubicBezTo>
                    <a:cubicBezTo>
                      <a:pt x="1405020" y="432950"/>
                      <a:pt x="1386648" y="440560"/>
                      <a:pt x="1367492" y="440560"/>
                    </a:cubicBezTo>
                    <a:lnTo>
                      <a:pt x="72229" y="440560"/>
                    </a:lnTo>
                    <a:cubicBezTo>
                      <a:pt x="53073" y="440560"/>
                      <a:pt x="34701" y="432950"/>
                      <a:pt x="21156" y="419405"/>
                    </a:cubicBezTo>
                    <a:cubicBezTo>
                      <a:pt x="7610" y="405859"/>
                      <a:pt x="0" y="387487"/>
                      <a:pt x="0" y="368331"/>
                    </a:cubicBezTo>
                    <a:lnTo>
                      <a:pt x="0" y="72229"/>
                    </a:lnTo>
                    <a:cubicBezTo>
                      <a:pt x="0" y="53073"/>
                      <a:pt x="7610" y="34701"/>
                      <a:pt x="21156" y="21156"/>
                    </a:cubicBezTo>
                    <a:cubicBezTo>
                      <a:pt x="34701" y="7610"/>
                      <a:pt x="53073" y="0"/>
                      <a:pt x="72229" y="0"/>
                    </a:cubicBezTo>
                    <a:close/>
                  </a:path>
                </a:pathLst>
              </a:custGeom>
              <a:solidFill>
                <a:srgbClr val="FFFFFF"/>
              </a:solidFill>
              <a:ln w="38100" cap="rnd">
                <a:solidFill>
                  <a:srgbClr val="00763D"/>
                </a:solidFill>
                <a:prstDash val="sysDot"/>
                <a:round/>
              </a:ln>
            </p:spPr>
            <p:txBody>
              <a:bodyPr/>
              <a:lstStyle/>
              <a:p>
                <a:endParaRPr lang="en-US"/>
              </a:p>
            </p:txBody>
          </p:sp>
          <p:sp>
            <p:nvSpPr>
              <p:cNvPr id="8" name="TextBox 8"/>
              <p:cNvSpPr txBox="1"/>
              <p:nvPr/>
            </p:nvSpPr>
            <p:spPr>
              <a:xfrm>
                <a:off x="0" y="-47625"/>
                <a:ext cx="1439721" cy="488185"/>
              </a:xfrm>
              <a:prstGeom prst="rect">
                <a:avLst/>
              </a:prstGeom>
            </p:spPr>
            <p:txBody>
              <a:bodyPr lIns="50800" tIns="50800" rIns="50800" bIns="50800" rtlCol="0" anchor="ctr"/>
              <a:lstStyle/>
              <a:p>
                <a:pPr algn="ctr">
                  <a:lnSpc>
                    <a:spcPts val="2806"/>
                  </a:lnSpc>
                </a:pPr>
                <a:endParaRPr/>
              </a:p>
            </p:txBody>
          </p:sp>
        </p:grpSp>
        <p:sp>
          <p:nvSpPr>
            <p:cNvPr id="9" name="TextBox 9"/>
            <p:cNvSpPr txBox="1"/>
            <p:nvPr/>
          </p:nvSpPr>
          <p:spPr>
            <a:xfrm>
              <a:off x="362080" y="441721"/>
              <a:ext cx="6716829" cy="1389434"/>
            </a:xfrm>
            <a:prstGeom prst="rect">
              <a:avLst/>
            </a:prstGeom>
          </p:spPr>
          <p:txBody>
            <a:bodyPr lIns="0" tIns="0" rIns="0" bIns="0" rtlCol="0" anchor="t">
              <a:spAutoFit/>
            </a:bodyPr>
            <a:lstStyle/>
            <a:p>
              <a:pPr algn="ctr">
                <a:lnSpc>
                  <a:spcPts val="2806"/>
                </a:lnSpc>
                <a:spcBef>
                  <a:spcPct val="0"/>
                </a:spcBef>
              </a:pPr>
              <a:r>
                <a:rPr lang="en-US" sz="2004" dirty="0">
                  <a:solidFill>
                    <a:srgbClr val="000000"/>
                  </a:solidFill>
                  <a:latin typeface="Poppins"/>
                  <a:ea typeface="Poppins"/>
                  <a:cs typeface="Poppins"/>
                  <a:sym typeface="Poppins"/>
                </a:rPr>
                <a:t>Process the review and send How to Submit a Review Dispute for education and future votes</a:t>
              </a:r>
            </a:p>
          </p:txBody>
        </p:sp>
      </p:grpSp>
      <p:grpSp>
        <p:nvGrpSpPr>
          <p:cNvPr id="10" name="Group 10"/>
          <p:cNvGrpSpPr/>
          <p:nvPr/>
        </p:nvGrpSpPr>
        <p:grpSpPr>
          <a:xfrm>
            <a:off x="1190495" y="3548142"/>
            <a:ext cx="5580742" cy="1740376"/>
            <a:chOff x="0" y="0"/>
            <a:chExt cx="7440989" cy="2320502"/>
          </a:xfrm>
        </p:grpSpPr>
        <p:grpSp>
          <p:nvGrpSpPr>
            <p:cNvPr id="11" name="Group 11"/>
            <p:cNvGrpSpPr/>
            <p:nvPr/>
          </p:nvGrpSpPr>
          <p:grpSpPr>
            <a:xfrm>
              <a:off x="0" y="0"/>
              <a:ext cx="7288589" cy="2230336"/>
              <a:chOff x="0" y="0"/>
              <a:chExt cx="1439721" cy="440560"/>
            </a:xfrm>
          </p:grpSpPr>
          <p:sp>
            <p:nvSpPr>
              <p:cNvPr id="12" name="Freeform 12"/>
              <p:cNvSpPr/>
              <p:nvPr/>
            </p:nvSpPr>
            <p:spPr>
              <a:xfrm>
                <a:off x="0" y="0"/>
                <a:ext cx="1439721" cy="440560"/>
              </a:xfrm>
              <a:custGeom>
                <a:avLst/>
                <a:gdLst/>
                <a:ahLst/>
                <a:cxnLst/>
                <a:rect l="l" t="t" r="r" b="b"/>
                <a:pathLst>
                  <a:path w="1439721" h="440560">
                    <a:moveTo>
                      <a:pt x="72229" y="0"/>
                    </a:moveTo>
                    <a:lnTo>
                      <a:pt x="1367492" y="0"/>
                    </a:lnTo>
                    <a:cubicBezTo>
                      <a:pt x="1386648" y="0"/>
                      <a:pt x="1405020" y="7610"/>
                      <a:pt x="1418566" y="21156"/>
                    </a:cubicBezTo>
                    <a:cubicBezTo>
                      <a:pt x="1432112" y="34701"/>
                      <a:pt x="1439721" y="53073"/>
                      <a:pt x="1439721" y="72229"/>
                    </a:cubicBezTo>
                    <a:lnTo>
                      <a:pt x="1439721" y="368331"/>
                    </a:lnTo>
                    <a:cubicBezTo>
                      <a:pt x="1439721" y="387487"/>
                      <a:pt x="1432112" y="405859"/>
                      <a:pt x="1418566" y="419405"/>
                    </a:cubicBezTo>
                    <a:cubicBezTo>
                      <a:pt x="1405020" y="432950"/>
                      <a:pt x="1386648" y="440560"/>
                      <a:pt x="1367492" y="440560"/>
                    </a:cubicBezTo>
                    <a:lnTo>
                      <a:pt x="72229" y="440560"/>
                    </a:lnTo>
                    <a:cubicBezTo>
                      <a:pt x="53073" y="440560"/>
                      <a:pt x="34701" y="432950"/>
                      <a:pt x="21156" y="419405"/>
                    </a:cubicBezTo>
                    <a:cubicBezTo>
                      <a:pt x="7610" y="405859"/>
                      <a:pt x="0" y="387487"/>
                      <a:pt x="0" y="368331"/>
                    </a:cubicBezTo>
                    <a:lnTo>
                      <a:pt x="0" y="72229"/>
                    </a:lnTo>
                    <a:cubicBezTo>
                      <a:pt x="0" y="53073"/>
                      <a:pt x="7610" y="34701"/>
                      <a:pt x="21156" y="21156"/>
                    </a:cubicBezTo>
                    <a:cubicBezTo>
                      <a:pt x="34701" y="7610"/>
                      <a:pt x="53073" y="0"/>
                      <a:pt x="72229" y="0"/>
                    </a:cubicBezTo>
                    <a:close/>
                  </a:path>
                </a:pathLst>
              </a:custGeom>
              <a:solidFill>
                <a:srgbClr val="00763D"/>
              </a:solidFill>
            </p:spPr>
            <p:txBody>
              <a:bodyPr/>
              <a:lstStyle/>
              <a:p>
                <a:endParaRPr lang="en-US"/>
              </a:p>
            </p:txBody>
          </p:sp>
          <p:sp>
            <p:nvSpPr>
              <p:cNvPr id="13" name="TextBox 13"/>
              <p:cNvSpPr txBox="1"/>
              <p:nvPr/>
            </p:nvSpPr>
            <p:spPr>
              <a:xfrm>
                <a:off x="0" y="-47625"/>
                <a:ext cx="1439721" cy="488185"/>
              </a:xfrm>
              <a:prstGeom prst="rect">
                <a:avLst/>
              </a:prstGeom>
            </p:spPr>
            <p:txBody>
              <a:bodyPr lIns="50800" tIns="50800" rIns="50800" bIns="50800" rtlCol="0" anchor="ctr"/>
              <a:lstStyle/>
              <a:p>
                <a:pPr algn="ctr">
                  <a:lnSpc>
                    <a:spcPts val="2806"/>
                  </a:lnSpc>
                </a:pPr>
                <a:endParaRPr/>
              </a:p>
            </p:txBody>
          </p:sp>
        </p:grpSp>
        <p:grpSp>
          <p:nvGrpSpPr>
            <p:cNvPr id="14" name="Group 14"/>
            <p:cNvGrpSpPr/>
            <p:nvPr/>
          </p:nvGrpSpPr>
          <p:grpSpPr>
            <a:xfrm>
              <a:off x="152400" y="90166"/>
              <a:ext cx="7288589" cy="2230336"/>
              <a:chOff x="0" y="0"/>
              <a:chExt cx="1439721" cy="440560"/>
            </a:xfrm>
          </p:grpSpPr>
          <p:sp>
            <p:nvSpPr>
              <p:cNvPr id="15" name="Freeform 15"/>
              <p:cNvSpPr/>
              <p:nvPr/>
            </p:nvSpPr>
            <p:spPr>
              <a:xfrm>
                <a:off x="0" y="0"/>
                <a:ext cx="1439721" cy="440560"/>
              </a:xfrm>
              <a:custGeom>
                <a:avLst/>
                <a:gdLst/>
                <a:ahLst/>
                <a:cxnLst/>
                <a:rect l="l" t="t" r="r" b="b"/>
                <a:pathLst>
                  <a:path w="1439721" h="440560">
                    <a:moveTo>
                      <a:pt x="72229" y="0"/>
                    </a:moveTo>
                    <a:lnTo>
                      <a:pt x="1367492" y="0"/>
                    </a:lnTo>
                    <a:cubicBezTo>
                      <a:pt x="1386648" y="0"/>
                      <a:pt x="1405020" y="7610"/>
                      <a:pt x="1418566" y="21156"/>
                    </a:cubicBezTo>
                    <a:cubicBezTo>
                      <a:pt x="1432112" y="34701"/>
                      <a:pt x="1439721" y="53073"/>
                      <a:pt x="1439721" y="72229"/>
                    </a:cubicBezTo>
                    <a:lnTo>
                      <a:pt x="1439721" y="368331"/>
                    </a:lnTo>
                    <a:cubicBezTo>
                      <a:pt x="1439721" y="387487"/>
                      <a:pt x="1432112" y="405859"/>
                      <a:pt x="1418566" y="419405"/>
                    </a:cubicBezTo>
                    <a:cubicBezTo>
                      <a:pt x="1405020" y="432950"/>
                      <a:pt x="1386648" y="440560"/>
                      <a:pt x="1367492" y="440560"/>
                    </a:cubicBezTo>
                    <a:lnTo>
                      <a:pt x="72229" y="440560"/>
                    </a:lnTo>
                    <a:cubicBezTo>
                      <a:pt x="53073" y="440560"/>
                      <a:pt x="34701" y="432950"/>
                      <a:pt x="21156" y="419405"/>
                    </a:cubicBezTo>
                    <a:cubicBezTo>
                      <a:pt x="7610" y="405859"/>
                      <a:pt x="0" y="387487"/>
                      <a:pt x="0" y="368331"/>
                    </a:cubicBezTo>
                    <a:lnTo>
                      <a:pt x="0" y="72229"/>
                    </a:lnTo>
                    <a:cubicBezTo>
                      <a:pt x="0" y="53073"/>
                      <a:pt x="7610" y="34701"/>
                      <a:pt x="21156" y="21156"/>
                    </a:cubicBezTo>
                    <a:cubicBezTo>
                      <a:pt x="34701" y="7610"/>
                      <a:pt x="53073" y="0"/>
                      <a:pt x="72229" y="0"/>
                    </a:cubicBezTo>
                    <a:close/>
                  </a:path>
                </a:pathLst>
              </a:custGeom>
              <a:solidFill>
                <a:srgbClr val="FFFFFF"/>
              </a:solidFill>
              <a:ln w="38100" cap="rnd">
                <a:solidFill>
                  <a:srgbClr val="00763D"/>
                </a:solidFill>
                <a:prstDash val="sysDot"/>
                <a:round/>
              </a:ln>
            </p:spPr>
            <p:txBody>
              <a:bodyPr/>
              <a:lstStyle/>
              <a:p>
                <a:endParaRPr lang="en-US"/>
              </a:p>
            </p:txBody>
          </p:sp>
          <p:sp>
            <p:nvSpPr>
              <p:cNvPr id="16" name="TextBox 16"/>
              <p:cNvSpPr txBox="1"/>
              <p:nvPr/>
            </p:nvSpPr>
            <p:spPr>
              <a:xfrm>
                <a:off x="0" y="-47625"/>
                <a:ext cx="1439721" cy="488185"/>
              </a:xfrm>
              <a:prstGeom prst="rect">
                <a:avLst/>
              </a:prstGeom>
            </p:spPr>
            <p:txBody>
              <a:bodyPr lIns="50800" tIns="50800" rIns="50800" bIns="50800" rtlCol="0" anchor="ctr"/>
              <a:lstStyle/>
              <a:p>
                <a:pPr algn="ctr">
                  <a:lnSpc>
                    <a:spcPts val="2806"/>
                  </a:lnSpc>
                </a:pPr>
                <a:endParaRPr/>
              </a:p>
            </p:txBody>
          </p:sp>
        </p:grpSp>
        <p:sp>
          <p:nvSpPr>
            <p:cNvPr id="17" name="TextBox 17"/>
            <p:cNvSpPr txBox="1"/>
            <p:nvPr/>
          </p:nvSpPr>
          <p:spPr>
            <a:xfrm>
              <a:off x="285148" y="619654"/>
              <a:ext cx="6870693" cy="1024043"/>
            </a:xfrm>
            <a:prstGeom prst="rect">
              <a:avLst/>
            </a:prstGeom>
          </p:spPr>
          <p:txBody>
            <a:bodyPr lIns="0" tIns="0" rIns="0" bIns="0" rtlCol="0" anchor="t">
              <a:spAutoFit/>
            </a:bodyPr>
            <a:lstStyle/>
            <a:p>
              <a:pPr algn="ctr">
                <a:lnSpc>
                  <a:spcPts val="3079"/>
                </a:lnSpc>
                <a:spcBef>
                  <a:spcPct val="0"/>
                </a:spcBef>
              </a:pPr>
              <a:r>
                <a:rPr lang="en-US" sz="2199" dirty="0">
                  <a:solidFill>
                    <a:srgbClr val="000000"/>
                  </a:solidFill>
                  <a:latin typeface="Poppins"/>
                  <a:ea typeface="Poppins"/>
                  <a:cs typeface="Poppins"/>
                  <a:sym typeface="Poppins"/>
                </a:rPr>
                <a:t>Owner has NOT voted and the concern is regarding CM or CI</a:t>
              </a:r>
            </a:p>
          </p:txBody>
        </p:sp>
      </p:grpSp>
      <p:grpSp>
        <p:nvGrpSpPr>
          <p:cNvPr id="18" name="Group 18"/>
          <p:cNvGrpSpPr/>
          <p:nvPr/>
        </p:nvGrpSpPr>
        <p:grpSpPr>
          <a:xfrm>
            <a:off x="2555055" y="7674375"/>
            <a:ext cx="11010571" cy="1352216"/>
            <a:chOff x="0" y="-47625"/>
            <a:chExt cx="2899904" cy="356139"/>
          </a:xfrm>
        </p:grpSpPr>
        <p:sp>
          <p:nvSpPr>
            <p:cNvPr id="19" name="Freeform 19"/>
            <p:cNvSpPr/>
            <p:nvPr/>
          </p:nvSpPr>
          <p:spPr>
            <a:xfrm>
              <a:off x="0" y="0"/>
              <a:ext cx="2899904" cy="308514"/>
            </a:xfrm>
            <a:custGeom>
              <a:avLst/>
              <a:gdLst/>
              <a:ahLst/>
              <a:cxnLst/>
              <a:rect l="l" t="t" r="r" b="b"/>
              <a:pathLst>
                <a:path w="2682095" h="308514">
                  <a:moveTo>
                    <a:pt x="38772" y="0"/>
                  </a:moveTo>
                  <a:lnTo>
                    <a:pt x="2643323" y="0"/>
                  </a:lnTo>
                  <a:cubicBezTo>
                    <a:pt x="2653606" y="0"/>
                    <a:pt x="2663467" y="4085"/>
                    <a:pt x="2670739" y="11356"/>
                  </a:cubicBezTo>
                  <a:cubicBezTo>
                    <a:pt x="2678010" y="18627"/>
                    <a:pt x="2682095" y="28489"/>
                    <a:pt x="2682095" y="38772"/>
                  </a:cubicBezTo>
                  <a:lnTo>
                    <a:pt x="2682095" y="269742"/>
                  </a:lnTo>
                  <a:cubicBezTo>
                    <a:pt x="2682095" y="280025"/>
                    <a:pt x="2678010" y="289887"/>
                    <a:pt x="2670739" y="297158"/>
                  </a:cubicBezTo>
                  <a:cubicBezTo>
                    <a:pt x="2663467" y="304429"/>
                    <a:pt x="2653606" y="308514"/>
                    <a:pt x="2643323" y="308514"/>
                  </a:cubicBezTo>
                  <a:lnTo>
                    <a:pt x="38772" y="308514"/>
                  </a:lnTo>
                  <a:cubicBezTo>
                    <a:pt x="28489" y="308514"/>
                    <a:pt x="18627" y="304429"/>
                    <a:pt x="11356" y="297158"/>
                  </a:cubicBezTo>
                  <a:cubicBezTo>
                    <a:pt x="4085" y="289887"/>
                    <a:pt x="0" y="280025"/>
                    <a:pt x="0" y="269742"/>
                  </a:cubicBezTo>
                  <a:lnTo>
                    <a:pt x="0" y="38772"/>
                  </a:lnTo>
                  <a:cubicBezTo>
                    <a:pt x="0" y="28489"/>
                    <a:pt x="4085" y="18627"/>
                    <a:pt x="11356" y="11356"/>
                  </a:cubicBezTo>
                  <a:cubicBezTo>
                    <a:pt x="18627" y="4085"/>
                    <a:pt x="28489" y="0"/>
                    <a:pt x="38772" y="0"/>
                  </a:cubicBezTo>
                  <a:close/>
                </a:path>
              </a:pathLst>
            </a:custGeom>
            <a:solidFill>
              <a:srgbClr val="FFFFFF"/>
            </a:solidFill>
            <a:ln w="19050" cap="rnd">
              <a:solidFill>
                <a:srgbClr val="00763D"/>
              </a:solidFill>
              <a:prstDash val="solid"/>
              <a:round/>
            </a:ln>
          </p:spPr>
          <p:txBody>
            <a:bodyPr/>
            <a:lstStyle/>
            <a:p>
              <a:endParaRPr lang="en-US"/>
            </a:p>
          </p:txBody>
        </p:sp>
        <p:sp>
          <p:nvSpPr>
            <p:cNvPr id="20" name="TextBox 20"/>
            <p:cNvSpPr txBox="1"/>
            <p:nvPr/>
          </p:nvSpPr>
          <p:spPr>
            <a:xfrm>
              <a:off x="0" y="-47625"/>
              <a:ext cx="2682095" cy="356139"/>
            </a:xfrm>
            <a:prstGeom prst="rect">
              <a:avLst/>
            </a:prstGeom>
          </p:spPr>
          <p:txBody>
            <a:bodyPr lIns="50800" tIns="50800" rIns="50800" bIns="50800" rtlCol="0" anchor="ctr"/>
            <a:lstStyle/>
            <a:p>
              <a:pPr algn="ctr">
                <a:lnSpc>
                  <a:spcPts val="2806"/>
                </a:lnSpc>
              </a:pPr>
              <a:endParaRPr/>
            </a:p>
          </p:txBody>
        </p:sp>
      </p:grpSp>
      <p:sp>
        <p:nvSpPr>
          <p:cNvPr id="21" name="Freeform 21"/>
          <p:cNvSpPr/>
          <p:nvPr/>
        </p:nvSpPr>
        <p:spPr>
          <a:xfrm>
            <a:off x="7384488" y="4123084"/>
            <a:ext cx="675853" cy="657830"/>
          </a:xfrm>
          <a:custGeom>
            <a:avLst/>
            <a:gdLst/>
            <a:ahLst/>
            <a:cxnLst/>
            <a:rect l="l" t="t" r="r" b="b"/>
            <a:pathLst>
              <a:path w="675853" h="657830">
                <a:moveTo>
                  <a:pt x="0" y="0"/>
                </a:moveTo>
                <a:lnTo>
                  <a:pt x="675853" y="0"/>
                </a:lnTo>
                <a:lnTo>
                  <a:pt x="675853" y="657831"/>
                </a:lnTo>
                <a:lnTo>
                  <a:pt x="0" y="65783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22" name="Group 22"/>
          <p:cNvGrpSpPr/>
          <p:nvPr/>
        </p:nvGrpSpPr>
        <p:grpSpPr>
          <a:xfrm>
            <a:off x="8671767" y="5553152"/>
            <a:ext cx="5580742" cy="1740376"/>
            <a:chOff x="0" y="0"/>
            <a:chExt cx="7440989" cy="2320502"/>
          </a:xfrm>
        </p:grpSpPr>
        <p:grpSp>
          <p:nvGrpSpPr>
            <p:cNvPr id="23" name="Group 23"/>
            <p:cNvGrpSpPr/>
            <p:nvPr/>
          </p:nvGrpSpPr>
          <p:grpSpPr>
            <a:xfrm>
              <a:off x="0" y="0"/>
              <a:ext cx="7288589" cy="2230336"/>
              <a:chOff x="0" y="0"/>
              <a:chExt cx="1439721" cy="440560"/>
            </a:xfrm>
          </p:grpSpPr>
          <p:sp>
            <p:nvSpPr>
              <p:cNvPr id="24" name="Freeform 24"/>
              <p:cNvSpPr/>
              <p:nvPr/>
            </p:nvSpPr>
            <p:spPr>
              <a:xfrm>
                <a:off x="0" y="0"/>
                <a:ext cx="1439721" cy="440560"/>
              </a:xfrm>
              <a:custGeom>
                <a:avLst/>
                <a:gdLst/>
                <a:ahLst/>
                <a:cxnLst/>
                <a:rect l="l" t="t" r="r" b="b"/>
                <a:pathLst>
                  <a:path w="1439721" h="440560">
                    <a:moveTo>
                      <a:pt x="72229" y="0"/>
                    </a:moveTo>
                    <a:lnTo>
                      <a:pt x="1367492" y="0"/>
                    </a:lnTo>
                    <a:cubicBezTo>
                      <a:pt x="1386648" y="0"/>
                      <a:pt x="1405020" y="7610"/>
                      <a:pt x="1418566" y="21156"/>
                    </a:cubicBezTo>
                    <a:cubicBezTo>
                      <a:pt x="1432112" y="34701"/>
                      <a:pt x="1439721" y="53073"/>
                      <a:pt x="1439721" y="72229"/>
                    </a:cubicBezTo>
                    <a:lnTo>
                      <a:pt x="1439721" y="368331"/>
                    </a:lnTo>
                    <a:cubicBezTo>
                      <a:pt x="1439721" y="387487"/>
                      <a:pt x="1432112" y="405859"/>
                      <a:pt x="1418566" y="419405"/>
                    </a:cubicBezTo>
                    <a:cubicBezTo>
                      <a:pt x="1405020" y="432950"/>
                      <a:pt x="1386648" y="440560"/>
                      <a:pt x="1367492" y="440560"/>
                    </a:cubicBezTo>
                    <a:lnTo>
                      <a:pt x="72229" y="440560"/>
                    </a:lnTo>
                    <a:cubicBezTo>
                      <a:pt x="53073" y="440560"/>
                      <a:pt x="34701" y="432950"/>
                      <a:pt x="21156" y="419405"/>
                    </a:cubicBezTo>
                    <a:cubicBezTo>
                      <a:pt x="7610" y="405859"/>
                      <a:pt x="0" y="387487"/>
                      <a:pt x="0" y="368331"/>
                    </a:cubicBezTo>
                    <a:lnTo>
                      <a:pt x="0" y="72229"/>
                    </a:lnTo>
                    <a:cubicBezTo>
                      <a:pt x="0" y="53073"/>
                      <a:pt x="7610" y="34701"/>
                      <a:pt x="21156" y="21156"/>
                    </a:cubicBezTo>
                    <a:cubicBezTo>
                      <a:pt x="34701" y="7610"/>
                      <a:pt x="53073" y="0"/>
                      <a:pt x="72229" y="0"/>
                    </a:cubicBezTo>
                    <a:close/>
                  </a:path>
                </a:pathLst>
              </a:custGeom>
              <a:solidFill>
                <a:srgbClr val="00763D"/>
              </a:solidFill>
            </p:spPr>
            <p:txBody>
              <a:bodyPr/>
              <a:lstStyle/>
              <a:p>
                <a:endParaRPr lang="en-US"/>
              </a:p>
            </p:txBody>
          </p:sp>
          <p:sp>
            <p:nvSpPr>
              <p:cNvPr id="25" name="TextBox 25"/>
              <p:cNvSpPr txBox="1"/>
              <p:nvPr/>
            </p:nvSpPr>
            <p:spPr>
              <a:xfrm>
                <a:off x="0" y="-47625"/>
                <a:ext cx="1439721" cy="488185"/>
              </a:xfrm>
              <a:prstGeom prst="rect">
                <a:avLst/>
              </a:prstGeom>
            </p:spPr>
            <p:txBody>
              <a:bodyPr lIns="50800" tIns="50800" rIns="50800" bIns="50800" rtlCol="0" anchor="ctr"/>
              <a:lstStyle/>
              <a:p>
                <a:pPr algn="ctr">
                  <a:lnSpc>
                    <a:spcPts val="2806"/>
                  </a:lnSpc>
                </a:pPr>
                <a:endParaRPr/>
              </a:p>
            </p:txBody>
          </p:sp>
        </p:grpSp>
        <p:grpSp>
          <p:nvGrpSpPr>
            <p:cNvPr id="26" name="Group 26"/>
            <p:cNvGrpSpPr/>
            <p:nvPr/>
          </p:nvGrpSpPr>
          <p:grpSpPr>
            <a:xfrm>
              <a:off x="152400" y="90166"/>
              <a:ext cx="7288589" cy="2230336"/>
              <a:chOff x="0" y="0"/>
              <a:chExt cx="1439721" cy="440560"/>
            </a:xfrm>
          </p:grpSpPr>
          <p:sp>
            <p:nvSpPr>
              <p:cNvPr id="27" name="Freeform 27"/>
              <p:cNvSpPr/>
              <p:nvPr/>
            </p:nvSpPr>
            <p:spPr>
              <a:xfrm>
                <a:off x="0" y="0"/>
                <a:ext cx="1439721" cy="440560"/>
              </a:xfrm>
              <a:custGeom>
                <a:avLst/>
                <a:gdLst/>
                <a:ahLst/>
                <a:cxnLst/>
                <a:rect l="l" t="t" r="r" b="b"/>
                <a:pathLst>
                  <a:path w="1439721" h="440560">
                    <a:moveTo>
                      <a:pt x="72229" y="0"/>
                    </a:moveTo>
                    <a:lnTo>
                      <a:pt x="1367492" y="0"/>
                    </a:lnTo>
                    <a:cubicBezTo>
                      <a:pt x="1386648" y="0"/>
                      <a:pt x="1405020" y="7610"/>
                      <a:pt x="1418566" y="21156"/>
                    </a:cubicBezTo>
                    <a:cubicBezTo>
                      <a:pt x="1432112" y="34701"/>
                      <a:pt x="1439721" y="53073"/>
                      <a:pt x="1439721" y="72229"/>
                    </a:cubicBezTo>
                    <a:lnTo>
                      <a:pt x="1439721" y="368331"/>
                    </a:lnTo>
                    <a:cubicBezTo>
                      <a:pt x="1439721" y="387487"/>
                      <a:pt x="1432112" y="405859"/>
                      <a:pt x="1418566" y="419405"/>
                    </a:cubicBezTo>
                    <a:cubicBezTo>
                      <a:pt x="1405020" y="432950"/>
                      <a:pt x="1386648" y="440560"/>
                      <a:pt x="1367492" y="440560"/>
                    </a:cubicBezTo>
                    <a:lnTo>
                      <a:pt x="72229" y="440560"/>
                    </a:lnTo>
                    <a:cubicBezTo>
                      <a:pt x="53073" y="440560"/>
                      <a:pt x="34701" y="432950"/>
                      <a:pt x="21156" y="419405"/>
                    </a:cubicBezTo>
                    <a:cubicBezTo>
                      <a:pt x="7610" y="405859"/>
                      <a:pt x="0" y="387487"/>
                      <a:pt x="0" y="368331"/>
                    </a:cubicBezTo>
                    <a:lnTo>
                      <a:pt x="0" y="72229"/>
                    </a:lnTo>
                    <a:cubicBezTo>
                      <a:pt x="0" y="53073"/>
                      <a:pt x="7610" y="34701"/>
                      <a:pt x="21156" y="21156"/>
                    </a:cubicBezTo>
                    <a:cubicBezTo>
                      <a:pt x="34701" y="7610"/>
                      <a:pt x="53073" y="0"/>
                      <a:pt x="72229" y="0"/>
                    </a:cubicBezTo>
                    <a:close/>
                  </a:path>
                </a:pathLst>
              </a:custGeom>
              <a:solidFill>
                <a:srgbClr val="FFFFFF"/>
              </a:solidFill>
              <a:ln w="38100" cap="rnd">
                <a:solidFill>
                  <a:srgbClr val="00763D"/>
                </a:solidFill>
                <a:prstDash val="sysDot"/>
                <a:round/>
              </a:ln>
            </p:spPr>
            <p:txBody>
              <a:bodyPr/>
              <a:lstStyle/>
              <a:p>
                <a:endParaRPr lang="en-US"/>
              </a:p>
            </p:txBody>
          </p:sp>
          <p:sp>
            <p:nvSpPr>
              <p:cNvPr id="28" name="TextBox 28"/>
              <p:cNvSpPr txBox="1"/>
              <p:nvPr/>
            </p:nvSpPr>
            <p:spPr>
              <a:xfrm>
                <a:off x="0" y="-47625"/>
                <a:ext cx="1439721" cy="488185"/>
              </a:xfrm>
              <a:prstGeom prst="rect">
                <a:avLst/>
              </a:prstGeom>
            </p:spPr>
            <p:txBody>
              <a:bodyPr lIns="50800" tIns="50800" rIns="50800" bIns="50800" rtlCol="0" anchor="ctr"/>
              <a:lstStyle/>
              <a:p>
                <a:pPr algn="ctr">
                  <a:lnSpc>
                    <a:spcPts val="2806"/>
                  </a:lnSpc>
                </a:pPr>
                <a:endParaRPr/>
              </a:p>
            </p:txBody>
          </p:sp>
        </p:grpSp>
        <p:sp>
          <p:nvSpPr>
            <p:cNvPr id="29" name="TextBox 29"/>
            <p:cNvSpPr txBox="1"/>
            <p:nvPr/>
          </p:nvSpPr>
          <p:spPr>
            <a:xfrm>
              <a:off x="362080" y="441721"/>
              <a:ext cx="6716829" cy="1477328"/>
            </a:xfrm>
            <a:prstGeom prst="rect">
              <a:avLst/>
            </a:prstGeom>
          </p:spPr>
          <p:txBody>
            <a:bodyPr lIns="0" tIns="0" rIns="0" bIns="0" rtlCol="0" anchor="t">
              <a:spAutoFit/>
            </a:bodyPr>
            <a:lstStyle/>
            <a:p>
              <a:pPr algn="ctr">
                <a:lnSpc>
                  <a:spcPct val="100000"/>
                </a:lnSpc>
                <a:spcBef>
                  <a:spcPct val="0"/>
                </a:spcBef>
              </a:pPr>
              <a:r>
                <a:rPr lang="en-US" sz="2400" dirty="0"/>
                <a:t>Process the review and check the voter template to avoid repeating information already provided.</a:t>
              </a:r>
              <a:endParaRPr lang="en-US" sz="2004" dirty="0">
                <a:solidFill>
                  <a:srgbClr val="000000"/>
                </a:solidFill>
                <a:latin typeface="Poppins"/>
                <a:ea typeface="Poppins"/>
                <a:cs typeface="Poppins"/>
                <a:sym typeface="Poppins"/>
              </a:endParaRPr>
            </a:p>
          </p:txBody>
        </p:sp>
      </p:grpSp>
      <p:grpSp>
        <p:nvGrpSpPr>
          <p:cNvPr id="30" name="Group 30"/>
          <p:cNvGrpSpPr/>
          <p:nvPr/>
        </p:nvGrpSpPr>
        <p:grpSpPr>
          <a:xfrm>
            <a:off x="1192321" y="5519482"/>
            <a:ext cx="5580742" cy="1740376"/>
            <a:chOff x="0" y="0"/>
            <a:chExt cx="7440989" cy="2320502"/>
          </a:xfrm>
        </p:grpSpPr>
        <p:grpSp>
          <p:nvGrpSpPr>
            <p:cNvPr id="31" name="Group 31"/>
            <p:cNvGrpSpPr/>
            <p:nvPr/>
          </p:nvGrpSpPr>
          <p:grpSpPr>
            <a:xfrm>
              <a:off x="0" y="0"/>
              <a:ext cx="7288589" cy="2230336"/>
              <a:chOff x="0" y="0"/>
              <a:chExt cx="1439721" cy="440560"/>
            </a:xfrm>
          </p:grpSpPr>
          <p:sp>
            <p:nvSpPr>
              <p:cNvPr id="32" name="Freeform 32"/>
              <p:cNvSpPr/>
              <p:nvPr/>
            </p:nvSpPr>
            <p:spPr>
              <a:xfrm>
                <a:off x="0" y="0"/>
                <a:ext cx="1439721" cy="440560"/>
              </a:xfrm>
              <a:custGeom>
                <a:avLst/>
                <a:gdLst/>
                <a:ahLst/>
                <a:cxnLst/>
                <a:rect l="l" t="t" r="r" b="b"/>
                <a:pathLst>
                  <a:path w="1439721" h="440560">
                    <a:moveTo>
                      <a:pt x="72229" y="0"/>
                    </a:moveTo>
                    <a:lnTo>
                      <a:pt x="1367492" y="0"/>
                    </a:lnTo>
                    <a:cubicBezTo>
                      <a:pt x="1386648" y="0"/>
                      <a:pt x="1405020" y="7610"/>
                      <a:pt x="1418566" y="21156"/>
                    </a:cubicBezTo>
                    <a:cubicBezTo>
                      <a:pt x="1432112" y="34701"/>
                      <a:pt x="1439721" y="53073"/>
                      <a:pt x="1439721" y="72229"/>
                    </a:cubicBezTo>
                    <a:lnTo>
                      <a:pt x="1439721" y="368331"/>
                    </a:lnTo>
                    <a:cubicBezTo>
                      <a:pt x="1439721" y="387487"/>
                      <a:pt x="1432112" y="405859"/>
                      <a:pt x="1418566" y="419405"/>
                    </a:cubicBezTo>
                    <a:cubicBezTo>
                      <a:pt x="1405020" y="432950"/>
                      <a:pt x="1386648" y="440560"/>
                      <a:pt x="1367492" y="440560"/>
                    </a:cubicBezTo>
                    <a:lnTo>
                      <a:pt x="72229" y="440560"/>
                    </a:lnTo>
                    <a:cubicBezTo>
                      <a:pt x="53073" y="440560"/>
                      <a:pt x="34701" y="432950"/>
                      <a:pt x="21156" y="419405"/>
                    </a:cubicBezTo>
                    <a:cubicBezTo>
                      <a:pt x="7610" y="405859"/>
                      <a:pt x="0" y="387487"/>
                      <a:pt x="0" y="368331"/>
                    </a:cubicBezTo>
                    <a:lnTo>
                      <a:pt x="0" y="72229"/>
                    </a:lnTo>
                    <a:cubicBezTo>
                      <a:pt x="0" y="53073"/>
                      <a:pt x="7610" y="34701"/>
                      <a:pt x="21156" y="21156"/>
                    </a:cubicBezTo>
                    <a:cubicBezTo>
                      <a:pt x="34701" y="7610"/>
                      <a:pt x="53073" y="0"/>
                      <a:pt x="72229" y="0"/>
                    </a:cubicBezTo>
                    <a:close/>
                  </a:path>
                </a:pathLst>
              </a:custGeom>
              <a:solidFill>
                <a:srgbClr val="00763D"/>
              </a:solidFill>
            </p:spPr>
            <p:txBody>
              <a:bodyPr/>
              <a:lstStyle/>
              <a:p>
                <a:endParaRPr lang="en-US"/>
              </a:p>
            </p:txBody>
          </p:sp>
          <p:sp>
            <p:nvSpPr>
              <p:cNvPr id="33" name="TextBox 33"/>
              <p:cNvSpPr txBox="1"/>
              <p:nvPr/>
            </p:nvSpPr>
            <p:spPr>
              <a:xfrm>
                <a:off x="0" y="-47625"/>
                <a:ext cx="1439721" cy="488185"/>
              </a:xfrm>
              <a:prstGeom prst="rect">
                <a:avLst/>
              </a:prstGeom>
            </p:spPr>
            <p:txBody>
              <a:bodyPr lIns="50800" tIns="50800" rIns="50800" bIns="50800" rtlCol="0" anchor="ctr"/>
              <a:lstStyle/>
              <a:p>
                <a:pPr algn="ctr">
                  <a:lnSpc>
                    <a:spcPts val="2806"/>
                  </a:lnSpc>
                </a:pPr>
                <a:endParaRPr/>
              </a:p>
            </p:txBody>
          </p:sp>
        </p:grpSp>
        <p:grpSp>
          <p:nvGrpSpPr>
            <p:cNvPr id="34" name="Group 34"/>
            <p:cNvGrpSpPr/>
            <p:nvPr/>
          </p:nvGrpSpPr>
          <p:grpSpPr>
            <a:xfrm>
              <a:off x="152400" y="90166"/>
              <a:ext cx="7288589" cy="2230336"/>
              <a:chOff x="0" y="0"/>
              <a:chExt cx="1439721" cy="440560"/>
            </a:xfrm>
          </p:grpSpPr>
          <p:sp>
            <p:nvSpPr>
              <p:cNvPr id="35" name="Freeform 35"/>
              <p:cNvSpPr/>
              <p:nvPr/>
            </p:nvSpPr>
            <p:spPr>
              <a:xfrm>
                <a:off x="0" y="0"/>
                <a:ext cx="1439721" cy="440560"/>
              </a:xfrm>
              <a:custGeom>
                <a:avLst/>
                <a:gdLst/>
                <a:ahLst/>
                <a:cxnLst/>
                <a:rect l="l" t="t" r="r" b="b"/>
                <a:pathLst>
                  <a:path w="1439721" h="440560">
                    <a:moveTo>
                      <a:pt x="72229" y="0"/>
                    </a:moveTo>
                    <a:lnTo>
                      <a:pt x="1367492" y="0"/>
                    </a:lnTo>
                    <a:cubicBezTo>
                      <a:pt x="1386648" y="0"/>
                      <a:pt x="1405020" y="7610"/>
                      <a:pt x="1418566" y="21156"/>
                    </a:cubicBezTo>
                    <a:cubicBezTo>
                      <a:pt x="1432112" y="34701"/>
                      <a:pt x="1439721" y="53073"/>
                      <a:pt x="1439721" y="72229"/>
                    </a:cubicBezTo>
                    <a:lnTo>
                      <a:pt x="1439721" y="368331"/>
                    </a:lnTo>
                    <a:cubicBezTo>
                      <a:pt x="1439721" y="387487"/>
                      <a:pt x="1432112" y="405859"/>
                      <a:pt x="1418566" y="419405"/>
                    </a:cubicBezTo>
                    <a:cubicBezTo>
                      <a:pt x="1405020" y="432950"/>
                      <a:pt x="1386648" y="440560"/>
                      <a:pt x="1367492" y="440560"/>
                    </a:cubicBezTo>
                    <a:lnTo>
                      <a:pt x="72229" y="440560"/>
                    </a:lnTo>
                    <a:cubicBezTo>
                      <a:pt x="53073" y="440560"/>
                      <a:pt x="34701" y="432950"/>
                      <a:pt x="21156" y="419405"/>
                    </a:cubicBezTo>
                    <a:cubicBezTo>
                      <a:pt x="7610" y="405859"/>
                      <a:pt x="0" y="387487"/>
                      <a:pt x="0" y="368331"/>
                    </a:cubicBezTo>
                    <a:lnTo>
                      <a:pt x="0" y="72229"/>
                    </a:lnTo>
                    <a:cubicBezTo>
                      <a:pt x="0" y="53073"/>
                      <a:pt x="7610" y="34701"/>
                      <a:pt x="21156" y="21156"/>
                    </a:cubicBezTo>
                    <a:cubicBezTo>
                      <a:pt x="34701" y="7610"/>
                      <a:pt x="53073" y="0"/>
                      <a:pt x="72229" y="0"/>
                    </a:cubicBezTo>
                    <a:close/>
                  </a:path>
                </a:pathLst>
              </a:custGeom>
              <a:solidFill>
                <a:srgbClr val="FFFFFF"/>
              </a:solidFill>
              <a:ln w="38100" cap="rnd">
                <a:solidFill>
                  <a:srgbClr val="00763D"/>
                </a:solidFill>
                <a:prstDash val="sysDot"/>
                <a:round/>
              </a:ln>
            </p:spPr>
            <p:txBody>
              <a:bodyPr/>
              <a:lstStyle/>
              <a:p>
                <a:endParaRPr lang="en-US"/>
              </a:p>
            </p:txBody>
          </p:sp>
          <p:sp>
            <p:nvSpPr>
              <p:cNvPr id="36" name="TextBox 36"/>
              <p:cNvSpPr txBox="1"/>
              <p:nvPr/>
            </p:nvSpPr>
            <p:spPr>
              <a:xfrm>
                <a:off x="0" y="-47625"/>
                <a:ext cx="1439721" cy="488185"/>
              </a:xfrm>
              <a:prstGeom prst="rect">
                <a:avLst/>
              </a:prstGeom>
            </p:spPr>
            <p:txBody>
              <a:bodyPr lIns="50800" tIns="50800" rIns="50800" bIns="50800" rtlCol="0" anchor="ctr"/>
              <a:lstStyle/>
              <a:p>
                <a:pPr algn="ctr">
                  <a:lnSpc>
                    <a:spcPts val="2806"/>
                  </a:lnSpc>
                </a:pPr>
                <a:endParaRPr/>
              </a:p>
            </p:txBody>
          </p:sp>
        </p:grpSp>
        <p:sp>
          <p:nvSpPr>
            <p:cNvPr id="37" name="TextBox 37"/>
            <p:cNvSpPr txBox="1"/>
            <p:nvPr/>
          </p:nvSpPr>
          <p:spPr>
            <a:xfrm>
              <a:off x="208948" y="925087"/>
              <a:ext cx="6870693" cy="503343"/>
            </a:xfrm>
            <a:prstGeom prst="rect">
              <a:avLst/>
            </a:prstGeom>
          </p:spPr>
          <p:txBody>
            <a:bodyPr lIns="0" tIns="0" rIns="0" bIns="0" rtlCol="0" anchor="t">
              <a:spAutoFit/>
            </a:bodyPr>
            <a:lstStyle/>
            <a:p>
              <a:pPr algn="ctr">
                <a:lnSpc>
                  <a:spcPts val="3079"/>
                </a:lnSpc>
                <a:spcBef>
                  <a:spcPct val="0"/>
                </a:spcBef>
              </a:pPr>
              <a:r>
                <a:rPr lang="en-US" sz="2199" dirty="0">
                  <a:solidFill>
                    <a:srgbClr val="000000"/>
                  </a:solidFill>
                  <a:latin typeface="Poppins"/>
                  <a:ea typeface="Poppins"/>
                  <a:cs typeface="Poppins"/>
                  <a:sym typeface="Poppins"/>
                </a:rPr>
                <a:t>Owner </a:t>
              </a:r>
              <a:r>
                <a:rPr lang="en-US" sz="2199" b="1" dirty="0">
                  <a:solidFill>
                    <a:srgbClr val="000000"/>
                  </a:solidFill>
                  <a:latin typeface="Poppins Bold"/>
                  <a:ea typeface="Poppins Bold"/>
                  <a:cs typeface="Poppins Bold"/>
                  <a:sym typeface="Poppins Bold"/>
                </a:rPr>
                <a:t>HAS </a:t>
              </a:r>
              <a:r>
                <a:rPr lang="en-US" sz="2199" dirty="0">
                  <a:solidFill>
                    <a:srgbClr val="000000"/>
                  </a:solidFill>
                  <a:latin typeface="Poppins"/>
                  <a:ea typeface="Poppins"/>
                  <a:cs typeface="Poppins"/>
                  <a:sym typeface="Poppins"/>
                </a:rPr>
                <a:t>voted</a:t>
              </a:r>
            </a:p>
          </p:txBody>
        </p:sp>
      </p:grpSp>
      <p:sp>
        <p:nvSpPr>
          <p:cNvPr id="38" name="Freeform 38"/>
          <p:cNvSpPr/>
          <p:nvPr/>
        </p:nvSpPr>
        <p:spPr>
          <a:xfrm>
            <a:off x="7386314" y="6094425"/>
            <a:ext cx="675853" cy="657830"/>
          </a:xfrm>
          <a:custGeom>
            <a:avLst/>
            <a:gdLst/>
            <a:ahLst/>
            <a:cxnLst/>
            <a:rect l="l" t="t" r="r" b="b"/>
            <a:pathLst>
              <a:path w="675853" h="657830">
                <a:moveTo>
                  <a:pt x="0" y="0"/>
                </a:moveTo>
                <a:lnTo>
                  <a:pt x="675853" y="0"/>
                </a:lnTo>
                <a:lnTo>
                  <a:pt x="675853" y="657830"/>
                </a:lnTo>
                <a:lnTo>
                  <a:pt x="0" y="65783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9" name="Group 39"/>
          <p:cNvGrpSpPr/>
          <p:nvPr/>
        </p:nvGrpSpPr>
        <p:grpSpPr>
          <a:xfrm>
            <a:off x="2555055" y="7662714"/>
            <a:ext cx="585695" cy="585695"/>
            <a:chOff x="0" y="0"/>
            <a:chExt cx="812800" cy="812800"/>
          </a:xfrm>
        </p:grpSpPr>
        <p:sp>
          <p:nvSpPr>
            <p:cNvPr id="40" name="Freeform 4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41" name="TextBox 41"/>
            <p:cNvSpPr txBox="1"/>
            <p:nvPr/>
          </p:nvSpPr>
          <p:spPr>
            <a:xfrm>
              <a:off x="76200" y="28575"/>
              <a:ext cx="660400" cy="708025"/>
            </a:xfrm>
            <a:prstGeom prst="rect">
              <a:avLst/>
            </a:prstGeom>
          </p:spPr>
          <p:txBody>
            <a:bodyPr lIns="50800" tIns="50800" rIns="50800" bIns="50800" rtlCol="0" anchor="ctr"/>
            <a:lstStyle/>
            <a:p>
              <a:pPr algn="ctr">
                <a:lnSpc>
                  <a:spcPts val="2806"/>
                </a:lnSpc>
              </a:pPr>
              <a:endParaRPr/>
            </a:p>
          </p:txBody>
        </p:sp>
      </p:grpSp>
      <p:sp>
        <p:nvSpPr>
          <p:cNvPr id="42" name="Freeform 42"/>
          <p:cNvSpPr/>
          <p:nvPr/>
        </p:nvSpPr>
        <p:spPr>
          <a:xfrm>
            <a:off x="2671197" y="7778856"/>
            <a:ext cx="353411" cy="353411"/>
          </a:xfrm>
          <a:custGeom>
            <a:avLst/>
            <a:gdLst/>
            <a:ahLst/>
            <a:cxnLst/>
            <a:rect l="l" t="t" r="r" b="b"/>
            <a:pathLst>
              <a:path w="353411" h="353411">
                <a:moveTo>
                  <a:pt x="0" y="0"/>
                </a:moveTo>
                <a:lnTo>
                  <a:pt x="353411" y="0"/>
                </a:lnTo>
                <a:lnTo>
                  <a:pt x="353411" y="353411"/>
                </a:lnTo>
                <a:lnTo>
                  <a:pt x="0" y="35341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3" name="TextBox 43"/>
          <p:cNvSpPr txBox="1"/>
          <p:nvPr/>
        </p:nvSpPr>
        <p:spPr>
          <a:xfrm>
            <a:off x="1228595" y="885825"/>
            <a:ext cx="12090053" cy="934720"/>
          </a:xfrm>
          <a:prstGeom prst="rect">
            <a:avLst/>
          </a:prstGeom>
        </p:spPr>
        <p:txBody>
          <a:bodyPr lIns="0" tIns="0" rIns="0" bIns="0" rtlCol="0" anchor="t">
            <a:spAutoFit/>
          </a:bodyPr>
          <a:lstStyle/>
          <a:p>
            <a:pPr algn="ctr">
              <a:lnSpc>
                <a:spcPts val="7279"/>
              </a:lnSpc>
              <a:spcBef>
                <a:spcPct val="0"/>
              </a:spcBef>
            </a:pPr>
            <a:r>
              <a:rPr lang="en-US" sz="5199" b="1" dirty="0">
                <a:solidFill>
                  <a:srgbClr val="000000"/>
                </a:solidFill>
                <a:latin typeface="Poppins Bold"/>
                <a:ea typeface="Poppins Bold"/>
                <a:cs typeface="Poppins Bold"/>
                <a:sym typeface="Poppins Bold"/>
              </a:rPr>
              <a:t>Step 4 - Voting &amp; Moderation Check</a:t>
            </a:r>
          </a:p>
        </p:txBody>
      </p:sp>
      <p:sp>
        <p:nvSpPr>
          <p:cNvPr id="44" name="TextBox 44"/>
          <p:cNvSpPr txBox="1"/>
          <p:nvPr/>
        </p:nvSpPr>
        <p:spPr>
          <a:xfrm>
            <a:off x="1228595" y="2312194"/>
            <a:ext cx="12689532" cy="509905"/>
          </a:xfrm>
          <a:prstGeom prst="rect">
            <a:avLst/>
          </a:prstGeom>
        </p:spPr>
        <p:txBody>
          <a:bodyPr lIns="0" tIns="0" rIns="0" bIns="0" rtlCol="0" anchor="t">
            <a:spAutoFit/>
          </a:bodyPr>
          <a:lstStyle/>
          <a:p>
            <a:pPr algn="ctr">
              <a:lnSpc>
                <a:spcPts val="3919"/>
              </a:lnSpc>
              <a:spcBef>
                <a:spcPct val="0"/>
              </a:spcBef>
            </a:pPr>
            <a:r>
              <a:rPr lang="en-US" sz="2799" b="1" dirty="0">
                <a:solidFill>
                  <a:srgbClr val="000000"/>
                </a:solidFill>
                <a:latin typeface="Poppins Bold"/>
                <a:ea typeface="Poppins Bold"/>
                <a:cs typeface="Poppins Bold"/>
                <a:sym typeface="Poppins Bold"/>
              </a:rPr>
              <a:t>Check if the owner has voted or reported via the Management Center.</a:t>
            </a:r>
          </a:p>
        </p:txBody>
      </p:sp>
      <p:sp>
        <p:nvSpPr>
          <p:cNvPr id="45" name="TextBox 45"/>
          <p:cNvSpPr txBox="1"/>
          <p:nvPr/>
        </p:nvSpPr>
        <p:spPr>
          <a:xfrm>
            <a:off x="3167964" y="8132267"/>
            <a:ext cx="10183578" cy="707373"/>
          </a:xfrm>
          <a:prstGeom prst="rect">
            <a:avLst/>
          </a:prstGeom>
        </p:spPr>
        <p:txBody>
          <a:bodyPr wrap="square" lIns="0" tIns="0" rIns="0" bIns="0" rtlCol="0" anchor="t">
            <a:spAutoFit/>
          </a:bodyPr>
          <a:lstStyle/>
          <a:p>
            <a:pPr algn="l">
              <a:lnSpc>
                <a:spcPts val="2806"/>
              </a:lnSpc>
              <a:spcBef>
                <a:spcPct val="0"/>
              </a:spcBef>
            </a:pPr>
            <a:r>
              <a:rPr lang="en-US" sz="2200" b="1" dirty="0">
                <a:solidFill>
                  <a:srgbClr val="000000"/>
                </a:solidFill>
                <a:latin typeface="Poppins" panose="00000500000000000000" pitchFamily="2" charset="0"/>
                <a:ea typeface="Poppins Bold"/>
                <a:cs typeface="Poppins" panose="00000500000000000000" pitchFamily="2" charset="0"/>
                <a:sym typeface="Poppins Bold"/>
              </a:rPr>
              <a:t>Note:  </a:t>
            </a:r>
            <a:r>
              <a:rPr lang="en-US" sz="2200" dirty="0">
                <a:solidFill>
                  <a:srgbClr val="000000"/>
                </a:solidFill>
                <a:latin typeface="Poppins" panose="00000500000000000000" pitchFamily="2" charset="0"/>
                <a:ea typeface="Poppins"/>
                <a:cs typeface="Poppins" panose="00000500000000000000" pitchFamily="2" charset="0"/>
                <a:sym typeface="Poppins"/>
              </a:rPr>
              <a:t>Either way the agent should check the disputed review and take action if it doesn’t meet guidelines or previous moderation was wrong.</a:t>
            </a:r>
          </a:p>
        </p:txBody>
      </p:sp>
      <p:sp>
        <p:nvSpPr>
          <p:cNvPr id="48" name="TextBox 47">
            <a:extLst>
              <a:ext uri="{FF2B5EF4-FFF2-40B4-BE49-F238E27FC236}">
                <a16:creationId xmlns:a16="http://schemas.microsoft.com/office/drawing/2014/main" id="{867C8148-6053-1DFB-38E5-150823248A03}"/>
              </a:ext>
            </a:extLst>
          </p:cNvPr>
          <p:cNvSpPr txBox="1"/>
          <p:nvPr/>
        </p:nvSpPr>
        <p:spPr>
          <a:xfrm>
            <a:off x="600003" y="9661691"/>
            <a:ext cx="10000001" cy="314772"/>
          </a:xfrm>
          <a:prstGeom prst="rect">
            <a:avLst/>
          </a:prstGeom>
          <a:noFill/>
        </p:spPr>
        <p:txBody>
          <a:bodyPr wrap="square" anchor="t">
            <a:spAutoFit/>
          </a:bodyPr>
          <a:lstStyle>
            <a:defPPr>
              <a:defRPr lang="en-US"/>
            </a:defPPr>
            <a:lvl1pPr defTabSz="914445">
              <a:defRPr sz="1400">
                <a:solidFill>
                  <a:srgbClr val="8A8272"/>
                </a:solidFill>
                <a:latin typeface="Poppins"/>
              </a:defRPr>
            </a:lvl1pPr>
            <a:lvl2pPr marL="685800" defTabSz="1371600">
              <a:defRPr sz="2700"/>
            </a:lvl2pPr>
            <a:lvl3pPr marL="1371600" defTabSz="1371600">
              <a:defRPr sz="2700"/>
            </a:lvl3pPr>
            <a:lvl4pPr marL="2057400" defTabSz="1371600">
              <a:defRPr sz="2700"/>
            </a:lvl4pPr>
            <a:lvl5pPr marL="2743200" defTabSz="1371600">
              <a:defRPr sz="2700"/>
            </a:lvl5pPr>
            <a:lvl6pPr marL="3429000" defTabSz="1371600">
              <a:defRPr sz="2700"/>
            </a:lvl6pPr>
            <a:lvl7pPr marL="4114800" defTabSz="1371600">
              <a:defRPr sz="2700"/>
            </a:lvl7pPr>
            <a:lvl8pPr marL="4800600" defTabSz="1371600">
              <a:defRPr sz="2700"/>
            </a:lvl8pPr>
            <a:lvl9pPr marL="5486400" defTabSz="1371600">
              <a:defRPr sz="2700"/>
            </a:lvl9pPr>
          </a:lstStyle>
          <a:p>
            <a:pPr defTabSz="914441"/>
            <a:r>
              <a:rPr dirty="0"/>
              <a:t>T</a:t>
            </a:r>
            <a:r>
              <a:rPr lang="en-US" dirty="0"/>
              <a:t>ripadvisor / Owner Review Disputes</a:t>
            </a:r>
            <a:endParaRPr dirty="0"/>
          </a:p>
        </p:txBody>
      </p:sp>
    </p:spTree>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oup 21"/>
          <p:cNvGrpSpPr/>
          <p:nvPr/>
        </p:nvGrpSpPr>
        <p:grpSpPr>
          <a:xfrm>
            <a:off x="5888880" y="4766358"/>
            <a:ext cx="6510241" cy="2604429"/>
            <a:chOff x="0" y="0"/>
            <a:chExt cx="8680321" cy="3472572"/>
          </a:xfrm>
        </p:grpSpPr>
        <p:grpSp>
          <p:nvGrpSpPr>
            <p:cNvPr id="22" name="Group 22"/>
            <p:cNvGrpSpPr/>
            <p:nvPr/>
          </p:nvGrpSpPr>
          <p:grpSpPr>
            <a:xfrm>
              <a:off x="0" y="0"/>
              <a:ext cx="8527393" cy="3370956"/>
              <a:chOff x="0" y="0"/>
              <a:chExt cx="2094190" cy="827852"/>
            </a:xfrm>
          </p:grpSpPr>
          <p:sp>
            <p:nvSpPr>
              <p:cNvPr id="23" name="Freeform 23"/>
              <p:cNvSpPr/>
              <p:nvPr/>
            </p:nvSpPr>
            <p:spPr>
              <a:xfrm>
                <a:off x="0" y="0"/>
                <a:ext cx="2094190" cy="827852"/>
              </a:xfrm>
              <a:custGeom>
                <a:avLst/>
                <a:gdLst/>
                <a:ahLst/>
                <a:cxnLst/>
                <a:rect l="l" t="t" r="r" b="b"/>
                <a:pathLst>
                  <a:path w="2094190" h="827852">
                    <a:moveTo>
                      <a:pt x="61736" y="0"/>
                    </a:moveTo>
                    <a:lnTo>
                      <a:pt x="2032454" y="0"/>
                    </a:lnTo>
                    <a:cubicBezTo>
                      <a:pt x="2066550" y="0"/>
                      <a:pt x="2094190" y="27640"/>
                      <a:pt x="2094190" y="61736"/>
                    </a:cubicBezTo>
                    <a:lnTo>
                      <a:pt x="2094190" y="766116"/>
                    </a:lnTo>
                    <a:cubicBezTo>
                      <a:pt x="2094190" y="800212"/>
                      <a:pt x="2066550" y="827852"/>
                      <a:pt x="2032454" y="827852"/>
                    </a:cubicBezTo>
                    <a:lnTo>
                      <a:pt x="61736" y="827852"/>
                    </a:lnTo>
                    <a:cubicBezTo>
                      <a:pt x="27640" y="827852"/>
                      <a:pt x="0" y="800212"/>
                      <a:pt x="0" y="766116"/>
                    </a:cubicBezTo>
                    <a:lnTo>
                      <a:pt x="0" y="61736"/>
                    </a:lnTo>
                    <a:cubicBezTo>
                      <a:pt x="0" y="27640"/>
                      <a:pt x="27640" y="0"/>
                      <a:pt x="61736" y="0"/>
                    </a:cubicBezTo>
                    <a:close/>
                  </a:path>
                </a:pathLst>
              </a:custGeom>
              <a:solidFill>
                <a:srgbClr val="00EB5B"/>
              </a:solidFill>
            </p:spPr>
            <p:txBody>
              <a:bodyPr/>
              <a:lstStyle/>
              <a:p>
                <a:endParaRPr lang="en-US"/>
              </a:p>
            </p:txBody>
          </p:sp>
          <p:sp>
            <p:nvSpPr>
              <p:cNvPr id="24" name="TextBox 24"/>
              <p:cNvSpPr txBox="1"/>
              <p:nvPr/>
            </p:nvSpPr>
            <p:spPr>
              <a:xfrm>
                <a:off x="0" y="-47625"/>
                <a:ext cx="2094190" cy="875477"/>
              </a:xfrm>
              <a:prstGeom prst="rect">
                <a:avLst/>
              </a:prstGeom>
            </p:spPr>
            <p:txBody>
              <a:bodyPr lIns="40860" tIns="40860" rIns="40860" bIns="40860" rtlCol="0" anchor="ctr"/>
              <a:lstStyle/>
              <a:p>
                <a:pPr algn="ctr">
                  <a:lnSpc>
                    <a:spcPts val="2806"/>
                  </a:lnSpc>
                </a:pPr>
                <a:endParaRPr/>
              </a:p>
            </p:txBody>
          </p:sp>
        </p:grpSp>
        <p:grpSp>
          <p:nvGrpSpPr>
            <p:cNvPr id="25" name="Group 25"/>
            <p:cNvGrpSpPr/>
            <p:nvPr/>
          </p:nvGrpSpPr>
          <p:grpSpPr>
            <a:xfrm>
              <a:off x="152929" y="101616"/>
              <a:ext cx="8527393" cy="3370956"/>
              <a:chOff x="0" y="0"/>
              <a:chExt cx="2094190" cy="827852"/>
            </a:xfrm>
          </p:grpSpPr>
          <p:sp>
            <p:nvSpPr>
              <p:cNvPr id="26" name="Freeform 26"/>
              <p:cNvSpPr/>
              <p:nvPr/>
            </p:nvSpPr>
            <p:spPr>
              <a:xfrm>
                <a:off x="0" y="0"/>
                <a:ext cx="2094190" cy="827852"/>
              </a:xfrm>
              <a:custGeom>
                <a:avLst/>
                <a:gdLst/>
                <a:ahLst/>
                <a:cxnLst/>
                <a:rect l="l" t="t" r="r" b="b"/>
                <a:pathLst>
                  <a:path w="2094190" h="827852">
                    <a:moveTo>
                      <a:pt x="61736" y="0"/>
                    </a:moveTo>
                    <a:lnTo>
                      <a:pt x="2032454" y="0"/>
                    </a:lnTo>
                    <a:cubicBezTo>
                      <a:pt x="2066550" y="0"/>
                      <a:pt x="2094190" y="27640"/>
                      <a:pt x="2094190" y="61736"/>
                    </a:cubicBezTo>
                    <a:lnTo>
                      <a:pt x="2094190" y="766116"/>
                    </a:lnTo>
                    <a:cubicBezTo>
                      <a:pt x="2094190" y="800212"/>
                      <a:pt x="2066550" y="827852"/>
                      <a:pt x="2032454" y="827852"/>
                    </a:cubicBezTo>
                    <a:lnTo>
                      <a:pt x="61736" y="827852"/>
                    </a:lnTo>
                    <a:cubicBezTo>
                      <a:pt x="27640" y="827852"/>
                      <a:pt x="0" y="800212"/>
                      <a:pt x="0" y="766116"/>
                    </a:cubicBezTo>
                    <a:lnTo>
                      <a:pt x="0" y="61736"/>
                    </a:lnTo>
                    <a:cubicBezTo>
                      <a:pt x="0" y="27640"/>
                      <a:pt x="27640" y="0"/>
                      <a:pt x="61736" y="0"/>
                    </a:cubicBezTo>
                    <a:close/>
                  </a:path>
                </a:pathLst>
              </a:custGeom>
              <a:solidFill>
                <a:srgbClr val="FFFFFF"/>
              </a:solidFill>
              <a:ln w="19050" cap="rnd">
                <a:solidFill>
                  <a:srgbClr val="00EB5B"/>
                </a:solidFill>
                <a:prstDash val="solid"/>
                <a:round/>
              </a:ln>
            </p:spPr>
            <p:txBody>
              <a:bodyPr/>
              <a:lstStyle/>
              <a:p>
                <a:endParaRPr lang="en-US"/>
              </a:p>
            </p:txBody>
          </p:sp>
          <p:sp>
            <p:nvSpPr>
              <p:cNvPr id="27" name="TextBox 27"/>
              <p:cNvSpPr txBox="1"/>
              <p:nvPr/>
            </p:nvSpPr>
            <p:spPr>
              <a:xfrm>
                <a:off x="0" y="-47625"/>
                <a:ext cx="2094190" cy="875477"/>
              </a:xfrm>
              <a:prstGeom prst="rect">
                <a:avLst/>
              </a:prstGeom>
            </p:spPr>
            <p:txBody>
              <a:bodyPr lIns="40860" tIns="40860" rIns="40860" bIns="40860" rtlCol="0" anchor="ctr"/>
              <a:lstStyle/>
              <a:p>
                <a:pPr algn="ctr">
                  <a:lnSpc>
                    <a:spcPts val="2806"/>
                  </a:lnSpc>
                </a:pPr>
                <a:endParaRPr/>
              </a:p>
            </p:txBody>
          </p:sp>
        </p:grpSp>
      </p:grpSp>
      <p:sp>
        <p:nvSpPr>
          <p:cNvPr id="40" name="TextBox 39">
            <a:extLst>
              <a:ext uri="{FF2B5EF4-FFF2-40B4-BE49-F238E27FC236}">
                <a16:creationId xmlns:a16="http://schemas.microsoft.com/office/drawing/2014/main" id="{2DEDAB92-916B-2FCC-E955-0090295C9895}"/>
              </a:ext>
            </a:extLst>
          </p:cNvPr>
          <p:cNvSpPr txBox="1"/>
          <p:nvPr/>
        </p:nvSpPr>
        <p:spPr>
          <a:xfrm>
            <a:off x="6287609" y="5279935"/>
            <a:ext cx="6727441" cy="24500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nSpc>
                <a:spcPct val="150000"/>
              </a:lnSpc>
              <a:buFont typeface="Arial"/>
              <a:buChar char="•"/>
            </a:pPr>
            <a:r>
              <a:rPr lang="en-US" sz="2150" b="0" i="0" u="none" strike="noStrike" dirty="0">
                <a:solidFill>
                  <a:srgbClr val="000000"/>
                </a:solidFill>
                <a:latin typeface="Poppins"/>
                <a:ea typeface="Segoe UI"/>
                <a:cs typeface="Segoe UI"/>
              </a:rPr>
              <a:t>Snippets or </a:t>
            </a:r>
            <a:r>
              <a:rPr lang="en-US" sz="2150" dirty="0">
                <a:solidFill>
                  <a:srgbClr val="000000"/>
                </a:solidFill>
                <a:latin typeface="Poppins"/>
                <a:ea typeface="Segoe UI"/>
                <a:cs typeface="Segoe UI"/>
              </a:rPr>
              <a:t>copy-pasted text</a:t>
            </a:r>
            <a:endParaRPr lang="en-US" dirty="0">
              <a:solidFill>
                <a:srgbClr val="000000"/>
              </a:solidFill>
              <a:latin typeface="Calibri"/>
              <a:ea typeface="Calibri"/>
              <a:cs typeface="Calibri"/>
            </a:endParaRPr>
          </a:p>
          <a:p>
            <a:pPr marL="342900" indent="-342900">
              <a:lnSpc>
                <a:spcPct val="150000"/>
              </a:lnSpc>
              <a:buFont typeface="Arial"/>
              <a:buChar char="•"/>
            </a:pPr>
            <a:r>
              <a:rPr lang="en-US" sz="2150" b="0" i="0" u="none" strike="noStrike" dirty="0">
                <a:solidFill>
                  <a:srgbClr val="000000"/>
                </a:solidFill>
                <a:latin typeface="Poppins"/>
                <a:ea typeface="Segoe UI"/>
                <a:cs typeface="Segoe UI"/>
              </a:rPr>
              <a:t>Internal incident reports or </a:t>
            </a:r>
            <a:r>
              <a:rPr lang="en-US" sz="2150" dirty="0">
                <a:solidFill>
                  <a:srgbClr val="000000"/>
                </a:solidFill>
                <a:latin typeface="Poppins"/>
                <a:ea typeface="Segoe UI"/>
                <a:cs typeface="Segoe UI"/>
              </a:rPr>
              <a:t>surveys </a:t>
            </a:r>
            <a:endParaRPr lang="en-US" dirty="0">
              <a:solidFill>
                <a:srgbClr val="000000"/>
              </a:solidFill>
              <a:latin typeface="Calibri"/>
              <a:ea typeface="Calibri"/>
              <a:cs typeface="Calibri"/>
            </a:endParaRPr>
          </a:p>
          <a:p>
            <a:pPr marL="342900" indent="-342900">
              <a:lnSpc>
                <a:spcPct val="150000"/>
              </a:lnSpc>
              <a:buFont typeface="Arial"/>
              <a:buChar char="•"/>
            </a:pPr>
            <a:r>
              <a:rPr lang="en-US" sz="2150" dirty="0">
                <a:solidFill>
                  <a:srgbClr val="000000"/>
                </a:solidFill>
                <a:latin typeface="Poppins"/>
                <a:ea typeface="Segoe UI"/>
                <a:cs typeface="Segoe UI"/>
              </a:rPr>
              <a:t>Handwritten</a:t>
            </a:r>
            <a:r>
              <a:rPr lang="en-US" sz="2150" b="0" i="0" u="none" strike="noStrike" dirty="0">
                <a:solidFill>
                  <a:srgbClr val="000000"/>
                </a:solidFill>
                <a:latin typeface="Poppins"/>
                <a:ea typeface="Segoe UI"/>
                <a:cs typeface="Segoe UI"/>
              </a:rPr>
              <a:t> notes or witness </a:t>
            </a:r>
            <a:r>
              <a:rPr lang="en-US" sz="2150" dirty="0">
                <a:solidFill>
                  <a:srgbClr val="000000"/>
                </a:solidFill>
                <a:latin typeface="Poppins"/>
                <a:ea typeface="Segoe UI"/>
                <a:cs typeface="Segoe UI"/>
              </a:rPr>
              <a:t>testimony</a:t>
            </a:r>
            <a:endParaRPr lang="en-US" dirty="0">
              <a:solidFill>
                <a:srgbClr val="000000"/>
              </a:solidFill>
              <a:latin typeface="Calibri"/>
              <a:ea typeface="Calibri"/>
              <a:cs typeface="Calibri"/>
            </a:endParaRPr>
          </a:p>
          <a:p>
            <a:pPr marL="342900" indent="-342900">
              <a:lnSpc>
                <a:spcPct val="150000"/>
              </a:lnSpc>
              <a:buFont typeface="Arial"/>
              <a:buChar char="•"/>
            </a:pPr>
            <a:r>
              <a:rPr lang="en-US" sz="2150" dirty="0">
                <a:solidFill>
                  <a:srgbClr val="000000"/>
                </a:solidFill>
                <a:latin typeface="Poppins"/>
                <a:ea typeface="Segoe UI"/>
                <a:cs typeface="Segoe UI"/>
              </a:rPr>
              <a:t>Police</a:t>
            </a:r>
            <a:r>
              <a:rPr lang="en-US" sz="2150" b="0" i="0" u="none" strike="noStrike" dirty="0">
                <a:solidFill>
                  <a:srgbClr val="000000"/>
                </a:solidFill>
                <a:latin typeface="Poppins"/>
                <a:ea typeface="Segoe UI"/>
                <a:cs typeface="Segoe UI"/>
              </a:rPr>
              <a:t> reports or court verdicts</a:t>
            </a:r>
            <a:r>
              <a:rPr sz="2150" b="0" i="0" dirty="0">
                <a:solidFill>
                  <a:srgbClr val="000000"/>
                </a:solidFill>
                <a:latin typeface="Poppins"/>
                <a:ea typeface="Poppins"/>
                <a:cs typeface="Poppins"/>
              </a:rPr>
              <a:t>​</a:t>
            </a:r>
            <a:endParaRPr lang="en-US" dirty="0">
              <a:ea typeface="Calibri"/>
              <a:cs typeface="Calibri"/>
            </a:endParaRPr>
          </a:p>
          <a:p>
            <a:pPr algn="ctr">
              <a:lnSpc>
                <a:spcPct val="150000"/>
              </a:lnSpc>
            </a:pPr>
            <a:endParaRPr lang="en-US" dirty="0"/>
          </a:p>
        </p:txBody>
      </p:sp>
      <p:sp>
        <p:nvSpPr>
          <p:cNvPr id="2" name="TextBox 2"/>
          <p:cNvSpPr txBox="1"/>
          <p:nvPr/>
        </p:nvSpPr>
        <p:spPr>
          <a:xfrm>
            <a:off x="1261839" y="622372"/>
            <a:ext cx="10776645" cy="934720"/>
          </a:xfrm>
          <a:prstGeom prst="rect">
            <a:avLst/>
          </a:prstGeom>
        </p:spPr>
        <p:txBody>
          <a:bodyPr lIns="0" tIns="0" rIns="0" bIns="0" rtlCol="0" anchor="t">
            <a:spAutoFit/>
          </a:bodyPr>
          <a:lstStyle/>
          <a:p>
            <a:pPr algn="ctr">
              <a:lnSpc>
                <a:spcPts val="7279"/>
              </a:lnSpc>
              <a:spcBef>
                <a:spcPct val="0"/>
              </a:spcBef>
            </a:pPr>
            <a:r>
              <a:rPr lang="en-US" sz="5199" b="1" dirty="0">
                <a:solidFill>
                  <a:srgbClr val="000000"/>
                </a:solidFill>
                <a:latin typeface="Poppins Bold"/>
                <a:ea typeface="Poppins Bold"/>
                <a:cs typeface="Poppins Bold"/>
                <a:sym typeface="Poppins Bold"/>
              </a:rPr>
              <a:t>Step 5 - Evidence Requirements</a:t>
            </a:r>
          </a:p>
        </p:txBody>
      </p:sp>
      <p:grpSp>
        <p:nvGrpSpPr>
          <p:cNvPr id="3" name="Group 3"/>
          <p:cNvGrpSpPr/>
          <p:nvPr/>
        </p:nvGrpSpPr>
        <p:grpSpPr>
          <a:xfrm>
            <a:off x="2479441" y="2047629"/>
            <a:ext cx="6510241" cy="2604429"/>
            <a:chOff x="0" y="0"/>
            <a:chExt cx="8680321" cy="3472572"/>
          </a:xfrm>
        </p:grpSpPr>
        <p:grpSp>
          <p:nvGrpSpPr>
            <p:cNvPr id="4" name="Group 4"/>
            <p:cNvGrpSpPr/>
            <p:nvPr/>
          </p:nvGrpSpPr>
          <p:grpSpPr>
            <a:xfrm>
              <a:off x="0" y="0"/>
              <a:ext cx="8527393" cy="3370956"/>
              <a:chOff x="0" y="0"/>
              <a:chExt cx="2094190" cy="827852"/>
            </a:xfrm>
          </p:grpSpPr>
          <p:sp>
            <p:nvSpPr>
              <p:cNvPr id="5" name="Freeform 5"/>
              <p:cNvSpPr/>
              <p:nvPr/>
            </p:nvSpPr>
            <p:spPr>
              <a:xfrm>
                <a:off x="0" y="0"/>
                <a:ext cx="2094190" cy="827852"/>
              </a:xfrm>
              <a:custGeom>
                <a:avLst/>
                <a:gdLst/>
                <a:ahLst/>
                <a:cxnLst/>
                <a:rect l="l" t="t" r="r" b="b"/>
                <a:pathLst>
                  <a:path w="2094190" h="827852">
                    <a:moveTo>
                      <a:pt x="61736" y="0"/>
                    </a:moveTo>
                    <a:lnTo>
                      <a:pt x="2032454" y="0"/>
                    </a:lnTo>
                    <a:cubicBezTo>
                      <a:pt x="2066550" y="0"/>
                      <a:pt x="2094190" y="27640"/>
                      <a:pt x="2094190" y="61736"/>
                    </a:cubicBezTo>
                    <a:lnTo>
                      <a:pt x="2094190" y="766116"/>
                    </a:lnTo>
                    <a:cubicBezTo>
                      <a:pt x="2094190" y="800212"/>
                      <a:pt x="2066550" y="827852"/>
                      <a:pt x="2032454" y="827852"/>
                    </a:cubicBezTo>
                    <a:lnTo>
                      <a:pt x="61736" y="827852"/>
                    </a:lnTo>
                    <a:cubicBezTo>
                      <a:pt x="27640" y="827852"/>
                      <a:pt x="0" y="800212"/>
                      <a:pt x="0" y="766116"/>
                    </a:cubicBezTo>
                    <a:lnTo>
                      <a:pt x="0" y="61736"/>
                    </a:lnTo>
                    <a:cubicBezTo>
                      <a:pt x="0" y="27640"/>
                      <a:pt x="27640" y="0"/>
                      <a:pt x="61736" y="0"/>
                    </a:cubicBezTo>
                    <a:close/>
                  </a:path>
                </a:pathLst>
              </a:custGeom>
              <a:solidFill>
                <a:srgbClr val="00EB5B"/>
              </a:solidFill>
            </p:spPr>
            <p:txBody>
              <a:bodyPr/>
              <a:lstStyle/>
              <a:p>
                <a:endParaRPr lang="en-US"/>
              </a:p>
            </p:txBody>
          </p:sp>
          <p:sp>
            <p:nvSpPr>
              <p:cNvPr id="6" name="TextBox 6"/>
              <p:cNvSpPr txBox="1"/>
              <p:nvPr/>
            </p:nvSpPr>
            <p:spPr>
              <a:xfrm>
                <a:off x="0" y="-47625"/>
                <a:ext cx="2094190" cy="875477"/>
              </a:xfrm>
              <a:prstGeom prst="rect">
                <a:avLst/>
              </a:prstGeom>
            </p:spPr>
            <p:txBody>
              <a:bodyPr lIns="40860" tIns="40860" rIns="40860" bIns="40860" rtlCol="0" anchor="ctr"/>
              <a:lstStyle/>
              <a:p>
                <a:pPr algn="ctr">
                  <a:lnSpc>
                    <a:spcPts val="2806"/>
                  </a:lnSpc>
                </a:pPr>
                <a:endParaRPr/>
              </a:p>
            </p:txBody>
          </p:sp>
        </p:grpSp>
        <p:grpSp>
          <p:nvGrpSpPr>
            <p:cNvPr id="7" name="Group 7"/>
            <p:cNvGrpSpPr/>
            <p:nvPr/>
          </p:nvGrpSpPr>
          <p:grpSpPr>
            <a:xfrm>
              <a:off x="152929" y="101616"/>
              <a:ext cx="8527393" cy="3370956"/>
              <a:chOff x="0" y="0"/>
              <a:chExt cx="2094190" cy="827852"/>
            </a:xfrm>
          </p:grpSpPr>
          <p:sp>
            <p:nvSpPr>
              <p:cNvPr id="8" name="Freeform 8"/>
              <p:cNvSpPr/>
              <p:nvPr/>
            </p:nvSpPr>
            <p:spPr>
              <a:xfrm>
                <a:off x="0" y="0"/>
                <a:ext cx="2094190" cy="827852"/>
              </a:xfrm>
              <a:custGeom>
                <a:avLst/>
                <a:gdLst/>
                <a:ahLst/>
                <a:cxnLst/>
                <a:rect l="l" t="t" r="r" b="b"/>
                <a:pathLst>
                  <a:path w="2094190" h="827852">
                    <a:moveTo>
                      <a:pt x="61736" y="0"/>
                    </a:moveTo>
                    <a:lnTo>
                      <a:pt x="2032454" y="0"/>
                    </a:lnTo>
                    <a:cubicBezTo>
                      <a:pt x="2066550" y="0"/>
                      <a:pt x="2094190" y="27640"/>
                      <a:pt x="2094190" y="61736"/>
                    </a:cubicBezTo>
                    <a:lnTo>
                      <a:pt x="2094190" y="766116"/>
                    </a:lnTo>
                    <a:cubicBezTo>
                      <a:pt x="2094190" y="800212"/>
                      <a:pt x="2066550" y="827852"/>
                      <a:pt x="2032454" y="827852"/>
                    </a:cubicBezTo>
                    <a:lnTo>
                      <a:pt x="61736" y="827852"/>
                    </a:lnTo>
                    <a:cubicBezTo>
                      <a:pt x="27640" y="827852"/>
                      <a:pt x="0" y="800212"/>
                      <a:pt x="0" y="766116"/>
                    </a:cubicBezTo>
                    <a:lnTo>
                      <a:pt x="0" y="61736"/>
                    </a:lnTo>
                    <a:cubicBezTo>
                      <a:pt x="0" y="27640"/>
                      <a:pt x="27640" y="0"/>
                      <a:pt x="61736" y="0"/>
                    </a:cubicBezTo>
                    <a:close/>
                  </a:path>
                </a:pathLst>
              </a:custGeom>
              <a:solidFill>
                <a:srgbClr val="FFFFFF"/>
              </a:solidFill>
              <a:ln w="19050" cap="rnd">
                <a:solidFill>
                  <a:srgbClr val="00EB5B"/>
                </a:solidFill>
                <a:prstDash val="solid"/>
                <a:round/>
              </a:ln>
            </p:spPr>
            <p:txBody>
              <a:bodyPr/>
              <a:lstStyle/>
              <a:p>
                <a:endParaRPr lang="en-US"/>
              </a:p>
            </p:txBody>
          </p:sp>
          <p:sp>
            <p:nvSpPr>
              <p:cNvPr id="9" name="TextBox 9"/>
              <p:cNvSpPr txBox="1"/>
              <p:nvPr/>
            </p:nvSpPr>
            <p:spPr>
              <a:xfrm>
                <a:off x="0" y="-47625"/>
                <a:ext cx="2094190" cy="875477"/>
              </a:xfrm>
              <a:prstGeom prst="rect">
                <a:avLst/>
              </a:prstGeom>
            </p:spPr>
            <p:txBody>
              <a:bodyPr lIns="40860" tIns="40860" rIns="40860" bIns="40860" rtlCol="0" anchor="ctr"/>
              <a:lstStyle/>
              <a:p>
                <a:pPr algn="ctr">
                  <a:lnSpc>
                    <a:spcPts val="2806"/>
                  </a:lnSpc>
                </a:pPr>
                <a:endParaRPr/>
              </a:p>
            </p:txBody>
          </p:sp>
        </p:grpSp>
      </p:grpSp>
      <p:sp>
        <p:nvSpPr>
          <p:cNvPr id="10" name="Freeform 10"/>
          <p:cNvSpPr/>
          <p:nvPr/>
        </p:nvSpPr>
        <p:spPr>
          <a:xfrm>
            <a:off x="8026867" y="4043230"/>
            <a:ext cx="552083" cy="316527"/>
          </a:xfrm>
          <a:custGeom>
            <a:avLst/>
            <a:gdLst/>
            <a:ahLst/>
            <a:cxnLst/>
            <a:rect l="l" t="t" r="r" b="b"/>
            <a:pathLst>
              <a:path w="552083" h="316527">
                <a:moveTo>
                  <a:pt x="0" y="0"/>
                </a:moveTo>
                <a:lnTo>
                  <a:pt x="552082" y="0"/>
                </a:lnTo>
                <a:lnTo>
                  <a:pt x="552082" y="316527"/>
                </a:lnTo>
                <a:lnTo>
                  <a:pt x="0" y="31652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11" name="TextBox 11"/>
          <p:cNvSpPr txBox="1"/>
          <p:nvPr/>
        </p:nvSpPr>
        <p:spPr>
          <a:xfrm>
            <a:off x="3368806" y="2923300"/>
            <a:ext cx="4580727" cy="782320"/>
          </a:xfrm>
          <a:prstGeom prst="rect">
            <a:avLst/>
          </a:prstGeom>
        </p:spPr>
        <p:txBody>
          <a:bodyPr lIns="0" tIns="0" rIns="0" bIns="0" rtlCol="0" anchor="t">
            <a:spAutoFit/>
          </a:bodyPr>
          <a:lstStyle/>
          <a:p>
            <a:pPr algn="ctr">
              <a:lnSpc>
                <a:spcPts val="3079"/>
              </a:lnSpc>
              <a:spcBef>
                <a:spcPct val="0"/>
              </a:spcBef>
            </a:pPr>
            <a:r>
              <a:rPr lang="en-US" sz="2199" dirty="0">
                <a:solidFill>
                  <a:srgbClr val="000000"/>
                </a:solidFill>
                <a:latin typeface="Poppins"/>
                <a:ea typeface="Poppins"/>
                <a:cs typeface="Poppins"/>
                <a:sym typeface="Poppins"/>
              </a:rPr>
              <a:t>Request evidence only if it helps with investigation</a:t>
            </a:r>
          </a:p>
        </p:txBody>
      </p:sp>
      <p:grpSp>
        <p:nvGrpSpPr>
          <p:cNvPr id="12" name="Group 12"/>
          <p:cNvGrpSpPr/>
          <p:nvPr/>
        </p:nvGrpSpPr>
        <p:grpSpPr>
          <a:xfrm>
            <a:off x="9298319" y="2047629"/>
            <a:ext cx="6510241" cy="2604429"/>
            <a:chOff x="0" y="0"/>
            <a:chExt cx="8680321" cy="3472572"/>
          </a:xfrm>
        </p:grpSpPr>
        <p:grpSp>
          <p:nvGrpSpPr>
            <p:cNvPr id="13" name="Group 13"/>
            <p:cNvGrpSpPr/>
            <p:nvPr/>
          </p:nvGrpSpPr>
          <p:grpSpPr>
            <a:xfrm>
              <a:off x="0" y="0"/>
              <a:ext cx="8527393" cy="3370956"/>
              <a:chOff x="0" y="0"/>
              <a:chExt cx="2094190" cy="827852"/>
            </a:xfrm>
          </p:grpSpPr>
          <p:sp>
            <p:nvSpPr>
              <p:cNvPr id="14" name="Freeform 14"/>
              <p:cNvSpPr/>
              <p:nvPr/>
            </p:nvSpPr>
            <p:spPr>
              <a:xfrm>
                <a:off x="0" y="0"/>
                <a:ext cx="2094190" cy="827852"/>
              </a:xfrm>
              <a:custGeom>
                <a:avLst/>
                <a:gdLst/>
                <a:ahLst/>
                <a:cxnLst/>
                <a:rect l="l" t="t" r="r" b="b"/>
                <a:pathLst>
                  <a:path w="2094190" h="827852">
                    <a:moveTo>
                      <a:pt x="61736" y="0"/>
                    </a:moveTo>
                    <a:lnTo>
                      <a:pt x="2032454" y="0"/>
                    </a:lnTo>
                    <a:cubicBezTo>
                      <a:pt x="2066550" y="0"/>
                      <a:pt x="2094190" y="27640"/>
                      <a:pt x="2094190" y="61736"/>
                    </a:cubicBezTo>
                    <a:lnTo>
                      <a:pt x="2094190" y="766116"/>
                    </a:lnTo>
                    <a:cubicBezTo>
                      <a:pt x="2094190" y="800212"/>
                      <a:pt x="2066550" y="827852"/>
                      <a:pt x="2032454" y="827852"/>
                    </a:cubicBezTo>
                    <a:lnTo>
                      <a:pt x="61736" y="827852"/>
                    </a:lnTo>
                    <a:cubicBezTo>
                      <a:pt x="27640" y="827852"/>
                      <a:pt x="0" y="800212"/>
                      <a:pt x="0" y="766116"/>
                    </a:cubicBezTo>
                    <a:lnTo>
                      <a:pt x="0" y="61736"/>
                    </a:lnTo>
                    <a:cubicBezTo>
                      <a:pt x="0" y="27640"/>
                      <a:pt x="27640" y="0"/>
                      <a:pt x="61736" y="0"/>
                    </a:cubicBezTo>
                    <a:close/>
                  </a:path>
                </a:pathLst>
              </a:custGeom>
              <a:solidFill>
                <a:srgbClr val="00EB5B"/>
              </a:solidFill>
            </p:spPr>
            <p:txBody>
              <a:bodyPr/>
              <a:lstStyle/>
              <a:p>
                <a:endParaRPr lang="en-US"/>
              </a:p>
            </p:txBody>
          </p:sp>
          <p:sp>
            <p:nvSpPr>
              <p:cNvPr id="15" name="TextBox 15"/>
              <p:cNvSpPr txBox="1"/>
              <p:nvPr/>
            </p:nvSpPr>
            <p:spPr>
              <a:xfrm>
                <a:off x="0" y="-47625"/>
                <a:ext cx="2094190" cy="875477"/>
              </a:xfrm>
              <a:prstGeom prst="rect">
                <a:avLst/>
              </a:prstGeom>
            </p:spPr>
            <p:txBody>
              <a:bodyPr lIns="40860" tIns="40860" rIns="40860" bIns="40860" rtlCol="0" anchor="ctr"/>
              <a:lstStyle/>
              <a:p>
                <a:pPr algn="ctr">
                  <a:lnSpc>
                    <a:spcPts val="2806"/>
                  </a:lnSpc>
                </a:pPr>
                <a:endParaRPr/>
              </a:p>
            </p:txBody>
          </p:sp>
        </p:grpSp>
        <p:grpSp>
          <p:nvGrpSpPr>
            <p:cNvPr id="16" name="Group 16"/>
            <p:cNvGrpSpPr/>
            <p:nvPr/>
          </p:nvGrpSpPr>
          <p:grpSpPr>
            <a:xfrm>
              <a:off x="152929" y="101616"/>
              <a:ext cx="8527393" cy="3370956"/>
              <a:chOff x="0" y="0"/>
              <a:chExt cx="2094190" cy="827852"/>
            </a:xfrm>
          </p:grpSpPr>
          <p:sp>
            <p:nvSpPr>
              <p:cNvPr id="17" name="Freeform 17"/>
              <p:cNvSpPr/>
              <p:nvPr/>
            </p:nvSpPr>
            <p:spPr>
              <a:xfrm>
                <a:off x="0" y="0"/>
                <a:ext cx="2094190" cy="827852"/>
              </a:xfrm>
              <a:custGeom>
                <a:avLst/>
                <a:gdLst/>
                <a:ahLst/>
                <a:cxnLst/>
                <a:rect l="l" t="t" r="r" b="b"/>
                <a:pathLst>
                  <a:path w="2094190" h="827852">
                    <a:moveTo>
                      <a:pt x="61736" y="0"/>
                    </a:moveTo>
                    <a:lnTo>
                      <a:pt x="2032454" y="0"/>
                    </a:lnTo>
                    <a:cubicBezTo>
                      <a:pt x="2066550" y="0"/>
                      <a:pt x="2094190" y="27640"/>
                      <a:pt x="2094190" y="61736"/>
                    </a:cubicBezTo>
                    <a:lnTo>
                      <a:pt x="2094190" y="766116"/>
                    </a:lnTo>
                    <a:cubicBezTo>
                      <a:pt x="2094190" y="800212"/>
                      <a:pt x="2066550" y="827852"/>
                      <a:pt x="2032454" y="827852"/>
                    </a:cubicBezTo>
                    <a:lnTo>
                      <a:pt x="61736" y="827852"/>
                    </a:lnTo>
                    <a:cubicBezTo>
                      <a:pt x="27640" y="827852"/>
                      <a:pt x="0" y="800212"/>
                      <a:pt x="0" y="766116"/>
                    </a:cubicBezTo>
                    <a:lnTo>
                      <a:pt x="0" y="61736"/>
                    </a:lnTo>
                    <a:cubicBezTo>
                      <a:pt x="0" y="27640"/>
                      <a:pt x="27640" y="0"/>
                      <a:pt x="61736" y="0"/>
                    </a:cubicBezTo>
                    <a:close/>
                  </a:path>
                </a:pathLst>
              </a:custGeom>
              <a:solidFill>
                <a:srgbClr val="FFFFFF"/>
              </a:solidFill>
              <a:ln w="19050" cap="rnd">
                <a:solidFill>
                  <a:srgbClr val="00EB5B"/>
                </a:solidFill>
                <a:prstDash val="solid"/>
                <a:round/>
              </a:ln>
            </p:spPr>
            <p:txBody>
              <a:bodyPr/>
              <a:lstStyle/>
              <a:p>
                <a:endParaRPr lang="en-US"/>
              </a:p>
            </p:txBody>
          </p:sp>
          <p:sp>
            <p:nvSpPr>
              <p:cNvPr id="18" name="TextBox 18"/>
              <p:cNvSpPr txBox="1"/>
              <p:nvPr/>
            </p:nvSpPr>
            <p:spPr>
              <a:xfrm>
                <a:off x="0" y="-47625"/>
                <a:ext cx="2094190" cy="875477"/>
              </a:xfrm>
              <a:prstGeom prst="rect">
                <a:avLst/>
              </a:prstGeom>
            </p:spPr>
            <p:txBody>
              <a:bodyPr lIns="40860" tIns="40860" rIns="40860" bIns="40860" rtlCol="0" anchor="ctr"/>
              <a:lstStyle/>
              <a:p>
                <a:pPr algn="ctr">
                  <a:lnSpc>
                    <a:spcPts val="2806"/>
                  </a:lnSpc>
                </a:pPr>
                <a:endParaRPr/>
              </a:p>
            </p:txBody>
          </p:sp>
        </p:grpSp>
      </p:grpSp>
      <p:sp>
        <p:nvSpPr>
          <p:cNvPr id="19" name="Freeform 19"/>
          <p:cNvSpPr/>
          <p:nvPr/>
        </p:nvSpPr>
        <p:spPr>
          <a:xfrm>
            <a:off x="14845745" y="4043230"/>
            <a:ext cx="552083" cy="316527"/>
          </a:xfrm>
          <a:custGeom>
            <a:avLst/>
            <a:gdLst/>
            <a:ahLst/>
            <a:cxnLst/>
            <a:rect l="l" t="t" r="r" b="b"/>
            <a:pathLst>
              <a:path w="552083" h="316527">
                <a:moveTo>
                  <a:pt x="0" y="0"/>
                </a:moveTo>
                <a:lnTo>
                  <a:pt x="552083" y="0"/>
                </a:lnTo>
                <a:lnTo>
                  <a:pt x="552083" y="316527"/>
                </a:lnTo>
                <a:lnTo>
                  <a:pt x="0" y="31652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20" name="TextBox 20"/>
          <p:cNvSpPr txBox="1"/>
          <p:nvPr/>
        </p:nvSpPr>
        <p:spPr>
          <a:xfrm>
            <a:off x="9679379" y="2921938"/>
            <a:ext cx="6129180" cy="1475532"/>
          </a:xfrm>
          <a:prstGeom prst="rect">
            <a:avLst/>
          </a:prstGeom>
        </p:spPr>
        <p:txBody>
          <a:bodyPr wrap="square" lIns="0" tIns="0" rIns="0" bIns="0" rtlCol="0" anchor="t">
            <a:spAutoFit/>
          </a:bodyPr>
          <a:lstStyle/>
          <a:p>
            <a:pPr marL="342900" indent="-342900">
              <a:lnSpc>
                <a:spcPct val="150000"/>
              </a:lnSpc>
              <a:spcBef>
                <a:spcPct val="0"/>
              </a:spcBef>
              <a:buFont typeface="Arial"/>
              <a:buChar char="•"/>
            </a:pPr>
            <a:r>
              <a:rPr lang="en-US" sz="2200" dirty="0">
                <a:solidFill>
                  <a:srgbClr val="000000"/>
                </a:solidFill>
                <a:latin typeface="Poppins"/>
                <a:ea typeface="Poppins"/>
                <a:cs typeface="Poppins"/>
                <a:sym typeface="Poppins"/>
              </a:rPr>
              <a:t> Full email threads (PDF/Screenshot)</a:t>
            </a:r>
            <a:endParaRPr lang="en-US" sz="2200" dirty="0">
              <a:solidFill>
                <a:srgbClr val="000000"/>
              </a:solidFill>
              <a:latin typeface="Poppins"/>
              <a:ea typeface="Poppins"/>
              <a:cs typeface="Poppins"/>
            </a:endParaRPr>
          </a:p>
          <a:p>
            <a:pPr marL="342900" indent="-342900">
              <a:lnSpc>
                <a:spcPct val="150000"/>
              </a:lnSpc>
              <a:spcBef>
                <a:spcPct val="0"/>
              </a:spcBef>
              <a:buFont typeface="Arial"/>
              <a:buChar char="•"/>
            </a:pPr>
            <a:r>
              <a:rPr lang="en-US" sz="2200" dirty="0">
                <a:solidFill>
                  <a:srgbClr val="000000"/>
                </a:solidFill>
                <a:latin typeface="Poppins"/>
                <a:ea typeface="Poppins"/>
                <a:cs typeface="Poppins"/>
                <a:sym typeface="Poppins"/>
              </a:rPr>
              <a:t>social media profiles, ex-employee info</a:t>
            </a:r>
            <a:endParaRPr lang="en-US" sz="2200" dirty="0">
              <a:solidFill>
                <a:srgbClr val="000000"/>
              </a:solidFill>
              <a:latin typeface="Poppins"/>
              <a:ea typeface="Poppins"/>
              <a:cs typeface="Poppins"/>
            </a:endParaRPr>
          </a:p>
          <a:p>
            <a:pPr marL="342900" indent="-342900">
              <a:lnSpc>
                <a:spcPct val="150000"/>
              </a:lnSpc>
              <a:spcBef>
                <a:spcPct val="0"/>
              </a:spcBef>
              <a:buFont typeface="Arial"/>
              <a:buChar char="•"/>
            </a:pPr>
            <a:r>
              <a:rPr lang="en-US" sz="2200" dirty="0">
                <a:solidFill>
                  <a:srgbClr val="000000"/>
                </a:solidFill>
                <a:latin typeface="Poppins"/>
                <a:ea typeface="Poppins"/>
                <a:cs typeface="Poppins"/>
                <a:sym typeface="Poppins"/>
              </a:rPr>
              <a:t>competitor links.</a:t>
            </a:r>
            <a:endParaRPr lang="en-US" sz="2200" dirty="0">
              <a:solidFill>
                <a:srgbClr val="000000"/>
              </a:solidFill>
              <a:latin typeface="Poppins"/>
              <a:ea typeface="Poppins"/>
              <a:cs typeface="Poppins"/>
            </a:endParaRPr>
          </a:p>
        </p:txBody>
      </p:sp>
      <p:sp>
        <p:nvSpPr>
          <p:cNvPr id="29" name="TextBox 29"/>
          <p:cNvSpPr txBox="1"/>
          <p:nvPr/>
        </p:nvSpPr>
        <p:spPr>
          <a:xfrm>
            <a:off x="6275609" y="4993285"/>
            <a:ext cx="5712780" cy="375359"/>
          </a:xfrm>
          <a:prstGeom prst="rect">
            <a:avLst/>
          </a:prstGeom>
        </p:spPr>
        <p:txBody>
          <a:bodyPr lIns="0" tIns="0" rIns="0" bIns="0" rtlCol="0" anchor="t">
            <a:spAutoFit/>
          </a:bodyPr>
          <a:lstStyle/>
          <a:p>
            <a:pPr algn="ctr">
              <a:lnSpc>
                <a:spcPts val="3079"/>
              </a:lnSpc>
              <a:spcBef>
                <a:spcPct val="0"/>
              </a:spcBef>
            </a:pPr>
            <a:r>
              <a:rPr lang="en-US" sz="2200" b="1" dirty="0">
                <a:solidFill>
                  <a:srgbClr val="000000"/>
                </a:solidFill>
                <a:latin typeface="Poppins"/>
                <a:ea typeface="Poppins"/>
                <a:cs typeface="Poppins"/>
                <a:sym typeface="Poppins"/>
              </a:rPr>
              <a:t>Not accepted: </a:t>
            </a:r>
            <a:endParaRPr lang="en-US" sz="2200" dirty="0">
              <a:solidFill>
                <a:srgbClr val="000000"/>
              </a:solidFill>
              <a:latin typeface="Poppins"/>
              <a:ea typeface="Poppins"/>
              <a:cs typeface="Poppins"/>
            </a:endParaRPr>
          </a:p>
        </p:txBody>
      </p:sp>
      <p:grpSp>
        <p:nvGrpSpPr>
          <p:cNvPr id="41" name="Group 40">
            <a:extLst>
              <a:ext uri="{FF2B5EF4-FFF2-40B4-BE49-F238E27FC236}">
                <a16:creationId xmlns:a16="http://schemas.microsoft.com/office/drawing/2014/main" id="{9660B430-6138-9401-0115-F55752977237}"/>
              </a:ext>
            </a:extLst>
          </p:cNvPr>
          <p:cNvGrpSpPr/>
          <p:nvPr/>
        </p:nvGrpSpPr>
        <p:grpSpPr>
          <a:xfrm>
            <a:off x="1395189" y="7380313"/>
            <a:ext cx="14606443" cy="1899981"/>
            <a:chOff x="1395189" y="7380313"/>
            <a:chExt cx="14606443" cy="1899981"/>
          </a:xfrm>
        </p:grpSpPr>
        <p:grpSp>
          <p:nvGrpSpPr>
            <p:cNvPr id="30" name="Group 30"/>
            <p:cNvGrpSpPr/>
            <p:nvPr/>
          </p:nvGrpSpPr>
          <p:grpSpPr>
            <a:xfrm>
              <a:off x="1558373" y="7696624"/>
              <a:ext cx="14443259" cy="1583670"/>
              <a:chOff x="0" y="0"/>
              <a:chExt cx="3803986" cy="417098"/>
            </a:xfrm>
          </p:grpSpPr>
          <p:sp>
            <p:nvSpPr>
              <p:cNvPr id="31" name="Freeform 31"/>
              <p:cNvSpPr/>
              <p:nvPr/>
            </p:nvSpPr>
            <p:spPr>
              <a:xfrm>
                <a:off x="0" y="0"/>
                <a:ext cx="3803986" cy="417098"/>
              </a:xfrm>
              <a:custGeom>
                <a:avLst/>
                <a:gdLst/>
                <a:ahLst/>
                <a:cxnLst/>
                <a:rect l="l" t="t" r="r" b="b"/>
                <a:pathLst>
                  <a:path w="3803986" h="417098">
                    <a:moveTo>
                      <a:pt x="27337" y="0"/>
                    </a:moveTo>
                    <a:lnTo>
                      <a:pt x="3776649" y="0"/>
                    </a:lnTo>
                    <a:cubicBezTo>
                      <a:pt x="3783899" y="0"/>
                      <a:pt x="3790852" y="2880"/>
                      <a:pt x="3795979" y="8007"/>
                    </a:cubicBezTo>
                    <a:cubicBezTo>
                      <a:pt x="3801106" y="13134"/>
                      <a:pt x="3803986" y="20087"/>
                      <a:pt x="3803986" y="27337"/>
                    </a:cubicBezTo>
                    <a:lnTo>
                      <a:pt x="3803986" y="389761"/>
                    </a:lnTo>
                    <a:cubicBezTo>
                      <a:pt x="3803986" y="404859"/>
                      <a:pt x="3791747" y="417098"/>
                      <a:pt x="3776649" y="417098"/>
                    </a:cubicBezTo>
                    <a:lnTo>
                      <a:pt x="27337" y="417098"/>
                    </a:lnTo>
                    <a:cubicBezTo>
                      <a:pt x="20087" y="417098"/>
                      <a:pt x="13134" y="414218"/>
                      <a:pt x="8007" y="409091"/>
                    </a:cubicBezTo>
                    <a:cubicBezTo>
                      <a:pt x="2880" y="403965"/>
                      <a:pt x="0" y="397011"/>
                      <a:pt x="0" y="389761"/>
                    </a:cubicBezTo>
                    <a:lnTo>
                      <a:pt x="0" y="27337"/>
                    </a:lnTo>
                    <a:cubicBezTo>
                      <a:pt x="0" y="20087"/>
                      <a:pt x="2880" y="13134"/>
                      <a:pt x="8007" y="8007"/>
                    </a:cubicBezTo>
                    <a:cubicBezTo>
                      <a:pt x="13134" y="2880"/>
                      <a:pt x="20087" y="0"/>
                      <a:pt x="27337" y="0"/>
                    </a:cubicBezTo>
                    <a:close/>
                  </a:path>
                </a:pathLst>
              </a:custGeom>
              <a:solidFill>
                <a:srgbClr val="FFFFFF"/>
              </a:solidFill>
              <a:ln w="19050" cap="rnd">
                <a:solidFill>
                  <a:srgbClr val="00763D"/>
                </a:solidFill>
                <a:prstDash val="solid"/>
                <a:round/>
              </a:ln>
            </p:spPr>
            <p:txBody>
              <a:bodyPr/>
              <a:lstStyle/>
              <a:p>
                <a:endParaRPr lang="en-US"/>
              </a:p>
            </p:txBody>
          </p:sp>
          <p:sp>
            <p:nvSpPr>
              <p:cNvPr id="32" name="TextBox 32"/>
              <p:cNvSpPr txBox="1"/>
              <p:nvPr/>
            </p:nvSpPr>
            <p:spPr>
              <a:xfrm>
                <a:off x="0" y="-47625"/>
                <a:ext cx="3803986" cy="464723"/>
              </a:xfrm>
              <a:prstGeom prst="rect">
                <a:avLst/>
              </a:prstGeom>
            </p:spPr>
            <p:txBody>
              <a:bodyPr lIns="50800" tIns="50800" rIns="50800" bIns="50800" rtlCol="0" anchor="ctr"/>
              <a:lstStyle/>
              <a:p>
                <a:pPr algn="ctr">
                  <a:lnSpc>
                    <a:spcPts val="2806"/>
                  </a:lnSpc>
                </a:pPr>
                <a:endParaRPr/>
              </a:p>
            </p:txBody>
          </p:sp>
        </p:grpSp>
        <p:sp>
          <p:nvSpPr>
            <p:cNvPr id="33" name="TextBox 33"/>
            <p:cNvSpPr txBox="1"/>
            <p:nvPr/>
          </p:nvSpPr>
          <p:spPr>
            <a:xfrm>
              <a:off x="2275183" y="7821426"/>
              <a:ext cx="13533376" cy="1344214"/>
            </a:xfrm>
            <a:prstGeom prst="rect">
              <a:avLst/>
            </a:prstGeom>
          </p:spPr>
          <p:txBody>
            <a:bodyPr wrap="square" lIns="0" tIns="0" rIns="0" bIns="0" rtlCol="0" anchor="t">
              <a:spAutoFit/>
            </a:bodyPr>
            <a:lstStyle/>
            <a:p>
              <a:pPr algn="l">
                <a:lnSpc>
                  <a:spcPct val="150000"/>
                </a:lnSpc>
                <a:spcBef>
                  <a:spcPct val="0"/>
                </a:spcBef>
              </a:pPr>
              <a:r>
                <a:rPr lang="en-US" sz="2004" b="1" dirty="0">
                  <a:solidFill>
                    <a:srgbClr val="000000"/>
                  </a:solidFill>
                  <a:latin typeface="Poppins Bold"/>
                  <a:ea typeface="Poppins Bold"/>
                  <a:cs typeface="Poppins Bold"/>
                  <a:sym typeface="Poppins Bold"/>
                </a:rPr>
                <a:t>Note: </a:t>
              </a:r>
              <a:r>
                <a:rPr lang="en-US" sz="2004" dirty="0">
                  <a:solidFill>
                    <a:srgbClr val="000000"/>
                  </a:solidFill>
                  <a:latin typeface="Poppins"/>
                  <a:ea typeface="Poppins"/>
                  <a:cs typeface="Poppins"/>
                  <a:sym typeface="Poppins"/>
                </a:rPr>
                <a:t>When checking a name given by the owner as proof, always compare it with the name on the live site or member tool. Remember, the "display name" on the URD may not be the same as the "</a:t>
              </a:r>
              <a:r>
                <a:rPr lang="en-US" sz="2004" dirty="0" err="1">
                  <a:solidFill>
                    <a:srgbClr val="000000"/>
                  </a:solidFill>
                  <a:latin typeface="Poppins"/>
                  <a:ea typeface="Poppins"/>
                  <a:cs typeface="Poppins"/>
                  <a:sym typeface="Poppins"/>
                </a:rPr>
                <a:t>displayname</a:t>
              </a:r>
              <a:r>
                <a:rPr lang="en-US" sz="2004" dirty="0">
                  <a:solidFill>
                    <a:srgbClr val="000000"/>
                  </a:solidFill>
                  <a:latin typeface="Poppins"/>
                  <a:ea typeface="Poppins"/>
                  <a:cs typeface="Poppins"/>
                  <a:sym typeface="Poppins"/>
                </a:rPr>
                <a:t>" shown on the member tool or live site.</a:t>
              </a:r>
            </a:p>
          </p:txBody>
        </p:sp>
        <p:grpSp>
          <p:nvGrpSpPr>
            <p:cNvPr id="34" name="Group 34"/>
            <p:cNvGrpSpPr/>
            <p:nvPr/>
          </p:nvGrpSpPr>
          <p:grpSpPr>
            <a:xfrm>
              <a:off x="1395189" y="7380313"/>
              <a:ext cx="882228" cy="882228"/>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36" name="TextBox 36"/>
              <p:cNvSpPr txBox="1"/>
              <p:nvPr/>
            </p:nvSpPr>
            <p:spPr>
              <a:xfrm>
                <a:off x="76200" y="28575"/>
                <a:ext cx="660400" cy="708025"/>
              </a:xfrm>
              <a:prstGeom prst="rect">
                <a:avLst/>
              </a:prstGeom>
            </p:spPr>
            <p:txBody>
              <a:bodyPr lIns="50800" tIns="50800" rIns="50800" bIns="50800" rtlCol="0" anchor="ctr"/>
              <a:lstStyle/>
              <a:p>
                <a:pPr algn="ctr">
                  <a:lnSpc>
                    <a:spcPts val="2806"/>
                  </a:lnSpc>
                </a:pPr>
                <a:endParaRPr/>
              </a:p>
            </p:txBody>
          </p:sp>
        </p:grpSp>
        <p:sp>
          <p:nvSpPr>
            <p:cNvPr id="37" name="Freeform 37"/>
            <p:cNvSpPr/>
            <p:nvPr/>
          </p:nvSpPr>
          <p:spPr>
            <a:xfrm>
              <a:off x="1570133" y="7555256"/>
              <a:ext cx="532340" cy="532340"/>
            </a:xfrm>
            <a:custGeom>
              <a:avLst/>
              <a:gdLst/>
              <a:ahLst/>
              <a:cxnLst/>
              <a:rect l="l" t="t" r="r" b="b"/>
              <a:pathLst>
                <a:path w="532340" h="532340">
                  <a:moveTo>
                    <a:pt x="0" y="0"/>
                  </a:moveTo>
                  <a:lnTo>
                    <a:pt x="532341" y="0"/>
                  </a:lnTo>
                  <a:lnTo>
                    <a:pt x="532341" y="532341"/>
                  </a:lnTo>
                  <a:lnTo>
                    <a:pt x="0" y="53234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sp>
        <p:nvSpPr>
          <p:cNvPr id="39" name="TextBox 38">
            <a:extLst>
              <a:ext uri="{FF2B5EF4-FFF2-40B4-BE49-F238E27FC236}">
                <a16:creationId xmlns:a16="http://schemas.microsoft.com/office/drawing/2014/main" id="{82ACE776-5DB8-42BC-2C82-AA9A82988A98}"/>
              </a:ext>
            </a:extLst>
          </p:cNvPr>
          <p:cNvSpPr txBox="1"/>
          <p:nvPr/>
        </p:nvSpPr>
        <p:spPr>
          <a:xfrm>
            <a:off x="600003" y="9661691"/>
            <a:ext cx="10000001" cy="314772"/>
          </a:xfrm>
          <a:prstGeom prst="rect">
            <a:avLst/>
          </a:prstGeom>
          <a:noFill/>
        </p:spPr>
        <p:txBody>
          <a:bodyPr wrap="square" anchor="t">
            <a:spAutoFit/>
          </a:bodyPr>
          <a:lstStyle>
            <a:defPPr>
              <a:defRPr lang="en-US"/>
            </a:defPPr>
            <a:lvl1pPr defTabSz="914445">
              <a:defRPr sz="1400">
                <a:solidFill>
                  <a:srgbClr val="8A8272"/>
                </a:solidFill>
                <a:latin typeface="Poppins"/>
              </a:defRPr>
            </a:lvl1pPr>
            <a:lvl2pPr marL="685800" defTabSz="1371600">
              <a:defRPr sz="2700"/>
            </a:lvl2pPr>
            <a:lvl3pPr marL="1371600" defTabSz="1371600">
              <a:defRPr sz="2700"/>
            </a:lvl3pPr>
            <a:lvl4pPr marL="2057400" defTabSz="1371600">
              <a:defRPr sz="2700"/>
            </a:lvl4pPr>
            <a:lvl5pPr marL="2743200" defTabSz="1371600">
              <a:defRPr sz="2700"/>
            </a:lvl5pPr>
            <a:lvl6pPr marL="3429000" defTabSz="1371600">
              <a:defRPr sz="2700"/>
            </a:lvl6pPr>
            <a:lvl7pPr marL="4114800" defTabSz="1371600">
              <a:defRPr sz="2700"/>
            </a:lvl7pPr>
            <a:lvl8pPr marL="4800600" defTabSz="1371600">
              <a:defRPr sz="2700"/>
            </a:lvl8pPr>
            <a:lvl9pPr marL="5486400" defTabSz="1371600">
              <a:defRPr sz="2700"/>
            </a:lvl9pPr>
          </a:lstStyle>
          <a:p>
            <a:pPr defTabSz="914441"/>
            <a:r>
              <a:rPr dirty="0"/>
              <a:t>T</a:t>
            </a:r>
            <a:r>
              <a:rPr lang="en-US" dirty="0"/>
              <a:t>ripadvisor / Owner Review Disputes</a:t>
            </a:r>
            <a:endParaRPr dirty="0"/>
          </a:p>
        </p:txBody>
      </p:sp>
      <p:sp>
        <p:nvSpPr>
          <p:cNvPr id="38" name="TextBox 37">
            <a:extLst>
              <a:ext uri="{FF2B5EF4-FFF2-40B4-BE49-F238E27FC236}">
                <a16:creationId xmlns:a16="http://schemas.microsoft.com/office/drawing/2014/main" id="{D1C69B4B-373A-EB9A-2741-76704B561B35}"/>
              </a:ext>
            </a:extLst>
          </p:cNvPr>
          <p:cNvSpPr txBox="1"/>
          <p:nvPr/>
        </p:nvSpPr>
        <p:spPr>
          <a:xfrm>
            <a:off x="10549786" y="2341040"/>
            <a:ext cx="9144000"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b="1" i="0" u="none" strike="noStrike" dirty="0">
                <a:solidFill>
                  <a:srgbClr val="000000"/>
                </a:solidFill>
                <a:latin typeface="Poppins"/>
              </a:rPr>
              <a:t>Accepted evidence includes:</a:t>
            </a:r>
            <a:r>
              <a:rPr sz="2200" b="0" i="0" dirty="0">
                <a:solidFill>
                  <a:srgbClr val="000000"/>
                </a:solidFill>
                <a:latin typeface="Poppins"/>
                <a:ea typeface="Poppins"/>
                <a:cs typeface="Poppins"/>
              </a:rPr>
              <a:t>​</a:t>
            </a:r>
            <a:endParaRPr lang="en-US" sz="2200" dirty="0"/>
          </a:p>
        </p:txBody>
      </p:sp>
      <p:sp>
        <p:nvSpPr>
          <p:cNvPr id="28" name="Freeform 28"/>
          <p:cNvSpPr/>
          <p:nvPr/>
        </p:nvSpPr>
        <p:spPr>
          <a:xfrm>
            <a:off x="11661003" y="6887266"/>
            <a:ext cx="552083" cy="316527"/>
          </a:xfrm>
          <a:custGeom>
            <a:avLst/>
            <a:gdLst/>
            <a:ahLst/>
            <a:cxnLst/>
            <a:rect l="l" t="t" r="r" b="b"/>
            <a:pathLst>
              <a:path w="552083" h="316527">
                <a:moveTo>
                  <a:pt x="0" y="0"/>
                </a:moveTo>
                <a:lnTo>
                  <a:pt x="552083" y="0"/>
                </a:lnTo>
                <a:lnTo>
                  <a:pt x="552083" y="316527"/>
                </a:lnTo>
                <a:lnTo>
                  <a:pt x="0" y="31652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9053" y="2479913"/>
            <a:ext cx="5449371" cy="6557161"/>
            <a:chOff x="0" y="0"/>
            <a:chExt cx="7265828" cy="8742881"/>
          </a:xfrm>
        </p:grpSpPr>
        <p:grpSp>
          <p:nvGrpSpPr>
            <p:cNvPr id="3" name="Group 3"/>
            <p:cNvGrpSpPr/>
            <p:nvPr/>
          </p:nvGrpSpPr>
          <p:grpSpPr>
            <a:xfrm>
              <a:off x="0" y="0"/>
              <a:ext cx="7265828" cy="8742881"/>
              <a:chOff x="0" y="0"/>
              <a:chExt cx="1435225" cy="1726989"/>
            </a:xfrm>
          </p:grpSpPr>
          <p:sp>
            <p:nvSpPr>
              <p:cNvPr id="4" name="Freeform 4"/>
              <p:cNvSpPr/>
              <p:nvPr/>
            </p:nvSpPr>
            <p:spPr>
              <a:xfrm>
                <a:off x="0" y="0"/>
                <a:ext cx="1435225" cy="1726989"/>
              </a:xfrm>
              <a:custGeom>
                <a:avLst/>
                <a:gdLst/>
                <a:ahLst/>
                <a:cxnLst/>
                <a:rect l="l" t="t" r="r" b="b"/>
                <a:pathLst>
                  <a:path w="1435225" h="1726989">
                    <a:moveTo>
                      <a:pt x="72456" y="0"/>
                    </a:moveTo>
                    <a:lnTo>
                      <a:pt x="1362770" y="0"/>
                    </a:lnTo>
                    <a:cubicBezTo>
                      <a:pt x="1402786" y="0"/>
                      <a:pt x="1435225" y="32440"/>
                      <a:pt x="1435225" y="72456"/>
                    </a:cubicBezTo>
                    <a:lnTo>
                      <a:pt x="1435225" y="1654533"/>
                    </a:lnTo>
                    <a:cubicBezTo>
                      <a:pt x="1435225" y="1694549"/>
                      <a:pt x="1402786" y="1726989"/>
                      <a:pt x="1362770" y="1726989"/>
                    </a:cubicBezTo>
                    <a:lnTo>
                      <a:pt x="72456" y="1726989"/>
                    </a:lnTo>
                    <a:cubicBezTo>
                      <a:pt x="32440" y="1726989"/>
                      <a:pt x="0" y="1694549"/>
                      <a:pt x="0" y="1654533"/>
                    </a:cubicBezTo>
                    <a:lnTo>
                      <a:pt x="0" y="72456"/>
                    </a:lnTo>
                    <a:cubicBezTo>
                      <a:pt x="0" y="32440"/>
                      <a:pt x="32440" y="0"/>
                      <a:pt x="72456" y="0"/>
                    </a:cubicBezTo>
                    <a:close/>
                  </a:path>
                </a:pathLst>
              </a:custGeom>
              <a:solidFill>
                <a:srgbClr val="145F49"/>
              </a:solidFill>
            </p:spPr>
            <p:txBody>
              <a:bodyPr/>
              <a:lstStyle/>
              <a:p>
                <a:endParaRPr lang="en-US"/>
              </a:p>
            </p:txBody>
          </p:sp>
          <p:sp>
            <p:nvSpPr>
              <p:cNvPr id="5" name="TextBox 5"/>
              <p:cNvSpPr txBox="1"/>
              <p:nvPr/>
            </p:nvSpPr>
            <p:spPr>
              <a:xfrm>
                <a:off x="0" y="-47625"/>
                <a:ext cx="1435225" cy="1774614"/>
              </a:xfrm>
              <a:prstGeom prst="rect">
                <a:avLst/>
              </a:prstGeom>
            </p:spPr>
            <p:txBody>
              <a:bodyPr lIns="50800" tIns="50800" rIns="50800" bIns="50800" rtlCol="0" anchor="ctr"/>
              <a:lstStyle/>
              <a:p>
                <a:pPr algn="ctr">
                  <a:lnSpc>
                    <a:spcPts val="2806"/>
                  </a:lnSpc>
                </a:pPr>
                <a:endParaRPr/>
              </a:p>
            </p:txBody>
          </p:sp>
        </p:grpSp>
        <p:grpSp>
          <p:nvGrpSpPr>
            <p:cNvPr id="6" name="Group 6"/>
            <p:cNvGrpSpPr/>
            <p:nvPr/>
          </p:nvGrpSpPr>
          <p:grpSpPr>
            <a:xfrm>
              <a:off x="166984" y="290964"/>
              <a:ext cx="6931861" cy="8160952"/>
              <a:chOff x="0" y="0"/>
              <a:chExt cx="1369256" cy="1612040"/>
            </a:xfrm>
          </p:grpSpPr>
          <p:sp>
            <p:nvSpPr>
              <p:cNvPr id="7" name="Freeform 7"/>
              <p:cNvSpPr/>
              <p:nvPr/>
            </p:nvSpPr>
            <p:spPr>
              <a:xfrm>
                <a:off x="0" y="0"/>
                <a:ext cx="1369256" cy="1612040"/>
              </a:xfrm>
              <a:custGeom>
                <a:avLst/>
                <a:gdLst/>
                <a:ahLst/>
                <a:cxnLst/>
                <a:rect l="l" t="t" r="r" b="b"/>
                <a:pathLst>
                  <a:path w="1369256" h="1612040">
                    <a:moveTo>
                      <a:pt x="75947" y="0"/>
                    </a:moveTo>
                    <a:lnTo>
                      <a:pt x="1293310" y="0"/>
                    </a:lnTo>
                    <a:cubicBezTo>
                      <a:pt x="1335254" y="0"/>
                      <a:pt x="1369256" y="34002"/>
                      <a:pt x="1369256" y="75947"/>
                    </a:cubicBezTo>
                    <a:lnTo>
                      <a:pt x="1369256" y="1536093"/>
                    </a:lnTo>
                    <a:cubicBezTo>
                      <a:pt x="1369256" y="1578037"/>
                      <a:pt x="1335254" y="1612040"/>
                      <a:pt x="1293310" y="1612040"/>
                    </a:cubicBezTo>
                    <a:lnTo>
                      <a:pt x="75947" y="1612040"/>
                    </a:lnTo>
                    <a:cubicBezTo>
                      <a:pt x="34002" y="1612040"/>
                      <a:pt x="0" y="1578037"/>
                      <a:pt x="0" y="1536093"/>
                    </a:cubicBezTo>
                    <a:lnTo>
                      <a:pt x="0" y="75947"/>
                    </a:lnTo>
                    <a:cubicBezTo>
                      <a:pt x="0" y="34002"/>
                      <a:pt x="34002" y="0"/>
                      <a:pt x="75947" y="0"/>
                    </a:cubicBezTo>
                    <a:close/>
                  </a:path>
                </a:pathLst>
              </a:custGeom>
              <a:solidFill>
                <a:srgbClr val="FFFFFF"/>
              </a:solidFill>
            </p:spPr>
            <p:txBody>
              <a:bodyPr/>
              <a:lstStyle/>
              <a:p>
                <a:endParaRPr lang="en-US"/>
              </a:p>
            </p:txBody>
          </p:sp>
          <p:sp>
            <p:nvSpPr>
              <p:cNvPr id="8" name="TextBox 8"/>
              <p:cNvSpPr txBox="1"/>
              <p:nvPr/>
            </p:nvSpPr>
            <p:spPr>
              <a:xfrm>
                <a:off x="0" y="-47625"/>
                <a:ext cx="1369256" cy="1659665"/>
              </a:xfrm>
              <a:prstGeom prst="rect">
                <a:avLst/>
              </a:prstGeom>
            </p:spPr>
            <p:txBody>
              <a:bodyPr lIns="50800" tIns="50800" rIns="50800" bIns="50800" rtlCol="0" anchor="ctr"/>
              <a:lstStyle/>
              <a:p>
                <a:pPr algn="ctr">
                  <a:lnSpc>
                    <a:spcPts val="2806"/>
                  </a:lnSpc>
                </a:pPr>
                <a:endParaRPr/>
              </a:p>
            </p:txBody>
          </p:sp>
        </p:grpSp>
      </p:grpSp>
      <p:grpSp>
        <p:nvGrpSpPr>
          <p:cNvPr id="9" name="Group 9"/>
          <p:cNvGrpSpPr/>
          <p:nvPr/>
        </p:nvGrpSpPr>
        <p:grpSpPr>
          <a:xfrm>
            <a:off x="6419315" y="2479913"/>
            <a:ext cx="5449371" cy="6557161"/>
            <a:chOff x="0" y="0"/>
            <a:chExt cx="7265828" cy="8742881"/>
          </a:xfrm>
        </p:grpSpPr>
        <p:grpSp>
          <p:nvGrpSpPr>
            <p:cNvPr id="10" name="Group 10"/>
            <p:cNvGrpSpPr/>
            <p:nvPr/>
          </p:nvGrpSpPr>
          <p:grpSpPr>
            <a:xfrm>
              <a:off x="0" y="0"/>
              <a:ext cx="7265828" cy="8742881"/>
              <a:chOff x="0" y="0"/>
              <a:chExt cx="1435225" cy="1726989"/>
            </a:xfrm>
          </p:grpSpPr>
          <p:sp>
            <p:nvSpPr>
              <p:cNvPr id="11" name="Freeform 11"/>
              <p:cNvSpPr/>
              <p:nvPr/>
            </p:nvSpPr>
            <p:spPr>
              <a:xfrm>
                <a:off x="0" y="0"/>
                <a:ext cx="1435225" cy="1726989"/>
              </a:xfrm>
              <a:custGeom>
                <a:avLst/>
                <a:gdLst/>
                <a:ahLst/>
                <a:cxnLst/>
                <a:rect l="l" t="t" r="r" b="b"/>
                <a:pathLst>
                  <a:path w="1435225" h="1726989">
                    <a:moveTo>
                      <a:pt x="72456" y="0"/>
                    </a:moveTo>
                    <a:lnTo>
                      <a:pt x="1362770" y="0"/>
                    </a:lnTo>
                    <a:cubicBezTo>
                      <a:pt x="1402786" y="0"/>
                      <a:pt x="1435225" y="32440"/>
                      <a:pt x="1435225" y="72456"/>
                    </a:cubicBezTo>
                    <a:lnTo>
                      <a:pt x="1435225" y="1654533"/>
                    </a:lnTo>
                    <a:cubicBezTo>
                      <a:pt x="1435225" y="1694549"/>
                      <a:pt x="1402786" y="1726989"/>
                      <a:pt x="1362770" y="1726989"/>
                    </a:cubicBezTo>
                    <a:lnTo>
                      <a:pt x="72456" y="1726989"/>
                    </a:lnTo>
                    <a:cubicBezTo>
                      <a:pt x="32440" y="1726989"/>
                      <a:pt x="0" y="1694549"/>
                      <a:pt x="0" y="1654533"/>
                    </a:cubicBezTo>
                    <a:lnTo>
                      <a:pt x="0" y="72456"/>
                    </a:lnTo>
                    <a:cubicBezTo>
                      <a:pt x="0" y="32440"/>
                      <a:pt x="32440" y="0"/>
                      <a:pt x="72456" y="0"/>
                    </a:cubicBezTo>
                    <a:close/>
                  </a:path>
                </a:pathLst>
              </a:custGeom>
              <a:solidFill>
                <a:srgbClr val="145F49"/>
              </a:solidFill>
            </p:spPr>
            <p:txBody>
              <a:bodyPr/>
              <a:lstStyle/>
              <a:p>
                <a:endParaRPr lang="en-US"/>
              </a:p>
            </p:txBody>
          </p:sp>
          <p:sp>
            <p:nvSpPr>
              <p:cNvPr id="12" name="TextBox 12"/>
              <p:cNvSpPr txBox="1"/>
              <p:nvPr/>
            </p:nvSpPr>
            <p:spPr>
              <a:xfrm>
                <a:off x="0" y="-47625"/>
                <a:ext cx="1435225" cy="1774614"/>
              </a:xfrm>
              <a:prstGeom prst="rect">
                <a:avLst/>
              </a:prstGeom>
            </p:spPr>
            <p:txBody>
              <a:bodyPr lIns="50800" tIns="50800" rIns="50800" bIns="50800" rtlCol="0" anchor="ctr"/>
              <a:lstStyle/>
              <a:p>
                <a:pPr algn="ctr">
                  <a:lnSpc>
                    <a:spcPts val="2806"/>
                  </a:lnSpc>
                </a:pPr>
                <a:endParaRPr/>
              </a:p>
            </p:txBody>
          </p:sp>
        </p:grpSp>
        <p:grpSp>
          <p:nvGrpSpPr>
            <p:cNvPr id="13" name="Group 13"/>
            <p:cNvGrpSpPr/>
            <p:nvPr/>
          </p:nvGrpSpPr>
          <p:grpSpPr>
            <a:xfrm>
              <a:off x="166984" y="290964"/>
              <a:ext cx="6931861" cy="8160952"/>
              <a:chOff x="0" y="0"/>
              <a:chExt cx="1369256" cy="1612040"/>
            </a:xfrm>
          </p:grpSpPr>
          <p:sp>
            <p:nvSpPr>
              <p:cNvPr id="14" name="Freeform 14"/>
              <p:cNvSpPr/>
              <p:nvPr/>
            </p:nvSpPr>
            <p:spPr>
              <a:xfrm>
                <a:off x="0" y="0"/>
                <a:ext cx="1369256" cy="1612040"/>
              </a:xfrm>
              <a:custGeom>
                <a:avLst/>
                <a:gdLst/>
                <a:ahLst/>
                <a:cxnLst/>
                <a:rect l="l" t="t" r="r" b="b"/>
                <a:pathLst>
                  <a:path w="1369256" h="1612040">
                    <a:moveTo>
                      <a:pt x="75947" y="0"/>
                    </a:moveTo>
                    <a:lnTo>
                      <a:pt x="1293310" y="0"/>
                    </a:lnTo>
                    <a:cubicBezTo>
                      <a:pt x="1335254" y="0"/>
                      <a:pt x="1369256" y="34002"/>
                      <a:pt x="1369256" y="75947"/>
                    </a:cubicBezTo>
                    <a:lnTo>
                      <a:pt x="1369256" y="1536093"/>
                    </a:lnTo>
                    <a:cubicBezTo>
                      <a:pt x="1369256" y="1578037"/>
                      <a:pt x="1335254" y="1612040"/>
                      <a:pt x="1293310" y="1612040"/>
                    </a:cubicBezTo>
                    <a:lnTo>
                      <a:pt x="75947" y="1612040"/>
                    </a:lnTo>
                    <a:cubicBezTo>
                      <a:pt x="34002" y="1612040"/>
                      <a:pt x="0" y="1578037"/>
                      <a:pt x="0" y="1536093"/>
                    </a:cubicBezTo>
                    <a:lnTo>
                      <a:pt x="0" y="75947"/>
                    </a:lnTo>
                    <a:cubicBezTo>
                      <a:pt x="0" y="34002"/>
                      <a:pt x="34002" y="0"/>
                      <a:pt x="75947" y="0"/>
                    </a:cubicBezTo>
                    <a:close/>
                  </a:path>
                </a:pathLst>
              </a:custGeom>
              <a:solidFill>
                <a:srgbClr val="FFFFFF"/>
              </a:solidFill>
            </p:spPr>
            <p:txBody>
              <a:bodyPr/>
              <a:lstStyle/>
              <a:p>
                <a:endParaRPr lang="en-US"/>
              </a:p>
            </p:txBody>
          </p:sp>
          <p:sp>
            <p:nvSpPr>
              <p:cNvPr id="15" name="TextBox 15"/>
              <p:cNvSpPr txBox="1"/>
              <p:nvPr/>
            </p:nvSpPr>
            <p:spPr>
              <a:xfrm>
                <a:off x="0" y="-47625"/>
                <a:ext cx="1369256" cy="1659665"/>
              </a:xfrm>
              <a:prstGeom prst="rect">
                <a:avLst/>
              </a:prstGeom>
            </p:spPr>
            <p:txBody>
              <a:bodyPr lIns="50800" tIns="50800" rIns="50800" bIns="50800" rtlCol="0" anchor="ctr"/>
              <a:lstStyle/>
              <a:p>
                <a:pPr algn="ctr">
                  <a:lnSpc>
                    <a:spcPts val="2806"/>
                  </a:lnSpc>
                </a:pPr>
                <a:endParaRPr/>
              </a:p>
            </p:txBody>
          </p:sp>
        </p:grpSp>
      </p:grpSp>
      <p:grpSp>
        <p:nvGrpSpPr>
          <p:cNvPr id="16" name="Group 16"/>
          <p:cNvGrpSpPr/>
          <p:nvPr/>
        </p:nvGrpSpPr>
        <p:grpSpPr>
          <a:xfrm>
            <a:off x="12199576" y="2479913"/>
            <a:ext cx="5449371" cy="6557161"/>
            <a:chOff x="0" y="0"/>
            <a:chExt cx="7265828" cy="8742881"/>
          </a:xfrm>
        </p:grpSpPr>
        <p:grpSp>
          <p:nvGrpSpPr>
            <p:cNvPr id="17" name="Group 17"/>
            <p:cNvGrpSpPr/>
            <p:nvPr/>
          </p:nvGrpSpPr>
          <p:grpSpPr>
            <a:xfrm>
              <a:off x="0" y="0"/>
              <a:ext cx="7265828" cy="8742881"/>
              <a:chOff x="0" y="0"/>
              <a:chExt cx="1435225" cy="1726989"/>
            </a:xfrm>
          </p:grpSpPr>
          <p:sp>
            <p:nvSpPr>
              <p:cNvPr id="18" name="Freeform 18"/>
              <p:cNvSpPr/>
              <p:nvPr/>
            </p:nvSpPr>
            <p:spPr>
              <a:xfrm>
                <a:off x="0" y="0"/>
                <a:ext cx="1435225" cy="1726989"/>
              </a:xfrm>
              <a:custGeom>
                <a:avLst/>
                <a:gdLst/>
                <a:ahLst/>
                <a:cxnLst/>
                <a:rect l="l" t="t" r="r" b="b"/>
                <a:pathLst>
                  <a:path w="1435225" h="1726989">
                    <a:moveTo>
                      <a:pt x="72456" y="0"/>
                    </a:moveTo>
                    <a:lnTo>
                      <a:pt x="1362770" y="0"/>
                    </a:lnTo>
                    <a:cubicBezTo>
                      <a:pt x="1402786" y="0"/>
                      <a:pt x="1435225" y="32440"/>
                      <a:pt x="1435225" y="72456"/>
                    </a:cubicBezTo>
                    <a:lnTo>
                      <a:pt x="1435225" y="1654533"/>
                    </a:lnTo>
                    <a:cubicBezTo>
                      <a:pt x="1435225" y="1694549"/>
                      <a:pt x="1402786" y="1726989"/>
                      <a:pt x="1362770" y="1726989"/>
                    </a:cubicBezTo>
                    <a:lnTo>
                      <a:pt x="72456" y="1726989"/>
                    </a:lnTo>
                    <a:cubicBezTo>
                      <a:pt x="32440" y="1726989"/>
                      <a:pt x="0" y="1694549"/>
                      <a:pt x="0" y="1654533"/>
                    </a:cubicBezTo>
                    <a:lnTo>
                      <a:pt x="0" y="72456"/>
                    </a:lnTo>
                    <a:cubicBezTo>
                      <a:pt x="0" y="32440"/>
                      <a:pt x="32440" y="0"/>
                      <a:pt x="72456" y="0"/>
                    </a:cubicBezTo>
                    <a:close/>
                  </a:path>
                </a:pathLst>
              </a:custGeom>
              <a:solidFill>
                <a:srgbClr val="145F49"/>
              </a:solidFill>
            </p:spPr>
            <p:txBody>
              <a:bodyPr/>
              <a:lstStyle/>
              <a:p>
                <a:endParaRPr lang="en-US"/>
              </a:p>
            </p:txBody>
          </p:sp>
          <p:sp>
            <p:nvSpPr>
              <p:cNvPr id="19" name="TextBox 19"/>
              <p:cNvSpPr txBox="1"/>
              <p:nvPr/>
            </p:nvSpPr>
            <p:spPr>
              <a:xfrm>
                <a:off x="0" y="-47625"/>
                <a:ext cx="1435225" cy="1774614"/>
              </a:xfrm>
              <a:prstGeom prst="rect">
                <a:avLst/>
              </a:prstGeom>
            </p:spPr>
            <p:txBody>
              <a:bodyPr lIns="50800" tIns="50800" rIns="50800" bIns="50800" rtlCol="0" anchor="ctr"/>
              <a:lstStyle/>
              <a:p>
                <a:pPr algn="ctr">
                  <a:lnSpc>
                    <a:spcPts val="2806"/>
                  </a:lnSpc>
                </a:pPr>
                <a:endParaRPr/>
              </a:p>
            </p:txBody>
          </p:sp>
        </p:grpSp>
        <p:grpSp>
          <p:nvGrpSpPr>
            <p:cNvPr id="20" name="Group 20"/>
            <p:cNvGrpSpPr/>
            <p:nvPr/>
          </p:nvGrpSpPr>
          <p:grpSpPr>
            <a:xfrm>
              <a:off x="166984" y="290964"/>
              <a:ext cx="6931861" cy="8160952"/>
              <a:chOff x="0" y="0"/>
              <a:chExt cx="1369256" cy="1612040"/>
            </a:xfrm>
          </p:grpSpPr>
          <p:sp>
            <p:nvSpPr>
              <p:cNvPr id="21" name="Freeform 21"/>
              <p:cNvSpPr/>
              <p:nvPr/>
            </p:nvSpPr>
            <p:spPr>
              <a:xfrm>
                <a:off x="0" y="0"/>
                <a:ext cx="1369256" cy="1612040"/>
              </a:xfrm>
              <a:custGeom>
                <a:avLst/>
                <a:gdLst/>
                <a:ahLst/>
                <a:cxnLst/>
                <a:rect l="l" t="t" r="r" b="b"/>
                <a:pathLst>
                  <a:path w="1369256" h="1612040">
                    <a:moveTo>
                      <a:pt x="75947" y="0"/>
                    </a:moveTo>
                    <a:lnTo>
                      <a:pt x="1293310" y="0"/>
                    </a:lnTo>
                    <a:cubicBezTo>
                      <a:pt x="1335254" y="0"/>
                      <a:pt x="1369256" y="34002"/>
                      <a:pt x="1369256" y="75947"/>
                    </a:cubicBezTo>
                    <a:lnTo>
                      <a:pt x="1369256" y="1536093"/>
                    </a:lnTo>
                    <a:cubicBezTo>
                      <a:pt x="1369256" y="1578037"/>
                      <a:pt x="1335254" y="1612040"/>
                      <a:pt x="1293310" y="1612040"/>
                    </a:cubicBezTo>
                    <a:lnTo>
                      <a:pt x="75947" y="1612040"/>
                    </a:lnTo>
                    <a:cubicBezTo>
                      <a:pt x="34002" y="1612040"/>
                      <a:pt x="0" y="1578037"/>
                      <a:pt x="0" y="1536093"/>
                    </a:cubicBezTo>
                    <a:lnTo>
                      <a:pt x="0" y="75947"/>
                    </a:lnTo>
                    <a:cubicBezTo>
                      <a:pt x="0" y="34002"/>
                      <a:pt x="34002" y="0"/>
                      <a:pt x="75947" y="0"/>
                    </a:cubicBezTo>
                    <a:close/>
                  </a:path>
                </a:pathLst>
              </a:custGeom>
              <a:solidFill>
                <a:srgbClr val="FFFFFF"/>
              </a:solidFill>
            </p:spPr>
            <p:txBody>
              <a:bodyPr/>
              <a:lstStyle/>
              <a:p>
                <a:endParaRPr lang="en-US"/>
              </a:p>
            </p:txBody>
          </p:sp>
          <p:sp>
            <p:nvSpPr>
              <p:cNvPr id="22" name="TextBox 22"/>
              <p:cNvSpPr txBox="1"/>
              <p:nvPr/>
            </p:nvSpPr>
            <p:spPr>
              <a:xfrm>
                <a:off x="0" y="-47625"/>
                <a:ext cx="1369256" cy="1659665"/>
              </a:xfrm>
              <a:prstGeom prst="rect">
                <a:avLst/>
              </a:prstGeom>
            </p:spPr>
            <p:txBody>
              <a:bodyPr lIns="50800" tIns="50800" rIns="50800" bIns="50800" rtlCol="0" anchor="ctr"/>
              <a:lstStyle/>
              <a:p>
                <a:pPr algn="ctr">
                  <a:lnSpc>
                    <a:spcPts val="2806"/>
                  </a:lnSpc>
                </a:pPr>
                <a:endParaRPr/>
              </a:p>
            </p:txBody>
          </p:sp>
        </p:grpSp>
      </p:grpSp>
      <p:sp>
        <p:nvSpPr>
          <p:cNvPr id="23" name="Freeform 23"/>
          <p:cNvSpPr/>
          <p:nvPr/>
        </p:nvSpPr>
        <p:spPr>
          <a:xfrm>
            <a:off x="1799704" y="3502651"/>
            <a:ext cx="3128070" cy="2877824"/>
          </a:xfrm>
          <a:custGeom>
            <a:avLst/>
            <a:gdLst/>
            <a:ahLst/>
            <a:cxnLst/>
            <a:rect l="l" t="t" r="r" b="b"/>
            <a:pathLst>
              <a:path w="3128070" h="2877824">
                <a:moveTo>
                  <a:pt x="0" y="0"/>
                </a:moveTo>
                <a:lnTo>
                  <a:pt x="3128070" y="0"/>
                </a:lnTo>
                <a:lnTo>
                  <a:pt x="3128070" y="2877825"/>
                </a:lnTo>
                <a:lnTo>
                  <a:pt x="0" y="2877825"/>
                </a:lnTo>
                <a:lnTo>
                  <a:pt x="0" y="0"/>
                </a:lnTo>
                <a:close/>
              </a:path>
            </a:pathLst>
          </a:custGeom>
          <a:blipFill>
            <a:blip r:embed="rId3"/>
            <a:stretch>
              <a:fillRect/>
            </a:stretch>
          </a:blipFill>
        </p:spPr>
        <p:txBody>
          <a:bodyPr/>
          <a:lstStyle/>
          <a:p>
            <a:endParaRPr lang="en-US"/>
          </a:p>
        </p:txBody>
      </p:sp>
      <p:sp>
        <p:nvSpPr>
          <p:cNvPr id="24" name="Freeform 24"/>
          <p:cNvSpPr/>
          <p:nvPr/>
        </p:nvSpPr>
        <p:spPr>
          <a:xfrm>
            <a:off x="12972255" y="3725747"/>
            <a:ext cx="3904013" cy="2654729"/>
          </a:xfrm>
          <a:custGeom>
            <a:avLst/>
            <a:gdLst/>
            <a:ahLst/>
            <a:cxnLst/>
            <a:rect l="l" t="t" r="r" b="b"/>
            <a:pathLst>
              <a:path w="3904013" h="2654729">
                <a:moveTo>
                  <a:pt x="0" y="0"/>
                </a:moveTo>
                <a:lnTo>
                  <a:pt x="3904013" y="0"/>
                </a:lnTo>
                <a:lnTo>
                  <a:pt x="3904013" y="2654729"/>
                </a:lnTo>
                <a:lnTo>
                  <a:pt x="0" y="265472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25" name="TextBox 25"/>
          <p:cNvSpPr txBox="1"/>
          <p:nvPr/>
        </p:nvSpPr>
        <p:spPr>
          <a:xfrm>
            <a:off x="6676334" y="4116929"/>
            <a:ext cx="4843143" cy="4455130"/>
          </a:xfrm>
          <a:prstGeom prst="rect">
            <a:avLst/>
          </a:prstGeom>
        </p:spPr>
        <p:txBody>
          <a:bodyPr wrap="square" lIns="0" tIns="0" rIns="0" bIns="0" rtlCol="0" anchor="t">
            <a:spAutoFit/>
          </a:bodyPr>
          <a:lstStyle/>
          <a:p>
            <a:pPr marL="474345" lvl="1" indent="-237490" algn="l">
              <a:lnSpc>
                <a:spcPct val="150000"/>
              </a:lnSpc>
              <a:buFont typeface="Arial"/>
              <a:buChar char="•"/>
            </a:pPr>
            <a:r>
              <a:rPr lang="en-US" sz="2150" b="1" dirty="0">
                <a:solidFill>
                  <a:srgbClr val="000000"/>
                </a:solidFill>
                <a:latin typeface="Poppins"/>
                <a:ea typeface="Poppins"/>
                <a:cs typeface="Poppins"/>
                <a:sym typeface="Poppins"/>
              </a:rPr>
              <a:t>Action taken:</a:t>
            </a:r>
            <a:r>
              <a:rPr lang="en-US" sz="2150" dirty="0">
                <a:solidFill>
                  <a:srgbClr val="000000"/>
                </a:solidFill>
                <a:latin typeface="Poppins"/>
                <a:ea typeface="Poppins"/>
                <a:cs typeface="Poppins"/>
                <a:sym typeface="Poppins"/>
              </a:rPr>
              <a:t> Why did you keep or remove the review (specific guideline).</a:t>
            </a:r>
            <a:endParaRPr lang="en-US" sz="2150" dirty="0"/>
          </a:p>
          <a:p>
            <a:pPr marL="474345" lvl="1" indent="-237490" algn="l">
              <a:lnSpc>
                <a:spcPct val="150000"/>
              </a:lnSpc>
              <a:buFont typeface="Arial"/>
              <a:buChar char="•"/>
            </a:pPr>
            <a:r>
              <a:rPr lang="en-US" sz="2150" b="1" dirty="0">
                <a:solidFill>
                  <a:srgbClr val="000000"/>
                </a:solidFill>
                <a:latin typeface="Poppins"/>
                <a:ea typeface="Poppins"/>
                <a:cs typeface="Poppins"/>
                <a:sym typeface="Poppins"/>
              </a:rPr>
              <a:t>Peripheral Fraud: </a:t>
            </a:r>
            <a:r>
              <a:rPr lang="en-US" sz="2150" dirty="0">
                <a:solidFill>
                  <a:srgbClr val="000000"/>
                </a:solidFill>
                <a:latin typeface="Poppins"/>
                <a:ea typeface="Poppins"/>
                <a:cs typeface="Poppins"/>
                <a:sym typeface="Poppins"/>
              </a:rPr>
              <a:t>Connections found between the review and other fraud cases.</a:t>
            </a:r>
            <a:endParaRPr lang="en-US" sz="2150" dirty="0">
              <a:solidFill>
                <a:srgbClr val="000000"/>
              </a:solidFill>
              <a:latin typeface="Poppins"/>
              <a:ea typeface="Poppins"/>
              <a:cs typeface="Poppins"/>
            </a:endParaRPr>
          </a:p>
          <a:p>
            <a:pPr marL="474345" lvl="1" indent="-237490" algn="l">
              <a:lnSpc>
                <a:spcPct val="150000"/>
              </a:lnSpc>
              <a:buFont typeface="Arial"/>
              <a:buChar char="•"/>
            </a:pPr>
            <a:r>
              <a:rPr lang="en-US" sz="2150" b="1" dirty="0">
                <a:solidFill>
                  <a:srgbClr val="000000"/>
                </a:solidFill>
                <a:latin typeface="Poppins"/>
                <a:ea typeface="Poppins"/>
                <a:cs typeface="Poppins"/>
                <a:sym typeface="Poppins"/>
              </a:rPr>
              <a:t>ZD Context:</a:t>
            </a:r>
            <a:r>
              <a:rPr lang="en-US" sz="2150" dirty="0">
                <a:solidFill>
                  <a:srgbClr val="000000"/>
                </a:solidFill>
                <a:latin typeface="Poppins"/>
                <a:ea typeface="Poppins"/>
                <a:cs typeface="Poppins"/>
                <a:sym typeface="Poppins"/>
              </a:rPr>
              <a:t> Summary of the owner's complaint and evidence provided.</a:t>
            </a:r>
            <a:endParaRPr lang="en-US" sz="2150" dirty="0">
              <a:solidFill>
                <a:srgbClr val="000000"/>
              </a:solidFill>
              <a:latin typeface="Poppins"/>
              <a:ea typeface="Poppins"/>
              <a:cs typeface="Poppins"/>
            </a:endParaRPr>
          </a:p>
        </p:txBody>
      </p:sp>
      <p:sp>
        <p:nvSpPr>
          <p:cNvPr id="26" name="TextBox 26"/>
          <p:cNvSpPr txBox="1"/>
          <p:nvPr/>
        </p:nvSpPr>
        <p:spPr>
          <a:xfrm>
            <a:off x="1028700" y="885825"/>
            <a:ext cx="11560522" cy="934720"/>
          </a:xfrm>
          <a:prstGeom prst="rect">
            <a:avLst/>
          </a:prstGeom>
        </p:spPr>
        <p:txBody>
          <a:bodyPr lIns="0" tIns="0" rIns="0" bIns="0" rtlCol="0" anchor="t">
            <a:spAutoFit/>
          </a:bodyPr>
          <a:lstStyle/>
          <a:p>
            <a:pPr algn="ctr">
              <a:lnSpc>
                <a:spcPts val="7279"/>
              </a:lnSpc>
              <a:spcBef>
                <a:spcPct val="0"/>
              </a:spcBef>
            </a:pPr>
            <a:r>
              <a:rPr lang="en-US" sz="5199" b="1">
                <a:solidFill>
                  <a:srgbClr val="000000"/>
                </a:solidFill>
                <a:latin typeface="Poppins Bold"/>
                <a:ea typeface="Poppins Bold"/>
                <a:cs typeface="Poppins Bold"/>
                <a:sym typeface="Poppins Bold"/>
              </a:rPr>
              <a:t>Step 6 - Process &amp; Documentation</a:t>
            </a:r>
          </a:p>
        </p:txBody>
      </p:sp>
      <p:sp>
        <p:nvSpPr>
          <p:cNvPr id="27" name="TextBox 27"/>
          <p:cNvSpPr txBox="1"/>
          <p:nvPr/>
        </p:nvSpPr>
        <p:spPr>
          <a:xfrm>
            <a:off x="1400808" y="7024767"/>
            <a:ext cx="3925861" cy="967316"/>
          </a:xfrm>
          <a:prstGeom prst="rect">
            <a:avLst/>
          </a:prstGeom>
        </p:spPr>
        <p:txBody>
          <a:bodyPr lIns="0" tIns="0" rIns="0" bIns="0" rtlCol="0" anchor="t">
            <a:spAutoFit/>
          </a:bodyPr>
          <a:lstStyle/>
          <a:p>
            <a:pPr algn="ctr">
              <a:lnSpc>
                <a:spcPct val="150000"/>
              </a:lnSpc>
              <a:spcBef>
                <a:spcPct val="0"/>
              </a:spcBef>
            </a:pPr>
            <a:r>
              <a:rPr lang="en-US" sz="2199" dirty="0">
                <a:solidFill>
                  <a:srgbClr val="000000"/>
                </a:solidFill>
                <a:latin typeface="Poppins"/>
                <a:ea typeface="Poppins"/>
                <a:cs typeface="Poppins"/>
                <a:sym typeface="Poppins"/>
              </a:rPr>
              <a:t>Do not overturn decisions by INV, CMI, or FS Tier 2</a:t>
            </a:r>
          </a:p>
        </p:txBody>
      </p:sp>
      <p:sp>
        <p:nvSpPr>
          <p:cNvPr id="28" name="TextBox 28"/>
          <p:cNvSpPr txBox="1"/>
          <p:nvPr/>
        </p:nvSpPr>
        <p:spPr>
          <a:xfrm>
            <a:off x="6732065" y="2904930"/>
            <a:ext cx="4843144" cy="1005205"/>
          </a:xfrm>
          <a:prstGeom prst="rect">
            <a:avLst/>
          </a:prstGeom>
        </p:spPr>
        <p:txBody>
          <a:bodyPr lIns="0" tIns="0" rIns="0" bIns="0" rtlCol="0" anchor="t">
            <a:spAutoFit/>
          </a:bodyPr>
          <a:lstStyle/>
          <a:p>
            <a:pPr algn="ctr">
              <a:lnSpc>
                <a:spcPts val="3919"/>
              </a:lnSpc>
              <a:spcBef>
                <a:spcPct val="0"/>
              </a:spcBef>
            </a:pPr>
            <a:r>
              <a:rPr lang="en-US" sz="2799" b="1">
                <a:solidFill>
                  <a:srgbClr val="000000"/>
                </a:solidFill>
                <a:latin typeface="Poppins Bold"/>
                <a:ea typeface="Poppins Bold"/>
                <a:cs typeface="Poppins Bold"/>
                <a:sym typeface="Poppins Bold"/>
              </a:rPr>
              <a:t>URD Comments must include:</a:t>
            </a:r>
          </a:p>
        </p:txBody>
      </p:sp>
      <p:sp>
        <p:nvSpPr>
          <p:cNvPr id="29" name="TextBox 29"/>
          <p:cNvSpPr txBox="1"/>
          <p:nvPr/>
        </p:nvSpPr>
        <p:spPr>
          <a:xfrm>
            <a:off x="12589222" y="7024767"/>
            <a:ext cx="4666715" cy="782320"/>
          </a:xfrm>
          <a:prstGeom prst="rect">
            <a:avLst/>
          </a:prstGeom>
        </p:spPr>
        <p:txBody>
          <a:bodyPr lIns="0" tIns="0" rIns="0" bIns="0" rtlCol="0" anchor="t">
            <a:spAutoFit/>
          </a:bodyPr>
          <a:lstStyle/>
          <a:p>
            <a:pPr algn="ctr">
              <a:lnSpc>
                <a:spcPts val="3079"/>
              </a:lnSpc>
              <a:spcBef>
                <a:spcPct val="0"/>
              </a:spcBef>
            </a:pPr>
            <a:r>
              <a:rPr lang="en-US" sz="2199">
                <a:solidFill>
                  <a:srgbClr val="000000"/>
                </a:solidFill>
                <a:latin typeface="Poppins"/>
                <a:ea typeface="Poppins"/>
                <a:cs typeface="Poppins"/>
                <a:sym typeface="Poppins"/>
              </a:rPr>
              <a:t>Add Review ID and Location ID to ticket fields</a:t>
            </a:r>
          </a:p>
        </p:txBody>
      </p:sp>
      <p:sp>
        <p:nvSpPr>
          <p:cNvPr id="31" name="TextBox 30">
            <a:extLst>
              <a:ext uri="{FF2B5EF4-FFF2-40B4-BE49-F238E27FC236}">
                <a16:creationId xmlns:a16="http://schemas.microsoft.com/office/drawing/2014/main" id="{C3080395-0126-9EF8-46CD-3E45F944E6F4}"/>
              </a:ext>
            </a:extLst>
          </p:cNvPr>
          <p:cNvSpPr txBox="1"/>
          <p:nvPr/>
        </p:nvSpPr>
        <p:spPr>
          <a:xfrm>
            <a:off x="600003" y="9661691"/>
            <a:ext cx="10000001" cy="314772"/>
          </a:xfrm>
          <a:prstGeom prst="rect">
            <a:avLst/>
          </a:prstGeom>
          <a:noFill/>
        </p:spPr>
        <p:txBody>
          <a:bodyPr wrap="square" anchor="t">
            <a:spAutoFit/>
          </a:bodyPr>
          <a:lstStyle>
            <a:defPPr>
              <a:defRPr lang="en-US"/>
            </a:defPPr>
            <a:lvl1pPr defTabSz="914445">
              <a:defRPr sz="1400">
                <a:solidFill>
                  <a:srgbClr val="8A8272"/>
                </a:solidFill>
                <a:latin typeface="Poppins"/>
              </a:defRPr>
            </a:lvl1pPr>
            <a:lvl2pPr marL="685800" defTabSz="1371600">
              <a:defRPr sz="2700"/>
            </a:lvl2pPr>
            <a:lvl3pPr marL="1371600" defTabSz="1371600">
              <a:defRPr sz="2700"/>
            </a:lvl3pPr>
            <a:lvl4pPr marL="2057400" defTabSz="1371600">
              <a:defRPr sz="2700"/>
            </a:lvl4pPr>
            <a:lvl5pPr marL="2743200" defTabSz="1371600">
              <a:defRPr sz="2700"/>
            </a:lvl5pPr>
            <a:lvl6pPr marL="3429000" defTabSz="1371600">
              <a:defRPr sz="2700"/>
            </a:lvl6pPr>
            <a:lvl7pPr marL="4114800" defTabSz="1371600">
              <a:defRPr sz="2700"/>
            </a:lvl7pPr>
            <a:lvl8pPr marL="4800600" defTabSz="1371600">
              <a:defRPr sz="2700"/>
            </a:lvl8pPr>
            <a:lvl9pPr marL="5486400" defTabSz="1371600">
              <a:defRPr sz="2700"/>
            </a:lvl9pPr>
          </a:lstStyle>
          <a:p>
            <a:pPr defTabSz="914441"/>
            <a:r>
              <a:rPr dirty="0"/>
              <a:t>T</a:t>
            </a:r>
            <a:r>
              <a:rPr lang="en-US" dirty="0"/>
              <a:t>ripadvisor / Owner Review Disputes</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839355" y="4030807"/>
            <a:ext cx="6662036" cy="3553086"/>
          </a:xfrm>
          <a:custGeom>
            <a:avLst/>
            <a:gdLst/>
            <a:ahLst/>
            <a:cxnLst/>
            <a:rect l="l" t="t" r="r" b="b"/>
            <a:pathLst>
              <a:path w="6662036" h="3553086">
                <a:moveTo>
                  <a:pt x="0" y="0"/>
                </a:moveTo>
                <a:lnTo>
                  <a:pt x="6662036" y="0"/>
                </a:lnTo>
                <a:lnTo>
                  <a:pt x="6662036" y="3553086"/>
                </a:lnTo>
                <a:lnTo>
                  <a:pt x="0" y="355308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3736275" y="3689078"/>
            <a:ext cx="4697814" cy="4697814"/>
          </a:xfrm>
          <a:custGeom>
            <a:avLst/>
            <a:gdLst/>
            <a:ahLst/>
            <a:cxnLst/>
            <a:rect l="l" t="t" r="r" b="b"/>
            <a:pathLst>
              <a:path w="4697814" h="4697814">
                <a:moveTo>
                  <a:pt x="0" y="0"/>
                </a:moveTo>
                <a:lnTo>
                  <a:pt x="4697814" y="0"/>
                </a:lnTo>
                <a:lnTo>
                  <a:pt x="4697814" y="4697814"/>
                </a:lnTo>
                <a:lnTo>
                  <a:pt x="0" y="469781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 name="Group 4"/>
          <p:cNvGrpSpPr/>
          <p:nvPr/>
        </p:nvGrpSpPr>
        <p:grpSpPr>
          <a:xfrm>
            <a:off x="3736275" y="3459835"/>
            <a:ext cx="4697814" cy="4697814"/>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8FFA3"/>
            </a:solidFill>
            <a:effectLst>
              <a:outerShdw blurRad="50800" dist="38100" dir="5400000" algn="t" rotWithShape="0">
                <a:prstClr val="black">
                  <a:alpha val="40000"/>
                </a:prstClr>
              </a:outerShdw>
            </a:effectLst>
          </p:spPr>
          <p:txBody>
            <a:bodyPr/>
            <a:lstStyle/>
            <a:p>
              <a:endParaRPr lang="en-US"/>
            </a:p>
          </p:txBody>
        </p:sp>
        <p:sp>
          <p:nvSpPr>
            <p:cNvPr id="6" name="TextBox 6"/>
            <p:cNvSpPr txBox="1"/>
            <p:nvPr/>
          </p:nvSpPr>
          <p:spPr>
            <a:xfrm>
              <a:off x="76200" y="19050"/>
              <a:ext cx="660400" cy="717550"/>
            </a:xfrm>
            <a:prstGeom prst="rect">
              <a:avLst/>
            </a:prstGeom>
          </p:spPr>
          <p:txBody>
            <a:bodyPr lIns="50800" tIns="50800" rIns="50800" bIns="50800" rtlCol="0" anchor="ctr"/>
            <a:lstStyle/>
            <a:p>
              <a:pPr algn="ctr">
                <a:lnSpc>
                  <a:spcPts val="2940"/>
                </a:lnSpc>
              </a:pPr>
              <a:endParaRPr/>
            </a:p>
          </p:txBody>
        </p:sp>
      </p:grpSp>
      <p:sp>
        <p:nvSpPr>
          <p:cNvPr id="7" name="Freeform 7"/>
          <p:cNvSpPr/>
          <p:nvPr/>
        </p:nvSpPr>
        <p:spPr>
          <a:xfrm>
            <a:off x="7756945" y="2558399"/>
            <a:ext cx="975735" cy="975735"/>
          </a:xfrm>
          <a:custGeom>
            <a:avLst/>
            <a:gdLst/>
            <a:ahLst/>
            <a:cxnLst/>
            <a:rect l="l" t="t" r="r" b="b"/>
            <a:pathLst>
              <a:path w="975735" h="975735">
                <a:moveTo>
                  <a:pt x="0" y="0"/>
                </a:moveTo>
                <a:lnTo>
                  <a:pt x="975735" y="0"/>
                </a:lnTo>
                <a:lnTo>
                  <a:pt x="975735" y="975735"/>
                </a:lnTo>
                <a:lnTo>
                  <a:pt x="0" y="97573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8" name="Group 8"/>
          <p:cNvGrpSpPr/>
          <p:nvPr/>
        </p:nvGrpSpPr>
        <p:grpSpPr>
          <a:xfrm>
            <a:off x="7756945" y="2486980"/>
            <a:ext cx="975735" cy="975735"/>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763D"/>
            </a:solidFill>
          </p:spPr>
          <p:txBody>
            <a:bodyPr/>
            <a:lstStyle/>
            <a:p>
              <a:endParaRPr lang="en-US"/>
            </a:p>
          </p:txBody>
        </p:sp>
        <p:sp>
          <p:nvSpPr>
            <p:cNvPr id="10" name="TextBox 10"/>
            <p:cNvSpPr txBox="1"/>
            <p:nvPr/>
          </p:nvSpPr>
          <p:spPr>
            <a:xfrm>
              <a:off x="76200" y="19050"/>
              <a:ext cx="660400" cy="717550"/>
            </a:xfrm>
            <a:prstGeom prst="rect">
              <a:avLst/>
            </a:prstGeom>
          </p:spPr>
          <p:txBody>
            <a:bodyPr lIns="50800" tIns="50800" rIns="50800" bIns="50800" rtlCol="0" anchor="ctr"/>
            <a:lstStyle/>
            <a:p>
              <a:pPr marL="0" lvl="0" indent="0" algn="ctr">
                <a:lnSpc>
                  <a:spcPts val="2520"/>
                </a:lnSpc>
                <a:spcBef>
                  <a:spcPct val="0"/>
                </a:spcBef>
              </a:pPr>
              <a:endParaRPr/>
            </a:p>
          </p:txBody>
        </p:sp>
      </p:grpSp>
      <p:sp>
        <p:nvSpPr>
          <p:cNvPr id="11" name="Freeform 11"/>
          <p:cNvSpPr/>
          <p:nvPr/>
        </p:nvSpPr>
        <p:spPr>
          <a:xfrm>
            <a:off x="8571134" y="7584812"/>
            <a:ext cx="975735" cy="975735"/>
          </a:xfrm>
          <a:custGeom>
            <a:avLst/>
            <a:gdLst/>
            <a:ahLst/>
            <a:cxnLst/>
            <a:rect l="l" t="t" r="r" b="b"/>
            <a:pathLst>
              <a:path w="975735" h="975735">
                <a:moveTo>
                  <a:pt x="0" y="0"/>
                </a:moveTo>
                <a:lnTo>
                  <a:pt x="975735" y="0"/>
                </a:lnTo>
                <a:lnTo>
                  <a:pt x="975735" y="975735"/>
                </a:lnTo>
                <a:lnTo>
                  <a:pt x="0" y="97573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12" name="Group 12"/>
          <p:cNvGrpSpPr/>
          <p:nvPr/>
        </p:nvGrpSpPr>
        <p:grpSpPr>
          <a:xfrm>
            <a:off x="8571134" y="7513393"/>
            <a:ext cx="975735" cy="975735"/>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FD441"/>
            </a:solidFill>
          </p:spPr>
          <p:txBody>
            <a:bodyPr/>
            <a:lstStyle/>
            <a:p>
              <a:endParaRPr lang="en-US"/>
            </a:p>
          </p:txBody>
        </p:sp>
        <p:sp>
          <p:nvSpPr>
            <p:cNvPr id="14" name="TextBox 14"/>
            <p:cNvSpPr txBox="1"/>
            <p:nvPr/>
          </p:nvSpPr>
          <p:spPr>
            <a:xfrm>
              <a:off x="76200" y="19050"/>
              <a:ext cx="660400" cy="717550"/>
            </a:xfrm>
            <a:prstGeom prst="rect">
              <a:avLst/>
            </a:prstGeom>
          </p:spPr>
          <p:txBody>
            <a:bodyPr lIns="50800" tIns="50800" rIns="50800" bIns="50800" rtlCol="0" anchor="ctr"/>
            <a:lstStyle/>
            <a:p>
              <a:pPr marL="0" lvl="0" indent="0" algn="ctr">
                <a:lnSpc>
                  <a:spcPts val="2520"/>
                </a:lnSpc>
                <a:spcBef>
                  <a:spcPct val="0"/>
                </a:spcBef>
              </a:pPr>
              <a:endParaRPr/>
            </a:p>
          </p:txBody>
        </p:sp>
      </p:grpSp>
      <p:sp>
        <p:nvSpPr>
          <p:cNvPr id="15" name="Freeform 15"/>
          <p:cNvSpPr/>
          <p:nvPr/>
        </p:nvSpPr>
        <p:spPr>
          <a:xfrm>
            <a:off x="9016514" y="4108876"/>
            <a:ext cx="975735" cy="975735"/>
          </a:xfrm>
          <a:custGeom>
            <a:avLst/>
            <a:gdLst/>
            <a:ahLst/>
            <a:cxnLst/>
            <a:rect l="l" t="t" r="r" b="b"/>
            <a:pathLst>
              <a:path w="975735" h="975735">
                <a:moveTo>
                  <a:pt x="0" y="0"/>
                </a:moveTo>
                <a:lnTo>
                  <a:pt x="975735" y="0"/>
                </a:lnTo>
                <a:lnTo>
                  <a:pt x="975735" y="975735"/>
                </a:lnTo>
                <a:lnTo>
                  <a:pt x="0" y="97573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16" name="Group 16"/>
          <p:cNvGrpSpPr/>
          <p:nvPr/>
        </p:nvGrpSpPr>
        <p:grpSpPr>
          <a:xfrm>
            <a:off x="9016514" y="4124159"/>
            <a:ext cx="975735" cy="975735"/>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BA149"/>
            </a:solidFill>
          </p:spPr>
          <p:txBody>
            <a:bodyPr/>
            <a:lstStyle/>
            <a:p>
              <a:endParaRPr lang="en-US"/>
            </a:p>
          </p:txBody>
        </p:sp>
        <p:sp>
          <p:nvSpPr>
            <p:cNvPr id="18" name="TextBox 18"/>
            <p:cNvSpPr txBox="1"/>
            <p:nvPr/>
          </p:nvSpPr>
          <p:spPr>
            <a:xfrm>
              <a:off x="76200" y="19050"/>
              <a:ext cx="660400" cy="717550"/>
            </a:xfrm>
            <a:prstGeom prst="rect">
              <a:avLst/>
            </a:prstGeom>
          </p:spPr>
          <p:txBody>
            <a:bodyPr lIns="50800" tIns="50800" rIns="50800" bIns="50800" rtlCol="0" anchor="ctr"/>
            <a:lstStyle/>
            <a:p>
              <a:pPr marL="0" lvl="0" indent="0" algn="ctr">
                <a:lnSpc>
                  <a:spcPts val="2520"/>
                </a:lnSpc>
                <a:spcBef>
                  <a:spcPct val="0"/>
                </a:spcBef>
              </a:pPr>
              <a:endParaRPr/>
            </a:p>
          </p:txBody>
        </p:sp>
      </p:grpSp>
      <p:sp>
        <p:nvSpPr>
          <p:cNvPr id="19" name="Freeform 19"/>
          <p:cNvSpPr/>
          <p:nvPr/>
        </p:nvSpPr>
        <p:spPr>
          <a:xfrm>
            <a:off x="9172809" y="5864101"/>
            <a:ext cx="975735" cy="975735"/>
          </a:xfrm>
          <a:custGeom>
            <a:avLst/>
            <a:gdLst/>
            <a:ahLst/>
            <a:cxnLst/>
            <a:rect l="l" t="t" r="r" b="b"/>
            <a:pathLst>
              <a:path w="975735" h="975735">
                <a:moveTo>
                  <a:pt x="0" y="0"/>
                </a:moveTo>
                <a:lnTo>
                  <a:pt x="975734" y="0"/>
                </a:lnTo>
                <a:lnTo>
                  <a:pt x="975734" y="975734"/>
                </a:lnTo>
                <a:lnTo>
                  <a:pt x="0" y="97573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20" name="Group 20"/>
          <p:cNvGrpSpPr/>
          <p:nvPr/>
        </p:nvGrpSpPr>
        <p:grpSpPr>
          <a:xfrm>
            <a:off x="9172809" y="5792682"/>
            <a:ext cx="975735" cy="975735"/>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EB5B"/>
            </a:solidFill>
          </p:spPr>
          <p:txBody>
            <a:bodyPr/>
            <a:lstStyle/>
            <a:p>
              <a:endParaRPr lang="en-US"/>
            </a:p>
          </p:txBody>
        </p:sp>
        <p:sp>
          <p:nvSpPr>
            <p:cNvPr id="22" name="TextBox 22"/>
            <p:cNvSpPr txBox="1"/>
            <p:nvPr/>
          </p:nvSpPr>
          <p:spPr>
            <a:xfrm>
              <a:off x="76200" y="19050"/>
              <a:ext cx="660400" cy="717550"/>
            </a:xfrm>
            <a:prstGeom prst="rect">
              <a:avLst/>
            </a:prstGeom>
          </p:spPr>
          <p:txBody>
            <a:bodyPr lIns="50800" tIns="50800" rIns="50800" bIns="50800" rtlCol="0" anchor="ctr"/>
            <a:lstStyle/>
            <a:p>
              <a:pPr marL="0" lvl="0" indent="0" algn="ctr">
                <a:lnSpc>
                  <a:spcPts val="2520"/>
                </a:lnSpc>
                <a:spcBef>
                  <a:spcPct val="0"/>
                </a:spcBef>
              </a:pPr>
              <a:endParaRPr/>
            </a:p>
          </p:txBody>
        </p:sp>
      </p:grpSp>
      <p:sp>
        <p:nvSpPr>
          <p:cNvPr id="23" name="Freeform 23"/>
          <p:cNvSpPr/>
          <p:nvPr/>
        </p:nvSpPr>
        <p:spPr>
          <a:xfrm>
            <a:off x="7994905" y="2711043"/>
            <a:ext cx="576229" cy="576229"/>
          </a:xfrm>
          <a:custGeom>
            <a:avLst/>
            <a:gdLst/>
            <a:ahLst/>
            <a:cxnLst/>
            <a:rect l="l" t="t" r="r" b="b"/>
            <a:pathLst>
              <a:path w="576229" h="576229">
                <a:moveTo>
                  <a:pt x="0" y="0"/>
                </a:moveTo>
                <a:lnTo>
                  <a:pt x="576229" y="0"/>
                </a:lnTo>
                <a:lnTo>
                  <a:pt x="576229" y="576230"/>
                </a:lnTo>
                <a:lnTo>
                  <a:pt x="0" y="57623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24" name="Freeform 24"/>
          <p:cNvSpPr/>
          <p:nvPr/>
        </p:nvSpPr>
        <p:spPr>
          <a:xfrm>
            <a:off x="9193783" y="4278503"/>
            <a:ext cx="621198" cy="621198"/>
          </a:xfrm>
          <a:custGeom>
            <a:avLst/>
            <a:gdLst/>
            <a:ahLst/>
            <a:cxnLst/>
            <a:rect l="l" t="t" r="r" b="b"/>
            <a:pathLst>
              <a:path w="621198" h="621198">
                <a:moveTo>
                  <a:pt x="0" y="0"/>
                </a:moveTo>
                <a:lnTo>
                  <a:pt x="621198" y="0"/>
                </a:lnTo>
                <a:lnTo>
                  <a:pt x="621198" y="621198"/>
                </a:lnTo>
                <a:lnTo>
                  <a:pt x="0" y="62119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5" name="Freeform 25"/>
          <p:cNvSpPr/>
          <p:nvPr/>
        </p:nvSpPr>
        <p:spPr>
          <a:xfrm>
            <a:off x="9383743" y="6010882"/>
            <a:ext cx="572835" cy="572835"/>
          </a:xfrm>
          <a:custGeom>
            <a:avLst/>
            <a:gdLst/>
            <a:ahLst/>
            <a:cxnLst/>
            <a:rect l="l" t="t" r="r" b="b"/>
            <a:pathLst>
              <a:path w="572835" h="572835">
                <a:moveTo>
                  <a:pt x="0" y="0"/>
                </a:moveTo>
                <a:lnTo>
                  <a:pt x="572835" y="0"/>
                </a:lnTo>
                <a:lnTo>
                  <a:pt x="572835" y="572835"/>
                </a:lnTo>
                <a:lnTo>
                  <a:pt x="0" y="572835"/>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26" name="Freeform 26"/>
          <p:cNvSpPr/>
          <p:nvPr/>
        </p:nvSpPr>
        <p:spPr>
          <a:xfrm>
            <a:off x="8830955" y="7685364"/>
            <a:ext cx="531362" cy="642777"/>
          </a:xfrm>
          <a:custGeom>
            <a:avLst/>
            <a:gdLst/>
            <a:ahLst/>
            <a:cxnLst/>
            <a:rect l="l" t="t" r="r" b="b"/>
            <a:pathLst>
              <a:path w="531362" h="642777">
                <a:moveTo>
                  <a:pt x="0" y="0"/>
                </a:moveTo>
                <a:lnTo>
                  <a:pt x="531362" y="0"/>
                </a:lnTo>
                <a:lnTo>
                  <a:pt x="531362" y="642777"/>
                </a:lnTo>
                <a:lnTo>
                  <a:pt x="0" y="642777"/>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27" name="TextBox 27"/>
          <p:cNvSpPr txBox="1"/>
          <p:nvPr/>
        </p:nvSpPr>
        <p:spPr>
          <a:xfrm>
            <a:off x="4264753" y="5484369"/>
            <a:ext cx="3890963" cy="796180"/>
          </a:xfrm>
          <a:prstGeom prst="rect">
            <a:avLst/>
          </a:prstGeom>
        </p:spPr>
        <p:txBody>
          <a:bodyPr wrap="square" lIns="0" tIns="0" rIns="0" bIns="0" rtlCol="0" anchor="t">
            <a:spAutoFit/>
          </a:bodyPr>
          <a:lstStyle/>
          <a:p>
            <a:pPr algn="ctr">
              <a:lnSpc>
                <a:spcPts val="3135"/>
              </a:lnSpc>
            </a:pPr>
            <a:r>
              <a:rPr lang="en-US" sz="2799" b="1" dirty="0">
                <a:solidFill>
                  <a:srgbClr val="002B11"/>
                </a:solidFill>
                <a:latin typeface="Poppins Bold"/>
                <a:ea typeface="Poppins Bold"/>
                <a:cs typeface="Poppins Bold"/>
                <a:sym typeface="Poppins Bold"/>
              </a:rPr>
              <a:t>Use macros based on decision</a:t>
            </a:r>
          </a:p>
        </p:txBody>
      </p:sp>
      <p:sp>
        <p:nvSpPr>
          <p:cNvPr id="28" name="TextBox 28"/>
          <p:cNvSpPr txBox="1"/>
          <p:nvPr/>
        </p:nvSpPr>
        <p:spPr>
          <a:xfrm>
            <a:off x="8842626" y="2604904"/>
            <a:ext cx="1130573" cy="606224"/>
          </a:xfrm>
          <a:prstGeom prst="rect">
            <a:avLst/>
          </a:prstGeom>
        </p:spPr>
        <p:txBody>
          <a:bodyPr lIns="0" tIns="0" rIns="0" bIns="0" rtlCol="0" anchor="t">
            <a:spAutoFit/>
          </a:bodyPr>
          <a:lstStyle/>
          <a:p>
            <a:pPr algn="r">
              <a:lnSpc>
                <a:spcPts val="4492"/>
              </a:lnSpc>
            </a:pPr>
            <a:r>
              <a:rPr lang="en-US" sz="4011" b="1" dirty="0">
                <a:solidFill>
                  <a:srgbClr val="122359"/>
                </a:solidFill>
                <a:latin typeface="Poppins Bold"/>
                <a:ea typeface="Poppins Bold"/>
                <a:cs typeface="Poppins Bold"/>
                <a:sym typeface="Poppins Bold"/>
              </a:rPr>
              <a:t>01</a:t>
            </a:r>
          </a:p>
        </p:txBody>
      </p:sp>
      <p:sp>
        <p:nvSpPr>
          <p:cNvPr id="29" name="TextBox 29"/>
          <p:cNvSpPr txBox="1"/>
          <p:nvPr/>
        </p:nvSpPr>
        <p:spPr>
          <a:xfrm>
            <a:off x="9992249" y="4265988"/>
            <a:ext cx="1130573" cy="606224"/>
          </a:xfrm>
          <a:prstGeom prst="rect">
            <a:avLst/>
          </a:prstGeom>
        </p:spPr>
        <p:txBody>
          <a:bodyPr lIns="0" tIns="0" rIns="0" bIns="0" rtlCol="0" anchor="t">
            <a:spAutoFit/>
          </a:bodyPr>
          <a:lstStyle/>
          <a:p>
            <a:pPr algn="r">
              <a:lnSpc>
                <a:spcPts val="4492"/>
              </a:lnSpc>
            </a:pPr>
            <a:r>
              <a:rPr lang="en-US" sz="4011" b="1">
                <a:solidFill>
                  <a:srgbClr val="122359"/>
                </a:solidFill>
                <a:latin typeface="Poppins Bold"/>
                <a:ea typeface="Poppins Bold"/>
                <a:cs typeface="Poppins Bold"/>
                <a:sym typeface="Poppins Bold"/>
              </a:rPr>
              <a:t>02</a:t>
            </a:r>
          </a:p>
        </p:txBody>
      </p:sp>
      <p:sp>
        <p:nvSpPr>
          <p:cNvPr id="30" name="TextBox 30"/>
          <p:cNvSpPr txBox="1"/>
          <p:nvPr/>
        </p:nvSpPr>
        <p:spPr>
          <a:xfrm>
            <a:off x="9546869" y="7710926"/>
            <a:ext cx="1130573" cy="606224"/>
          </a:xfrm>
          <a:prstGeom prst="rect">
            <a:avLst/>
          </a:prstGeom>
        </p:spPr>
        <p:txBody>
          <a:bodyPr lIns="0" tIns="0" rIns="0" bIns="0" rtlCol="0" anchor="t">
            <a:spAutoFit/>
          </a:bodyPr>
          <a:lstStyle/>
          <a:p>
            <a:pPr algn="r">
              <a:lnSpc>
                <a:spcPts val="4492"/>
              </a:lnSpc>
            </a:pPr>
            <a:r>
              <a:rPr lang="en-US" sz="4011" b="1">
                <a:solidFill>
                  <a:srgbClr val="122359"/>
                </a:solidFill>
                <a:latin typeface="Poppins Bold"/>
                <a:ea typeface="Poppins Bold"/>
                <a:cs typeface="Poppins Bold"/>
                <a:sym typeface="Poppins Bold"/>
              </a:rPr>
              <a:t>04</a:t>
            </a:r>
          </a:p>
        </p:txBody>
      </p:sp>
      <p:sp>
        <p:nvSpPr>
          <p:cNvPr id="31" name="TextBox 31"/>
          <p:cNvSpPr txBox="1"/>
          <p:nvPr/>
        </p:nvSpPr>
        <p:spPr>
          <a:xfrm>
            <a:off x="10039874" y="5958189"/>
            <a:ext cx="1130573" cy="606224"/>
          </a:xfrm>
          <a:prstGeom prst="rect">
            <a:avLst/>
          </a:prstGeom>
        </p:spPr>
        <p:txBody>
          <a:bodyPr lIns="0" tIns="0" rIns="0" bIns="0" rtlCol="0" anchor="t">
            <a:spAutoFit/>
          </a:bodyPr>
          <a:lstStyle/>
          <a:p>
            <a:pPr algn="r">
              <a:lnSpc>
                <a:spcPts val="4492"/>
              </a:lnSpc>
            </a:pPr>
            <a:r>
              <a:rPr lang="en-US" sz="4011" b="1">
                <a:solidFill>
                  <a:srgbClr val="122359"/>
                </a:solidFill>
                <a:latin typeface="Poppins Bold"/>
                <a:ea typeface="Poppins Bold"/>
                <a:cs typeface="Poppins Bold"/>
                <a:sym typeface="Poppins Bold"/>
              </a:rPr>
              <a:t>03</a:t>
            </a:r>
          </a:p>
        </p:txBody>
      </p:sp>
      <p:sp>
        <p:nvSpPr>
          <p:cNvPr id="32" name="TextBox 32"/>
          <p:cNvSpPr txBox="1"/>
          <p:nvPr/>
        </p:nvSpPr>
        <p:spPr>
          <a:xfrm>
            <a:off x="10489261" y="2932031"/>
            <a:ext cx="6198539" cy="367537"/>
          </a:xfrm>
          <a:prstGeom prst="rect">
            <a:avLst/>
          </a:prstGeom>
        </p:spPr>
        <p:txBody>
          <a:bodyPr wrap="square" lIns="0" tIns="0" rIns="0" bIns="0" rtlCol="0" anchor="t">
            <a:spAutoFit/>
          </a:bodyPr>
          <a:lstStyle/>
          <a:p>
            <a:pPr algn="l">
              <a:lnSpc>
                <a:spcPts val="3024"/>
              </a:lnSpc>
            </a:pPr>
            <a:r>
              <a:rPr lang="en-US" sz="2200" dirty="0">
                <a:solidFill>
                  <a:srgbClr val="000000"/>
                </a:solidFill>
                <a:latin typeface="Poppins"/>
                <a:ea typeface="Poppins"/>
                <a:cs typeface="Poppins"/>
                <a:sym typeface="Poppins"/>
              </a:rPr>
              <a:t>Review Removed (RESUBMIT) or (REJECT/CI)</a:t>
            </a:r>
          </a:p>
        </p:txBody>
      </p:sp>
      <p:sp>
        <p:nvSpPr>
          <p:cNvPr id="33" name="TextBox 33"/>
          <p:cNvSpPr txBox="1"/>
          <p:nvPr/>
        </p:nvSpPr>
        <p:spPr>
          <a:xfrm>
            <a:off x="11512358" y="4711911"/>
            <a:ext cx="5175442" cy="320601"/>
          </a:xfrm>
          <a:prstGeom prst="rect">
            <a:avLst/>
          </a:prstGeom>
        </p:spPr>
        <p:txBody>
          <a:bodyPr wrap="square" lIns="0" tIns="0" rIns="0" bIns="0" rtlCol="0" anchor="t">
            <a:spAutoFit/>
          </a:bodyPr>
          <a:lstStyle/>
          <a:p>
            <a:pPr algn="l">
              <a:lnSpc>
                <a:spcPts val="2520"/>
              </a:lnSpc>
              <a:spcBef>
                <a:spcPct val="0"/>
              </a:spcBef>
            </a:pPr>
            <a:r>
              <a:rPr lang="en-US" sz="2200" dirty="0">
                <a:solidFill>
                  <a:srgbClr val="000000"/>
                </a:solidFill>
                <a:latin typeface="Poppins"/>
                <a:ea typeface="Poppins"/>
                <a:cs typeface="Poppins"/>
                <a:sym typeface="Poppins"/>
              </a:rPr>
              <a:t>RMG General or RMG Scenarios</a:t>
            </a:r>
          </a:p>
        </p:txBody>
      </p:sp>
      <p:sp>
        <p:nvSpPr>
          <p:cNvPr id="34" name="TextBox 34"/>
          <p:cNvSpPr txBox="1"/>
          <p:nvPr/>
        </p:nvSpPr>
        <p:spPr>
          <a:xfrm>
            <a:off x="11066978" y="8061964"/>
            <a:ext cx="4210935" cy="325755"/>
          </a:xfrm>
          <a:prstGeom prst="rect">
            <a:avLst/>
          </a:prstGeom>
        </p:spPr>
        <p:txBody>
          <a:bodyPr lIns="0" tIns="0" rIns="0" bIns="0" rtlCol="0" anchor="t">
            <a:spAutoFit/>
          </a:bodyPr>
          <a:lstStyle/>
          <a:p>
            <a:pPr algn="l">
              <a:lnSpc>
                <a:spcPts val="2520"/>
              </a:lnSpc>
            </a:pPr>
            <a:r>
              <a:rPr lang="en-US" sz="2200" dirty="0">
                <a:solidFill>
                  <a:srgbClr val="000000"/>
                </a:solidFill>
                <a:latin typeface="Poppins"/>
                <a:ea typeface="Poppins"/>
                <a:cs typeface="Poppins"/>
                <a:sym typeface="Poppins"/>
              </a:rPr>
              <a:t>Pending User Verification</a:t>
            </a:r>
          </a:p>
        </p:txBody>
      </p:sp>
      <p:sp>
        <p:nvSpPr>
          <p:cNvPr id="35" name="TextBox 35"/>
          <p:cNvSpPr txBox="1"/>
          <p:nvPr/>
        </p:nvSpPr>
        <p:spPr>
          <a:xfrm>
            <a:off x="11525221" y="6406383"/>
            <a:ext cx="5813617" cy="666570"/>
          </a:xfrm>
          <a:prstGeom prst="rect">
            <a:avLst/>
          </a:prstGeom>
        </p:spPr>
        <p:txBody>
          <a:bodyPr wrap="square" lIns="0" tIns="0" rIns="0" bIns="0" rtlCol="0" anchor="t">
            <a:spAutoFit/>
          </a:bodyPr>
          <a:lstStyle/>
          <a:p>
            <a:pPr algn="l">
              <a:lnSpc>
                <a:spcPts val="2520"/>
              </a:lnSpc>
              <a:spcBef>
                <a:spcPct val="0"/>
              </a:spcBef>
            </a:pPr>
            <a:r>
              <a:rPr lang="en-US" sz="2200" dirty="0">
                <a:solidFill>
                  <a:srgbClr val="000000"/>
                </a:solidFill>
                <a:latin typeface="Poppins"/>
                <a:ea typeface="Poppins"/>
                <a:cs typeface="Poppins"/>
                <a:sym typeface="Poppins"/>
              </a:rPr>
              <a:t>Final Decision macro if owner disputes repeatedly</a:t>
            </a:r>
          </a:p>
        </p:txBody>
      </p:sp>
      <p:sp>
        <p:nvSpPr>
          <p:cNvPr id="36" name="TextBox 36"/>
          <p:cNvSpPr txBox="1"/>
          <p:nvPr/>
        </p:nvSpPr>
        <p:spPr>
          <a:xfrm>
            <a:off x="10499003" y="2472500"/>
            <a:ext cx="4210935" cy="446913"/>
          </a:xfrm>
          <a:prstGeom prst="rect">
            <a:avLst/>
          </a:prstGeom>
        </p:spPr>
        <p:txBody>
          <a:bodyPr wrap="square" lIns="0" tIns="0" rIns="0" bIns="0" rtlCol="0" anchor="t">
            <a:spAutoFit/>
          </a:bodyPr>
          <a:lstStyle>
            <a:defPPr>
              <a:defRPr lang="en-US"/>
            </a:defPPr>
            <a:lvl1pPr>
              <a:lnSpc>
                <a:spcPts val="3024"/>
              </a:lnSpc>
              <a:defRPr sz="2200">
                <a:solidFill>
                  <a:srgbClr val="000000"/>
                </a:solidFill>
                <a:latin typeface="Poppins"/>
                <a:ea typeface="Poppins"/>
                <a:cs typeface="Poppins"/>
              </a:defRPr>
            </a:lvl1pPr>
          </a:lstStyle>
          <a:p>
            <a:r>
              <a:rPr lang="en-US" b="1" dirty="0">
                <a:sym typeface="Poppins Bold"/>
              </a:rPr>
              <a:t>Review Removed</a:t>
            </a:r>
          </a:p>
        </p:txBody>
      </p:sp>
      <p:sp>
        <p:nvSpPr>
          <p:cNvPr id="37" name="TextBox 37"/>
          <p:cNvSpPr txBox="1"/>
          <p:nvPr/>
        </p:nvSpPr>
        <p:spPr>
          <a:xfrm>
            <a:off x="11512358" y="4247045"/>
            <a:ext cx="4210935" cy="391795"/>
          </a:xfrm>
          <a:prstGeom prst="rect">
            <a:avLst/>
          </a:prstGeom>
        </p:spPr>
        <p:txBody>
          <a:bodyPr wrap="square" lIns="0" tIns="0" rIns="0" bIns="0" rtlCol="0" anchor="t">
            <a:spAutoFit/>
          </a:bodyPr>
          <a:lstStyle>
            <a:defPPr>
              <a:defRPr lang="en-US"/>
            </a:defPPr>
            <a:lvl1pPr>
              <a:lnSpc>
                <a:spcPts val="3024"/>
              </a:lnSpc>
              <a:defRPr sz="2200" b="1">
                <a:solidFill>
                  <a:srgbClr val="000000"/>
                </a:solidFill>
                <a:latin typeface="Poppins"/>
                <a:ea typeface="Poppins"/>
                <a:cs typeface="Poppins"/>
              </a:defRPr>
            </a:lvl1pPr>
          </a:lstStyle>
          <a:p>
            <a:r>
              <a:rPr lang="en-US" dirty="0">
                <a:sym typeface="Poppins Bold"/>
              </a:rPr>
              <a:t>Review Kept</a:t>
            </a:r>
          </a:p>
        </p:txBody>
      </p:sp>
      <p:sp>
        <p:nvSpPr>
          <p:cNvPr id="38" name="TextBox 38"/>
          <p:cNvSpPr txBox="1"/>
          <p:nvPr/>
        </p:nvSpPr>
        <p:spPr>
          <a:xfrm>
            <a:off x="11066978" y="7676700"/>
            <a:ext cx="4210935" cy="391795"/>
          </a:xfrm>
          <a:prstGeom prst="rect">
            <a:avLst/>
          </a:prstGeom>
        </p:spPr>
        <p:txBody>
          <a:bodyPr wrap="square" lIns="0" tIns="0" rIns="0" bIns="0" rtlCol="0" anchor="t">
            <a:spAutoFit/>
          </a:bodyPr>
          <a:lstStyle>
            <a:defPPr>
              <a:defRPr lang="en-US"/>
            </a:defPPr>
            <a:lvl1pPr>
              <a:lnSpc>
                <a:spcPts val="3024"/>
              </a:lnSpc>
              <a:defRPr sz="2200" b="1">
                <a:solidFill>
                  <a:srgbClr val="000000"/>
                </a:solidFill>
                <a:latin typeface="Poppins"/>
                <a:ea typeface="Poppins"/>
                <a:cs typeface="Poppins"/>
              </a:defRPr>
            </a:lvl1pPr>
          </a:lstStyle>
          <a:p>
            <a:r>
              <a:rPr lang="en-US" dirty="0">
                <a:sym typeface="Poppins Bold"/>
              </a:rPr>
              <a:t>Pending</a:t>
            </a:r>
          </a:p>
        </p:txBody>
      </p:sp>
      <p:sp>
        <p:nvSpPr>
          <p:cNvPr id="39" name="TextBox 39"/>
          <p:cNvSpPr txBox="1"/>
          <p:nvPr/>
        </p:nvSpPr>
        <p:spPr>
          <a:xfrm>
            <a:off x="11525221" y="5958189"/>
            <a:ext cx="4210935" cy="367473"/>
          </a:xfrm>
          <a:prstGeom prst="rect">
            <a:avLst/>
          </a:prstGeom>
        </p:spPr>
        <p:txBody>
          <a:bodyPr wrap="square" lIns="0" tIns="0" rIns="0" bIns="0" rtlCol="0" anchor="t">
            <a:spAutoFit/>
          </a:bodyPr>
          <a:lstStyle>
            <a:defPPr>
              <a:defRPr lang="en-US"/>
            </a:defPPr>
            <a:lvl1pPr>
              <a:lnSpc>
                <a:spcPts val="3024"/>
              </a:lnSpc>
              <a:defRPr sz="2200" b="1">
                <a:solidFill>
                  <a:srgbClr val="000000"/>
                </a:solidFill>
                <a:latin typeface="Poppins"/>
                <a:ea typeface="Poppins"/>
                <a:cs typeface="Poppins"/>
              </a:defRPr>
            </a:lvl1pPr>
          </a:lstStyle>
          <a:p>
            <a:r>
              <a:rPr lang="en-US" dirty="0">
                <a:sym typeface="Poppins Bold"/>
              </a:rPr>
              <a:t>Pushback</a:t>
            </a:r>
          </a:p>
        </p:txBody>
      </p:sp>
      <p:sp>
        <p:nvSpPr>
          <p:cNvPr id="40" name="TextBox 40"/>
          <p:cNvSpPr txBox="1"/>
          <p:nvPr/>
        </p:nvSpPr>
        <p:spPr>
          <a:xfrm>
            <a:off x="1195093" y="624665"/>
            <a:ext cx="9294168" cy="934720"/>
          </a:xfrm>
          <a:prstGeom prst="rect">
            <a:avLst/>
          </a:prstGeom>
        </p:spPr>
        <p:txBody>
          <a:bodyPr lIns="0" tIns="0" rIns="0" bIns="0" rtlCol="0" anchor="t">
            <a:spAutoFit/>
          </a:bodyPr>
          <a:lstStyle/>
          <a:p>
            <a:pPr algn="ctr">
              <a:lnSpc>
                <a:spcPts val="7279"/>
              </a:lnSpc>
              <a:spcBef>
                <a:spcPct val="0"/>
              </a:spcBef>
            </a:pPr>
            <a:r>
              <a:rPr lang="en-US" sz="5199" b="1" dirty="0">
                <a:solidFill>
                  <a:srgbClr val="000000"/>
                </a:solidFill>
                <a:latin typeface="Poppins Bold"/>
                <a:ea typeface="Poppins Bold"/>
                <a:cs typeface="Poppins Bold"/>
                <a:sym typeface="Poppins Bold"/>
              </a:rPr>
              <a:t>Step 7 - Emailing the Owner</a:t>
            </a:r>
          </a:p>
        </p:txBody>
      </p:sp>
      <p:sp>
        <p:nvSpPr>
          <p:cNvPr id="44" name="TextBox 43">
            <a:extLst>
              <a:ext uri="{FF2B5EF4-FFF2-40B4-BE49-F238E27FC236}">
                <a16:creationId xmlns:a16="http://schemas.microsoft.com/office/drawing/2014/main" id="{797B386E-4ADC-BAB1-E020-4B21550D73E0}"/>
              </a:ext>
            </a:extLst>
          </p:cNvPr>
          <p:cNvSpPr txBox="1"/>
          <p:nvPr/>
        </p:nvSpPr>
        <p:spPr>
          <a:xfrm>
            <a:off x="677441" y="9677178"/>
            <a:ext cx="10000001" cy="314772"/>
          </a:xfrm>
          <a:prstGeom prst="rect">
            <a:avLst/>
          </a:prstGeom>
          <a:noFill/>
        </p:spPr>
        <p:txBody>
          <a:bodyPr wrap="square" anchor="t">
            <a:spAutoFit/>
          </a:bodyPr>
          <a:lstStyle>
            <a:defPPr>
              <a:defRPr lang="en-US"/>
            </a:defPPr>
            <a:lvl1pPr defTabSz="914445">
              <a:defRPr sz="1400">
                <a:solidFill>
                  <a:srgbClr val="8A8272"/>
                </a:solidFill>
                <a:latin typeface="Poppins"/>
              </a:defRPr>
            </a:lvl1pPr>
            <a:lvl2pPr marL="685800" defTabSz="1371600">
              <a:defRPr sz="2700"/>
            </a:lvl2pPr>
            <a:lvl3pPr marL="1371600" defTabSz="1371600">
              <a:defRPr sz="2700"/>
            </a:lvl3pPr>
            <a:lvl4pPr marL="2057400" defTabSz="1371600">
              <a:defRPr sz="2700"/>
            </a:lvl4pPr>
            <a:lvl5pPr marL="2743200" defTabSz="1371600">
              <a:defRPr sz="2700"/>
            </a:lvl5pPr>
            <a:lvl6pPr marL="3429000" defTabSz="1371600">
              <a:defRPr sz="2700"/>
            </a:lvl6pPr>
            <a:lvl7pPr marL="4114800" defTabSz="1371600">
              <a:defRPr sz="2700"/>
            </a:lvl7pPr>
            <a:lvl8pPr marL="4800600" defTabSz="1371600">
              <a:defRPr sz="2700"/>
            </a:lvl8pPr>
            <a:lvl9pPr marL="5486400" defTabSz="1371600">
              <a:defRPr sz="2700"/>
            </a:lvl9pPr>
          </a:lstStyle>
          <a:p>
            <a:pPr defTabSz="914441"/>
            <a:r>
              <a:rPr dirty="0"/>
              <a:t>T</a:t>
            </a:r>
            <a:r>
              <a:rPr lang="en-US" dirty="0"/>
              <a:t>ripadvisor / Owner Review Disputes</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B5184"/>
        </a:solidFill>
        <a:effectLst/>
      </p:bgPr>
    </p:bg>
    <p:spTree>
      <p:nvGrpSpPr>
        <p:cNvPr id="1" name="">
          <a:extLst>
            <a:ext uri="{FF2B5EF4-FFF2-40B4-BE49-F238E27FC236}">
              <a16:creationId xmlns:a16="http://schemas.microsoft.com/office/drawing/2014/main" id="{1F0CB6DE-53C4-2FD7-29B5-C8335BDFCC62}"/>
            </a:ext>
          </a:extLst>
        </p:cNvPr>
        <p:cNvGrpSpPr/>
        <p:nvPr/>
      </p:nvGrpSpPr>
      <p:grpSpPr>
        <a:xfrm>
          <a:off x="0" y="0"/>
          <a:ext cx="0" cy="0"/>
          <a:chOff x="0" y="0"/>
          <a:chExt cx="0" cy="0"/>
        </a:xfrm>
      </p:grpSpPr>
      <p:pic>
        <p:nvPicPr>
          <p:cNvPr id="29" name="Picture 28">
            <a:extLst>
              <a:ext uri="{FF2B5EF4-FFF2-40B4-BE49-F238E27FC236}">
                <a16:creationId xmlns:a16="http://schemas.microsoft.com/office/drawing/2014/main" id="{E453BA37-28CF-77B1-DDEC-9DE01E146E7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78385" y="190500"/>
            <a:ext cx="17331231" cy="8229600"/>
          </a:xfrm>
          <a:prstGeom prst="rect">
            <a:avLst/>
          </a:prstGeom>
        </p:spPr>
      </p:pic>
      <p:sp>
        <p:nvSpPr>
          <p:cNvPr id="3" name="AutoShape 3">
            <a:extLst>
              <a:ext uri="{FF2B5EF4-FFF2-40B4-BE49-F238E27FC236}">
                <a16:creationId xmlns:a16="http://schemas.microsoft.com/office/drawing/2014/main" id="{5E3977BB-EC32-ABF8-2EF4-8D12560B2DD3}"/>
              </a:ext>
            </a:extLst>
          </p:cNvPr>
          <p:cNvSpPr/>
          <p:nvPr/>
        </p:nvSpPr>
        <p:spPr>
          <a:xfrm>
            <a:off x="478385" y="8703951"/>
            <a:ext cx="17331231" cy="0"/>
          </a:xfrm>
          <a:prstGeom prst="line">
            <a:avLst/>
          </a:prstGeom>
          <a:ln w="38100" cap="flat">
            <a:solidFill>
              <a:srgbClr val="002B11"/>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4" name="Group 4">
            <a:extLst>
              <a:ext uri="{FF2B5EF4-FFF2-40B4-BE49-F238E27FC236}">
                <a16:creationId xmlns:a16="http://schemas.microsoft.com/office/drawing/2014/main" id="{69913D8E-6E8C-CFB3-B0E8-A7417EBA223C}"/>
              </a:ext>
            </a:extLst>
          </p:cNvPr>
          <p:cNvGrpSpPr/>
          <p:nvPr/>
        </p:nvGrpSpPr>
        <p:grpSpPr>
          <a:xfrm>
            <a:off x="1028700" y="671195"/>
            <a:ext cx="2239382" cy="670446"/>
            <a:chOff x="0" y="0"/>
            <a:chExt cx="589796" cy="176578"/>
          </a:xfrm>
        </p:grpSpPr>
        <p:sp>
          <p:nvSpPr>
            <p:cNvPr id="5" name="Freeform 5">
              <a:extLst>
                <a:ext uri="{FF2B5EF4-FFF2-40B4-BE49-F238E27FC236}">
                  <a16:creationId xmlns:a16="http://schemas.microsoft.com/office/drawing/2014/main" id="{6C2D391F-940D-3580-40BC-8C9F7316482C}"/>
                </a:ext>
              </a:extLst>
            </p:cNvPr>
            <p:cNvSpPr/>
            <p:nvPr/>
          </p:nvSpPr>
          <p:spPr>
            <a:xfrm>
              <a:off x="0" y="0"/>
              <a:ext cx="589796" cy="176578"/>
            </a:xfrm>
            <a:custGeom>
              <a:avLst/>
              <a:gdLst/>
              <a:ahLst/>
              <a:cxnLst/>
              <a:rect l="l" t="t" r="r" b="b"/>
              <a:pathLst>
                <a:path w="589796" h="176578">
                  <a:moveTo>
                    <a:pt x="88289" y="0"/>
                  </a:moveTo>
                  <a:lnTo>
                    <a:pt x="501507" y="0"/>
                  </a:lnTo>
                  <a:cubicBezTo>
                    <a:pt x="524923" y="0"/>
                    <a:pt x="547379" y="9302"/>
                    <a:pt x="563937" y="25859"/>
                  </a:cubicBezTo>
                  <a:cubicBezTo>
                    <a:pt x="580494" y="42417"/>
                    <a:pt x="589796" y="64873"/>
                    <a:pt x="589796" y="88289"/>
                  </a:cubicBezTo>
                  <a:lnTo>
                    <a:pt x="589796" y="88289"/>
                  </a:lnTo>
                  <a:cubicBezTo>
                    <a:pt x="589796" y="137050"/>
                    <a:pt x="550268" y="176578"/>
                    <a:pt x="501507" y="176578"/>
                  </a:cubicBezTo>
                  <a:lnTo>
                    <a:pt x="88289" y="176578"/>
                  </a:lnTo>
                  <a:cubicBezTo>
                    <a:pt x="39528" y="176578"/>
                    <a:pt x="0" y="137050"/>
                    <a:pt x="0" y="88289"/>
                  </a:cubicBezTo>
                  <a:lnTo>
                    <a:pt x="0" y="88289"/>
                  </a:lnTo>
                  <a:cubicBezTo>
                    <a:pt x="0" y="39528"/>
                    <a:pt x="39528" y="0"/>
                    <a:pt x="88289" y="0"/>
                  </a:cubicBezTo>
                  <a:close/>
                </a:path>
              </a:pathLst>
            </a:custGeom>
            <a:solidFill>
              <a:srgbClr val="FB5184"/>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6">
              <a:extLst>
                <a:ext uri="{FF2B5EF4-FFF2-40B4-BE49-F238E27FC236}">
                  <a16:creationId xmlns:a16="http://schemas.microsoft.com/office/drawing/2014/main" id="{34C3FE97-8BBC-907D-9026-CD02C6EE6A9B}"/>
                </a:ext>
              </a:extLst>
            </p:cNvPr>
            <p:cNvSpPr txBox="1"/>
            <p:nvPr/>
          </p:nvSpPr>
          <p:spPr>
            <a:xfrm>
              <a:off x="0" y="-47625"/>
              <a:ext cx="589796" cy="224203"/>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 name="Group 7">
            <a:extLst>
              <a:ext uri="{FF2B5EF4-FFF2-40B4-BE49-F238E27FC236}">
                <a16:creationId xmlns:a16="http://schemas.microsoft.com/office/drawing/2014/main" id="{1EF41EAD-B107-44A7-DBD8-337C86686A1B}"/>
              </a:ext>
            </a:extLst>
          </p:cNvPr>
          <p:cNvGrpSpPr/>
          <p:nvPr/>
        </p:nvGrpSpPr>
        <p:grpSpPr>
          <a:xfrm>
            <a:off x="14684028" y="574219"/>
            <a:ext cx="2725614" cy="622382"/>
            <a:chOff x="0" y="0"/>
            <a:chExt cx="717857" cy="163920"/>
          </a:xfrm>
        </p:grpSpPr>
        <p:sp>
          <p:nvSpPr>
            <p:cNvPr id="8" name="Freeform 8">
              <a:extLst>
                <a:ext uri="{FF2B5EF4-FFF2-40B4-BE49-F238E27FC236}">
                  <a16:creationId xmlns:a16="http://schemas.microsoft.com/office/drawing/2014/main" id="{8175D15A-1439-0A96-2DCD-024D36DD51DE}"/>
                </a:ext>
              </a:extLst>
            </p:cNvPr>
            <p:cNvSpPr/>
            <p:nvPr/>
          </p:nvSpPr>
          <p:spPr>
            <a:xfrm>
              <a:off x="0" y="0"/>
              <a:ext cx="717857" cy="163920"/>
            </a:xfrm>
            <a:custGeom>
              <a:avLst/>
              <a:gdLst/>
              <a:ahLst/>
              <a:cxnLst/>
              <a:rect l="l" t="t" r="r" b="b"/>
              <a:pathLst>
                <a:path w="717857" h="163920">
                  <a:moveTo>
                    <a:pt x="81960" y="0"/>
                  </a:moveTo>
                  <a:lnTo>
                    <a:pt x="635897" y="0"/>
                  </a:lnTo>
                  <a:cubicBezTo>
                    <a:pt x="681163" y="0"/>
                    <a:pt x="717857" y="36695"/>
                    <a:pt x="717857" y="81960"/>
                  </a:cubicBezTo>
                  <a:lnTo>
                    <a:pt x="717857" y="81960"/>
                  </a:lnTo>
                  <a:cubicBezTo>
                    <a:pt x="717857" y="103697"/>
                    <a:pt x="709222" y="124544"/>
                    <a:pt x="693852" y="139914"/>
                  </a:cubicBezTo>
                  <a:cubicBezTo>
                    <a:pt x="678481" y="155285"/>
                    <a:pt x="657634" y="163920"/>
                    <a:pt x="635897" y="163920"/>
                  </a:cubicBezTo>
                  <a:lnTo>
                    <a:pt x="81960" y="163920"/>
                  </a:lnTo>
                  <a:cubicBezTo>
                    <a:pt x="36695" y="163920"/>
                    <a:pt x="0" y="127225"/>
                    <a:pt x="0" y="81960"/>
                  </a:cubicBezTo>
                  <a:lnTo>
                    <a:pt x="0" y="81960"/>
                  </a:lnTo>
                  <a:cubicBezTo>
                    <a:pt x="0" y="36695"/>
                    <a:pt x="36695" y="0"/>
                    <a:pt x="81960" y="0"/>
                  </a:cubicBezTo>
                  <a:close/>
                </a:path>
              </a:pathLst>
            </a:custGeom>
            <a:solidFill>
              <a:srgbClr val="FB5184"/>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TextBox 9">
              <a:extLst>
                <a:ext uri="{FF2B5EF4-FFF2-40B4-BE49-F238E27FC236}">
                  <a16:creationId xmlns:a16="http://schemas.microsoft.com/office/drawing/2014/main" id="{DA1F547D-8812-5E75-6ADD-97F657DD3806}"/>
                </a:ext>
              </a:extLst>
            </p:cNvPr>
            <p:cNvSpPr txBox="1"/>
            <p:nvPr/>
          </p:nvSpPr>
          <p:spPr>
            <a:xfrm>
              <a:off x="0" y="-47625"/>
              <a:ext cx="717857" cy="211545"/>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0" name="TextBox 10">
            <a:extLst>
              <a:ext uri="{FF2B5EF4-FFF2-40B4-BE49-F238E27FC236}">
                <a16:creationId xmlns:a16="http://schemas.microsoft.com/office/drawing/2014/main" id="{65CE5F44-7DAF-6A7B-0EA8-84DC112B7FFC}"/>
              </a:ext>
            </a:extLst>
          </p:cNvPr>
          <p:cNvSpPr txBox="1"/>
          <p:nvPr/>
        </p:nvSpPr>
        <p:spPr>
          <a:xfrm>
            <a:off x="478385" y="8719968"/>
            <a:ext cx="17809615" cy="1279196"/>
          </a:xfrm>
          <a:prstGeom prst="rect">
            <a:avLst/>
          </a:prstGeom>
        </p:spPr>
        <p:txBody>
          <a:bodyPr wrap="square" lIns="0" tIns="0" rIns="0" bIns="0" rtlCol="0" anchor="t">
            <a:spAutoFit/>
          </a:bodyPr>
          <a:lstStyle/>
          <a:p>
            <a:pPr marL="0" marR="0" lvl="0" indent="0" algn="l" defTabSz="914400" rtl="0" eaLnBrk="1" fontAlgn="auto" latinLnBrk="0" hangingPunct="1">
              <a:lnSpc>
                <a:spcPts val="10500"/>
              </a:lnSpc>
              <a:spcBef>
                <a:spcPts val="0"/>
              </a:spcBef>
              <a:spcAft>
                <a:spcPts val="0"/>
              </a:spcAft>
              <a:buClrTx/>
              <a:buSzTx/>
              <a:buFontTx/>
              <a:buNone/>
              <a:tabLst/>
              <a:defRPr/>
            </a:pPr>
            <a:r>
              <a:rPr kumimoji="0" lang="en-US" sz="7500" b="1" i="0" u="none" strike="noStrike" kern="1200" cap="none" spc="0" normalizeH="0" baseline="0" noProof="0" dirty="0">
                <a:ln>
                  <a:noFill/>
                </a:ln>
                <a:solidFill>
                  <a:srgbClr val="002B11"/>
                </a:solidFill>
                <a:effectLst/>
                <a:uLnTx/>
                <a:uFillTx/>
                <a:latin typeface="Poppins Bold"/>
                <a:ea typeface="Poppins Bold"/>
                <a:cs typeface="Poppins Bold"/>
                <a:sym typeface="Poppins Bold"/>
              </a:rPr>
              <a:t>02. Handling Special Scenarios</a:t>
            </a:r>
          </a:p>
        </p:txBody>
      </p:sp>
      <p:sp>
        <p:nvSpPr>
          <p:cNvPr id="11" name="TextBox 11">
            <a:extLst>
              <a:ext uri="{FF2B5EF4-FFF2-40B4-BE49-F238E27FC236}">
                <a16:creationId xmlns:a16="http://schemas.microsoft.com/office/drawing/2014/main" id="{0CF58C0D-A1FA-9EF1-9EEC-21E067C66C64}"/>
              </a:ext>
            </a:extLst>
          </p:cNvPr>
          <p:cNvSpPr txBox="1"/>
          <p:nvPr/>
        </p:nvSpPr>
        <p:spPr>
          <a:xfrm>
            <a:off x="1141613" y="801147"/>
            <a:ext cx="2013556" cy="377091"/>
          </a:xfrm>
          <a:prstGeom prst="rect">
            <a:avLst/>
          </a:prstGeom>
        </p:spPr>
        <p:txBody>
          <a:bodyPr wrap="square" lIns="0" tIns="0" rIns="0" bIns="0" rtlCol="0" anchor="t">
            <a:spAutoFit/>
          </a:bodyPr>
          <a:lstStyle/>
          <a:p>
            <a:pPr marL="0" marR="0" lvl="0" indent="0" algn="ctr" defTabSz="914400" rtl="0" eaLnBrk="1" fontAlgn="auto" latinLnBrk="0" hangingPunct="1">
              <a:lnSpc>
                <a:spcPts val="3079"/>
              </a:lnSpc>
              <a:spcBef>
                <a:spcPts val="0"/>
              </a:spcBef>
              <a:spcAft>
                <a:spcPts val="0"/>
              </a:spcAft>
              <a:buClrTx/>
              <a:buSzTx/>
              <a:buFontTx/>
              <a:buNone/>
              <a:tabLst/>
              <a:defRPr/>
            </a:pPr>
            <a:r>
              <a:rPr kumimoji="0" lang="en-US" sz="2199" b="1" i="0" u="none" strike="noStrike" kern="1200" cap="none" spc="0" normalizeH="0" baseline="0" noProof="0" dirty="0">
                <a:ln>
                  <a:noFill/>
                </a:ln>
                <a:solidFill>
                  <a:srgbClr val="002B11"/>
                </a:solidFill>
                <a:effectLst/>
                <a:uLnTx/>
                <a:uFillTx/>
                <a:latin typeface="Poppins Bold"/>
                <a:ea typeface="Poppins Bold"/>
                <a:cs typeface="Poppins Bold"/>
                <a:sym typeface="Poppins Bold"/>
              </a:rPr>
              <a:t>Canada</a:t>
            </a:r>
          </a:p>
        </p:txBody>
      </p:sp>
      <p:grpSp>
        <p:nvGrpSpPr>
          <p:cNvPr id="12" name="Group 12">
            <a:extLst>
              <a:ext uri="{FF2B5EF4-FFF2-40B4-BE49-F238E27FC236}">
                <a16:creationId xmlns:a16="http://schemas.microsoft.com/office/drawing/2014/main" id="{DBB1A010-7CFE-0B53-70AE-C09D6EFD4274}"/>
              </a:ext>
            </a:extLst>
          </p:cNvPr>
          <p:cNvGrpSpPr/>
          <p:nvPr/>
        </p:nvGrpSpPr>
        <p:grpSpPr>
          <a:xfrm>
            <a:off x="14869769" y="660457"/>
            <a:ext cx="2354131" cy="449905"/>
            <a:chOff x="0" y="0"/>
            <a:chExt cx="3138841" cy="599873"/>
          </a:xfrm>
        </p:grpSpPr>
        <p:grpSp>
          <p:nvGrpSpPr>
            <p:cNvPr id="13" name="Group 13">
              <a:extLst>
                <a:ext uri="{FF2B5EF4-FFF2-40B4-BE49-F238E27FC236}">
                  <a16:creationId xmlns:a16="http://schemas.microsoft.com/office/drawing/2014/main" id="{768C0523-AF32-0A9D-AAEC-1700701ACBD9}"/>
                </a:ext>
              </a:extLst>
            </p:cNvPr>
            <p:cNvGrpSpPr/>
            <p:nvPr/>
          </p:nvGrpSpPr>
          <p:grpSpPr>
            <a:xfrm>
              <a:off x="0" y="9544"/>
              <a:ext cx="590328" cy="590328"/>
              <a:chOff x="0" y="0"/>
              <a:chExt cx="812800" cy="812800"/>
            </a:xfrm>
          </p:grpSpPr>
          <p:sp>
            <p:nvSpPr>
              <p:cNvPr id="14" name="Freeform 14">
                <a:extLst>
                  <a:ext uri="{FF2B5EF4-FFF2-40B4-BE49-F238E27FC236}">
                    <a16:creationId xmlns:a16="http://schemas.microsoft.com/office/drawing/2014/main" id="{08007B4C-E1A6-0CA1-076A-EBFB52D00EC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2B11"/>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TextBox 15">
                <a:extLst>
                  <a:ext uri="{FF2B5EF4-FFF2-40B4-BE49-F238E27FC236}">
                    <a16:creationId xmlns:a16="http://schemas.microsoft.com/office/drawing/2014/main" id="{E45FD62E-CC92-254B-39CB-9EA52CB4E0E8}"/>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6" name="Group 16">
              <a:extLst>
                <a:ext uri="{FF2B5EF4-FFF2-40B4-BE49-F238E27FC236}">
                  <a16:creationId xmlns:a16="http://schemas.microsoft.com/office/drawing/2014/main" id="{CDD8B42E-7BE5-7D82-3811-A4ECB0A280D1}"/>
                </a:ext>
              </a:extLst>
            </p:cNvPr>
            <p:cNvGrpSpPr/>
            <p:nvPr/>
          </p:nvGrpSpPr>
          <p:grpSpPr>
            <a:xfrm>
              <a:off x="634797" y="9544"/>
              <a:ext cx="590328" cy="590328"/>
              <a:chOff x="0" y="0"/>
              <a:chExt cx="812800" cy="812800"/>
            </a:xfrm>
          </p:grpSpPr>
          <p:sp>
            <p:nvSpPr>
              <p:cNvPr id="17" name="Freeform 17">
                <a:extLst>
                  <a:ext uri="{FF2B5EF4-FFF2-40B4-BE49-F238E27FC236}">
                    <a16:creationId xmlns:a16="http://schemas.microsoft.com/office/drawing/2014/main" id="{089EB8E2-1868-C7A8-52D4-148D168F293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2B11"/>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8" name="TextBox 18">
                <a:extLst>
                  <a:ext uri="{FF2B5EF4-FFF2-40B4-BE49-F238E27FC236}">
                    <a16:creationId xmlns:a16="http://schemas.microsoft.com/office/drawing/2014/main" id="{836BC509-A28E-EB65-FD3C-5E06C823900B}"/>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9" name="Group 19">
              <a:extLst>
                <a:ext uri="{FF2B5EF4-FFF2-40B4-BE49-F238E27FC236}">
                  <a16:creationId xmlns:a16="http://schemas.microsoft.com/office/drawing/2014/main" id="{E82B05DE-DD58-D095-877D-13DA2AAFD38A}"/>
                </a:ext>
              </a:extLst>
            </p:cNvPr>
            <p:cNvGrpSpPr/>
            <p:nvPr/>
          </p:nvGrpSpPr>
          <p:grpSpPr>
            <a:xfrm>
              <a:off x="1275925" y="9544"/>
              <a:ext cx="590328" cy="590328"/>
              <a:chOff x="0" y="0"/>
              <a:chExt cx="812800" cy="812800"/>
            </a:xfrm>
          </p:grpSpPr>
          <p:sp>
            <p:nvSpPr>
              <p:cNvPr id="20" name="Freeform 20">
                <a:extLst>
                  <a:ext uri="{FF2B5EF4-FFF2-40B4-BE49-F238E27FC236}">
                    <a16:creationId xmlns:a16="http://schemas.microsoft.com/office/drawing/2014/main" id="{AD1CD5AC-D350-6C9D-032E-87BFFEB636F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2B11"/>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1" name="TextBox 21">
                <a:extLst>
                  <a:ext uri="{FF2B5EF4-FFF2-40B4-BE49-F238E27FC236}">
                    <a16:creationId xmlns:a16="http://schemas.microsoft.com/office/drawing/2014/main" id="{945A4331-C70A-1516-3FF9-C2455B0D9B1E}"/>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2" name="Group 22">
              <a:extLst>
                <a:ext uri="{FF2B5EF4-FFF2-40B4-BE49-F238E27FC236}">
                  <a16:creationId xmlns:a16="http://schemas.microsoft.com/office/drawing/2014/main" id="{15A6A2D6-BAD3-3997-6CA9-162B4804D01C}"/>
                </a:ext>
              </a:extLst>
            </p:cNvPr>
            <p:cNvGrpSpPr/>
            <p:nvPr/>
          </p:nvGrpSpPr>
          <p:grpSpPr>
            <a:xfrm>
              <a:off x="1917053" y="0"/>
              <a:ext cx="590328" cy="590328"/>
              <a:chOff x="0" y="0"/>
              <a:chExt cx="812800" cy="812800"/>
            </a:xfrm>
          </p:grpSpPr>
          <p:sp>
            <p:nvSpPr>
              <p:cNvPr id="23" name="Freeform 23">
                <a:extLst>
                  <a:ext uri="{FF2B5EF4-FFF2-40B4-BE49-F238E27FC236}">
                    <a16:creationId xmlns:a16="http://schemas.microsoft.com/office/drawing/2014/main" id="{259AABDD-3170-AB3A-7C21-F5BD1A6869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2B11"/>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4" name="TextBox 24">
                <a:extLst>
                  <a:ext uri="{FF2B5EF4-FFF2-40B4-BE49-F238E27FC236}">
                    <a16:creationId xmlns:a16="http://schemas.microsoft.com/office/drawing/2014/main" id="{4DEEEB4E-3C3C-B85C-1FD2-64A2293EC8CB}"/>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5" name="Group 25">
              <a:extLst>
                <a:ext uri="{FF2B5EF4-FFF2-40B4-BE49-F238E27FC236}">
                  <a16:creationId xmlns:a16="http://schemas.microsoft.com/office/drawing/2014/main" id="{C8140690-C49A-7425-41F8-5E3F0AF8DAFE}"/>
                </a:ext>
              </a:extLst>
            </p:cNvPr>
            <p:cNvGrpSpPr/>
            <p:nvPr/>
          </p:nvGrpSpPr>
          <p:grpSpPr>
            <a:xfrm>
              <a:off x="2548513" y="9544"/>
              <a:ext cx="590328" cy="590328"/>
              <a:chOff x="0" y="0"/>
              <a:chExt cx="812800" cy="812800"/>
            </a:xfrm>
          </p:grpSpPr>
          <p:sp>
            <p:nvSpPr>
              <p:cNvPr id="26" name="Freeform 26">
                <a:extLst>
                  <a:ext uri="{FF2B5EF4-FFF2-40B4-BE49-F238E27FC236}">
                    <a16:creationId xmlns:a16="http://schemas.microsoft.com/office/drawing/2014/main" id="{514B132F-4F54-F4EA-8F92-8EC33B86064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2B11"/>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 name="TextBox 27">
                <a:extLst>
                  <a:ext uri="{FF2B5EF4-FFF2-40B4-BE49-F238E27FC236}">
                    <a16:creationId xmlns:a16="http://schemas.microsoft.com/office/drawing/2014/main" id="{9EFD751C-1B52-7279-77AE-C4299FB18AFF}"/>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806"/>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Tree>
    <p:extLst>
      <p:ext uri="{BB962C8B-B14F-4D97-AF65-F5344CB8AC3E}">
        <p14:creationId xmlns:p14="http://schemas.microsoft.com/office/powerpoint/2010/main" val="29984207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885825"/>
            <a:ext cx="14035931" cy="934720"/>
          </a:xfrm>
          <a:prstGeom prst="rect">
            <a:avLst/>
          </a:prstGeom>
        </p:spPr>
        <p:txBody>
          <a:bodyPr lIns="0" tIns="0" rIns="0" bIns="0" rtlCol="0" anchor="t">
            <a:spAutoFit/>
          </a:bodyPr>
          <a:lstStyle/>
          <a:p>
            <a:pPr algn="l">
              <a:lnSpc>
                <a:spcPts val="7279"/>
              </a:lnSpc>
              <a:spcBef>
                <a:spcPct val="0"/>
              </a:spcBef>
            </a:pPr>
            <a:r>
              <a:rPr lang="en-US" sz="5199" b="1" dirty="0">
                <a:solidFill>
                  <a:srgbClr val="000000"/>
                </a:solidFill>
                <a:latin typeface="Poppins Bold"/>
                <a:ea typeface="Poppins Bold"/>
                <a:cs typeface="Poppins Bold"/>
                <a:sym typeface="Poppins Bold"/>
              </a:rPr>
              <a:t>Handling Specific Scenarios</a:t>
            </a:r>
          </a:p>
        </p:txBody>
      </p:sp>
      <p:sp>
        <p:nvSpPr>
          <p:cNvPr id="3" name="TextBox 3"/>
          <p:cNvSpPr txBox="1"/>
          <p:nvPr/>
        </p:nvSpPr>
        <p:spPr>
          <a:xfrm>
            <a:off x="1028700" y="3065625"/>
            <a:ext cx="6502896" cy="1087092"/>
          </a:xfrm>
          <a:prstGeom prst="rect">
            <a:avLst/>
          </a:prstGeom>
        </p:spPr>
        <p:txBody>
          <a:bodyPr lIns="0" tIns="0" rIns="0" bIns="0" rtlCol="0" anchor="t">
            <a:spAutoFit/>
          </a:bodyPr>
          <a:lstStyle/>
          <a:p>
            <a:pPr marL="474345" lvl="1" indent="-237490" algn="l">
              <a:lnSpc>
                <a:spcPts val="4465"/>
              </a:lnSpc>
              <a:buFont typeface="Arial"/>
              <a:buChar char="•"/>
            </a:pPr>
            <a:r>
              <a:rPr lang="en-US" sz="2200" dirty="0">
                <a:solidFill>
                  <a:srgbClr val="000000"/>
                </a:solidFill>
                <a:latin typeface="Poppins"/>
                <a:ea typeface="Poppins"/>
                <a:cs typeface="Poppins"/>
                <a:sym typeface="Poppins"/>
              </a:rPr>
              <a:t>Handle entirely within Zendesk</a:t>
            </a:r>
            <a:endParaRPr lang="en-US" sz="2200" dirty="0"/>
          </a:p>
          <a:p>
            <a:pPr marL="474345" lvl="1" indent="-237490" algn="l">
              <a:lnSpc>
                <a:spcPts val="4465"/>
              </a:lnSpc>
              <a:buFont typeface="Arial"/>
              <a:buChar char="•"/>
            </a:pPr>
            <a:r>
              <a:rPr lang="en-US" sz="2200" dirty="0">
                <a:solidFill>
                  <a:srgbClr val="000000"/>
                </a:solidFill>
                <a:latin typeface="Poppins"/>
                <a:ea typeface="Poppins"/>
                <a:cs typeface="Poppins"/>
                <a:sym typeface="Poppins"/>
              </a:rPr>
              <a:t>Avoid sending standard "Reported" queues</a:t>
            </a:r>
            <a:endParaRPr lang="en-US" sz="2200" dirty="0">
              <a:solidFill>
                <a:srgbClr val="000000"/>
              </a:solidFill>
              <a:latin typeface="Poppins"/>
              <a:ea typeface="Poppins"/>
              <a:cs typeface="Poppins"/>
            </a:endParaRPr>
          </a:p>
        </p:txBody>
      </p:sp>
      <p:sp>
        <p:nvSpPr>
          <p:cNvPr id="4" name="TextBox 4"/>
          <p:cNvSpPr txBox="1"/>
          <p:nvPr/>
        </p:nvSpPr>
        <p:spPr>
          <a:xfrm>
            <a:off x="1028700" y="5029835"/>
            <a:ext cx="7797129" cy="509905"/>
          </a:xfrm>
          <a:prstGeom prst="rect">
            <a:avLst/>
          </a:prstGeom>
        </p:spPr>
        <p:txBody>
          <a:bodyPr lIns="0" tIns="0" rIns="0" bIns="0" rtlCol="0" anchor="t">
            <a:spAutoFit/>
          </a:bodyPr>
          <a:lstStyle/>
          <a:p>
            <a:pPr algn="l">
              <a:lnSpc>
                <a:spcPts val="3919"/>
              </a:lnSpc>
              <a:spcBef>
                <a:spcPct val="0"/>
              </a:spcBef>
            </a:pPr>
            <a:r>
              <a:rPr lang="en-US" sz="2799" b="1" dirty="0">
                <a:solidFill>
                  <a:srgbClr val="000000"/>
                </a:solidFill>
                <a:latin typeface="Poppins Bold"/>
                <a:ea typeface="Poppins Bold"/>
                <a:cs typeface="Poppins Bold"/>
                <a:sym typeface="Poppins Bold"/>
              </a:rPr>
              <a:t>Ownership Changes / Major Renovations</a:t>
            </a:r>
          </a:p>
        </p:txBody>
      </p:sp>
      <p:sp>
        <p:nvSpPr>
          <p:cNvPr id="5" name="TextBox 5"/>
          <p:cNvSpPr txBox="1"/>
          <p:nvPr/>
        </p:nvSpPr>
        <p:spPr>
          <a:xfrm>
            <a:off x="1028700" y="2370590"/>
            <a:ext cx="4361557" cy="509905"/>
          </a:xfrm>
          <a:prstGeom prst="rect">
            <a:avLst/>
          </a:prstGeom>
        </p:spPr>
        <p:txBody>
          <a:bodyPr lIns="0" tIns="0" rIns="0" bIns="0" rtlCol="0" anchor="t">
            <a:spAutoFit/>
          </a:bodyPr>
          <a:lstStyle/>
          <a:p>
            <a:pPr algn="ctr">
              <a:lnSpc>
                <a:spcPts val="3919"/>
              </a:lnSpc>
              <a:spcBef>
                <a:spcPct val="0"/>
              </a:spcBef>
            </a:pPr>
            <a:r>
              <a:rPr lang="en-US" sz="2799" b="1" dirty="0">
                <a:solidFill>
                  <a:srgbClr val="000000"/>
                </a:solidFill>
                <a:latin typeface="Poppins Bold"/>
                <a:ea typeface="Poppins Bold"/>
                <a:cs typeface="Poppins Bold"/>
                <a:sym typeface="Poppins Bold"/>
              </a:rPr>
              <a:t> Blackmail &amp; Vandalism</a:t>
            </a:r>
          </a:p>
        </p:txBody>
      </p:sp>
      <p:sp>
        <p:nvSpPr>
          <p:cNvPr id="6" name="TextBox 6"/>
          <p:cNvSpPr txBox="1"/>
          <p:nvPr/>
        </p:nvSpPr>
        <p:spPr>
          <a:xfrm>
            <a:off x="1028700" y="5774843"/>
            <a:ext cx="11391900" cy="2491195"/>
          </a:xfrm>
          <a:prstGeom prst="rect">
            <a:avLst/>
          </a:prstGeom>
        </p:spPr>
        <p:txBody>
          <a:bodyPr wrap="square" lIns="0" tIns="0" rIns="0" bIns="0" rtlCol="0" anchor="t">
            <a:spAutoFit/>
          </a:bodyPr>
          <a:lstStyle/>
          <a:p>
            <a:pPr marL="432435" lvl="1" indent="-215900" algn="l">
              <a:lnSpc>
                <a:spcPct val="150000"/>
              </a:lnSpc>
              <a:buFont typeface="Arial"/>
              <a:buChar char="•"/>
            </a:pPr>
            <a:r>
              <a:rPr lang="en-US" sz="2200" dirty="0">
                <a:solidFill>
                  <a:srgbClr val="000000"/>
                </a:solidFill>
                <a:latin typeface="Poppins"/>
                <a:ea typeface="Poppins"/>
                <a:cs typeface="Poppins"/>
                <a:sym typeface="Poppins"/>
              </a:rPr>
              <a:t>Check the URD for previous "Ownership Change" removals.</a:t>
            </a:r>
            <a:endParaRPr lang="en-US" sz="2200" dirty="0"/>
          </a:p>
          <a:p>
            <a:pPr marL="432435" lvl="1" indent="-215900" algn="l">
              <a:lnSpc>
                <a:spcPct val="150000"/>
              </a:lnSpc>
              <a:buFont typeface="Arial"/>
              <a:buChar char="•"/>
            </a:pPr>
            <a:r>
              <a:rPr lang="en-US" sz="2200" dirty="0">
                <a:solidFill>
                  <a:srgbClr val="000000"/>
                </a:solidFill>
                <a:latin typeface="Poppins"/>
                <a:ea typeface="Poppins"/>
                <a:cs typeface="Poppins"/>
                <a:sym typeface="Poppins"/>
              </a:rPr>
              <a:t>Verify the renovation date vs review date</a:t>
            </a:r>
            <a:endParaRPr lang="en-US" sz="2200" dirty="0">
              <a:solidFill>
                <a:srgbClr val="000000"/>
              </a:solidFill>
              <a:latin typeface="Poppins"/>
              <a:ea typeface="Poppins"/>
              <a:cs typeface="Poppins"/>
            </a:endParaRPr>
          </a:p>
          <a:p>
            <a:pPr marL="432435" lvl="1" indent="-215900" algn="l">
              <a:lnSpc>
                <a:spcPct val="150000"/>
              </a:lnSpc>
              <a:buFont typeface="Arial"/>
              <a:buChar char="•"/>
            </a:pPr>
            <a:r>
              <a:rPr lang="en-US" sz="2200" dirty="0">
                <a:solidFill>
                  <a:srgbClr val="000000"/>
                </a:solidFill>
                <a:latin typeface="Poppins"/>
                <a:ea typeface="Poppins"/>
                <a:cs typeface="Poppins"/>
                <a:sym typeface="Poppins"/>
              </a:rPr>
              <a:t>Remove reviews for predating ownership change</a:t>
            </a:r>
            <a:endParaRPr lang="en-US" sz="2200" dirty="0">
              <a:solidFill>
                <a:srgbClr val="000000"/>
              </a:solidFill>
              <a:latin typeface="Poppins"/>
              <a:ea typeface="Poppins"/>
              <a:cs typeface="Poppins"/>
            </a:endParaRPr>
          </a:p>
          <a:p>
            <a:pPr marL="432435" lvl="1" indent="-215900" algn="l">
              <a:lnSpc>
                <a:spcPct val="150000"/>
              </a:lnSpc>
              <a:buFont typeface="Arial"/>
              <a:buChar char="•"/>
            </a:pPr>
            <a:r>
              <a:rPr lang="en-US" sz="2200" dirty="0">
                <a:solidFill>
                  <a:srgbClr val="000000"/>
                </a:solidFill>
                <a:latin typeface="Poppins"/>
                <a:ea typeface="Poppins"/>
                <a:cs typeface="Poppins"/>
                <a:sym typeface="Poppins"/>
              </a:rPr>
              <a:t>Escalate to CS: If the owner is asking to perform an ownership change (not disputing a review)</a:t>
            </a:r>
            <a:endParaRPr lang="en-US" sz="2200" dirty="0">
              <a:solidFill>
                <a:srgbClr val="000000"/>
              </a:solidFill>
              <a:latin typeface="Poppins"/>
              <a:ea typeface="Poppins"/>
              <a:cs typeface="Poppins"/>
            </a:endParaRPr>
          </a:p>
        </p:txBody>
      </p:sp>
      <p:sp>
        <p:nvSpPr>
          <p:cNvPr id="9" name="TextBox 8">
            <a:extLst>
              <a:ext uri="{FF2B5EF4-FFF2-40B4-BE49-F238E27FC236}">
                <a16:creationId xmlns:a16="http://schemas.microsoft.com/office/drawing/2014/main" id="{D37A8046-9140-B221-4D07-ED218B4A41BC}"/>
              </a:ext>
            </a:extLst>
          </p:cNvPr>
          <p:cNvSpPr txBox="1"/>
          <p:nvPr/>
        </p:nvSpPr>
        <p:spPr>
          <a:xfrm>
            <a:off x="600003" y="9661691"/>
            <a:ext cx="10000001" cy="314772"/>
          </a:xfrm>
          <a:prstGeom prst="rect">
            <a:avLst/>
          </a:prstGeom>
          <a:noFill/>
        </p:spPr>
        <p:txBody>
          <a:bodyPr wrap="square" anchor="t">
            <a:spAutoFit/>
          </a:bodyPr>
          <a:lstStyle>
            <a:defPPr>
              <a:defRPr lang="en-US"/>
            </a:defPPr>
            <a:lvl1pPr defTabSz="914445">
              <a:defRPr sz="1400">
                <a:solidFill>
                  <a:srgbClr val="8A8272"/>
                </a:solidFill>
                <a:latin typeface="Poppins"/>
              </a:defRPr>
            </a:lvl1pPr>
            <a:lvl2pPr marL="685800" defTabSz="1371600">
              <a:defRPr sz="2700"/>
            </a:lvl2pPr>
            <a:lvl3pPr marL="1371600" defTabSz="1371600">
              <a:defRPr sz="2700"/>
            </a:lvl3pPr>
            <a:lvl4pPr marL="2057400" defTabSz="1371600">
              <a:defRPr sz="2700"/>
            </a:lvl4pPr>
            <a:lvl5pPr marL="2743200" defTabSz="1371600">
              <a:defRPr sz="2700"/>
            </a:lvl5pPr>
            <a:lvl6pPr marL="3429000" defTabSz="1371600">
              <a:defRPr sz="2700"/>
            </a:lvl6pPr>
            <a:lvl7pPr marL="4114800" defTabSz="1371600">
              <a:defRPr sz="2700"/>
            </a:lvl7pPr>
            <a:lvl8pPr marL="4800600" defTabSz="1371600">
              <a:defRPr sz="2700"/>
            </a:lvl8pPr>
            <a:lvl9pPr marL="5486400" defTabSz="1371600">
              <a:defRPr sz="2700"/>
            </a:lvl9pPr>
          </a:lstStyle>
          <a:p>
            <a:pPr defTabSz="914441"/>
            <a:r>
              <a:rPr dirty="0"/>
              <a:t>T</a:t>
            </a:r>
            <a:r>
              <a:rPr lang="en-US" dirty="0"/>
              <a:t>ripadvisor / Owner Review Disputes</a:t>
            </a:r>
            <a:endParaRPr dirty="0"/>
          </a:p>
        </p:txBody>
      </p:sp>
      <p:pic>
        <p:nvPicPr>
          <p:cNvPr id="10" name="Picture 9">
            <a:extLst>
              <a:ext uri="{FF2B5EF4-FFF2-40B4-BE49-F238E27FC236}">
                <a16:creationId xmlns:a16="http://schemas.microsoft.com/office/drawing/2014/main" id="{08EEA74A-2191-019D-50D7-719E7FD309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897745" y="1362875"/>
            <a:ext cx="3671432" cy="3532361"/>
          </a:xfrm>
          <a:prstGeom prst="rect">
            <a:avLst/>
          </a:prstGeom>
        </p:spPr>
      </p:pic>
      <p:pic>
        <p:nvPicPr>
          <p:cNvPr id="12" name="Picture 11">
            <a:extLst>
              <a:ext uri="{FF2B5EF4-FFF2-40B4-BE49-F238E27FC236}">
                <a16:creationId xmlns:a16="http://schemas.microsoft.com/office/drawing/2014/main" id="{F47B6D37-7534-859A-0E55-ADF77BC9D7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875031" y="5284787"/>
            <a:ext cx="3694148" cy="353236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00100" y="3346576"/>
            <a:ext cx="5529745" cy="2823480"/>
            <a:chOff x="0" y="0"/>
            <a:chExt cx="2639956" cy="1347958"/>
          </a:xfrm>
        </p:grpSpPr>
        <p:sp>
          <p:nvSpPr>
            <p:cNvPr id="3" name="Freeform 3"/>
            <p:cNvSpPr/>
            <p:nvPr/>
          </p:nvSpPr>
          <p:spPr>
            <a:xfrm>
              <a:off x="0" y="0"/>
              <a:ext cx="2639956" cy="1347958"/>
            </a:xfrm>
            <a:custGeom>
              <a:avLst/>
              <a:gdLst/>
              <a:ahLst/>
              <a:cxnLst/>
              <a:rect l="l" t="t" r="r" b="b"/>
              <a:pathLst>
                <a:path w="2639956" h="1347958">
                  <a:moveTo>
                    <a:pt x="0" y="0"/>
                  </a:moveTo>
                  <a:lnTo>
                    <a:pt x="2639956" y="0"/>
                  </a:lnTo>
                  <a:lnTo>
                    <a:pt x="2639956" y="1347958"/>
                  </a:lnTo>
                  <a:lnTo>
                    <a:pt x="0" y="1347958"/>
                  </a:lnTo>
                  <a:close/>
                </a:path>
              </a:pathLst>
            </a:custGeom>
            <a:solidFill>
              <a:srgbClr val="00BF63"/>
            </a:solidFill>
          </p:spPr>
          <p:txBody>
            <a:bodyPr/>
            <a:lstStyle/>
            <a:p>
              <a:endParaRPr lang="en-US"/>
            </a:p>
          </p:txBody>
        </p:sp>
        <p:sp>
          <p:nvSpPr>
            <p:cNvPr id="4" name="TextBox 4"/>
            <p:cNvSpPr txBox="1"/>
            <p:nvPr/>
          </p:nvSpPr>
          <p:spPr>
            <a:xfrm>
              <a:off x="0" y="-47625"/>
              <a:ext cx="2639956" cy="1395583"/>
            </a:xfrm>
            <a:prstGeom prst="rect">
              <a:avLst/>
            </a:prstGeom>
          </p:spPr>
          <p:txBody>
            <a:bodyPr lIns="50800" tIns="50800" rIns="50800" bIns="50800" rtlCol="0" anchor="ctr"/>
            <a:lstStyle/>
            <a:p>
              <a:pPr algn="ctr">
                <a:lnSpc>
                  <a:spcPts val="2806"/>
                </a:lnSpc>
              </a:pPr>
              <a:endParaRPr/>
            </a:p>
          </p:txBody>
        </p:sp>
      </p:grpSp>
      <p:grpSp>
        <p:nvGrpSpPr>
          <p:cNvPr id="5" name="Group 5"/>
          <p:cNvGrpSpPr/>
          <p:nvPr/>
        </p:nvGrpSpPr>
        <p:grpSpPr>
          <a:xfrm>
            <a:off x="1004660" y="3480011"/>
            <a:ext cx="5120624" cy="2551273"/>
            <a:chOff x="0" y="0"/>
            <a:chExt cx="2444638" cy="1218004"/>
          </a:xfrm>
        </p:grpSpPr>
        <p:sp>
          <p:nvSpPr>
            <p:cNvPr id="6" name="Freeform 6"/>
            <p:cNvSpPr/>
            <p:nvPr/>
          </p:nvSpPr>
          <p:spPr>
            <a:xfrm>
              <a:off x="0" y="0"/>
              <a:ext cx="2444638" cy="1218004"/>
            </a:xfrm>
            <a:custGeom>
              <a:avLst/>
              <a:gdLst/>
              <a:ahLst/>
              <a:cxnLst/>
              <a:rect l="l" t="t" r="r" b="b"/>
              <a:pathLst>
                <a:path w="2444638" h="1218004">
                  <a:moveTo>
                    <a:pt x="77107" y="0"/>
                  </a:moveTo>
                  <a:lnTo>
                    <a:pt x="2367531" y="0"/>
                  </a:lnTo>
                  <a:cubicBezTo>
                    <a:pt x="2387981" y="0"/>
                    <a:pt x="2407594" y="8124"/>
                    <a:pt x="2422054" y="22584"/>
                  </a:cubicBezTo>
                  <a:cubicBezTo>
                    <a:pt x="2436514" y="37045"/>
                    <a:pt x="2444638" y="56657"/>
                    <a:pt x="2444638" y="77107"/>
                  </a:cubicBezTo>
                  <a:lnTo>
                    <a:pt x="2444638" y="1140896"/>
                  </a:lnTo>
                  <a:cubicBezTo>
                    <a:pt x="2444638" y="1161346"/>
                    <a:pt x="2436514" y="1180959"/>
                    <a:pt x="2422054" y="1195419"/>
                  </a:cubicBezTo>
                  <a:cubicBezTo>
                    <a:pt x="2407594" y="1209880"/>
                    <a:pt x="2387981" y="1218004"/>
                    <a:pt x="2367531" y="1218004"/>
                  </a:cubicBezTo>
                  <a:lnTo>
                    <a:pt x="77107" y="1218004"/>
                  </a:lnTo>
                  <a:cubicBezTo>
                    <a:pt x="34522" y="1218004"/>
                    <a:pt x="0" y="1183482"/>
                    <a:pt x="0" y="1140896"/>
                  </a:cubicBezTo>
                  <a:lnTo>
                    <a:pt x="0" y="77107"/>
                  </a:lnTo>
                  <a:cubicBezTo>
                    <a:pt x="0" y="34522"/>
                    <a:pt x="34522" y="0"/>
                    <a:pt x="77107" y="0"/>
                  </a:cubicBezTo>
                  <a:close/>
                </a:path>
              </a:pathLst>
            </a:custGeom>
            <a:solidFill>
              <a:srgbClr val="FFFFFF"/>
            </a:solidFill>
          </p:spPr>
          <p:txBody>
            <a:bodyPr/>
            <a:lstStyle/>
            <a:p>
              <a:endParaRPr lang="en-US"/>
            </a:p>
          </p:txBody>
        </p:sp>
        <p:sp>
          <p:nvSpPr>
            <p:cNvPr id="7" name="TextBox 7"/>
            <p:cNvSpPr txBox="1"/>
            <p:nvPr/>
          </p:nvSpPr>
          <p:spPr>
            <a:xfrm>
              <a:off x="0" y="-47625"/>
              <a:ext cx="2444638" cy="1265629"/>
            </a:xfrm>
            <a:prstGeom prst="rect">
              <a:avLst/>
            </a:prstGeom>
          </p:spPr>
          <p:txBody>
            <a:bodyPr lIns="50800" tIns="50800" rIns="50800" bIns="50800" rtlCol="0" anchor="ctr"/>
            <a:lstStyle/>
            <a:p>
              <a:pPr algn="ctr">
                <a:lnSpc>
                  <a:spcPts val="2806"/>
                </a:lnSpc>
              </a:pPr>
              <a:endParaRPr/>
            </a:p>
          </p:txBody>
        </p:sp>
      </p:grpSp>
      <p:grpSp>
        <p:nvGrpSpPr>
          <p:cNvPr id="8" name="Group 8"/>
          <p:cNvGrpSpPr/>
          <p:nvPr/>
        </p:nvGrpSpPr>
        <p:grpSpPr>
          <a:xfrm>
            <a:off x="4340672" y="5642628"/>
            <a:ext cx="1301854" cy="267047"/>
            <a:chOff x="0" y="0"/>
            <a:chExt cx="1735806" cy="356063"/>
          </a:xfrm>
        </p:grpSpPr>
        <p:grpSp>
          <p:nvGrpSpPr>
            <p:cNvPr id="9" name="Group 9"/>
            <p:cNvGrpSpPr/>
            <p:nvPr/>
          </p:nvGrpSpPr>
          <p:grpSpPr>
            <a:xfrm>
              <a:off x="0" y="0"/>
              <a:ext cx="347161" cy="347161"/>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a:ln w="38100" cap="sq">
                <a:solidFill>
                  <a:srgbClr val="00BF63"/>
                </a:solidFill>
                <a:prstDash val="solid"/>
                <a:miter/>
              </a:ln>
            </p:spPr>
            <p:txBody>
              <a:bodyPr/>
              <a:lstStyle/>
              <a:p>
                <a:endParaRPr lang="en-US"/>
              </a:p>
            </p:txBody>
          </p:sp>
          <p:sp>
            <p:nvSpPr>
              <p:cNvPr id="11" name="TextBox 11"/>
              <p:cNvSpPr txBox="1"/>
              <p:nvPr/>
            </p:nvSpPr>
            <p:spPr>
              <a:xfrm>
                <a:off x="76200" y="28575"/>
                <a:ext cx="660400" cy="708025"/>
              </a:xfrm>
              <a:prstGeom prst="rect">
                <a:avLst/>
              </a:prstGeom>
            </p:spPr>
            <p:txBody>
              <a:bodyPr lIns="31778" tIns="31778" rIns="31778" bIns="31778" rtlCol="0" anchor="ctr"/>
              <a:lstStyle/>
              <a:p>
                <a:pPr algn="ctr">
                  <a:lnSpc>
                    <a:spcPts val="2806"/>
                  </a:lnSpc>
                </a:pPr>
                <a:endParaRPr/>
              </a:p>
            </p:txBody>
          </p:sp>
        </p:grpSp>
        <p:grpSp>
          <p:nvGrpSpPr>
            <p:cNvPr id="12" name="Group 12"/>
            <p:cNvGrpSpPr/>
            <p:nvPr/>
          </p:nvGrpSpPr>
          <p:grpSpPr>
            <a:xfrm>
              <a:off x="347161" y="2225"/>
              <a:ext cx="347161" cy="347161"/>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endParaRPr lang="en-US"/>
              </a:p>
            </p:txBody>
          </p:sp>
          <p:sp>
            <p:nvSpPr>
              <p:cNvPr id="14" name="TextBox 14"/>
              <p:cNvSpPr txBox="1"/>
              <p:nvPr/>
            </p:nvSpPr>
            <p:spPr>
              <a:xfrm>
                <a:off x="76200" y="28575"/>
                <a:ext cx="660400" cy="708025"/>
              </a:xfrm>
              <a:prstGeom prst="rect">
                <a:avLst/>
              </a:prstGeom>
            </p:spPr>
            <p:txBody>
              <a:bodyPr lIns="31778" tIns="31778" rIns="31778" bIns="31778" rtlCol="0" anchor="ctr"/>
              <a:lstStyle/>
              <a:p>
                <a:pPr algn="ctr">
                  <a:lnSpc>
                    <a:spcPts val="2806"/>
                  </a:lnSpc>
                </a:pPr>
                <a:endParaRPr/>
              </a:p>
            </p:txBody>
          </p:sp>
        </p:grpSp>
        <p:grpSp>
          <p:nvGrpSpPr>
            <p:cNvPr id="15" name="Group 15"/>
            <p:cNvGrpSpPr/>
            <p:nvPr/>
          </p:nvGrpSpPr>
          <p:grpSpPr>
            <a:xfrm>
              <a:off x="1041483" y="6676"/>
              <a:ext cx="347161" cy="347161"/>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endParaRPr lang="en-US"/>
              </a:p>
            </p:txBody>
          </p:sp>
          <p:sp>
            <p:nvSpPr>
              <p:cNvPr id="17" name="TextBox 17"/>
              <p:cNvSpPr txBox="1"/>
              <p:nvPr/>
            </p:nvSpPr>
            <p:spPr>
              <a:xfrm>
                <a:off x="76200" y="28575"/>
                <a:ext cx="660400" cy="708025"/>
              </a:xfrm>
              <a:prstGeom prst="rect">
                <a:avLst/>
              </a:prstGeom>
            </p:spPr>
            <p:txBody>
              <a:bodyPr lIns="31778" tIns="31778" rIns="31778" bIns="31778" rtlCol="0" anchor="ctr"/>
              <a:lstStyle/>
              <a:p>
                <a:pPr algn="ctr">
                  <a:lnSpc>
                    <a:spcPts val="2806"/>
                  </a:lnSpc>
                </a:pPr>
                <a:endParaRPr/>
              </a:p>
            </p:txBody>
          </p:sp>
        </p:grpSp>
        <p:grpSp>
          <p:nvGrpSpPr>
            <p:cNvPr id="18" name="Group 18"/>
            <p:cNvGrpSpPr/>
            <p:nvPr/>
          </p:nvGrpSpPr>
          <p:grpSpPr>
            <a:xfrm>
              <a:off x="1388644" y="8902"/>
              <a:ext cx="347161" cy="347161"/>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endParaRPr lang="en-US"/>
              </a:p>
            </p:txBody>
          </p:sp>
          <p:sp>
            <p:nvSpPr>
              <p:cNvPr id="20" name="TextBox 20"/>
              <p:cNvSpPr txBox="1"/>
              <p:nvPr/>
            </p:nvSpPr>
            <p:spPr>
              <a:xfrm>
                <a:off x="76200" y="28575"/>
                <a:ext cx="660400" cy="708025"/>
              </a:xfrm>
              <a:prstGeom prst="rect">
                <a:avLst/>
              </a:prstGeom>
            </p:spPr>
            <p:txBody>
              <a:bodyPr lIns="31778" tIns="31778" rIns="31778" bIns="31778" rtlCol="0" anchor="ctr"/>
              <a:lstStyle/>
              <a:p>
                <a:pPr algn="ctr">
                  <a:lnSpc>
                    <a:spcPts val="2806"/>
                  </a:lnSpc>
                </a:pPr>
                <a:endParaRPr/>
              </a:p>
            </p:txBody>
          </p:sp>
        </p:grpSp>
        <p:grpSp>
          <p:nvGrpSpPr>
            <p:cNvPr id="21" name="Group 21"/>
            <p:cNvGrpSpPr/>
            <p:nvPr/>
          </p:nvGrpSpPr>
          <p:grpSpPr>
            <a:xfrm>
              <a:off x="694322" y="4451"/>
              <a:ext cx="347161" cy="347161"/>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endParaRPr lang="en-US"/>
              </a:p>
            </p:txBody>
          </p:sp>
          <p:sp>
            <p:nvSpPr>
              <p:cNvPr id="23" name="TextBox 23"/>
              <p:cNvSpPr txBox="1"/>
              <p:nvPr/>
            </p:nvSpPr>
            <p:spPr>
              <a:xfrm>
                <a:off x="76200" y="28575"/>
                <a:ext cx="660400" cy="708025"/>
              </a:xfrm>
              <a:prstGeom prst="rect">
                <a:avLst/>
              </a:prstGeom>
            </p:spPr>
            <p:txBody>
              <a:bodyPr lIns="31778" tIns="31778" rIns="31778" bIns="31778" rtlCol="0" anchor="ctr"/>
              <a:lstStyle/>
              <a:p>
                <a:pPr algn="ctr">
                  <a:lnSpc>
                    <a:spcPts val="2806"/>
                  </a:lnSpc>
                </a:pPr>
                <a:endParaRPr/>
              </a:p>
            </p:txBody>
          </p:sp>
        </p:grpSp>
      </p:grpSp>
      <p:grpSp>
        <p:nvGrpSpPr>
          <p:cNvPr id="24" name="Group 24"/>
          <p:cNvGrpSpPr/>
          <p:nvPr/>
        </p:nvGrpSpPr>
        <p:grpSpPr>
          <a:xfrm>
            <a:off x="6630431" y="3346576"/>
            <a:ext cx="5529745" cy="2823480"/>
            <a:chOff x="0" y="0"/>
            <a:chExt cx="2639956" cy="1347958"/>
          </a:xfrm>
        </p:grpSpPr>
        <p:sp>
          <p:nvSpPr>
            <p:cNvPr id="25" name="Freeform 25"/>
            <p:cNvSpPr/>
            <p:nvPr/>
          </p:nvSpPr>
          <p:spPr>
            <a:xfrm>
              <a:off x="0" y="0"/>
              <a:ext cx="2639956" cy="1347958"/>
            </a:xfrm>
            <a:custGeom>
              <a:avLst/>
              <a:gdLst/>
              <a:ahLst/>
              <a:cxnLst/>
              <a:rect l="l" t="t" r="r" b="b"/>
              <a:pathLst>
                <a:path w="2639956" h="1347958">
                  <a:moveTo>
                    <a:pt x="0" y="0"/>
                  </a:moveTo>
                  <a:lnTo>
                    <a:pt x="2639956" y="0"/>
                  </a:lnTo>
                  <a:lnTo>
                    <a:pt x="2639956" y="1347958"/>
                  </a:lnTo>
                  <a:lnTo>
                    <a:pt x="0" y="1347958"/>
                  </a:lnTo>
                  <a:close/>
                </a:path>
              </a:pathLst>
            </a:custGeom>
            <a:solidFill>
              <a:srgbClr val="00BF63"/>
            </a:solidFill>
          </p:spPr>
          <p:txBody>
            <a:bodyPr/>
            <a:lstStyle/>
            <a:p>
              <a:endParaRPr lang="en-US"/>
            </a:p>
          </p:txBody>
        </p:sp>
        <p:sp>
          <p:nvSpPr>
            <p:cNvPr id="26" name="TextBox 26"/>
            <p:cNvSpPr txBox="1"/>
            <p:nvPr/>
          </p:nvSpPr>
          <p:spPr>
            <a:xfrm>
              <a:off x="0" y="-47625"/>
              <a:ext cx="2639956" cy="1395583"/>
            </a:xfrm>
            <a:prstGeom prst="rect">
              <a:avLst/>
            </a:prstGeom>
          </p:spPr>
          <p:txBody>
            <a:bodyPr lIns="50800" tIns="50800" rIns="50800" bIns="50800" rtlCol="0" anchor="ctr"/>
            <a:lstStyle/>
            <a:p>
              <a:pPr algn="ctr">
                <a:lnSpc>
                  <a:spcPts val="2806"/>
                </a:lnSpc>
              </a:pPr>
              <a:endParaRPr/>
            </a:p>
          </p:txBody>
        </p:sp>
      </p:grpSp>
      <p:grpSp>
        <p:nvGrpSpPr>
          <p:cNvPr id="27" name="Group 27"/>
          <p:cNvGrpSpPr/>
          <p:nvPr/>
        </p:nvGrpSpPr>
        <p:grpSpPr>
          <a:xfrm>
            <a:off x="6834991" y="3480011"/>
            <a:ext cx="5120624" cy="2551273"/>
            <a:chOff x="0" y="0"/>
            <a:chExt cx="2444638" cy="1218004"/>
          </a:xfrm>
        </p:grpSpPr>
        <p:sp>
          <p:nvSpPr>
            <p:cNvPr id="28" name="Freeform 28"/>
            <p:cNvSpPr/>
            <p:nvPr/>
          </p:nvSpPr>
          <p:spPr>
            <a:xfrm>
              <a:off x="0" y="0"/>
              <a:ext cx="2444638" cy="1218004"/>
            </a:xfrm>
            <a:custGeom>
              <a:avLst/>
              <a:gdLst/>
              <a:ahLst/>
              <a:cxnLst/>
              <a:rect l="l" t="t" r="r" b="b"/>
              <a:pathLst>
                <a:path w="2444638" h="1218004">
                  <a:moveTo>
                    <a:pt x="77107" y="0"/>
                  </a:moveTo>
                  <a:lnTo>
                    <a:pt x="2367531" y="0"/>
                  </a:lnTo>
                  <a:cubicBezTo>
                    <a:pt x="2387981" y="0"/>
                    <a:pt x="2407594" y="8124"/>
                    <a:pt x="2422054" y="22584"/>
                  </a:cubicBezTo>
                  <a:cubicBezTo>
                    <a:pt x="2436514" y="37045"/>
                    <a:pt x="2444638" y="56657"/>
                    <a:pt x="2444638" y="77107"/>
                  </a:cubicBezTo>
                  <a:lnTo>
                    <a:pt x="2444638" y="1140896"/>
                  </a:lnTo>
                  <a:cubicBezTo>
                    <a:pt x="2444638" y="1161346"/>
                    <a:pt x="2436514" y="1180959"/>
                    <a:pt x="2422054" y="1195419"/>
                  </a:cubicBezTo>
                  <a:cubicBezTo>
                    <a:pt x="2407594" y="1209880"/>
                    <a:pt x="2387981" y="1218004"/>
                    <a:pt x="2367531" y="1218004"/>
                  </a:cubicBezTo>
                  <a:lnTo>
                    <a:pt x="77107" y="1218004"/>
                  </a:lnTo>
                  <a:cubicBezTo>
                    <a:pt x="34522" y="1218004"/>
                    <a:pt x="0" y="1183482"/>
                    <a:pt x="0" y="1140896"/>
                  </a:cubicBezTo>
                  <a:lnTo>
                    <a:pt x="0" y="77107"/>
                  </a:lnTo>
                  <a:cubicBezTo>
                    <a:pt x="0" y="34522"/>
                    <a:pt x="34522" y="0"/>
                    <a:pt x="77107" y="0"/>
                  </a:cubicBezTo>
                  <a:close/>
                </a:path>
              </a:pathLst>
            </a:custGeom>
            <a:solidFill>
              <a:srgbClr val="FFFFFF"/>
            </a:solidFill>
          </p:spPr>
          <p:txBody>
            <a:bodyPr/>
            <a:lstStyle/>
            <a:p>
              <a:endParaRPr lang="en-US"/>
            </a:p>
          </p:txBody>
        </p:sp>
        <p:sp>
          <p:nvSpPr>
            <p:cNvPr id="29" name="TextBox 29"/>
            <p:cNvSpPr txBox="1"/>
            <p:nvPr/>
          </p:nvSpPr>
          <p:spPr>
            <a:xfrm>
              <a:off x="0" y="-47625"/>
              <a:ext cx="2444638" cy="1265629"/>
            </a:xfrm>
            <a:prstGeom prst="rect">
              <a:avLst/>
            </a:prstGeom>
          </p:spPr>
          <p:txBody>
            <a:bodyPr lIns="50800" tIns="50800" rIns="50800" bIns="50800" rtlCol="0" anchor="ctr"/>
            <a:lstStyle/>
            <a:p>
              <a:pPr algn="ctr">
                <a:lnSpc>
                  <a:spcPts val="2806"/>
                </a:lnSpc>
              </a:pPr>
              <a:endParaRPr/>
            </a:p>
          </p:txBody>
        </p:sp>
      </p:grpSp>
      <p:grpSp>
        <p:nvGrpSpPr>
          <p:cNvPr id="30" name="Group 30"/>
          <p:cNvGrpSpPr/>
          <p:nvPr/>
        </p:nvGrpSpPr>
        <p:grpSpPr>
          <a:xfrm>
            <a:off x="10171003" y="5642628"/>
            <a:ext cx="1301854" cy="267047"/>
            <a:chOff x="0" y="0"/>
            <a:chExt cx="1735806" cy="356063"/>
          </a:xfrm>
        </p:grpSpPr>
        <p:grpSp>
          <p:nvGrpSpPr>
            <p:cNvPr id="31" name="Group 31"/>
            <p:cNvGrpSpPr/>
            <p:nvPr/>
          </p:nvGrpSpPr>
          <p:grpSpPr>
            <a:xfrm>
              <a:off x="0" y="0"/>
              <a:ext cx="347161" cy="347161"/>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a:ln w="38100" cap="sq">
                <a:solidFill>
                  <a:srgbClr val="00BF63"/>
                </a:solidFill>
                <a:prstDash val="solid"/>
                <a:miter/>
              </a:ln>
            </p:spPr>
            <p:txBody>
              <a:bodyPr/>
              <a:lstStyle/>
              <a:p>
                <a:endParaRPr lang="en-US"/>
              </a:p>
            </p:txBody>
          </p:sp>
          <p:sp>
            <p:nvSpPr>
              <p:cNvPr id="33" name="TextBox 33"/>
              <p:cNvSpPr txBox="1"/>
              <p:nvPr/>
            </p:nvSpPr>
            <p:spPr>
              <a:xfrm>
                <a:off x="76200" y="28575"/>
                <a:ext cx="660400" cy="708025"/>
              </a:xfrm>
              <a:prstGeom prst="rect">
                <a:avLst/>
              </a:prstGeom>
            </p:spPr>
            <p:txBody>
              <a:bodyPr lIns="31778" tIns="31778" rIns="31778" bIns="31778" rtlCol="0" anchor="ctr"/>
              <a:lstStyle/>
              <a:p>
                <a:pPr algn="ctr">
                  <a:lnSpc>
                    <a:spcPts val="2806"/>
                  </a:lnSpc>
                </a:pPr>
                <a:endParaRPr/>
              </a:p>
            </p:txBody>
          </p:sp>
        </p:grpSp>
        <p:grpSp>
          <p:nvGrpSpPr>
            <p:cNvPr id="34" name="Group 34"/>
            <p:cNvGrpSpPr/>
            <p:nvPr/>
          </p:nvGrpSpPr>
          <p:grpSpPr>
            <a:xfrm>
              <a:off x="347161" y="2225"/>
              <a:ext cx="347161" cy="347161"/>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endParaRPr lang="en-US"/>
              </a:p>
            </p:txBody>
          </p:sp>
          <p:sp>
            <p:nvSpPr>
              <p:cNvPr id="36" name="TextBox 36"/>
              <p:cNvSpPr txBox="1"/>
              <p:nvPr/>
            </p:nvSpPr>
            <p:spPr>
              <a:xfrm>
                <a:off x="76200" y="28575"/>
                <a:ext cx="660400" cy="708025"/>
              </a:xfrm>
              <a:prstGeom prst="rect">
                <a:avLst/>
              </a:prstGeom>
            </p:spPr>
            <p:txBody>
              <a:bodyPr lIns="31778" tIns="31778" rIns="31778" bIns="31778" rtlCol="0" anchor="ctr"/>
              <a:lstStyle/>
              <a:p>
                <a:pPr algn="ctr">
                  <a:lnSpc>
                    <a:spcPts val="2806"/>
                  </a:lnSpc>
                </a:pPr>
                <a:endParaRPr/>
              </a:p>
            </p:txBody>
          </p:sp>
        </p:grpSp>
        <p:grpSp>
          <p:nvGrpSpPr>
            <p:cNvPr id="37" name="Group 37"/>
            <p:cNvGrpSpPr/>
            <p:nvPr/>
          </p:nvGrpSpPr>
          <p:grpSpPr>
            <a:xfrm>
              <a:off x="1041483" y="6676"/>
              <a:ext cx="347161" cy="347161"/>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endParaRPr lang="en-US"/>
              </a:p>
            </p:txBody>
          </p:sp>
          <p:sp>
            <p:nvSpPr>
              <p:cNvPr id="39" name="TextBox 39"/>
              <p:cNvSpPr txBox="1"/>
              <p:nvPr/>
            </p:nvSpPr>
            <p:spPr>
              <a:xfrm>
                <a:off x="76200" y="28575"/>
                <a:ext cx="660400" cy="708025"/>
              </a:xfrm>
              <a:prstGeom prst="rect">
                <a:avLst/>
              </a:prstGeom>
            </p:spPr>
            <p:txBody>
              <a:bodyPr lIns="31778" tIns="31778" rIns="31778" bIns="31778" rtlCol="0" anchor="ctr"/>
              <a:lstStyle/>
              <a:p>
                <a:pPr algn="ctr">
                  <a:lnSpc>
                    <a:spcPts val="2806"/>
                  </a:lnSpc>
                </a:pPr>
                <a:endParaRPr/>
              </a:p>
            </p:txBody>
          </p:sp>
        </p:grpSp>
        <p:grpSp>
          <p:nvGrpSpPr>
            <p:cNvPr id="40" name="Group 40"/>
            <p:cNvGrpSpPr/>
            <p:nvPr/>
          </p:nvGrpSpPr>
          <p:grpSpPr>
            <a:xfrm>
              <a:off x="1388644" y="8902"/>
              <a:ext cx="347161" cy="347161"/>
              <a:chOff x="0" y="0"/>
              <a:chExt cx="812800" cy="812800"/>
            </a:xfrm>
          </p:grpSpPr>
          <p:sp>
            <p:nvSpPr>
              <p:cNvPr id="41" name="Freeform 4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endParaRPr lang="en-US"/>
              </a:p>
            </p:txBody>
          </p:sp>
          <p:sp>
            <p:nvSpPr>
              <p:cNvPr id="42" name="TextBox 42"/>
              <p:cNvSpPr txBox="1"/>
              <p:nvPr/>
            </p:nvSpPr>
            <p:spPr>
              <a:xfrm>
                <a:off x="76200" y="28575"/>
                <a:ext cx="660400" cy="708025"/>
              </a:xfrm>
              <a:prstGeom prst="rect">
                <a:avLst/>
              </a:prstGeom>
            </p:spPr>
            <p:txBody>
              <a:bodyPr lIns="31778" tIns="31778" rIns="31778" bIns="31778" rtlCol="0" anchor="ctr"/>
              <a:lstStyle/>
              <a:p>
                <a:pPr algn="ctr">
                  <a:lnSpc>
                    <a:spcPts val="2806"/>
                  </a:lnSpc>
                </a:pPr>
                <a:endParaRPr/>
              </a:p>
            </p:txBody>
          </p:sp>
        </p:grpSp>
        <p:grpSp>
          <p:nvGrpSpPr>
            <p:cNvPr id="43" name="Group 43"/>
            <p:cNvGrpSpPr/>
            <p:nvPr/>
          </p:nvGrpSpPr>
          <p:grpSpPr>
            <a:xfrm>
              <a:off x="694322" y="4451"/>
              <a:ext cx="347161" cy="347161"/>
              <a:chOff x="0" y="0"/>
              <a:chExt cx="812800" cy="812800"/>
            </a:xfrm>
          </p:grpSpPr>
          <p:sp>
            <p:nvSpPr>
              <p:cNvPr id="44" name="Freeform 4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endParaRPr lang="en-US"/>
              </a:p>
            </p:txBody>
          </p:sp>
          <p:sp>
            <p:nvSpPr>
              <p:cNvPr id="45" name="TextBox 45"/>
              <p:cNvSpPr txBox="1"/>
              <p:nvPr/>
            </p:nvSpPr>
            <p:spPr>
              <a:xfrm>
                <a:off x="76200" y="28575"/>
                <a:ext cx="660400" cy="708025"/>
              </a:xfrm>
              <a:prstGeom prst="rect">
                <a:avLst/>
              </a:prstGeom>
            </p:spPr>
            <p:txBody>
              <a:bodyPr lIns="31778" tIns="31778" rIns="31778" bIns="31778" rtlCol="0" anchor="ctr"/>
              <a:lstStyle/>
              <a:p>
                <a:pPr algn="ctr">
                  <a:lnSpc>
                    <a:spcPts val="2806"/>
                  </a:lnSpc>
                </a:pPr>
                <a:endParaRPr/>
              </a:p>
            </p:txBody>
          </p:sp>
        </p:grpSp>
      </p:grpSp>
      <p:grpSp>
        <p:nvGrpSpPr>
          <p:cNvPr id="46" name="Group 46"/>
          <p:cNvGrpSpPr/>
          <p:nvPr/>
        </p:nvGrpSpPr>
        <p:grpSpPr>
          <a:xfrm>
            <a:off x="3385655" y="6368145"/>
            <a:ext cx="5529745" cy="2823480"/>
            <a:chOff x="0" y="0"/>
            <a:chExt cx="2639956" cy="1347958"/>
          </a:xfrm>
        </p:grpSpPr>
        <p:sp>
          <p:nvSpPr>
            <p:cNvPr id="47" name="Freeform 47"/>
            <p:cNvSpPr/>
            <p:nvPr/>
          </p:nvSpPr>
          <p:spPr>
            <a:xfrm>
              <a:off x="0" y="0"/>
              <a:ext cx="2639956" cy="1347958"/>
            </a:xfrm>
            <a:custGeom>
              <a:avLst/>
              <a:gdLst/>
              <a:ahLst/>
              <a:cxnLst/>
              <a:rect l="l" t="t" r="r" b="b"/>
              <a:pathLst>
                <a:path w="2639956" h="1347958">
                  <a:moveTo>
                    <a:pt x="0" y="0"/>
                  </a:moveTo>
                  <a:lnTo>
                    <a:pt x="2639956" y="0"/>
                  </a:lnTo>
                  <a:lnTo>
                    <a:pt x="2639956" y="1347958"/>
                  </a:lnTo>
                  <a:lnTo>
                    <a:pt x="0" y="1347958"/>
                  </a:lnTo>
                  <a:close/>
                </a:path>
              </a:pathLst>
            </a:custGeom>
            <a:solidFill>
              <a:srgbClr val="00BF63"/>
            </a:solidFill>
          </p:spPr>
          <p:txBody>
            <a:bodyPr/>
            <a:lstStyle/>
            <a:p>
              <a:endParaRPr lang="en-US"/>
            </a:p>
          </p:txBody>
        </p:sp>
        <p:sp>
          <p:nvSpPr>
            <p:cNvPr id="48" name="TextBox 48"/>
            <p:cNvSpPr txBox="1"/>
            <p:nvPr/>
          </p:nvSpPr>
          <p:spPr>
            <a:xfrm>
              <a:off x="0" y="-47625"/>
              <a:ext cx="2639956" cy="1395583"/>
            </a:xfrm>
            <a:prstGeom prst="rect">
              <a:avLst/>
            </a:prstGeom>
          </p:spPr>
          <p:txBody>
            <a:bodyPr lIns="50800" tIns="50800" rIns="50800" bIns="50800" rtlCol="0" anchor="ctr"/>
            <a:lstStyle/>
            <a:p>
              <a:pPr algn="ctr">
                <a:lnSpc>
                  <a:spcPts val="2806"/>
                </a:lnSpc>
              </a:pPr>
              <a:endParaRPr/>
            </a:p>
          </p:txBody>
        </p:sp>
      </p:grpSp>
      <p:grpSp>
        <p:nvGrpSpPr>
          <p:cNvPr id="49" name="Group 49"/>
          <p:cNvGrpSpPr/>
          <p:nvPr/>
        </p:nvGrpSpPr>
        <p:grpSpPr>
          <a:xfrm>
            <a:off x="3590215" y="6501580"/>
            <a:ext cx="5120624" cy="2551273"/>
            <a:chOff x="0" y="0"/>
            <a:chExt cx="2444638" cy="1218004"/>
          </a:xfrm>
        </p:grpSpPr>
        <p:sp>
          <p:nvSpPr>
            <p:cNvPr id="50" name="Freeform 50"/>
            <p:cNvSpPr/>
            <p:nvPr/>
          </p:nvSpPr>
          <p:spPr>
            <a:xfrm>
              <a:off x="0" y="0"/>
              <a:ext cx="2444638" cy="1218004"/>
            </a:xfrm>
            <a:custGeom>
              <a:avLst/>
              <a:gdLst/>
              <a:ahLst/>
              <a:cxnLst/>
              <a:rect l="l" t="t" r="r" b="b"/>
              <a:pathLst>
                <a:path w="2444638" h="1218004">
                  <a:moveTo>
                    <a:pt x="77107" y="0"/>
                  </a:moveTo>
                  <a:lnTo>
                    <a:pt x="2367531" y="0"/>
                  </a:lnTo>
                  <a:cubicBezTo>
                    <a:pt x="2387981" y="0"/>
                    <a:pt x="2407594" y="8124"/>
                    <a:pt x="2422054" y="22584"/>
                  </a:cubicBezTo>
                  <a:cubicBezTo>
                    <a:pt x="2436514" y="37045"/>
                    <a:pt x="2444638" y="56657"/>
                    <a:pt x="2444638" y="77107"/>
                  </a:cubicBezTo>
                  <a:lnTo>
                    <a:pt x="2444638" y="1140896"/>
                  </a:lnTo>
                  <a:cubicBezTo>
                    <a:pt x="2444638" y="1161346"/>
                    <a:pt x="2436514" y="1180959"/>
                    <a:pt x="2422054" y="1195419"/>
                  </a:cubicBezTo>
                  <a:cubicBezTo>
                    <a:pt x="2407594" y="1209880"/>
                    <a:pt x="2387981" y="1218004"/>
                    <a:pt x="2367531" y="1218004"/>
                  </a:cubicBezTo>
                  <a:lnTo>
                    <a:pt x="77107" y="1218004"/>
                  </a:lnTo>
                  <a:cubicBezTo>
                    <a:pt x="34522" y="1218004"/>
                    <a:pt x="0" y="1183482"/>
                    <a:pt x="0" y="1140896"/>
                  </a:cubicBezTo>
                  <a:lnTo>
                    <a:pt x="0" y="77107"/>
                  </a:lnTo>
                  <a:cubicBezTo>
                    <a:pt x="0" y="34522"/>
                    <a:pt x="34522" y="0"/>
                    <a:pt x="77107" y="0"/>
                  </a:cubicBezTo>
                  <a:close/>
                </a:path>
              </a:pathLst>
            </a:custGeom>
            <a:solidFill>
              <a:srgbClr val="FFFFFF"/>
            </a:solidFill>
          </p:spPr>
          <p:txBody>
            <a:bodyPr/>
            <a:lstStyle/>
            <a:p>
              <a:endParaRPr lang="en-US"/>
            </a:p>
          </p:txBody>
        </p:sp>
        <p:sp>
          <p:nvSpPr>
            <p:cNvPr id="51" name="TextBox 51"/>
            <p:cNvSpPr txBox="1"/>
            <p:nvPr/>
          </p:nvSpPr>
          <p:spPr>
            <a:xfrm>
              <a:off x="0" y="-47625"/>
              <a:ext cx="2444638" cy="1265629"/>
            </a:xfrm>
            <a:prstGeom prst="rect">
              <a:avLst/>
            </a:prstGeom>
          </p:spPr>
          <p:txBody>
            <a:bodyPr lIns="50800" tIns="50800" rIns="50800" bIns="50800" rtlCol="0" anchor="ctr"/>
            <a:lstStyle/>
            <a:p>
              <a:pPr algn="ctr">
                <a:lnSpc>
                  <a:spcPts val="2806"/>
                </a:lnSpc>
              </a:pPr>
              <a:endParaRPr/>
            </a:p>
          </p:txBody>
        </p:sp>
      </p:grpSp>
      <p:grpSp>
        <p:nvGrpSpPr>
          <p:cNvPr id="52" name="Group 52"/>
          <p:cNvGrpSpPr/>
          <p:nvPr/>
        </p:nvGrpSpPr>
        <p:grpSpPr>
          <a:xfrm>
            <a:off x="6926227" y="8664197"/>
            <a:ext cx="1301854" cy="267047"/>
            <a:chOff x="0" y="0"/>
            <a:chExt cx="1735806" cy="356063"/>
          </a:xfrm>
        </p:grpSpPr>
        <p:grpSp>
          <p:nvGrpSpPr>
            <p:cNvPr id="53" name="Group 53"/>
            <p:cNvGrpSpPr/>
            <p:nvPr/>
          </p:nvGrpSpPr>
          <p:grpSpPr>
            <a:xfrm>
              <a:off x="0" y="0"/>
              <a:ext cx="347161" cy="347161"/>
              <a:chOff x="0" y="0"/>
              <a:chExt cx="812800" cy="812800"/>
            </a:xfrm>
          </p:grpSpPr>
          <p:sp>
            <p:nvSpPr>
              <p:cNvPr id="54" name="Freeform 5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BF63"/>
              </a:solidFill>
              <a:ln w="38100" cap="sq">
                <a:solidFill>
                  <a:srgbClr val="00BF63"/>
                </a:solidFill>
                <a:prstDash val="solid"/>
                <a:miter/>
              </a:ln>
            </p:spPr>
            <p:txBody>
              <a:bodyPr/>
              <a:lstStyle/>
              <a:p>
                <a:endParaRPr lang="en-US"/>
              </a:p>
            </p:txBody>
          </p:sp>
          <p:sp>
            <p:nvSpPr>
              <p:cNvPr id="55" name="TextBox 55"/>
              <p:cNvSpPr txBox="1"/>
              <p:nvPr/>
            </p:nvSpPr>
            <p:spPr>
              <a:xfrm>
                <a:off x="76200" y="28575"/>
                <a:ext cx="660400" cy="708025"/>
              </a:xfrm>
              <a:prstGeom prst="rect">
                <a:avLst/>
              </a:prstGeom>
            </p:spPr>
            <p:txBody>
              <a:bodyPr lIns="31778" tIns="31778" rIns="31778" bIns="31778" rtlCol="0" anchor="ctr"/>
              <a:lstStyle/>
              <a:p>
                <a:pPr algn="ctr">
                  <a:lnSpc>
                    <a:spcPts val="2806"/>
                  </a:lnSpc>
                </a:pPr>
                <a:endParaRPr/>
              </a:p>
            </p:txBody>
          </p:sp>
        </p:grpSp>
        <p:grpSp>
          <p:nvGrpSpPr>
            <p:cNvPr id="56" name="Group 56"/>
            <p:cNvGrpSpPr/>
            <p:nvPr/>
          </p:nvGrpSpPr>
          <p:grpSpPr>
            <a:xfrm>
              <a:off x="347161" y="2225"/>
              <a:ext cx="347161" cy="347161"/>
              <a:chOff x="0" y="0"/>
              <a:chExt cx="812800" cy="812800"/>
            </a:xfrm>
          </p:grpSpPr>
          <p:sp>
            <p:nvSpPr>
              <p:cNvPr id="57" name="Freeform 5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endParaRPr lang="en-US"/>
              </a:p>
            </p:txBody>
          </p:sp>
          <p:sp>
            <p:nvSpPr>
              <p:cNvPr id="58" name="TextBox 58"/>
              <p:cNvSpPr txBox="1"/>
              <p:nvPr/>
            </p:nvSpPr>
            <p:spPr>
              <a:xfrm>
                <a:off x="76200" y="28575"/>
                <a:ext cx="660400" cy="708025"/>
              </a:xfrm>
              <a:prstGeom prst="rect">
                <a:avLst/>
              </a:prstGeom>
            </p:spPr>
            <p:txBody>
              <a:bodyPr lIns="31778" tIns="31778" rIns="31778" bIns="31778" rtlCol="0" anchor="ctr"/>
              <a:lstStyle/>
              <a:p>
                <a:pPr algn="ctr">
                  <a:lnSpc>
                    <a:spcPts val="2806"/>
                  </a:lnSpc>
                </a:pPr>
                <a:endParaRPr/>
              </a:p>
            </p:txBody>
          </p:sp>
        </p:grpSp>
        <p:grpSp>
          <p:nvGrpSpPr>
            <p:cNvPr id="59" name="Group 59"/>
            <p:cNvGrpSpPr/>
            <p:nvPr/>
          </p:nvGrpSpPr>
          <p:grpSpPr>
            <a:xfrm>
              <a:off x="1041483" y="6676"/>
              <a:ext cx="347161" cy="347161"/>
              <a:chOff x="0" y="0"/>
              <a:chExt cx="812800" cy="812800"/>
            </a:xfrm>
          </p:grpSpPr>
          <p:sp>
            <p:nvSpPr>
              <p:cNvPr id="60" name="Freeform 6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endParaRPr lang="en-US"/>
              </a:p>
            </p:txBody>
          </p:sp>
          <p:sp>
            <p:nvSpPr>
              <p:cNvPr id="61" name="TextBox 61"/>
              <p:cNvSpPr txBox="1"/>
              <p:nvPr/>
            </p:nvSpPr>
            <p:spPr>
              <a:xfrm>
                <a:off x="76200" y="28575"/>
                <a:ext cx="660400" cy="708025"/>
              </a:xfrm>
              <a:prstGeom prst="rect">
                <a:avLst/>
              </a:prstGeom>
            </p:spPr>
            <p:txBody>
              <a:bodyPr lIns="31778" tIns="31778" rIns="31778" bIns="31778" rtlCol="0" anchor="ctr"/>
              <a:lstStyle/>
              <a:p>
                <a:pPr algn="ctr">
                  <a:lnSpc>
                    <a:spcPts val="2806"/>
                  </a:lnSpc>
                </a:pPr>
                <a:endParaRPr/>
              </a:p>
            </p:txBody>
          </p:sp>
        </p:grpSp>
        <p:grpSp>
          <p:nvGrpSpPr>
            <p:cNvPr id="62" name="Group 62"/>
            <p:cNvGrpSpPr/>
            <p:nvPr/>
          </p:nvGrpSpPr>
          <p:grpSpPr>
            <a:xfrm>
              <a:off x="1388644" y="8902"/>
              <a:ext cx="347161" cy="347161"/>
              <a:chOff x="0" y="0"/>
              <a:chExt cx="812800" cy="812800"/>
            </a:xfrm>
          </p:grpSpPr>
          <p:sp>
            <p:nvSpPr>
              <p:cNvPr id="63" name="Freeform 6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endParaRPr lang="en-US"/>
              </a:p>
            </p:txBody>
          </p:sp>
          <p:sp>
            <p:nvSpPr>
              <p:cNvPr id="64" name="TextBox 64"/>
              <p:cNvSpPr txBox="1"/>
              <p:nvPr/>
            </p:nvSpPr>
            <p:spPr>
              <a:xfrm>
                <a:off x="76200" y="28575"/>
                <a:ext cx="660400" cy="708025"/>
              </a:xfrm>
              <a:prstGeom prst="rect">
                <a:avLst/>
              </a:prstGeom>
            </p:spPr>
            <p:txBody>
              <a:bodyPr lIns="31778" tIns="31778" rIns="31778" bIns="31778" rtlCol="0" anchor="ctr"/>
              <a:lstStyle/>
              <a:p>
                <a:pPr algn="ctr">
                  <a:lnSpc>
                    <a:spcPts val="2806"/>
                  </a:lnSpc>
                </a:pPr>
                <a:endParaRPr/>
              </a:p>
            </p:txBody>
          </p:sp>
        </p:grpSp>
        <p:grpSp>
          <p:nvGrpSpPr>
            <p:cNvPr id="65" name="Group 65"/>
            <p:cNvGrpSpPr/>
            <p:nvPr/>
          </p:nvGrpSpPr>
          <p:grpSpPr>
            <a:xfrm>
              <a:off x="694322" y="4451"/>
              <a:ext cx="347161" cy="347161"/>
              <a:chOff x="0" y="0"/>
              <a:chExt cx="812800" cy="812800"/>
            </a:xfrm>
          </p:grpSpPr>
          <p:sp>
            <p:nvSpPr>
              <p:cNvPr id="66" name="Freeform 6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00BF63"/>
                </a:solidFill>
                <a:prstDash val="solid"/>
                <a:miter/>
              </a:ln>
            </p:spPr>
            <p:txBody>
              <a:bodyPr/>
              <a:lstStyle/>
              <a:p>
                <a:endParaRPr lang="en-US"/>
              </a:p>
            </p:txBody>
          </p:sp>
          <p:sp>
            <p:nvSpPr>
              <p:cNvPr id="67" name="TextBox 67"/>
              <p:cNvSpPr txBox="1"/>
              <p:nvPr/>
            </p:nvSpPr>
            <p:spPr>
              <a:xfrm>
                <a:off x="76200" y="28575"/>
                <a:ext cx="660400" cy="708025"/>
              </a:xfrm>
              <a:prstGeom prst="rect">
                <a:avLst/>
              </a:prstGeom>
            </p:spPr>
            <p:txBody>
              <a:bodyPr lIns="31778" tIns="31778" rIns="31778" bIns="31778" rtlCol="0" anchor="ctr"/>
              <a:lstStyle/>
              <a:p>
                <a:pPr algn="ctr">
                  <a:lnSpc>
                    <a:spcPts val="2806"/>
                  </a:lnSpc>
                </a:pPr>
                <a:endParaRPr/>
              </a:p>
            </p:txBody>
          </p:sp>
        </p:grpSp>
      </p:grpSp>
      <p:sp>
        <p:nvSpPr>
          <p:cNvPr id="68" name="Freeform 68"/>
          <p:cNvSpPr/>
          <p:nvPr/>
        </p:nvSpPr>
        <p:spPr>
          <a:xfrm>
            <a:off x="1372439" y="4250192"/>
            <a:ext cx="1010910" cy="1010910"/>
          </a:xfrm>
          <a:custGeom>
            <a:avLst/>
            <a:gdLst/>
            <a:ahLst/>
            <a:cxnLst/>
            <a:rect l="l" t="t" r="r" b="b"/>
            <a:pathLst>
              <a:path w="1010910" h="1010910">
                <a:moveTo>
                  <a:pt x="0" y="0"/>
                </a:moveTo>
                <a:lnTo>
                  <a:pt x="1010910" y="0"/>
                </a:lnTo>
                <a:lnTo>
                  <a:pt x="1010910" y="1010911"/>
                </a:lnTo>
                <a:lnTo>
                  <a:pt x="0" y="101091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69" name="Freeform 69"/>
          <p:cNvSpPr/>
          <p:nvPr/>
        </p:nvSpPr>
        <p:spPr>
          <a:xfrm>
            <a:off x="7216873" y="4250192"/>
            <a:ext cx="995909" cy="982630"/>
          </a:xfrm>
          <a:custGeom>
            <a:avLst/>
            <a:gdLst/>
            <a:ahLst/>
            <a:cxnLst/>
            <a:rect l="l" t="t" r="r" b="b"/>
            <a:pathLst>
              <a:path w="995909" h="982630">
                <a:moveTo>
                  <a:pt x="0" y="0"/>
                </a:moveTo>
                <a:lnTo>
                  <a:pt x="995909" y="0"/>
                </a:lnTo>
                <a:lnTo>
                  <a:pt x="995909" y="982630"/>
                </a:lnTo>
                <a:lnTo>
                  <a:pt x="0" y="98263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0" name="TextBox 70"/>
          <p:cNvSpPr txBox="1"/>
          <p:nvPr/>
        </p:nvSpPr>
        <p:spPr>
          <a:xfrm>
            <a:off x="1028700" y="885825"/>
            <a:ext cx="7412682" cy="934720"/>
          </a:xfrm>
          <a:prstGeom prst="rect">
            <a:avLst/>
          </a:prstGeom>
        </p:spPr>
        <p:txBody>
          <a:bodyPr lIns="0" tIns="0" rIns="0" bIns="0" rtlCol="0" anchor="t">
            <a:spAutoFit/>
          </a:bodyPr>
          <a:lstStyle/>
          <a:p>
            <a:pPr algn="ctr">
              <a:lnSpc>
                <a:spcPts val="7279"/>
              </a:lnSpc>
              <a:spcBef>
                <a:spcPct val="0"/>
              </a:spcBef>
            </a:pPr>
            <a:r>
              <a:rPr lang="en-US" sz="5199" b="1" dirty="0">
                <a:solidFill>
                  <a:srgbClr val="000000"/>
                </a:solidFill>
                <a:latin typeface="Poppins Bold"/>
                <a:ea typeface="Poppins Bold"/>
                <a:cs typeface="Poppins Bold"/>
                <a:sym typeface="Poppins Bold"/>
              </a:rPr>
              <a:t>Ex-Employee Reviews</a:t>
            </a:r>
          </a:p>
        </p:txBody>
      </p:sp>
      <p:sp>
        <p:nvSpPr>
          <p:cNvPr id="71" name="TextBox 71"/>
          <p:cNvSpPr txBox="1"/>
          <p:nvPr/>
        </p:nvSpPr>
        <p:spPr>
          <a:xfrm>
            <a:off x="1028700" y="2284221"/>
            <a:ext cx="6014889" cy="509905"/>
          </a:xfrm>
          <a:prstGeom prst="rect">
            <a:avLst/>
          </a:prstGeom>
        </p:spPr>
        <p:txBody>
          <a:bodyPr lIns="0" tIns="0" rIns="0" bIns="0" rtlCol="0" anchor="t">
            <a:spAutoFit/>
          </a:bodyPr>
          <a:lstStyle/>
          <a:p>
            <a:pPr algn="ctr">
              <a:lnSpc>
                <a:spcPts val="3919"/>
              </a:lnSpc>
              <a:spcBef>
                <a:spcPct val="0"/>
              </a:spcBef>
            </a:pPr>
            <a:r>
              <a:rPr lang="en-US" sz="2799" b="1" dirty="0">
                <a:solidFill>
                  <a:srgbClr val="000000"/>
                </a:solidFill>
                <a:latin typeface="Poppins Bold"/>
                <a:ea typeface="Poppins Bold"/>
                <a:cs typeface="Poppins Bold"/>
                <a:sym typeface="Poppins Bold"/>
              </a:rPr>
              <a:t>Remove without evidence only if:</a:t>
            </a:r>
          </a:p>
        </p:txBody>
      </p:sp>
      <p:sp>
        <p:nvSpPr>
          <p:cNvPr id="72" name="TextBox 72"/>
          <p:cNvSpPr txBox="1"/>
          <p:nvPr/>
        </p:nvSpPr>
        <p:spPr>
          <a:xfrm>
            <a:off x="2809219" y="4335868"/>
            <a:ext cx="3062905" cy="782408"/>
          </a:xfrm>
          <a:prstGeom prst="rect">
            <a:avLst/>
          </a:prstGeom>
        </p:spPr>
        <p:txBody>
          <a:bodyPr lIns="0" tIns="0" rIns="0" bIns="0" rtlCol="0" anchor="t">
            <a:spAutoFit/>
          </a:bodyPr>
          <a:lstStyle/>
          <a:p>
            <a:pPr algn="ctr">
              <a:lnSpc>
                <a:spcPts val="3080"/>
              </a:lnSpc>
              <a:spcBef>
                <a:spcPct val="0"/>
              </a:spcBef>
            </a:pPr>
            <a:r>
              <a:rPr lang="en-US" sz="2200" dirty="0">
                <a:solidFill>
                  <a:srgbClr val="000000"/>
                </a:solidFill>
                <a:latin typeface="Poppins"/>
                <a:ea typeface="Poppins"/>
                <a:cs typeface="Poppins"/>
                <a:sym typeface="Poppins"/>
              </a:rPr>
              <a:t>Reviewer identified by name</a:t>
            </a:r>
          </a:p>
        </p:txBody>
      </p:sp>
      <p:sp>
        <p:nvSpPr>
          <p:cNvPr id="73" name="TextBox 73"/>
          <p:cNvSpPr txBox="1"/>
          <p:nvPr/>
        </p:nvSpPr>
        <p:spPr>
          <a:xfrm>
            <a:off x="8212782" y="4269876"/>
            <a:ext cx="3620526" cy="782202"/>
          </a:xfrm>
          <a:prstGeom prst="rect">
            <a:avLst/>
          </a:prstGeom>
        </p:spPr>
        <p:txBody>
          <a:bodyPr lIns="0" tIns="0" rIns="0" bIns="0" rtlCol="0" anchor="t">
            <a:spAutoFit/>
          </a:bodyPr>
          <a:lstStyle/>
          <a:p>
            <a:pPr algn="ctr">
              <a:lnSpc>
                <a:spcPts val="3086"/>
              </a:lnSpc>
              <a:spcBef>
                <a:spcPct val="0"/>
              </a:spcBef>
            </a:pPr>
            <a:r>
              <a:rPr lang="en-US" sz="2204" dirty="0">
                <a:solidFill>
                  <a:srgbClr val="000000"/>
                </a:solidFill>
                <a:latin typeface="Poppins"/>
                <a:ea typeface="Poppins"/>
                <a:cs typeface="Poppins"/>
                <a:sym typeface="Poppins"/>
              </a:rPr>
              <a:t>Name not guessable from username or text</a:t>
            </a:r>
          </a:p>
        </p:txBody>
      </p:sp>
      <p:sp>
        <p:nvSpPr>
          <p:cNvPr id="74" name="TextBox 74"/>
          <p:cNvSpPr txBox="1"/>
          <p:nvPr/>
        </p:nvSpPr>
        <p:spPr>
          <a:xfrm>
            <a:off x="3884855" y="6626548"/>
            <a:ext cx="4566175" cy="1983363"/>
          </a:xfrm>
          <a:prstGeom prst="rect">
            <a:avLst/>
          </a:prstGeom>
        </p:spPr>
        <p:txBody>
          <a:bodyPr wrap="square" lIns="0" tIns="0" rIns="0" bIns="0" rtlCol="0" anchor="t">
            <a:spAutoFit/>
          </a:bodyPr>
          <a:lstStyle/>
          <a:p>
            <a:pPr algn="ctr">
              <a:lnSpc>
                <a:spcPct val="150000"/>
              </a:lnSpc>
              <a:spcBef>
                <a:spcPct val="0"/>
              </a:spcBef>
            </a:pPr>
            <a:r>
              <a:rPr lang="en-US" sz="2200" dirty="0">
                <a:solidFill>
                  <a:srgbClr val="000000"/>
                </a:solidFill>
                <a:latin typeface="Poppins"/>
                <a:ea typeface="Poppins"/>
                <a:cs typeface="Poppins"/>
                <a:sym typeface="Poppins"/>
              </a:rPr>
              <a:t>The review text includes internal details and sounds like it has been written by an ex-employee or not a visitor</a:t>
            </a:r>
          </a:p>
        </p:txBody>
      </p:sp>
      <p:sp>
        <p:nvSpPr>
          <p:cNvPr id="76" name="TextBox 75">
            <a:extLst>
              <a:ext uri="{FF2B5EF4-FFF2-40B4-BE49-F238E27FC236}">
                <a16:creationId xmlns:a16="http://schemas.microsoft.com/office/drawing/2014/main" id="{707BBF52-E5A1-8562-7575-F27EE9184D00}"/>
              </a:ext>
            </a:extLst>
          </p:cNvPr>
          <p:cNvSpPr txBox="1"/>
          <p:nvPr/>
        </p:nvSpPr>
        <p:spPr>
          <a:xfrm>
            <a:off x="600003" y="9661691"/>
            <a:ext cx="10000001" cy="314772"/>
          </a:xfrm>
          <a:prstGeom prst="rect">
            <a:avLst/>
          </a:prstGeom>
          <a:noFill/>
        </p:spPr>
        <p:txBody>
          <a:bodyPr wrap="square" anchor="t">
            <a:spAutoFit/>
          </a:bodyPr>
          <a:lstStyle>
            <a:defPPr>
              <a:defRPr lang="en-US"/>
            </a:defPPr>
            <a:lvl1pPr defTabSz="914445">
              <a:defRPr sz="1400">
                <a:solidFill>
                  <a:srgbClr val="8A8272"/>
                </a:solidFill>
                <a:latin typeface="Poppins"/>
              </a:defRPr>
            </a:lvl1pPr>
            <a:lvl2pPr marL="685800" defTabSz="1371600">
              <a:defRPr sz="2700"/>
            </a:lvl2pPr>
            <a:lvl3pPr marL="1371600" defTabSz="1371600">
              <a:defRPr sz="2700"/>
            </a:lvl3pPr>
            <a:lvl4pPr marL="2057400" defTabSz="1371600">
              <a:defRPr sz="2700"/>
            </a:lvl4pPr>
            <a:lvl5pPr marL="2743200" defTabSz="1371600">
              <a:defRPr sz="2700"/>
            </a:lvl5pPr>
            <a:lvl6pPr marL="3429000" defTabSz="1371600">
              <a:defRPr sz="2700"/>
            </a:lvl6pPr>
            <a:lvl7pPr marL="4114800" defTabSz="1371600">
              <a:defRPr sz="2700"/>
            </a:lvl7pPr>
            <a:lvl8pPr marL="4800600" defTabSz="1371600">
              <a:defRPr sz="2700"/>
            </a:lvl8pPr>
            <a:lvl9pPr marL="5486400" defTabSz="1371600">
              <a:defRPr sz="2700"/>
            </a:lvl9pPr>
          </a:lstStyle>
          <a:p>
            <a:pPr defTabSz="914441"/>
            <a:r>
              <a:rPr dirty="0"/>
              <a:t>T</a:t>
            </a:r>
            <a:r>
              <a:rPr lang="en-US" dirty="0"/>
              <a:t>ripadvisor / Owner Review Disputes</a:t>
            </a:r>
            <a:endParaRPr dirty="0"/>
          </a:p>
        </p:txBody>
      </p:sp>
      <p:pic>
        <p:nvPicPr>
          <p:cNvPr id="77" name="Picture 76">
            <a:extLst>
              <a:ext uri="{FF2B5EF4-FFF2-40B4-BE49-F238E27FC236}">
                <a16:creationId xmlns:a16="http://schemas.microsoft.com/office/drawing/2014/main" id="{0FDDD8EB-C3D2-BE91-E0BC-7BB92FA4CB9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433038" y="3924300"/>
            <a:ext cx="3223581" cy="298420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308814" y="2190643"/>
            <a:ext cx="5233988" cy="509905"/>
          </a:xfrm>
          <a:prstGeom prst="rect">
            <a:avLst/>
          </a:prstGeom>
        </p:spPr>
        <p:txBody>
          <a:bodyPr lIns="0" tIns="0" rIns="0" bIns="0" rtlCol="0" anchor="t">
            <a:spAutoFit/>
          </a:bodyPr>
          <a:lstStyle/>
          <a:p>
            <a:pPr algn="ctr">
              <a:lnSpc>
                <a:spcPts val="3919"/>
              </a:lnSpc>
              <a:spcBef>
                <a:spcPct val="0"/>
              </a:spcBef>
            </a:pPr>
            <a:r>
              <a:rPr lang="en-US" sz="2799" b="1" dirty="0">
                <a:solidFill>
                  <a:srgbClr val="000000"/>
                </a:solidFill>
                <a:latin typeface="Poppins Bold"/>
                <a:ea typeface="Poppins Bold"/>
                <a:cs typeface="Poppins Bold"/>
                <a:sym typeface="Poppins Bold"/>
              </a:rPr>
              <a:t>Attachment Check Requests</a:t>
            </a:r>
          </a:p>
        </p:txBody>
      </p:sp>
      <p:sp>
        <p:nvSpPr>
          <p:cNvPr id="3" name="TextBox 3"/>
          <p:cNvSpPr txBox="1"/>
          <p:nvPr/>
        </p:nvSpPr>
        <p:spPr>
          <a:xfrm>
            <a:off x="1610364" y="2915330"/>
            <a:ext cx="9939908" cy="1982594"/>
          </a:xfrm>
          <a:prstGeom prst="rect">
            <a:avLst/>
          </a:prstGeom>
        </p:spPr>
        <p:txBody>
          <a:bodyPr lIns="0" tIns="0" rIns="0" bIns="0" rtlCol="0" anchor="t">
            <a:spAutoFit/>
          </a:bodyPr>
          <a:lstStyle/>
          <a:p>
            <a:pPr marL="474979" lvl="1" indent="-237490" algn="l">
              <a:lnSpc>
                <a:spcPct val="150000"/>
              </a:lnSpc>
              <a:buFont typeface="Arial"/>
              <a:buChar char="•"/>
            </a:pPr>
            <a:r>
              <a:rPr lang="en-US" sz="2199" dirty="0">
                <a:solidFill>
                  <a:srgbClr val="000000"/>
                </a:solidFill>
                <a:latin typeface="Poppins"/>
                <a:ea typeface="Poppins"/>
                <a:cs typeface="Poppins"/>
                <a:sym typeface="Poppins"/>
              </a:rPr>
              <a:t>Always conduct a comprehensive investigation and carefully evaluate all aspects of the review before taking action.</a:t>
            </a:r>
          </a:p>
          <a:p>
            <a:pPr marL="474979" lvl="1" indent="-237490" algn="l">
              <a:lnSpc>
                <a:spcPct val="150000"/>
              </a:lnSpc>
              <a:buFont typeface="Arial"/>
              <a:buChar char="•"/>
            </a:pPr>
            <a:r>
              <a:rPr lang="en-US" sz="2199" dirty="0">
                <a:solidFill>
                  <a:srgbClr val="000000"/>
                </a:solidFill>
                <a:latin typeface="Poppins"/>
                <a:ea typeface="Poppins"/>
                <a:cs typeface="Poppins"/>
                <a:sym typeface="Poppins"/>
              </a:rPr>
              <a:t>If fraud is detected, follow internal fraud protocols.</a:t>
            </a:r>
          </a:p>
          <a:p>
            <a:pPr marL="474979" lvl="1" indent="-237490" algn="l">
              <a:lnSpc>
                <a:spcPct val="150000"/>
              </a:lnSpc>
              <a:buFont typeface="Arial"/>
              <a:buChar char="•"/>
            </a:pPr>
            <a:r>
              <a:rPr lang="en-US" sz="2199" dirty="0">
                <a:solidFill>
                  <a:srgbClr val="000000"/>
                </a:solidFill>
                <a:latin typeface="Poppins"/>
                <a:ea typeface="Poppins"/>
                <a:cs typeface="Poppins"/>
                <a:sym typeface="Poppins"/>
              </a:rPr>
              <a:t>If there is no fraud, escalate to CS</a:t>
            </a:r>
          </a:p>
        </p:txBody>
      </p:sp>
      <p:sp>
        <p:nvSpPr>
          <p:cNvPr id="4" name="TextBox 4"/>
          <p:cNvSpPr txBox="1"/>
          <p:nvPr/>
        </p:nvSpPr>
        <p:spPr>
          <a:xfrm>
            <a:off x="1308814" y="5711097"/>
            <a:ext cx="5549186" cy="475708"/>
          </a:xfrm>
          <a:prstGeom prst="rect">
            <a:avLst/>
          </a:prstGeom>
        </p:spPr>
        <p:txBody>
          <a:bodyPr wrap="square" lIns="0" tIns="0" rIns="0" bIns="0" rtlCol="0" anchor="t">
            <a:spAutoFit/>
          </a:bodyPr>
          <a:lstStyle/>
          <a:p>
            <a:pPr algn="ctr">
              <a:lnSpc>
                <a:spcPts val="3922"/>
              </a:lnSpc>
              <a:spcBef>
                <a:spcPct val="0"/>
              </a:spcBef>
            </a:pPr>
            <a:r>
              <a:rPr lang="en-US" sz="2801" b="1" dirty="0">
                <a:solidFill>
                  <a:srgbClr val="000000"/>
                </a:solidFill>
                <a:latin typeface="Poppins Bold"/>
                <a:ea typeface="Poppins Bold"/>
                <a:cs typeface="Poppins Bold"/>
                <a:sym typeface="Poppins Bold"/>
              </a:rPr>
              <a:t>Legal Threats &amp; Defamation</a:t>
            </a:r>
          </a:p>
        </p:txBody>
      </p:sp>
      <p:sp>
        <p:nvSpPr>
          <p:cNvPr id="5" name="TextBox 5"/>
          <p:cNvSpPr txBox="1"/>
          <p:nvPr/>
        </p:nvSpPr>
        <p:spPr>
          <a:xfrm>
            <a:off x="1028700" y="885825"/>
            <a:ext cx="8575242" cy="934720"/>
          </a:xfrm>
          <a:prstGeom prst="rect">
            <a:avLst/>
          </a:prstGeom>
        </p:spPr>
        <p:txBody>
          <a:bodyPr lIns="0" tIns="0" rIns="0" bIns="0" rtlCol="0" anchor="t">
            <a:spAutoFit/>
          </a:bodyPr>
          <a:lstStyle/>
          <a:p>
            <a:pPr algn="l">
              <a:lnSpc>
                <a:spcPts val="7279"/>
              </a:lnSpc>
              <a:spcBef>
                <a:spcPct val="0"/>
              </a:spcBef>
            </a:pPr>
            <a:r>
              <a:rPr lang="en-US" sz="5199" b="1" dirty="0">
                <a:solidFill>
                  <a:srgbClr val="000000"/>
                </a:solidFill>
                <a:latin typeface="Poppins Bold"/>
                <a:ea typeface="Poppins Bold"/>
                <a:cs typeface="Poppins Bold"/>
                <a:sym typeface="Poppins Bold"/>
              </a:rPr>
              <a:t>Additional Information</a:t>
            </a:r>
          </a:p>
        </p:txBody>
      </p:sp>
      <p:sp>
        <p:nvSpPr>
          <p:cNvPr id="6" name="TextBox 6"/>
          <p:cNvSpPr txBox="1"/>
          <p:nvPr/>
        </p:nvSpPr>
        <p:spPr>
          <a:xfrm>
            <a:off x="1610364" y="6246370"/>
            <a:ext cx="9324258" cy="2703830"/>
          </a:xfrm>
          <a:prstGeom prst="rect">
            <a:avLst/>
          </a:prstGeom>
        </p:spPr>
        <p:txBody>
          <a:bodyPr lIns="0" tIns="0" rIns="0" bIns="0" rtlCol="0" anchor="t">
            <a:spAutoFit/>
          </a:bodyPr>
          <a:lstStyle/>
          <a:p>
            <a:pPr marL="474979" lvl="1" indent="-237490" algn="l">
              <a:lnSpc>
                <a:spcPts val="5499"/>
              </a:lnSpc>
              <a:buFont typeface="Arial"/>
              <a:buChar char="•"/>
            </a:pPr>
            <a:r>
              <a:rPr lang="en-US" sz="2199" dirty="0">
                <a:solidFill>
                  <a:srgbClr val="000000"/>
                </a:solidFill>
                <a:latin typeface="Poppins"/>
                <a:ea typeface="Poppins"/>
                <a:cs typeface="Poppins"/>
                <a:sym typeface="Poppins"/>
              </a:rPr>
              <a:t>Non-US properties: Use Notice &amp; Takedown Procedure; adjust domain (e.g., .es, .it, .</a:t>
            </a:r>
            <a:r>
              <a:rPr lang="en-US" sz="2199" dirty="0" err="1">
                <a:solidFill>
                  <a:srgbClr val="000000"/>
                </a:solidFill>
                <a:latin typeface="Poppins"/>
                <a:ea typeface="Poppins"/>
                <a:cs typeface="Poppins"/>
                <a:sym typeface="Poppins"/>
              </a:rPr>
              <a:t>fr</a:t>
            </a:r>
            <a:r>
              <a:rPr lang="en-US" sz="2199" dirty="0">
                <a:solidFill>
                  <a:srgbClr val="000000"/>
                </a:solidFill>
                <a:latin typeface="Poppins"/>
                <a:ea typeface="Poppins"/>
                <a:cs typeface="Poppins"/>
                <a:sym typeface="Poppins"/>
              </a:rPr>
              <a:t>) per location.</a:t>
            </a:r>
          </a:p>
          <a:p>
            <a:pPr marL="474979" lvl="1" indent="-237490" algn="l">
              <a:lnSpc>
                <a:spcPts val="5499"/>
              </a:lnSpc>
              <a:buFont typeface="Arial"/>
              <a:buChar char="•"/>
            </a:pPr>
            <a:r>
              <a:rPr lang="en-US" sz="2199" dirty="0">
                <a:solidFill>
                  <a:srgbClr val="000000"/>
                </a:solidFill>
                <a:latin typeface="Poppins"/>
                <a:ea typeface="Poppins"/>
                <a:cs typeface="Poppins"/>
                <a:sym typeface="Poppins"/>
              </a:rPr>
              <a:t>US Properties: Use Legal Contact Information macro.</a:t>
            </a:r>
          </a:p>
          <a:p>
            <a:pPr marL="474979" lvl="1" indent="-237490" algn="l">
              <a:lnSpc>
                <a:spcPts val="5499"/>
              </a:lnSpc>
              <a:buFont typeface="Arial"/>
              <a:buChar char="•"/>
            </a:pPr>
            <a:r>
              <a:rPr lang="en-US" sz="2199" dirty="0">
                <a:solidFill>
                  <a:srgbClr val="000000"/>
                </a:solidFill>
                <a:latin typeface="Poppins"/>
                <a:ea typeface="Poppins"/>
                <a:cs typeface="Poppins"/>
                <a:sym typeface="Poppins"/>
              </a:rPr>
              <a:t>Escalate lawyer or legal inquiries to Tier 2</a:t>
            </a:r>
          </a:p>
        </p:txBody>
      </p:sp>
      <p:sp>
        <p:nvSpPr>
          <p:cNvPr id="8" name="TextBox 7">
            <a:extLst>
              <a:ext uri="{FF2B5EF4-FFF2-40B4-BE49-F238E27FC236}">
                <a16:creationId xmlns:a16="http://schemas.microsoft.com/office/drawing/2014/main" id="{9A8809A6-B7ED-B5F5-CF78-4BDCBCD28573}"/>
              </a:ext>
            </a:extLst>
          </p:cNvPr>
          <p:cNvSpPr txBox="1"/>
          <p:nvPr/>
        </p:nvSpPr>
        <p:spPr>
          <a:xfrm>
            <a:off x="600003" y="9661691"/>
            <a:ext cx="10000001" cy="314772"/>
          </a:xfrm>
          <a:prstGeom prst="rect">
            <a:avLst/>
          </a:prstGeom>
          <a:noFill/>
        </p:spPr>
        <p:txBody>
          <a:bodyPr wrap="square" anchor="t">
            <a:spAutoFit/>
          </a:bodyPr>
          <a:lstStyle>
            <a:defPPr>
              <a:defRPr lang="en-US"/>
            </a:defPPr>
            <a:lvl1pPr defTabSz="914445">
              <a:defRPr sz="1400">
                <a:solidFill>
                  <a:srgbClr val="8A8272"/>
                </a:solidFill>
                <a:latin typeface="Poppins"/>
              </a:defRPr>
            </a:lvl1pPr>
            <a:lvl2pPr marL="685800" defTabSz="1371600">
              <a:defRPr sz="2700"/>
            </a:lvl2pPr>
            <a:lvl3pPr marL="1371600" defTabSz="1371600">
              <a:defRPr sz="2700"/>
            </a:lvl3pPr>
            <a:lvl4pPr marL="2057400" defTabSz="1371600">
              <a:defRPr sz="2700"/>
            </a:lvl4pPr>
            <a:lvl5pPr marL="2743200" defTabSz="1371600">
              <a:defRPr sz="2700"/>
            </a:lvl5pPr>
            <a:lvl6pPr marL="3429000" defTabSz="1371600">
              <a:defRPr sz="2700"/>
            </a:lvl6pPr>
            <a:lvl7pPr marL="4114800" defTabSz="1371600">
              <a:defRPr sz="2700"/>
            </a:lvl7pPr>
            <a:lvl8pPr marL="4800600" defTabSz="1371600">
              <a:defRPr sz="2700"/>
            </a:lvl8pPr>
            <a:lvl9pPr marL="5486400" defTabSz="1371600">
              <a:defRPr sz="2700"/>
            </a:lvl9pPr>
          </a:lstStyle>
          <a:p>
            <a:pPr defTabSz="914441"/>
            <a:r>
              <a:rPr dirty="0"/>
              <a:t>T</a:t>
            </a:r>
            <a:r>
              <a:rPr lang="en-US" dirty="0"/>
              <a:t>ripadvisor / Owner Review Disputes</a:t>
            </a:r>
            <a:endParaRPr dirty="0"/>
          </a:p>
        </p:txBody>
      </p:sp>
      <p:pic>
        <p:nvPicPr>
          <p:cNvPr id="9" name="Picture 8">
            <a:extLst>
              <a:ext uri="{FF2B5EF4-FFF2-40B4-BE49-F238E27FC236}">
                <a16:creationId xmlns:a16="http://schemas.microsoft.com/office/drawing/2014/main" id="{282C26D5-A1D1-5423-B032-937F37BDE1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49037" y="2127075"/>
            <a:ext cx="2956095" cy="3016425"/>
          </a:xfrm>
          <a:prstGeom prst="rect">
            <a:avLst/>
          </a:prstGeom>
        </p:spPr>
      </p:pic>
      <p:pic>
        <p:nvPicPr>
          <p:cNvPr id="11" name="Picture 10">
            <a:extLst>
              <a:ext uri="{FF2B5EF4-FFF2-40B4-BE49-F238E27FC236}">
                <a16:creationId xmlns:a16="http://schemas.microsoft.com/office/drawing/2014/main" id="{4FD31A08-3988-70D5-C058-C89652BAC2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88707" y="6279027"/>
            <a:ext cx="3016425" cy="301642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518899" y="2345675"/>
            <a:ext cx="11054101" cy="6119209"/>
          </a:xfrm>
          <a:prstGeom prst="rect">
            <a:avLst/>
          </a:prstGeom>
        </p:spPr>
        <p:txBody>
          <a:bodyPr wrap="square" lIns="0" tIns="0" rIns="0" bIns="0" rtlCol="0" anchor="t">
            <a:spAutoFit/>
          </a:bodyPr>
          <a:lstStyle/>
          <a:p>
            <a:pPr marL="604520" lvl="1" indent="-302260" algn="l">
              <a:lnSpc>
                <a:spcPts val="7004"/>
              </a:lnSpc>
              <a:buFont typeface="Arial"/>
              <a:buChar char="•"/>
            </a:pPr>
            <a:r>
              <a:rPr lang="en-US" sz="2800" dirty="0" err="1">
                <a:solidFill>
                  <a:srgbClr val="000000"/>
                </a:solidFill>
                <a:latin typeface="Poppins"/>
                <a:ea typeface="Poppins"/>
                <a:cs typeface="Poppins"/>
                <a:sym typeface="Poppins"/>
              </a:rPr>
              <a:t>TheFork</a:t>
            </a:r>
            <a:r>
              <a:rPr lang="en-US" sz="2800" dirty="0">
                <a:solidFill>
                  <a:srgbClr val="000000"/>
                </a:solidFill>
                <a:latin typeface="Poppins"/>
                <a:ea typeface="Poppins"/>
                <a:cs typeface="Poppins"/>
                <a:sym typeface="Poppins"/>
              </a:rPr>
              <a:t> reviews: Direct owners to </a:t>
            </a:r>
            <a:r>
              <a:rPr lang="en-US" sz="2800" dirty="0" err="1">
                <a:solidFill>
                  <a:srgbClr val="000000"/>
                </a:solidFill>
                <a:latin typeface="Poppins"/>
                <a:ea typeface="Poppins"/>
                <a:cs typeface="Poppins"/>
                <a:sym typeface="Poppins"/>
              </a:rPr>
              <a:t>TheFork</a:t>
            </a:r>
            <a:r>
              <a:rPr lang="en-US" sz="2800" dirty="0">
                <a:solidFill>
                  <a:srgbClr val="000000"/>
                </a:solidFill>
                <a:latin typeface="Poppins"/>
                <a:ea typeface="Poppins"/>
                <a:cs typeface="Poppins"/>
                <a:sym typeface="Poppins"/>
              </a:rPr>
              <a:t> Manager Account</a:t>
            </a:r>
            <a:endParaRPr lang="en-US" sz="2800" dirty="0"/>
          </a:p>
          <a:p>
            <a:pPr marL="604520" lvl="1" indent="-302260" algn="l">
              <a:lnSpc>
                <a:spcPts val="7004"/>
              </a:lnSpc>
              <a:buFont typeface="Arial"/>
              <a:buChar char="•"/>
            </a:pPr>
            <a:r>
              <a:rPr lang="en-US" sz="2800" dirty="0">
                <a:solidFill>
                  <a:srgbClr val="000000"/>
                </a:solidFill>
                <a:latin typeface="Poppins"/>
                <a:ea typeface="Poppins"/>
                <a:cs typeface="Poppins"/>
                <a:sym typeface="Poppins"/>
              </a:rPr>
              <a:t>Always check the owner's history. If their story changes (e.g., from "Wrong property" to "Blackmail"), their claim is likely illegitimate</a:t>
            </a:r>
            <a:endParaRPr lang="en-US" sz="2800" dirty="0">
              <a:solidFill>
                <a:srgbClr val="000000"/>
              </a:solidFill>
              <a:latin typeface="Poppins"/>
              <a:ea typeface="Poppins"/>
              <a:cs typeface="Poppins"/>
            </a:endParaRPr>
          </a:p>
          <a:p>
            <a:pPr marL="604520" lvl="1" indent="-302260" algn="l">
              <a:lnSpc>
                <a:spcPts val="7004"/>
              </a:lnSpc>
              <a:buFont typeface="Arial"/>
              <a:buChar char="•"/>
            </a:pPr>
            <a:r>
              <a:rPr lang="en-US" sz="2800" dirty="0">
                <a:solidFill>
                  <a:srgbClr val="000000"/>
                </a:solidFill>
                <a:latin typeface="Poppins"/>
                <a:ea typeface="Poppins"/>
                <a:cs typeface="Poppins"/>
                <a:sym typeface="Poppins"/>
              </a:rPr>
              <a:t>For inquiries about Owner responses, verify publication status and handle as "status of my review"</a:t>
            </a:r>
            <a:endParaRPr lang="en-US" sz="2800" dirty="0">
              <a:solidFill>
                <a:srgbClr val="000000"/>
              </a:solidFill>
              <a:latin typeface="Poppins"/>
              <a:ea typeface="Poppins"/>
              <a:cs typeface="Poppins"/>
            </a:endParaRPr>
          </a:p>
        </p:txBody>
      </p:sp>
      <p:sp>
        <p:nvSpPr>
          <p:cNvPr id="3" name="Freeform 3"/>
          <p:cNvSpPr/>
          <p:nvPr/>
        </p:nvSpPr>
        <p:spPr>
          <a:xfrm>
            <a:off x="12877800" y="3086100"/>
            <a:ext cx="4005072" cy="4114800"/>
          </a:xfrm>
          <a:custGeom>
            <a:avLst/>
            <a:gdLst/>
            <a:ahLst/>
            <a:cxnLst/>
            <a:rect l="l" t="t" r="r" b="b"/>
            <a:pathLst>
              <a:path w="4005072" h="4114800">
                <a:moveTo>
                  <a:pt x="0" y="0"/>
                </a:moveTo>
                <a:lnTo>
                  <a:pt x="4005072" y="0"/>
                </a:lnTo>
                <a:lnTo>
                  <a:pt x="4005072"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a:effectLst>
            <a:outerShdw blurRad="50800" dist="38100" dir="5400000" algn="t" rotWithShape="0">
              <a:prstClr val="black">
                <a:alpha val="40000"/>
              </a:prstClr>
            </a:outerShdw>
          </a:effectLst>
        </p:spPr>
        <p:txBody>
          <a:bodyPr/>
          <a:lstStyle/>
          <a:p>
            <a:endParaRPr lang="en-US"/>
          </a:p>
        </p:txBody>
      </p:sp>
      <p:sp>
        <p:nvSpPr>
          <p:cNvPr id="4" name="TextBox 4"/>
          <p:cNvSpPr txBox="1"/>
          <p:nvPr/>
        </p:nvSpPr>
        <p:spPr>
          <a:xfrm>
            <a:off x="1192100" y="1072568"/>
            <a:ext cx="4606964" cy="934720"/>
          </a:xfrm>
          <a:prstGeom prst="rect">
            <a:avLst/>
          </a:prstGeom>
        </p:spPr>
        <p:txBody>
          <a:bodyPr lIns="0" tIns="0" rIns="0" bIns="0" rtlCol="0" anchor="t">
            <a:spAutoFit/>
          </a:bodyPr>
          <a:lstStyle/>
          <a:p>
            <a:pPr algn="l">
              <a:lnSpc>
                <a:spcPts val="7279"/>
              </a:lnSpc>
              <a:spcBef>
                <a:spcPct val="0"/>
              </a:spcBef>
            </a:pPr>
            <a:r>
              <a:rPr lang="en-US" sz="5199" b="1">
                <a:solidFill>
                  <a:srgbClr val="000000"/>
                </a:solidFill>
                <a:latin typeface="Poppins Bold"/>
                <a:ea typeface="Poppins Bold"/>
                <a:cs typeface="Poppins Bold"/>
                <a:sym typeface="Poppins Bold"/>
              </a:rPr>
              <a:t>Quick Tips</a:t>
            </a:r>
          </a:p>
        </p:txBody>
      </p:sp>
      <p:sp>
        <p:nvSpPr>
          <p:cNvPr id="6" name="TextBox 5">
            <a:extLst>
              <a:ext uri="{FF2B5EF4-FFF2-40B4-BE49-F238E27FC236}">
                <a16:creationId xmlns:a16="http://schemas.microsoft.com/office/drawing/2014/main" id="{8B33F06A-532F-A08C-EFAE-6FE4D747AFFB}"/>
              </a:ext>
            </a:extLst>
          </p:cNvPr>
          <p:cNvSpPr txBox="1"/>
          <p:nvPr/>
        </p:nvSpPr>
        <p:spPr>
          <a:xfrm>
            <a:off x="600003" y="9661691"/>
            <a:ext cx="10000001" cy="314772"/>
          </a:xfrm>
          <a:prstGeom prst="rect">
            <a:avLst/>
          </a:prstGeom>
          <a:noFill/>
        </p:spPr>
        <p:txBody>
          <a:bodyPr wrap="square" anchor="t">
            <a:spAutoFit/>
          </a:bodyPr>
          <a:lstStyle>
            <a:defPPr>
              <a:defRPr lang="en-US"/>
            </a:defPPr>
            <a:lvl1pPr defTabSz="914445">
              <a:defRPr sz="1400">
                <a:solidFill>
                  <a:srgbClr val="8A8272"/>
                </a:solidFill>
                <a:latin typeface="Poppins"/>
              </a:defRPr>
            </a:lvl1pPr>
            <a:lvl2pPr marL="685800" defTabSz="1371600">
              <a:defRPr sz="2700"/>
            </a:lvl2pPr>
            <a:lvl3pPr marL="1371600" defTabSz="1371600">
              <a:defRPr sz="2700"/>
            </a:lvl3pPr>
            <a:lvl4pPr marL="2057400" defTabSz="1371600">
              <a:defRPr sz="2700"/>
            </a:lvl4pPr>
            <a:lvl5pPr marL="2743200" defTabSz="1371600">
              <a:defRPr sz="2700"/>
            </a:lvl5pPr>
            <a:lvl6pPr marL="3429000" defTabSz="1371600">
              <a:defRPr sz="2700"/>
            </a:lvl6pPr>
            <a:lvl7pPr marL="4114800" defTabSz="1371600">
              <a:defRPr sz="2700"/>
            </a:lvl7pPr>
            <a:lvl8pPr marL="4800600" defTabSz="1371600">
              <a:defRPr sz="2700"/>
            </a:lvl8pPr>
            <a:lvl9pPr marL="5486400" defTabSz="1371600">
              <a:defRPr sz="2700"/>
            </a:lvl9pPr>
          </a:lstStyle>
          <a:p>
            <a:pPr defTabSz="914441"/>
            <a:r>
              <a:rPr dirty="0"/>
              <a:t>T</a:t>
            </a:r>
            <a:r>
              <a:rPr lang="en-US" dirty="0"/>
              <a:t>ripadvisor / Owner Review Disputes</a:t>
            </a:r>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55fb9b3e-a026-48a2-bdfc-bbf57372bf68">
      <Terms xmlns="http://schemas.microsoft.com/office/infopath/2007/PartnerControls"/>
    </lcf76f155ced4ddcb4097134ff3c332f>
    <TaxCatchAll xmlns="363a3933-3acd-4138-81fd-92928eeda287"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0EE4AE8D3AC874580C728DBD6C58F20" ma:contentTypeVersion="16" ma:contentTypeDescription="Create a new document." ma:contentTypeScope="" ma:versionID="006169719bc193b9aed0450dc1fb951c">
  <xsd:schema xmlns:xsd="http://www.w3.org/2001/XMLSchema" xmlns:xs="http://www.w3.org/2001/XMLSchema" xmlns:p="http://schemas.microsoft.com/office/2006/metadata/properties" xmlns:ns2="363a3933-3acd-4138-81fd-92928eeda287" xmlns:ns3="55fb9b3e-a026-48a2-bdfc-bbf57372bf68" targetNamespace="http://schemas.microsoft.com/office/2006/metadata/properties" ma:root="true" ma:fieldsID="dad33e39320f44d79dd0383e43ad2fe2" ns2:_="" ns3:_="">
    <xsd:import namespace="363a3933-3acd-4138-81fd-92928eeda287"/>
    <xsd:import namespace="55fb9b3e-a026-48a2-bdfc-bbf57372bf68"/>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SearchProperties" minOccurs="0"/>
                <xsd:element ref="ns3:MediaServiceObjectDetectorVersions" minOccurs="0"/>
                <xsd:element ref="ns3:MediaServiceGenerationTime" minOccurs="0"/>
                <xsd:element ref="ns3:MediaServiceEventHashCode" minOccurs="0"/>
                <xsd:element ref="ns3:MediaServiceDateTaken" minOccurs="0"/>
                <xsd:element ref="ns3:MediaLengthInSeconds" minOccurs="0"/>
                <xsd:element ref="ns3:lcf76f155ced4ddcb4097134ff3c332f" minOccurs="0"/>
                <xsd:element ref="ns2:TaxCatchAll" minOccurs="0"/>
                <xsd:element ref="ns3:MediaServiceOCR" minOccurs="0"/>
                <xsd:element ref="ns3:MediaServiceLocation"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63a3933-3acd-4138-81fd-92928eeda287"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6b6606f3-8e38-4bb2-982d-ae60526f985d}" ma:internalName="TaxCatchAll" ma:showField="CatchAllData" ma:web="363a3933-3acd-4138-81fd-92928eeda28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55fb9b3e-a026-48a2-bdfc-bbf57372bf68"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4d924c95-84b7-4d1c-8a87-b591b54e0cf6"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Location" ma:index="22" nillable="true" ma:displayName="Location" ma:indexed="true" ma:internalName="MediaServiceLocation" ma:readOnly="true">
      <xsd:simpleType>
        <xsd:restriction base="dms:Text"/>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0B7D0E6-69C4-4319-8C40-AD86EB78CD02}">
  <ds:schemaRefs>
    <ds:schemaRef ds:uri="http://schemas.microsoft.com/office/2006/metadata/properties"/>
    <ds:schemaRef ds:uri="http://schemas.microsoft.com/office/infopath/2007/PartnerControls"/>
    <ds:schemaRef ds:uri="55fb9b3e-a026-48a2-bdfc-bbf57372bf68"/>
    <ds:schemaRef ds:uri="363a3933-3acd-4138-81fd-92928eeda287"/>
  </ds:schemaRefs>
</ds:datastoreItem>
</file>

<file path=customXml/itemProps2.xml><?xml version="1.0" encoding="utf-8"?>
<ds:datastoreItem xmlns:ds="http://schemas.openxmlformats.org/officeDocument/2006/customXml" ds:itemID="{15182258-5EC7-43DF-8B8D-5F49C2B10CD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63a3933-3acd-4138-81fd-92928eeda287"/>
    <ds:schemaRef ds:uri="55fb9b3e-a026-48a2-bdfc-bbf57372bf6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3B8BE0E-54D9-46F0-B746-56B6025E594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398</TotalTime>
  <Words>961</Words>
  <Application>Microsoft Office PowerPoint</Application>
  <PresentationFormat>Custom</PresentationFormat>
  <Paragraphs>125</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Poppins Bold</vt:lpstr>
      <vt:lpstr>Poppins</vt:lpstr>
      <vt:lpstr>Calibri</vt:lpstr>
      <vt:lpstr>Courier New</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Jacob (Jake) Nicoletti</dc:title>
  <cp:lastModifiedBy>Blessy S</cp:lastModifiedBy>
  <cp:revision>56</cp:revision>
  <dcterms:created xsi:type="dcterms:W3CDTF">2006-08-16T00:00:00Z</dcterms:created>
  <dcterms:modified xsi:type="dcterms:W3CDTF">2026-09-28T10:50:10Z</dcterms:modified>
  <dc:identifier>DAHR_FDhbCI</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0x01010080EE4AE8D3AC874580C728DBD6C58F20</vt:lpwstr>
  </property>
  <property fmtid="{D5CDD505-2E9C-101B-9397-08002B2CF9AE}" pid="3" name="MediaServiceImageTags">
    <vt:lpwstr/>
  </property>
</Properties>
</file>