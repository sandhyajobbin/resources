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6F_77B96247.xml" ContentType="application/vnd.ms-powerpoint.comments+xml"/>
  <Override PartName="/ppt/comments/modernComment_103_824D814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696" r:id="rId5"/>
    <p:sldMasterId id="2147483708" r:id="rId6"/>
  </p:sldMasterIdLst>
  <p:notesMasterIdLst>
    <p:notesMasterId r:id="rId36"/>
  </p:notesMasterIdLst>
  <p:sldIdLst>
    <p:sldId id="367" r:id="rId7"/>
    <p:sldId id="368" r:id="rId8"/>
    <p:sldId id="256" r:id="rId9"/>
    <p:sldId id="309" r:id="rId10"/>
    <p:sldId id="259" r:id="rId11"/>
    <p:sldId id="369" r:id="rId12"/>
    <p:sldId id="260" r:id="rId13"/>
    <p:sldId id="310" r:id="rId14"/>
    <p:sldId id="311" r:id="rId15"/>
    <p:sldId id="312" r:id="rId16"/>
    <p:sldId id="317" r:id="rId17"/>
    <p:sldId id="313" r:id="rId18"/>
    <p:sldId id="272" r:id="rId19"/>
    <p:sldId id="314" r:id="rId20"/>
    <p:sldId id="315" r:id="rId21"/>
    <p:sldId id="316" r:id="rId22"/>
    <p:sldId id="319" r:id="rId23"/>
    <p:sldId id="318" r:id="rId24"/>
    <p:sldId id="270" r:id="rId25"/>
    <p:sldId id="257" r:id="rId26"/>
    <p:sldId id="258" r:id="rId27"/>
    <p:sldId id="362" r:id="rId28"/>
    <p:sldId id="300" r:id="rId29"/>
    <p:sldId id="361" r:id="rId30"/>
    <p:sldId id="267" r:id="rId31"/>
    <p:sldId id="363" r:id="rId32"/>
    <p:sldId id="364" r:id="rId33"/>
    <p:sldId id="365" r:id="rId34"/>
    <p:sldId id="366" r:id="rId35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1739CD-6BD1-BAA4-2804-D2A8DA1BC46A}" name="Anupama Chatti" initials="AC" userId="S::chaanupa@sutherlandglobal.com::8d317b31-7766-4d69-bc0a-0192281c33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F2FF"/>
    <a:srgbClr val="DACC00"/>
    <a:srgbClr val="CFFF21"/>
    <a:srgbClr val="00B747"/>
    <a:srgbClr val="D953FF"/>
    <a:srgbClr val="FF4E51"/>
    <a:srgbClr val="FF6D37"/>
    <a:srgbClr val="00D7BB"/>
    <a:srgbClr val="FF97F5"/>
    <a:srgbClr val="67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D0CA7-DCB0-8563-60C8-DC7145D5750D}" v="2" dt="2026-10-05T07:56:05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2" autoAdjust="0"/>
    <p:restoredTop sz="94660"/>
  </p:normalViewPr>
  <p:slideViewPr>
    <p:cSldViewPr snapToGrid="0">
      <p:cViewPr varScale="1">
        <p:scale>
          <a:sx n="42" d="100"/>
          <a:sy n="42" d="100"/>
        </p:scale>
        <p:origin x="10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microsoft.com/office/2018/10/relationships/authors" Target="author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essy S" userId="S::sbless2@sutherlandglobal.com::15b3e473-e26c-4018-a39b-85200c5350ce" providerId="AD" clId="Web-{640D824D-A9AF-7EA2-6F78-DB5CE8611F3C}"/>
    <pc:docChg chg="addSld modSld">
      <pc:chgData name="Blessy S" userId="S::sbless2@sutherlandglobal.com::15b3e473-e26c-4018-a39b-85200c5350ce" providerId="AD" clId="Web-{640D824D-A9AF-7EA2-6F78-DB5CE8611F3C}" dt="2026-09-18T13:34:29.437" v="11" actId="20577"/>
      <pc:docMkLst>
        <pc:docMk/>
      </pc:docMkLst>
      <pc:sldChg chg="modSp add">
        <pc:chgData name="Blessy S" userId="S::sbless2@sutherlandglobal.com::15b3e473-e26c-4018-a39b-85200c5350ce" providerId="AD" clId="Web-{640D824D-A9AF-7EA2-6F78-DB5CE8611F3C}" dt="2026-09-18T13:34:29.437" v="11" actId="20577"/>
        <pc:sldMkLst>
          <pc:docMk/>
          <pc:sldMk cId="4000465298" sldId="368"/>
        </pc:sldMkLst>
        <pc:spChg chg="mod">
          <ac:chgData name="Blessy S" userId="S::sbless2@sutherlandglobal.com::15b3e473-e26c-4018-a39b-85200c5350ce" providerId="AD" clId="Web-{640D824D-A9AF-7EA2-6F78-DB5CE8611F3C}" dt="2026-09-18T13:34:29.437" v="11" actId="20577"/>
          <ac:spMkLst>
            <pc:docMk/>
            <pc:sldMk cId="4000465298" sldId="368"/>
            <ac:spMk id="10" creationId="{6BFED05B-87EA-AB54-14AC-DE79C7559A2C}"/>
          </ac:spMkLst>
        </pc:spChg>
      </pc:sldChg>
    </pc:docChg>
  </pc:docChgLst>
  <pc:docChgLst>
    <pc:chgData name="Blessy S" userId="S::sbless2@sutherlandglobal.com::15b3e473-e26c-4018-a39b-85200c5350ce" providerId="AD" clId="Web-{821F6C2A-24FE-BF71-A15D-84929B229274}"/>
    <pc:docChg chg="addSld modSld sldOrd">
      <pc:chgData name="Blessy S" userId="S::sbless2@sutherlandglobal.com::15b3e473-e26c-4018-a39b-85200c5350ce" providerId="AD" clId="Web-{821F6C2A-24FE-BF71-A15D-84929B229274}" dt="2026-09-28T10:24:21.957" v="16" actId="14100"/>
      <pc:docMkLst>
        <pc:docMk/>
      </pc:docMkLst>
      <pc:sldChg chg="modSp">
        <pc:chgData name="Blessy S" userId="S::sbless2@sutherlandglobal.com::15b3e473-e26c-4018-a39b-85200c5350ce" providerId="AD" clId="Web-{821F6C2A-24FE-BF71-A15D-84929B229274}" dt="2026-09-28T10:24:21.957" v="16" actId="14100"/>
        <pc:sldMkLst>
          <pc:docMk/>
          <pc:sldMk cId="0" sldId="317"/>
        </pc:sldMkLst>
        <pc:spChg chg="mod">
          <ac:chgData name="Blessy S" userId="S::sbless2@sutherlandglobal.com::15b3e473-e26c-4018-a39b-85200c5350ce" providerId="AD" clId="Web-{821F6C2A-24FE-BF71-A15D-84929B229274}" dt="2026-09-28T10:24:21.957" v="16" actId="14100"/>
          <ac:spMkLst>
            <pc:docMk/>
            <pc:sldMk cId="0" sldId="317"/>
            <ac:spMk id="29" creationId="{00000000-0000-0000-0000-000000000000}"/>
          </ac:spMkLst>
        </pc:spChg>
      </pc:sldChg>
      <pc:sldChg chg="modSp add ord replId">
        <pc:chgData name="Blessy S" userId="S::sbless2@sutherlandglobal.com::15b3e473-e26c-4018-a39b-85200c5350ce" providerId="AD" clId="Web-{821F6C2A-24FE-BF71-A15D-84929B229274}" dt="2026-09-28T10:24:11.160" v="12" actId="20577"/>
        <pc:sldMkLst>
          <pc:docMk/>
          <pc:sldMk cId="16977041" sldId="369"/>
        </pc:sldMkLst>
        <pc:spChg chg="mod">
          <ac:chgData name="Blessy S" userId="S::sbless2@sutherlandglobal.com::15b3e473-e26c-4018-a39b-85200c5350ce" providerId="AD" clId="Web-{821F6C2A-24FE-BF71-A15D-84929B229274}" dt="2026-09-28T10:24:11.160" v="12" actId="20577"/>
          <ac:spMkLst>
            <pc:docMk/>
            <pc:sldMk cId="16977041" sldId="369"/>
            <ac:spMk id="10" creationId="{529415FC-5670-DA73-1DD0-A597FAFF5DC8}"/>
          </ac:spMkLst>
        </pc:spChg>
      </pc:sldChg>
    </pc:docChg>
  </pc:docChgLst>
  <pc:docChgLst>
    <pc:chgData name="Anupama Chatti" userId="S::chaanupa@sutherlandglobal.com::8d317b31-7766-4d69-bc0a-0192281c33af" providerId="AD" clId="Web-{7C8D0CA7-DCB0-8563-60C8-DC7145D5750D}"/>
    <pc:docChg chg="modSld">
      <pc:chgData name="Anupama Chatti" userId="S::chaanupa@sutherlandglobal.com::8d317b31-7766-4d69-bc0a-0192281c33af" providerId="AD" clId="Web-{7C8D0CA7-DCB0-8563-60C8-DC7145D5750D}" dt="2026-10-05T07:56:05.253" v="1"/>
      <pc:docMkLst>
        <pc:docMk/>
      </pc:docMkLst>
      <pc:sldChg chg="modSp">
        <pc:chgData name="Anupama Chatti" userId="S::chaanupa@sutherlandglobal.com::8d317b31-7766-4d69-bc0a-0192281c33af" providerId="AD" clId="Web-{7C8D0CA7-DCB0-8563-60C8-DC7145D5750D}" dt="2026-10-05T07:56:05.253" v="1"/>
        <pc:sldMkLst>
          <pc:docMk/>
          <pc:sldMk cId="0" sldId="319"/>
        </pc:sldMkLst>
        <pc:spChg chg="mod">
          <ac:chgData name="Anupama Chatti" userId="S::chaanupa@sutherlandglobal.com::8d317b31-7766-4d69-bc0a-0192281c33af" providerId="AD" clId="Web-{7C8D0CA7-DCB0-8563-60C8-DC7145D5750D}" dt="2026-10-05T07:56:05.253" v="1"/>
          <ac:spMkLst>
            <pc:docMk/>
            <pc:sldMk cId="0" sldId="319"/>
            <ac:spMk id="9" creationId="{00000000-0000-0000-0000-000000000000}"/>
          </ac:spMkLst>
        </pc:spChg>
      </pc:sldChg>
    </pc:docChg>
  </pc:docChgLst>
</pc:chgInfo>
</file>

<file path=ppt/comments/modernComment_16F_77B962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E13CBF-3865-4841-9B46-49206F4D53C2}" authorId="{601739CD-6BD1-BAA4-2804-D2A8DA1BC46A}" created="2026-08-21T10:18:16.1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08638023" sldId="367"/>
      <ac:spMk id="9" creationId="{7D8F050D-17AC-0C0A-4D23-CFEF1D38BBFB}"/>
      <ac:txMk cp="1" len="6">
        <ac:context len="27" hash="2514273679"/>
      </ac:txMk>
    </ac:txMkLst>
    <p188:pos x="5336217" y="530612"/>
    <p188:txBody>
      <a:bodyPr/>
      <a:lstStyle/>
      <a:p>
        <a:r>
          <a:rPr lang="en-US"/>
          <a:t>Image and quote need to be generated</a:t>
        </a:r>
      </a:p>
    </p188:txBody>
  </p188:cm>
</p188:cmLst>
</file>

<file path=ppt/comments/modernComment_103_824D8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536AD8-60B2-420C-ADAB-70743D9ECF55}" authorId="{601739CD-6BD1-BAA4-2804-D2A8DA1BC46A}" created="2026-09-04T15:58:59.1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6632340" sldId="259"/>
      <ac:spMk id="5" creationId="{9381E419-A161-08E2-E93D-39341B91296A}"/>
      <ac:txMk cp="0" len="8">
        <ac:context len="24" hash="1587783621"/>
      </ac:txMk>
    </ac:txMkLst>
    <p188:pos x="2286000" y="366622"/>
    <p188:txBody>
      <a:bodyPr/>
      <a:lstStyle/>
      <a:p>
        <a:r>
          <a:rPr lang="en-US"/>
          <a:t>Designs for 4,5,6,&amp; 16 are being worked on by abith will update them at the earliest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7F94C2-B9FC-492E-9DB5-EDB6F0D3149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EC1E11-3AC1-4AAA-BD9C-D1F4FCB09049}">
      <dgm:prSet phldrT="[Text]" custT="1"/>
      <dgm:spPr>
        <a:solidFill>
          <a:srgbClr val="00B747"/>
        </a:solidFill>
        <a:ln w="28575"/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1600" b="1" i="0" u="none" dirty="0">
              <a:latin typeface="Poppins" panose="00000500000000000000" pitchFamily="2" charset="0"/>
              <a:cs typeface="Poppins" panose="00000500000000000000" pitchFamily="2" charset="0"/>
            </a:rPr>
            <a:t>Check Location Center:</a:t>
          </a:r>
          <a:r>
            <a:rPr lang="en-US" sz="1600" b="0" i="0" u="none" dirty="0">
              <a:latin typeface="Poppins" panose="00000500000000000000" pitchFamily="2" charset="0"/>
              <a:cs typeface="Poppins" panose="00000500000000000000" pitchFamily="2" charset="0"/>
            </a:rPr>
            <a:t> Always start by reviewing notes on past violations for the property.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CE469CDB-1EF3-4BE8-8F80-F4982BC75BC8}" type="parTrans" cxnId="{11EFDBF9-5838-42C2-9779-9D39CE1B3B98}">
      <dgm:prSet/>
      <dgm:spPr/>
      <dgm:t>
        <a:bodyPr/>
        <a:lstStyle/>
        <a:p>
          <a:endParaRPr lang="en-US"/>
        </a:p>
      </dgm:t>
    </dgm:pt>
    <dgm:pt modelId="{70FA68E4-407F-4E8F-A325-8F61655E88B2}" type="sibTrans" cxnId="{11EFDBF9-5838-42C2-9779-9D39CE1B3B98}">
      <dgm:prSet/>
      <dgm:spPr/>
      <dgm:t>
        <a:bodyPr/>
        <a:lstStyle/>
        <a:p>
          <a:endParaRPr lang="en-US"/>
        </a:p>
      </dgm:t>
    </dgm:pt>
    <dgm:pt modelId="{B4C6B97F-3AB5-48DA-85F9-BD69096769CB}">
      <dgm:prSet phldrT="[Text]" custT="1"/>
      <dgm:spPr>
        <a:solidFill>
          <a:srgbClr val="FF4E51"/>
        </a:solidFill>
        <a:ln w="28575"/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1600" b="1" i="0" u="none" dirty="0">
              <a:latin typeface="Poppins" panose="00000500000000000000" pitchFamily="2" charset="0"/>
              <a:cs typeface="Poppins" panose="00000500000000000000" pitchFamily="2" charset="0"/>
            </a:rPr>
            <a:t>Use URD Effectively:</a:t>
          </a:r>
          <a:r>
            <a:rPr lang="en-US" sz="1600" b="0" i="0" u="none" dirty="0">
              <a:latin typeface="Poppins" panose="00000500000000000000" pitchFamily="2" charset="0"/>
              <a:cs typeface="Poppins" panose="00000500000000000000" pitchFamily="2" charset="0"/>
            </a:rPr>
            <a:t> Filter reviews by location ID, exclude owner responses and photo-only submissions, and use start date filters when needed.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AF01ADA2-D51E-4AF0-941A-53AD53F220A4}" type="parTrans" cxnId="{48068715-E09B-4D1C-AD2E-0AE1D2FD19A2}">
      <dgm:prSet/>
      <dgm:spPr/>
      <dgm:t>
        <a:bodyPr/>
        <a:lstStyle/>
        <a:p>
          <a:endParaRPr lang="en-US"/>
        </a:p>
      </dgm:t>
    </dgm:pt>
    <dgm:pt modelId="{06600613-57E1-4BA8-B4CF-D75EDBC35E51}" type="sibTrans" cxnId="{48068715-E09B-4D1C-AD2E-0AE1D2FD19A2}">
      <dgm:prSet/>
      <dgm:spPr/>
      <dgm:t>
        <a:bodyPr/>
        <a:lstStyle/>
        <a:p>
          <a:endParaRPr lang="en-US"/>
        </a:p>
      </dgm:t>
    </dgm:pt>
    <dgm:pt modelId="{C47B0F70-A7BA-4A76-9A56-DE4B7BCA3BCF}">
      <dgm:prSet phldrT="[Text]" custT="1"/>
      <dgm:spPr>
        <a:solidFill>
          <a:srgbClr val="00B747"/>
        </a:solidFill>
        <a:ln w="28575"/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1600" b="1" i="0" u="none" dirty="0">
              <a:latin typeface="Poppins" panose="00000500000000000000" pitchFamily="2" charset="0"/>
              <a:cs typeface="Poppins" panose="00000500000000000000" pitchFamily="2" charset="0"/>
            </a:rPr>
            <a:t>Identify Commonalities:</a:t>
          </a:r>
          <a:r>
            <a:rPr lang="en-US" sz="1600" b="0" i="0" u="none" dirty="0">
              <a:latin typeface="Poppins" panose="00000500000000000000" pitchFamily="2" charset="0"/>
              <a:cs typeface="Poppins" panose="00000500000000000000" pitchFamily="2" charset="0"/>
            </a:rPr>
            <a:t> Look for patterns in email domains, review titles, account age, IP addresses, and review content, especially during spikes in positive reviews.</a:t>
          </a:r>
          <a:endParaRPr lang="en-US" sz="1600" b="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1F1A63A1-A9F1-491A-965A-2D08DDC5441E}" type="parTrans" cxnId="{A5798CA6-4E1A-4856-AF46-E02DC2BB1218}">
      <dgm:prSet/>
      <dgm:spPr/>
      <dgm:t>
        <a:bodyPr/>
        <a:lstStyle/>
        <a:p>
          <a:endParaRPr lang="en-US"/>
        </a:p>
      </dgm:t>
    </dgm:pt>
    <dgm:pt modelId="{6F02A4BE-FE1C-4693-A080-8765584A0603}" type="sibTrans" cxnId="{A5798CA6-4E1A-4856-AF46-E02DC2BB1218}">
      <dgm:prSet/>
      <dgm:spPr/>
      <dgm:t>
        <a:bodyPr/>
        <a:lstStyle/>
        <a:p>
          <a:endParaRPr lang="en-US"/>
        </a:p>
      </dgm:t>
    </dgm:pt>
    <dgm:pt modelId="{A4DDCBED-66EE-4A81-B802-670C171426FE}">
      <dgm:prSet phldrT="[Text]" custT="1"/>
      <dgm:spPr>
        <a:solidFill>
          <a:srgbClr val="6780FF"/>
        </a:solidFill>
        <a:ln w="28575"/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1600" b="1" i="0" u="none" dirty="0">
              <a:latin typeface="Poppins" panose="00000500000000000000" pitchFamily="2" charset="0"/>
              <a:cs typeface="Poppins" panose="00000500000000000000" pitchFamily="2" charset="0"/>
            </a:rPr>
            <a:t>Batch Review Analysis: </a:t>
          </a:r>
          <a:r>
            <a:rPr lang="en-US" sz="1600" b="0" i="0" u="none" dirty="0">
              <a:latin typeface="Poppins" panose="00000500000000000000" pitchFamily="2" charset="0"/>
              <a:cs typeface="Poppins" panose="00000500000000000000" pitchFamily="2" charset="0"/>
            </a:rPr>
            <a:t>Open reviews in batches of 25 using filters and tools like the </a:t>
          </a:r>
          <a:r>
            <a:rPr lang="en-US" sz="1600" b="0" i="0" u="none" dirty="0" err="1">
              <a:latin typeface="Poppins" panose="00000500000000000000" pitchFamily="2" charset="0"/>
              <a:cs typeface="Poppins" panose="00000500000000000000" pitchFamily="2" charset="0"/>
            </a:rPr>
            <a:t>Linkclump</a:t>
          </a:r>
          <a:r>
            <a:rPr lang="en-US" sz="1600" b="0" i="0" u="none" dirty="0">
              <a:latin typeface="Poppins" panose="00000500000000000000" pitchFamily="2" charset="0"/>
              <a:cs typeface="Poppins" panose="00000500000000000000" pitchFamily="2" charset="0"/>
            </a:rPr>
            <a:t> Chrome extension to spot patterns more efficiently.</a:t>
          </a:r>
          <a:endParaRPr lang="en-US" sz="1600" b="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C90A9B16-E8E0-4BA5-A4AB-DA83F0FFBF3E}" type="parTrans" cxnId="{DA30BA52-7DF7-4D76-99D7-2A196A1A3511}">
      <dgm:prSet/>
      <dgm:spPr/>
      <dgm:t>
        <a:bodyPr/>
        <a:lstStyle/>
        <a:p>
          <a:endParaRPr lang="en-US"/>
        </a:p>
      </dgm:t>
    </dgm:pt>
    <dgm:pt modelId="{D75629CE-876F-400C-94C9-63073D5A5F26}" type="sibTrans" cxnId="{DA30BA52-7DF7-4D76-99D7-2A196A1A3511}">
      <dgm:prSet/>
      <dgm:spPr/>
      <dgm:t>
        <a:bodyPr/>
        <a:lstStyle/>
        <a:p>
          <a:endParaRPr lang="en-US"/>
        </a:p>
      </dgm:t>
    </dgm:pt>
    <dgm:pt modelId="{02EECFDA-C94B-437F-B855-16AE0B19D753}">
      <dgm:prSet phldrT="[Text]" custT="1"/>
      <dgm:spPr>
        <a:solidFill>
          <a:srgbClr val="6780FF"/>
        </a:solidFill>
        <a:ln w="28575"/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1600" b="1" i="0" u="none" dirty="0">
              <a:latin typeface="Poppins" panose="00000500000000000000" pitchFamily="2" charset="0"/>
              <a:cs typeface="Poppins" panose="00000500000000000000" pitchFamily="2" charset="0"/>
            </a:rPr>
            <a:t>Avoid Over-Communicating:</a:t>
          </a:r>
          <a:r>
            <a:rPr lang="en-US" sz="1600" b="0" i="0" u="none" dirty="0">
              <a:latin typeface="Poppins" panose="00000500000000000000" pitchFamily="2" charset="0"/>
              <a:cs typeface="Poppins" panose="00000500000000000000" pitchFamily="2" charset="0"/>
            </a:rPr>
            <a:t> Do not send incentive surveys and verification requests to the same user to prevent email fatigue.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904C5C6-677F-4FFD-968A-CFBD8BCFF083}" type="parTrans" cxnId="{AC66DD70-ABE3-413F-ADCF-DEEABF3C8D77}">
      <dgm:prSet/>
      <dgm:spPr/>
      <dgm:t>
        <a:bodyPr/>
        <a:lstStyle/>
        <a:p>
          <a:endParaRPr lang="en-US"/>
        </a:p>
      </dgm:t>
    </dgm:pt>
    <dgm:pt modelId="{B1E32C7F-1B06-4F30-A153-2465A00EC173}" type="sibTrans" cxnId="{AC66DD70-ABE3-413F-ADCF-DEEABF3C8D77}">
      <dgm:prSet/>
      <dgm:spPr/>
      <dgm:t>
        <a:bodyPr/>
        <a:lstStyle/>
        <a:p>
          <a:endParaRPr lang="en-US"/>
        </a:p>
      </dgm:t>
    </dgm:pt>
    <dgm:pt modelId="{608935BA-1A96-48FB-9101-4F4E6EA8B929}">
      <dgm:prSet phldrT="[Text]" custT="1"/>
      <dgm:spPr>
        <a:solidFill>
          <a:srgbClr val="FF4E51"/>
        </a:solidFill>
        <a:ln w="28575"/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1600" b="1" i="0" u="none" dirty="0">
              <a:latin typeface="Poppins" panose="00000500000000000000" pitchFamily="2" charset="0"/>
              <a:cs typeface="Poppins" panose="00000500000000000000" pitchFamily="2" charset="0"/>
            </a:rPr>
            <a:t>Case-by-Case Approach:</a:t>
          </a:r>
          <a:r>
            <a:rPr lang="en-US" sz="1600" b="0" i="0" u="none" dirty="0">
              <a:latin typeface="Poppins" panose="00000500000000000000" pitchFamily="2" charset="0"/>
              <a:cs typeface="Poppins" panose="00000500000000000000" pitchFamily="2" charset="0"/>
            </a:rPr>
            <a:t> Use experience and training to assess each situation, as fraud patterns vary.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90610C7C-B2AB-4C67-95E2-B56DFEB3A259}" type="parTrans" cxnId="{DB6E86F4-F32E-4C59-AA07-7D8122D47C4E}">
      <dgm:prSet/>
      <dgm:spPr/>
      <dgm:t>
        <a:bodyPr/>
        <a:lstStyle/>
        <a:p>
          <a:endParaRPr lang="en-US"/>
        </a:p>
      </dgm:t>
    </dgm:pt>
    <dgm:pt modelId="{01E69530-4295-406B-8A60-1703C2466BFF}" type="sibTrans" cxnId="{DB6E86F4-F32E-4C59-AA07-7D8122D47C4E}">
      <dgm:prSet/>
      <dgm:spPr/>
      <dgm:t>
        <a:bodyPr/>
        <a:lstStyle/>
        <a:p>
          <a:endParaRPr lang="en-US"/>
        </a:p>
      </dgm:t>
    </dgm:pt>
    <dgm:pt modelId="{3B18DDAC-65D1-43DC-B8A8-565D47B3E418}">
      <dgm:prSet phldrT="[Text]" custT="1"/>
      <dgm:spPr>
        <a:solidFill>
          <a:srgbClr val="D953FF"/>
        </a:solidFill>
        <a:ln w="28575"/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1600" b="1" i="0" u="none" dirty="0">
              <a:latin typeface="Poppins" panose="00000500000000000000" pitchFamily="2" charset="0"/>
              <a:cs typeface="Poppins" panose="00000500000000000000" pitchFamily="2" charset="0"/>
            </a:rPr>
            <a:t>Exercise Judgement: </a:t>
          </a:r>
          <a:r>
            <a:rPr lang="en-US" sz="1600" b="0" i="0" u="none" dirty="0">
              <a:latin typeface="Poppins" panose="00000500000000000000" pitchFamily="2" charset="0"/>
              <a:cs typeface="Poppins" panose="00000500000000000000" pitchFamily="2" charset="0"/>
            </a:rPr>
            <a:t>Evaluate patterns critically; unusual spikes are not definitive proof of fraud—consider the overall context.</a:t>
          </a:r>
          <a:endParaRPr lang="en-US" sz="1600" b="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90CFDF7-797C-4618-9FD0-C539DA00220E}" type="parTrans" cxnId="{CE9FF1FE-3954-433B-904A-C90663A76403}">
      <dgm:prSet/>
      <dgm:spPr/>
      <dgm:t>
        <a:bodyPr/>
        <a:lstStyle/>
        <a:p>
          <a:endParaRPr lang="en-US"/>
        </a:p>
      </dgm:t>
    </dgm:pt>
    <dgm:pt modelId="{4C4A941A-0120-4CFB-BF0A-3FEC8E5EF1C6}" type="sibTrans" cxnId="{CE9FF1FE-3954-433B-904A-C90663A76403}">
      <dgm:prSet/>
      <dgm:spPr/>
      <dgm:t>
        <a:bodyPr/>
        <a:lstStyle/>
        <a:p>
          <a:endParaRPr lang="en-US"/>
        </a:p>
      </dgm:t>
    </dgm:pt>
    <dgm:pt modelId="{FB1B4DC6-43E9-4983-9C43-41F20CD6804F}" type="pres">
      <dgm:prSet presAssocID="{5F7F94C2-B9FC-492E-9DB5-EDB6F0D31491}" presName="Name0" presStyleCnt="0">
        <dgm:presLayoutVars>
          <dgm:chMax val="7"/>
          <dgm:chPref val="7"/>
          <dgm:dir/>
        </dgm:presLayoutVars>
      </dgm:prSet>
      <dgm:spPr/>
    </dgm:pt>
    <dgm:pt modelId="{D6703C28-76A3-4A92-9B28-49A46998ACE4}" type="pres">
      <dgm:prSet presAssocID="{5F7F94C2-B9FC-492E-9DB5-EDB6F0D31491}" presName="Name1" presStyleCnt="0"/>
      <dgm:spPr/>
    </dgm:pt>
    <dgm:pt modelId="{8BE0DDF2-BE32-4DD7-887B-D40029152B8D}" type="pres">
      <dgm:prSet presAssocID="{5F7F94C2-B9FC-492E-9DB5-EDB6F0D31491}" presName="cycle" presStyleCnt="0"/>
      <dgm:spPr/>
    </dgm:pt>
    <dgm:pt modelId="{D8D1D2E8-8F72-4A7C-9BB1-18D4015A7727}" type="pres">
      <dgm:prSet presAssocID="{5F7F94C2-B9FC-492E-9DB5-EDB6F0D31491}" presName="srcNode" presStyleLbl="node1" presStyleIdx="0" presStyleCnt="7"/>
      <dgm:spPr/>
    </dgm:pt>
    <dgm:pt modelId="{853E15A6-F1E4-440F-BE23-35F3BFD5BA0E}" type="pres">
      <dgm:prSet presAssocID="{5F7F94C2-B9FC-492E-9DB5-EDB6F0D31491}" presName="conn" presStyleLbl="parChTrans1D2" presStyleIdx="0" presStyleCnt="1"/>
      <dgm:spPr/>
    </dgm:pt>
    <dgm:pt modelId="{6BF71AED-487B-4B47-8E7F-F16102F23A23}" type="pres">
      <dgm:prSet presAssocID="{5F7F94C2-B9FC-492E-9DB5-EDB6F0D31491}" presName="extraNode" presStyleLbl="node1" presStyleIdx="0" presStyleCnt="7"/>
      <dgm:spPr/>
    </dgm:pt>
    <dgm:pt modelId="{77BD9D7C-5B21-4C4D-8F9B-0CEC83D3F62B}" type="pres">
      <dgm:prSet presAssocID="{5F7F94C2-B9FC-492E-9DB5-EDB6F0D31491}" presName="dstNode" presStyleLbl="node1" presStyleIdx="0" presStyleCnt="7"/>
      <dgm:spPr/>
    </dgm:pt>
    <dgm:pt modelId="{6DB0BA1F-54C7-449B-AB01-10080A4E60C0}" type="pres">
      <dgm:prSet presAssocID="{26EC1E11-3AC1-4AAA-BD9C-D1F4FCB09049}" presName="text_1" presStyleLbl="node1" presStyleIdx="0" presStyleCnt="7">
        <dgm:presLayoutVars>
          <dgm:bulletEnabled val="1"/>
        </dgm:presLayoutVars>
      </dgm:prSet>
      <dgm:spPr/>
    </dgm:pt>
    <dgm:pt modelId="{C0FBD886-518D-4DA4-B138-62B00EC7AD52}" type="pres">
      <dgm:prSet presAssocID="{26EC1E11-3AC1-4AAA-BD9C-D1F4FCB09049}" presName="accent_1" presStyleCnt="0"/>
      <dgm:spPr/>
    </dgm:pt>
    <dgm:pt modelId="{A6CB1587-A273-4574-AA18-A865C54C4F4E}" type="pres">
      <dgm:prSet presAssocID="{26EC1E11-3AC1-4AAA-BD9C-D1F4FCB09049}" presName="accentRepeatNode" presStyleLbl="solidFgAcc1" presStyleIdx="0" presStyleCnt="7"/>
      <dgm:spPr/>
    </dgm:pt>
    <dgm:pt modelId="{A44DEF4E-B7E4-4DFA-BFB5-6136B5BEE74C}" type="pres">
      <dgm:prSet presAssocID="{B4C6B97F-3AB5-48DA-85F9-BD69096769CB}" presName="text_2" presStyleLbl="node1" presStyleIdx="1" presStyleCnt="7">
        <dgm:presLayoutVars>
          <dgm:bulletEnabled val="1"/>
        </dgm:presLayoutVars>
      </dgm:prSet>
      <dgm:spPr/>
    </dgm:pt>
    <dgm:pt modelId="{E7B26236-849D-4F93-A82C-805D048E708E}" type="pres">
      <dgm:prSet presAssocID="{B4C6B97F-3AB5-48DA-85F9-BD69096769CB}" presName="accent_2" presStyleCnt="0"/>
      <dgm:spPr/>
    </dgm:pt>
    <dgm:pt modelId="{AC13FC89-93F1-4E1C-8AD4-18BECA588499}" type="pres">
      <dgm:prSet presAssocID="{B4C6B97F-3AB5-48DA-85F9-BD69096769CB}" presName="accentRepeatNode" presStyleLbl="solidFgAcc1" presStyleIdx="1" presStyleCnt="7"/>
      <dgm:spPr/>
    </dgm:pt>
    <dgm:pt modelId="{1BA55F43-D3C0-4CB1-8224-E736FFC10E67}" type="pres">
      <dgm:prSet presAssocID="{A4DDCBED-66EE-4A81-B802-670C171426FE}" presName="text_3" presStyleLbl="node1" presStyleIdx="2" presStyleCnt="7">
        <dgm:presLayoutVars>
          <dgm:bulletEnabled val="1"/>
        </dgm:presLayoutVars>
      </dgm:prSet>
      <dgm:spPr/>
    </dgm:pt>
    <dgm:pt modelId="{B030BCA6-2EE8-4020-BC6E-3CB6697F4E6C}" type="pres">
      <dgm:prSet presAssocID="{A4DDCBED-66EE-4A81-B802-670C171426FE}" presName="accent_3" presStyleCnt="0"/>
      <dgm:spPr/>
    </dgm:pt>
    <dgm:pt modelId="{EB512290-2910-4398-AECE-171DA311CA8F}" type="pres">
      <dgm:prSet presAssocID="{A4DDCBED-66EE-4A81-B802-670C171426FE}" presName="accentRepeatNode" presStyleLbl="solidFgAcc1" presStyleIdx="2" presStyleCnt="7"/>
      <dgm:spPr/>
    </dgm:pt>
    <dgm:pt modelId="{F3096A3C-AC61-495D-9B4D-66E53F97BC15}" type="pres">
      <dgm:prSet presAssocID="{3B18DDAC-65D1-43DC-B8A8-565D47B3E418}" presName="text_4" presStyleLbl="node1" presStyleIdx="3" presStyleCnt="7">
        <dgm:presLayoutVars>
          <dgm:bulletEnabled val="1"/>
        </dgm:presLayoutVars>
      </dgm:prSet>
      <dgm:spPr/>
    </dgm:pt>
    <dgm:pt modelId="{41816A53-A8F2-4BB7-98F8-3F3143F0F5C9}" type="pres">
      <dgm:prSet presAssocID="{3B18DDAC-65D1-43DC-B8A8-565D47B3E418}" presName="accent_4" presStyleCnt="0"/>
      <dgm:spPr/>
    </dgm:pt>
    <dgm:pt modelId="{04BE03F1-793C-43D7-B4D5-AA12E27E3194}" type="pres">
      <dgm:prSet presAssocID="{3B18DDAC-65D1-43DC-B8A8-565D47B3E418}" presName="accentRepeatNode" presStyleLbl="solidFgAcc1" presStyleIdx="3" presStyleCnt="7"/>
      <dgm:spPr/>
    </dgm:pt>
    <dgm:pt modelId="{2D3D1DB2-2A55-495A-8D5E-AC0E9E694C51}" type="pres">
      <dgm:prSet presAssocID="{02EECFDA-C94B-437F-B855-16AE0B19D753}" presName="text_5" presStyleLbl="node1" presStyleIdx="4" presStyleCnt="7">
        <dgm:presLayoutVars>
          <dgm:bulletEnabled val="1"/>
        </dgm:presLayoutVars>
      </dgm:prSet>
      <dgm:spPr/>
    </dgm:pt>
    <dgm:pt modelId="{664F4002-F643-4B80-8362-F0ACFBF65A06}" type="pres">
      <dgm:prSet presAssocID="{02EECFDA-C94B-437F-B855-16AE0B19D753}" presName="accent_5" presStyleCnt="0"/>
      <dgm:spPr/>
    </dgm:pt>
    <dgm:pt modelId="{72230175-C69E-4D3D-BF1A-2A429F22F9AD}" type="pres">
      <dgm:prSet presAssocID="{02EECFDA-C94B-437F-B855-16AE0B19D753}" presName="accentRepeatNode" presStyleLbl="solidFgAcc1" presStyleIdx="4" presStyleCnt="7"/>
      <dgm:spPr/>
    </dgm:pt>
    <dgm:pt modelId="{BBAED54C-9B36-41CE-9B3B-4F86FB273195}" type="pres">
      <dgm:prSet presAssocID="{608935BA-1A96-48FB-9101-4F4E6EA8B929}" presName="text_6" presStyleLbl="node1" presStyleIdx="5" presStyleCnt="7">
        <dgm:presLayoutVars>
          <dgm:bulletEnabled val="1"/>
        </dgm:presLayoutVars>
      </dgm:prSet>
      <dgm:spPr/>
    </dgm:pt>
    <dgm:pt modelId="{E1258A2A-CC47-4EE1-B50F-E5202E503741}" type="pres">
      <dgm:prSet presAssocID="{608935BA-1A96-48FB-9101-4F4E6EA8B929}" presName="accent_6" presStyleCnt="0"/>
      <dgm:spPr/>
    </dgm:pt>
    <dgm:pt modelId="{6095C59E-2DAD-4E9E-AB73-3E5BC07468DD}" type="pres">
      <dgm:prSet presAssocID="{608935BA-1A96-48FB-9101-4F4E6EA8B929}" presName="accentRepeatNode" presStyleLbl="solidFgAcc1" presStyleIdx="5" presStyleCnt="7"/>
      <dgm:spPr/>
    </dgm:pt>
    <dgm:pt modelId="{CDB3F3C7-09FB-424B-A422-9C73EFF2E4D5}" type="pres">
      <dgm:prSet presAssocID="{C47B0F70-A7BA-4A76-9A56-DE4B7BCA3BCF}" presName="text_7" presStyleLbl="node1" presStyleIdx="6" presStyleCnt="7">
        <dgm:presLayoutVars>
          <dgm:bulletEnabled val="1"/>
        </dgm:presLayoutVars>
      </dgm:prSet>
      <dgm:spPr/>
    </dgm:pt>
    <dgm:pt modelId="{80DD0694-9AD0-46E6-8252-A27D61BFEB5A}" type="pres">
      <dgm:prSet presAssocID="{C47B0F70-A7BA-4A76-9A56-DE4B7BCA3BCF}" presName="accent_7" presStyleCnt="0"/>
      <dgm:spPr/>
    </dgm:pt>
    <dgm:pt modelId="{96D11287-1718-4914-B17F-8447146EDD5B}" type="pres">
      <dgm:prSet presAssocID="{C47B0F70-A7BA-4A76-9A56-DE4B7BCA3BCF}" presName="accentRepeatNode" presStyleLbl="solidFgAcc1" presStyleIdx="6" presStyleCnt="7"/>
      <dgm:spPr/>
    </dgm:pt>
  </dgm:ptLst>
  <dgm:cxnLst>
    <dgm:cxn modelId="{27BDC702-F5D0-4898-8B87-BF94B34F3443}" type="presOf" srcId="{3B18DDAC-65D1-43DC-B8A8-565D47B3E418}" destId="{F3096A3C-AC61-495D-9B4D-66E53F97BC15}" srcOrd="0" destOrd="0" presId="urn:microsoft.com/office/officeart/2008/layout/VerticalCurvedList"/>
    <dgm:cxn modelId="{48068715-E09B-4D1C-AD2E-0AE1D2FD19A2}" srcId="{5F7F94C2-B9FC-492E-9DB5-EDB6F0D31491}" destId="{B4C6B97F-3AB5-48DA-85F9-BD69096769CB}" srcOrd="1" destOrd="0" parTransId="{AF01ADA2-D51E-4AF0-941A-53AD53F220A4}" sibTransId="{06600613-57E1-4BA8-B4CF-D75EDBC35E51}"/>
    <dgm:cxn modelId="{AC66DD70-ABE3-413F-ADCF-DEEABF3C8D77}" srcId="{5F7F94C2-B9FC-492E-9DB5-EDB6F0D31491}" destId="{02EECFDA-C94B-437F-B855-16AE0B19D753}" srcOrd="4" destOrd="0" parTransId="{8904C5C6-677F-4FFD-968A-CFBD8BCFF083}" sibTransId="{B1E32C7F-1B06-4F30-A153-2465A00EC173}"/>
    <dgm:cxn modelId="{DA30BA52-7DF7-4D76-99D7-2A196A1A3511}" srcId="{5F7F94C2-B9FC-492E-9DB5-EDB6F0D31491}" destId="{A4DDCBED-66EE-4A81-B802-670C171426FE}" srcOrd="2" destOrd="0" parTransId="{C90A9B16-E8E0-4BA5-A4AB-DA83F0FFBF3E}" sibTransId="{D75629CE-876F-400C-94C9-63073D5A5F26}"/>
    <dgm:cxn modelId="{D67E0F87-4DE1-483F-A436-912745D339D0}" type="presOf" srcId="{26EC1E11-3AC1-4AAA-BD9C-D1F4FCB09049}" destId="{6DB0BA1F-54C7-449B-AB01-10080A4E60C0}" srcOrd="0" destOrd="0" presId="urn:microsoft.com/office/officeart/2008/layout/VerticalCurvedList"/>
    <dgm:cxn modelId="{ABE1F488-D04C-4A5D-91A3-548479349CA9}" type="presOf" srcId="{02EECFDA-C94B-437F-B855-16AE0B19D753}" destId="{2D3D1DB2-2A55-495A-8D5E-AC0E9E694C51}" srcOrd="0" destOrd="0" presId="urn:microsoft.com/office/officeart/2008/layout/VerticalCurvedList"/>
    <dgm:cxn modelId="{B0449E94-1615-427D-87D3-695CF975124D}" type="presOf" srcId="{C47B0F70-A7BA-4A76-9A56-DE4B7BCA3BCF}" destId="{CDB3F3C7-09FB-424B-A422-9C73EFF2E4D5}" srcOrd="0" destOrd="0" presId="urn:microsoft.com/office/officeart/2008/layout/VerticalCurvedList"/>
    <dgm:cxn modelId="{2C6B6397-B3AA-4BB5-BFA1-093CFA4FCD68}" type="presOf" srcId="{A4DDCBED-66EE-4A81-B802-670C171426FE}" destId="{1BA55F43-D3C0-4CB1-8224-E736FFC10E67}" srcOrd="0" destOrd="0" presId="urn:microsoft.com/office/officeart/2008/layout/VerticalCurvedList"/>
    <dgm:cxn modelId="{A5798CA6-4E1A-4856-AF46-E02DC2BB1218}" srcId="{5F7F94C2-B9FC-492E-9DB5-EDB6F0D31491}" destId="{C47B0F70-A7BA-4A76-9A56-DE4B7BCA3BCF}" srcOrd="6" destOrd="0" parTransId="{1F1A63A1-A9F1-491A-965A-2D08DDC5441E}" sibTransId="{6F02A4BE-FE1C-4693-A080-8765584A0603}"/>
    <dgm:cxn modelId="{98C73BAA-C099-4A1D-98D6-96FC1318B151}" type="presOf" srcId="{5F7F94C2-B9FC-492E-9DB5-EDB6F0D31491}" destId="{FB1B4DC6-43E9-4983-9C43-41F20CD6804F}" srcOrd="0" destOrd="0" presId="urn:microsoft.com/office/officeart/2008/layout/VerticalCurvedList"/>
    <dgm:cxn modelId="{38501CB8-851F-45B2-B6E7-66C56D2D76A8}" type="presOf" srcId="{70FA68E4-407F-4E8F-A325-8F61655E88B2}" destId="{853E15A6-F1E4-440F-BE23-35F3BFD5BA0E}" srcOrd="0" destOrd="0" presId="urn:microsoft.com/office/officeart/2008/layout/VerticalCurvedList"/>
    <dgm:cxn modelId="{FB5E1FDB-A4B6-493A-9B58-D2066E9C868C}" type="presOf" srcId="{B4C6B97F-3AB5-48DA-85F9-BD69096769CB}" destId="{A44DEF4E-B7E4-4DFA-BFB5-6136B5BEE74C}" srcOrd="0" destOrd="0" presId="urn:microsoft.com/office/officeart/2008/layout/VerticalCurvedList"/>
    <dgm:cxn modelId="{385034DD-8B96-41FE-87EA-DB1CA01AFB62}" type="presOf" srcId="{608935BA-1A96-48FB-9101-4F4E6EA8B929}" destId="{BBAED54C-9B36-41CE-9B3B-4F86FB273195}" srcOrd="0" destOrd="0" presId="urn:microsoft.com/office/officeart/2008/layout/VerticalCurvedList"/>
    <dgm:cxn modelId="{DB6E86F4-F32E-4C59-AA07-7D8122D47C4E}" srcId="{5F7F94C2-B9FC-492E-9DB5-EDB6F0D31491}" destId="{608935BA-1A96-48FB-9101-4F4E6EA8B929}" srcOrd="5" destOrd="0" parTransId="{90610C7C-B2AB-4C67-95E2-B56DFEB3A259}" sibTransId="{01E69530-4295-406B-8A60-1703C2466BFF}"/>
    <dgm:cxn modelId="{11EFDBF9-5838-42C2-9779-9D39CE1B3B98}" srcId="{5F7F94C2-B9FC-492E-9DB5-EDB6F0D31491}" destId="{26EC1E11-3AC1-4AAA-BD9C-D1F4FCB09049}" srcOrd="0" destOrd="0" parTransId="{CE469CDB-1EF3-4BE8-8F80-F4982BC75BC8}" sibTransId="{70FA68E4-407F-4E8F-A325-8F61655E88B2}"/>
    <dgm:cxn modelId="{CE9FF1FE-3954-433B-904A-C90663A76403}" srcId="{5F7F94C2-B9FC-492E-9DB5-EDB6F0D31491}" destId="{3B18DDAC-65D1-43DC-B8A8-565D47B3E418}" srcOrd="3" destOrd="0" parTransId="{F90CFDF7-797C-4618-9FD0-C539DA00220E}" sibTransId="{4C4A941A-0120-4CFB-BF0A-3FEC8E5EF1C6}"/>
    <dgm:cxn modelId="{D971B417-58E9-44EA-8533-D6832BF34B82}" type="presParOf" srcId="{FB1B4DC6-43E9-4983-9C43-41F20CD6804F}" destId="{D6703C28-76A3-4A92-9B28-49A46998ACE4}" srcOrd="0" destOrd="0" presId="urn:microsoft.com/office/officeart/2008/layout/VerticalCurvedList"/>
    <dgm:cxn modelId="{70D1730B-9A40-418D-91E2-5A5B9705BEF3}" type="presParOf" srcId="{D6703C28-76A3-4A92-9B28-49A46998ACE4}" destId="{8BE0DDF2-BE32-4DD7-887B-D40029152B8D}" srcOrd="0" destOrd="0" presId="urn:microsoft.com/office/officeart/2008/layout/VerticalCurvedList"/>
    <dgm:cxn modelId="{A5439107-7DB8-4334-9A36-3CAB198B50AE}" type="presParOf" srcId="{8BE0DDF2-BE32-4DD7-887B-D40029152B8D}" destId="{D8D1D2E8-8F72-4A7C-9BB1-18D4015A7727}" srcOrd="0" destOrd="0" presId="urn:microsoft.com/office/officeart/2008/layout/VerticalCurvedList"/>
    <dgm:cxn modelId="{2F8D8BA3-43D0-4423-8CAA-1E6DEB2AD499}" type="presParOf" srcId="{8BE0DDF2-BE32-4DD7-887B-D40029152B8D}" destId="{853E15A6-F1E4-440F-BE23-35F3BFD5BA0E}" srcOrd="1" destOrd="0" presId="urn:microsoft.com/office/officeart/2008/layout/VerticalCurvedList"/>
    <dgm:cxn modelId="{98360C63-1E36-415D-91BB-3658D29E5442}" type="presParOf" srcId="{8BE0DDF2-BE32-4DD7-887B-D40029152B8D}" destId="{6BF71AED-487B-4B47-8E7F-F16102F23A23}" srcOrd="2" destOrd="0" presId="urn:microsoft.com/office/officeart/2008/layout/VerticalCurvedList"/>
    <dgm:cxn modelId="{2E300A0D-B3C6-4271-9269-3808D0D96405}" type="presParOf" srcId="{8BE0DDF2-BE32-4DD7-887B-D40029152B8D}" destId="{77BD9D7C-5B21-4C4D-8F9B-0CEC83D3F62B}" srcOrd="3" destOrd="0" presId="urn:microsoft.com/office/officeart/2008/layout/VerticalCurvedList"/>
    <dgm:cxn modelId="{06F7F943-DDCF-4F4E-AF36-58D65A1DC31D}" type="presParOf" srcId="{D6703C28-76A3-4A92-9B28-49A46998ACE4}" destId="{6DB0BA1F-54C7-449B-AB01-10080A4E60C0}" srcOrd="1" destOrd="0" presId="urn:microsoft.com/office/officeart/2008/layout/VerticalCurvedList"/>
    <dgm:cxn modelId="{A19AB0C3-1EF4-4081-8D4A-F0B357E2B487}" type="presParOf" srcId="{D6703C28-76A3-4A92-9B28-49A46998ACE4}" destId="{C0FBD886-518D-4DA4-B138-62B00EC7AD52}" srcOrd="2" destOrd="0" presId="urn:microsoft.com/office/officeart/2008/layout/VerticalCurvedList"/>
    <dgm:cxn modelId="{1F4DD8E9-8D21-4915-8AD5-13522DFFC7FD}" type="presParOf" srcId="{C0FBD886-518D-4DA4-B138-62B00EC7AD52}" destId="{A6CB1587-A273-4574-AA18-A865C54C4F4E}" srcOrd="0" destOrd="0" presId="urn:microsoft.com/office/officeart/2008/layout/VerticalCurvedList"/>
    <dgm:cxn modelId="{6E233DD7-AA4F-4EF0-8F2B-1E8CD0F6F02B}" type="presParOf" srcId="{D6703C28-76A3-4A92-9B28-49A46998ACE4}" destId="{A44DEF4E-B7E4-4DFA-BFB5-6136B5BEE74C}" srcOrd="3" destOrd="0" presId="urn:microsoft.com/office/officeart/2008/layout/VerticalCurvedList"/>
    <dgm:cxn modelId="{09D4BCD6-F1E1-471E-A8CB-EABB0C05F543}" type="presParOf" srcId="{D6703C28-76A3-4A92-9B28-49A46998ACE4}" destId="{E7B26236-849D-4F93-A82C-805D048E708E}" srcOrd="4" destOrd="0" presId="urn:microsoft.com/office/officeart/2008/layout/VerticalCurvedList"/>
    <dgm:cxn modelId="{2BEAC92B-EB76-4202-B92C-F421DB9A57A4}" type="presParOf" srcId="{E7B26236-849D-4F93-A82C-805D048E708E}" destId="{AC13FC89-93F1-4E1C-8AD4-18BECA588499}" srcOrd="0" destOrd="0" presId="urn:microsoft.com/office/officeart/2008/layout/VerticalCurvedList"/>
    <dgm:cxn modelId="{D376BEF8-F588-4FF3-B2A6-C75C23B052F3}" type="presParOf" srcId="{D6703C28-76A3-4A92-9B28-49A46998ACE4}" destId="{1BA55F43-D3C0-4CB1-8224-E736FFC10E67}" srcOrd="5" destOrd="0" presId="urn:microsoft.com/office/officeart/2008/layout/VerticalCurvedList"/>
    <dgm:cxn modelId="{EE8215F0-51D1-4E6F-988A-40FD79C21869}" type="presParOf" srcId="{D6703C28-76A3-4A92-9B28-49A46998ACE4}" destId="{B030BCA6-2EE8-4020-BC6E-3CB6697F4E6C}" srcOrd="6" destOrd="0" presId="urn:microsoft.com/office/officeart/2008/layout/VerticalCurvedList"/>
    <dgm:cxn modelId="{67434BFC-378F-418B-B11B-0DBC9C033D80}" type="presParOf" srcId="{B030BCA6-2EE8-4020-BC6E-3CB6697F4E6C}" destId="{EB512290-2910-4398-AECE-171DA311CA8F}" srcOrd="0" destOrd="0" presId="urn:microsoft.com/office/officeart/2008/layout/VerticalCurvedList"/>
    <dgm:cxn modelId="{D088B5C6-218F-41F1-9949-4FFBE36B612D}" type="presParOf" srcId="{D6703C28-76A3-4A92-9B28-49A46998ACE4}" destId="{F3096A3C-AC61-495D-9B4D-66E53F97BC15}" srcOrd="7" destOrd="0" presId="urn:microsoft.com/office/officeart/2008/layout/VerticalCurvedList"/>
    <dgm:cxn modelId="{E45D4DE7-85AB-436C-ABCA-3220E678B7E3}" type="presParOf" srcId="{D6703C28-76A3-4A92-9B28-49A46998ACE4}" destId="{41816A53-A8F2-4BB7-98F8-3F3143F0F5C9}" srcOrd="8" destOrd="0" presId="urn:microsoft.com/office/officeart/2008/layout/VerticalCurvedList"/>
    <dgm:cxn modelId="{D4C68C74-FDA5-4D4E-B2A4-5ABA8CA4FA1D}" type="presParOf" srcId="{41816A53-A8F2-4BB7-98F8-3F3143F0F5C9}" destId="{04BE03F1-793C-43D7-B4D5-AA12E27E3194}" srcOrd="0" destOrd="0" presId="urn:microsoft.com/office/officeart/2008/layout/VerticalCurvedList"/>
    <dgm:cxn modelId="{357F6694-92A3-4139-BFBA-37657495FFE2}" type="presParOf" srcId="{D6703C28-76A3-4A92-9B28-49A46998ACE4}" destId="{2D3D1DB2-2A55-495A-8D5E-AC0E9E694C51}" srcOrd="9" destOrd="0" presId="urn:microsoft.com/office/officeart/2008/layout/VerticalCurvedList"/>
    <dgm:cxn modelId="{80A7AD94-46D9-4000-B627-6B5CF15A027B}" type="presParOf" srcId="{D6703C28-76A3-4A92-9B28-49A46998ACE4}" destId="{664F4002-F643-4B80-8362-F0ACFBF65A06}" srcOrd="10" destOrd="0" presId="urn:microsoft.com/office/officeart/2008/layout/VerticalCurvedList"/>
    <dgm:cxn modelId="{C9A56B8D-2BD1-4972-85F8-9175FADD8AAF}" type="presParOf" srcId="{664F4002-F643-4B80-8362-F0ACFBF65A06}" destId="{72230175-C69E-4D3D-BF1A-2A429F22F9AD}" srcOrd="0" destOrd="0" presId="urn:microsoft.com/office/officeart/2008/layout/VerticalCurvedList"/>
    <dgm:cxn modelId="{1337BB3A-AF70-4BAA-94E9-8AB9E0982624}" type="presParOf" srcId="{D6703C28-76A3-4A92-9B28-49A46998ACE4}" destId="{BBAED54C-9B36-41CE-9B3B-4F86FB273195}" srcOrd="11" destOrd="0" presId="urn:microsoft.com/office/officeart/2008/layout/VerticalCurvedList"/>
    <dgm:cxn modelId="{09FE6A18-FE37-4077-9697-AF88CE00CDB2}" type="presParOf" srcId="{D6703C28-76A3-4A92-9B28-49A46998ACE4}" destId="{E1258A2A-CC47-4EE1-B50F-E5202E503741}" srcOrd="12" destOrd="0" presId="urn:microsoft.com/office/officeart/2008/layout/VerticalCurvedList"/>
    <dgm:cxn modelId="{EBCC53A9-9C59-432F-9A5E-9B23C40031C2}" type="presParOf" srcId="{E1258A2A-CC47-4EE1-B50F-E5202E503741}" destId="{6095C59E-2DAD-4E9E-AB73-3E5BC07468DD}" srcOrd="0" destOrd="0" presId="urn:microsoft.com/office/officeart/2008/layout/VerticalCurvedList"/>
    <dgm:cxn modelId="{887F8D59-904F-4CA8-BE14-41AE6812F7F8}" type="presParOf" srcId="{D6703C28-76A3-4A92-9B28-49A46998ACE4}" destId="{CDB3F3C7-09FB-424B-A422-9C73EFF2E4D5}" srcOrd="13" destOrd="0" presId="urn:microsoft.com/office/officeart/2008/layout/VerticalCurvedList"/>
    <dgm:cxn modelId="{C548F489-34D3-4A00-BE2F-8E495F7F016F}" type="presParOf" srcId="{D6703C28-76A3-4A92-9B28-49A46998ACE4}" destId="{80DD0694-9AD0-46E6-8252-A27D61BFEB5A}" srcOrd="14" destOrd="0" presId="urn:microsoft.com/office/officeart/2008/layout/VerticalCurvedList"/>
    <dgm:cxn modelId="{CD465FDD-A367-410F-8B18-AE97C6847DB6}" type="presParOf" srcId="{80DD0694-9AD0-46E6-8252-A27D61BFEB5A}" destId="{96D11287-1718-4914-B17F-8447146EDD5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227A21-223F-4F85-AB12-B43E61D0D58A}" type="doc">
      <dgm:prSet loTypeId="urn:microsoft.com/office/officeart/2024/layout/Bullet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D4A100-DA86-4A29-92FE-F04F52DF2660}">
      <dgm:prSet phldrT="Add an event" custT="1"/>
      <dgm:spPr/>
      <dgm:t>
        <a:bodyPr/>
        <a:lstStyle/>
        <a:p>
          <a:pPr>
            <a:defRPr b="1"/>
          </a:pPr>
          <a:r>
            <a:rPr lang="en-US" sz="1600" b="1" i="0" dirty="0">
              <a:latin typeface="Poppins" panose="00000500000000000000" pitchFamily="2" charset="0"/>
              <a:cs typeface="Poppins" panose="00000500000000000000" pitchFamily="2" charset="0"/>
            </a:rPr>
            <a:t>Claim a case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BFCDF934-6C25-4D71-988F-211EF597969C}" type="parTrans" cxnId="{E0E41837-5A59-497A-9F4A-E30CBF523F8B}">
      <dgm:prSet/>
      <dgm:spPr/>
      <dgm:t>
        <a:bodyPr/>
        <a:lstStyle/>
        <a:p>
          <a:endParaRPr lang="en-US"/>
        </a:p>
      </dgm:t>
    </dgm:pt>
    <dgm:pt modelId="{BE1FDABF-0796-4A92-B013-0DF8F18C517E}" type="sibTrans" cxnId="{E0E41837-5A59-497A-9F4A-E30CBF523F8B}">
      <dgm:prSet/>
      <dgm:spPr/>
      <dgm:t>
        <a:bodyPr/>
        <a:lstStyle/>
        <a:p>
          <a:endParaRPr lang="en-US"/>
        </a:p>
      </dgm:t>
    </dgm:pt>
    <dgm:pt modelId="{F8014AD0-BF45-4C56-84F8-2E41FABCFDB5}">
      <dgm:prSet phldrT="Write a description of the significance of this event" custT="1"/>
      <dgm:spPr/>
      <dgm:t>
        <a:bodyPr/>
        <a:lstStyle/>
        <a:p>
          <a:r>
            <a:rPr lang="en-US" sz="1200" b="0" i="0" dirty="0">
              <a:latin typeface="Poppins" panose="00000500000000000000" pitchFamily="2" charset="0"/>
              <a:cs typeface="Poppins" panose="00000500000000000000" pitchFamily="2" charset="0"/>
            </a:rPr>
            <a:t>Select your name from the drop-down menu in Column K</a:t>
          </a:r>
          <a:endParaRPr lang="en-US" sz="1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302A318A-2621-45EE-9BF3-C3CF8E861764}" type="parTrans" cxnId="{6D0A1A88-FACD-4945-B95C-E432001A30C4}">
      <dgm:prSet/>
      <dgm:spPr/>
      <dgm:t>
        <a:bodyPr/>
        <a:lstStyle/>
        <a:p>
          <a:endParaRPr lang="en-US"/>
        </a:p>
      </dgm:t>
    </dgm:pt>
    <dgm:pt modelId="{94F1C004-433F-45C4-951C-A246F2EA744D}" type="sibTrans" cxnId="{6D0A1A88-FACD-4945-B95C-E432001A30C4}">
      <dgm:prSet/>
      <dgm:spPr/>
      <dgm:t>
        <a:bodyPr/>
        <a:lstStyle/>
        <a:p>
          <a:endParaRPr lang="en-US"/>
        </a:p>
      </dgm:t>
    </dgm:pt>
    <dgm:pt modelId="{19CD8AA8-7799-47F8-9A19-2DE9E3AE3080}">
      <dgm:prSet phldrT="Add an event" custT="1"/>
      <dgm:spPr/>
      <dgm:t>
        <a:bodyPr/>
        <a:lstStyle/>
        <a:p>
          <a:pPr>
            <a:defRPr b="1"/>
          </a:pPr>
          <a:r>
            <a:rPr lang="en-US" sz="1600" b="1" i="0" dirty="0">
              <a:latin typeface="Poppins" panose="00000500000000000000" pitchFamily="2" charset="0"/>
              <a:cs typeface="Poppins" panose="00000500000000000000" pitchFamily="2" charset="0"/>
            </a:rPr>
            <a:t>No recount needed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2CBC53DE-C76B-466C-AA0E-93E9C276E6B2}" type="parTrans" cxnId="{908F4E50-9724-4C7D-85C9-D6EA941F0A02}">
      <dgm:prSet/>
      <dgm:spPr/>
      <dgm:t>
        <a:bodyPr/>
        <a:lstStyle/>
        <a:p>
          <a:endParaRPr lang="en-US"/>
        </a:p>
      </dgm:t>
    </dgm:pt>
    <dgm:pt modelId="{DEE3EBA7-9D80-4769-9F17-B47CCC686858}" type="sibTrans" cxnId="{908F4E50-9724-4C7D-85C9-D6EA941F0A02}">
      <dgm:prSet/>
      <dgm:spPr/>
      <dgm:t>
        <a:bodyPr/>
        <a:lstStyle/>
        <a:p>
          <a:endParaRPr lang="en-US"/>
        </a:p>
      </dgm:t>
    </dgm:pt>
    <dgm:pt modelId="{1FF2DEC1-345E-47C1-A70B-E879D8EA8035}">
      <dgm:prSet phldrT="Write a description of the significance of this event" custT="1"/>
      <dgm:spPr/>
      <dgm:t>
        <a:bodyPr/>
        <a:lstStyle/>
        <a:p>
          <a:r>
            <a:rPr lang="en-US" sz="1200" b="0" i="0" dirty="0">
              <a:latin typeface="Poppins" panose="00000500000000000000" pitchFamily="2" charset="0"/>
              <a:cs typeface="Poppins" panose="00000500000000000000" pitchFamily="2" charset="0"/>
            </a:rPr>
            <a:t>Do not recount removed reviews</a:t>
          </a:r>
          <a:endParaRPr lang="en-US" sz="1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61C14E7C-AFD4-48AB-92F9-672A29CED7B8}" type="parTrans" cxnId="{41DAF421-5737-447E-96E9-058FD32738EF}">
      <dgm:prSet/>
      <dgm:spPr/>
      <dgm:t>
        <a:bodyPr/>
        <a:lstStyle/>
        <a:p>
          <a:endParaRPr lang="en-US"/>
        </a:p>
      </dgm:t>
    </dgm:pt>
    <dgm:pt modelId="{A6DD03D9-0FBC-4287-BC61-8D6323F8324A}" type="sibTrans" cxnId="{41DAF421-5737-447E-96E9-058FD32738EF}">
      <dgm:prSet/>
      <dgm:spPr/>
      <dgm:t>
        <a:bodyPr/>
        <a:lstStyle/>
        <a:p>
          <a:endParaRPr lang="en-US"/>
        </a:p>
      </dgm:t>
    </dgm:pt>
    <dgm:pt modelId="{00030C8E-3B54-4A5F-8903-D3C82E01FCC1}">
      <dgm:prSet phldrT="Add an event" custT="1"/>
      <dgm:spPr/>
      <dgm:t>
        <a:bodyPr/>
        <a:lstStyle/>
        <a:p>
          <a:pPr>
            <a:defRPr b="1"/>
          </a:pPr>
          <a:r>
            <a:rPr lang="en-US" sz="1600" b="1" i="0" dirty="0">
              <a:latin typeface="Poppins" panose="00000500000000000000" pitchFamily="2" charset="0"/>
              <a:cs typeface="Poppins" panose="00000500000000000000" pitchFamily="2" charset="0"/>
            </a:rPr>
            <a:t>Review observations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A6A1CD1D-785C-4D32-8DA6-6E8F89332A79}" type="parTrans" cxnId="{6938730B-B3C1-4735-838E-4548E35BD27C}">
      <dgm:prSet/>
      <dgm:spPr/>
      <dgm:t>
        <a:bodyPr/>
        <a:lstStyle/>
        <a:p>
          <a:endParaRPr lang="en-US"/>
        </a:p>
      </dgm:t>
    </dgm:pt>
    <dgm:pt modelId="{6DFA4D69-6B79-4C4E-814B-71B339505D9E}" type="sibTrans" cxnId="{6938730B-B3C1-4735-838E-4548E35BD27C}">
      <dgm:prSet/>
      <dgm:spPr/>
      <dgm:t>
        <a:bodyPr/>
        <a:lstStyle/>
        <a:p>
          <a:endParaRPr lang="en-US"/>
        </a:p>
      </dgm:t>
    </dgm:pt>
    <dgm:pt modelId="{B422FDA8-566A-453A-A256-8EA4D18EB255}">
      <dgm:prSet phldrT="Write a description of the significance of this event" custT="1"/>
      <dgm:spPr/>
      <dgm:t>
        <a:bodyPr/>
        <a:lstStyle/>
        <a:p>
          <a:r>
            <a:rPr lang="en-US" sz="1200" b="0" i="0" dirty="0">
              <a:latin typeface="Poppins" panose="00000500000000000000" pitchFamily="2" charset="0"/>
              <a:cs typeface="Poppins" panose="00000500000000000000" pitchFamily="2" charset="0"/>
            </a:rPr>
            <a:t>Columns A-I contain initial sweep observations</a:t>
          </a:r>
          <a:endParaRPr lang="en-US" sz="1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23DFA05-660B-4A18-98CB-19601EF58ACD}" type="parTrans" cxnId="{4EB1F2E2-DF6F-4D06-80B7-E9797647BD83}">
      <dgm:prSet/>
      <dgm:spPr/>
      <dgm:t>
        <a:bodyPr/>
        <a:lstStyle/>
        <a:p>
          <a:endParaRPr lang="en-US"/>
        </a:p>
      </dgm:t>
    </dgm:pt>
    <dgm:pt modelId="{68F9F693-CF12-414C-9C18-47E97737608D}" type="sibTrans" cxnId="{4EB1F2E2-DF6F-4D06-80B7-E9797647BD83}">
      <dgm:prSet/>
      <dgm:spPr/>
      <dgm:t>
        <a:bodyPr/>
        <a:lstStyle/>
        <a:p>
          <a:endParaRPr lang="en-US"/>
        </a:p>
      </dgm:t>
    </dgm:pt>
    <dgm:pt modelId="{E87DCB55-874B-47CA-8E2A-ECFD8A29F09D}">
      <dgm:prSet phldrT="Add an event" custT="1"/>
      <dgm:spPr/>
      <dgm:t>
        <a:bodyPr/>
        <a:lstStyle/>
        <a:p>
          <a:pPr>
            <a:defRPr b="1"/>
          </a:pPr>
          <a:r>
            <a:rPr lang="en-US" sz="1600" b="1" i="0" dirty="0">
              <a:latin typeface="Poppins" panose="00000500000000000000" pitchFamily="2" charset="0"/>
              <a:cs typeface="Poppins" panose="00000500000000000000" pitchFamily="2" charset="0"/>
            </a:rPr>
            <a:t>Report actions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D945B550-6CCD-45BF-95FE-66D62B150399}" type="parTrans" cxnId="{9B9E16D5-1C7C-4538-B723-4B79A618ECF6}">
      <dgm:prSet/>
      <dgm:spPr/>
      <dgm:t>
        <a:bodyPr/>
        <a:lstStyle/>
        <a:p>
          <a:endParaRPr lang="en-US"/>
        </a:p>
      </dgm:t>
    </dgm:pt>
    <dgm:pt modelId="{37B09061-F3E0-475E-8654-1BC57E19D52C}" type="sibTrans" cxnId="{9B9E16D5-1C7C-4538-B723-4B79A618ECF6}">
      <dgm:prSet/>
      <dgm:spPr/>
      <dgm:t>
        <a:bodyPr/>
        <a:lstStyle/>
        <a:p>
          <a:endParaRPr lang="en-US"/>
        </a:p>
      </dgm:t>
    </dgm:pt>
    <dgm:pt modelId="{EE20A015-E41E-41F0-BCAC-A37522DD0E92}">
      <dgm:prSet phldrT="Write a description of the significance of this event" custT="1"/>
      <dgm:spPr/>
      <dgm:t>
        <a:bodyPr/>
        <a:lstStyle/>
        <a:p>
          <a:r>
            <a:rPr lang="en-US" sz="1200" b="0" i="0" dirty="0">
              <a:latin typeface="Poppins" panose="00000500000000000000" pitchFamily="2" charset="0"/>
              <a:cs typeface="Poppins" panose="00000500000000000000" pitchFamily="2" charset="0"/>
            </a:rPr>
            <a:t>Summarize actions taken, e.g., "Ongoing pattern of reviews from 0-day accounts, all from the property's attributes with a pw match to the owner. Removed as CB."</a:t>
          </a:r>
          <a:endParaRPr lang="en-US" sz="1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65FE6728-CFE5-448C-9DE2-9F0849DA8E4C}" type="parTrans" cxnId="{3FD53765-2B58-4DA6-9706-AEFE288F04AA}">
      <dgm:prSet/>
      <dgm:spPr/>
      <dgm:t>
        <a:bodyPr/>
        <a:lstStyle/>
        <a:p>
          <a:endParaRPr lang="en-US"/>
        </a:p>
      </dgm:t>
    </dgm:pt>
    <dgm:pt modelId="{F0E81C27-2001-45F7-8E5F-3CDF222EFA15}" type="sibTrans" cxnId="{3FD53765-2B58-4DA6-9706-AEFE288F04AA}">
      <dgm:prSet/>
      <dgm:spPr/>
      <dgm:t>
        <a:bodyPr/>
        <a:lstStyle/>
        <a:p>
          <a:endParaRPr lang="en-US"/>
        </a:p>
      </dgm:t>
    </dgm:pt>
    <dgm:pt modelId="{DE268D39-3BCB-4AC6-BA08-E458DB6FBFB4}">
      <dgm:prSet phldrT="Add an event" phldr="0" custT="1"/>
      <dgm:spPr/>
      <dgm:t>
        <a:bodyPr/>
        <a:lstStyle/>
        <a:p>
          <a:pPr>
            <a:defRPr b="1"/>
          </a:pPr>
          <a:r>
            <a:rPr lang="en-US" sz="1600" b="1" i="0" dirty="0">
              <a:latin typeface="Poppins" panose="00000500000000000000" pitchFamily="2" charset="0"/>
              <a:cs typeface="Poppins" panose="00000500000000000000" pitchFamily="2" charset="0"/>
            </a:rPr>
            <a:t>Perform sweep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0FA0F2BD-C3DA-48D7-AFDB-48E035A10CDF}" type="parTrans" cxnId="{8EE294CD-9E9A-417B-851F-E6995C05596A}">
      <dgm:prSet/>
      <dgm:spPr/>
      <dgm:t>
        <a:bodyPr/>
        <a:lstStyle/>
        <a:p>
          <a:endParaRPr lang="en-US"/>
        </a:p>
      </dgm:t>
    </dgm:pt>
    <dgm:pt modelId="{94D86DE5-CB93-4001-A911-49043ABC49AB}" type="sibTrans" cxnId="{8EE294CD-9E9A-417B-851F-E6995C05596A}">
      <dgm:prSet/>
      <dgm:spPr/>
      <dgm:t>
        <a:bodyPr/>
        <a:lstStyle/>
        <a:p>
          <a:endParaRPr lang="en-US"/>
        </a:p>
      </dgm:t>
    </dgm:pt>
    <dgm:pt modelId="{2B5852F2-732D-4522-B5B9-B8BDABDDA608}">
      <dgm:prSet phldrT="Write a description of the significance of this event" custT="1"/>
      <dgm:spPr/>
      <dgm:t>
        <a:bodyPr/>
        <a:lstStyle/>
        <a:p>
          <a:r>
            <a:rPr lang="en-US" sz="1200" b="0" i="0" dirty="0">
              <a:latin typeface="Poppins" panose="00000500000000000000" pitchFamily="2" charset="0"/>
              <a:cs typeface="Poppins" panose="00000500000000000000" pitchFamily="2" charset="0"/>
            </a:rPr>
            <a:t>Use your CI expertise to conduct the sweep</a:t>
          </a:r>
          <a:endParaRPr lang="en-US" sz="1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6018D0F8-0DC7-4CDD-B32A-990965E31312}" type="parTrans" cxnId="{DB9DCD4E-D7F7-4E5F-8A5D-E77B91F72E40}">
      <dgm:prSet/>
      <dgm:spPr/>
      <dgm:t>
        <a:bodyPr/>
        <a:lstStyle/>
        <a:p>
          <a:endParaRPr lang="en-US"/>
        </a:p>
      </dgm:t>
    </dgm:pt>
    <dgm:pt modelId="{B2317751-F2DE-420A-BAB1-8F1E599C366E}" type="sibTrans" cxnId="{DB9DCD4E-D7F7-4E5F-8A5D-E77B91F72E40}">
      <dgm:prSet/>
      <dgm:spPr/>
      <dgm:t>
        <a:bodyPr/>
        <a:lstStyle/>
        <a:p>
          <a:endParaRPr lang="en-US"/>
        </a:p>
      </dgm:t>
    </dgm:pt>
    <dgm:pt modelId="{3CFA14BD-BA16-4086-8BA0-069FDE8F2DD5}">
      <dgm:prSet phldrT="Add an event" custT="1"/>
      <dgm:spPr/>
      <dgm:t>
        <a:bodyPr/>
        <a:lstStyle/>
        <a:p>
          <a:pPr>
            <a:defRPr b="1"/>
          </a:pPr>
          <a:r>
            <a:rPr lang="en-US" sz="1600" b="1" i="0" dirty="0">
              <a:latin typeface="Poppins" panose="00000500000000000000" pitchFamily="2" charset="0"/>
              <a:cs typeface="Poppins" panose="00000500000000000000" pitchFamily="2" charset="0"/>
            </a:rPr>
            <a:t>Proceed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963BC7D9-AD46-49A7-BAA8-31F009E08543}" type="parTrans" cxnId="{C6442C77-5CD7-4C91-89DF-916F75464803}">
      <dgm:prSet/>
      <dgm:spPr/>
      <dgm:t>
        <a:bodyPr/>
        <a:lstStyle/>
        <a:p>
          <a:endParaRPr lang="en-US"/>
        </a:p>
      </dgm:t>
    </dgm:pt>
    <dgm:pt modelId="{44B46CAE-5EE8-4AB0-A233-5D8A5B017D3D}" type="sibTrans" cxnId="{C6442C77-5CD7-4C91-89DF-916F75464803}">
      <dgm:prSet/>
      <dgm:spPr/>
      <dgm:t>
        <a:bodyPr/>
        <a:lstStyle/>
        <a:p>
          <a:endParaRPr lang="en-US"/>
        </a:p>
      </dgm:t>
    </dgm:pt>
    <dgm:pt modelId="{4C950E32-0991-4806-8AF9-3F4BA8891611}">
      <dgm:prSet phldrT="Write a description of the significance of this event" custT="1"/>
      <dgm:spPr/>
      <dgm:t>
        <a:bodyPr/>
        <a:lstStyle/>
        <a:p>
          <a:pPr>
            <a:buNone/>
          </a:pPr>
          <a:r>
            <a:rPr lang="en-US" sz="1200" b="0" i="0" dirty="0">
              <a:latin typeface="Poppins" panose="00000500000000000000" pitchFamily="2" charset="0"/>
              <a:cs typeface="Poppins" panose="00000500000000000000" pitchFamily="2" charset="0"/>
            </a:rPr>
            <a:t>Move on to the next sweep</a:t>
          </a:r>
          <a:endParaRPr lang="en-US" sz="1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DCDDE734-5343-4B67-883A-47463D06644A}" type="parTrans" cxnId="{1F794F60-1B36-4516-8B2B-29E8EB4F7898}">
      <dgm:prSet/>
      <dgm:spPr/>
      <dgm:t>
        <a:bodyPr/>
        <a:lstStyle/>
        <a:p>
          <a:endParaRPr lang="en-US"/>
        </a:p>
      </dgm:t>
    </dgm:pt>
    <dgm:pt modelId="{3370E47E-DB77-446A-BE8A-40FC4E454BFE}" type="sibTrans" cxnId="{1F794F60-1B36-4516-8B2B-29E8EB4F7898}">
      <dgm:prSet/>
      <dgm:spPr/>
      <dgm:t>
        <a:bodyPr/>
        <a:lstStyle/>
        <a:p>
          <a:endParaRPr lang="en-US"/>
        </a:p>
      </dgm:t>
    </dgm:pt>
    <dgm:pt modelId="{2781015F-0904-42DA-81B2-1190EFE5962B}">
      <dgm:prSet phldrT="Add an event" custT="1"/>
      <dgm:spPr/>
      <dgm:t>
        <a:bodyPr/>
        <a:lstStyle/>
        <a:p>
          <a:pPr>
            <a:defRPr b="1"/>
          </a:pPr>
          <a:r>
            <a:rPr lang="en-US" sz="1600" b="1" i="0" dirty="0">
              <a:latin typeface="Poppins" panose="00000500000000000000" pitchFamily="2" charset="0"/>
              <a:cs typeface="Poppins" panose="00000500000000000000" pitchFamily="2" charset="0"/>
            </a:rPr>
            <a:t>Complete sweep</a:t>
          </a:r>
          <a:endParaRPr lang="en-US" sz="1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2C466A1F-41CB-4CF8-8315-C8780C9D3AC1}" type="parTrans" cxnId="{A10BC81C-3DFD-49E4-841A-93AD086CDE23}">
      <dgm:prSet/>
      <dgm:spPr/>
      <dgm:t>
        <a:bodyPr/>
        <a:lstStyle/>
        <a:p>
          <a:endParaRPr lang="en-US"/>
        </a:p>
      </dgm:t>
    </dgm:pt>
    <dgm:pt modelId="{42FC3F49-133A-4571-89D4-BDDF9E24E08E}" type="sibTrans" cxnId="{A10BC81C-3DFD-49E4-841A-93AD086CDE23}">
      <dgm:prSet/>
      <dgm:spPr/>
      <dgm:t>
        <a:bodyPr/>
        <a:lstStyle/>
        <a:p>
          <a:endParaRPr lang="en-US"/>
        </a:p>
      </dgm:t>
    </dgm:pt>
    <dgm:pt modelId="{CF514DE2-12DA-4BB5-8397-D48FCD36F8EE}">
      <dgm:prSet phldrT="Write a description of the significance of this event" custT="1"/>
      <dgm:spPr/>
      <dgm:t>
        <a:bodyPr/>
        <a:lstStyle/>
        <a:p>
          <a:r>
            <a:rPr lang="en-US" sz="1200" b="0" i="0" dirty="0">
              <a:latin typeface="Poppins" panose="00000500000000000000" pitchFamily="2" charset="0"/>
              <a:cs typeface="Poppins" panose="00000500000000000000" pitchFamily="2" charset="0"/>
            </a:rPr>
            <a:t>Tick the checkbox upon completion</a:t>
          </a:r>
          <a:endParaRPr lang="en-US" sz="1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B46E159A-AD4D-4112-9EF8-E570E2A36A55}" type="parTrans" cxnId="{EF1A121D-4AB7-4B92-BB53-BF5C67A60E91}">
      <dgm:prSet/>
      <dgm:spPr/>
      <dgm:t>
        <a:bodyPr/>
        <a:lstStyle/>
        <a:p>
          <a:endParaRPr lang="en-US"/>
        </a:p>
      </dgm:t>
    </dgm:pt>
    <dgm:pt modelId="{3549464E-EFE4-42C8-A0E6-CC390565D7E3}" type="sibTrans" cxnId="{EF1A121D-4AB7-4B92-BB53-BF5C67A60E91}">
      <dgm:prSet/>
      <dgm:spPr/>
      <dgm:t>
        <a:bodyPr/>
        <a:lstStyle/>
        <a:p>
          <a:endParaRPr lang="en-US"/>
        </a:p>
      </dgm:t>
    </dgm:pt>
    <dgm:pt modelId="{F4DBF0B5-2A9E-4836-B4D0-E3E106D70412}" type="pres">
      <dgm:prSet presAssocID="{21227A21-223F-4F85-AB12-B43E61D0D58A}" presName="root" presStyleCnt="0">
        <dgm:presLayoutVars>
          <dgm:dir/>
          <dgm:animLvl val="lvl"/>
        </dgm:presLayoutVars>
      </dgm:prSet>
      <dgm:spPr/>
    </dgm:pt>
    <dgm:pt modelId="{98FDBA18-DBA7-4BC2-9716-E069FC84C37F}" type="pres">
      <dgm:prSet presAssocID="{21227A21-223F-4F85-AB12-B43E61D0D58A}" presName="divider" presStyleCnt="0"/>
      <dgm:spPr/>
    </dgm:pt>
    <dgm:pt modelId="{F150F557-BC1A-4311-9A5C-A7B5B03AE6AC}" type="pres">
      <dgm:prSet presAssocID="{21227A21-223F-4F85-AB12-B43E61D0D58A}" presName="rectBar" presStyleLbl="dkBgShp" presStyleIdx="0" presStyleCnt="9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solidFill>
            <a:srgbClr val="00B747"/>
          </a:solidFill>
        </a:ln>
        <a:effectLst/>
      </dgm:spPr>
    </dgm:pt>
    <dgm:pt modelId="{AE2F356C-6CB9-4AC0-9EE1-656489411221}" type="pres">
      <dgm:prSet presAssocID="{21227A21-223F-4F85-AB12-B43E61D0D58A}" presName="chevronArrow" presStyleLbl="dkBgShp" presStyleIdx="1" presStyleCnt="9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F06DD15B-68B5-46F5-804B-21582B924267}" type="pres">
      <dgm:prSet presAssocID="{21227A21-223F-4F85-AB12-B43E61D0D58A}" presName="nodes" presStyleCnt="0">
        <dgm:presLayoutVars>
          <dgm:chMax/>
          <dgm:chPref/>
          <dgm:animLvl val="lvl"/>
        </dgm:presLayoutVars>
      </dgm:prSet>
      <dgm:spPr/>
    </dgm:pt>
    <dgm:pt modelId="{9FF14705-9A73-4E58-A935-385528ECCA25}" type="pres">
      <dgm:prSet presAssocID="{D9D4A100-DA86-4A29-92FE-F04F52DF2660}" presName="composite" presStyleCnt="0"/>
      <dgm:spPr/>
    </dgm:pt>
    <dgm:pt modelId="{F140F1C4-6B4D-4564-BFD5-B4DA92266AE8}" type="pres">
      <dgm:prSet presAssocID="{D9D4A100-DA86-4A29-92FE-F04F52DF2660}" presName="DropPinPlaceHolder" presStyleCnt="0"/>
      <dgm:spPr/>
    </dgm:pt>
    <dgm:pt modelId="{9EC6534E-AAB6-452D-B410-37D009707ED4}" type="pres">
      <dgm:prSet presAssocID="{D9D4A100-DA86-4A29-92FE-F04F52DF2660}" presName="DropPin" presStyleLbl="alignNode1" presStyleIdx="0" presStyleCnt="7"/>
      <dgm:spPr/>
    </dgm:pt>
    <dgm:pt modelId="{B07ACC05-F68F-4369-BB2B-F34978433FFF}" type="pres">
      <dgm:prSet presAssocID="{D9D4A100-DA86-4A29-92FE-F04F52DF2660}" presName="Ellipse" presStyleLbl="fgAcc1" presStyleIdx="0" presStyleCnt="7"/>
      <dgm:spPr/>
    </dgm:pt>
    <dgm:pt modelId="{51CA60D4-669B-444D-B016-2FDB3DDE2AB9}" type="pres">
      <dgm:prSet presAssocID="{D9D4A100-DA86-4A29-92FE-F04F52DF2660}" presName="L2TextContainer" presStyleLbl="revTx" presStyleIdx="0" presStyleCnt="14">
        <dgm:presLayoutVars>
          <dgm:bulletEnabled val="1"/>
        </dgm:presLayoutVars>
      </dgm:prSet>
      <dgm:spPr/>
    </dgm:pt>
    <dgm:pt modelId="{BDA0917C-A2F6-4D59-AC46-F8A9172479F5}" type="pres">
      <dgm:prSet presAssocID="{D9D4A100-DA86-4A29-92FE-F04F52DF2660}" presName="L1TextContainer" presStyleLbl="revTx" presStyleIdx="1" presStyleCnt="14">
        <dgm:presLayoutVars>
          <dgm:chMax val="1"/>
          <dgm:chPref val="1"/>
          <dgm:bulletEnabled val="1"/>
        </dgm:presLayoutVars>
      </dgm:prSet>
      <dgm:spPr/>
    </dgm:pt>
    <dgm:pt modelId="{B82B9A53-4AD3-402C-90C1-0755B08BA74B}" type="pres">
      <dgm:prSet presAssocID="{D9D4A100-DA86-4A29-92FE-F04F52DF2660}" presName="ConnectLine" presStyleLbl="dkBgShp" presStyleIdx="2" presStyleCnt="9"/>
      <dgm:spPr>
        <a:ln>
          <a:solidFill>
            <a:schemeClr val="accent1"/>
          </a:solidFill>
        </a:ln>
      </dgm:spPr>
    </dgm:pt>
    <dgm:pt modelId="{3BD0A40F-65B6-43F3-B0D6-020C76D5DB92}" type="pres">
      <dgm:prSet presAssocID="{D9D4A100-DA86-4A29-92FE-F04F52DF2660}" presName="ConnectorPoint" presStyleCnt="0"/>
      <dgm:spPr/>
    </dgm:pt>
    <dgm:pt modelId="{99A69D1D-CF3A-4624-AFD0-41380599571F}" type="pres">
      <dgm:prSet presAssocID="{D9D4A100-DA86-4A29-92FE-F04F52DF2660}" presName="Bullet" presStyleLbl="lnNode1" presStyleIdx="0" presStyleCnt="7"/>
      <dgm:spPr/>
    </dgm:pt>
    <dgm:pt modelId="{175669DC-7D46-45D0-BF95-D65B40064ADC}" type="pres">
      <dgm:prSet presAssocID="{D9D4A100-DA86-4A29-92FE-F04F52DF2660}" presName="EmptyPlaceHolder" presStyleCnt="0"/>
      <dgm:spPr/>
    </dgm:pt>
    <dgm:pt modelId="{BAFAAEB3-7813-427E-9DE3-C3462691FAC5}" type="pres">
      <dgm:prSet presAssocID="{BE1FDABF-0796-4A92-B013-0DF8F18C517E}" presName="spaceBetweenRectangles" presStyleCnt="0"/>
      <dgm:spPr/>
    </dgm:pt>
    <dgm:pt modelId="{1A23D4CF-F98D-4F23-AA35-7650FDF6A204}" type="pres">
      <dgm:prSet presAssocID="{19CD8AA8-7799-47F8-9A19-2DE9E3AE3080}" presName="composite" presStyleCnt="0"/>
      <dgm:spPr/>
    </dgm:pt>
    <dgm:pt modelId="{DC246FF9-2045-4C68-891A-76E0AE4880D9}" type="pres">
      <dgm:prSet presAssocID="{19CD8AA8-7799-47F8-9A19-2DE9E3AE3080}" presName="DropPinPlaceHolder" presStyleCnt="0"/>
      <dgm:spPr/>
    </dgm:pt>
    <dgm:pt modelId="{F11E5BB0-1093-45CF-83C5-57FF90408EFF}" type="pres">
      <dgm:prSet presAssocID="{19CD8AA8-7799-47F8-9A19-2DE9E3AE3080}" presName="DropPin" presStyleLbl="alignNode1" presStyleIdx="1" presStyleCnt="7"/>
      <dgm:spPr/>
    </dgm:pt>
    <dgm:pt modelId="{D9521C60-F248-4D9C-947D-C6313B5CBB9E}" type="pres">
      <dgm:prSet presAssocID="{19CD8AA8-7799-47F8-9A19-2DE9E3AE3080}" presName="Ellipse" presStyleLbl="fgAcc1" presStyleIdx="1" presStyleCnt="7"/>
      <dgm:spPr/>
    </dgm:pt>
    <dgm:pt modelId="{9171F19B-CE38-4558-B148-E755BD715DDC}" type="pres">
      <dgm:prSet presAssocID="{19CD8AA8-7799-47F8-9A19-2DE9E3AE3080}" presName="L2TextContainer" presStyleLbl="revTx" presStyleIdx="2" presStyleCnt="14">
        <dgm:presLayoutVars>
          <dgm:bulletEnabled val="1"/>
        </dgm:presLayoutVars>
      </dgm:prSet>
      <dgm:spPr/>
    </dgm:pt>
    <dgm:pt modelId="{BEC70D54-D71C-4B6C-8BDB-8BD5D817F16E}" type="pres">
      <dgm:prSet presAssocID="{19CD8AA8-7799-47F8-9A19-2DE9E3AE3080}" presName="L1TextContainer" presStyleLbl="revTx" presStyleIdx="3" presStyleCnt="14">
        <dgm:presLayoutVars>
          <dgm:chMax val="1"/>
          <dgm:chPref val="1"/>
          <dgm:bulletEnabled val="1"/>
        </dgm:presLayoutVars>
      </dgm:prSet>
      <dgm:spPr/>
    </dgm:pt>
    <dgm:pt modelId="{3403D4D5-D379-4786-B212-5F70102180CD}" type="pres">
      <dgm:prSet presAssocID="{19CD8AA8-7799-47F8-9A19-2DE9E3AE3080}" presName="ConnectLine" presStyleLbl="dkBgShp" presStyleIdx="3" presStyleCnt="9"/>
      <dgm:spPr/>
    </dgm:pt>
    <dgm:pt modelId="{F87EA573-10FF-4B6B-84CB-9E5576EDF5EB}" type="pres">
      <dgm:prSet presAssocID="{19CD8AA8-7799-47F8-9A19-2DE9E3AE3080}" presName="ConnectorPoint" presStyleCnt="0"/>
      <dgm:spPr/>
    </dgm:pt>
    <dgm:pt modelId="{1150BD2F-9EC9-4BF7-9A09-BA144BDDD379}" type="pres">
      <dgm:prSet presAssocID="{19CD8AA8-7799-47F8-9A19-2DE9E3AE3080}" presName="Bullet" presStyleLbl="lnNode1" presStyleIdx="1" presStyleCnt="7"/>
      <dgm:spPr/>
    </dgm:pt>
    <dgm:pt modelId="{65B51900-B4C5-4550-B6AE-1E91754EFA35}" type="pres">
      <dgm:prSet presAssocID="{19CD8AA8-7799-47F8-9A19-2DE9E3AE3080}" presName="EmptyPlaceHolder" presStyleCnt="0"/>
      <dgm:spPr/>
    </dgm:pt>
    <dgm:pt modelId="{7B577026-1B79-4EF9-9EA6-EA5A77E7C9A3}" type="pres">
      <dgm:prSet presAssocID="{DEE3EBA7-9D80-4769-9F17-B47CCC686858}" presName="spaceBetweenRectangles" presStyleCnt="0"/>
      <dgm:spPr/>
    </dgm:pt>
    <dgm:pt modelId="{AB9F47DE-345C-42B8-8E50-6B88D16238DC}" type="pres">
      <dgm:prSet presAssocID="{00030C8E-3B54-4A5F-8903-D3C82E01FCC1}" presName="composite" presStyleCnt="0"/>
      <dgm:spPr/>
    </dgm:pt>
    <dgm:pt modelId="{72810E44-C89C-4043-AB53-C02B71445AD3}" type="pres">
      <dgm:prSet presAssocID="{00030C8E-3B54-4A5F-8903-D3C82E01FCC1}" presName="DropPinPlaceHolder" presStyleCnt="0"/>
      <dgm:spPr/>
    </dgm:pt>
    <dgm:pt modelId="{A595ABB3-12C8-4EA6-A70E-75210ECA211F}" type="pres">
      <dgm:prSet presAssocID="{00030C8E-3B54-4A5F-8903-D3C82E01FCC1}" presName="DropPin" presStyleLbl="alignNode1" presStyleIdx="2" presStyleCnt="7"/>
      <dgm:spPr/>
    </dgm:pt>
    <dgm:pt modelId="{B0C96842-7191-431F-8ABE-C1544EAECD96}" type="pres">
      <dgm:prSet presAssocID="{00030C8E-3B54-4A5F-8903-D3C82E01FCC1}" presName="Ellipse" presStyleLbl="fgAcc1" presStyleIdx="2" presStyleCnt="7"/>
      <dgm:spPr/>
    </dgm:pt>
    <dgm:pt modelId="{43C548F8-B17B-4BF3-A716-33828D5A665C}" type="pres">
      <dgm:prSet presAssocID="{00030C8E-3B54-4A5F-8903-D3C82E01FCC1}" presName="L2TextContainer" presStyleLbl="revTx" presStyleIdx="4" presStyleCnt="14">
        <dgm:presLayoutVars>
          <dgm:bulletEnabled val="1"/>
        </dgm:presLayoutVars>
      </dgm:prSet>
      <dgm:spPr/>
    </dgm:pt>
    <dgm:pt modelId="{F013F5AD-A5D3-47EF-9E1C-CBF2489E9851}" type="pres">
      <dgm:prSet presAssocID="{00030C8E-3B54-4A5F-8903-D3C82E01FCC1}" presName="L1TextContainer" presStyleLbl="revTx" presStyleIdx="5" presStyleCnt="14">
        <dgm:presLayoutVars>
          <dgm:chMax val="1"/>
          <dgm:chPref val="1"/>
          <dgm:bulletEnabled val="1"/>
        </dgm:presLayoutVars>
      </dgm:prSet>
      <dgm:spPr/>
    </dgm:pt>
    <dgm:pt modelId="{D7D23847-34D0-49D0-AA92-BF61B84A31AF}" type="pres">
      <dgm:prSet presAssocID="{00030C8E-3B54-4A5F-8903-D3C82E01FCC1}" presName="ConnectLine" presStyleLbl="dkBgShp" presStyleIdx="4" presStyleCnt="9"/>
      <dgm:spPr/>
    </dgm:pt>
    <dgm:pt modelId="{C8F82965-E609-46F3-BF45-8F23D92283C2}" type="pres">
      <dgm:prSet presAssocID="{00030C8E-3B54-4A5F-8903-D3C82E01FCC1}" presName="ConnectorPoint" presStyleCnt="0"/>
      <dgm:spPr/>
    </dgm:pt>
    <dgm:pt modelId="{32B5B38C-66E1-4DDD-93DE-6A604B264E1C}" type="pres">
      <dgm:prSet presAssocID="{00030C8E-3B54-4A5F-8903-D3C82E01FCC1}" presName="Bullet" presStyleLbl="lnNode1" presStyleIdx="2" presStyleCnt="7"/>
      <dgm:spPr/>
    </dgm:pt>
    <dgm:pt modelId="{B8D6048D-FC16-46A9-8394-DB50190CAAA9}" type="pres">
      <dgm:prSet presAssocID="{00030C8E-3B54-4A5F-8903-D3C82E01FCC1}" presName="EmptyPlaceHolder" presStyleCnt="0"/>
      <dgm:spPr/>
    </dgm:pt>
    <dgm:pt modelId="{A5B68C6A-8042-4AA0-9A72-0C11BB792C5E}" type="pres">
      <dgm:prSet presAssocID="{6DFA4D69-6B79-4C4E-814B-71B339505D9E}" presName="spaceBetweenRectangles" presStyleCnt="0"/>
      <dgm:spPr/>
    </dgm:pt>
    <dgm:pt modelId="{A23C1DA3-A524-45E5-805C-76386F5E9A09}" type="pres">
      <dgm:prSet presAssocID="{E87DCB55-874B-47CA-8E2A-ECFD8A29F09D}" presName="composite" presStyleCnt="0"/>
      <dgm:spPr/>
    </dgm:pt>
    <dgm:pt modelId="{0DBEABFA-484C-4A9B-82F2-5B86762B4255}" type="pres">
      <dgm:prSet presAssocID="{E87DCB55-874B-47CA-8E2A-ECFD8A29F09D}" presName="DropPinPlaceHolder" presStyleCnt="0"/>
      <dgm:spPr/>
    </dgm:pt>
    <dgm:pt modelId="{921225CA-D031-4E3A-BC62-1A8ECAABFF29}" type="pres">
      <dgm:prSet presAssocID="{E87DCB55-874B-47CA-8E2A-ECFD8A29F09D}" presName="DropPin" presStyleLbl="alignNode1" presStyleIdx="3" presStyleCnt="7"/>
      <dgm:spPr/>
    </dgm:pt>
    <dgm:pt modelId="{E7A6D014-4B7A-4439-9C4B-0886F0C6ACD6}" type="pres">
      <dgm:prSet presAssocID="{E87DCB55-874B-47CA-8E2A-ECFD8A29F09D}" presName="Ellipse" presStyleLbl="fgAcc1" presStyleIdx="3" presStyleCnt="7"/>
      <dgm:spPr/>
    </dgm:pt>
    <dgm:pt modelId="{C923E335-6E92-46A1-A588-A4D101689A8A}" type="pres">
      <dgm:prSet presAssocID="{E87DCB55-874B-47CA-8E2A-ECFD8A29F09D}" presName="L2TextContainer" presStyleLbl="revTx" presStyleIdx="6" presStyleCnt="14">
        <dgm:presLayoutVars>
          <dgm:bulletEnabled val="1"/>
        </dgm:presLayoutVars>
      </dgm:prSet>
      <dgm:spPr/>
    </dgm:pt>
    <dgm:pt modelId="{666F7904-70AF-433B-83E8-AFFC1CB8636C}" type="pres">
      <dgm:prSet presAssocID="{E87DCB55-874B-47CA-8E2A-ECFD8A29F09D}" presName="L1TextContainer" presStyleLbl="revTx" presStyleIdx="7" presStyleCnt="14">
        <dgm:presLayoutVars>
          <dgm:chMax val="1"/>
          <dgm:chPref val="1"/>
          <dgm:bulletEnabled val="1"/>
        </dgm:presLayoutVars>
      </dgm:prSet>
      <dgm:spPr/>
    </dgm:pt>
    <dgm:pt modelId="{D88E73FF-7706-482C-9D24-2244B2B61C77}" type="pres">
      <dgm:prSet presAssocID="{E87DCB55-874B-47CA-8E2A-ECFD8A29F09D}" presName="ConnectLine" presStyleLbl="dkBgShp" presStyleIdx="5" presStyleCnt="9"/>
      <dgm:spPr/>
    </dgm:pt>
    <dgm:pt modelId="{05FA22B7-89C7-42B2-AEAF-99782674BC97}" type="pres">
      <dgm:prSet presAssocID="{E87DCB55-874B-47CA-8E2A-ECFD8A29F09D}" presName="ConnectorPoint" presStyleCnt="0"/>
      <dgm:spPr/>
    </dgm:pt>
    <dgm:pt modelId="{470EFBAE-9158-4CC3-8E25-324B06171CDF}" type="pres">
      <dgm:prSet presAssocID="{E87DCB55-874B-47CA-8E2A-ECFD8A29F09D}" presName="Bullet" presStyleLbl="lnNode1" presStyleIdx="3" presStyleCnt="7"/>
      <dgm:spPr/>
    </dgm:pt>
    <dgm:pt modelId="{C860AC99-E301-4204-BCF7-ADE84AAEAAC4}" type="pres">
      <dgm:prSet presAssocID="{E87DCB55-874B-47CA-8E2A-ECFD8A29F09D}" presName="EmptyPlaceHolder" presStyleCnt="0"/>
      <dgm:spPr/>
    </dgm:pt>
    <dgm:pt modelId="{63F01404-48AC-4769-982B-1827BFF8DFED}" type="pres">
      <dgm:prSet presAssocID="{37B09061-F3E0-475E-8654-1BC57E19D52C}" presName="spaceBetweenRectangles" presStyleCnt="0"/>
      <dgm:spPr/>
    </dgm:pt>
    <dgm:pt modelId="{E3222F29-450A-4A0D-BAED-35427497FBC9}" type="pres">
      <dgm:prSet presAssocID="{DE268D39-3BCB-4AC6-BA08-E458DB6FBFB4}" presName="composite" presStyleCnt="0"/>
      <dgm:spPr/>
    </dgm:pt>
    <dgm:pt modelId="{22B08A22-955F-4D2C-BBC3-410F59227AAD}" type="pres">
      <dgm:prSet presAssocID="{DE268D39-3BCB-4AC6-BA08-E458DB6FBFB4}" presName="DropPinPlaceHolder" presStyleCnt="0"/>
      <dgm:spPr/>
    </dgm:pt>
    <dgm:pt modelId="{58EFB165-8310-40AA-87BA-C8C92B00CB7B}" type="pres">
      <dgm:prSet presAssocID="{DE268D39-3BCB-4AC6-BA08-E458DB6FBFB4}" presName="DropPin" presStyleLbl="alignNode1" presStyleIdx="4" presStyleCnt="7"/>
      <dgm:spPr/>
    </dgm:pt>
    <dgm:pt modelId="{F4B6784C-96B6-4EF8-8164-B4F0B6EA744B}" type="pres">
      <dgm:prSet presAssocID="{DE268D39-3BCB-4AC6-BA08-E458DB6FBFB4}" presName="Ellipse" presStyleLbl="fgAcc1" presStyleIdx="4" presStyleCnt="7"/>
      <dgm:spPr/>
    </dgm:pt>
    <dgm:pt modelId="{3019339A-19B4-4688-A71A-5E8C3986837C}" type="pres">
      <dgm:prSet presAssocID="{DE268D39-3BCB-4AC6-BA08-E458DB6FBFB4}" presName="L2TextContainer" presStyleLbl="revTx" presStyleIdx="8" presStyleCnt="14">
        <dgm:presLayoutVars>
          <dgm:bulletEnabled val="1"/>
        </dgm:presLayoutVars>
      </dgm:prSet>
      <dgm:spPr/>
    </dgm:pt>
    <dgm:pt modelId="{7B13BCC0-DA5D-44B6-848A-36EA20DED12A}" type="pres">
      <dgm:prSet presAssocID="{DE268D39-3BCB-4AC6-BA08-E458DB6FBFB4}" presName="L1TextContainer" presStyleLbl="revTx" presStyleIdx="9" presStyleCnt="14">
        <dgm:presLayoutVars>
          <dgm:chMax val="1"/>
          <dgm:chPref val="1"/>
          <dgm:bulletEnabled val="1"/>
        </dgm:presLayoutVars>
      </dgm:prSet>
      <dgm:spPr/>
    </dgm:pt>
    <dgm:pt modelId="{453F244B-0634-4C13-BB7B-0382565616AC}" type="pres">
      <dgm:prSet presAssocID="{DE268D39-3BCB-4AC6-BA08-E458DB6FBFB4}" presName="ConnectLine" presStyleLbl="dkBgShp" presStyleIdx="6" presStyleCnt="9"/>
      <dgm:spPr/>
    </dgm:pt>
    <dgm:pt modelId="{5AC05B70-9C79-43C5-828D-2C63A2A9733B}" type="pres">
      <dgm:prSet presAssocID="{DE268D39-3BCB-4AC6-BA08-E458DB6FBFB4}" presName="ConnectorPoint" presStyleCnt="0"/>
      <dgm:spPr/>
    </dgm:pt>
    <dgm:pt modelId="{AE65031E-39D5-4123-8E60-076394A9B516}" type="pres">
      <dgm:prSet presAssocID="{DE268D39-3BCB-4AC6-BA08-E458DB6FBFB4}" presName="Bullet" presStyleLbl="lnNode1" presStyleIdx="4" presStyleCnt="7"/>
      <dgm:spPr/>
    </dgm:pt>
    <dgm:pt modelId="{011825A1-22C2-4ED6-97C6-B9A6BB829C26}" type="pres">
      <dgm:prSet presAssocID="{DE268D39-3BCB-4AC6-BA08-E458DB6FBFB4}" presName="EmptyPlaceHolder" presStyleCnt="0"/>
      <dgm:spPr/>
    </dgm:pt>
    <dgm:pt modelId="{E850DBED-284F-4ADE-956A-3065F6D483B2}" type="pres">
      <dgm:prSet presAssocID="{94D86DE5-CB93-4001-A911-49043ABC49AB}" presName="spaceBetweenRectangles" presStyleCnt="0"/>
      <dgm:spPr/>
    </dgm:pt>
    <dgm:pt modelId="{F67BBAC0-654C-44B8-B5FA-A85BDE28606E}" type="pres">
      <dgm:prSet presAssocID="{3CFA14BD-BA16-4086-8BA0-069FDE8F2DD5}" presName="composite" presStyleCnt="0"/>
      <dgm:spPr/>
    </dgm:pt>
    <dgm:pt modelId="{7E12C81B-5BB2-4544-A045-4A1E5F587FA8}" type="pres">
      <dgm:prSet presAssocID="{3CFA14BD-BA16-4086-8BA0-069FDE8F2DD5}" presName="DropPinPlaceHolder" presStyleCnt="0"/>
      <dgm:spPr/>
    </dgm:pt>
    <dgm:pt modelId="{E9D1D764-0E61-4F9F-9D0F-616031862D92}" type="pres">
      <dgm:prSet presAssocID="{3CFA14BD-BA16-4086-8BA0-069FDE8F2DD5}" presName="DropPin" presStyleLbl="alignNode1" presStyleIdx="5" presStyleCnt="7"/>
      <dgm:spPr/>
    </dgm:pt>
    <dgm:pt modelId="{D5663595-342B-4B26-BE7F-219E11B30A9C}" type="pres">
      <dgm:prSet presAssocID="{3CFA14BD-BA16-4086-8BA0-069FDE8F2DD5}" presName="Ellipse" presStyleLbl="fgAcc1" presStyleIdx="5" presStyleCnt="7"/>
      <dgm:spPr/>
    </dgm:pt>
    <dgm:pt modelId="{EBB2F484-E848-4F83-92BE-894A7B65C8AD}" type="pres">
      <dgm:prSet presAssocID="{3CFA14BD-BA16-4086-8BA0-069FDE8F2DD5}" presName="L2TextContainer" presStyleLbl="revTx" presStyleIdx="10" presStyleCnt="14">
        <dgm:presLayoutVars>
          <dgm:bulletEnabled val="1"/>
        </dgm:presLayoutVars>
      </dgm:prSet>
      <dgm:spPr/>
    </dgm:pt>
    <dgm:pt modelId="{8FD59098-98C6-446C-A847-09E56EBDF1B4}" type="pres">
      <dgm:prSet presAssocID="{3CFA14BD-BA16-4086-8BA0-069FDE8F2DD5}" presName="L1TextContainer" presStyleLbl="revTx" presStyleIdx="11" presStyleCnt="14">
        <dgm:presLayoutVars>
          <dgm:chMax val="1"/>
          <dgm:chPref val="1"/>
          <dgm:bulletEnabled val="1"/>
        </dgm:presLayoutVars>
      </dgm:prSet>
      <dgm:spPr/>
    </dgm:pt>
    <dgm:pt modelId="{BA19E4A9-E5CA-4ADE-8956-4276366D77B4}" type="pres">
      <dgm:prSet presAssocID="{3CFA14BD-BA16-4086-8BA0-069FDE8F2DD5}" presName="ConnectLine" presStyleLbl="dkBgShp" presStyleIdx="7" presStyleCnt="9"/>
      <dgm:spPr/>
    </dgm:pt>
    <dgm:pt modelId="{948A9234-962A-4C59-8DD4-B7BE8821C54D}" type="pres">
      <dgm:prSet presAssocID="{3CFA14BD-BA16-4086-8BA0-069FDE8F2DD5}" presName="ConnectorPoint" presStyleCnt="0"/>
      <dgm:spPr/>
    </dgm:pt>
    <dgm:pt modelId="{AF15D3EE-8417-489F-BE2D-7D893FFA3BDB}" type="pres">
      <dgm:prSet presAssocID="{3CFA14BD-BA16-4086-8BA0-069FDE8F2DD5}" presName="Bullet" presStyleLbl="lnNode1" presStyleIdx="5" presStyleCnt="7"/>
      <dgm:spPr>
        <a:ln>
          <a:solidFill>
            <a:srgbClr val="00B747"/>
          </a:solidFill>
        </a:ln>
      </dgm:spPr>
    </dgm:pt>
    <dgm:pt modelId="{66F02991-3D3C-4612-AD1C-A7542249AF8A}" type="pres">
      <dgm:prSet presAssocID="{3CFA14BD-BA16-4086-8BA0-069FDE8F2DD5}" presName="EmptyPlaceHolder" presStyleCnt="0"/>
      <dgm:spPr/>
    </dgm:pt>
    <dgm:pt modelId="{1B0FAE2B-CFD6-4540-AFB6-679D0F23865C}" type="pres">
      <dgm:prSet presAssocID="{44B46CAE-5EE8-4AB0-A233-5D8A5B017D3D}" presName="spaceBetweenRectangles" presStyleCnt="0"/>
      <dgm:spPr/>
    </dgm:pt>
    <dgm:pt modelId="{F6E93B7D-B2EE-46EB-900E-D79B913562F3}" type="pres">
      <dgm:prSet presAssocID="{2781015F-0904-42DA-81B2-1190EFE5962B}" presName="composite" presStyleCnt="0"/>
      <dgm:spPr/>
    </dgm:pt>
    <dgm:pt modelId="{F0774DF9-5F99-4DF6-81B6-ECFF39912C06}" type="pres">
      <dgm:prSet presAssocID="{2781015F-0904-42DA-81B2-1190EFE5962B}" presName="DropPinPlaceHolder" presStyleCnt="0"/>
      <dgm:spPr/>
    </dgm:pt>
    <dgm:pt modelId="{0ACACAEF-24FE-491E-98F3-F3A09809661D}" type="pres">
      <dgm:prSet presAssocID="{2781015F-0904-42DA-81B2-1190EFE5962B}" presName="DropPin" presStyleLbl="alignNode1" presStyleIdx="6" presStyleCnt="7"/>
      <dgm:spPr/>
    </dgm:pt>
    <dgm:pt modelId="{4270B49C-BC86-41D0-9300-FD4AE00F2A0A}" type="pres">
      <dgm:prSet presAssocID="{2781015F-0904-42DA-81B2-1190EFE5962B}" presName="Ellipse" presStyleLbl="fgAcc1" presStyleIdx="6" presStyleCnt="7"/>
      <dgm:spPr/>
    </dgm:pt>
    <dgm:pt modelId="{5A96FEBB-F284-4573-BA0D-5CEA3BC7BE29}" type="pres">
      <dgm:prSet presAssocID="{2781015F-0904-42DA-81B2-1190EFE5962B}" presName="L2TextContainer" presStyleLbl="revTx" presStyleIdx="12" presStyleCnt="14">
        <dgm:presLayoutVars>
          <dgm:bulletEnabled val="1"/>
        </dgm:presLayoutVars>
      </dgm:prSet>
      <dgm:spPr/>
    </dgm:pt>
    <dgm:pt modelId="{E3A14FC1-5E66-4226-A1D1-4AA6F613D8EB}" type="pres">
      <dgm:prSet presAssocID="{2781015F-0904-42DA-81B2-1190EFE5962B}" presName="L1TextContainer" presStyleLbl="revTx" presStyleIdx="13" presStyleCnt="14">
        <dgm:presLayoutVars>
          <dgm:chMax val="1"/>
          <dgm:chPref val="1"/>
          <dgm:bulletEnabled val="1"/>
        </dgm:presLayoutVars>
      </dgm:prSet>
      <dgm:spPr/>
    </dgm:pt>
    <dgm:pt modelId="{A01EF575-D0D2-4427-8454-D761EF54988C}" type="pres">
      <dgm:prSet presAssocID="{2781015F-0904-42DA-81B2-1190EFE5962B}" presName="ConnectLine" presStyleLbl="dkBgShp" presStyleIdx="8" presStyleCnt="9"/>
      <dgm:spPr/>
    </dgm:pt>
    <dgm:pt modelId="{77EAC4AC-9421-4E29-BFC2-080EC33B936B}" type="pres">
      <dgm:prSet presAssocID="{2781015F-0904-42DA-81B2-1190EFE5962B}" presName="ConnectorPoint" presStyleCnt="0"/>
      <dgm:spPr/>
    </dgm:pt>
    <dgm:pt modelId="{893040E6-B462-4B43-9E94-D22EF1508B70}" type="pres">
      <dgm:prSet presAssocID="{2781015F-0904-42DA-81B2-1190EFE5962B}" presName="Bullet" presStyleLbl="lnNode1" presStyleIdx="6" presStyleCnt="7"/>
      <dgm:spPr/>
    </dgm:pt>
    <dgm:pt modelId="{FA76BA4E-E3DF-4CBF-A222-1BA562BB5260}" type="pres">
      <dgm:prSet presAssocID="{2781015F-0904-42DA-81B2-1190EFE5962B}" presName="EmptyPlaceHolder" presStyleCnt="0"/>
      <dgm:spPr/>
    </dgm:pt>
  </dgm:ptLst>
  <dgm:cxnLst>
    <dgm:cxn modelId="{CCBEE602-5213-4758-9CB1-9B1309AE1C70}" type="presOf" srcId="{D9D4A100-DA86-4A29-92FE-F04F52DF2660}" destId="{BDA0917C-A2F6-4D59-AC46-F8A9172479F5}" srcOrd="0" destOrd="0" presId="urn:microsoft.com/office/officeart/2024/layout/BulletTimeline"/>
    <dgm:cxn modelId="{6938730B-B3C1-4735-838E-4548E35BD27C}" srcId="{21227A21-223F-4F85-AB12-B43E61D0D58A}" destId="{00030C8E-3B54-4A5F-8903-D3C82E01FCC1}" srcOrd="2" destOrd="0" parTransId="{A6A1CD1D-785C-4D32-8DA6-6E8F89332A79}" sibTransId="{6DFA4D69-6B79-4C4E-814B-71B339505D9E}"/>
    <dgm:cxn modelId="{A10BC81C-3DFD-49E4-841A-93AD086CDE23}" srcId="{21227A21-223F-4F85-AB12-B43E61D0D58A}" destId="{2781015F-0904-42DA-81B2-1190EFE5962B}" srcOrd="6" destOrd="0" parTransId="{2C466A1F-41CB-4CF8-8315-C8780C9D3AC1}" sibTransId="{42FC3F49-133A-4571-89D4-BDDF9E24E08E}"/>
    <dgm:cxn modelId="{EF1A121D-4AB7-4B92-BB53-BF5C67A60E91}" srcId="{2781015F-0904-42DA-81B2-1190EFE5962B}" destId="{CF514DE2-12DA-4BB5-8397-D48FCD36F8EE}" srcOrd="0" destOrd="0" parTransId="{B46E159A-AD4D-4112-9EF8-E570E2A36A55}" sibTransId="{3549464E-EFE4-42C8-A0E6-CC390565D7E3}"/>
    <dgm:cxn modelId="{39CD181D-F452-47C1-BF40-E6EFE0F1D3D7}" type="presOf" srcId="{4C950E32-0991-4806-8AF9-3F4BA8891611}" destId="{EBB2F484-E848-4F83-92BE-894A7B65C8AD}" srcOrd="0" destOrd="0" presId="urn:microsoft.com/office/officeart/2024/layout/BulletTimeline"/>
    <dgm:cxn modelId="{41DAF421-5737-447E-96E9-058FD32738EF}" srcId="{19CD8AA8-7799-47F8-9A19-2DE9E3AE3080}" destId="{1FF2DEC1-345E-47C1-A70B-E879D8EA8035}" srcOrd="0" destOrd="0" parTransId="{61C14E7C-AFD4-48AB-92F9-672A29CED7B8}" sibTransId="{A6DD03D9-0FBC-4287-BC61-8D6323F8324A}"/>
    <dgm:cxn modelId="{D4E8D827-B48F-4337-A05B-2D61E552404D}" type="presOf" srcId="{DE268D39-3BCB-4AC6-BA08-E458DB6FBFB4}" destId="{7B13BCC0-DA5D-44B6-848A-36EA20DED12A}" srcOrd="0" destOrd="0" presId="urn:microsoft.com/office/officeart/2024/layout/BulletTimeline"/>
    <dgm:cxn modelId="{6CE4882E-1DE0-49C5-96B3-A97E611C9EA4}" type="presOf" srcId="{2781015F-0904-42DA-81B2-1190EFE5962B}" destId="{E3A14FC1-5E66-4226-A1D1-4AA6F613D8EB}" srcOrd="0" destOrd="0" presId="urn:microsoft.com/office/officeart/2024/layout/BulletTimeline"/>
    <dgm:cxn modelId="{A7768334-8EDF-42B6-892F-499420E83BFD}" type="presOf" srcId="{00030C8E-3B54-4A5F-8903-D3C82E01FCC1}" destId="{F013F5AD-A5D3-47EF-9E1C-CBF2489E9851}" srcOrd="0" destOrd="0" presId="urn:microsoft.com/office/officeart/2024/layout/BulletTimeline"/>
    <dgm:cxn modelId="{E0E41837-5A59-497A-9F4A-E30CBF523F8B}" srcId="{21227A21-223F-4F85-AB12-B43E61D0D58A}" destId="{D9D4A100-DA86-4A29-92FE-F04F52DF2660}" srcOrd="0" destOrd="0" parTransId="{BFCDF934-6C25-4D71-988F-211EF597969C}" sibTransId="{BE1FDABF-0796-4A92-B013-0DF8F18C517E}"/>
    <dgm:cxn modelId="{A2E52839-951F-405F-B218-CA72789FD8F5}" type="presOf" srcId="{EE20A015-E41E-41F0-BCAC-A37522DD0E92}" destId="{C923E335-6E92-46A1-A588-A4D101689A8A}" srcOrd="0" destOrd="0" presId="urn:microsoft.com/office/officeart/2024/layout/BulletTimeline"/>
    <dgm:cxn modelId="{1F794F60-1B36-4516-8B2B-29E8EB4F7898}" srcId="{3CFA14BD-BA16-4086-8BA0-069FDE8F2DD5}" destId="{4C950E32-0991-4806-8AF9-3F4BA8891611}" srcOrd="0" destOrd="0" parTransId="{DCDDE734-5343-4B67-883A-47463D06644A}" sibTransId="{3370E47E-DB77-446A-BE8A-40FC4E454BFE}"/>
    <dgm:cxn modelId="{3FD53765-2B58-4DA6-9706-AEFE288F04AA}" srcId="{E87DCB55-874B-47CA-8E2A-ECFD8A29F09D}" destId="{EE20A015-E41E-41F0-BCAC-A37522DD0E92}" srcOrd="0" destOrd="0" parTransId="{65FE6728-CFE5-448C-9DE2-9F0849DA8E4C}" sibTransId="{F0E81C27-2001-45F7-8E5F-3CDF222EFA15}"/>
    <dgm:cxn modelId="{60413546-98F6-45A2-8E9E-CC81DCB440F6}" type="presOf" srcId="{21227A21-223F-4F85-AB12-B43E61D0D58A}" destId="{F4DBF0B5-2A9E-4836-B4D0-E3E106D70412}" srcOrd="0" destOrd="0" presId="urn:microsoft.com/office/officeart/2024/layout/BulletTimeline"/>
    <dgm:cxn modelId="{DB9DCD4E-D7F7-4E5F-8A5D-E77B91F72E40}" srcId="{DE268D39-3BCB-4AC6-BA08-E458DB6FBFB4}" destId="{2B5852F2-732D-4522-B5B9-B8BDABDDA608}" srcOrd="0" destOrd="0" parTransId="{6018D0F8-0DC7-4CDD-B32A-990965E31312}" sibTransId="{B2317751-F2DE-420A-BAB1-8F1E599C366E}"/>
    <dgm:cxn modelId="{908F4E50-9724-4C7D-85C9-D6EA941F0A02}" srcId="{21227A21-223F-4F85-AB12-B43E61D0D58A}" destId="{19CD8AA8-7799-47F8-9A19-2DE9E3AE3080}" srcOrd="1" destOrd="0" parTransId="{2CBC53DE-C76B-466C-AA0E-93E9C276E6B2}" sibTransId="{DEE3EBA7-9D80-4769-9F17-B47CCC686858}"/>
    <dgm:cxn modelId="{5C9D8152-7471-4C17-81FA-754C9FE5EB4D}" type="presOf" srcId="{E87DCB55-874B-47CA-8E2A-ECFD8A29F09D}" destId="{666F7904-70AF-433B-83E8-AFFC1CB8636C}" srcOrd="0" destOrd="0" presId="urn:microsoft.com/office/officeart/2024/layout/BulletTimeline"/>
    <dgm:cxn modelId="{8D7B6653-8871-4F21-83EF-CDEB5263443E}" type="presOf" srcId="{19CD8AA8-7799-47F8-9A19-2DE9E3AE3080}" destId="{BEC70D54-D71C-4B6C-8BDB-8BD5D817F16E}" srcOrd="0" destOrd="0" presId="urn:microsoft.com/office/officeart/2024/layout/BulletTimeline"/>
    <dgm:cxn modelId="{C6442C77-5CD7-4C91-89DF-916F75464803}" srcId="{21227A21-223F-4F85-AB12-B43E61D0D58A}" destId="{3CFA14BD-BA16-4086-8BA0-069FDE8F2DD5}" srcOrd="5" destOrd="0" parTransId="{963BC7D9-AD46-49A7-BAA8-31F009E08543}" sibTransId="{44B46CAE-5EE8-4AB0-A233-5D8A5B017D3D}"/>
    <dgm:cxn modelId="{6D0A1A88-FACD-4945-B95C-E432001A30C4}" srcId="{D9D4A100-DA86-4A29-92FE-F04F52DF2660}" destId="{F8014AD0-BF45-4C56-84F8-2E41FABCFDB5}" srcOrd="0" destOrd="0" parTransId="{302A318A-2621-45EE-9BF3-C3CF8E861764}" sibTransId="{94F1C004-433F-45C4-951C-A246F2EA744D}"/>
    <dgm:cxn modelId="{711B198A-4D56-4446-A58E-86A5370D5838}" type="presOf" srcId="{F8014AD0-BF45-4C56-84F8-2E41FABCFDB5}" destId="{51CA60D4-669B-444D-B016-2FDB3DDE2AB9}" srcOrd="0" destOrd="0" presId="urn:microsoft.com/office/officeart/2024/layout/BulletTimeline"/>
    <dgm:cxn modelId="{8B623298-A81A-4248-A48A-EEFD94AA3582}" type="presOf" srcId="{CF514DE2-12DA-4BB5-8397-D48FCD36F8EE}" destId="{5A96FEBB-F284-4573-BA0D-5CEA3BC7BE29}" srcOrd="0" destOrd="0" presId="urn:microsoft.com/office/officeart/2024/layout/BulletTimeline"/>
    <dgm:cxn modelId="{890E779A-C19C-4878-99B0-4162524B8AD8}" type="presOf" srcId="{1FF2DEC1-345E-47C1-A70B-E879D8EA8035}" destId="{9171F19B-CE38-4558-B148-E755BD715DDC}" srcOrd="0" destOrd="0" presId="urn:microsoft.com/office/officeart/2024/layout/BulletTimeline"/>
    <dgm:cxn modelId="{D301CCBF-F958-469E-8411-C5C4DE2B781D}" type="presOf" srcId="{2B5852F2-732D-4522-B5B9-B8BDABDDA608}" destId="{3019339A-19B4-4688-A71A-5E8C3986837C}" srcOrd="0" destOrd="0" presId="urn:microsoft.com/office/officeart/2024/layout/BulletTimeline"/>
    <dgm:cxn modelId="{D010A9CA-ACA7-49D1-907C-9C35F8035382}" type="presOf" srcId="{3CFA14BD-BA16-4086-8BA0-069FDE8F2DD5}" destId="{8FD59098-98C6-446C-A847-09E56EBDF1B4}" srcOrd="0" destOrd="0" presId="urn:microsoft.com/office/officeart/2024/layout/BulletTimeline"/>
    <dgm:cxn modelId="{8EE294CD-9E9A-417B-851F-E6995C05596A}" srcId="{21227A21-223F-4F85-AB12-B43E61D0D58A}" destId="{DE268D39-3BCB-4AC6-BA08-E458DB6FBFB4}" srcOrd="4" destOrd="0" parTransId="{0FA0F2BD-C3DA-48D7-AFDB-48E035A10CDF}" sibTransId="{94D86DE5-CB93-4001-A911-49043ABC49AB}"/>
    <dgm:cxn modelId="{9B9E16D5-1C7C-4538-B723-4B79A618ECF6}" srcId="{21227A21-223F-4F85-AB12-B43E61D0D58A}" destId="{E87DCB55-874B-47CA-8E2A-ECFD8A29F09D}" srcOrd="3" destOrd="0" parTransId="{D945B550-6CCD-45BF-95FE-66D62B150399}" sibTransId="{37B09061-F3E0-475E-8654-1BC57E19D52C}"/>
    <dgm:cxn modelId="{556A28DF-FF76-4BB6-979B-29E1EF3881CE}" type="presOf" srcId="{B422FDA8-566A-453A-A256-8EA4D18EB255}" destId="{43C548F8-B17B-4BF3-A716-33828D5A665C}" srcOrd="0" destOrd="0" presId="urn:microsoft.com/office/officeart/2024/layout/BulletTimeline"/>
    <dgm:cxn modelId="{4EB1F2E2-DF6F-4D06-80B7-E9797647BD83}" srcId="{00030C8E-3B54-4A5F-8903-D3C82E01FCC1}" destId="{B422FDA8-566A-453A-A256-8EA4D18EB255}" srcOrd="0" destOrd="0" parTransId="{F23DFA05-660B-4A18-98CB-19601EF58ACD}" sibTransId="{68F9F693-CF12-414C-9C18-47E97737608D}"/>
    <dgm:cxn modelId="{AC1E8292-53DD-49D6-A636-AD42E5993A59}" type="presParOf" srcId="{F4DBF0B5-2A9E-4836-B4D0-E3E106D70412}" destId="{98FDBA18-DBA7-4BC2-9716-E069FC84C37F}" srcOrd="0" destOrd="0" presId="urn:microsoft.com/office/officeart/2024/layout/BulletTimeline"/>
    <dgm:cxn modelId="{9101346F-B474-42D4-A80E-100BF34D2FC1}" type="presParOf" srcId="{98FDBA18-DBA7-4BC2-9716-E069FC84C37F}" destId="{F150F557-BC1A-4311-9A5C-A7B5B03AE6AC}" srcOrd="0" destOrd="0" presId="urn:microsoft.com/office/officeart/2024/layout/BulletTimeline"/>
    <dgm:cxn modelId="{9AF658C2-F292-4BB6-9BD5-47DAB21530CF}" type="presParOf" srcId="{98FDBA18-DBA7-4BC2-9716-E069FC84C37F}" destId="{AE2F356C-6CB9-4AC0-9EE1-656489411221}" srcOrd="1" destOrd="0" presId="urn:microsoft.com/office/officeart/2024/layout/BulletTimeline"/>
    <dgm:cxn modelId="{EB1FAEB8-3866-43A4-9521-09E5B5A1EFB8}" type="presParOf" srcId="{F4DBF0B5-2A9E-4836-B4D0-E3E106D70412}" destId="{F06DD15B-68B5-46F5-804B-21582B924267}" srcOrd="1" destOrd="0" presId="urn:microsoft.com/office/officeart/2024/layout/BulletTimeline"/>
    <dgm:cxn modelId="{DB343D09-F588-4A34-8033-7DB2A5E82973}" type="presParOf" srcId="{F06DD15B-68B5-46F5-804B-21582B924267}" destId="{9FF14705-9A73-4E58-A935-385528ECCA25}" srcOrd="0" destOrd="0" presId="urn:microsoft.com/office/officeart/2024/layout/BulletTimeline"/>
    <dgm:cxn modelId="{4D7CFE13-AD87-435A-B46B-9735DF436E3E}" type="presParOf" srcId="{9FF14705-9A73-4E58-A935-385528ECCA25}" destId="{F140F1C4-6B4D-4564-BFD5-B4DA92266AE8}" srcOrd="0" destOrd="0" presId="urn:microsoft.com/office/officeart/2024/layout/BulletTimeline"/>
    <dgm:cxn modelId="{04A56E03-042C-4DA7-BD07-FFE989C441A2}" type="presParOf" srcId="{F140F1C4-6B4D-4564-BFD5-B4DA92266AE8}" destId="{9EC6534E-AAB6-452D-B410-37D009707ED4}" srcOrd="0" destOrd="0" presId="urn:microsoft.com/office/officeart/2024/layout/BulletTimeline"/>
    <dgm:cxn modelId="{109F4959-AA00-4233-904C-8944BB61702D}" type="presParOf" srcId="{F140F1C4-6B4D-4564-BFD5-B4DA92266AE8}" destId="{B07ACC05-F68F-4369-BB2B-F34978433FFF}" srcOrd="1" destOrd="0" presId="urn:microsoft.com/office/officeart/2024/layout/BulletTimeline"/>
    <dgm:cxn modelId="{91D60B52-C47E-4A7A-A825-418239710D62}" type="presParOf" srcId="{9FF14705-9A73-4E58-A935-385528ECCA25}" destId="{51CA60D4-669B-444D-B016-2FDB3DDE2AB9}" srcOrd="1" destOrd="0" presId="urn:microsoft.com/office/officeart/2024/layout/BulletTimeline"/>
    <dgm:cxn modelId="{2894C425-A491-4384-B312-433CD7F12299}" type="presParOf" srcId="{9FF14705-9A73-4E58-A935-385528ECCA25}" destId="{BDA0917C-A2F6-4D59-AC46-F8A9172479F5}" srcOrd="2" destOrd="0" presId="urn:microsoft.com/office/officeart/2024/layout/BulletTimeline"/>
    <dgm:cxn modelId="{AD8852A2-CBDA-463E-B2F7-1A24DE0387FA}" type="presParOf" srcId="{9FF14705-9A73-4E58-A935-385528ECCA25}" destId="{B82B9A53-4AD3-402C-90C1-0755B08BA74B}" srcOrd="3" destOrd="0" presId="urn:microsoft.com/office/officeart/2024/layout/BulletTimeline"/>
    <dgm:cxn modelId="{C1017009-ADB4-44FF-8597-9BBAF996179B}" type="presParOf" srcId="{9FF14705-9A73-4E58-A935-385528ECCA25}" destId="{3BD0A40F-65B6-43F3-B0D6-020C76D5DB92}" srcOrd="4" destOrd="0" presId="urn:microsoft.com/office/officeart/2024/layout/BulletTimeline"/>
    <dgm:cxn modelId="{9750A283-687A-4775-99A1-70879D8875C6}" type="presParOf" srcId="{3BD0A40F-65B6-43F3-B0D6-020C76D5DB92}" destId="{99A69D1D-CF3A-4624-AFD0-41380599571F}" srcOrd="0" destOrd="0" presId="urn:microsoft.com/office/officeart/2024/layout/BulletTimeline"/>
    <dgm:cxn modelId="{25320F57-7EF7-4A85-BD0B-3F04B6061ADC}" type="presParOf" srcId="{9FF14705-9A73-4E58-A935-385528ECCA25}" destId="{175669DC-7D46-45D0-BF95-D65B40064ADC}" srcOrd="5" destOrd="0" presId="urn:microsoft.com/office/officeart/2024/layout/BulletTimeline"/>
    <dgm:cxn modelId="{208F93A4-4E76-49CA-BC75-B6C29B5BD9A3}" type="presParOf" srcId="{F06DD15B-68B5-46F5-804B-21582B924267}" destId="{BAFAAEB3-7813-427E-9DE3-C3462691FAC5}" srcOrd="1" destOrd="0" presId="urn:microsoft.com/office/officeart/2024/layout/BulletTimeline"/>
    <dgm:cxn modelId="{91FECB37-777A-4663-A714-BC7A6047DB8E}" type="presParOf" srcId="{F06DD15B-68B5-46F5-804B-21582B924267}" destId="{1A23D4CF-F98D-4F23-AA35-7650FDF6A204}" srcOrd="2" destOrd="0" presId="urn:microsoft.com/office/officeart/2024/layout/BulletTimeline"/>
    <dgm:cxn modelId="{D53F4E1E-FB46-48D2-BFA2-DD2819CC1E2C}" type="presParOf" srcId="{1A23D4CF-F98D-4F23-AA35-7650FDF6A204}" destId="{DC246FF9-2045-4C68-891A-76E0AE4880D9}" srcOrd="0" destOrd="0" presId="urn:microsoft.com/office/officeart/2024/layout/BulletTimeline"/>
    <dgm:cxn modelId="{7717D4A0-689B-43F6-AFD6-FCA1EFFFE5D0}" type="presParOf" srcId="{DC246FF9-2045-4C68-891A-76E0AE4880D9}" destId="{F11E5BB0-1093-45CF-83C5-57FF90408EFF}" srcOrd="0" destOrd="0" presId="urn:microsoft.com/office/officeart/2024/layout/BulletTimeline"/>
    <dgm:cxn modelId="{58C0939A-6BA3-4125-8FBC-42CA90B594D2}" type="presParOf" srcId="{DC246FF9-2045-4C68-891A-76E0AE4880D9}" destId="{D9521C60-F248-4D9C-947D-C6313B5CBB9E}" srcOrd="1" destOrd="0" presId="urn:microsoft.com/office/officeart/2024/layout/BulletTimeline"/>
    <dgm:cxn modelId="{3DF03CD7-EDA7-45AD-9E12-9EF80BC299EA}" type="presParOf" srcId="{1A23D4CF-F98D-4F23-AA35-7650FDF6A204}" destId="{9171F19B-CE38-4558-B148-E755BD715DDC}" srcOrd="1" destOrd="0" presId="urn:microsoft.com/office/officeart/2024/layout/BulletTimeline"/>
    <dgm:cxn modelId="{9A44AA84-0587-4124-B0F4-CCBE40A1685C}" type="presParOf" srcId="{1A23D4CF-F98D-4F23-AA35-7650FDF6A204}" destId="{BEC70D54-D71C-4B6C-8BDB-8BD5D817F16E}" srcOrd="2" destOrd="0" presId="urn:microsoft.com/office/officeart/2024/layout/BulletTimeline"/>
    <dgm:cxn modelId="{DD585F08-1702-4295-8E96-E31BA8C771FE}" type="presParOf" srcId="{1A23D4CF-F98D-4F23-AA35-7650FDF6A204}" destId="{3403D4D5-D379-4786-B212-5F70102180CD}" srcOrd="3" destOrd="0" presId="urn:microsoft.com/office/officeart/2024/layout/BulletTimeline"/>
    <dgm:cxn modelId="{3422590C-46B2-4F4A-845A-B0495894FC15}" type="presParOf" srcId="{1A23D4CF-F98D-4F23-AA35-7650FDF6A204}" destId="{F87EA573-10FF-4B6B-84CB-9E5576EDF5EB}" srcOrd="4" destOrd="0" presId="urn:microsoft.com/office/officeart/2024/layout/BulletTimeline"/>
    <dgm:cxn modelId="{0FC9911C-6C3A-44A1-BAD4-6A82B65FD278}" type="presParOf" srcId="{F87EA573-10FF-4B6B-84CB-9E5576EDF5EB}" destId="{1150BD2F-9EC9-4BF7-9A09-BA144BDDD379}" srcOrd="0" destOrd="0" presId="urn:microsoft.com/office/officeart/2024/layout/BulletTimeline"/>
    <dgm:cxn modelId="{F25FC308-BF08-4264-8949-6AA41D0AEDE1}" type="presParOf" srcId="{1A23D4CF-F98D-4F23-AA35-7650FDF6A204}" destId="{65B51900-B4C5-4550-B6AE-1E91754EFA35}" srcOrd="5" destOrd="0" presId="urn:microsoft.com/office/officeart/2024/layout/BulletTimeline"/>
    <dgm:cxn modelId="{FF51206A-E32C-48F8-A536-D6C2AF2A84DF}" type="presParOf" srcId="{F06DD15B-68B5-46F5-804B-21582B924267}" destId="{7B577026-1B79-4EF9-9EA6-EA5A77E7C9A3}" srcOrd="3" destOrd="0" presId="urn:microsoft.com/office/officeart/2024/layout/BulletTimeline"/>
    <dgm:cxn modelId="{A0047053-0FA1-4B71-98E1-48317ABC1C82}" type="presParOf" srcId="{F06DD15B-68B5-46F5-804B-21582B924267}" destId="{AB9F47DE-345C-42B8-8E50-6B88D16238DC}" srcOrd="4" destOrd="0" presId="urn:microsoft.com/office/officeart/2024/layout/BulletTimeline"/>
    <dgm:cxn modelId="{1529A8D5-0174-4D8F-AC43-660EF10AAC9E}" type="presParOf" srcId="{AB9F47DE-345C-42B8-8E50-6B88D16238DC}" destId="{72810E44-C89C-4043-AB53-C02B71445AD3}" srcOrd="0" destOrd="0" presId="urn:microsoft.com/office/officeart/2024/layout/BulletTimeline"/>
    <dgm:cxn modelId="{3968A0DC-8806-4801-8A7F-B402FD7995B1}" type="presParOf" srcId="{72810E44-C89C-4043-AB53-C02B71445AD3}" destId="{A595ABB3-12C8-4EA6-A70E-75210ECA211F}" srcOrd="0" destOrd="0" presId="urn:microsoft.com/office/officeart/2024/layout/BulletTimeline"/>
    <dgm:cxn modelId="{3B056FA1-5393-479B-B9C4-2FF60F22CA51}" type="presParOf" srcId="{72810E44-C89C-4043-AB53-C02B71445AD3}" destId="{B0C96842-7191-431F-8ABE-C1544EAECD96}" srcOrd="1" destOrd="0" presId="urn:microsoft.com/office/officeart/2024/layout/BulletTimeline"/>
    <dgm:cxn modelId="{D5F7E499-7A14-4688-9EB9-9134633F9A01}" type="presParOf" srcId="{AB9F47DE-345C-42B8-8E50-6B88D16238DC}" destId="{43C548F8-B17B-4BF3-A716-33828D5A665C}" srcOrd="1" destOrd="0" presId="urn:microsoft.com/office/officeart/2024/layout/BulletTimeline"/>
    <dgm:cxn modelId="{AE07C4B4-EAFE-4B1A-A626-B69AE01D595D}" type="presParOf" srcId="{AB9F47DE-345C-42B8-8E50-6B88D16238DC}" destId="{F013F5AD-A5D3-47EF-9E1C-CBF2489E9851}" srcOrd="2" destOrd="0" presId="urn:microsoft.com/office/officeart/2024/layout/BulletTimeline"/>
    <dgm:cxn modelId="{0F247A36-3AD5-4A8C-B895-1D9683956DE2}" type="presParOf" srcId="{AB9F47DE-345C-42B8-8E50-6B88D16238DC}" destId="{D7D23847-34D0-49D0-AA92-BF61B84A31AF}" srcOrd="3" destOrd="0" presId="urn:microsoft.com/office/officeart/2024/layout/BulletTimeline"/>
    <dgm:cxn modelId="{AA02B16A-9F14-459D-8B8A-F5CA6C38FBC6}" type="presParOf" srcId="{AB9F47DE-345C-42B8-8E50-6B88D16238DC}" destId="{C8F82965-E609-46F3-BF45-8F23D92283C2}" srcOrd="4" destOrd="0" presId="urn:microsoft.com/office/officeart/2024/layout/BulletTimeline"/>
    <dgm:cxn modelId="{7A061102-3507-4E52-A0EC-6D81C5F5D495}" type="presParOf" srcId="{C8F82965-E609-46F3-BF45-8F23D92283C2}" destId="{32B5B38C-66E1-4DDD-93DE-6A604B264E1C}" srcOrd="0" destOrd="0" presId="urn:microsoft.com/office/officeart/2024/layout/BulletTimeline"/>
    <dgm:cxn modelId="{10606345-E8B7-4622-8FE8-59CE175536E5}" type="presParOf" srcId="{AB9F47DE-345C-42B8-8E50-6B88D16238DC}" destId="{B8D6048D-FC16-46A9-8394-DB50190CAAA9}" srcOrd="5" destOrd="0" presId="urn:microsoft.com/office/officeart/2024/layout/BulletTimeline"/>
    <dgm:cxn modelId="{98408BB8-4B89-476A-9559-7D1A0634E953}" type="presParOf" srcId="{F06DD15B-68B5-46F5-804B-21582B924267}" destId="{A5B68C6A-8042-4AA0-9A72-0C11BB792C5E}" srcOrd="5" destOrd="0" presId="urn:microsoft.com/office/officeart/2024/layout/BulletTimeline"/>
    <dgm:cxn modelId="{7296B26E-55A8-4DD8-8ECF-DA2C38BEA2E6}" type="presParOf" srcId="{F06DD15B-68B5-46F5-804B-21582B924267}" destId="{A23C1DA3-A524-45E5-805C-76386F5E9A09}" srcOrd="6" destOrd="0" presId="urn:microsoft.com/office/officeart/2024/layout/BulletTimeline"/>
    <dgm:cxn modelId="{6D3567DE-5B20-4338-B19C-5D6938202B94}" type="presParOf" srcId="{A23C1DA3-A524-45E5-805C-76386F5E9A09}" destId="{0DBEABFA-484C-4A9B-82F2-5B86762B4255}" srcOrd="0" destOrd="0" presId="urn:microsoft.com/office/officeart/2024/layout/BulletTimeline"/>
    <dgm:cxn modelId="{E6F82DB4-931D-42BB-AB60-D4DAF1E50238}" type="presParOf" srcId="{0DBEABFA-484C-4A9B-82F2-5B86762B4255}" destId="{921225CA-D031-4E3A-BC62-1A8ECAABFF29}" srcOrd="0" destOrd="0" presId="urn:microsoft.com/office/officeart/2024/layout/BulletTimeline"/>
    <dgm:cxn modelId="{2C103CC4-D0B0-4E76-BE4B-C3EACBF8B703}" type="presParOf" srcId="{0DBEABFA-484C-4A9B-82F2-5B86762B4255}" destId="{E7A6D014-4B7A-4439-9C4B-0886F0C6ACD6}" srcOrd="1" destOrd="0" presId="urn:microsoft.com/office/officeart/2024/layout/BulletTimeline"/>
    <dgm:cxn modelId="{02782AF5-F87A-4C3E-B795-BB6D31AC50BD}" type="presParOf" srcId="{A23C1DA3-A524-45E5-805C-76386F5E9A09}" destId="{C923E335-6E92-46A1-A588-A4D101689A8A}" srcOrd="1" destOrd="0" presId="urn:microsoft.com/office/officeart/2024/layout/BulletTimeline"/>
    <dgm:cxn modelId="{04DC7420-1BA3-427B-A855-1E83CAE73CEC}" type="presParOf" srcId="{A23C1DA3-A524-45E5-805C-76386F5E9A09}" destId="{666F7904-70AF-433B-83E8-AFFC1CB8636C}" srcOrd="2" destOrd="0" presId="urn:microsoft.com/office/officeart/2024/layout/BulletTimeline"/>
    <dgm:cxn modelId="{24AF2F5A-86C7-4440-A149-E919D4CB86D8}" type="presParOf" srcId="{A23C1DA3-A524-45E5-805C-76386F5E9A09}" destId="{D88E73FF-7706-482C-9D24-2244B2B61C77}" srcOrd="3" destOrd="0" presId="urn:microsoft.com/office/officeart/2024/layout/BulletTimeline"/>
    <dgm:cxn modelId="{F67EE7C4-CF1C-4B89-BF0A-E7145AC42D81}" type="presParOf" srcId="{A23C1DA3-A524-45E5-805C-76386F5E9A09}" destId="{05FA22B7-89C7-42B2-AEAF-99782674BC97}" srcOrd="4" destOrd="0" presId="urn:microsoft.com/office/officeart/2024/layout/BulletTimeline"/>
    <dgm:cxn modelId="{F3C22973-0998-4F78-87C4-0289E37DD395}" type="presParOf" srcId="{05FA22B7-89C7-42B2-AEAF-99782674BC97}" destId="{470EFBAE-9158-4CC3-8E25-324B06171CDF}" srcOrd="0" destOrd="0" presId="urn:microsoft.com/office/officeart/2024/layout/BulletTimeline"/>
    <dgm:cxn modelId="{AACE31ED-70C7-4B03-A692-6BC2462C18F7}" type="presParOf" srcId="{A23C1DA3-A524-45E5-805C-76386F5E9A09}" destId="{C860AC99-E301-4204-BCF7-ADE84AAEAAC4}" srcOrd="5" destOrd="0" presId="urn:microsoft.com/office/officeart/2024/layout/BulletTimeline"/>
    <dgm:cxn modelId="{DD4C6432-78CC-4C5E-BDF2-1521310D37C0}" type="presParOf" srcId="{F06DD15B-68B5-46F5-804B-21582B924267}" destId="{63F01404-48AC-4769-982B-1827BFF8DFED}" srcOrd="7" destOrd="0" presId="urn:microsoft.com/office/officeart/2024/layout/BulletTimeline"/>
    <dgm:cxn modelId="{FD206602-0AB3-4087-BEC9-88F7D2CB2408}" type="presParOf" srcId="{F06DD15B-68B5-46F5-804B-21582B924267}" destId="{E3222F29-450A-4A0D-BAED-35427497FBC9}" srcOrd="8" destOrd="0" presId="urn:microsoft.com/office/officeart/2024/layout/BulletTimeline"/>
    <dgm:cxn modelId="{D0E8349C-1F1C-4205-A6AE-CE498FE50E73}" type="presParOf" srcId="{E3222F29-450A-4A0D-BAED-35427497FBC9}" destId="{22B08A22-955F-4D2C-BBC3-410F59227AAD}" srcOrd="0" destOrd="0" presId="urn:microsoft.com/office/officeart/2024/layout/BulletTimeline"/>
    <dgm:cxn modelId="{BC68BB82-F14C-4EFA-A81A-C39CB9DB16D1}" type="presParOf" srcId="{22B08A22-955F-4D2C-BBC3-410F59227AAD}" destId="{58EFB165-8310-40AA-87BA-C8C92B00CB7B}" srcOrd="0" destOrd="0" presId="urn:microsoft.com/office/officeart/2024/layout/BulletTimeline"/>
    <dgm:cxn modelId="{EE7B43C6-24E4-4D24-A9D0-9C78D0FB28DE}" type="presParOf" srcId="{22B08A22-955F-4D2C-BBC3-410F59227AAD}" destId="{F4B6784C-96B6-4EF8-8164-B4F0B6EA744B}" srcOrd="1" destOrd="0" presId="urn:microsoft.com/office/officeart/2024/layout/BulletTimeline"/>
    <dgm:cxn modelId="{0B0EBD9B-D081-4E4A-91E4-B13BCFABE331}" type="presParOf" srcId="{E3222F29-450A-4A0D-BAED-35427497FBC9}" destId="{3019339A-19B4-4688-A71A-5E8C3986837C}" srcOrd="1" destOrd="0" presId="urn:microsoft.com/office/officeart/2024/layout/BulletTimeline"/>
    <dgm:cxn modelId="{618EBD1E-DB87-4928-BD8C-4E91F05A9DFD}" type="presParOf" srcId="{E3222F29-450A-4A0D-BAED-35427497FBC9}" destId="{7B13BCC0-DA5D-44B6-848A-36EA20DED12A}" srcOrd="2" destOrd="0" presId="urn:microsoft.com/office/officeart/2024/layout/BulletTimeline"/>
    <dgm:cxn modelId="{7A167C76-0B0F-4232-AE4B-92FAC7C6833B}" type="presParOf" srcId="{E3222F29-450A-4A0D-BAED-35427497FBC9}" destId="{453F244B-0634-4C13-BB7B-0382565616AC}" srcOrd="3" destOrd="0" presId="urn:microsoft.com/office/officeart/2024/layout/BulletTimeline"/>
    <dgm:cxn modelId="{ADD50C30-2AC1-496D-B291-486064C17AE9}" type="presParOf" srcId="{E3222F29-450A-4A0D-BAED-35427497FBC9}" destId="{5AC05B70-9C79-43C5-828D-2C63A2A9733B}" srcOrd="4" destOrd="0" presId="urn:microsoft.com/office/officeart/2024/layout/BulletTimeline"/>
    <dgm:cxn modelId="{31B17119-215B-4B60-BB65-459088B35181}" type="presParOf" srcId="{5AC05B70-9C79-43C5-828D-2C63A2A9733B}" destId="{AE65031E-39D5-4123-8E60-076394A9B516}" srcOrd="0" destOrd="0" presId="urn:microsoft.com/office/officeart/2024/layout/BulletTimeline"/>
    <dgm:cxn modelId="{50A239B7-27EE-4936-8905-F7B199D15D47}" type="presParOf" srcId="{E3222F29-450A-4A0D-BAED-35427497FBC9}" destId="{011825A1-22C2-4ED6-97C6-B9A6BB829C26}" srcOrd="5" destOrd="0" presId="urn:microsoft.com/office/officeart/2024/layout/BulletTimeline"/>
    <dgm:cxn modelId="{066FE0B1-0533-4354-BF40-F256DAD08822}" type="presParOf" srcId="{F06DD15B-68B5-46F5-804B-21582B924267}" destId="{E850DBED-284F-4ADE-956A-3065F6D483B2}" srcOrd="9" destOrd="0" presId="urn:microsoft.com/office/officeart/2024/layout/BulletTimeline"/>
    <dgm:cxn modelId="{DAAAE647-B71F-42CB-BD91-D619E57F08F5}" type="presParOf" srcId="{F06DD15B-68B5-46F5-804B-21582B924267}" destId="{F67BBAC0-654C-44B8-B5FA-A85BDE28606E}" srcOrd="10" destOrd="0" presId="urn:microsoft.com/office/officeart/2024/layout/BulletTimeline"/>
    <dgm:cxn modelId="{117CB4C4-8068-4473-9F0B-EEBBCE93ACCB}" type="presParOf" srcId="{F67BBAC0-654C-44B8-B5FA-A85BDE28606E}" destId="{7E12C81B-5BB2-4544-A045-4A1E5F587FA8}" srcOrd="0" destOrd="0" presId="urn:microsoft.com/office/officeart/2024/layout/BulletTimeline"/>
    <dgm:cxn modelId="{EE47055F-0622-44B9-975B-B126BB265176}" type="presParOf" srcId="{7E12C81B-5BB2-4544-A045-4A1E5F587FA8}" destId="{E9D1D764-0E61-4F9F-9D0F-616031862D92}" srcOrd="0" destOrd="0" presId="urn:microsoft.com/office/officeart/2024/layout/BulletTimeline"/>
    <dgm:cxn modelId="{4620715D-EE54-4D5E-BCEE-7AF908DE589D}" type="presParOf" srcId="{7E12C81B-5BB2-4544-A045-4A1E5F587FA8}" destId="{D5663595-342B-4B26-BE7F-219E11B30A9C}" srcOrd="1" destOrd="0" presId="urn:microsoft.com/office/officeart/2024/layout/BulletTimeline"/>
    <dgm:cxn modelId="{CDBC828B-25D7-4344-AA0F-06E3B96B19C8}" type="presParOf" srcId="{F67BBAC0-654C-44B8-B5FA-A85BDE28606E}" destId="{EBB2F484-E848-4F83-92BE-894A7B65C8AD}" srcOrd="1" destOrd="0" presId="urn:microsoft.com/office/officeart/2024/layout/BulletTimeline"/>
    <dgm:cxn modelId="{790D4D93-3E1B-42AE-A073-44EB554BBD90}" type="presParOf" srcId="{F67BBAC0-654C-44B8-B5FA-A85BDE28606E}" destId="{8FD59098-98C6-446C-A847-09E56EBDF1B4}" srcOrd="2" destOrd="0" presId="urn:microsoft.com/office/officeart/2024/layout/BulletTimeline"/>
    <dgm:cxn modelId="{B1F921E1-0B6F-41D7-A9B0-D76FB17E087A}" type="presParOf" srcId="{F67BBAC0-654C-44B8-B5FA-A85BDE28606E}" destId="{BA19E4A9-E5CA-4ADE-8956-4276366D77B4}" srcOrd="3" destOrd="0" presId="urn:microsoft.com/office/officeart/2024/layout/BulletTimeline"/>
    <dgm:cxn modelId="{690ED3B4-AE2E-41ED-A52F-6A10DC5A12A7}" type="presParOf" srcId="{F67BBAC0-654C-44B8-B5FA-A85BDE28606E}" destId="{948A9234-962A-4C59-8DD4-B7BE8821C54D}" srcOrd="4" destOrd="0" presId="urn:microsoft.com/office/officeart/2024/layout/BulletTimeline"/>
    <dgm:cxn modelId="{5E578C04-B734-415A-9238-C30166AC4055}" type="presParOf" srcId="{948A9234-962A-4C59-8DD4-B7BE8821C54D}" destId="{AF15D3EE-8417-489F-BE2D-7D893FFA3BDB}" srcOrd="0" destOrd="0" presId="urn:microsoft.com/office/officeart/2024/layout/BulletTimeline"/>
    <dgm:cxn modelId="{5C05E0D2-3F6E-46D2-8F39-08B9F62467FF}" type="presParOf" srcId="{F67BBAC0-654C-44B8-B5FA-A85BDE28606E}" destId="{66F02991-3D3C-4612-AD1C-A7542249AF8A}" srcOrd="5" destOrd="0" presId="urn:microsoft.com/office/officeart/2024/layout/BulletTimeline"/>
    <dgm:cxn modelId="{3B88FB4C-CCEF-4786-8CCA-F15288626ED6}" type="presParOf" srcId="{F06DD15B-68B5-46F5-804B-21582B924267}" destId="{1B0FAE2B-CFD6-4540-AFB6-679D0F23865C}" srcOrd="11" destOrd="0" presId="urn:microsoft.com/office/officeart/2024/layout/BulletTimeline"/>
    <dgm:cxn modelId="{D0AFDC8B-07CD-446D-8410-2B42EDF47C06}" type="presParOf" srcId="{F06DD15B-68B5-46F5-804B-21582B924267}" destId="{F6E93B7D-B2EE-46EB-900E-D79B913562F3}" srcOrd="12" destOrd="0" presId="urn:microsoft.com/office/officeart/2024/layout/BulletTimeline"/>
    <dgm:cxn modelId="{A2B3499E-E0BC-4BE4-A917-8F6C9AE15BB2}" type="presParOf" srcId="{F6E93B7D-B2EE-46EB-900E-D79B913562F3}" destId="{F0774DF9-5F99-4DF6-81B6-ECFF39912C06}" srcOrd="0" destOrd="0" presId="urn:microsoft.com/office/officeart/2024/layout/BulletTimeline"/>
    <dgm:cxn modelId="{50757B3C-0119-48A5-A39E-6430F3CBAE9D}" type="presParOf" srcId="{F0774DF9-5F99-4DF6-81B6-ECFF39912C06}" destId="{0ACACAEF-24FE-491E-98F3-F3A09809661D}" srcOrd="0" destOrd="0" presId="urn:microsoft.com/office/officeart/2024/layout/BulletTimeline"/>
    <dgm:cxn modelId="{B4AB340D-D38A-464F-B20F-8BFC88A94786}" type="presParOf" srcId="{F0774DF9-5F99-4DF6-81B6-ECFF39912C06}" destId="{4270B49C-BC86-41D0-9300-FD4AE00F2A0A}" srcOrd="1" destOrd="0" presId="urn:microsoft.com/office/officeart/2024/layout/BulletTimeline"/>
    <dgm:cxn modelId="{58414268-66F7-4277-892F-C88E37BDFDA3}" type="presParOf" srcId="{F6E93B7D-B2EE-46EB-900E-D79B913562F3}" destId="{5A96FEBB-F284-4573-BA0D-5CEA3BC7BE29}" srcOrd="1" destOrd="0" presId="urn:microsoft.com/office/officeart/2024/layout/BulletTimeline"/>
    <dgm:cxn modelId="{86C6F5B5-D207-4CF3-AF41-4F0E66FC3051}" type="presParOf" srcId="{F6E93B7D-B2EE-46EB-900E-D79B913562F3}" destId="{E3A14FC1-5E66-4226-A1D1-4AA6F613D8EB}" srcOrd="2" destOrd="0" presId="urn:microsoft.com/office/officeart/2024/layout/BulletTimeline"/>
    <dgm:cxn modelId="{9ED6A7E5-8FCF-4E5A-9EB4-C63D5831E016}" type="presParOf" srcId="{F6E93B7D-B2EE-46EB-900E-D79B913562F3}" destId="{A01EF575-D0D2-4427-8454-D761EF54988C}" srcOrd="3" destOrd="0" presId="urn:microsoft.com/office/officeart/2024/layout/BulletTimeline"/>
    <dgm:cxn modelId="{D0561209-D269-441C-B4A4-7C56876F1D64}" type="presParOf" srcId="{F6E93B7D-B2EE-46EB-900E-D79B913562F3}" destId="{77EAC4AC-9421-4E29-BFC2-080EC33B936B}" srcOrd="4" destOrd="0" presId="urn:microsoft.com/office/officeart/2024/layout/BulletTimeline"/>
    <dgm:cxn modelId="{59FCCF7E-D359-41F9-8121-24C1D8611B36}" type="presParOf" srcId="{77EAC4AC-9421-4E29-BFC2-080EC33B936B}" destId="{893040E6-B462-4B43-9E94-D22EF1508B70}" srcOrd="0" destOrd="0" presId="urn:microsoft.com/office/officeart/2024/layout/BulletTimeline"/>
    <dgm:cxn modelId="{76B18716-2795-4500-9CE3-FC098A699FD8}" type="presParOf" srcId="{F6E93B7D-B2EE-46EB-900E-D79B913562F3}" destId="{FA76BA4E-E3DF-4CBF-A222-1BA562BB5260}" srcOrd="5" destOrd="0" presId="urn:microsoft.com/office/officeart/2024/layout/BulletTimeline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E15A6-F1E4-440F-BE23-35F3BFD5BA0E}">
      <dsp:nvSpPr>
        <dsp:cNvPr id="0" name=""/>
        <dsp:cNvSpPr/>
      </dsp:nvSpPr>
      <dsp:spPr>
        <a:xfrm>
          <a:off x="-7751524" y="-1185565"/>
          <a:ext cx="9232557" cy="9232557"/>
        </a:xfrm>
        <a:prstGeom prst="blockArc">
          <a:avLst>
            <a:gd name="adj1" fmla="val 18900000"/>
            <a:gd name="adj2" fmla="val 2700000"/>
            <a:gd name="adj3" fmla="val 23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0BA1F-54C7-449B-AB01-10080A4E60C0}">
      <dsp:nvSpPr>
        <dsp:cNvPr id="0" name=""/>
        <dsp:cNvSpPr/>
      </dsp:nvSpPr>
      <dsp:spPr>
        <a:xfrm>
          <a:off x="481329" y="311920"/>
          <a:ext cx="11872163" cy="623566"/>
        </a:xfrm>
        <a:prstGeom prst="rect">
          <a:avLst/>
        </a:prstGeom>
        <a:solidFill>
          <a:srgbClr val="00B747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95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Check Location Center:</a:t>
          </a:r>
          <a:r>
            <a:rPr lang="en-US" sz="16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 Always start by reviewing notes on past violations for the property.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81329" y="311920"/>
        <a:ext cx="11872163" cy="623566"/>
      </dsp:txXfrm>
    </dsp:sp>
    <dsp:sp modelId="{A6CB1587-A273-4574-AA18-A865C54C4F4E}">
      <dsp:nvSpPr>
        <dsp:cNvPr id="0" name=""/>
        <dsp:cNvSpPr/>
      </dsp:nvSpPr>
      <dsp:spPr>
        <a:xfrm>
          <a:off x="91600" y="233974"/>
          <a:ext cx="779458" cy="779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DEF4E-B7E4-4DFA-BFB5-6136B5BEE74C}">
      <dsp:nvSpPr>
        <dsp:cNvPr id="0" name=""/>
        <dsp:cNvSpPr/>
      </dsp:nvSpPr>
      <dsp:spPr>
        <a:xfrm>
          <a:off x="1046024" y="1247819"/>
          <a:ext cx="11307468" cy="623566"/>
        </a:xfrm>
        <a:prstGeom prst="rect">
          <a:avLst/>
        </a:prstGeom>
        <a:solidFill>
          <a:srgbClr val="FF4E51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95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Use URD Effectively:</a:t>
          </a:r>
          <a:r>
            <a:rPr lang="en-US" sz="16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 Filter reviews by location ID, exclude owner responses and photo-only submissions, and use start date filters when needed.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046024" y="1247819"/>
        <a:ext cx="11307468" cy="623566"/>
      </dsp:txXfrm>
    </dsp:sp>
    <dsp:sp modelId="{AC13FC89-93F1-4E1C-8AD4-18BECA588499}">
      <dsp:nvSpPr>
        <dsp:cNvPr id="0" name=""/>
        <dsp:cNvSpPr/>
      </dsp:nvSpPr>
      <dsp:spPr>
        <a:xfrm>
          <a:off x="656295" y="1169873"/>
          <a:ext cx="779458" cy="779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55F43-D3C0-4CB1-8224-E736FFC10E67}">
      <dsp:nvSpPr>
        <dsp:cNvPr id="0" name=""/>
        <dsp:cNvSpPr/>
      </dsp:nvSpPr>
      <dsp:spPr>
        <a:xfrm>
          <a:off x="1355474" y="2183031"/>
          <a:ext cx="10998018" cy="623566"/>
        </a:xfrm>
        <a:prstGeom prst="rect">
          <a:avLst/>
        </a:prstGeom>
        <a:solidFill>
          <a:srgbClr val="6780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95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Batch Review Analysis: </a:t>
          </a:r>
          <a:r>
            <a:rPr lang="en-US" sz="16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Open reviews in batches of 25 using filters and tools like the </a:t>
          </a:r>
          <a:r>
            <a:rPr lang="en-US" sz="1600" b="0" i="0" u="none" kern="1200" dirty="0" err="1">
              <a:latin typeface="Poppins" panose="00000500000000000000" pitchFamily="2" charset="0"/>
              <a:cs typeface="Poppins" panose="00000500000000000000" pitchFamily="2" charset="0"/>
            </a:rPr>
            <a:t>Linkclump</a:t>
          </a:r>
          <a:r>
            <a:rPr lang="en-US" sz="16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 Chrome extension to spot patterns more efficiently.</a:t>
          </a:r>
          <a:endParaRPr lang="en-US" sz="1600" b="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355474" y="2183031"/>
        <a:ext cx="10998018" cy="623566"/>
      </dsp:txXfrm>
    </dsp:sp>
    <dsp:sp modelId="{EB512290-2910-4398-AECE-171DA311CA8F}">
      <dsp:nvSpPr>
        <dsp:cNvPr id="0" name=""/>
        <dsp:cNvSpPr/>
      </dsp:nvSpPr>
      <dsp:spPr>
        <a:xfrm>
          <a:off x="965745" y="2105085"/>
          <a:ext cx="779458" cy="779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6A3C-AC61-495D-9B4D-66E53F97BC15}">
      <dsp:nvSpPr>
        <dsp:cNvPr id="0" name=""/>
        <dsp:cNvSpPr/>
      </dsp:nvSpPr>
      <dsp:spPr>
        <a:xfrm>
          <a:off x="1454279" y="3118930"/>
          <a:ext cx="10899213" cy="623566"/>
        </a:xfrm>
        <a:prstGeom prst="rect">
          <a:avLst/>
        </a:prstGeom>
        <a:solidFill>
          <a:srgbClr val="D953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95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Exercise Judgement: </a:t>
          </a:r>
          <a:r>
            <a:rPr lang="en-US" sz="16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Evaluate patterns critically; unusual spikes are not definitive proof of fraud—consider the overall context.</a:t>
          </a:r>
          <a:endParaRPr lang="en-US" sz="1600" b="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454279" y="3118930"/>
        <a:ext cx="10899213" cy="623566"/>
      </dsp:txXfrm>
    </dsp:sp>
    <dsp:sp modelId="{04BE03F1-793C-43D7-B4D5-AA12E27E3194}">
      <dsp:nvSpPr>
        <dsp:cNvPr id="0" name=""/>
        <dsp:cNvSpPr/>
      </dsp:nvSpPr>
      <dsp:spPr>
        <a:xfrm>
          <a:off x="1064550" y="3040984"/>
          <a:ext cx="779458" cy="779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D1DB2-2A55-495A-8D5E-AC0E9E694C51}">
      <dsp:nvSpPr>
        <dsp:cNvPr id="0" name=""/>
        <dsp:cNvSpPr/>
      </dsp:nvSpPr>
      <dsp:spPr>
        <a:xfrm>
          <a:off x="1355474" y="4054828"/>
          <a:ext cx="10998018" cy="623566"/>
        </a:xfrm>
        <a:prstGeom prst="rect">
          <a:avLst/>
        </a:prstGeom>
        <a:solidFill>
          <a:srgbClr val="6780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95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Avoid Over-Communicating:</a:t>
          </a:r>
          <a:r>
            <a:rPr lang="en-US" sz="16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 Do not send incentive surveys and verification requests to the same user to prevent email fatigue.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355474" y="4054828"/>
        <a:ext cx="10998018" cy="623566"/>
      </dsp:txXfrm>
    </dsp:sp>
    <dsp:sp modelId="{72230175-C69E-4D3D-BF1A-2A429F22F9AD}">
      <dsp:nvSpPr>
        <dsp:cNvPr id="0" name=""/>
        <dsp:cNvSpPr/>
      </dsp:nvSpPr>
      <dsp:spPr>
        <a:xfrm>
          <a:off x="965745" y="3976883"/>
          <a:ext cx="779458" cy="779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ED54C-9B36-41CE-9B3B-4F86FB273195}">
      <dsp:nvSpPr>
        <dsp:cNvPr id="0" name=""/>
        <dsp:cNvSpPr/>
      </dsp:nvSpPr>
      <dsp:spPr>
        <a:xfrm>
          <a:off x="1046024" y="4990041"/>
          <a:ext cx="11307468" cy="623566"/>
        </a:xfrm>
        <a:prstGeom prst="rect">
          <a:avLst/>
        </a:prstGeom>
        <a:solidFill>
          <a:srgbClr val="FF4E51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95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Case-by-Case Approach:</a:t>
          </a:r>
          <a:r>
            <a:rPr lang="en-US" sz="16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 Use experience and training to assess each situation, as fraud patterns vary.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046024" y="4990041"/>
        <a:ext cx="11307468" cy="623566"/>
      </dsp:txXfrm>
    </dsp:sp>
    <dsp:sp modelId="{6095C59E-2DAD-4E9E-AB73-3E5BC07468DD}">
      <dsp:nvSpPr>
        <dsp:cNvPr id="0" name=""/>
        <dsp:cNvSpPr/>
      </dsp:nvSpPr>
      <dsp:spPr>
        <a:xfrm>
          <a:off x="656295" y="4912095"/>
          <a:ext cx="779458" cy="779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3F3C7-09FB-424B-A422-9C73EFF2E4D5}">
      <dsp:nvSpPr>
        <dsp:cNvPr id="0" name=""/>
        <dsp:cNvSpPr/>
      </dsp:nvSpPr>
      <dsp:spPr>
        <a:xfrm>
          <a:off x="481329" y="5925940"/>
          <a:ext cx="11872163" cy="623566"/>
        </a:xfrm>
        <a:prstGeom prst="rect">
          <a:avLst/>
        </a:prstGeom>
        <a:solidFill>
          <a:srgbClr val="00B747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95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Identify Commonalities:</a:t>
          </a:r>
          <a:r>
            <a:rPr lang="en-US" sz="16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 Look for patterns in email domains, review titles, account age, IP addresses, and review content, especially during spikes in positive reviews.</a:t>
          </a:r>
          <a:endParaRPr lang="en-US" sz="1600" b="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81329" y="5925940"/>
        <a:ext cx="11872163" cy="623566"/>
      </dsp:txXfrm>
    </dsp:sp>
    <dsp:sp modelId="{96D11287-1718-4914-B17F-8447146EDD5B}">
      <dsp:nvSpPr>
        <dsp:cNvPr id="0" name=""/>
        <dsp:cNvSpPr/>
      </dsp:nvSpPr>
      <dsp:spPr>
        <a:xfrm>
          <a:off x="91600" y="5847994"/>
          <a:ext cx="779458" cy="779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0F557-BC1A-4311-9A5C-A7B5B03AE6AC}">
      <dsp:nvSpPr>
        <dsp:cNvPr id="0" name=""/>
        <dsp:cNvSpPr/>
      </dsp:nvSpPr>
      <dsp:spPr>
        <a:xfrm>
          <a:off x="0" y="3153128"/>
          <a:ext cx="13805455" cy="63699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solidFill>
            <a:srgbClr val="00B747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F356C-6CB9-4AC0-9EE1-656489411221}">
      <dsp:nvSpPr>
        <dsp:cNvPr id="0" name=""/>
        <dsp:cNvSpPr/>
      </dsp:nvSpPr>
      <dsp:spPr>
        <a:xfrm>
          <a:off x="13478701" y="2930180"/>
          <a:ext cx="382197" cy="509596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A60D4-669B-444D-B016-2FDB3DDE2AB9}">
      <dsp:nvSpPr>
        <dsp:cNvPr id="0" name=""/>
        <dsp:cNvSpPr/>
      </dsp:nvSpPr>
      <dsp:spPr>
        <a:xfrm>
          <a:off x="765378" y="1452350"/>
          <a:ext cx="2699846" cy="1477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Poppins" panose="00000500000000000000" pitchFamily="2" charset="0"/>
              <a:cs typeface="Poppins" panose="00000500000000000000" pitchFamily="2" charset="0"/>
            </a:rPr>
            <a:t>Select your name from the drop-down menu in Column K</a:t>
          </a:r>
          <a:endParaRPr lang="en-US" sz="1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765378" y="1452350"/>
        <a:ext cx="2699846" cy="1477830"/>
      </dsp:txXfrm>
    </dsp:sp>
    <dsp:sp modelId="{BDA0917C-A2F6-4D59-AC46-F8A9172479F5}">
      <dsp:nvSpPr>
        <dsp:cNvPr id="0" name=""/>
        <dsp:cNvSpPr/>
      </dsp:nvSpPr>
      <dsp:spPr>
        <a:xfrm>
          <a:off x="765378" y="687955"/>
          <a:ext cx="2699846" cy="764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latin typeface="Poppins" panose="00000500000000000000" pitchFamily="2" charset="0"/>
              <a:cs typeface="Poppins" panose="00000500000000000000" pitchFamily="2" charset="0"/>
            </a:rPr>
            <a:t>Claim a case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765378" y="687955"/>
        <a:ext cx="2699846" cy="764394"/>
      </dsp:txXfrm>
    </dsp:sp>
    <dsp:sp modelId="{B82B9A53-4AD3-402C-90C1-0755B08BA74B}">
      <dsp:nvSpPr>
        <dsp:cNvPr id="0" name=""/>
        <dsp:cNvSpPr/>
      </dsp:nvSpPr>
      <dsp:spPr>
        <a:xfrm>
          <a:off x="358771" y="636995"/>
          <a:ext cx="47836" cy="254798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1F19B-CE38-4558-B148-E755BD715DDC}">
      <dsp:nvSpPr>
        <dsp:cNvPr id="0" name=""/>
        <dsp:cNvSpPr/>
      </dsp:nvSpPr>
      <dsp:spPr>
        <a:xfrm>
          <a:off x="2497990" y="4484449"/>
          <a:ext cx="2699846" cy="1197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Poppins" panose="00000500000000000000" pitchFamily="2" charset="0"/>
              <a:cs typeface="Poppins" panose="00000500000000000000" pitchFamily="2" charset="0"/>
            </a:rPr>
            <a:t>Do not recount removed reviews</a:t>
          </a:r>
          <a:endParaRPr lang="en-US" sz="1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2497990" y="4484449"/>
        <a:ext cx="2699846" cy="1197551"/>
      </dsp:txXfrm>
    </dsp:sp>
    <dsp:sp modelId="{BEC70D54-D71C-4B6C-8BDB-8BD5D817F16E}">
      <dsp:nvSpPr>
        <dsp:cNvPr id="0" name=""/>
        <dsp:cNvSpPr/>
      </dsp:nvSpPr>
      <dsp:spPr>
        <a:xfrm>
          <a:off x="2497990" y="3694575"/>
          <a:ext cx="2699846" cy="78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latin typeface="Poppins" panose="00000500000000000000" pitchFamily="2" charset="0"/>
              <a:cs typeface="Poppins" panose="00000500000000000000" pitchFamily="2" charset="0"/>
            </a:rPr>
            <a:t>No recount needed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2497990" y="3694575"/>
        <a:ext cx="2699846" cy="789874"/>
      </dsp:txXfrm>
    </dsp:sp>
    <dsp:sp modelId="{3403D4D5-D379-4786-B212-5F70102180CD}">
      <dsp:nvSpPr>
        <dsp:cNvPr id="0" name=""/>
        <dsp:cNvSpPr/>
      </dsp:nvSpPr>
      <dsp:spPr>
        <a:xfrm>
          <a:off x="2091383" y="3184978"/>
          <a:ext cx="47836" cy="254798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A69D1D-CF3A-4624-AFD0-41380599571F}">
      <dsp:nvSpPr>
        <dsp:cNvPr id="0" name=""/>
        <dsp:cNvSpPr/>
      </dsp:nvSpPr>
      <dsp:spPr>
        <a:xfrm>
          <a:off x="258315" y="3060604"/>
          <a:ext cx="248747" cy="2487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0BD2F-9EC9-4BF7-9A09-BA144BDDD379}">
      <dsp:nvSpPr>
        <dsp:cNvPr id="0" name=""/>
        <dsp:cNvSpPr/>
      </dsp:nvSpPr>
      <dsp:spPr>
        <a:xfrm>
          <a:off x="1990927" y="3060604"/>
          <a:ext cx="248747" cy="2487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548F8-B17B-4BF3-A716-33828D5A665C}">
      <dsp:nvSpPr>
        <dsp:cNvPr id="0" name=""/>
        <dsp:cNvSpPr/>
      </dsp:nvSpPr>
      <dsp:spPr>
        <a:xfrm>
          <a:off x="4230602" y="1452350"/>
          <a:ext cx="2699846" cy="1477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Poppins" panose="00000500000000000000" pitchFamily="2" charset="0"/>
              <a:cs typeface="Poppins" panose="00000500000000000000" pitchFamily="2" charset="0"/>
            </a:rPr>
            <a:t>Columns A-I contain initial sweep observations</a:t>
          </a:r>
          <a:endParaRPr lang="en-US" sz="1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230602" y="1452350"/>
        <a:ext cx="2699846" cy="1477830"/>
      </dsp:txXfrm>
    </dsp:sp>
    <dsp:sp modelId="{F013F5AD-A5D3-47EF-9E1C-CBF2489E9851}">
      <dsp:nvSpPr>
        <dsp:cNvPr id="0" name=""/>
        <dsp:cNvSpPr/>
      </dsp:nvSpPr>
      <dsp:spPr>
        <a:xfrm>
          <a:off x="4230602" y="687955"/>
          <a:ext cx="2699846" cy="764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latin typeface="Poppins" panose="00000500000000000000" pitchFamily="2" charset="0"/>
              <a:cs typeface="Poppins" panose="00000500000000000000" pitchFamily="2" charset="0"/>
            </a:rPr>
            <a:t>Review observations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230602" y="687955"/>
        <a:ext cx="2699846" cy="764394"/>
      </dsp:txXfrm>
    </dsp:sp>
    <dsp:sp modelId="{D7D23847-34D0-49D0-AA92-BF61B84A31AF}">
      <dsp:nvSpPr>
        <dsp:cNvPr id="0" name=""/>
        <dsp:cNvSpPr/>
      </dsp:nvSpPr>
      <dsp:spPr>
        <a:xfrm>
          <a:off x="3823995" y="636995"/>
          <a:ext cx="47836" cy="254798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3E335-6E92-46A1-A588-A4D101689A8A}">
      <dsp:nvSpPr>
        <dsp:cNvPr id="0" name=""/>
        <dsp:cNvSpPr/>
      </dsp:nvSpPr>
      <dsp:spPr>
        <a:xfrm>
          <a:off x="5963215" y="4484449"/>
          <a:ext cx="2699846" cy="1197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Poppins" panose="00000500000000000000" pitchFamily="2" charset="0"/>
              <a:cs typeface="Poppins" panose="00000500000000000000" pitchFamily="2" charset="0"/>
            </a:rPr>
            <a:t>Summarize actions taken, e.g., "Ongoing pattern of reviews from 0-day accounts, all from the property's attributes with a pw match to the owner. Removed as CB."</a:t>
          </a:r>
          <a:endParaRPr lang="en-US" sz="1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963215" y="4484449"/>
        <a:ext cx="2699846" cy="1197551"/>
      </dsp:txXfrm>
    </dsp:sp>
    <dsp:sp modelId="{666F7904-70AF-433B-83E8-AFFC1CB8636C}">
      <dsp:nvSpPr>
        <dsp:cNvPr id="0" name=""/>
        <dsp:cNvSpPr/>
      </dsp:nvSpPr>
      <dsp:spPr>
        <a:xfrm>
          <a:off x="5963215" y="3694575"/>
          <a:ext cx="2699846" cy="78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latin typeface="Poppins" panose="00000500000000000000" pitchFamily="2" charset="0"/>
              <a:cs typeface="Poppins" panose="00000500000000000000" pitchFamily="2" charset="0"/>
            </a:rPr>
            <a:t>Report actions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963215" y="3694575"/>
        <a:ext cx="2699846" cy="789874"/>
      </dsp:txXfrm>
    </dsp:sp>
    <dsp:sp modelId="{D88E73FF-7706-482C-9D24-2244B2B61C77}">
      <dsp:nvSpPr>
        <dsp:cNvPr id="0" name=""/>
        <dsp:cNvSpPr/>
      </dsp:nvSpPr>
      <dsp:spPr>
        <a:xfrm>
          <a:off x="5556608" y="3184978"/>
          <a:ext cx="47836" cy="254798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B5B38C-66E1-4DDD-93DE-6A604B264E1C}">
      <dsp:nvSpPr>
        <dsp:cNvPr id="0" name=""/>
        <dsp:cNvSpPr/>
      </dsp:nvSpPr>
      <dsp:spPr>
        <a:xfrm>
          <a:off x="3723539" y="3060604"/>
          <a:ext cx="248747" cy="2487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EFBAE-9158-4CC3-8E25-324B06171CDF}">
      <dsp:nvSpPr>
        <dsp:cNvPr id="0" name=""/>
        <dsp:cNvSpPr/>
      </dsp:nvSpPr>
      <dsp:spPr>
        <a:xfrm>
          <a:off x="5456152" y="3060604"/>
          <a:ext cx="248747" cy="2487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9339A-19B4-4688-A71A-5E8C3986837C}">
      <dsp:nvSpPr>
        <dsp:cNvPr id="0" name=""/>
        <dsp:cNvSpPr/>
      </dsp:nvSpPr>
      <dsp:spPr>
        <a:xfrm>
          <a:off x="7695827" y="1452350"/>
          <a:ext cx="2699846" cy="1477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Poppins" panose="00000500000000000000" pitchFamily="2" charset="0"/>
              <a:cs typeface="Poppins" panose="00000500000000000000" pitchFamily="2" charset="0"/>
            </a:rPr>
            <a:t>Use your CI expertise to conduct the sweep</a:t>
          </a:r>
          <a:endParaRPr lang="en-US" sz="1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7695827" y="1452350"/>
        <a:ext cx="2699846" cy="1477830"/>
      </dsp:txXfrm>
    </dsp:sp>
    <dsp:sp modelId="{7B13BCC0-DA5D-44B6-848A-36EA20DED12A}">
      <dsp:nvSpPr>
        <dsp:cNvPr id="0" name=""/>
        <dsp:cNvSpPr/>
      </dsp:nvSpPr>
      <dsp:spPr>
        <a:xfrm>
          <a:off x="7695827" y="687955"/>
          <a:ext cx="2699846" cy="764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latin typeface="Poppins" panose="00000500000000000000" pitchFamily="2" charset="0"/>
              <a:cs typeface="Poppins" panose="00000500000000000000" pitchFamily="2" charset="0"/>
            </a:rPr>
            <a:t>Perform sweep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7695827" y="687955"/>
        <a:ext cx="2699846" cy="764394"/>
      </dsp:txXfrm>
    </dsp:sp>
    <dsp:sp modelId="{453F244B-0634-4C13-BB7B-0382565616AC}">
      <dsp:nvSpPr>
        <dsp:cNvPr id="0" name=""/>
        <dsp:cNvSpPr/>
      </dsp:nvSpPr>
      <dsp:spPr>
        <a:xfrm>
          <a:off x="7289220" y="636995"/>
          <a:ext cx="47836" cy="254798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2F484-E848-4F83-92BE-894A7B65C8AD}">
      <dsp:nvSpPr>
        <dsp:cNvPr id="0" name=""/>
        <dsp:cNvSpPr/>
      </dsp:nvSpPr>
      <dsp:spPr>
        <a:xfrm>
          <a:off x="9428440" y="4484449"/>
          <a:ext cx="2699846" cy="1197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Poppins" panose="00000500000000000000" pitchFamily="2" charset="0"/>
              <a:cs typeface="Poppins" panose="00000500000000000000" pitchFamily="2" charset="0"/>
            </a:rPr>
            <a:t>Move on to the next sweep</a:t>
          </a:r>
          <a:endParaRPr lang="en-US" sz="1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9428440" y="4484449"/>
        <a:ext cx="2699846" cy="1197551"/>
      </dsp:txXfrm>
    </dsp:sp>
    <dsp:sp modelId="{8FD59098-98C6-446C-A847-09E56EBDF1B4}">
      <dsp:nvSpPr>
        <dsp:cNvPr id="0" name=""/>
        <dsp:cNvSpPr/>
      </dsp:nvSpPr>
      <dsp:spPr>
        <a:xfrm>
          <a:off x="9428440" y="3694575"/>
          <a:ext cx="2699846" cy="789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latin typeface="Poppins" panose="00000500000000000000" pitchFamily="2" charset="0"/>
              <a:cs typeface="Poppins" panose="00000500000000000000" pitchFamily="2" charset="0"/>
            </a:rPr>
            <a:t>Proceed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9428440" y="3694575"/>
        <a:ext cx="2699846" cy="789874"/>
      </dsp:txXfrm>
    </dsp:sp>
    <dsp:sp modelId="{BA19E4A9-E5CA-4ADE-8956-4276366D77B4}">
      <dsp:nvSpPr>
        <dsp:cNvPr id="0" name=""/>
        <dsp:cNvSpPr/>
      </dsp:nvSpPr>
      <dsp:spPr>
        <a:xfrm>
          <a:off x="9021832" y="3184978"/>
          <a:ext cx="47836" cy="254798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5031E-39D5-4123-8E60-076394A9B516}">
      <dsp:nvSpPr>
        <dsp:cNvPr id="0" name=""/>
        <dsp:cNvSpPr/>
      </dsp:nvSpPr>
      <dsp:spPr>
        <a:xfrm>
          <a:off x="7188764" y="3060604"/>
          <a:ext cx="248747" cy="2487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5D3EE-8417-489F-BE2D-7D893FFA3BDB}">
      <dsp:nvSpPr>
        <dsp:cNvPr id="0" name=""/>
        <dsp:cNvSpPr/>
      </dsp:nvSpPr>
      <dsp:spPr>
        <a:xfrm>
          <a:off x="8921377" y="3060604"/>
          <a:ext cx="248747" cy="2487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0B74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6FEBB-F284-4573-BA0D-5CEA3BC7BE29}">
      <dsp:nvSpPr>
        <dsp:cNvPr id="0" name=""/>
        <dsp:cNvSpPr/>
      </dsp:nvSpPr>
      <dsp:spPr>
        <a:xfrm>
          <a:off x="11161052" y="1452350"/>
          <a:ext cx="2699846" cy="1477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Poppins" panose="00000500000000000000" pitchFamily="2" charset="0"/>
              <a:cs typeface="Poppins" panose="00000500000000000000" pitchFamily="2" charset="0"/>
            </a:rPr>
            <a:t>Tick the checkbox upon completion</a:t>
          </a:r>
          <a:endParaRPr lang="en-US" sz="1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1161052" y="1452350"/>
        <a:ext cx="2699846" cy="1477830"/>
      </dsp:txXfrm>
    </dsp:sp>
    <dsp:sp modelId="{E3A14FC1-5E66-4226-A1D1-4AA6F613D8EB}">
      <dsp:nvSpPr>
        <dsp:cNvPr id="0" name=""/>
        <dsp:cNvSpPr/>
      </dsp:nvSpPr>
      <dsp:spPr>
        <a:xfrm>
          <a:off x="11161052" y="687955"/>
          <a:ext cx="2699846" cy="764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latin typeface="Poppins" panose="00000500000000000000" pitchFamily="2" charset="0"/>
              <a:cs typeface="Poppins" panose="00000500000000000000" pitchFamily="2" charset="0"/>
            </a:rPr>
            <a:t>Complete sweep</a:t>
          </a:r>
          <a:endParaRPr lang="en-US" sz="1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1161052" y="687955"/>
        <a:ext cx="2699846" cy="764394"/>
      </dsp:txXfrm>
    </dsp:sp>
    <dsp:sp modelId="{A01EF575-D0D2-4427-8454-D761EF54988C}">
      <dsp:nvSpPr>
        <dsp:cNvPr id="0" name=""/>
        <dsp:cNvSpPr/>
      </dsp:nvSpPr>
      <dsp:spPr>
        <a:xfrm>
          <a:off x="10754445" y="636995"/>
          <a:ext cx="47836" cy="254798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3040E6-B462-4B43-9E94-D22EF1508B70}">
      <dsp:nvSpPr>
        <dsp:cNvPr id="0" name=""/>
        <dsp:cNvSpPr/>
      </dsp:nvSpPr>
      <dsp:spPr>
        <a:xfrm>
          <a:off x="10653989" y="3060604"/>
          <a:ext cx="248747" cy="2487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8E862-A48E-4CAB-BB64-AD172D06ED5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F337C-66BA-419F-B340-698E2EA14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2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F8-E698-E80A-0499-BCB8B2AC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76C0A-BF19-E227-8E52-6716390C1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23B13-8842-E634-C692-1E4CF9C80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33A3-DFBE-E4DE-99E9-E6A34AD5A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927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8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12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2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6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9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8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8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6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2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09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43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89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5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17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33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354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17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36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84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23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1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690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849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1"/>
            <a:ext cx="155448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7"/>
            <a:ext cx="155448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857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52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1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730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910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382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546100"/>
            <a:ext cx="6016626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1"/>
            <a:ext cx="1022350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2870201"/>
            <a:ext cx="6016626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912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0"/>
            <a:ext cx="10972800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50"/>
            <a:ext cx="109728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6"/>
            <a:ext cx="10972800" cy="160972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888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514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7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7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F32EB-524B-4883-A106-602FB594646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C9CDB-4B2E-46C9-A447-CDA3821A6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46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7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1"/>
            <a:ext cx="16459200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1"/>
            <a:ext cx="5791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6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914400" rtl="0" eaLnBrk="1" latinLnBrk="0" hangingPunct="1">
        <a:spcBef>
          <a:spcPct val="20000"/>
        </a:spcBef>
        <a:buFont typeface="Arial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914400" rtl="0" eaLnBrk="1" latinLnBrk="0" hangingPunct="1">
        <a:spcBef>
          <a:spcPct val="20000"/>
        </a:spcBef>
        <a:buFont typeface="Arial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914400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914400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914400" rtl="0" eaLnBrk="1" latinLnBrk="0" hangingPunct="1">
        <a:spcBef>
          <a:spcPct val="20000"/>
        </a:spcBef>
        <a:buFont typeface="Arial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F_77B9624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microsoft.com/office/2018/10/relationships/comments" Target="../comments/modernComment_103_824D81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38.svg"/><Relationship Id="rId5" Type="http://schemas.openxmlformats.org/officeDocument/2006/relationships/diagramColors" Target="../diagrams/colors2.xml"/><Relationship Id="rId10" Type="http://schemas.openxmlformats.org/officeDocument/2006/relationships/image" Target="../media/image37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6.svg"/><Relationship Id="rId1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C1591-E9F8-AD2B-80A0-96AE30EA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42019C-DF6A-B28B-7B35-219403E50192}"/>
              </a:ext>
            </a:extLst>
          </p:cNvPr>
          <p:cNvSpPr/>
          <p:nvPr/>
        </p:nvSpPr>
        <p:spPr>
          <a:xfrm flipV="1">
            <a:off x="11553949" y="231443"/>
            <a:ext cx="0" cy="9824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420028D-DB96-D3B4-BAB5-D0559D4C95C2}"/>
              </a:ext>
            </a:extLst>
          </p:cNvPr>
          <p:cNvSpPr/>
          <p:nvPr/>
        </p:nvSpPr>
        <p:spPr>
          <a:xfrm flipV="1">
            <a:off x="485862" y="9105900"/>
            <a:ext cx="10742228" cy="1905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5E3EBE-D543-A7A1-ACEF-87739EB0156F}"/>
              </a:ext>
            </a:extLst>
          </p:cNvPr>
          <p:cNvGrpSpPr/>
          <p:nvPr/>
        </p:nvGrpSpPr>
        <p:grpSpPr>
          <a:xfrm>
            <a:off x="8915406" y="5918749"/>
            <a:ext cx="1295394" cy="231522"/>
            <a:chOff x="1447800" y="6531228"/>
            <a:chExt cx="1295394" cy="23152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AEE2A08-980F-9BC5-99A4-EA676ACC2D4A}"/>
                </a:ext>
              </a:extLst>
            </p:cNvPr>
            <p:cNvSpPr/>
            <p:nvPr/>
          </p:nvSpPr>
          <p:spPr>
            <a:xfrm>
              <a:off x="1447800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F7844A5-A88F-4C81-2653-485016AD8668}"/>
                </a:ext>
              </a:extLst>
            </p:cNvPr>
            <p:cNvSpPr/>
            <p:nvPr/>
          </p:nvSpPr>
          <p:spPr>
            <a:xfrm>
              <a:off x="1714499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330DDF-0565-252C-05FD-2AD2ACD8E2BB}"/>
                </a:ext>
              </a:extLst>
            </p:cNvPr>
            <p:cNvSpPr/>
            <p:nvPr/>
          </p:nvSpPr>
          <p:spPr>
            <a:xfrm>
              <a:off x="1981198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638375-5507-FCDD-DA16-870BD61BBC90}"/>
                </a:ext>
              </a:extLst>
            </p:cNvPr>
            <p:cNvSpPr/>
            <p:nvPr/>
          </p:nvSpPr>
          <p:spPr>
            <a:xfrm>
              <a:off x="2247897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130F05-ED69-8556-A5C7-7DBE28F5ADCF}"/>
                </a:ext>
              </a:extLst>
            </p:cNvPr>
            <p:cNvSpPr/>
            <p:nvPr/>
          </p:nvSpPr>
          <p:spPr>
            <a:xfrm>
              <a:off x="2514596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25" name="Picture 24" descr="ollie_green.png">
            <a:extLst>
              <a:ext uri="{FF2B5EF4-FFF2-40B4-BE49-F238E27FC236}">
                <a16:creationId xmlns:a16="http://schemas.microsoft.com/office/drawing/2014/main" id="{D88517DE-472D-3B3A-346F-6AB33072CAF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9861413" y="9414663"/>
            <a:ext cx="949727" cy="605350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7D8F050D-17AC-0C0A-4D23-CFEF1D38BBFB}"/>
              </a:ext>
            </a:extLst>
          </p:cNvPr>
          <p:cNvSpPr txBox="1"/>
          <p:nvPr/>
        </p:nvSpPr>
        <p:spPr>
          <a:xfrm>
            <a:off x="819256" y="495300"/>
            <a:ext cx="9925174" cy="503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“Module: </a:t>
            </a:r>
          </a:p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Property Sweeps”</a:t>
            </a:r>
            <a:endParaRPr kumimoji="0" lang="en-US" sz="9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20086380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A19C5-FFB3-BA05-87DD-26F03ECF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7D759968-BD81-3676-0C17-008D96AC8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F17FE4DE-C452-F70F-87B9-814FAC5A7F87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5FCC14B-AA34-30A0-4938-E11F76CE15CA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F058CB9-8C66-7199-F487-B4CDD2F1744A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759FB1-1BA2-422F-8304-0348F87C8AD3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5275D9B-37E6-EAA1-0F37-377691AE44A8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DB66244-FF6E-2733-CA4C-08EE7D224C8B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BFCC97F-7003-A209-7394-ED20544468FD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6BFED05B-87EA-AB54-14AC-DE79C7559A2C}"/>
              </a:ext>
            </a:extLst>
          </p:cNvPr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0"/>
              </a:lnSpc>
              <a:defRPr/>
            </a:pPr>
            <a:r>
              <a:rPr lang="en-US" sz="7500" b="1" dirty="0">
                <a:solidFill>
                  <a:srgbClr val="002B11"/>
                </a:solidFill>
                <a:latin typeface="Poppins Black"/>
                <a:ea typeface="Poppins Bold"/>
                <a:cs typeface="Poppins Black"/>
                <a:sym typeface="Poppins Bold"/>
              </a:rPr>
              <a:t>01</a:t>
            </a: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Poppins Bold"/>
                <a:cs typeface="Poppins Black"/>
                <a:sym typeface="Poppins Bold"/>
              </a:rPr>
              <a:t>. </a:t>
            </a:r>
            <a:r>
              <a:rPr lang="en-US" sz="7500" b="1" dirty="0">
                <a:solidFill>
                  <a:srgbClr val="002B11"/>
                </a:solidFill>
                <a:latin typeface="Poppins Black"/>
                <a:cs typeface="Poppins Black"/>
                <a:sym typeface="Poppins Bold"/>
              </a:rPr>
              <a:t>Property Sweep - Overview</a:t>
            </a:r>
            <a:endParaRPr lang="en-US" sz="7500" b="1" dirty="0">
              <a:solidFill>
                <a:srgbClr val="002B11"/>
              </a:solidFill>
              <a:latin typeface="Poppins Black"/>
              <a:cs typeface="Poppins Black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CB319FC-F4D9-A182-56A0-2D544D0B0127}"/>
              </a:ext>
            </a:extLst>
          </p:cNvPr>
          <p:cNvSpPr txBox="1"/>
          <p:nvPr/>
        </p:nvSpPr>
        <p:spPr>
          <a:xfrm>
            <a:off x="1440267" y="804806"/>
            <a:ext cx="141624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 panose="00000A00000000000000" pitchFamily="2" charset="0"/>
                <a:ea typeface="Poppins Bold"/>
                <a:cs typeface="Poppins Black" panose="00000A00000000000000" pitchFamily="2" charset="0"/>
                <a:sym typeface="Poppins Bold"/>
              </a:rPr>
              <a:t>Dubai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8C0C434-5E3C-2E9F-C0E4-1A709474549D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E5476AD-EE7D-D197-4953-8451205D04E1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2E218050-7FAA-3EA5-C759-3820927C166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E7418E03-9054-48AF-23FE-2730BE7FA642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FAF04D37-BC3D-0DBE-13C8-57DA31703061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EBAA908B-613E-34FA-F734-85A976D696C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54342531-49EB-9D9F-DDAC-B9D7F92DCD7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485342A-5766-2882-2898-41194FB1F131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AB2632BD-684F-46E2-82A6-3782E94A185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B2155349-5A57-7047-28DC-0F7CC95C2D7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BD3E6D3D-8904-FFB8-7614-E6D1548A7EB2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1521BA0A-42DF-8B58-EA11-365DAC0AA6C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5077010F-26D3-26DB-520B-FF8470D6D17B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F554A8B0-B020-86B2-55F3-BB03C63CC840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3B9A45F5-4F9A-727F-72A0-AAE307434BF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4A761854-9808-21FB-2F28-115A8FD9E98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046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470714"/>
            <a:ext cx="10458889" cy="1459582"/>
            <a:chOff x="0" y="0"/>
            <a:chExt cx="13945186" cy="1946110"/>
          </a:xfrm>
        </p:grpSpPr>
        <p:grpSp>
          <p:nvGrpSpPr>
            <p:cNvPr id="3" name="Group 3"/>
            <p:cNvGrpSpPr/>
            <p:nvPr/>
          </p:nvGrpSpPr>
          <p:grpSpPr>
            <a:xfrm>
              <a:off x="143090" y="330381"/>
              <a:ext cx="13802096" cy="1615729"/>
              <a:chOff x="0" y="0"/>
              <a:chExt cx="2726340" cy="31915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26340" cy="319156"/>
              </a:xfrm>
              <a:custGeom>
                <a:avLst/>
                <a:gdLst/>
                <a:ahLst/>
                <a:cxnLst/>
                <a:rect l="l" t="t" r="r" b="b"/>
                <a:pathLst>
                  <a:path w="2726340" h="319156">
                    <a:moveTo>
                      <a:pt x="38143" y="0"/>
                    </a:moveTo>
                    <a:lnTo>
                      <a:pt x="2688197" y="0"/>
                    </a:lnTo>
                    <a:cubicBezTo>
                      <a:pt x="2698313" y="0"/>
                      <a:pt x="2708015" y="4019"/>
                      <a:pt x="2715168" y="11172"/>
                    </a:cubicBezTo>
                    <a:cubicBezTo>
                      <a:pt x="2722321" y="18325"/>
                      <a:pt x="2726340" y="28027"/>
                      <a:pt x="2726340" y="38143"/>
                    </a:cubicBezTo>
                    <a:lnTo>
                      <a:pt x="2726340" y="281014"/>
                    </a:lnTo>
                    <a:cubicBezTo>
                      <a:pt x="2726340" y="291130"/>
                      <a:pt x="2722321" y="300831"/>
                      <a:pt x="2715168" y="307985"/>
                    </a:cubicBezTo>
                    <a:cubicBezTo>
                      <a:pt x="2708015" y="315138"/>
                      <a:pt x="2698313" y="319156"/>
                      <a:pt x="2688197" y="319156"/>
                    </a:cubicBezTo>
                    <a:lnTo>
                      <a:pt x="38143" y="319156"/>
                    </a:lnTo>
                    <a:cubicBezTo>
                      <a:pt x="28027" y="319156"/>
                      <a:pt x="18325" y="315138"/>
                      <a:pt x="11172" y="307985"/>
                    </a:cubicBezTo>
                    <a:cubicBezTo>
                      <a:pt x="4019" y="300831"/>
                      <a:pt x="0" y="291130"/>
                      <a:pt x="0" y="281014"/>
                    </a:cubicBezTo>
                    <a:lnTo>
                      <a:pt x="0" y="38143"/>
                    </a:lnTo>
                    <a:cubicBezTo>
                      <a:pt x="0" y="28027"/>
                      <a:pt x="4019" y="18325"/>
                      <a:pt x="11172" y="11172"/>
                    </a:cubicBezTo>
                    <a:cubicBezTo>
                      <a:pt x="18325" y="4019"/>
                      <a:pt x="28027" y="0"/>
                      <a:pt x="38143" y="0"/>
                    </a:cubicBezTo>
                    <a:close/>
                  </a:path>
                </a:pathLst>
              </a:custGeom>
              <a:solidFill>
                <a:srgbClr val="9DFBA8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57150"/>
                <a:ext cx="2726340" cy="376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07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990961" cy="99096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07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10367" y="119134"/>
              <a:ext cx="821027" cy="821027"/>
            </a:xfrm>
            <a:custGeom>
              <a:avLst/>
              <a:gdLst/>
              <a:ahLst/>
              <a:cxnLst/>
              <a:rect l="l" t="t" r="r" b="b"/>
              <a:pathLst>
                <a:path w="821027" h="821027">
                  <a:moveTo>
                    <a:pt x="0" y="0"/>
                  </a:moveTo>
                  <a:lnTo>
                    <a:pt x="821027" y="0"/>
                  </a:lnTo>
                  <a:lnTo>
                    <a:pt x="821027" y="821027"/>
                  </a:lnTo>
                  <a:lnTo>
                    <a:pt x="0" y="821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8689" y="594940"/>
              <a:ext cx="12806496" cy="102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99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Bold"/>
                  <a:ea typeface="Poppins Bold"/>
                  <a:cs typeface="Poppins Bold"/>
                  <a:sym typeface="Poppins Bold"/>
                </a:rPr>
                <a:t>Purpose: </a:t>
              </a:r>
              <a:r>
                <a:rPr kumimoji="0" lang="en-US" sz="21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Ensure authenticity, and integrity of property reviews by detecting and addressing fraudulent activities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1487589" y="3503168"/>
            <a:ext cx="4944748" cy="5080220"/>
          </a:xfrm>
          <a:custGeom>
            <a:avLst/>
            <a:gdLst/>
            <a:ahLst/>
            <a:cxnLst/>
            <a:rect l="l" t="t" r="r" b="b"/>
            <a:pathLst>
              <a:path w="4944748" h="5080220">
                <a:moveTo>
                  <a:pt x="0" y="0"/>
                </a:moveTo>
                <a:lnTo>
                  <a:pt x="4944748" y="0"/>
                </a:lnTo>
                <a:lnTo>
                  <a:pt x="4944748" y="5080220"/>
                </a:lnTo>
                <a:lnTo>
                  <a:pt x="0" y="5080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518381"/>
            <a:ext cx="10318316" cy="3499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470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Sweeps may also be initiated proactively, even without end-user allegations, based on internal observations</a:t>
            </a:r>
          </a:p>
          <a:p>
            <a:pPr marL="474979" marR="0" lvl="1" indent="-237490" algn="l" defTabSz="914400" rtl="0" eaLnBrk="1" fontAlgn="auto" latinLnBrk="0" hangingPunct="1">
              <a:lnSpc>
                <a:spcPts val="470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Upon general fraud allegations, review related content and take investigative action</a:t>
            </a:r>
          </a:p>
          <a:p>
            <a:pPr marL="474979" marR="0" lvl="1" indent="-237490" algn="l" defTabSz="914400" rtl="0" eaLnBrk="1" fontAlgn="auto" latinLnBrk="0" hangingPunct="1">
              <a:lnSpc>
                <a:spcPts val="470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For specific allegations, verify claims using tools or social media; request evidence if unverified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85825"/>
            <a:ext cx="8961983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What is a Property Sweep?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217039"/>
            <a:ext cx="14518132" cy="847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 property sweep is a thorough investigation into multiple reviews for a specific property. Conducted when there is an allegation or detection of suspicious patterns such as fraud, incentives, or vandalism.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0676" y="2628995"/>
            <a:ext cx="5529745" cy="2823480"/>
            <a:chOff x="0" y="0"/>
            <a:chExt cx="2639956" cy="134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39956" cy="1347958"/>
            </a:xfrm>
            <a:custGeom>
              <a:avLst/>
              <a:gdLst/>
              <a:ahLst/>
              <a:cxnLst/>
              <a:rect l="l" t="t" r="r" b="b"/>
              <a:pathLst>
                <a:path w="2639956" h="1347958">
                  <a:moveTo>
                    <a:pt x="0" y="0"/>
                  </a:moveTo>
                  <a:lnTo>
                    <a:pt x="2639956" y="0"/>
                  </a:lnTo>
                  <a:lnTo>
                    <a:pt x="2639956" y="1347958"/>
                  </a:lnTo>
                  <a:lnTo>
                    <a:pt x="0" y="1347958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39956" cy="139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5236" y="2762430"/>
            <a:ext cx="5120624" cy="2551273"/>
            <a:chOff x="0" y="0"/>
            <a:chExt cx="2444638" cy="12180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638" cy="1218004"/>
            </a:xfrm>
            <a:custGeom>
              <a:avLst/>
              <a:gdLst/>
              <a:ahLst/>
              <a:cxnLst/>
              <a:rect l="l" t="t" r="r" b="b"/>
              <a:pathLst>
                <a:path w="2444638" h="1218004">
                  <a:moveTo>
                    <a:pt x="77107" y="0"/>
                  </a:moveTo>
                  <a:lnTo>
                    <a:pt x="2367531" y="0"/>
                  </a:lnTo>
                  <a:cubicBezTo>
                    <a:pt x="2387981" y="0"/>
                    <a:pt x="2407594" y="8124"/>
                    <a:pt x="2422054" y="22584"/>
                  </a:cubicBezTo>
                  <a:cubicBezTo>
                    <a:pt x="2436514" y="37045"/>
                    <a:pt x="2444638" y="56657"/>
                    <a:pt x="2444638" y="77107"/>
                  </a:cubicBezTo>
                  <a:lnTo>
                    <a:pt x="2444638" y="1140896"/>
                  </a:lnTo>
                  <a:cubicBezTo>
                    <a:pt x="2444638" y="1161346"/>
                    <a:pt x="2436514" y="1180959"/>
                    <a:pt x="2422054" y="1195419"/>
                  </a:cubicBezTo>
                  <a:cubicBezTo>
                    <a:pt x="2407594" y="1209880"/>
                    <a:pt x="2387981" y="1218004"/>
                    <a:pt x="2367531" y="1218004"/>
                  </a:cubicBezTo>
                  <a:lnTo>
                    <a:pt x="77107" y="1218004"/>
                  </a:lnTo>
                  <a:cubicBezTo>
                    <a:pt x="34522" y="1218004"/>
                    <a:pt x="0" y="1183482"/>
                    <a:pt x="0" y="1140896"/>
                  </a:cubicBezTo>
                  <a:lnTo>
                    <a:pt x="0" y="77107"/>
                  </a:lnTo>
                  <a:cubicBezTo>
                    <a:pt x="0" y="34522"/>
                    <a:pt x="34522" y="0"/>
                    <a:pt x="77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444638" cy="1265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79128" y="2615247"/>
            <a:ext cx="5529745" cy="2823480"/>
            <a:chOff x="0" y="0"/>
            <a:chExt cx="2639956" cy="13479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39956" cy="1347958"/>
            </a:xfrm>
            <a:custGeom>
              <a:avLst/>
              <a:gdLst/>
              <a:ahLst/>
              <a:cxnLst/>
              <a:rect l="l" t="t" r="r" b="b"/>
              <a:pathLst>
                <a:path w="2639956" h="1347958">
                  <a:moveTo>
                    <a:pt x="0" y="0"/>
                  </a:moveTo>
                  <a:lnTo>
                    <a:pt x="2639956" y="0"/>
                  </a:lnTo>
                  <a:lnTo>
                    <a:pt x="2639956" y="1347958"/>
                  </a:lnTo>
                  <a:lnTo>
                    <a:pt x="0" y="1347958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39956" cy="139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83688" y="2748682"/>
            <a:ext cx="5120624" cy="2551273"/>
            <a:chOff x="0" y="0"/>
            <a:chExt cx="2444638" cy="12180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4638" cy="1218004"/>
            </a:xfrm>
            <a:custGeom>
              <a:avLst/>
              <a:gdLst/>
              <a:ahLst/>
              <a:cxnLst/>
              <a:rect l="l" t="t" r="r" b="b"/>
              <a:pathLst>
                <a:path w="2444638" h="1218004">
                  <a:moveTo>
                    <a:pt x="77107" y="0"/>
                  </a:moveTo>
                  <a:lnTo>
                    <a:pt x="2367531" y="0"/>
                  </a:lnTo>
                  <a:cubicBezTo>
                    <a:pt x="2387981" y="0"/>
                    <a:pt x="2407594" y="8124"/>
                    <a:pt x="2422054" y="22584"/>
                  </a:cubicBezTo>
                  <a:cubicBezTo>
                    <a:pt x="2436514" y="37045"/>
                    <a:pt x="2444638" y="56657"/>
                    <a:pt x="2444638" y="77107"/>
                  </a:cubicBezTo>
                  <a:lnTo>
                    <a:pt x="2444638" y="1140896"/>
                  </a:lnTo>
                  <a:cubicBezTo>
                    <a:pt x="2444638" y="1161346"/>
                    <a:pt x="2436514" y="1180959"/>
                    <a:pt x="2422054" y="1195419"/>
                  </a:cubicBezTo>
                  <a:cubicBezTo>
                    <a:pt x="2407594" y="1209880"/>
                    <a:pt x="2387981" y="1218004"/>
                    <a:pt x="2367531" y="1218004"/>
                  </a:cubicBezTo>
                  <a:lnTo>
                    <a:pt x="77107" y="1218004"/>
                  </a:lnTo>
                  <a:cubicBezTo>
                    <a:pt x="34522" y="1218004"/>
                    <a:pt x="0" y="1183482"/>
                    <a:pt x="0" y="1140896"/>
                  </a:cubicBezTo>
                  <a:lnTo>
                    <a:pt x="0" y="77107"/>
                  </a:lnTo>
                  <a:cubicBezTo>
                    <a:pt x="0" y="34522"/>
                    <a:pt x="34522" y="0"/>
                    <a:pt x="77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444638" cy="1265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07579" y="2601499"/>
            <a:ext cx="5529745" cy="2823480"/>
            <a:chOff x="0" y="0"/>
            <a:chExt cx="2639956" cy="13479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39956" cy="1347958"/>
            </a:xfrm>
            <a:custGeom>
              <a:avLst/>
              <a:gdLst/>
              <a:ahLst/>
              <a:cxnLst/>
              <a:rect l="l" t="t" r="r" b="b"/>
              <a:pathLst>
                <a:path w="2639956" h="1347958">
                  <a:moveTo>
                    <a:pt x="0" y="0"/>
                  </a:moveTo>
                  <a:lnTo>
                    <a:pt x="2639956" y="0"/>
                  </a:lnTo>
                  <a:lnTo>
                    <a:pt x="2639956" y="1347958"/>
                  </a:lnTo>
                  <a:lnTo>
                    <a:pt x="0" y="1347958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639956" cy="139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12139" y="2734934"/>
            <a:ext cx="5120624" cy="2551273"/>
            <a:chOff x="0" y="0"/>
            <a:chExt cx="2444638" cy="12180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44638" cy="1218004"/>
            </a:xfrm>
            <a:custGeom>
              <a:avLst/>
              <a:gdLst/>
              <a:ahLst/>
              <a:cxnLst/>
              <a:rect l="l" t="t" r="r" b="b"/>
              <a:pathLst>
                <a:path w="2444638" h="1218004">
                  <a:moveTo>
                    <a:pt x="77107" y="0"/>
                  </a:moveTo>
                  <a:lnTo>
                    <a:pt x="2367531" y="0"/>
                  </a:lnTo>
                  <a:cubicBezTo>
                    <a:pt x="2387981" y="0"/>
                    <a:pt x="2407594" y="8124"/>
                    <a:pt x="2422054" y="22584"/>
                  </a:cubicBezTo>
                  <a:cubicBezTo>
                    <a:pt x="2436514" y="37045"/>
                    <a:pt x="2444638" y="56657"/>
                    <a:pt x="2444638" y="77107"/>
                  </a:cubicBezTo>
                  <a:lnTo>
                    <a:pt x="2444638" y="1140896"/>
                  </a:lnTo>
                  <a:cubicBezTo>
                    <a:pt x="2444638" y="1161346"/>
                    <a:pt x="2436514" y="1180959"/>
                    <a:pt x="2422054" y="1195419"/>
                  </a:cubicBezTo>
                  <a:cubicBezTo>
                    <a:pt x="2407594" y="1209880"/>
                    <a:pt x="2387981" y="1218004"/>
                    <a:pt x="2367531" y="1218004"/>
                  </a:cubicBezTo>
                  <a:lnTo>
                    <a:pt x="77107" y="1218004"/>
                  </a:lnTo>
                  <a:cubicBezTo>
                    <a:pt x="34522" y="1218004"/>
                    <a:pt x="0" y="1183482"/>
                    <a:pt x="0" y="1140896"/>
                  </a:cubicBezTo>
                  <a:lnTo>
                    <a:pt x="0" y="77107"/>
                  </a:lnTo>
                  <a:cubicBezTo>
                    <a:pt x="0" y="34522"/>
                    <a:pt x="34522" y="0"/>
                    <a:pt x="77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444638" cy="1265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0676" y="6434820"/>
            <a:ext cx="5529745" cy="2823480"/>
            <a:chOff x="0" y="0"/>
            <a:chExt cx="2639956" cy="13479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39956" cy="1347958"/>
            </a:xfrm>
            <a:custGeom>
              <a:avLst/>
              <a:gdLst/>
              <a:ahLst/>
              <a:cxnLst/>
              <a:rect l="l" t="t" r="r" b="b"/>
              <a:pathLst>
                <a:path w="2639956" h="1347958">
                  <a:moveTo>
                    <a:pt x="0" y="0"/>
                  </a:moveTo>
                  <a:lnTo>
                    <a:pt x="2639956" y="0"/>
                  </a:lnTo>
                  <a:lnTo>
                    <a:pt x="2639956" y="1347958"/>
                  </a:lnTo>
                  <a:lnTo>
                    <a:pt x="0" y="1347958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639956" cy="139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5236" y="6568255"/>
            <a:ext cx="5120624" cy="2551273"/>
            <a:chOff x="0" y="0"/>
            <a:chExt cx="2444638" cy="121800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44638" cy="1218004"/>
            </a:xfrm>
            <a:custGeom>
              <a:avLst/>
              <a:gdLst/>
              <a:ahLst/>
              <a:cxnLst/>
              <a:rect l="l" t="t" r="r" b="b"/>
              <a:pathLst>
                <a:path w="2444638" h="1218004">
                  <a:moveTo>
                    <a:pt x="77107" y="0"/>
                  </a:moveTo>
                  <a:lnTo>
                    <a:pt x="2367531" y="0"/>
                  </a:lnTo>
                  <a:cubicBezTo>
                    <a:pt x="2387981" y="0"/>
                    <a:pt x="2407594" y="8124"/>
                    <a:pt x="2422054" y="22584"/>
                  </a:cubicBezTo>
                  <a:cubicBezTo>
                    <a:pt x="2436514" y="37045"/>
                    <a:pt x="2444638" y="56657"/>
                    <a:pt x="2444638" y="77107"/>
                  </a:cubicBezTo>
                  <a:lnTo>
                    <a:pt x="2444638" y="1140896"/>
                  </a:lnTo>
                  <a:cubicBezTo>
                    <a:pt x="2444638" y="1161346"/>
                    <a:pt x="2436514" y="1180959"/>
                    <a:pt x="2422054" y="1195419"/>
                  </a:cubicBezTo>
                  <a:cubicBezTo>
                    <a:pt x="2407594" y="1209880"/>
                    <a:pt x="2387981" y="1218004"/>
                    <a:pt x="2367531" y="1218004"/>
                  </a:cubicBezTo>
                  <a:lnTo>
                    <a:pt x="77107" y="1218004"/>
                  </a:lnTo>
                  <a:cubicBezTo>
                    <a:pt x="34522" y="1218004"/>
                    <a:pt x="0" y="1183482"/>
                    <a:pt x="0" y="1140896"/>
                  </a:cubicBezTo>
                  <a:lnTo>
                    <a:pt x="0" y="77107"/>
                  </a:lnTo>
                  <a:cubicBezTo>
                    <a:pt x="0" y="34522"/>
                    <a:pt x="34522" y="0"/>
                    <a:pt x="77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444638" cy="1265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79128" y="6421072"/>
            <a:ext cx="5529745" cy="2823480"/>
            <a:chOff x="0" y="0"/>
            <a:chExt cx="2639956" cy="134795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39956" cy="1347958"/>
            </a:xfrm>
            <a:custGeom>
              <a:avLst/>
              <a:gdLst/>
              <a:ahLst/>
              <a:cxnLst/>
              <a:rect l="l" t="t" r="r" b="b"/>
              <a:pathLst>
                <a:path w="2639956" h="1347958">
                  <a:moveTo>
                    <a:pt x="0" y="0"/>
                  </a:moveTo>
                  <a:lnTo>
                    <a:pt x="2639956" y="0"/>
                  </a:lnTo>
                  <a:lnTo>
                    <a:pt x="2639956" y="1347958"/>
                  </a:lnTo>
                  <a:lnTo>
                    <a:pt x="0" y="1347958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2639956" cy="139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83688" y="6554507"/>
            <a:ext cx="5120624" cy="2551273"/>
            <a:chOff x="0" y="0"/>
            <a:chExt cx="2444638" cy="121800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44638" cy="1218004"/>
            </a:xfrm>
            <a:custGeom>
              <a:avLst/>
              <a:gdLst/>
              <a:ahLst/>
              <a:cxnLst/>
              <a:rect l="l" t="t" r="r" b="b"/>
              <a:pathLst>
                <a:path w="2444638" h="1218004">
                  <a:moveTo>
                    <a:pt x="77107" y="0"/>
                  </a:moveTo>
                  <a:lnTo>
                    <a:pt x="2367531" y="0"/>
                  </a:lnTo>
                  <a:cubicBezTo>
                    <a:pt x="2387981" y="0"/>
                    <a:pt x="2407594" y="8124"/>
                    <a:pt x="2422054" y="22584"/>
                  </a:cubicBezTo>
                  <a:cubicBezTo>
                    <a:pt x="2436514" y="37045"/>
                    <a:pt x="2444638" y="56657"/>
                    <a:pt x="2444638" y="77107"/>
                  </a:cubicBezTo>
                  <a:lnTo>
                    <a:pt x="2444638" y="1140896"/>
                  </a:lnTo>
                  <a:cubicBezTo>
                    <a:pt x="2444638" y="1161346"/>
                    <a:pt x="2436514" y="1180959"/>
                    <a:pt x="2422054" y="1195419"/>
                  </a:cubicBezTo>
                  <a:cubicBezTo>
                    <a:pt x="2407594" y="1209880"/>
                    <a:pt x="2387981" y="1218004"/>
                    <a:pt x="2367531" y="1218004"/>
                  </a:cubicBezTo>
                  <a:lnTo>
                    <a:pt x="77107" y="1218004"/>
                  </a:lnTo>
                  <a:cubicBezTo>
                    <a:pt x="34522" y="1218004"/>
                    <a:pt x="0" y="1183482"/>
                    <a:pt x="0" y="1140896"/>
                  </a:cubicBezTo>
                  <a:lnTo>
                    <a:pt x="0" y="77107"/>
                  </a:lnTo>
                  <a:cubicBezTo>
                    <a:pt x="0" y="34522"/>
                    <a:pt x="34522" y="0"/>
                    <a:pt x="77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2444638" cy="1265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107579" y="6407324"/>
            <a:ext cx="5529745" cy="2823480"/>
            <a:chOff x="0" y="0"/>
            <a:chExt cx="2639956" cy="134795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39956" cy="1347958"/>
            </a:xfrm>
            <a:custGeom>
              <a:avLst/>
              <a:gdLst/>
              <a:ahLst/>
              <a:cxnLst/>
              <a:rect l="l" t="t" r="r" b="b"/>
              <a:pathLst>
                <a:path w="2639956" h="1347958">
                  <a:moveTo>
                    <a:pt x="0" y="0"/>
                  </a:moveTo>
                  <a:lnTo>
                    <a:pt x="2639956" y="0"/>
                  </a:lnTo>
                  <a:lnTo>
                    <a:pt x="2639956" y="1347958"/>
                  </a:lnTo>
                  <a:lnTo>
                    <a:pt x="0" y="1347958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2639956" cy="139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312139" y="6540759"/>
            <a:ext cx="5120624" cy="2551273"/>
            <a:chOff x="0" y="0"/>
            <a:chExt cx="2444638" cy="121800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444638" cy="1218004"/>
            </a:xfrm>
            <a:custGeom>
              <a:avLst/>
              <a:gdLst/>
              <a:ahLst/>
              <a:cxnLst/>
              <a:rect l="l" t="t" r="r" b="b"/>
              <a:pathLst>
                <a:path w="2444638" h="1218004">
                  <a:moveTo>
                    <a:pt x="77107" y="0"/>
                  </a:moveTo>
                  <a:lnTo>
                    <a:pt x="2367531" y="0"/>
                  </a:lnTo>
                  <a:cubicBezTo>
                    <a:pt x="2387981" y="0"/>
                    <a:pt x="2407594" y="8124"/>
                    <a:pt x="2422054" y="22584"/>
                  </a:cubicBezTo>
                  <a:cubicBezTo>
                    <a:pt x="2436514" y="37045"/>
                    <a:pt x="2444638" y="56657"/>
                    <a:pt x="2444638" y="77107"/>
                  </a:cubicBezTo>
                  <a:lnTo>
                    <a:pt x="2444638" y="1140896"/>
                  </a:lnTo>
                  <a:cubicBezTo>
                    <a:pt x="2444638" y="1161346"/>
                    <a:pt x="2436514" y="1180959"/>
                    <a:pt x="2422054" y="1195419"/>
                  </a:cubicBezTo>
                  <a:cubicBezTo>
                    <a:pt x="2407594" y="1209880"/>
                    <a:pt x="2387981" y="1218004"/>
                    <a:pt x="2367531" y="1218004"/>
                  </a:cubicBezTo>
                  <a:lnTo>
                    <a:pt x="77107" y="1218004"/>
                  </a:lnTo>
                  <a:cubicBezTo>
                    <a:pt x="34522" y="1218004"/>
                    <a:pt x="0" y="1183482"/>
                    <a:pt x="0" y="1140896"/>
                  </a:cubicBezTo>
                  <a:lnTo>
                    <a:pt x="0" y="77107"/>
                  </a:lnTo>
                  <a:cubicBezTo>
                    <a:pt x="0" y="34522"/>
                    <a:pt x="34522" y="0"/>
                    <a:pt x="77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2444638" cy="1265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191248" y="4925047"/>
            <a:ext cx="1301854" cy="267047"/>
            <a:chOff x="0" y="0"/>
            <a:chExt cx="1735806" cy="356063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347161" cy="347161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47161" y="2225"/>
              <a:ext cx="347161" cy="347161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041483" y="6676"/>
              <a:ext cx="347161" cy="347161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388644" y="8902"/>
              <a:ext cx="347161" cy="347161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94322" y="4451"/>
              <a:ext cx="347161" cy="347161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9884068" y="4925047"/>
            <a:ext cx="1301854" cy="267047"/>
            <a:chOff x="0" y="0"/>
            <a:chExt cx="1735806" cy="356063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347161" cy="347161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347161" y="2225"/>
              <a:ext cx="347161" cy="347161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1041483" y="6676"/>
              <a:ext cx="347161" cy="347161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388644" y="8902"/>
              <a:ext cx="347161" cy="347161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694322" y="4451"/>
              <a:ext cx="347161" cy="347161"/>
              <a:chOff x="0" y="0"/>
              <a:chExt cx="812800" cy="812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15814122" y="4925047"/>
            <a:ext cx="1301854" cy="267047"/>
            <a:chOff x="0" y="0"/>
            <a:chExt cx="1735806" cy="356063"/>
          </a:xfrm>
        </p:grpSpPr>
        <p:grpSp>
          <p:nvGrpSpPr>
            <p:cNvPr id="71" name="Group 71"/>
            <p:cNvGrpSpPr/>
            <p:nvPr/>
          </p:nvGrpSpPr>
          <p:grpSpPr>
            <a:xfrm>
              <a:off x="0" y="0"/>
              <a:ext cx="347161" cy="347161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347161" y="2225"/>
              <a:ext cx="347161" cy="347161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1041483" y="6676"/>
              <a:ext cx="347161" cy="347161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388644" y="8902"/>
              <a:ext cx="347161" cy="347161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694322" y="4451"/>
              <a:ext cx="347161" cy="347161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4200773" y="8710488"/>
            <a:ext cx="1301854" cy="267047"/>
            <a:chOff x="0" y="0"/>
            <a:chExt cx="1735806" cy="356063"/>
          </a:xfrm>
        </p:grpSpPr>
        <p:grpSp>
          <p:nvGrpSpPr>
            <p:cNvPr id="87" name="Group 87"/>
            <p:cNvGrpSpPr/>
            <p:nvPr/>
          </p:nvGrpSpPr>
          <p:grpSpPr>
            <a:xfrm>
              <a:off x="0" y="0"/>
              <a:ext cx="347161" cy="347161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347161" y="2225"/>
              <a:ext cx="347161" cy="347161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041483" y="6676"/>
              <a:ext cx="347161" cy="347161"/>
              <a:chOff x="0" y="0"/>
              <a:chExt cx="812800" cy="812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1388644" y="8902"/>
              <a:ext cx="347161" cy="347161"/>
              <a:chOff x="0" y="0"/>
              <a:chExt cx="812800" cy="8128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694322" y="4451"/>
              <a:ext cx="347161" cy="347161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2" name="Group 102"/>
          <p:cNvGrpSpPr/>
          <p:nvPr/>
        </p:nvGrpSpPr>
        <p:grpSpPr>
          <a:xfrm>
            <a:off x="9884068" y="8710488"/>
            <a:ext cx="1301854" cy="267047"/>
            <a:chOff x="0" y="0"/>
            <a:chExt cx="1735806" cy="356063"/>
          </a:xfrm>
        </p:grpSpPr>
        <p:grpSp>
          <p:nvGrpSpPr>
            <p:cNvPr id="103" name="Group 103"/>
            <p:cNvGrpSpPr/>
            <p:nvPr/>
          </p:nvGrpSpPr>
          <p:grpSpPr>
            <a:xfrm>
              <a:off x="0" y="0"/>
              <a:ext cx="347161" cy="347161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47161" y="2225"/>
              <a:ext cx="347161" cy="347161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1041483" y="6676"/>
              <a:ext cx="347161" cy="347161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1388644" y="8902"/>
              <a:ext cx="347161" cy="347161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694322" y="4451"/>
              <a:ext cx="347161" cy="347161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8"/>
          <p:cNvGrpSpPr/>
          <p:nvPr/>
        </p:nvGrpSpPr>
        <p:grpSpPr>
          <a:xfrm>
            <a:off x="15567362" y="8710488"/>
            <a:ext cx="1301854" cy="267047"/>
            <a:chOff x="0" y="0"/>
            <a:chExt cx="1735806" cy="356063"/>
          </a:xfrm>
        </p:grpSpPr>
        <p:grpSp>
          <p:nvGrpSpPr>
            <p:cNvPr id="119" name="Group 119"/>
            <p:cNvGrpSpPr/>
            <p:nvPr/>
          </p:nvGrpSpPr>
          <p:grpSpPr>
            <a:xfrm>
              <a:off x="0" y="0"/>
              <a:ext cx="347161" cy="347161"/>
              <a:chOff x="0" y="0"/>
              <a:chExt cx="812800" cy="8128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347161" y="2225"/>
              <a:ext cx="347161" cy="347161"/>
              <a:chOff x="0" y="0"/>
              <a:chExt cx="812800" cy="81280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1041483" y="6676"/>
              <a:ext cx="347161" cy="347161"/>
              <a:chOff x="0" y="0"/>
              <a:chExt cx="812800" cy="81280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1388644" y="8902"/>
              <a:ext cx="347161" cy="347161"/>
              <a:chOff x="0" y="0"/>
              <a:chExt cx="812800" cy="81280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>
              <a:off x="694322" y="4451"/>
              <a:ext cx="347161" cy="347161"/>
              <a:chOff x="0" y="0"/>
              <a:chExt cx="812800" cy="81280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4" name="Freeform 134"/>
          <p:cNvSpPr/>
          <p:nvPr/>
        </p:nvSpPr>
        <p:spPr>
          <a:xfrm>
            <a:off x="1104900" y="4314650"/>
            <a:ext cx="705808" cy="715346"/>
          </a:xfrm>
          <a:custGeom>
            <a:avLst/>
            <a:gdLst/>
            <a:ahLst/>
            <a:cxnLst/>
            <a:rect l="l" t="t" r="r" b="b"/>
            <a:pathLst>
              <a:path w="705808" h="715346">
                <a:moveTo>
                  <a:pt x="0" y="0"/>
                </a:moveTo>
                <a:lnTo>
                  <a:pt x="705808" y="0"/>
                </a:lnTo>
                <a:lnTo>
                  <a:pt x="705808" y="715345"/>
                </a:lnTo>
                <a:lnTo>
                  <a:pt x="0" y="7153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Freeform 135"/>
          <p:cNvSpPr/>
          <p:nvPr/>
        </p:nvSpPr>
        <p:spPr>
          <a:xfrm>
            <a:off x="6892071" y="4314650"/>
            <a:ext cx="1593028" cy="764654"/>
          </a:xfrm>
          <a:custGeom>
            <a:avLst/>
            <a:gdLst/>
            <a:ahLst/>
            <a:cxnLst/>
            <a:rect l="l" t="t" r="r" b="b"/>
            <a:pathLst>
              <a:path w="1593028" h="764654">
                <a:moveTo>
                  <a:pt x="0" y="0"/>
                </a:moveTo>
                <a:lnTo>
                  <a:pt x="1593028" y="0"/>
                </a:lnTo>
                <a:lnTo>
                  <a:pt x="1593028" y="764654"/>
                </a:lnTo>
                <a:lnTo>
                  <a:pt x="0" y="76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Freeform 136"/>
          <p:cNvSpPr/>
          <p:nvPr/>
        </p:nvSpPr>
        <p:spPr>
          <a:xfrm>
            <a:off x="12823272" y="4343225"/>
            <a:ext cx="746490" cy="686771"/>
          </a:xfrm>
          <a:custGeom>
            <a:avLst/>
            <a:gdLst/>
            <a:ahLst/>
            <a:cxnLst/>
            <a:rect l="l" t="t" r="r" b="b"/>
            <a:pathLst>
              <a:path w="746490" h="686771">
                <a:moveTo>
                  <a:pt x="0" y="0"/>
                </a:moveTo>
                <a:lnTo>
                  <a:pt x="746490" y="0"/>
                </a:lnTo>
                <a:lnTo>
                  <a:pt x="746490" y="686770"/>
                </a:lnTo>
                <a:lnTo>
                  <a:pt x="0" y="686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Freeform 137"/>
          <p:cNvSpPr/>
          <p:nvPr/>
        </p:nvSpPr>
        <p:spPr>
          <a:xfrm>
            <a:off x="1111368" y="8237918"/>
            <a:ext cx="699339" cy="606094"/>
          </a:xfrm>
          <a:custGeom>
            <a:avLst/>
            <a:gdLst/>
            <a:ahLst/>
            <a:cxnLst/>
            <a:rect l="l" t="t" r="r" b="b"/>
            <a:pathLst>
              <a:path w="699339" h="606094">
                <a:moveTo>
                  <a:pt x="0" y="0"/>
                </a:moveTo>
                <a:lnTo>
                  <a:pt x="699340" y="0"/>
                </a:lnTo>
                <a:lnTo>
                  <a:pt x="699340" y="606093"/>
                </a:lnTo>
                <a:lnTo>
                  <a:pt x="0" y="606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138"/>
          <p:cNvSpPr/>
          <p:nvPr/>
        </p:nvSpPr>
        <p:spPr>
          <a:xfrm>
            <a:off x="6892071" y="8004920"/>
            <a:ext cx="1430269" cy="839091"/>
          </a:xfrm>
          <a:custGeom>
            <a:avLst/>
            <a:gdLst/>
            <a:ahLst/>
            <a:cxnLst/>
            <a:rect l="l" t="t" r="r" b="b"/>
            <a:pathLst>
              <a:path w="1430269" h="839091">
                <a:moveTo>
                  <a:pt x="0" y="0"/>
                </a:moveTo>
                <a:lnTo>
                  <a:pt x="1430269" y="0"/>
                </a:lnTo>
                <a:lnTo>
                  <a:pt x="1430269" y="839091"/>
                </a:lnTo>
                <a:lnTo>
                  <a:pt x="0" y="839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139"/>
          <p:cNvSpPr/>
          <p:nvPr/>
        </p:nvSpPr>
        <p:spPr>
          <a:xfrm>
            <a:off x="12689922" y="7846560"/>
            <a:ext cx="979105" cy="1034265"/>
          </a:xfrm>
          <a:custGeom>
            <a:avLst/>
            <a:gdLst/>
            <a:ahLst/>
            <a:cxnLst/>
            <a:rect l="l" t="t" r="r" b="b"/>
            <a:pathLst>
              <a:path w="979105" h="1034265">
                <a:moveTo>
                  <a:pt x="0" y="0"/>
                </a:moveTo>
                <a:lnTo>
                  <a:pt x="979105" y="0"/>
                </a:lnTo>
                <a:lnTo>
                  <a:pt x="979105" y="1034266"/>
                </a:lnTo>
                <a:lnTo>
                  <a:pt x="0" y="103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TextBox 140"/>
          <p:cNvSpPr txBox="1"/>
          <p:nvPr/>
        </p:nvSpPr>
        <p:spPr>
          <a:xfrm>
            <a:off x="1028700" y="740505"/>
            <a:ext cx="10157222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Examples of a Property Sweep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855236" y="1999075"/>
            <a:ext cx="3908375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 General allegation of fraud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939024" y="5785850"/>
            <a:ext cx="3849142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Specific allegation of fraud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337994" y="3074495"/>
            <a:ext cx="4155108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“Recently, there have been a lot more positive reviews for this property; they must be writing the reviews themselves."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6927263" y="3231657"/>
            <a:ext cx="4433474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“This property is doing fraud; there is no way  they're number one in my village."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12573700" y="3045920"/>
            <a:ext cx="4597504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“I believe the reviews for this property are fake, their food is not good at all, and they have too many positive reviews."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1028413" y="7023885"/>
            <a:ext cx="4774270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"This property has a lot of reviews from new accounts saying the same things and mentioning staff names."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6892071" y="7119165"/>
            <a:ext cx="4631353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"This property offers a free drink in exchange for positive reviews."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2450869" y="6962003"/>
            <a:ext cx="4843165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"The owner of property X is asking all their </a:t>
            </a:r>
          </a:p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employees to leave negative reviews on</a:t>
            </a:r>
          </a:p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property Y."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381E419-A161-08E2-E93D-39341B91296A}"/>
              </a:ext>
            </a:extLst>
          </p:cNvPr>
          <p:cNvSpPr txBox="1">
            <a:spLocks/>
          </p:cNvSpPr>
          <p:nvPr/>
        </p:nvSpPr>
        <p:spPr>
          <a:xfrm>
            <a:off x="1257300" y="1219402"/>
            <a:ext cx="15773400" cy="8191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defTabSz="3086088">
              <a:lnSpc>
                <a:spcPct val="90000"/>
              </a:lnSpc>
              <a:spcBef>
                <a:spcPct val="0"/>
              </a:spcBef>
              <a:buNone/>
              <a:defRPr sz="5200" b="1"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r>
              <a:rPr lang="en-US" dirty="0"/>
              <a:t>Initial Sweep Flowchart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477A6-D7CA-2F3D-A52F-88AB1E146AEA}"/>
              </a:ext>
            </a:extLst>
          </p:cNvPr>
          <p:cNvSpPr txBox="1"/>
          <p:nvPr/>
        </p:nvSpPr>
        <p:spPr>
          <a:xfrm>
            <a:off x="600003" y="9661691"/>
            <a:ext cx="10000001" cy="314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defTabSz="914441"/>
            <a:r>
              <a:rPr dirty="0"/>
              <a:t>T</a:t>
            </a:r>
            <a:r>
              <a:rPr lang="en-US" dirty="0"/>
              <a:t>ripadvisor / Property Sweep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C6F001-303F-1E2C-9C60-84ACD33531CC}"/>
              </a:ext>
            </a:extLst>
          </p:cNvPr>
          <p:cNvSpPr txBox="1"/>
          <p:nvPr/>
        </p:nvSpPr>
        <p:spPr>
          <a:xfrm>
            <a:off x="16488001" y="9727004"/>
            <a:ext cx="1200000" cy="314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1"/>
            <a:r>
              <a:rPr lang="en-US" sz="1400" dirty="0">
                <a:solidFill>
                  <a:srgbClr val="8A8272"/>
                </a:solidFill>
                <a:latin typeface="Poppins"/>
              </a:rPr>
              <a:t>3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59E4AB-004B-C22C-7AD5-7A1A0BC7DEFF}"/>
              </a:ext>
            </a:extLst>
          </p:cNvPr>
          <p:cNvSpPr/>
          <p:nvPr/>
        </p:nvSpPr>
        <p:spPr>
          <a:xfrm>
            <a:off x="4551636" y="2237796"/>
            <a:ext cx="8413613" cy="666901"/>
          </a:xfrm>
          <a:prstGeom prst="roundRect">
            <a:avLst/>
          </a:prstGeom>
          <a:solidFill>
            <a:srgbClr val="00B747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End user/internal requester makes an allegation of fraud or agent spots a fraud pattern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8652D5-3C6D-DDE4-84EE-6217B4261780}"/>
              </a:ext>
            </a:extLst>
          </p:cNvPr>
          <p:cNvSpPr/>
          <p:nvPr/>
        </p:nvSpPr>
        <p:spPr>
          <a:xfrm>
            <a:off x="5930400" y="3314879"/>
            <a:ext cx="5930749" cy="666901"/>
          </a:xfrm>
          <a:prstGeom prst="roundRect">
            <a:avLst/>
          </a:prstGeom>
          <a:solidFill>
            <a:srgbClr val="FF4E51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Is it an incentives pattern?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E2BFFF4F-779A-5C8A-6118-DDA21C130CA4}"/>
              </a:ext>
            </a:extLst>
          </p:cNvPr>
          <p:cNvSpPr/>
          <p:nvPr/>
        </p:nvSpPr>
        <p:spPr>
          <a:xfrm>
            <a:off x="8547713" y="2921026"/>
            <a:ext cx="323964" cy="3844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EF5D46-C072-A636-2951-14B3276E445C}"/>
              </a:ext>
            </a:extLst>
          </p:cNvPr>
          <p:cNvSpPr/>
          <p:nvPr/>
        </p:nvSpPr>
        <p:spPr>
          <a:xfrm>
            <a:off x="4652946" y="4227026"/>
            <a:ext cx="947057" cy="819199"/>
          </a:xfrm>
          <a:prstGeom prst="ellipse">
            <a:avLst/>
          </a:prstGeom>
          <a:solidFill>
            <a:srgbClr val="00D7B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Yes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BAC0EF-11AF-EE05-4B30-6F86B8C29DB6}"/>
              </a:ext>
            </a:extLst>
          </p:cNvPr>
          <p:cNvSpPr/>
          <p:nvPr/>
        </p:nvSpPr>
        <p:spPr>
          <a:xfrm>
            <a:off x="12224095" y="4227025"/>
            <a:ext cx="947057" cy="819199"/>
          </a:xfrm>
          <a:prstGeom prst="ellipse">
            <a:avLst/>
          </a:prstGeom>
          <a:solidFill>
            <a:srgbClr val="D95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No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1181D74-41E2-A1CD-72BC-43B6C2385F66}"/>
              </a:ext>
            </a:extLst>
          </p:cNvPr>
          <p:cNvSpPr/>
          <p:nvPr/>
        </p:nvSpPr>
        <p:spPr>
          <a:xfrm>
            <a:off x="2641600" y="5420535"/>
            <a:ext cx="4361321" cy="1145655"/>
          </a:xfrm>
          <a:prstGeom prst="roundRect">
            <a:avLst/>
          </a:prstGeom>
          <a:solidFill>
            <a:srgbClr val="00B747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Tier 1 to send bulk Incentive surveys for all reviews submitted during the last three months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6E0AB8-04AB-3413-53CF-9B0048E41D4D}"/>
              </a:ext>
            </a:extLst>
          </p:cNvPr>
          <p:cNvSpPr/>
          <p:nvPr/>
        </p:nvSpPr>
        <p:spPr>
          <a:xfrm>
            <a:off x="10600003" y="5357968"/>
            <a:ext cx="4161025" cy="825816"/>
          </a:xfrm>
          <a:prstGeom prst="roundRect">
            <a:avLst/>
          </a:prstGeom>
          <a:solidFill>
            <a:srgbClr val="FF4E51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Does the pattern involve multiple locations?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C9417A7-D86C-FBEF-A2F4-BC4860072D50}"/>
              </a:ext>
            </a:extLst>
          </p:cNvPr>
          <p:cNvSpPr/>
          <p:nvPr/>
        </p:nvSpPr>
        <p:spPr>
          <a:xfrm>
            <a:off x="7222616" y="6305221"/>
            <a:ext cx="992221" cy="819199"/>
          </a:xfrm>
          <a:prstGeom prst="ellipse">
            <a:avLst/>
          </a:prstGeom>
          <a:solidFill>
            <a:srgbClr val="00D7BB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Yes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D964740-9643-6B4A-5409-1E3CCA74766C}"/>
              </a:ext>
            </a:extLst>
          </p:cNvPr>
          <p:cNvSpPr/>
          <p:nvPr/>
        </p:nvSpPr>
        <p:spPr>
          <a:xfrm>
            <a:off x="14640442" y="6330344"/>
            <a:ext cx="947057" cy="819199"/>
          </a:xfrm>
          <a:prstGeom prst="ellipse">
            <a:avLst/>
          </a:prstGeom>
          <a:solidFill>
            <a:srgbClr val="D953FF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No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30CFC53-043F-CB44-8946-1491766E54F9}"/>
              </a:ext>
            </a:extLst>
          </p:cNvPr>
          <p:cNvSpPr/>
          <p:nvPr/>
        </p:nvSpPr>
        <p:spPr>
          <a:xfrm>
            <a:off x="2965028" y="7972287"/>
            <a:ext cx="5930748" cy="1470310"/>
          </a:xfrm>
          <a:prstGeom prst="roundRect">
            <a:avLst/>
          </a:prstGeom>
          <a:solidFill>
            <a:srgbClr val="FF6D37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Tier 1 to file a property sweep request, if over 25 suspicious reviews remain, Tier 1 removes the 25 most recent biased reviews, documents findings, and files a sweep request.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12A3C25-5CBD-8A78-A604-89A42972125F}"/>
              </a:ext>
            </a:extLst>
          </p:cNvPr>
          <p:cNvSpPr/>
          <p:nvPr/>
        </p:nvSpPr>
        <p:spPr>
          <a:xfrm>
            <a:off x="9760361" y="8112868"/>
            <a:ext cx="947057" cy="819199"/>
          </a:xfrm>
          <a:prstGeom prst="ellipse">
            <a:avLst/>
          </a:prstGeom>
          <a:solidFill>
            <a:srgbClr val="D953FF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No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817F3D3-5491-5793-D470-F1BF57946E94}"/>
              </a:ext>
            </a:extLst>
          </p:cNvPr>
          <p:cNvSpPr/>
          <p:nvPr/>
        </p:nvSpPr>
        <p:spPr>
          <a:xfrm>
            <a:off x="15141827" y="7321503"/>
            <a:ext cx="947057" cy="819199"/>
          </a:xfrm>
          <a:prstGeom prst="ellipse">
            <a:avLst/>
          </a:prstGeom>
          <a:solidFill>
            <a:srgbClr val="00D7BB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Yes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F45E41E-EE40-BEF3-A6C1-CC023674B654}"/>
              </a:ext>
            </a:extLst>
          </p:cNvPr>
          <p:cNvSpPr/>
          <p:nvPr/>
        </p:nvSpPr>
        <p:spPr>
          <a:xfrm>
            <a:off x="11413557" y="7360412"/>
            <a:ext cx="2710543" cy="977512"/>
          </a:xfrm>
          <a:prstGeom prst="roundRect">
            <a:avLst/>
          </a:prstGeom>
          <a:solidFill>
            <a:srgbClr val="FF4E51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Are less than 25 still published reviews involved?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5B5F873-B721-648F-65CC-7879BB819238}"/>
              </a:ext>
            </a:extLst>
          </p:cNvPr>
          <p:cNvSpPr/>
          <p:nvPr/>
        </p:nvSpPr>
        <p:spPr>
          <a:xfrm>
            <a:off x="11673605" y="8561777"/>
            <a:ext cx="5135791" cy="880820"/>
          </a:xfrm>
          <a:prstGeom prst="roundRect">
            <a:avLst/>
          </a:prstGeom>
          <a:solidFill>
            <a:srgbClr val="00B747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Tier 1 to take appropriate action on these reviews</a:t>
            </a:r>
          </a:p>
        </p:txBody>
      </p:sp>
      <p:sp>
        <p:nvSpPr>
          <p:cNvPr id="41" name="Arrow: Bent-Up 40">
            <a:extLst>
              <a:ext uri="{FF2B5EF4-FFF2-40B4-BE49-F238E27FC236}">
                <a16:creationId xmlns:a16="http://schemas.microsoft.com/office/drawing/2014/main" id="{CE544A1C-9FC8-3E4F-70DF-36F80E728453}"/>
              </a:ext>
            </a:extLst>
          </p:cNvPr>
          <p:cNvSpPr/>
          <p:nvPr/>
        </p:nvSpPr>
        <p:spPr>
          <a:xfrm flipV="1">
            <a:off x="11861149" y="3600428"/>
            <a:ext cx="982843" cy="626595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Bent-Up 42">
            <a:extLst>
              <a:ext uri="{FF2B5EF4-FFF2-40B4-BE49-F238E27FC236}">
                <a16:creationId xmlns:a16="http://schemas.microsoft.com/office/drawing/2014/main" id="{8ABF1922-CDDB-7D8A-BA10-F708421F8EA7}"/>
              </a:ext>
            </a:extLst>
          </p:cNvPr>
          <p:cNvSpPr/>
          <p:nvPr/>
        </p:nvSpPr>
        <p:spPr>
          <a:xfrm flipH="1" flipV="1">
            <a:off x="4967012" y="3549674"/>
            <a:ext cx="947056" cy="67735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D3BDBC3B-D787-7B46-87B6-84DA31A878DB}"/>
              </a:ext>
            </a:extLst>
          </p:cNvPr>
          <p:cNvSpPr/>
          <p:nvPr/>
        </p:nvSpPr>
        <p:spPr>
          <a:xfrm>
            <a:off x="4975816" y="5046223"/>
            <a:ext cx="288085" cy="3416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9B364ED-6BC3-F661-B39D-970933786E59}"/>
              </a:ext>
            </a:extLst>
          </p:cNvPr>
          <p:cNvSpPr/>
          <p:nvPr/>
        </p:nvSpPr>
        <p:spPr>
          <a:xfrm>
            <a:off x="12547098" y="5064525"/>
            <a:ext cx="287269" cy="2740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Bent-Up 48">
            <a:extLst>
              <a:ext uri="{FF2B5EF4-FFF2-40B4-BE49-F238E27FC236}">
                <a16:creationId xmlns:a16="http://schemas.microsoft.com/office/drawing/2014/main" id="{331E390E-CEBE-DCB5-0E4F-BEB31FE53329}"/>
              </a:ext>
            </a:extLst>
          </p:cNvPr>
          <p:cNvSpPr/>
          <p:nvPr/>
        </p:nvSpPr>
        <p:spPr>
          <a:xfrm flipH="1" flipV="1">
            <a:off x="7540502" y="5628936"/>
            <a:ext cx="3059500" cy="67628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Bent-Up 50">
            <a:extLst>
              <a:ext uri="{FF2B5EF4-FFF2-40B4-BE49-F238E27FC236}">
                <a16:creationId xmlns:a16="http://schemas.microsoft.com/office/drawing/2014/main" id="{7BA2B56C-9EDB-0240-99B7-575A1BA06821}"/>
              </a:ext>
            </a:extLst>
          </p:cNvPr>
          <p:cNvSpPr/>
          <p:nvPr/>
        </p:nvSpPr>
        <p:spPr>
          <a:xfrm flipV="1">
            <a:off x="14761028" y="5791200"/>
            <a:ext cx="495905" cy="53914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935C62BD-240F-1FC7-035E-DD0C9D1A1173}"/>
              </a:ext>
            </a:extLst>
          </p:cNvPr>
          <p:cNvSpPr/>
          <p:nvPr/>
        </p:nvSpPr>
        <p:spPr>
          <a:xfrm>
            <a:off x="7540502" y="7124419"/>
            <a:ext cx="342589" cy="8478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Bent-Up 54">
            <a:extLst>
              <a:ext uri="{FF2B5EF4-FFF2-40B4-BE49-F238E27FC236}">
                <a16:creationId xmlns:a16="http://schemas.microsoft.com/office/drawing/2014/main" id="{9C2B7E29-6A15-C2AF-7504-95440562561D}"/>
              </a:ext>
            </a:extLst>
          </p:cNvPr>
          <p:cNvSpPr/>
          <p:nvPr/>
        </p:nvSpPr>
        <p:spPr>
          <a:xfrm flipH="1" flipV="1">
            <a:off x="12573125" y="6693672"/>
            <a:ext cx="2067315" cy="66674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Bent-Up 56">
            <a:extLst>
              <a:ext uri="{FF2B5EF4-FFF2-40B4-BE49-F238E27FC236}">
                <a16:creationId xmlns:a16="http://schemas.microsoft.com/office/drawing/2014/main" id="{043888CC-9ECC-6EA9-BDCC-0655E8D9A53C}"/>
              </a:ext>
            </a:extLst>
          </p:cNvPr>
          <p:cNvSpPr/>
          <p:nvPr/>
        </p:nvSpPr>
        <p:spPr>
          <a:xfrm flipH="1" flipV="1">
            <a:off x="10112140" y="7596018"/>
            <a:ext cx="1301417" cy="51685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C3A6DF69-876A-8A1B-8EFE-6955F334A718}"/>
              </a:ext>
            </a:extLst>
          </p:cNvPr>
          <p:cNvSpPr/>
          <p:nvPr/>
        </p:nvSpPr>
        <p:spPr>
          <a:xfrm>
            <a:off x="8895773" y="8377781"/>
            <a:ext cx="864587" cy="31477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E34590A0-DE5F-A1DD-B0E4-002711033C7D}"/>
              </a:ext>
            </a:extLst>
          </p:cNvPr>
          <p:cNvSpPr/>
          <p:nvPr/>
        </p:nvSpPr>
        <p:spPr>
          <a:xfrm>
            <a:off x="14124100" y="7596018"/>
            <a:ext cx="1017727" cy="286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5FAE1816-4DA3-090F-A7C2-A72B26C50143}"/>
              </a:ext>
            </a:extLst>
          </p:cNvPr>
          <p:cNvSpPr/>
          <p:nvPr/>
        </p:nvSpPr>
        <p:spPr>
          <a:xfrm>
            <a:off x="15454392" y="8159003"/>
            <a:ext cx="323964" cy="3844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4">
            <a:extLst>
              <a:ext uri="{FF2B5EF4-FFF2-40B4-BE49-F238E27FC236}">
                <a16:creationId xmlns:a16="http://schemas.microsoft.com/office/drawing/2014/main" id="{F84E5A44-811C-7269-0C7B-2C7A6FB96AEC}"/>
              </a:ext>
            </a:extLst>
          </p:cNvPr>
          <p:cNvSpPr/>
          <p:nvPr/>
        </p:nvSpPr>
        <p:spPr>
          <a:xfrm rot="13154954">
            <a:off x="10978733" y="759089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Freeform 4">
            <a:extLst>
              <a:ext uri="{FF2B5EF4-FFF2-40B4-BE49-F238E27FC236}">
                <a16:creationId xmlns:a16="http://schemas.microsoft.com/office/drawing/2014/main" id="{086BC7CE-9753-0D24-DC36-060CD501CA7A}"/>
              </a:ext>
            </a:extLst>
          </p:cNvPr>
          <p:cNvSpPr/>
          <p:nvPr/>
        </p:nvSpPr>
        <p:spPr>
          <a:xfrm rot="5554844">
            <a:off x="-7558977" y="4138095"/>
            <a:ext cx="14512494" cy="5751370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23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AAF13-0A56-E0B6-3C05-6F471294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BFD3FC97-C226-2EAE-5589-ADC943CA5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21B7ED19-3E31-D348-5C59-8A25B4417308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1E672C8-BD65-0123-80CC-C6DA115F4D3F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9FE78BA-F6C5-AE99-CD43-3ECD60ABF76E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8EEAB43-8C0A-723D-9325-37FBEB0EA41B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B7B1A4C-27FE-FCAC-13DE-B34091095A3E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E8AF4B6-E143-5E2D-7FAB-F10EC19F275A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DA4AFE3-C60A-0FE8-B60E-CF5F8EB1D4D5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529415FC-5670-DA73-1DD0-A597FAFF5DC8}"/>
              </a:ext>
            </a:extLst>
          </p:cNvPr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0"/>
              </a:lnSpc>
              <a:defRPr/>
            </a:pPr>
            <a:r>
              <a:rPr lang="en-US" sz="7500" b="1" dirty="0">
                <a:solidFill>
                  <a:srgbClr val="002B11"/>
                </a:solidFill>
                <a:latin typeface="Poppins Black"/>
                <a:ea typeface="Poppins Bold"/>
                <a:cs typeface="Poppins Black"/>
                <a:sym typeface="Poppins Bold"/>
              </a:rPr>
              <a:t>02</a:t>
            </a: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Poppins Bold"/>
                <a:cs typeface="Poppins Black"/>
                <a:sym typeface="Poppins Bold"/>
              </a:rPr>
              <a:t>. </a:t>
            </a:r>
            <a:r>
              <a:rPr lang="en-US" sz="7500" b="1" dirty="0">
                <a:solidFill>
                  <a:srgbClr val="002B11"/>
                </a:solidFill>
                <a:latin typeface="Poppins Black"/>
                <a:cs typeface="Poppins Black"/>
                <a:sym typeface="Poppins Bold"/>
              </a:rPr>
              <a:t>How to Handle </a:t>
            </a:r>
            <a:r>
              <a:rPr lang="en-US" sz="7500" b="1">
                <a:solidFill>
                  <a:srgbClr val="002B11"/>
                </a:solidFill>
                <a:latin typeface="Poppins Black"/>
                <a:cs typeface="Poppins Black"/>
                <a:sym typeface="Poppins Bold"/>
              </a:rPr>
              <a:t>Property Sweep</a:t>
            </a:r>
            <a:endParaRPr lang="en-US" sz="7500" b="1" dirty="0">
              <a:solidFill>
                <a:srgbClr val="002B11"/>
              </a:solidFill>
              <a:latin typeface="Poppins Black"/>
              <a:cs typeface="Poppins Black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F4F5F65-0AF1-9C55-F302-2838FB2B021B}"/>
              </a:ext>
            </a:extLst>
          </p:cNvPr>
          <p:cNvSpPr txBox="1"/>
          <p:nvPr/>
        </p:nvSpPr>
        <p:spPr>
          <a:xfrm>
            <a:off x="1440267" y="804806"/>
            <a:ext cx="141624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 panose="00000A00000000000000" pitchFamily="2" charset="0"/>
                <a:ea typeface="Poppins Bold"/>
                <a:cs typeface="Poppins Black" panose="00000A00000000000000" pitchFamily="2" charset="0"/>
                <a:sym typeface="Poppins Bold"/>
              </a:rPr>
              <a:t>Dubai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937BCC6-4BBD-5290-D8E2-F2A0BD1E4489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AFE47588-7C35-4BDF-24FF-D2223D3F39AB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2ADD16E-1BC1-A050-9D24-6EDA6CEAEB3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B70813AE-B1E3-DBF8-B7E2-6ADDEDFF3C3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A3574A98-6884-8C7C-DE14-BB1D79F9321D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E82897B-8031-57ED-BB23-2B27AE15C0E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056E6497-8848-B14A-958C-4ADCB9BF01C1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5E487D7A-B34C-EE56-3062-32B60086E00D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1F7F4376-B849-4AA9-AA79-427DE8BF852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A87179D-F7BA-DE1B-B891-A26E471D462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87C0BABD-0052-BB43-E8FA-F02746133655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813321F7-53C4-2261-0BEF-C18E0D3E8EA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E62D6F6F-418B-E049-3E1B-3D0E42D0F93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C6AA3A29-3CE9-DFCC-0976-8F55B9CA1D6A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770B5341-CBE0-5187-B8A0-AFAB19F753A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A5540BA2-48C6-52FA-26E1-8FFB9418F9C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7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3297F17-382E-9D72-BC7D-2D53C2B41D62}"/>
              </a:ext>
            </a:extLst>
          </p:cNvPr>
          <p:cNvSpPr txBox="1">
            <a:spLocks/>
          </p:cNvSpPr>
          <p:nvPr/>
        </p:nvSpPr>
        <p:spPr>
          <a:xfrm>
            <a:off x="1257300" y="1219402"/>
            <a:ext cx="15773400" cy="8191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defTabSz="3086088">
              <a:lnSpc>
                <a:spcPct val="90000"/>
              </a:lnSpc>
              <a:spcBef>
                <a:spcPct val="0"/>
              </a:spcBef>
              <a:buNone/>
              <a:defRPr sz="5200" b="1"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r>
              <a:rPr lang="en-US" dirty="0"/>
              <a:t>Best Practices for Property Review Sweeps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293CB-31ED-2977-622D-33C9168157DC}"/>
              </a:ext>
            </a:extLst>
          </p:cNvPr>
          <p:cNvSpPr txBox="1"/>
          <p:nvPr/>
        </p:nvSpPr>
        <p:spPr>
          <a:xfrm>
            <a:off x="600003" y="9661691"/>
            <a:ext cx="10000001" cy="314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defTabSz="914441"/>
            <a:r>
              <a:rPr dirty="0"/>
              <a:t>T</a:t>
            </a:r>
            <a:r>
              <a:rPr lang="en-US" dirty="0"/>
              <a:t>ripadvisor / Property Sweep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1E534-4C19-CBC5-0C30-8F159ED93C16}"/>
              </a:ext>
            </a:extLst>
          </p:cNvPr>
          <p:cNvSpPr txBox="1"/>
          <p:nvPr/>
        </p:nvSpPr>
        <p:spPr>
          <a:xfrm>
            <a:off x="16488001" y="9727004"/>
            <a:ext cx="1200000" cy="314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1"/>
            <a:r>
              <a:rPr lang="en-US" sz="1400" dirty="0">
                <a:solidFill>
                  <a:srgbClr val="8A8272"/>
                </a:solidFill>
                <a:latin typeface="Poppins"/>
              </a:rPr>
              <a:t>4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8427079-803B-183D-B835-6209901D5C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780840"/>
              </p:ext>
            </p:extLst>
          </p:nvPr>
        </p:nvGraphicFramePr>
        <p:xfrm>
          <a:off x="2952749" y="2206171"/>
          <a:ext cx="12445093" cy="6861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E8364C5-10F8-C3A7-7036-C7B268FEBB3C}"/>
              </a:ext>
            </a:extLst>
          </p:cNvPr>
          <p:cNvSpPr txBox="1"/>
          <p:nvPr/>
        </p:nvSpPr>
        <p:spPr>
          <a:xfrm>
            <a:off x="3286225" y="2616919"/>
            <a:ext cx="282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16B530-CAE4-A1E0-AB65-7C183214D336}"/>
              </a:ext>
            </a:extLst>
          </p:cNvPr>
          <p:cNvSpPr txBox="1"/>
          <p:nvPr/>
        </p:nvSpPr>
        <p:spPr>
          <a:xfrm>
            <a:off x="3827637" y="3538984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1F4441-8C05-A6C9-3471-8CC0A9BED132}"/>
              </a:ext>
            </a:extLst>
          </p:cNvPr>
          <p:cNvSpPr txBox="1"/>
          <p:nvPr/>
        </p:nvSpPr>
        <p:spPr>
          <a:xfrm>
            <a:off x="4133072" y="4495732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F3E440-5CE1-3941-7EF9-C3905D08A90E}"/>
              </a:ext>
            </a:extLst>
          </p:cNvPr>
          <p:cNvSpPr txBox="1"/>
          <p:nvPr/>
        </p:nvSpPr>
        <p:spPr>
          <a:xfrm>
            <a:off x="4208616" y="5421137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EBA73-77A3-1D66-0597-619619911B46}"/>
              </a:ext>
            </a:extLst>
          </p:cNvPr>
          <p:cNvSpPr txBox="1"/>
          <p:nvPr/>
        </p:nvSpPr>
        <p:spPr>
          <a:xfrm>
            <a:off x="4120248" y="6346542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5F718C-C2F1-4844-709C-1F8E8D4D9203}"/>
              </a:ext>
            </a:extLst>
          </p:cNvPr>
          <p:cNvSpPr txBox="1"/>
          <p:nvPr/>
        </p:nvSpPr>
        <p:spPr>
          <a:xfrm>
            <a:off x="3818019" y="730329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406804-9553-154D-B3C2-4A9C58C9943B}"/>
              </a:ext>
            </a:extLst>
          </p:cNvPr>
          <p:cNvSpPr txBox="1"/>
          <p:nvPr/>
        </p:nvSpPr>
        <p:spPr>
          <a:xfrm>
            <a:off x="3249801" y="8229160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</a:p>
        </p:txBody>
      </p:sp>
      <p:sp>
        <p:nvSpPr>
          <p:cNvPr id="26" name="Freeform 4">
            <a:extLst>
              <a:ext uri="{FF2B5EF4-FFF2-40B4-BE49-F238E27FC236}">
                <a16:creationId xmlns:a16="http://schemas.microsoft.com/office/drawing/2014/main" id="{59576B64-68FF-1D29-5DAA-60E5E8C7869D}"/>
              </a:ext>
            </a:extLst>
          </p:cNvPr>
          <p:cNvSpPr/>
          <p:nvPr/>
        </p:nvSpPr>
        <p:spPr>
          <a:xfrm rot="5554844">
            <a:off x="-5936304" y="4587110"/>
            <a:ext cx="13190197" cy="5673255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4">
            <a:extLst>
              <a:ext uri="{FF2B5EF4-FFF2-40B4-BE49-F238E27FC236}">
                <a16:creationId xmlns:a16="http://schemas.microsoft.com/office/drawing/2014/main" id="{B9D60842-3B96-3276-69F2-F5B211976613}"/>
              </a:ext>
            </a:extLst>
          </p:cNvPr>
          <p:cNvSpPr/>
          <p:nvPr/>
        </p:nvSpPr>
        <p:spPr>
          <a:xfrm rot="17310465">
            <a:off x="11584660" y="872980"/>
            <a:ext cx="13476211" cy="5012237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35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421932"/>
            <a:ext cx="11240171" cy="725170"/>
            <a:chOff x="0" y="0"/>
            <a:chExt cx="14986895" cy="966893"/>
          </a:xfrm>
        </p:grpSpPr>
        <p:sp>
          <p:nvSpPr>
            <p:cNvPr id="3" name="Freeform 3"/>
            <p:cNvSpPr/>
            <p:nvPr/>
          </p:nvSpPr>
          <p:spPr>
            <a:xfrm>
              <a:off x="0" y="142401"/>
              <a:ext cx="787029" cy="682092"/>
            </a:xfrm>
            <a:custGeom>
              <a:avLst/>
              <a:gdLst/>
              <a:ahLst/>
              <a:cxnLst/>
              <a:rect l="l" t="t" r="r" b="b"/>
              <a:pathLst>
                <a:path w="787029" h="682092">
                  <a:moveTo>
                    <a:pt x="0" y="0"/>
                  </a:moveTo>
                  <a:lnTo>
                    <a:pt x="787029" y="0"/>
                  </a:lnTo>
                  <a:lnTo>
                    <a:pt x="787029" y="682091"/>
                  </a:lnTo>
                  <a:lnTo>
                    <a:pt x="0" y="68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4709" y="-57150"/>
              <a:ext cx="13852186" cy="102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Check Location Center: Always start by reviewing notes on past violations for the property.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432852"/>
            <a:ext cx="11240171" cy="725170"/>
            <a:chOff x="0" y="0"/>
            <a:chExt cx="14986895" cy="966893"/>
          </a:xfrm>
        </p:grpSpPr>
        <p:sp>
          <p:nvSpPr>
            <p:cNvPr id="6" name="Freeform 6"/>
            <p:cNvSpPr/>
            <p:nvPr/>
          </p:nvSpPr>
          <p:spPr>
            <a:xfrm>
              <a:off x="0" y="47574"/>
              <a:ext cx="787029" cy="682092"/>
            </a:xfrm>
            <a:custGeom>
              <a:avLst/>
              <a:gdLst/>
              <a:ahLst/>
              <a:cxnLst/>
              <a:rect l="l" t="t" r="r" b="b"/>
              <a:pathLst>
                <a:path w="787029" h="682092">
                  <a:moveTo>
                    <a:pt x="0" y="0"/>
                  </a:moveTo>
                  <a:lnTo>
                    <a:pt x="787029" y="0"/>
                  </a:lnTo>
                  <a:lnTo>
                    <a:pt x="787029" y="682092"/>
                  </a:lnTo>
                  <a:lnTo>
                    <a:pt x="0" y="68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2424" y="-57150"/>
              <a:ext cx="13884471" cy="102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Use URD Effectively: Filter reviews by location ID, exclude owner responses and photo-only submissions, and use start date filters when needed.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972" y="4443772"/>
            <a:ext cx="11337027" cy="725170"/>
            <a:chOff x="0" y="0"/>
            <a:chExt cx="15116036" cy="966893"/>
          </a:xfrm>
        </p:grpSpPr>
        <p:sp>
          <p:nvSpPr>
            <p:cNvPr id="9" name="Freeform 9"/>
            <p:cNvSpPr/>
            <p:nvPr/>
          </p:nvSpPr>
          <p:spPr>
            <a:xfrm>
              <a:off x="0" y="142401"/>
              <a:ext cx="787029" cy="682092"/>
            </a:xfrm>
            <a:custGeom>
              <a:avLst/>
              <a:gdLst/>
              <a:ahLst/>
              <a:cxnLst/>
              <a:rect l="l" t="t" r="r" b="b"/>
              <a:pathLst>
                <a:path w="787029" h="682092">
                  <a:moveTo>
                    <a:pt x="0" y="0"/>
                  </a:moveTo>
                  <a:lnTo>
                    <a:pt x="787029" y="0"/>
                  </a:lnTo>
                  <a:lnTo>
                    <a:pt x="787029" y="682091"/>
                  </a:lnTo>
                  <a:lnTo>
                    <a:pt x="0" y="68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2424" y="-57150"/>
              <a:ext cx="14013612" cy="102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Batch Review Analysis: Open reviews in batches of 25 using filters and tools like the Linkclump Chrome extension to spot patterns more efficiently.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3972" y="5498764"/>
            <a:ext cx="11337027" cy="725170"/>
            <a:chOff x="0" y="0"/>
            <a:chExt cx="15116036" cy="966893"/>
          </a:xfrm>
        </p:grpSpPr>
        <p:sp>
          <p:nvSpPr>
            <p:cNvPr id="12" name="Freeform 12"/>
            <p:cNvSpPr/>
            <p:nvPr/>
          </p:nvSpPr>
          <p:spPr>
            <a:xfrm>
              <a:off x="0" y="142401"/>
              <a:ext cx="787029" cy="682092"/>
            </a:xfrm>
            <a:custGeom>
              <a:avLst/>
              <a:gdLst/>
              <a:ahLst/>
              <a:cxnLst/>
              <a:rect l="l" t="t" r="r" b="b"/>
              <a:pathLst>
                <a:path w="787029" h="682092">
                  <a:moveTo>
                    <a:pt x="0" y="0"/>
                  </a:moveTo>
                  <a:lnTo>
                    <a:pt x="787029" y="0"/>
                  </a:lnTo>
                  <a:lnTo>
                    <a:pt x="787029" y="682091"/>
                  </a:lnTo>
                  <a:lnTo>
                    <a:pt x="0" y="68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2424" y="-57150"/>
              <a:ext cx="14013612" cy="102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Exercise Judgement: Evaluate patterns critically; unusual spikes are not definitive proof of fraud—consider the overall context.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3972" y="6463665"/>
            <a:ext cx="11621283" cy="725170"/>
            <a:chOff x="0" y="0"/>
            <a:chExt cx="15495044" cy="966893"/>
          </a:xfrm>
        </p:grpSpPr>
        <p:sp>
          <p:nvSpPr>
            <p:cNvPr id="15" name="Freeform 15"/>
            <p:cNvSpPr/>
            <p:nvPr/>
          </p:nvSpPr>
          <p:spPr>
            <a:xfrm>
              <a:off x="0" y="142401"/>
              <a:ext cx="787029" cy="682092"/>
            </a:xfrm>
            <a:custGeom>
              <a:avLst/>
              <a:gdLst/>
              <a:ahLst/>
              <a:cxnLst/>
              <a:rect l="l" t="t" r="r" b="b"/>
              <a:pathLst>
                <a:path w="787029" h="682092">
                  <a:moveTo>
                    <a:pt x="0" y="0"/>
                  </a:moveTo>
                  <a:lnTo>
                    <a:pt x="787029" y="0"/>
                  </a:lnTo>
                  <a:lnTo>
                    <a:pt x="787029" y="682091"/>
                  </a:lnTo>
                  <a:lnTo>
                    <a:pt x="0" y="68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2424" y="-57150"/>
              <a:ext cx="14392620" cy="102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Avoid Over-Communicating: Do not send incentive surveys and verification requests to the same user to prevent email fatigue.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73972" y="7522210"/>
            <a:ext cx="11191695" cy="725170"/>
            <a:chOff x="0" y="0"/>
            <a:chExt cx="14922260" cy="966893"/>
          </a:xfrm>
        </p:grpSpPr>
        <p:sp>
          <p:nvSpPr>
            <p:cNvPr id="18" name="Freeform 18"/>
            <p:cNvSpPr/>
            <p:nvPr/>
          </p:nvSpPr>
          <p:spPr>
            <a:xfrm>
              <a:off x="0" y="142401"/>
              <a:ext cx="787029" cy="682092"/>
            </a:xfrm>
            <a:custGeom>
              <a:avLst/>
              <a:gdLst/>
              <a:ahLst/>
              <a:cxnLst/>
              <a:rect l="l" t="t" r="r" b="b"/>
              <a:pathLst>
                <a:path w="787029" h="682092">
                  <a:moveTo>
                    <a:pt x="0" y="0"/>
                  </a:moveTo>
                  <a:lnTo>
                    <a:pt x="787029" y="0"/>
                  </a:lnTo>
                  <a:lnTo>
                    <a:pt x="787029" y="682091"/>
                  </a:lnTo>
                  <a:lnTo>
                    <a:pt x="0" y="68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7853" y="-57150"/>
              <a:ext cx="13884407" cy="102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Case-by-Case Approach: Use experience and training to assess each situation, as fraud patterns vary.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73972" y="8533130"/>
            <a:ext cx="12336957" cy="725170"/>
            <a:chOff x="0" y="0"/>
            <a:chExt cx="16449276" cy="966893"/>
          </a:xfrm>
        </p:grpSpPr>
        <p:sp>
          <p:nvSpPr>
            <p:cNvPr id="21" name="Freeform 21"/>
            <p:cNvSpPr/>
            <p:nvPr/>
          </p:nvSpPr>
          <p:spPr>
            <a:xfrm>
              <a:off x="0" y="142401"/>
              <a:ext cx="787029" cy="682092"/>
            </a:xfrm>
            <a:custGeom>
              <a:avLst/>
              <a:gdLst/>
              <a:ahLst/>
              <a:cxnLst/>
              <a:rect l="l" t="t" r="r" b="b"/>
              <a:pathLst>
                <a:path w="787029" h="682092">
                  <a:moveTo>
                    <a:pt x="0" y="0"/>
                  </a:moveTo>
                  <a:lnTo>
                    <a:pt x="787029" y="0"/>
                  </a:lnTo>
                  <a:lnTo>
                    <a:pt x="787029" y="682091"/>
                  </a:lnTo>
                  <a:lnTo>
                    <a:pt x="0" y="68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8096" y="-57150"/>
              <a:ext cx="15361180" cy="1024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Identify Commonalities: Look for patterns in email domains, review titles, account age, IP addresses, and review content, especially during spikes in positive reviews.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73972" y="876300"/>
            <a:ext cx="13997583" cy="92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Best Practices for Property Review Sweeps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3874" y="2866544"/>
            <a:ext cx="15819999" cy="6652569"/>
            <a:chOff x="0" y="0"/>
            <a:chExt cx="4166584" cy="17521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66584" cy="1752117"/>
            </a:xfrm>
            <a:custGeom>
              <a:avLst/>
              <a:gdLst/>
              <a:ahLst/>
              <a:cxnLst/>
              <a:rect l="l" t="t" r="r" b="b"/>
              <a:pathLst>
                <a:path w="4166584" h="1752117">
                  <a:moveTo>
                    <a:pt x="24958" y="0"/>
                  </a:moveTo>
                  <a:lnTo>
                    <a:pt x="4141626" y="0"/>
                  </a:lnTo>
                  <a:cubicBezTo>
                    <a:pt x="4148245" y="0"/>
                    <a:pt x="4154593" y="2630"/>
                    <a:pt x="4159274" y="7310"/>
                  </a:cubicBezTo>
                  <a:cubicBezTo>
                    <a:pt x="4163954" y="11991"/>
                    <a:pt x="4166584" y="18339"/>
                    <a:pt x="4166584" y="24958"/>
                  </a:cubicBezTo>
                  <a:lnTo>
                    <a:pt x="4166584" y="1727159"/>
                  </a:lnTo>
                  <a:cubicBezTo>
                    <a:pt x="4166584" y="1733778"/>
                    <a:pt x="4163954" y="1740126"/>
                    <a:pt x="4159274" y="1744807"/>
                  </a:cubicBezTo>
                  <a:cubicBezTo>
                    <a:pt x="4154593" y="1749487"/>
                    <a:pt x="4148245" y="1752117"/>
                    <a:pt x="4141626" y="1752117"/>
                  </a:cubicBezTo>
                  <a:lnTo>
                    <a:pt x="24958" y="1752117"/>
                  </a:lnTo>
                  <a:cubicBezTo>
                    <a:pt x="18339" y="1752117"/>
                    <a:pt x="11991" y="1749487"/>
                    <a:pt x="7310" y="1744807"/>
                  </a:cubicBezTo>
                  <a:cubicBezTo>
                    <a:pt x="2630" y="1740126"/>
                    <a:pt x="0" y="1733778"/>
                    <a:pt x="0" y="1727159"/>
                  </a:cubicBezTo>
                  <a:lnTo>
                    <a:pt x="0" y="24958"/>
                  </a:lnTo>
                  <a:cubicBezTo>
                    <a:pt x="0" y="18339"/>
                    <a:pt x="2630" y="11991"/>
                    <a:pt x="7310" y="7310"/>
                  </a:cubicBezTo>
                  <a:cubicBezTo>
                    <a:pt x="11991" y="2630"/>
                    <a:pt x="18339" y="0"/>
                    <a:pt x="249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66584" cy="1799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5610" y="3127357"/>
            <a:ext cx="5919912" cy="6130943"/>
            <a:chOff x="0" y="0"/>
            <a:chExt cx="1559154" cy="1614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9154" cy="1614734"/>
            </a:xfrm>
            <a:custGeom>
              <a:avLst/>
              <a:gdLst/>
              <a:ahLst/>
              <a:cxnLst/>
              <a:rect l="l" t="t" r="r" b="b"/>
              <a:pathLst>
                <a:path w="1559154" h="1614734">
                  <a:moveTo>
                    <a:pt x="66697" y="0"/>
                  </a:moveTo>
                  <a:lnTo>
                    <a:pt x="1492457" y="0"/>
                  </a:lnTo>
                  <a:cubicBezTo>
                    <a:pt x="1510146" y="0"/>
                    <a:pt x="1527111" y="7027"/>
                    <a:pt x="1539619" y="19535"/>
                  </a:cubicBezTo>
                  <a:cubicBezTo>
                    <a:pt x="1552127" y="32043"/>
                    <a:pt x="1559154" y="49008"/>
                    <a:pt x="1559154" y="66697"/>
                  </a:cubicBezTo>
                  <a:lnTo>
                    <a:pt x="1559154" y="1548037"/>
                  </a:lnTo>
                  <a:cubicBezTo>
                    <a:pt x="1559154" y="1565726"/>
                    <a:pt x="1552127" y="1582691"/>
                    <a:pt x="1539619" y="1595199"/>
                  </a:cubicBezTo>
                  <a:cubicBezTo>
                    <a:pt x="1527111" y="1607707"/>
                    <a:pt x="1510146" y="1614734"/>
                    <a:pt x="1492457" y="1614734"/>
                  </a:cubicBezTo>
                  <a:lnTo>
                    <a:pt x="66697" y="1614734"/>
                  </a:lnTo>
                  <a:cubicBezTo>
                    <a:pt x="49008" y="1614734"/>
                    <a:pt x="32043" y="1607707"/>
                    <a:pt x="19535" y="1595199"/>
                  </a:cubicBezTo>
                  <a:cubicBezTo>
                    <a:pt x="7027" y="1582691"/>
                    <a:pt x="0" y="1565726"/>
                    <a:pt x="0" y="1548037"/>
                  </a:cubicBezTo>
                  <a:lnTo>
                    <a:pt x="0" y="66697"/>
                  </a:lnTo>
                  <a:cubicBezTo>
                    <a:pt x="0" y="49008"/>
                    <a:pt x="7027" y="32043"/>
                    <a:pt x="19535" y="19535"/>
                  </a:cubicBezTo>
                  <a:cubicBezTo>
                    <a:pt x="32043" y="7027"/>
                    <a:pt x="49008" y="0"/>
                    <a:pt x="66697" y="0"/>
                  </a:cubicBezTo>
                  <a:close/>
                </a:path>
              </a:pathLst>
            </a:custGeom>
            <a:solidFill>
              <a:srgbClr val="9DFBA8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59154" cy="1662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2952792" y="4529220"/>
            <a:ext cx="2854713" cy="2397959"/>
          </a:xfrm>
          <a:custGeom>
            <a:avLst/>
            <a:gdLst/>
            <a:ahLst/>
            <a:cxnLst/>
            <a:rect l="l" t="t" r="r" b="b"/>
            <a:pathLst>
              <a:path w="2854713" h="2397959">
                <a:moveTo>
                  <a:pt x="0" y="0"/>
                </a:moveTo>
                <a:lnTo>
                  <a:pt x="2854714" y="0"/>
                </a:lnTo>
                <a:lnTo>
                  <a:pt x="2854714" y="2397959"/>
                </a:lnTo>
                <a:lnTo>
                  <a:pt x="0" y="239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8602070" y="4876294"/>
            <a:ext cx="7754953" cy="1536782"/>
            <a:chOff x="0" y="0"/>
            <a:chExt cx="2042457" cy="404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42457" cy="404749"/>
            </a:xfrm>
            <a:custGeom>
              <a:avLst/>
              <a:gdLst/>
              <a:ahLst/>
              <a:cxnLst/>
              <a:rect l="l" t="t" r="r" b="b"/>
              <a:pathLst>
                <a:path w="2042457" h="404749">
                  <a:moveTo>
                    <a:pt x="50914" y="0"/>
                  </a:moveTo>
                  <a:lnTo>
                    <a:pt x="1991543" y="0"/>
                  </a:lnTo>
                  <a:cubicBezTo>
                    <a:pt x="2019662" y="0"/>
                    <a:pt x="2042457" y="22795"/>
                    <a:pt x="2042457" y="50914"/>
                  </a:cubicBezTo>
                  <a:lnTo>
                    <a:pt x="2042457" y="353835"/>
                  </a:lnTo>
                  <a:cubicBezTo>
                    <a:pt x="2042457" y="381954"/>
                    <a:pt x="2019662" y="404749"/>
                    <a:pt x="1991543" y="404749"/>
                  </a:cubicBezTo>
                  <a:lnTo>
                    <a:pt x="50914" y="404749"/>
                  </a:lnTo>
                  <a:cubicBezTo>
                    <a:pt x="22795" y="404749"/>
                    <a:pt x="0" y="381954"/>
                    <a:pt x="0" y="353835"/>
                  </a:cubicBezTo>
                  <a:lnTo>
                    <a:pt x="0" y="50914"/>
                  </a:lnTo>
                  <a:cubicBezTo>
                    <a:pt x="0" y="22795"/>
                    <a:pt x="22795" y="0"/>
                    <a:pt x="50914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042457" cy="452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02070" y="6760195"/>
            <a:ext cx="7754953" cy="1563065"/>
            <a:chOff x="0" y="0"/>
            <a:chExt cx="2042457" cy="4116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2457" cy="411671"/>
            </a:xfrm>
            <a:custGeom>
              <a:avLst/>
              <a:gdLst/>
              <a:ahLst/>
              <a:cxnLst/>
              <a:rect l="l" t="t" r="r" b="b"/>
              <a:pathLst>
                <a:path w="2042457" h="411671">
                  <a:moveTo>
                    <a:pt x="50914" y="0"/>
                  </a:moveTo>
                  <a:lnTo>
                    <a:pt x="1991543" y="0"/>
                  </a:lnTo>
                  <a:cubicBezTo>
                    <a:pt x="2019662" y="0"/>
                    <a:pt x="2042457" y="22795"/>
                    <a:pt x="2042457" y="50914"/>
                  </a:cubicBezTo>
                  <a:lnTo>
                    <a:pt x="2042457" y="360757"/>
                  </a:lnTo>
                  <a:cubicBezTo>
                    <a:pt x="2042457" y="388876"/>
                    <a:pt x="2019662" y="411671"/>
                    <a:pt x="1991543" y="411671"/>
                  </a:cubicBezTo>
                  <a:lnTo>
                    <a:pt x="50914" y="411671"/>
                  </a:lnTo>
                  <a:cubicBezTo>
                    <a:pt x="22795" y="411671"/>
                    <a:pt x="0" y="388876"/>
                    <a:pt x="0" y="360757"/>
                  </a:cubicBezTo>
                  <a:lnTo>
                    <a:pt x="0" y="50914"/>
                  </a:lnTo>
                  <a:cubicBezTo>
                    <a:pt x="0" y="22795"/>
                    <a:pt x="22795" y="0"/>
                    <a:pt x="50914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042457" cy="459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522124"/>
            <a:ext cx="15550347" cy="185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Incentive Survey Process for Suspected Employee Incentives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52792" y="3631750"/>
            <a:ext cx="2705546" cy="509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2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When to Send?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6064" y="7295737"/>
            <a:ext cx="5119004" cy="117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8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If you suspect employee incentives, send incentive surveys for reviews from the last three months.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03873" y="3631706"/>
            <a:ext cx="6814324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Scenarios Triggering Surveys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65151" y="5234497"/>
            <a:ext cx="7145422" cy="78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8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Review spike from first-timers with legitimate emails but no common positive review themes.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47071" y="7150589"/>
            <a:ext cx="7040548" cy="78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8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Review spike from first-timers mentioning staff names without commonalities.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98362" y="4625431"/>
            <a:ext cx="788488" cy="788488"/>
            <a:chOff x="0" y="0"/>
            <a:chExt cx="1051317" cy="105131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051317" cy="1051317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80422" y="138353"/>
              <a:ext cx="690474" cy="616824"/>
            </a:xfrm>
            <a:custGeom>
              <a:avLst/>
              <a:gdLst/>
              <a:ahLst/>
              <a:cxnLst/>
              <a:rect l="l" t="t" r="r" b="b"/>
              <a:pathLst>
                <a:path w="690474" h="616824">
                  <a:moveTo>
                    <a:pt x="0" y="0"/>
                  </a:moveTo>
                  <a:lnTo>
                    <a:pt x="690474" y="0"/>
                  </a:lnTo>
                  <a:lnTo>
                    <a:pt x="690474" y="616823"/>
                  </a:lnTo>
                  <a:lnTo>
                    <a:pt x="0" y="61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07887" y="6524026"/>
            <a:ext cx="788488" cy="788488"/>
            <a:chOff x="0" y="0"/>
            <a:chExt cx="1051317" cy="1051317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051317" cy="1051317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180422" y="138353"/>
              <a:ext cx="690474" cy="616824"/>
            </a:xfrm>
            <a:custGeom>
              <a:avLst/>
              <a:gdLst/>
              <a:ahLst/>
              <a:cxnLst/>
              <a:rect l="l" t="t" r="r" b="b"/>
              <a:pathLst>
                <a:path w="690474" h="616824">
                  <a:moveTo>
                    <a:pt x="0" y="0"/>
                  </a:moveTo>
                  <a:lnTo>
                    <a:pt x="690474" y="0"/>
                  </a:lnTo>
                  <a:lnTo>
                    <a:pt x="690474" y="616823"/>
                  </a:lnTo>
                  <a:lnTo>
                    <a:pt x="0" y="61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38467" y="2630827"/>
            <a:ext cx="988955" cy="730722"/>
            <a:chOff x="0" y="0"/>
            <a:chExt cx="110003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0039" cy="812800"/>
            </a:xfrm>
            <a:custGeom>
              <a:avLst/>
              <a:gdLst/>
              <a:ahLst/>
              <a:cxnLst/>
              <a:rect l="l" t="t" r="r" b="b"/>
              <a:pathLst>
                <a:path w="1100039" h="812800">
                  <a:moveTo>
                    <a:pt x="1100039" y="406400"/>
                  </a:moveTo>
                  <a:lnTo>
                    <a:pt x="693639" y="0"/>
                  </a:lnTo>
                  <a:lnTo>
                    <a:pt x="69363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93639" y="609600"/>
                  </a:lnTo>
                  <a:lnTo>
                    <a:pt x="693639" y="812800"/>
                  </a:lnTo>
                  <a:lnTo>
                    <a:pt x="1100039" y="406400"/>
                  </a:lnTo>
                  <a:close/>
                </a:path>
              </a:pathLst>
            </a:custGeom>
            <a:solidFill>
              <a:srgbClr val="002B11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99843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54802" y="2630827"/>
            <a:ext cx="988955" cy="730722"/>
            <a:chOff x="0" y="0"/>
            <a:chExt cx="110003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0039" cy="812800"/>
            </a:xfrm>
            <a:custGeom>
              <a:avLst/>
              <a:gdLst/>
              <a:ahLst/>
              <a:cxnLst/>
              <a:rect l="l" t="t" r="r" b="b"/>
              <a:pathLst>
                <a:path w="1100039" h="812800">
                  <a:moveTo>
                    <a:pt x="1100039" y="406400"/>
                  </a:moveTo>
                  <a:lnTo>
                    <a:pt x="693639" y="0"/>
                  </a:lnTo>
                  <a:lnTo>
                    <a:pt x="69363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93639" y="609600"/>
                  </a:lnTo>
                  <a:lnTo>
                    <a:pt x="693639" y="812800"/>
                  </a:lnTo>
                  <a:lnTo>
                    <a:pt x="1100039" y="406400"/>
                  </a:lnTo>
                  <a:close/>
                </a:path>
              </a:pathLst>
            </a:custGeom>
            <a:solidFill>
              <a:srgbClr val="00763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46050"/>
              <a:ext cx="99843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71137" y="2630827"/>
            <a:ext cx="988955" cy="730722"/>
            <a:chOff x="0" y="0"/>
            <a:chExt cx="110003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0039" cy="812800"/>
            </a:xfrm>
            <a:custGeom>
              <a:avLst/>
              <a:gdLst/>
              <a:ahLst/>
              <a:cxnLst/>
              <a:rect l="l" t="t" r="r" b="b"/>
              <a:pathLst>
                <a:path w="1100039" h="812800">
                  <a:moveTo>
                    <a:pt x="1100039" y="406400"/>
                  </a:moveTo>
                  <a:lnTo>
                    <a:pt x="693639" y="0"/>
                  </a:lnTo>
                  <a:lnTo>
                    <a:pt x="69363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93639" y="609600"/>
                  </a:lnTo>
                  <a:lnTo>
                    <a:pt x="693639" y="812800"/>
                  </a:lnTo>
                  <a:lnTo>
                    <a:pt x="1100039" y="406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46050"/>
              <a:ext cx="99843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687472" y="2630827"/>
            <a:ext cx="988955" cy="730722"/>
            <a:chOff x="0" y="0"/>
            <a:chExt cx="110003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0039" cy="812800"/>
            </a:xfrm>
            <a:custGeom>
              <a:avLst/>
              <a:gdLst/>
              <a:ahLst/>
              <a:cxnLst/>
              <a:rect l="l" t="t" r="r" b="b"/>
              <a:pathLst>
                <a:path w="1100039" h="812800">
                  <a:moveTo>
                    <a:pt x="1100039" y="406400"/>
                  </a:moveTo>
                  <a:lnTo>
                    <a:pt x="693639" y="0"/>
                  </a:lnTo>
                  <a:lnTo>
                    <a:pt x="69363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93639" y="609600"/>
                  </a:lnTo>
                  <a:lnTo>
                    <a:pt x="693639" y="812800"/>
                  </a:lnTo>
                  <a:lnTo>
                    <a:pt x="1100039" y="406400"/>
                  </a:ln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46050"/>
              <a:ext cx="99843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6373" y="3534695"/>
            <a:ext cx="3811433" cy="5007614"/>
            <a:chOff x="0" y="0"/>
            <a:chExt cx="909422" cy="11948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09422" cy="1194835"/>
            </a:xfrm>
            <a:custGeom>
              <a:avLst/>
              <a:gdLst/>
              <a:ahLst/>
              <a:cxnLst/>
              <a:rect l="l" t="t" r="r" b="b"/>
              <a:pathLst>
                <a:path w="909422" h="1194835">
                  <a:moveTo>
                    <a:pt x="0" y="0"/>
                  </a:moveTo>
                  <a:lnTo>
                    <a:pt x="909422" y="0"/>
                  </a:lnTo>
                  <a:lnTo>
                    <a:pt x="909422" y="1194835"/>
                  </a:lnTo>
                  <a:lnTo>
                    <a:pt x="0" y="1194835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2B1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909422" cy="1251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43222" y="3534695"/>
            <a:ext cx="3811433" cy="5007614"/>
            <a:chOff x="0" y="0"/>
            <a:chExt cx="909422" cy="11948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09422" cy="1194835"/>
            </a:xfrm>
            <a:custGeom>
              <a:avLst/>
              <a:gdLst/>
              <a:ahLst/>
              <a:cxnLst/>
              <a:rect l="l" t="t" r="r" b="b"/>
              <a:pathLst>
                <a:path w="909422" h="1194835">
                  <a:moveTo>
                    <a:pt x="0" y="0"/>
                  </a:moveTo>
                  <a:lnTo>
                    <a:pt x="909422" y="0"/>
                  </a:lnTo>
                  <a:lnTo>
                    <a:pt x="909422" y="1194835"/>
                  </a:lnTo>
                  <a:lnTo>
                    <a:pt x="0" y="1194835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763D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09422" cy="1251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6373" y="3534695"/>
            <a:ext cx="3811433" cy="1106604"/>
            <a:chOff x="0" y="0"/>
            <a:chExt cx="909422" cy="264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9422" cy="264040"/>
            </a:xfrm>
            <a:custGeom>
              <a:avLst/>
              <a:gdLst/>
              <a:ahLst/>
              <a:cxnLst/>
              <a:rect l="l" t="t" r="r" b="b"/>
              <a:pathLst>
                <a:path w="909422" h="264040">
                  <a:moveTo>
                    <a:pt x="0" y="0"/>
                  </a:moveTo>
                  <a:lnTo>
                    <a:pt x="909422" y="0"/>
                  </a:lnTo>
                  <a:lnTo>
                    <a:pt x="909422" y="264040"/>
                  </a:lnTo>
                  <a:lnTo>
                    <a:pt x="0" y="264040"/>
                  </a:lnTo>
                  <a:close/>
                </a:path>
              </a:pathLst>
            </a:custGeom>
            <a:solidFill>
              <a:srgbClr val="002B1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09422" cy="321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43222" y="3534695"/>
            <a:ext cx="3811433" cy="1106604"/>
            <a:chOff x="0" y="0"/>
            <a:chExt cx="909422" cy="2640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9422" cy="264040"/>
            </a:xfrm>
            <a:custGeom>
              <a:avLst/>
              <a:gdLst/>
              <a:ahLst/>
              <a:cxnLst/>
              <a:rect l="l" t="t" r="r" b="b"/>
              <a:pathLst>
                <a:path w="909422" h="264040">
                  <a:moveTo>
                    <a:pt x="0" y="0"/>
                  </a:moveTo>
                  <a:lnTo>
                    <a:pt x="909422" y="0"/>
                  </a:lnTo>
                  <a:lnTo>
                    <a:pt x="909422" y="264040"/>
                  </a:lnTo>
                  <a:lnTo>
                    <a:pt x="0" y="264040"/>
                  </a:lnTo>
                  <a:close/>
                </a:path>
              </a:pathLst>
            </a:custGeom>
            <a:solidFill>
              <a:srgbClr val="00763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909422" cy="321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70070" y="3534695"/>
            <a:ext cx="3811433" cy="5007614"/>
            <a:chOff x="0" y="0"/>
            <a:chExt cx="909422" cy="119483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09422" cy="1194835"/>
            </a:xfrm>
            <a:custGeom>
              <a:avLst/>
              <a:gdLst/>
              <a:ahLst/>
              <a:cxnLst/>
              <a:rect l="l" t="t" r="r" b="b"/>
              <a:pathLst>
                <a:path w="909422" h="1194835">
                  <a:moveTo>
                    <a:pt x="0" y="0"/>
                  </a:moveTo>
                  <a:lnTo>
                    <a:pt x="909422" y="0"/>
                  </a:lnTo>
                  <a:lnTo>
                    <a:pt x="909422" y="1194835"/>
                  </a:lnTo>
                  <a:lnTo>
                    <a:pt x="0" y="1194835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909422" cy="1251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70070" y="3534695"/>
            <a:ext cx="3811433" cy="1106604"/>
            <a:chOff x="0" y="0"/>
            <a:chExt cx="909422" cy="264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9422" cy="264040"/>
            </a:xfrm>
            <a:custGeom>
              <a:avLst/>
              <a:gdLst/>
              <a:ahLst/>
              <a:cxnLst/>
              <a:rect l="l" t="t" r="r" b="b"/>
              <a:pathLst>
                <a:path w="909422" h="264040">
                  <a:moveTo>
                    <a:pt x="0" y="0"/>
                  </a:moveTo>
                  <a:lnTo>
                    <a:pt x="909422" y="0"/>
                  </a:lnTo>
                  <a:lnTo>
                    <a:pt x="909422" y="264040"/>
                  </a:lnTo>
                  <a:lnTo>
                    <a:pt x="0" y="264040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909422" cy="321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3861085" y="7292094"/>
            <a:ext cx="2681513" cy="1608908"/>
          </a:xfrm>
          <a:custGeom>
            <a:avLst/>
            <a:gdLst/>
            <a:ahLst/>
            <a:cxnLst/>
            <a:rect l="l" t="t" r="r" b="b"/>
            <a:pathLst>
              <a:path w="2681513" h="1608908">
                <a:moveTo>
                  <a:pt x="0" y="0"/>
                </a:moveTo>
                <a:lnTo>
                  <a:pt x="2681513" y="0"/>
                </a:lnTo>
                <a:lnTo>
                  <a:pt x="2681513" y="1608908"/>
                </a:lnTo>
                <a:lnTo>
                  <a:pt x="0" y="1608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13296919" y="3534695"/>
            <a:ext cx="3811433" cy="5007614"/>
            <a:chOff x="0" y="0"/>
            <a:chExt cx="909422" cy="119483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09422" cy="1194835"/>
            </a:xfrm>
            <a:custGeom>
              <a:avLst/>
              <a:gdLst/>
              <a:ahLst/>
              <a:cxnLst/>
              <a:rect l="l" t="t" r="r" b="b"/>
              <a:pathLst>
                <a:path w="909422" h="1194835">
                  <a:moveTo>
                    <a:pt x="0" y="0"/>
                  </a:moveTo>
                  <a:lnTo>
                    <a:pt x="909422" y="0"/>
                  </a:lnTo>
                  <a:lnTo>
                    <a:pt x="909422" y="1194835"/>
                  </a:lnTo>
                  <a:lnTo>
                    <a:pt x="0" y="1194835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EB5B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909422" cy="1251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296919" y="3534695"/>
            <a:ext cx="3811433" cy="1106604"/>
            <a:chOff x="0" y="0"/>
            <a:chExt cx="909422" cy="2640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9422" cy="264040"/>
            </a:xfrm>
            <a:custGeom>
              <a:avLst/>
              <a:gdLst/>
              <a:ahLst/>
              <a:cxnLst/>
              <a:rect l="l" t="t" r="r" b="b"/>
              <a:pathLst>
                <a:path w="909422" h="264040">
                  <a:moveTo>
                    <a:pt x="0" y="0"/>
                  </a:moveTo>
                  <a:lnTo>
                    <a:pt x="909422" y="0"/>
                  </a:lnTo>
                  <a:lnTo>
                    <a:pt x="909422" y="264040"/>
                  </a:lnTo>
                  <a:lnTo>
                    <a:pt x="0" y="264040"/>
                  </a:lnTo>
                  <a:close/>
                </a:path>
              </a:pathLst>
            </a:custGeom>
            <a:solidFill>
              <a:srgbClr val="00EB5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909422" cy="321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511781" y="5654679"/>
            <a:ext cx="2710670" cy="397565"/>
          </a:xfrm>
          <a:custGeom>
            <a:avLst/>
            <a:gdLst/>
            <a:ahLst/>
            <a:cxnLst/>
            <a:rect l="l" t="t" r="r" b="b"/>
            <a:pathLst>
              <a:path w="2710670" h="397565">
                <a:moveTo>
                  <a:pt x="0" y="0"/>
                </a:moveTo>
                <a:lnTo>
                  <a:pt x="2710670" y="0"/>
                </a:lnTo>
                <a:lnTo>
                  <a:pt x="2710670" y="397565"/>
                </a:lnTo>
                <a:lnTo>
                  <a:pt x="0" y="397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5485961" y="5644842"/>
            <a:ext cx="2925954" cy="273089"/>
          </a:xfrm>
          <a:custGeom>
            <a:avLst/>
            <a:gdLst/>
            <a:ahLst/>
            <a:cxnLst/>
            <a:rect l="l" t="t" r="r" b="b"/>
            <a:pathLst>
              <a:path w="2925954" h="273089">
                <a:moveTo>
                  <a:pt x="0" y="0"/>
                </a:moveTo>
                <a:lnTo>
                  <a:pt x="2925954" y="0"/>
                </a:lnTo>
                <a:lnTo>
                  <a:pt x="2925954" y="273089"/>
                </a:lnTo>
                <a:lnTo>
                  <a:pt x="0" y="273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10612582" y="5143500"/>
            <a:ext cx="967151" cy="838197"/>
          </a:xfrm>
          <a:custGeom>
            <a:avLst/>
            <a:gdLst/>
            <a:ahLst/>
            <a:cxnLst/>
            <a:rect l="l" t="t" r="r" b="b"/>
            <a:pathLst>
              <a:path w="967151" h="838197">
                <a:moveTo>
                  <a:pt x="0" y="0"/>
                </a:moveTo>
                <a:lnTo>
                  <a:pt x="967151" y="0"/>
                </a:lnTo>
                <a:lnTo>
                  <a:pt x="967151" y="838197"/>
                </a:lnTo>
                <a:lnTo>
                  <a:pt x="0" y="838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14457879" y="5196119"/>
            <a:ext cx="1429005" cy="1314684"/>
          </a:xfrm>
          <a:custGeom>
            <a:avLst/>
            <a:gdLst/>
            <a:ahLst/>
            <a:cxnLst/>
            <a:rect l="l" t="t" r="r" b="b"/>
            <a:pathLst>
              <a:path w="1429005" h="1314684">
                <a:moveTo>
                  <a:pt x="0" y="0"/>
                </a:moveTo>
                <a:lnTo>
                  <a:pt x="1429004" y="0"/>
                </a:lnTo>
                <a:lnTo>
                  <a:pt x="1429004" y="1314684"/>
                </a:lnTo>
                <a:lnTo>
                  <a:pt x="0" y="1314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044179" y="1105557"/>
            <a:ext cx="10984444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HOW TO SEARCH REVIEWS IN ART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05712" y="6767097"/>
            <a:ext cx="3032755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Enter Location ID in the search box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130707" y="3792460"/>
            <a:ext cx="138276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257556" y="3792460"/>
            <a:ext cx="138276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384405" y="3792460"/>
            <a:ext cx="138276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511253" y="3792460"/>
            <a:ext cx="138276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485961" y="6782714"/>
            <a:ext cx="3032755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Select 'Location ID' from dropdown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579780" y="6347255"/>
            <a:ext cx="3032755" cy="189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Under 'Advanced,' check 'Hide Photo Only,' 'Hide Owner Responses,' 'Hide if Verification Sent,' and set 'Show After Date' to 3 months prior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743504" y="6924260"/>
            <a:ext cx="303275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Click 'Search.'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66418" y="5662227"/>
            <a:ext cx="1401397" cy="33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69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4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Location ID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238924" y="5590153"/>
            <a:ext cx="1401397" cy="33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69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4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Location ID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97218" y="3082028"/>
            <a:ext cx="1875851" cy="18758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63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3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21297" y="3082028"/>
            <a:ext cx="1875851" cy="187585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3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49798" y="3082028"/>
            <a:ext cx="1875851" cy="18758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3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 flipV="1">
            <a:off x="4846335" y="2856017"/>
            <a:ext cx="1453468" cy="410605"/>
          </a:xfrm>
          <a:custGeom>
            <a:avLst/>
            <a:gdLst/>
            <a:ahLst/>
            <a:cxnLst/>
            <a:rect l="l" t="t" r="r" b="b"/>
            <a:pathLst>
              <a:path w="1453468" h="410605">
                <a:moveTo>
                  <a:pt x="0" y="410605"/>
                </a:moveTo>
                <a:lnTo>
                  <a:pt x="1453468" y="410605"/>
                </a:lnTo>
                <a:lnTo>
                  <a:pt x="1453468" y="0"/>
                </a:lnTo>
                <a:lnTo>
                  <a:pt x="0" y="0"/>
                </a:lnTo>
                <a:lnTo>
                  <a:pt x="0" y="4106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/>
          <p:cNvSpPr/>
          <p:nvPr/>
        </p:nvSpPr>
        <p:spPr>
          <a:xfrm flipV="1">
            <a:off x="8992558" y="2876726"/>
            <a:ext cx="1453468" cy="410605"/>
          </a:xfrm>
          <a:custGeom>
            <a:avLst/>
            <a:gdLst/>
            <a:ahLst/>
            <a:cxnLst/>
            <a:rect l="l" t="t" r="r" b="b"/>
            <a:pathLst>
              <a:path w="1453468" h="410605">
                <a:moveTo>
                  <a:pt x="0" y="410604"/>
                </a:moveTo>
                <a:lnTo>
                  <a:pt x="1453467" y="410604"/>
                </a:lnTo>
                <a:lnTo>
                  <a:pt x="1453467" y="0"/>
                </a:lnTo>
                <a:lnTo>
                  <a:pt x="0" y="0"/>
                </a:lnTo>
                <a:lnTo>
                  <a:pt x="0" y="410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466586" y="2437468"/>
            <a:ext cx="791762" cy="878515"/>
          </a:xfrm>
          <a:custGeom>
            <a:avLst/>
            <a:gdLst/>
            <a:ahLst/>
            <a:cxnLst/>
            <a:rect l="l" t="t" r="r" b="b"/>
            <a:pathLst>
              <a:path w="791762" h="878515">
                <a:moveTo>
                  <a:pt x="0" y="0"/>
                </a:moveTo>
                <a:lnTo>
                  <a:pt x="791762" y="0"/>
                </a:lnTo>
                <a:lnTo>
                  <a:pt x="791762" y="878516"/>
                </a:lnTo>
                <a:lnTo>
                  <a:pt x="0" y="878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4176107" y="3640484"/>
            <a:ext cx="918073" cy="758940"/>
          </a:xfrm>
          <a:custGeom>
            <a:avLst/>
            <a:gdLst/>
            <a:ahLst/>
            <a:cxnLst/>
            <a:rect l="l" t="t" r="r" b="b"/>
            <a:pathLst>
              <a:path w="918073" h="758940">
                <a:moveTo>
                  <a:pt x="0" y="0"/>
                </a:moveTo>
                <a:lnTo>
                  <a:pt x="918073" y="0"/>
                </a:lnTo>
                <a:lnTo>
                  <a:pt x="918073" y="758940"/>
                </a:lnTo>
                <a:lnTo>
                  <a:pt x="0" y="758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178943" y="3682206"/>
            <a:ext cx="960559" cy="717217"/>
          </a:xfrm>
          <a:custGeom>
            <a:avLst/>
            <a:gdLst/>
            <a:ahLst/>
            <a:cxnLst/>
            <a:rect l="l" t="t" r="r" b="b"/>
            <a:pathLst>
              <a:path w="960559" h="717217">
                <a:moveTo>
                  <a:pt x="0" y="0"/>
                </a:moveTo>
                <a:lnTo>
                  <a:pt x="960559" y="0"/>
                </a:lnTo>
                <a:lnTo>
                  <a:pt x="960559" y="717218"/>
                </a:lnTo>
                <a:lnTo>
                  <a:pt x="0" y="717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2308253" y="3640484"/>
            <a:ext cx="758940" cy="758940"/>
          </a:xfrm>
          <a:custGeom>
            <a:avLst/>
            <a:gdLst/>
            <a:ahLst/>
            <a:cxnLst/>
            <a:rect l="l" t="t" r="r" b="b"/>
            <a:pathLst>
              <a:path w="758940" h="758940">
                <a:moveTo>
                  <a:pt x="0" y="0"/>
                </a:moveTo>
                <a:lnTo>
                  <a:pt x="758940" y="0"/>
                </a:lnTo>
                <a:lnTo>
                  <a:pt x="758940" y="758940"/>
                </a:lnTo>
                <a:lnTo>
                  <a:pt x="0" y="758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885825"/>
            <a:ext cx="10612189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Sending Bulk Incentive Surveys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18704" y="5220270"/>
            <a:ext cx="3032880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On the results page, select all reviews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42782" y="5220270"/>
            <a:ext cx="3032880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Choose 'Incentive Survey' from 'Actions' dropdown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71283" y="5220270"/>
            <a:ext cx="3312533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Click 'Go' to send surveys automatically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7012240"/>
            <a:ext cx="11798850" cy="2212089"/>
            <a:chOff x="0" y="0"/>
            <a:chExt cx="15731799" cy="2949452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5593797" cy="2782278"/>
              <a:chOff x="0" y="0"/>
              <a:chExt cx="3080256" cy="54958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080256" cy="549586"/>
              </a:xfrm>
              <a:custGeom>
                <a:avLst/>
                <a:gdLst/>
                <a:ahLst/>
                <a:cxnLst/>
                <a:rect l="l" t="t" r="r" b="b"/>
                <a:pathLst>
                  <a:path w="3080256" h="549586">
                    <a:moveTo>
                      <a:pt x="33760" y="0"/>
                    </a:moveTo>
                    <a:lnTo>
                      <a:pt x="3046496" y="0"/>
                    </a:lnTo>
                    <a:cubicBezTo>
                      <a:pt x="3055450" y="0"/>
                      <a:pt x="3064037" y="3557"/>
                      <a:pt x="3070368" y="9888"/>
                    </a:cubicBezTo>
                    <a:cubicBezTo>
                      <a:pt x="3076699" y="16219"/>
                      <a:pt x="3080256" y="24806"/>
                      <a:pt x="3080256" y="33760"/>
                    </a:cubicBezTo>
                    <a:lnTo>
                      <a:pt x="3080256" y="515825"/>
                    </a:lnTo>
                    <a:cubicBezTo>
                      <a:pt x="3080256" y="524779"/>
                      <a:pt x="3076699" y="533366"/>
                      <a:pt x="3070368" y="539698"/>
                    </a:cubicBezTo>
                    <a:cubicBezTo>
                      <a:pt x="3064037" y="546029"/>
                      <a:pt x="3055450" y="549586"/>
                      <a:pt x="3046496" y="549586"/>
                    </a:cubicBezTo>
                    <a:lnTo>
                      <a:pt x="33760" y="549586"/>
                    </a:lnTo>
                    <a:cubicBezTo>
                      <a:pt x="15115" y="549586"/>
                      <a:pt x="0" y="534471"/>
                      <a:pt x="0" y="515825"/>
                    </a:cubicBezTo>
                    <a:lnTo>
                      <a:pt x="0" y="33760"/>
                    </a:lnTo>
                    <a:cubicBezTo>
                      <a:pt x="0" y="24806"/>
                      <a:pt x="3557" y="16219"/>
                      <a:pt x="9888" y="9888"/>
                    </a:cubicBezTo>
                    <a:cubicBezTo>
                      <a:pt x="16219" y="3557"/>
                      <a:pt x="24806" y="0"/>
                      <a:pt x="3376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3080256" cy="597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38002" y="167175"/>
              <a:ext cx="15593797" cy="2782278"/>
              <a:chOff x="0" y="0"/>
              <a:chExt cx="3080256" cy="5495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080256" cy="549586"/>
              </a:xfrm>
              <a:custGeom>
                <a:avLst/>
                <a:gdLst/>
                <a:ahLst/>
                <a:cxnLst/>
                <a:rect l="l" t="t" r="r" b="b"/>
                <a:pathLst>
                  <a:path w="3080256" h="549586">
                    <a:moveTo>
                      <a:pt x="33760" y="0"/>
                    </a:moveTo>
                    <a:lnTo>
                      <a:pt x="3046496" y="0"/>
                    </a:lnTo>
                    <a:cubicBezTo>
                      <a:pt x="3055450" y="0"/>
                      <a:pt x="3064037" y="3557"/>
                      <a:pt x="3070368" y="9888"/>
                    </a:cubicBezTo>
                    <a:cubicBezTo>
                      <a:pt x="3076699" y="16219"/>
                      <a:pt x="3080256" y="24806"/>
                      <a:pt x="3080256" y="33760"/>
                    </a:cubicBezTo>
                    <a:lnTo>
                      <a:pt x="3080256" y="515825"/>
                    </a:lnTo>
                    <a:cubicBezTo>
                      <a:pt x="3080256" y="524779"/>
                      <a:pt x="3076699" y="533366"/>
                      <a:pt x="3070368" y="539698"/>
                    </a:cubicBezTo>
                    <a:cubicBezTo>
                      <a:pt x="3064037" y="546029"/>
                      <a:pt x="3055450" y="549586"/>
                      <a:pt x="3046496" y="549586"/>
                    </a:cubicBezTo>
                    <a:lnTo>
                      <a:pt x="33760" y="549586"/>
                    </a:lnTo>
                    <a:cubicBezTo>
                      <a:pt x="15115" y="549586"/>
                      <a:pt x="0" y="534471"/>
                      <a:pt x="0" y="515825"/>
                    </a:cubicBezTo>
                    <a:lnTo>
                      <a:pt x="0" y="33760"/>
                    </a:lnTo>
                    <a:cubicBezTo>
                      <a:pt x="0" y="24806"/>
                      <a:pt x="3557" y="16219"/>
                      <a:pt x="9888" y="9888"/>
                    </a:cubicBezTo>
                    <a:cubicBezTo>
                      <a:pt x="16219" y="3557"/>
                      <a:pt x="24806" y="0"/>
                      <a:pt x="33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3080256" cy="597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577714" y="7294547"/>
            <a:ext cx="1392465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Important Notes: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9749" y="7835523"/>
            <a:ext cx="10957074" cy="93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345" marR="0" lvl="1" indent="-237490" algn="l" defTabSz="914400" rtl="0" eaLnBrk="1" fontAlgn="auto" latinLnBrk="0" hangingPunct="1">
              <a:lnSpc>
                <a:spcPts val="38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Bulk Incentive Surveys are the only bulk action allowed.</a:t>
            </a:r>
            <a:endParaRPr lang="en-US"/>
          </a:p>
          <a:p>
            <a:pPr marL="474345" marR="0" lvl="1" indent="-237490" algn="l" defTabSz="914400" rtl="0" eaLnBrk="1" fontAlgn="auto" latinLnBrk="0" hangingPunct="1">
              <a:lnSpc>
                <a:spcPts val="38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No need to escalate these cases to T2, INV, or via Sweeps Request form.</a:t>
            </a:r>
            <a:endParaRPr lang="en-US" sz="21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01650"/>
            <a:ext cx="1092281" cy="1092281"/>
            <a:chOff x="0" y="0"/>
            <a:chExt cx="1456374" cy="145637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56374" cy="1456374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2F15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266812" y="446061"/>
              <a:ext cx="922750" cy="526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9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36" b="1" i="0" u="none" strike="noStrike" kern="1200" cap="none" spc="0" normalizeH="0" baseline="0" noProof="0">
                  <a:ln>
                    <a:noFill/>
                  </a:ln>
                  <a:solidFill>
                    <a:srgbClr val="1B1B1B"/>
                  </a:solidFill>
                  <a:effectLst/>
                  <a:uLnTx/>
                  <a:uFillTx/>
                  <a:latin typeface="Telegraf Bold"/>
                  <a:ea typeface="Telegraf Bold"/>
                  <a:cs typeface="Telegraf Bold"/>
                  <a:sym typeface="Telegraf Bold"/>
                </a:rPr>
                <a:t>01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65104" y="3101650"/>
            <a:ext cx="1165350" cy="1165350"/>
            <a:chOff x="0" y="0"/>
            <a:chExt cx="1553800" cy="15538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2F15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84661" y="478450"/>
              <a:ext cx="984478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3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1B1B1B"/>
                  </a:solidFill>
                  <a:effectLst/>
                  <a:uLnTx/>
                  <a:uFillTx/>
                  <a:latin typeface="Telegraf Bold"/>
                  <a:ea typeface="Telegraf Bold"/>
                  <a:cs typeface="Telegraf Bold"/>
                  <a:sym typeface="Telegraf Bold"/>
                </a:rPr>
                <a:t>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701509" y="3101650"/>
            <a:ext cx="1165350" cy="1165350"/>
            <a:chOff x="0" y="0"/>
            <a:chExt cx="1553800" cy="15538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2F15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84661" y="478450"/>
              <a:ext cx="984478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3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1B1B1B"/>
                  </a:solidFill>
                  <a:effectLst/>
                  <a:uLnTx/>
                  <a:uFillTx/>
                  <a:latin typeface="Telegraf Bold"/>
                  <a:ea typeface="Telegraf Bold"/>
                  <a:cs typeface="Telegraf Bold"/>
                  <a:sym typeface="Telegraf Bold"/>
                </a:rPr>
                <a:t>03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885825"/>
            <a:ext cx="12259121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Key Actions for Boosting/Vandalism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109779"/>
            <a:ext cx="14681299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When Specific Allegations Exist: </a:t>
            </a: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Locate mentioned reviews, users, or listings and take appropriate action.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5309235"/>
            <a:ext cx="5145063" cy="278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marR="0" lvl="1" indent="-194310" algn="l" defTabSz="914400" rtl="0" eaLnBrk="1" fontAlgn="auto" latinLnBrk="0" hangingPunct="1">
              <a:lnSpc>
                <a:spcPts val="31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Look for clusters of reviews with common attributes such as similar emails or suspicious locations.</a:t>
            </a:r>
          </a:p>
          <a:p>
            <a:pPr marL="388620" marR="0" lvl="1" indent="-194310" algn="l" defTabSz="914400" rtl="0" eaLnBrk="1" fontAlgn="auto" latinLnBrk="0" hangingPunct="1">
              <a:lnSpc>
                <a:spcPts val="31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Review patterns that are clear and consistent across positive reviews in a timeframe may warrant removal.</a:t>
            </a:r>
          </a:p>
          <a:p>
            <a:pPr marL="0" marR="0" lvl="0" indent="0" algn="l" defTabSz="914400" rtl="0" eaLnBrk="1" fontAlgn="auto" latinLnBrk="0" hangingPunct="1">
              <a:lnSpc>
                <a:spcPts val="31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4641605"/>
            <a:ext cx="5145063" cy="3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Detecting Fraud Patterns: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65104" y="5633085"/>
            <a:ext cx="5145063" cy="198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marR="0" lvl="1" indent="-194310" algn="l" defTabSz="914400" rtl="0" eaLnBrk="1" fontAlgn="auto" latinLnBrk="0" hangingPunct="1">
              <a:lnSpc>
                <a:spcPts val="31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Use URD with location ID and advanced filters (hide owner responses, photo-only reviews).</a:t>
            </a:r>
          </a:p>
          <a:p>
            <a:pPr marL="388620" marR="0" lvl="1" indent="-194310" algn="l" defTabSz="914400" rtl="0" eaLnBrk="1" fontAlgn="auto" latinLnBrk="0" hangingPunct="1">
              <a:lnSpc>
                <a:spcPts val="31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Sort reviews by IP, fingerprint, submission date, email, device type to spot patterns.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5104" y="4555880"/>
            <a:ext cx="4557791" cy="74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Review History Access &amp; Analysis: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75880" y="5356420"/>
            <a:ext cx="4473895" cy="198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marR="0" lvl="1" indent="-194310" algn="l" defTabSz="914400" rtl="0" eaLnBrk="1" fontAlgn="auto" latinLnBrk="0" hangingPunct="1">
              <a:lnSpc>
                <a:spcPts val="31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Remove suspicious reviews individually using appropriate removal types like "Suspected Boosting".</a:t>
            </a:r>
          </a:p>
          <a:p>
            <a:pPr marL="388620" marR="0" lvl="1" indent="-194310" algn="l" defTabSz="914400" rtl="0" eaLnBrk="1" fontAlgn="auto" latinLnBrk="0" hangingPunct="1">
              <a:lnSpc>
                <a:spcPts val="31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Avoid bulk fraud removals.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01509" y="4574930"/>
            <a:ext cx="4557791" cy="38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Removal Guidelines: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25E9E5-3951-F587-AD7C-AA71F6C578C3}"/>
              </a:ext>
            </a:extLst>
          </p:cNvPr>
          <p:cNvSpPr txBox="1"/>
          <p:nvPr/>
        </p:nvSpPr>
        <p:spPr>
          <a:xfrm>
            <a:off x="947057" y="504828"/>
            <a:ext cx="1355852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5200" dirty="0"/>
              <a:t>Examples illustrating a property sweep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425DB-E42F-39FB-8539-41D49862D627}"/>
              </a:ext>
            </a:extLst>
          </p:cNvPr>
          <p:cNvSpPr txBox="1"/>
          <p:nvPr/>
        </p:nvSpPr>
        <p:spPr>
          <a:xfrm>
            <a:off x="600003" y="9661691"/>
            <a:ext cx="10000001" cy="314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defTabSz="914441"/>
            <a:r>
              <a:rPr dirty="0"/>
              <a:t>T</a:t>
            </a:r>
            <a:r>
              <a:rPr lang="en-US" dirty="0"/>
              <a:t>ripadvisor / Property Sweep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E2CF00-9A03-A42C-8D71-33DC1EE211E3}"/>
              </a:ext>
            </a:extLst>
          </p:cNvPr>
          <p:cNvSpPr txBox="1"/>
          <p:nvPr/>
        </p:nvSpPr>
        <p:spPr>
          <a:xfrm>
            <a:off x="16504330" y="9727004"/>
            <a:ext cx="1200000" cy="314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1"/>
            <a:r>
              <a:rPr lang="en-US" sz="1400" dirty="0">
                <a:solidFill>
                  <a:srgbClr val="8A8272"/>
                </a:solidFill>
                <a:latin typeface="Poppins"/>
              </a:rPr>
              <a:t>9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D0A8D91-AAC1-8814-A4CC-0708B8B97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165205"/>
              </p:ext>
            </p:extLst>
          </p:nvPr>
        </p:nvGraphicFramePr>
        <p:xfrm>
          <a:off x="947057" y="1627234"/>
          <a:ext cx="16475530" cy="78245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242192">
                  <a:extLst>
                    <a:ext uri="{9D8B030D-6E8A-4147-A177-3AD203B41FA5}">
                      <a16:colId xmlns:a16="http://schemas.microsoft.com/office/drawing/2014/main" val="1183109383"/>
                    </a:ext>
                  </a:extLst>
                </a:gridCol>
                <a:gridCol w="3523785">
                  <a:extLst>
                    <a:ext uri="{9D8B030D-6E8A-4147-A177-3AD203B41FA5}">
                      <a16:colId xmlns:a16="http://schemas.microsoft.com/office/drawing/2014/main" val="1005595182"/>
                    </a:ext>
                  </a:extLst>
                </a:gridCol>
                <a:gridCol w="2698595">
                  <a:extLst>
                    <a:ext uri="{9D8B030D-6E8A-4147-A177-3AD203B41FA5}">
                      <a16:colId xmlns:a16="http://schemas.microsoft.com/office/drawing/2014/main" val="3796936187"/>
                    </a:ext>
                  </a:extLst>
                </a:gridCol>
                <a:gridCol w="4014439">
                  <a:extLst>
                    <a:ext uri="{9D8B030D-6E8A-4147-A177-3AD203B41FA5}">
                      <a16:colId xmlns:a16="http://schemas.microsoft.com/office/drawing/2014/main" val="192982215"/>
                    </a:ext>
                  </a:extLst>
                </a:gridCol>
                <a:gridCol w="3996519">
                  <a:extLst>
                    <a:ext uri="{9D8B030D-6E8A-4147-A177-3AD203B41FA5}">
                      <a16:colId xmlns:a16="http://schemas.microsoft.com/office/drawing/2014/main" val="686142621"/>
                    </a:ext>
                  </a:extLst>
                </a:gridCol>
              </a:tblGrid>
              <a:tr h="692220"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ZD Ticket</a:t>
                      </a:r>
                      <a:endParaRPr lang="en-US" sz="2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Location ID &amp; name</a:t>
                      </a:r>
                      <a:endParaRPr lang="en-US" sz="2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Type of Violation</a:t>
                      </a:r>
                      <a:endParaRPr lang="en-US" sz="2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Comments</a:t>
                      </a:r>
                      <a:endParaRPr lang="en-US" sz="2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INV Advice</a:t>
                      </a:r>
                      <a:endParaRPr lang="en-US" sz="2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250116"/>
                  </a:ext>
                </a:extLst>
              </a:tr>
              <a:tr h="1333236"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895025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Location ID: 25569781 </a:t>
                      </a:r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Property Name: Hayal Et </a:t>
                      </a:r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Property Type: Restaurant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Boosting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Property has an influx of positive reviews from new accounts, formulaic email, OTT positive, no other submission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 would send suspicious verifications on reviews from first-timers with a Gmail domain.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059077"/>
                  </a:ext>
                </a:extLst>
              </a:tr>
              <a:tr h="2281388"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886040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Location ID: 25179773 </a:t>
                      </a:r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Property Name: Samatha Spa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Boeungkak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Property Type: Attraction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Boosting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Rapid submission, many reviews from accounts with only 1 review or accounts that only submit reviews to different spa listings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The photos that were submitted look similar. I would recommend agents to remove as Suspected Boosting or send suspicious verifications to those first timers or accounts submitting for multiple spa listings.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653315"/>
                  </a:ext>
                </a:extLst>
              </a:tr>
              <a:tr h="2198058"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889799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Location ID: 299124 </a:t>
                      </a:r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Property Name: The Lalit Mumbai </a:t>
                      </a:r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Property Type: Accommodation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Boosting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An influx of positive reviews in property history, starting from review 948935010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INV has already handled this, and most reviews have been removed due to failed verifications. </a:t>
                      </a:r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b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Most of these reviews are short and contain staff names. If agents come across a similar case, they can send incentive surveys.</a:t>
                      </a:r>
                      <a:endParaRPr lang="en-US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562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55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8821341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Fraud Indicators to Watch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60922"/>
            <a:ext cx="12239195" cy="985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5985" marR="0" lvl="1" indent="-237993" algn="l" defTabSz="914400" rtl="0" eaLnBrk="1" fontAlgn="auto" latinLnBrk="0" hangingPunct="1">
              <a:lnSpc>
                <a:spcPts val="40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204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Multiple reviews from same IP or within close distance to property.</a:t>
            </a:r>
          </a:p>
          <a:p>
            <a:pPr marL="475985" marR="0" lvl="1" indent="-237993" algn="l" defTabSz="914400" rtl="0" eaLnBrk="1" fontAlgn="auto" latinLnBrk="0" hangingPunct="1">
              <a:lnSpc>
                <a:spcPts val="40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204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Formulaic or disposable email domains, especially if clustered.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2789" y="3351377"/>
            <a:ext cx="4620369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Here are some examples: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2789" y="4251807"/>
            <a:ext cx="7092153" cy="1796677"/>
            <a:chOff x="0" y="0"/>
            <a:chExt cx="1867892" cy="4731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7892" cy="473199"/>
            </a:xfrm>
            <a:custGeom>
              <a:avLst/>
              <a:gdLst/>
              <a:ahLst/>
              <a:cxnLst/>
              <a:rect l="l" t="t" r="r" b="b"/>
              <a:pathLst>
                <a:path w="1867892" h="473199">
                  <a:moveTo>
                    <a:pt x="55673" y="0"/>
                  </a:moveTo>
                  <a:lnTo>
                    <a:pt x="1812219" y="0"/>
                  </a:lnTo>
                  <a:cubicBezTo>
                    <a:pt x="1842967" y="0"/>
                    <a:pt x="1867892" y="24925"/>
                    <a:pt x="1867892" y="55673"/>
                  </a:cubicBezTo>
                  <a:lnTo>
                    <a:pt x="1867892" y="417526"/>
                  </a:lnTo>
                  <a:cubicBezTo>
                    <a:pt x="1867892" y="448273"/>
                    <a:pt x="1842967" y="473199"/>
                    <a:pt x="1812219" y="473199"/>
                  </a:cubicBezTo>
                  <a:lnTo>
                    <a:pt x="55673" y="473199"/>
                  </a:lnTo>
                  <a:cubicBezTo>
                    <a:pt x="24925" y="473199"/>
                    <a:pt x="0" y="448273"/>
                    <a:pt x="0" y="417526"/>
                  </a:cubicBezTo>
                  <a:lnTo>
                    <a:pt x="0" y="55673"/>
                  </a:lnTo>
                  <a:cubicBezTo>
                    <a:pt x="0" y="24925"/>
                    <a:pt x="24925" y="0"/>
                    <a:pt x="5567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67892" cy="530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5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52888" y="4546530"/>
            <a:ext cx="6411955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Same punctuation and/or structure like john.smith@gmail.com, jane.doe@gmail.com, joe.blow@gmail.com, etc.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03983" y="4251807"/>
            <a:ext cx="7092153" cy="1796677"/>
            <a:chOff x="0" y="0"/>
            <a:chExt cx="1867892" cy="4731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67892" cy="473199"/>
            </a:xfrm>
            <a:custGeom>
              <a:avLst/>
              <a:gdLst/>
              <a:ahLst/>
              <a:cxnLst/>
              <a:rect l="l" t="t" r="r" b="b"/>
              <a:pathLst>
                <a:path w="1867892" h="473199">
                  <a:moveTo>
                    <a:pt x="55673" y="0"/>
                  </a:moveTo>
                  <a:lnTo>
                    <a:pt x="1812219" y="0"/>
                  </a:lnTo>
                  <a:cubicBezTo>
                    <a:pt x="1842967" y="0"/>
                    <a:pt x="1867892" y="24925"/>
                    <a:pt x="1867892" y="55673"/>
                  </a:cubicBezTo>
                  <a:lnTo>
                    <a:pt x="1867892" y="417526"/>
                  </a:lnTo>
                  <a:cubicBezTo>
                    <a:pt x="1867892" y="448273"/>
                    <a:pt x="1842967" y="473199"/>
                    <a:pt x="1812219" y="473199"/>
                  </a:cubicBezTo>
                  <a:lnTo>
                    <a:pt x="55673" y="473199"/>
                  </a:lnTo>
                  <a:cubicBezTo>
                    <a:pt x="24925" y="473199"/>
                    <a:pt x="0" y="448273"/>
                    <a:pt x="0" y="417526"/>
                  </a:cubicBezTo>
                  <a:lnTo>
                    <a:pt x="0" y="55673"/>
                  </a:lnTo>
                  <a:cubicBezTo>
                    <a:pt x="0" y="24925"/>
                    <a:pt x="24925" y="0"/>
                    <a:pt x="5567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867892" cy="530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5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865285" y="4553176"/>
            <a:ext cx="6525157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Same number and/or placement of digits like johnsmith39@gmail.com, janedoe43@gmail.com, joeblow11@gmail.com, etc.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12789" y="6243333"/>
            <a:ext cx="7092153" cy="1796677"/>
            <a:chOff x="0" y="0"/>
            <a:chExt cx="1867892" cy="4731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67892" cy="473199"/>
            </a:xfrm>
            <a:custGeom>
              <a:avLst/>
              <a:gdLst/>
              <a:ahLst/>
              <a:cxnLst/>
              <a:rect l="l" t="t" r="r" b="b"/>
              <a:pathLst>
                <a:path w="1867892" h="473199">
                  <a:moveTo>
                    <a:pt x="55673" y="0"/>
                  </a:moveTo>
                  <a:lnTo>
                    <a:pt x="1812219" y="0"/>
                  </a:lnTo>
                  <a:cubicBezTo>
                    <a:pt x="1842967" y="0"/>
                    <a:pt x="1867892" y="24925"/>
                    <a:pt x="1867892" y="55673"/>
                  </a:cubicBezTo>
                  <a:lnTo>
                    <a:pt x="1867892" y="417526"/>
                  </a:lnTo>
                  <a:cubicBezTo>
                    <a:pt x="1867892" y="448273"/>
                    <a:pt x="1842967" y="473199"/>
                    <a:pt x="1812219" y="473199"/>
                  </a:cubicBezTo>
                  <a:lnTo>
                    <a:pt x="55673" y="473199"/>
                  </a:lnTo>
                  <a:cubicBezTo>
                    <a:pt x="24925" y="473199"/>
                    <a:pt x="0" y="448273"/>
                    <a:pt x="0" y="417526"/>
                  </a:cubicBezTo>
                  <a:lnTo>
                    <a:pt x="0" y="55673"/>
                  </a:lnTo>
                  <a:cubicBezTo>
                    <a:pt x="0" y="24925"/>
                    <a:pt x="24925" y="0"/>
                    <a:pt x="5567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867892" cy="530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5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41589" y="6793056"/>
            <a:ext cx="6634553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Same actual digits like johnsmith999@gmail.com, janedoe999@gmail.com, joeblow999@gmail.com, etc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503983" y="6243333"/>
            <a:ext cx="7092153" cy="1796677"/>
            <a:chOff x="0" y="0"/>
            <a:chExt cx="1867892" cy="4731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67892" cy="473199"/>
            </a:xfrm>
            <a:custGeom>
              <a:avLst/>
              <a:gdLst/>
              <a:ahLst/>
              <a:cxnLst/>
              <a:rect l="l" t="t" r="r" b="b"/>
              <a:pathLst>
                <a:path w="1867892" h="473199">
                  <a:moveTo>
                    <a:pt x="55673" y="0"/>
                  </a:moveTo>
                  <a:lnTo>
                    <a:pt x="1812219" y="0"/>
                  </a:lnTo>
                  <a:cubicBezTo>
                    <a:pt x="1842967" y="0"/>
                    <a:pt x="1867892" y="24925"/>
                    <a:pt x="1867892" y="55673"/>
                  </a:cubicBezTo>
                  <a:lnTo>
                    <a:pt x="1867892" y="417526"/>
                  </a:lnTo>
                  <a:cubicBezTo>
                    <a:pt x="1867892" y="448273"/>
                    <a:pt x="1842967" y="473199"/>
                    <a:pt x="1812219" y="473199"/>
                  </a:cubicBezTo>
                  <a:lnTo>
                    <a:pt x="55673" y="473199"/>
                  </a:lnTo>
                  <a:cubicBezTo>
                    <a:pt x="24925" y="473199"/>
                    <a:pt x="0" y="448273"/>
                    <a:pt x="0" y="417526"/>
                  </a:cubicBezTo>
                  <a:lnTo>
                    <a:pt x="0" y="55673"/>
                  </a:lnTo>
                  <a:cubicBezTo>
                    <a:pt x="0" y="24925"/>
                    <a:pt x="24925" y="0"/>
                    <a:pt x="5567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867892" cy="530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5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856581" y="6478731"/>
            <a:ext cx="6386955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The names of celebrities, public figures, or fictional characters in email addresses like barackobama@yahoo.com, donaldtrump@yahoo.com, joebiden@yahoo.com, 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32727" y="2897815"/>
            <a:ext cx="4021672" cy="2258600"/>
            <a:chOff x="0" y="0"/>
            <a:chExt cx="5362229" cy="301146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272985" cy="2944270"/>
              <a:chOff x="0" y="0"/>
              <a:chExt cx="1041577" cy="58158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041577" cy="581584"/>
              </a:xfrm>
              <a:custGeom>
                <a:avLst/>
                <a:gdLst/>
                <a:ahLst/>
                <a:cxnLst/>
                <a:rect l="l" t="t" r="r" b="b"/>
                <a:pathLst>
                  <a:path w="1041577" h="581584">
                    <a:moveTo>
                      <a:pt x="99839" y="0"/>
                    </a:moveTo>
                    <a:lnTo>
                      <a:pt x="941738" y="0"/>
                    </a:lnTo>
                    <a:cubicBezTo>
                      <a:pt x="996878" y="0"/>
                      <a:pt x="1041577" y="44700"/>
                      <a:pt x="1041577" y="99839"/>
                    </a:cubicBezTo>
                    <a:lnTo>
                      <a:pt x="1041577" y="481745"/>
                    </a:lnTo>
                    <a:cubicBezTo>
                      <a:pt x="1041577" y="508224"/>
                      <a:pt x="1031058" y="533618"/>
                      <a:pt x="1012335" y="552342"/>
                    </a:cubicBezTo>
                    <a:cubicBezTo>
                      <a:pt x="993612" y="571065"/>
                      <a:pt x="968217" y="581584"/>
                      <a:pt x="941738" y="581584"/>
                    </a:cubicBezTo>
                    <a:lnTo>
                      <a:pt x="99839" y="581584"/>
                    </a:lnTo>
                    <a:cubicBezTo>
                      <a:pt x="73360" y="581584"/>
                      <a:pt x="47966" y="571065"/>
                      <a:pt x="29242" y="552342"/>
                    </a:cubicBezTo>
                    <a:cubicBezTo>
                      <a:pt x="10519" y="533618"/>
                      <a:pt x="0" y="508224"/>
                      <a:pt x="0" y="481745"/>
                    </a:cubicBezTo>
                    <a:lnTo>
                      <a:pt x="0" y="99839"/>
                    </a:lnTo>
                    <a:cubicBezTo>
                      <a:pt x="0" y="73360"/>
                      <a:pt x="10519" y="47966"/>
                      <a:pt x="29242" y="29242"/>
                    </a:cubicBezTo>
                    <a:cubicBezTo>
                      <a:pt x="47966" y="10519"/>
                      <a:pt x="73360" y="0"/>
                      <a:pt x="99839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041577" cy="619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9245" y="67197"/>
              <a:ext cx="5272985" cy="2944270"/>
              <a:chOff x="0" y="0"/>
              <a:chExt cx="1041577" cy="58158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41577" cy="581584"/>
              </a:xfrm>
              <a:custGeom>
                <a:avLst/>
                <a:gdLst/>
                <a:ahLst/>
                <a:cxnLst/>
                <a:rect l="l" t="t" r="r" b="b"/>
                <a:pathLst>
                  <a:path w="1041577" h="581584">
                    <a:moveTo>
                      <a:pt x="99839" y="0"/>
                    </a:moveTo>
                    <a:lnTo>
                      <a:pt x="941738" y="0"/>
                    </a:lnTo>
                    <a:cubicBezTo>
                      <a:pt x="996878" y="0"/>
                      <a:pt x="1041577" y="44700"/>
                      <a:pt x="1041577" y="99839"/>
                    </a:cubicBezTo>
                    <a:lnTo>
                      <a:pt x="1041577" y="481745"/>
                    </a:lnTo>
                    <a:cubicBezTo>
                      <a:pt x="1041577" y="508224"/>
                      <a:pt x="1031058" y="533618"/>
                      <a:pt x="1012335" y="552342"/>
                    </a:cubicBezTo>
                    <a:cubicBezTo>
                      <a:pt x="993612" y="571065"/>
                      <a:pt x="968217" y="581584"/>
                      <a:pt x="941738" y="581584"/>
                    </a:cubicBezTo>
                    <a:lnTo>
                      <a:pt x="99839" y="581584"/>
                    </a:lnTo>
                    <a:cubicBezTo>
                      <a:pt x="73360" y="581584"/>
                      <a:pt x="47966" y="571065"/>
                      <a:pt x="29242" y="552342"/>
                    </a:cubicBezTo>
                    <a:cubicBezTo>
                      <a:pt x="10519" y="533618"/>
                      <a:pt x="0" y="508224"/>
                      <a:pt x="0" y="481745"/>
                    </a:cubicBezTo>
                    <a:lnTo>
                      <a:pt x="0" y="99839"/>
                    </a:lnTo>
                    <a:cubicBezTo>
                      <a:pt x="0" y="73360"/>
                      <a:pt x="10519" y="47966"/>
                      <a:pt x="29242" y="29242"/>
                    </a:cubicBezTo>
                    <a:cubicBezTo>
                      <a:pt x="47966" y="10519"/>
                      <a:pt x="73360" y="0"/>
                      <a:pt x="998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BF63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041577" cy="619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3798281" y="2897815"/>
            <a:ext cx="3954739" cy="2208202"/>
            <a:chOff x="0" y="0"/>
            <a:chExt cx="1041577" cy="5815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1577" cy="581584"/>
            </a:xfrm>
            <a:custGeom>
              <a:avLst/>
              <a:gdLst/>
              <a:ahLst/>
              <a:cxnLst/>
              <a:rect l="l" t="t" r="r" b="b"/>
              <a:pathLst>
                <a:path w="1041577" h="581584">
                  <a:moveTo>
                    <a:pt x="99839" y="0"/>
                  </a:moveTo>
                  <a:lnTo>
                    <a:pt x="941738" y="0"/>
                  </a:lnTo>
                  <a:cubicBezTo>
                    <a:pt x="996878" y="0"/>
                    <a:pt x="1041577" y="44700"/>
                    <a:pt x="1041577" y="99839"/>
                  </a:cubicBezTo>
                  <a:lnTo>
                    <a:pt x="1041577" y="481745"/>
                  </a:lnTo>
                  <a:cubicBezTo>
                    <a:pt x="1041577" y="508224"/>
                    <a:pt x="1031058" y="533618"/>
                    <a:pt x="1012335" y="552342"/>
                  </a:cubicBezTo>
                  <a:cubicBezTo>
                    <a:pt x="993612" y="571065"/>
                    <a:pt x="968217" y="581584"/>
                    <a:pt x="941738" y="581584"/>
                  </a:cubicBezTo>
                  <a:lnTo>
                    <a:pt x="99839" y="581584"/>
                  </a:lnTo>
                  <a:cubicBezTo>
                    <a:pt x="73360" y="581584"/>
                    <a:pt x="47966" y="571065"/>
                    <a:pt x="29242" y="552342"/>
                  </a:cubicBezTo>
                  <a:cubicBezTo>
                    <a:pt x="10519" y="533618"/>
                    <a:pt x="0" y="508224"/>
                    <a:pt x="0" y="481745"/>
                  </a:cubicBezTo>
                  <a:lnTo>
                    <a:pt x="0" y="99839"/>
                  </a:lnTo>
                  <a:cubicBezTo>
                    <a:pt x="0" y="73360"/>
                    <a:pt x="10519" y="47966"/>
                    <a:pt x="29242" y="29242"/>
                  </a:cubicBezTo>
                  <a:cubicBezTo>
                    <a:pt x="47966" y="10519"/>
                    <a:pt x="73360" y="0"/>
                    <a:pt x="99839" y="0"/>
                  </a:cubicBez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1577" cy="619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65214" y="2948213"/>
            <a:ext cx="3954739" cy="2208202"/>
            <a:chOff x="0" y="0"/>
            <a:chExt cx="1041577" cy="5815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1577" cy="581584"/>
            </a:xfrm>
            <a:custGeom>
              <a:avLst/>
              <a:gdLst/>
              <a:ahLst/>
              <a:cxnLst/>
              <a:rect l="l" t="t" r="r" b="b"/>
              <a:pathLst>
                <a:path w="1041577" h="581584">
                  <a:moveTo>
                    <a:pt x="99839" y="0"/>
                  </a:moveTo>
                  <a:lnTo>
                    <a:pt x="941738" y="0"/>
                  </a:lnTo>
                  <a:cubicBezTo>
                    <a:pt x="996878" y="0"/>
                    <a:pt x="1041577" y="44700"/>
                    <a:pt x="1041577" y="99839"/>
                  </a:cubicBezTo>
                  <a:lnTo>
                    <a:pt x="1041577" y="481745"/>
                  </a:lnTo>
                  <a:cubicBezTo>
                    <a:pt x="1041577" y="508224"/>
                    <a:pt x="1031058" y="533618"/>
                    <a:pt x="1012335" y="552342"/>
                  </a:cubicBezTo>
                  <a:cubicBezTo>
                    <a:pt x="993612" y="571065"/>
                    <a:pt x="968217" y="581584"/>
                    <a:pt x="941738" y="581584"/>
                  </a:cubicBezTo>
                  <a:lnTo>
                    <a:pt x="99839" y="581584"/>
                  </a:lnTo>
                  <a:cubicBezTo>
                    <a:pt x="73360" y="581584"/>
                    <a:pt x="47966" y="571065"/>
                    <a:pt x="29242" y="552342"/>
                  </a:cubicBezTo>
                  <a:cubicBezTo>
                    <a:pt x="10519" y="533618"/>
                    <a:pt x="0" y="508224"/>
                    <a:pt x="0" y="481745"/>
                  </a:cubicBezTo>
                  <a:lnTo>
                    <a:pt x="0" y="99839"/>
                  </a:lnTo>
                  <a:cubicBezTo>
                    <a:pt x="0" y="73360"/>
                    <a:pt x="10519" y="47966"/>
                    <a:pt x="29242" y="29242"/>
                  </a:cubicBezTo>
                  <a:cubicBezTo>
                    <a:pt x="47966" y="10519"/>
                    <a:pt x="73360" y="0"/>
                    <a:pt x="9983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41577" cy="619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787445" y="5379419"/>
            <a:ext cx="4021672" cy="2258600"/>
            <a:chOff x="0" y="0"/>
            <a:chExt cx="5362229" cy="3011467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5272985" cy="2944270"/>
              <a:chOff x="0" y="0"/>
              <a:chExt cx="1041577" cy="58158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41577" cy="581584"/>
              </a:xfrm>
              <a:custGeom>
                <a:avLst/>
                <a:gdLst/>
                <a:ahLst/>
                <a:cxnLst/>
                <a:rect l="l" t="t" r="r" b="b"/>
                <a:pathLst>
                  <a:path w="1041577" h="581584">
                    <a:moveTo>
                      <a:pt x="99839" y="0"/>
                    </a:moveTo>
                    <a:lnTo>
                      <a:pt x="941738" y="0"/>
                    </a:lnTo>
                    <a:cubicBezTo>
                      <a:pt x="996878" y="0"/>
                      <a:pt x="1041577" y="44700"/>
                      <a:pt x="1041577" y="99839"/>
                    </a:cubicBezTo>
                    <a:lnTo>
                      <a:pt x="1041577" y="481745"/>
                    </a:lnTo>
                    <a:cubicBezTo>
                      <a:pt x="1041577" y="508224"/>
                      <a:pt x="1031058" y="533618"/>
                      <a:pt x="1012335" y="552342"/>
                    </a:cubicBezTo>
                    <a:cubicBezTo>
                      <a:pt x="993612" y="571065"/>
                      <a:pt x="968217" y="581584"/>
                      <a:pt x="941738" y="581584"/>
                    </a:cubicBezTo>
                    <a:lnTo>
                      <a:pt x="99839" y="581584"/>
                    </a:lnTo>
                    <a:cubicBezTo>
                      <a:pt x="73360" y="581584"/>
                      <a:pt x="47966" y="571065"/>
                      <a:pt x="29242" y="552342"/>
                    </a:cubicBezTo>
                    <a:cubicBezTo>
                      <a:pt x="10519" y="533618"/>
                      <a:pt x="0" y="508224"/>
                      <a:pt x="0" y="481745"/>
                    </a:cubicBezTo>
                    <a:lnTo>
                      <a:pt x="0" y="99839"/>
                    </a:lnTo>
                    <a:cubicBezTo>
                      <a:pt x="0" y="73360"/>
                      <a:pt x="10519" y="47966"/>
                      <a:pt x="29242" y="29242"/>
                    </a:cubicBezTo>
                    <a:cubicBezTo>
                      <a:pt x="47966" y="10519"/>
                      <a:pt x="73360" y="0"/>
                      <a:pt x="99839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041577" cy="619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9245" y="67197"/>
              <a:ext cx="5272985" cy="2944270"/>
              <a:chOff x="0" y="0"/>
              <a:chExt cx="1041577" cy="58158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41577" cy="581584"/>
              </a:xfrm>
              <a:custGeom>
                <a:avLst/>
                <a:gdLst/>
                <a:ahLst/>
                <a:cxnLst/>
                <a:rect l="l" t="t" r="r" b="b"/>
                <a:pathLst>
                  <a:path w="1041577" h="581584">
                    <a:moveTo>
                      <a:pt x="99839" y="0"/>
                    </a:moveTo>
                    <a:lnTo>
                      <a:pt x="941738" y="0"/>
                    </a:lnTo>
                    <a:cubicBezTo>
                      <a:pt x="996878" y="0"/>
                      <a:pt x="1041577" y="44700"/>
                      <a:pt x="1041577" y="99839"/>
                    </a:cubicBezTo>
                    <a:lnTo>
                      <a:pt x="1041577" y="481745"/>
                    </a:lnTo>
                    <a:cubicBezTo>
                      <a:pt x="1041577" y="508224"/>
                      <a:pt x="1031058" y="533618"/>
                      <a:pt x="1012335" y="552342"/>
                    </a:cubicBezTo>
                    <a:cubicBezTo>
                      <a:pt x="993612" y="571065"/>
                      <a:pt x="968217" y="581584"/>
                      <a:pt x="941738" y="581584"/>
                    </a:cubicBezTo>
                    <a:lnTo>
                      <a:pt x="99839" y="581584"/>
                    </a:lnTo>
                    <a:cubicBezTo>
                      <a:pt x="73360" y="581584"/>
                      <a:pt x="47966" y="571065"/>
                      <a:pt x="29242" y="552342"/>
                    </a:cubicBezTo>
                    <a:cubicBezTo>
                      <a:pt x="10519" y="533618"/>
                      <a:pt x="0" y="508224"/>
                      <a:pt x="0" y="481745"/>
                    </a:cubicBezTo>
                    <a:lnTo>
                      <a:pt x="0" y="99839"/>
                    </a:lnTo>
                    <a:cubicBezTo>
                      <a:pt x="0" y="73360"/>
                      <a:pt x="10519" y="47966"/>
                      <a:pt x="29242" y="29242"/>
                    </a:cubicBezTo>
                    <a:cubicBezTo>
                      <a:pt x="47966" y="10519"/>
                      <a:pt x="73360" y="0"/>
                      <a:pt x="998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BF63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041577" cy="619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1532869" y="2295478"/>
            <a:ext cx="7611131" cy="608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4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Positive reviews, following negative ones unusually quickly</a:t>
            </a:r>
          </a:p>
          <a:p>
            <a:pPr marL="474979" marR="0" lvl="1" indent="-237490" algn="l" defTabSz="914400" rtl="0" eaLnBrk="1" fontAlgn="auto" latinLnBrk="0" hangingPunct="1">
              <a:lnSpc>
                <a:spcPts val="4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Reviews from accounts created on the same day with no other activity</a:t>
            </a:r>
          </a:p>
          <a:p>
            <a:pPr marL="474979" marR="0" lvl="1" indent="-237490" algn="l" defTabSz="914400" rtl="0" eaLnBrk="1" fontAlgn="auto" latinLnBrk="0" hangingPunct="1">
              <a:lnSpc>
                <a:spcPts val="4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Reviews submitted from property location with stay dates months earlier</a:t>
            </a:r>
          </a:p>
          <a:p>
            <a:pPr marL="474979" marR="0" lvl="1" indent="-237490" algn="l" defTabSz="914400" rtl="0" eaLnBrk="1" fontAlgn="auto" latinLnBrk="0" hangingPunct="1">
              <a:lnSpc>
                <a:spcPts val="4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Reviews only for properties under the same ownership or showing location patterns</a:t>
            </a:r>
          </a:p>
          <a:p>
            <a:pPr marL="474979" marR="0" lvl="1" indent="-237490" algn="l" defTabSz="914400" rtl="0" eaLnBrk="1" fontAlgn="auto" latinLnBrk="0" hangingPunct="1">
              <a:lnSpc>
                <a:spcPts val="4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Decoy/seeding or vandalism involving irrelevant popular attractions or neutral reviews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047722"/>
            <a:ext cx="9708415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Fraud Indicators to Watch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66151" y="3542891"/>
            <a:ext cx="3354823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10+ five-star reviews from first-time users with disposable emails in 15 days.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38971" y="3385729"/>
            <a:ext cx="3340292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15 consecutive five-bubble reviews from zero-day accounts with formulaic emails in 30 days.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87713" y="6002941"/>
            <a:ext cx="3621136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30 five-bubble reviews with hotel room numbers in titles within one month.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810512" y="2648981"/>
            <a:ext cx="820925" cy="820925"/>
            <a:chOff x="0" y="0"/>
            <a:chExt cx="1094567" cy="1094567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094567" cy="1094567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51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103029" y="168186"/>
              <a:ext cx="888509" cy="758194"/>
            </a:xfrm>
            <a:custGeom>
              <a:avLst/>
              <a:gdLst/>
              <a:ahLst/>
              <a:cxnLst/>
              <a:rect l="l" t="t" r="r" b="b"/>
              <a:pathLst>
                <a:path w="888509" h="758194">
                  <a:moveTo>
                    <a:pt x="0" y="0"/>
                  </a:moveTo>
                  <a:lnTo>
                    <a:pt x="888509" y="0"/>
                  </a:lnTo>
                  <a:lnTo>
                    <a:pt x="888509" y="758194"/>
                  </a:lnTo>
                  <a:lnTo>
                    <a:pt x="0" y="758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922828" y="2636066"/>
            <a:ext cx="820925" cy="820925"/>
            <a:chOff x="0" y="0"/>
            <a:chExt cx="1094567" cy="1094567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094567" cy="1094567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51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103029" y="168186"/>
              <a:ext cx="888509" cy="758194"/>
            </a:xfrm>
            <a:custGeom>
              <a:avLst/>
              <a:gdLst/>
              <a:ahLst/>
              <a:cxnLst/>
              <a:rect l="l" t="t" r="r" b="b"/>
              <a:pathLst>
                <a:path w="888509" h="758194">
                  <a:moveTo>
                    <a:pt x="0" y="0"/>
                  </a:moveTo>
                  <a:lnTo>
                    <a:pt x="888509" y="0"/>
                  </a:lnTo>
                  <a:lnTo>
                    <a:pt x="888509" y="758194"/>
                  </a:lnTo>
                  <a:lnTo>
                    <a:pt x="0" y="758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198386" y="5175465"/>
            <a:ext cx="820925" cy="820925"/>
            <a:chOff x="0" y="0"/>
            <a:chExt cx="1094567" cy="1094567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094567" cy="1094567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51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1" name="Freeform 41"/>
            <p:cNvSpPr/>
            <p:nvPr/>
          </p:nvSpPr>
          <p:spPr>
            <a:xfrm>
              <a:off x="103029" y="168186"/>
              <a:ext cx="888509" cy="758194"/>
            </a:xfrm>
            <a:custGeom>
              <a:avLst/>
              <a:gdLst/>
              <a:ahLst/>
              <a:cxnLst/>
              <a:rect l="l" t="t" r="r" b="b"/>
              <a:pathLst>
                <a:path w="888509" h="758194">
                  <a:moveTo>
                    <a:pt x="0" y="0"/>
                  </a:moveTo>
                  <a:lnTo>
                    <a:pt x="888509" y="0"/>
                  </a:lnTo>
                  <a:lnTo>
                    <a:pt x="888509" y="758194"/>
                  </a:lnTo>
                  <a:lnTo>
                    <a:pt x="0" y="758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408359" y="7946470"/>
            <a:ext cx="4913709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Examples of Clear Patterns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2683" y="5996865"/>
            <a:ext cx="9736375" cy="1612409"/>
            <a:chOff x="0" y="0"/>
            <a:chExt cx="12981833" cy="214987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2867954" cy="2028024"/>
              <a:chOff x="0" y="0"/>
              <a:chExt cx="2541818" cy="40059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1818" cy="400597"/>
              </a:xfrm>
              <a:custGeom>
                <a:avLst/>
                <a:gdLst/>
                <a:ahLst/>
                <a:cxnLst/>
                <a:rect l="l" t="t" r="r" b="b"/>
                <a:pathLst>
                  <a:path w="2541818" h="400597">
                    <a:moveTo>
                      <a:pt x="40912" y="0"/>
                    </a:moveTo>
                    <a:lnTo>
                      <a:pt x="2500906" y="0"/>
                    </a:lnTo>
                    <a:cubicBezTo>
                      <a:pt x="2523501" y="0"/>
                      <a:pt x="2541818" y="18317"/>
                      <a:pt x="2541818" y="40912"/>
                    </a:cubicBezTo>
                    <a:lnTo>
                      <a:pt x="2541818" y="359686"/>
                    </a:lnTo>
                    <a:cubicBezTo>
                      <a:pt x="2541818" y="382280"/>
                      <a:pt x="2523501" y="400597"/>
                      <a:pt x="2500906" y="400597"/>
                    </a:cubicBezTo>
                    <a:lnTo>
                      <a:pt x="40912" y="400597"/>
                    </a:lnTo>
                    <a:cubicBezTo>
                      <a:pt x="18317" y="400597"/>
                      <a:pt x="0" y="382280"/>
                      <a:pt x="0" y="359686"/>
                    </a:cubicBezTo>
                    <a:lnTo>
                      <a:pt x="0" y="40912"/>
                    </a:lnTo>
                    <a:cubicBezTo>
                      <a:pt x="0" y="18317"/>
                      <a:pt x="18317" y="0"/>
                      <a:pt x="40912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2541818" cy="4482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13879" y="121855"/>
              <a:ext cx="12867954" cy="2028024"/>
              <a:chOff x="0" y="0"/>
              <a:chExt cx="2541818" cy="40059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541818" cy="400597"/>
              </a:xfrm>
              <a:custGeom>
                <a:avLst/>
                <a:gdLst/>
                <a:ahLst/>
                <a:cxnLst/>
                <a:rect l="l" t="t" r="r" b="b"/>
                <a:pathLst>
                  <a:path w="2541818" h="400597">
                    <a:moveTo>
                      <a:pt x="40912" y="0"/>
                    </a:moveTo>
                    <a:lnTo>
                      <a:pt x="2500906" y="0"/>
                    </a:lnTo>
                    <a:cubicBezTo>
                      <a:pt x="2523501" y="0"/>
                      <a:pt x="2541818" y="18317"/>
                      <a:pt x="2541818" y="40912"/>
                    </a:cubicBezTo>
                    <a:lnTo>
                      <a:pt x="2541818" y="359686"/>
                    </a:lnTo>
                    <a:cubicBezTo>
                      <a:pt x="2541818" y="382280"/>
                      <a:pt x="2523501" y="400597"/>
                      <a:pt x="2500906" y="400597"/>
                    </a:cubicBezTo>
                    <a:lnTo>
                      <a:pt x="40912" y="400597"/>
                    </a:lnTo>
                    <a:cubicBezTo>
                      <a:pt x="18317" y="400597"/>
                      <a:pt x="0" y="382280"/>
                      <a:pt x="0" y="359686"/>
                    </a:cubicBezTo>
                    <a:lnTo>
                      <a:pt x="0" y="40912"/>
                    </a:lnTo>
                    <a:cubicBezTo>
                      <a:pt x="0" y="18317"/>
                      <a:pt x="18317" y="0"/>
                      <a:pt x="409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541818" cy="4482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338964" y="7170822"/>
            <a:ext cx="939540" cy="876904"/>
            <a:chOff x="0" y="0"/>
            <a:chExt cx="1252721" cy="116920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876904" cy="876904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51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0" y="0"/>
              <a:ext cx="1252721" cy="1169206"/>
            </a:xfrm>
            <a:custGeom>
              <a:avLst/>
              <a:gdLst/>
              <a:ahLst/>
              <a:cxnLst/>
              <a:rect l="l" t="t" r="r" b="b"/>
              <a:pathLst>
                <a:path w="1252721" h="1169206">
                  <a:moveTo>
                    <a:pt x="0" y="0"/>
                  </a:moveTo>
                  <a:lnTo>
                    <a:pt x="1252721" y="0"/>
                  </a:lnTo>
                  <a:lnTo>
                    <a:pt x="1252721" y="1169206"/>
                  </a:lnTo>
                  <a:lnTo>
                    <a:pt x="0" y="116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2483723" y="285559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885825"/>
            <a:ext cx="12222024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Fraud Indicators to Watch (Conti...)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2683" y="2592001"/>
            <a:ext cx="3005286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Textual Patterns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3914" y="3297353"/>
            <a:ext cx="9495144" cy="2137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4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Repeated phrases boosting SEO like "Best Breakfast in London."</a:t>
            </a:r>
          </a:p>
          <a:p>
            <a:pPr marL="474979" marR="0" lvl="1" indent="-237490" algn="l" defTabSz="914400" rtl="0" eaLnBrk="1" fontAlgn="auto" latinLnBrk="0" hangingPunct="1">
              <a:lnSpc>
                <a:spcPts val="4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Similar writing styles, grammar mistakes, punctuation, emojis across multiple reviews.</a:t>
            </a:r>
          </a:p>
          <a:p>
            <a:pPr marL="474979" marR="0" lvl="1" indent="-237490" algn="l" defTabSz="914400" rtl="0" eaLnBrk="1" fontAlgn="auto" latinLnBrk="0" hangingPunct="1">
              <a:lnSpc>
                <a:spcPts val="4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Frequent positive reviews starting from a clear date.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06414" y="6578597"/>
            <a:ext cx="947209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Action:</a:t>
            </a: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Remove suspicious reviews citing "suspicious boosting."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9246683" y="1916906"/>
            <a:ext cx="7183776" cy="6453189"/>
            <a:chOff x="0" y="0"/>
            <a:chExt cx="9578368" cy="8604252"/>
          </a:xfrm>
        </p:grpSpPr>
        <p:sp>
          <p:nvSpPr>
            <p:cNvPr id="3" name="AutoShape 3"/>
            <p:cNvSpPr/>
            <p:nvPr/>
          </p:nvSpPr>
          <p:spPr>
            <a:xfrm>
              <a:off x="4275373" y="0"/>
              <a:ext cx="5302995" cy="8604252"/>
            </a:xfrm>
            <a:prstGeom prst="rect">
              <a:avLst/>
            </a:prstGeom>
            <a:solidFill>
              <a:srgbClr val="40A635">
                <a:alpha val="69804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 rot="5400000">
              <a:off x="-2151063" y="2151063"/>
              <a:ext cx="8604252" cy="4302126"/>
            </a:xfrm>
            <a:custGeom>
              <a:avLst/>
              <a:gdLst/>
              <a:ahLst/>
              <a:cxnLst/>
              <a:rect l="l" t="t" r="r" b="b"/>
              <a:pathLst>
                <a:path w="8604252" h="4302126">
                  <a:moveTo>
                    <a:pt x="0" y="0"/>
                  </a:moveTo>
                  <a:lnTo>
                    <a:pt x="8604252" y="0"/>
                  </a:lnTo>
                  <a:lnTo>
                    <a:pt x="8604252" y="4302126"/>
                  </a:lnTo>
                  <a:lnTo>
                    <a:pt x="0" y="430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7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164998" y="2645953"/>
            <a:ext cx="4865386" cy="85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4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164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Semi-Bold"/>
                <a:ea typeface="Poppins Semi-Bold"/>
                <a:cs typeface="Poppins Semi-Bold"/>
                <a:sym typeface="Poppins Semi-Bold"/>
              </a:rPr>
              <a:t>ACTIONS BASED ON NUMBER OF SUSPICIOUS REVIEWS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4998" y="3713714"/>
            <a:ext cx="5831700" cy="4367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34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109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Less than 25 suspicious reviews: Agents should directly action biased reviews; no sweep request needed.</a:t>
            </a:r>
          </a:p>
          <a:p>
            <a:pPr marL="474979" marR="0" lvl="1" indent="-237490" algn="l" defTabSz="914400" rtl="0" eaLnBrk="1" fontAlgn="auto" latinLnBrk="0" hangingPunct="1">
              <a:lnSpc>
                <a:spcPts val="34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109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 More than 25 suspicious reviews: Action the 25 most recent biased reviews first, document findings, then escalate for an in-depth sweep.</a:t>
            </a:r>
          </a:p>
          <a:p>
            <a:pPr marL="0" marR="0" lvl="0" indent="0" algn="l" defTabSz="914400" rtl="0" eaLnBrk="1" fontAlgn="auto" latinLnBrk="0" hangingPunct="1">
              <a:lnSpc>
                <a:spcPts val="34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99" b="0" i="0" u="none" strike="noStrike" kern="1200" cap="none" spc="109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062907" y="1916906"/>
            <a:ext cx="7183776" cy="6453189"/>
            <a:chOff x="0" y="0"/>
            <a:chExt cx="9578368" cy="8604252"/>
          </a:xfrm>
        </p:grpSpPr>
        <p:sp>
          <p:nvSpPr>
            <p:cNvPr id="8" name="AutoShape 8"/>
            <p:cNvSpPr/>
            <p:nvPr/>
          </p:nvSpPr>
          <p:spPr>
            <a:xfrm>
              <a:off x="4275373" y="0"/>
              <a:ext cx="5302995" cy="8604252"/>
            </a:xfrm>
            <a:prstGeom prst="rect">
              <a:avLst/>
            </a:prstGeom>
            <a:solidFill>
              <a:srgbClr val="7ED957">
                <a:alpha val="57647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 rot="5400000">
              <a:off x="-2151063" y="2151063"/>
              <a:ext cx="8604252" cy="4302126"/>
            </a:xfrm>
            <a:custGeom>
              <a:avLst/>
              <a:gdLst/>
              <a:ahLst/>
              <a:cxnLst/>
              <a:rect l="l" t="t" r="r" b="b"/>
              <a:pathLst>
                <a:path w="8604252" h="4302126">
                  <a:moveTo>
                    <a:pt x="0" y="0"/>
                  </a:moveTo>
                  <a:lnTo>
                    <a:pt x="8604252" y="0"/>
                  </a:lnTo>
                  <a:lnTo>
                    <a:pt x="8604252" y="4302126"/>
                  </a:lnTo>
                  <a:lnTo>
                    <a:pt x="0" y="430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00274" y="2645953"/>
            <a:ext cx="5077992" cy="85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4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164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Semi-Bold"/>
                <a:ea typeface="Poppins Semi-Bold"/>
                <a:cs typeface="Poppins Semi-Bold"/>
                <a:sym typeface="Poppins Semi-Bold"/>
              </a:rPr>
              <a:t>WHEN TO ESCALATE FOR AN IN-DEPTH SWEEP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18278" y="3932789"/>
            <a:ext cx="6242681" cy="3929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34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109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Escalate if the suspicious pattern involves more than one property or more than 25 still published reviews.</a:t>
            </a:r>
          </a:p>
          <a:p>
            <a:pPr marL="474979" marR="0" lvl="1" indent="-237490" algn="l" defTabSz="914400" rtl="0" eaLnBrk="1" fontAlgn="auto" latinLnBrk="0" hangingPunct="1">
              <a:lnSpc>
                <a:spcPts val="34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109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 Use the designated form to request a Property Sweep, ensuring all information is completed. </a:t>
            </a:r>
          </a:p>
          <a:p>
            <a:pPr marL="474979" marR="0" lvl="1" indent="-237490" algn="l" defTabSz="914400" rtl="0" eaLnBrk="1" fontAlgn="auto" latinLnBrk="0" hangingPunct="1">
              <a:lnSpc>
                <a:spcPts val="34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109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Incentives are no longer escalated for sweeps.</a:t>
            </a:r>
          </a:p>
          <a:p>
            <a:pPr marL="0" marR="0" lvl="0" indent="0" algn="l" defTabSz="914400" rtl="0" eaLnBrk="1" fontAlgn="auto" latinLnBrk="0" hangingPunct="1">
              <a:lnSpc>
                <a:spcPts val="34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99" b="0" i="0" u="none" strike="noStrike" kern="1200" cap="none" spc="109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2830" y="406692"/>
            <a:ext cx="15699846" cy="185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Guidelines for Escalating In-Depth Review Sweeps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312944"/>
            <a:ext cx="15898622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Additional Notes:</a:t>
            </a:r>
          </a:p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Only request a sweep if suspicious reviews are still published. Do not request a sweep if the reviews have already been removed.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0019109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How to Respond to End Users?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42641"/>
            <a:ext cx="722793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Responding to User or Owner Reports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756432"/>
            <a:ext cx="12992100" cy="983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40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Always acknowledge the allegation and thank the user or owner for reporting.</a:t>
            </a:r>
          </a:p>
          <a:p>
            <a:pPr marL="474979" marR="0" lvl="1" indent="-237490" algn="l" defTabSz="914400" rtl="0" eaLnBrk="1" fontAlgn="auto" latinLnBrk="0" hangingPunct="1">
              <a:lnSpc>
                <a:spcPts val="40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Inform them that the case is under investigation.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063516"/>
            <a:ext cx="3495377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Specific Responses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830596"/>
            <a:ext cx="11563233" cy="2497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40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For user fraud allegations, use the Allegation of Fraud macro in your reply.</a:t>
            </a:r>
          </a:p>
          <a:p>
            <a:pPr marL="474979" marR="0" lvl="1" indent="-237490" algn="l" defTabSz="914400" rtl="0" eaLnBrk="1" fontAlgn="auto" latinLnBrk="0" hangingPunct="1">
              <a:lnSpc>
                <a:spcPts val="40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For fraud allegations raised in other contexts (e.g., competing property fraud during FPS or review disputes), respond briefly: "Thank you for letting us know about your concerns regarding &lt;possible biased reviews posted to XYZ location&gt;. We will look into this matter.”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652156"/>
            <a:ext cx="7976592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When No Report is Made by Users or Owners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333511"/>
            <a:ext cx="11563233" cy="98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If a property sweep is requested based solely on your own observations (not from an external allegation), do not communicate anything to the user or owner.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F6A636-2E1B-BD16-B378-0E9C21ED41BB}"/>
              </a:ext>
            </a:extLst>
          </p:cNvPr>
          <p:cNvSpPr txBox="1">
            <a:spLocks/>
          </p:cNvSpPr>
          <p:nvPr/>
        </p:nvSpPr>
        <p:spPr>
          <a:xfrm>
            <a:off x="1330930" y="1233321"/>
            <a:ext cx="15773400" cy="8191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defTabSz="3086088">
              <a:lnSpc>
                <a:spcPct val="90000"/>
              </a:lnSpc>
              <a:spcBef>
                <a:spcPct val="0"/>
              </a:spcBef>
              <a:buNone/>
              <a:defRPr sz="5200" b="1"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r>
              <a:rPr lang="en-US" dirty="0"/>
              <a:t>Steps for Working in the Property Sweeps Doc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72BF7-DA4D-2AB5-325F-2F1E552AF8E0}"/>
              </a:ext>
            </a:extLst>
          </p:cNvPr>
          <p:cNvSpPr txBox="1"/>
          <p:nvPr/>
        </p:nvSpPr>
        <p:spPr>
          <a:xfrm>
            <a:off x="600003" y="9661691"/>
            <a:ext cx="10000001" cy="314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defTabSz="914441"/>
            <a:r>
              <a:rPr dirty="0"/>
              <a:t>T</a:t>
            </a:r>
            <a:r>
              <a:rPr lang="en-US" dirty="0"/>
              <a:t>ripadvisor / Property Sweep</a:t>
            </a:r>
            <a:endParaRPr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8F3FA74-846F-1C2E-1849-6EDA1944CD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598743"/>
              </p:ext>
            </p:extLst>
          </p:nvPr>
        </p:nvGraphicFramePr>
        <p:xfrm>
          <a:off x="2280458" y="2549972"/>
          <a:ext cx="13860899" cy="6369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Graphic 11" descr="Badge 1 outline">
            <a:extLst>
              <a:ext uri="{FF2B5EF4-FFF2-40B4-BE49-F238E27FC236}">
                <a16:creationId xmlns:a16="http://schemas.microsoft.com/office/drawing/2014/main" id="{C7B78531-606A-FF4F-4096-57902F9041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5339" y="4975982"/>
            <a:ext cx="542252" cy="542252"/>
          </a:xfrm>
          <a:prstGeom prst="rect">
            <a:avLst/>
          </a:prstGeom>
        </p:spPr>
      </p:pic>
      <p:pic>
        <p:nvPicPr>
          <p:cNvPr id="14" name="Graphic 13" descr="Badge outline">
            <a:extLst>
              <a:ext uri="{FF2B5EF4-FFF2-40B4-BE49-F238E27FC236}">
                <a16:creationId xmlns:a16="http://schemas.microsoft.com/office/drawing/2014/main" id="{3C846A67-596D-775D-7F87-468D5C505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56313" y="4975982"/>
            <a:ext cx="572249" cy="542252"/>
          </a:xfrm>
          <a:prstGeom prst="rect">
            <a:avLst/>
          </a:prstGeom>
        </p:spPr>
      </p:pic>
      <p:pic>
        <p:nvPicPr>
          <p:cNvPr id="16" name="Graphic 15" descr="Badge 3 outline">
            <a:extLst>
              <a:ext uri="{FF2B5EF4-FFF2-40B4-BE49-F238E27FC236}">
                <a16:creationId xmlns:a16="http://schemas.microsoft.com/office/drawing/2014/main" id="{31345FE4-A470-A29D-07ED-AF30408F9E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59347" y="4975981"/>
            <a:ext cx="542252" cy="542252"/>
          </a:xfrm>
          <a:prstGeom prst="rect">
            <a:avLst/>
          </a:prstGeom>
        </p:spPr>
      </p:pic>
      <p:pic>
        <p:nvPicPr>
          <p:cNvPr id="18" name="Graphic 17" descr="Badge 4 outline">
            <a:extLst>
              <a:ext uri="{FF2B5EF4-FFF2-40B4-BE49-F238E27FC236}">
                <a16:creationId xmlns:a16="http://schemas.microsoft.com/office/drawing/2014/main" id="{1DA5075A-7D1B-4DC8-482B-1F2517C17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21923" y="4961868"/>
            <a:ext cx="570477" cy="570477"/>
          </a:xfrm>
          <a:prstGeom prst="rect">
            <a:avLst/>
          </a:prstGeom>
        </p:spPr>
      </p:pic>
      <p:pic>
        <p:nvPicPr>
          <p:cNvPr id="20" name="Graphic 19" descr="Badge 5 outline">
            <a:extLst>
              <a:ext uri="{FF2B5EF4-FFF2-40B4-BE49-F238E27FC236}">
                <a16:creationId xmlns:a16="http://schemas.microsoft.com/office/drawing/2014/main" id="{3FEAC977-D7A2-E86D-FE28-D9A6B795A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1441" y="7469724"/>
            <a:ext cx="582076" cy="582076"/>
          </a:xfrm>
          <a:prstGeom prst="rect">
            <a:avLst/>
          </a:prstGeom>
        </p:spPr>
      </p:pic>
      <p:pic>
        <p:nvPicPr>
          <p:cNvPr id="22" name="Graphic 21" descr="Badge 6 outline">
            <a:extLst>
              <a:ext uri="{FF2B5EF4-FFF2-40B4-BE49-F238E27FC236}">
                <a16:creationId xmlns:a16="http://schemas.microsoft.com/office/drawing/2014/main" id="{851A0187-9D30-EA7B-DECE-E2E685242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12720" y="7760762"/>
            <a:ext cx="582076" cy="582076"/>
          </a:xfrm>
          <a:prstGeom prst="rect">
            <a:avLst/>
          </a:prstGeom>
        </p:spPr>
      </p:pic>
      <p:pic>
        <p:nvPicPr>
          <p:cNvPr id="24" name="Graphic 23" descr="Badge 7 outline">
            <a:extLst>
              <a:ext uri="{FF2B5EF4-FFF2-40B4-BE49-F238E27FC236}">
                <a16:creationId xmlns:a16="http://schemas.microsoft.com/office/drawing/2014/main" id="{F9999268-58C5-9C79-96D1-61E317214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136684" y="7666579"/>
            <a:ext cx="676259" cy="676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614346-5967-2ED7-E9A6-F3C4D6F47B5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61720" t="49233" r="21491" b="10609"/>
          <a:stretch>
            <a:fillRect/>
          </a:stretch>
        </p:blipFill>
        <p:spPr>
          <a:xfrm>
            <a:off x="15890421" y="7666579"/>
            <a:ext cx="1476778" cy="20604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A69E165-740F-88EC-AC73-E67E863CFE45}"/>
              </a:ext>
            </a:extLst>
          </p:cNvPr>
          <p:cNvSpPr txBox="1"/>
          <p:nvPr/>
        </p:nvSpPr>
        <p:spPr>
          <a:xfrm>
            <a:off x="16504330" y="9727004"/>
            <a:ext cx="1200000" cy="314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1"/>
            <a:r>
              <a:rPr lang="en-US" sz="1400" dirty="0">
                <a:solidFill>
                  <a:srgbClr val="8A8272"/>
                </a:solidFill>
                <a:latin typeface="Poppins"/>
              </a:rPr>
              <a:t>15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65559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4595574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Verification Procedures in Property Sweeps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15333"/>
            <a:ext cx="4343400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Purpose of Verifications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49088"/>
            <a:ext cx="12045972" cy="199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4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Used when reviews deviate from typical submission patterns but lack a strong suspicious pattern for removal.</a:t>
            </a:r>
          </a:p>
          <a:p>
            <a:pPr marL="474979" marR="0" lvl="1" indent="-237490" algn="l" defTabSz="914400" rtl="0" eaLnBrk="1" fontAlgn="auto" latinLnBrk="0" hangingPunct="1">
              <a:lnSpc>
                <a:spcPts val="4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Applicable if some questionable elements exist, e.g., many 5-bubble reviews from first-time reviewers combined with suspicious email domains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435292"/>
            <a:ext cx="4427934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Process for Verifications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249997"/>
            <a:ext cx="9975205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•Send suspicious verifications in bulk and assign the reviews to yourself.</a:t>
            </a:r>
          </a:p>
          <a:p>
            <a:pPr marL="0" marR="0" lvl="0" indent="0" algn="l" defTabSz="914400" rtl="0" eaLnBrk="1" fontAlgn="auto" latinLnBrk="0" hangingPunct="1">
              <a:lnSpc>
                <a:spcPts val="42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•After 7 days, unassign expired reviews.</a:t>
            </a:r>
          </a:p>
          <a:p>
            <a:pPr marL="0" marR="0" lvl="0" indent="0" algn="l" defTabSz="914400" rtl="0" eaLnBrk="1" fontAlgn="auto" latinLnBrk="0" hangingPunct="1">
              <a:lnSpc>
                <a:spcPts val="42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•Review the verification results:</a:t>
            </a:r>
          </a:p>
          <a:p>
            <a:pPr marL="0" marR="0" lvl="0" indent="0" algn="l" defTabSz="914400" rtl="0" eaLnBrk="1" fontAlgn="auto" latinLnBrk="0" hangingPunct="1">
              <a:lnSpc>
                <a:spcPts val="42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&gt; Unassign if no further suspicion.</a:t>
            </a:r>
          </a:p>
          <a:p>
            <a:pPr marL="0" marR="0" lvl="0" indent="0" algn="l" defTabSz="914400" rtl="0" eaLnBrk="1" fontAlgn="auto" latinLnBrk="0" hangingPunct="1">
              <a:lnSpc>
                <a:spcPts val="42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&gt; Suspiciously remove if a verification pattern emerges.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65851"/>
            <a:ext cx="8210550" cy="5866032"/>
            <a:chOff x="0" y="0"/>
            <a:chExt cx="10947400" cy="782137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820400" cy="7745177"/>
              <a:chOff x="0" y="0"/>
              <a:chExt cx="2137363" cy="152991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137363" cy="1529911"/>
              </a:xfrm>
              <a:custGeom>
                <a:avLst/>
                <a:gdLst/>
                <a:ahLst/>
                <a:cxnLst/>
                <a:rect l="l" t="t" r="r" b="b"/>
                <a:pathLst>
                  <a:path w="2137363" h="1529911">
                    <a:moveTo>
                      <a:pt x="48654" y="0"/>
                    </a:moveTo>
                    <a:lnTo>
                      <a:pt x="2088710" y="0"/>
                    </a:lnTo>
                    <a:cubicBezTo>
                      <a:pt x="2115580" y="0"/>
                      <a:pt x="2137363" y="21783"/>
                      <a:pt x="2137363" y="48654"/>
                    </a:cubicBezTo>
                    <a:lnTo>
                      <a:pt x="2137363" y="1481258"/>
                    </a:lnTo>
                    <a:cubicBezTo>
                      <a:pt x="2137363" y="1508129"/>
                      <a:pt x="2115580" y="1529911"/>
                      <a:pt x="2088710" y="1529911"/>
                    </a:cubicBezTo>
                    <a:lnTo>
                      <a:pt x="48654" y="1529911"/>
                    </a:lnTo>
                    <a:cubicBezTo>
                      <a:pt x="21783" y="1529911"/>
                      <a:pt x="0" y="1508129"/>
                      <a:pt x="0" y="1481258"/>
                    </a:cubicBezTo>
                    <a:lnTo>
                      <a:pt x="0" y="48654"/>
                    </a:lnTo>
                    <a:cubicBezTo>
                      <a:pt x="0" y="21783"/>
                      <a:pt x="21783" y="0"/>
                      <a:pt x="48654" y="0"/>
                    </a:cubicBezTo>
                    <a:close/>
                  </a:path>
                </a:pathLst>
              </a:custGeom>
              <a:solidFill>
                <a:srgbClr val="00763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2137363" cy="15775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7000" y="76200"/>
              <a:ext cx="10820400" cy="7745177"/>
              <a:chOff x="0" y="0"/>
              <a:chExt cx="2137363" cy="15299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37363" cy="1529911"/>
              </a:xfrm>
              <a:custGeom>
                <a:avLst/>
                <a:gdLst/>
                <a:ahLst/>
                <a:cxnLst/>
                <a:rect l="l" t="t" r="r" b="b"/>
                <a:pathLst>
                  <a:path w="2137363" h="1529911">
                    <a:moveTo>
                      <a:pt x="48654" y="0"/>
                    </a:moveTo>
                    <a:lnTo>
                      <a:pt x="2088710" y="0"/>
                    </a:lnTo>
                    <a:cubicBezTo>
                      <a:pt x="2115580" y="0"/>
                      <a:pt x="2137363" y="21783"/>
                      <a:pt x="2137363" y="48654"/>
                    </a:cubicBezTo>
                    <a:lnTo>
                      <a:pt x="2137363" y="1481258"/>
                    </a:lnTo>
                    <a:cubicBezTo>
                      <a:pt x="2137363" y="1508129"/>
                      <a:pt x="2115580" y="1529911"/>
                      <a:pt x="2088710" y="1529911"/>
                    </a:cubicBezTo>
                    <a:lnTo>
                      <a:pt x="48654" y="1529911"/>
                    </a:lnTo>
                    <a:cubicBezTo>
                      <a:pt x="21783" y="1529911"/>
                      <a:pt x="0" y="1508129"/>
                      <a:pt x="0" y="1481258"/>
                    </a:cubicBezTo>
                    <a:lnTo>
                      <a:pt x="0" y="48654"/>
                    </a:lnTo>
                    <a:cubicBezTo>
                      <a:pt x="0" y="21783"/>
                      <a:pt x="21783" y="0"/>
                      <a:pt x="486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137363" cy="15775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4542930" y="632777"/>
            <a:ext cx="2677202" cy="2213153"/>
          </a:xfrm>
          <a:custGeom>
            <a:avLst/>
            <a:gdLst/>
            <a:ahLst/>
            <a:cxnLst/>
            <a:rect l="l" t="t" r="r" b="b"/>
            <a:pathLst>
              <a:path w="2677202" h="2213153">
                <a:moveTo>
                  <a:pt x="0" y="0"/>
                </a:moveTo>
                <a:lnTo>
                  <a:pt x="2677201" y="0"/>
                </a:lnTo>
                <a:lnTo>
                  <a:pt x="2677201" y="2213154"/>
                </a:lnTo>
                <a:lnTo>
                  <a:pt x="0" y="2213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489902"/>
            <a:ext cx="6305996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2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1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Escalation to Tier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9068" y="1717714"/>
            <a:ext cx="4637336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When to Escalate to Tier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9068" y="2412106"/>
            <a:ext cx="12156171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Escalate when advanced tools and resources are needed beyond Tier 1 capabilities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57413" y="3501329"/>
            <a:ext cx="325814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Tier 2 Capabilities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8859" y="4154109"/>
            <a:ext cx="7765141" cy="4478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Query database tables to identify patterns such as:</a:t>
            </a:r>
          </a:p>
          <a:p>
            <a:pPr marL="474979" marR="0" lvl="1" indent="-237490" algn="l" defTabSz="914400" rtl="0" eaLnBrk="1" fontAlgn="auto" latinLnBrk="0" hangingPunct="1">
              <a:lnSpc>
                <a:spcPts val="51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Reviews with specific names, text strings, titles, or emojis. </a:t>
            </a:r>
          </a:p>
          <a:p>
            <a:pPr marL="474979" marR="0" lvl="1" indent="-237490" algn="l" defTabSz="914400" rtl="0" eaLnBrk="1" fontAlgn="auto" latinLnBrk="0" hangingPunct="1">
              <a:lnSpc>
                <a:spcPts val="51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Reviews submitted by newly registered members. </a:t>
            </a:r>
          </a:p>
          <a:p>
            <a:pPr marL="474979" marR="0" lvl="1" indent="-237490" algn="l" defTabSz="914400" rtl="0" eaLnBrk="1" fontAlgn="auto" latinLnBrk="0" hangingPunct="1">
              <a:lnSpc>
                <a:spcPts val="51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Users who reviewed multiple given properties. </a:t>
            </a:r>
          </a:p>
          <a:p>
            <a:pPr marL="474979" marR="0" lvl="1" indent="-237490" algn="l" defTabSz="914400" rtl="0" eaLnBrk="1" fontAlgn="auto" latinLnBrk="0" hangingPunct="1">
              <a:lnSpc>
                <a:spcPts val="51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Number of reviews from a certain email domain. </a:t>
            </a:r>
          </a:p>
          <a:p>
            <a:pPr marL="474979" marR="0" lvl="1" indent="-237490" algn="l" defTabSz="914400" rtl="0" eaLnBrk="1" fontAlgn="auto" latinLnBrk="0" hangingPunct="1">
              <a:lnSpc>
                <a:spcPts val="51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•Reviews linked to Facebook accounts.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88688" y="3860661"/>
            <a:ext cx="6920189" cy="4476413"/>
            <a:chOff x="0" y="0"/>
            <a:chExt cx="9226918" cy="596855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9119878" cy="5910401"/>
              <a:chOff x="0" y="0"/>
              <a:chExt cx="1801457" cy="116748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801457" cy="1167487"/>
              </a:xfrm>
              <a:custGeom>
                <a:avLst/>
                <a:gdLst/>
                <a:ahLst/>
                <a:cxnLst/>
                <a:rect l="l" t="t" r="r" b="b"/>
                <a:pathLst>
                  <a:path w="1801457" h="1167487">
                    <a:moveTo>
                      <a:pt x="57726" y="0"/>
                    </a:moveTo>
                    <a:lnTo>
                      <a:pt x="1743732" y="0"/>
                    </a:lnTo>
                    <a:cubicBezTo>
                      <a:pt x="1759041" y="0"/>
                      <a:pt x="1773724" y="6082"/>
                      <a:pt x="1784550" y="16907"/>
                    </a:cubicBezTo>
                    <a:cubicBezTo>
                      <a:pt x="1795375" y="27733"/>
                      <a:pt x="1801457" y="42416"/>
                      <a:pt x="1801457" y="57726"/>
                    </a:cubicBezTo>
                    <a:lnTo>
                      <a:pt x="1801457" y="1109761"/>
                    </a:lnTo>
                    <a:cubicBezTo>
                      <a:pt x="1801457" y="1125071"/>
                      <a:pt x="1795375" y="1139754"/>
                      <a:pt x="1784550" y="1150579"/>
                    </a:cubicBezTo>
                    <a:cubicBezTo>
                      <a:pt x="1773724" y="1161405"/>
                      <a:pt x="1759041" y="1167487"/>
                      <a:pt x="1743732" y="1167487"/>
                    </a:cubicBezTo>
                    <a:lnTo>
                      <a:pt x="57726" y="1167487"/>
                    </a:lnTo>
                    <a:cubicBezTo>
                      <a:pt x="25845" y="1167487"/>
                      <a:pt x="0" y="1141642"/>
                      <a:pt x="0" y="1109761"/>
                    </a:cubicBezTo>
                    <a:lnTo>
                      <a:pt x="0" y="57726"/>
                    </a:lnTo>
                    <a:cubicBezTo>
                      <a:pt x="0" y="42416"/>
                      <a:pt x="6082" y="27733"/>
                      <a:pt x="16907" y="16907"/>
                    </a:cubicBezTo>
                    <a:cubicBezTo>
                      <a:pt x="27733" y="6082"/>
                      <a:pt x="42416" y="0"/>
                      <a:pt x="57726" y="0"/>
                    </a:cubicBezTo>
                    <a:close/>
                  </a:path>
                </a:pathLst>
              </a:custGeom>
              <a:solidFill>
                <a:srgbClr val="00763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1801457" cy="12151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07041" y="58149"/>
              <a:ext cx="9119878" cy="5910401"/>
              <a:chOff x="0" y="0"/>
              <a:chExt cx="1801457" cy="116748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801457" cy="1167487"/>
              </a:xfrm>
              <a:custGeom>
                <a:avLst/>
                <a:gdLst/>
                <a:ahLst/>
                <a:cxnLst/>
                <a:rect l="l" t="t" r="r" b="b"/>
                <a:pathLst>
                  <a:path w="1801457" h="1167487">
                    <a:moveTo>
                      <a:pt x="57726" y="0"/>
                    </a:moveTo>
                    <a:lnTo>
                      <a:pt x="1743732" y="0"/>
                    </a:lnTo>
                    <a:cubicBezTo>
                      <a:pt x="1759041" y="0"/>
                      <a:pt x="1773724" y="6082"/>
                      <a:pt x="1784550" y="16907"/>
                    </a:cubicBezTo>
                    <a:cubicBezTo>
                      <a:pt x="1795375" y="27733"/>
                      <a:pt x="1801457" y="42416"/>
                      <a:pt x="1801457" y="57726"/>
                    </a:cubicBezTo>
                    <a:lnTo>
                      <a:pt x="1801457" y="1109761"/>
                    </a:lnTo>
                    <a:cubicBezTo>
                      <a:pt x="1801457" y="1125071"/>
                      <a:pt x="1795375" y="1139754"/>
                      <a:pt x="1784550" y="1150579"/>
                    </a:cubicBezTo>
                    <a:cubicBezTo>
                      <a:pt x="1773724" y="1161405"/>
                      <a:pt x="1759041" y="1167487"/>
                      <a:pt x="1743732" y="1167487"/>
                    </a:cubicBezTo>
                    <a:lnTo>
                      <a:pt x="57726" y="1167487"/>
                    </a:lnTo>
                    <a:cubicBezTo>
                      <a:pt x="25845" y="1167487"/>
                      <a:pt x="0" y="1141642"/>
                      <a:pt x="0" y="1109761"/>
                    </a:cubicBezTo>
                    <a:lnTo>
                      <a:pt x="0" y="57726"/>
                    </a:lnTo>
                    <a:cubicBezTo>
                      <a:pt x="0" y="42416"/>
                      <a:pt x="6082" y="27733"/>
                      <a:pt x="16907" y="16907"/>
                    </a:cubicBezTo>
                    <a:cubicBezTo>
                      <a:pt x="27733" y="6082"/>
                      <a:pt x="42416" y="0"/>
                      <a:pt x="577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801457" cy="12151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12732993" y="4196139"/>
            <a:ext cx="1431578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Process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47465" y="4934644"/>
            <a:ext cx="5604802" cy="2637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marR="0" lvl="1" indent="-237490" algn="l" defTabSz="914400" rtl="0" eaLnBrk="1" fontAlgn="auto" latinLnBrk="0" hangingPunct="1">
              <a:lnSpc>
                <a:spcPts val="422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Escalate the sweep if these queries can aid faster or easier fraud detection.</a:t>
            </a:r>
          </a:p>
          <a:p>
            <a:pPr marL="474979" marR="0" lvl="1" indent="-237490" algn="l" defTabSz="914400" rtl="0" eaLnBrk="1" fontAlgn="auto" latinLnBrk="0" hangingPunct="1">
              <a:lnSpc>
                <a:spcPts val="422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After escalation, mark the sweep as completed" in the sweep document.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524000" y="3113769"/>
            <a:ext cx="14680000" cy="25545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Sending bulk incentive surveys is the only mass action agents are allowed to take without asking higher teams for help.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6551" y="3762089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695323" y="6368984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2788824" y="6330812"/>
            <a:ext cx="4453076" cy="242423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3086722" y="6419542"/>
            <a:ext cx="4006253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Agents can send bulk incentive surveys on their own, and it is the only bulk action permitted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48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1887-C814-A6A2-84F3-CA9842E4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45AEB-B185-FFD3-4B0A-4CEF16EEDA0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1888D2-A122-55C4-E244-879A230C0080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5F090-5D09-BB97-D352-59D7C4D15B29}"/>
              </a:ext>
            </a:extLst>
          </p:cNvPr>
          <p:cNvSpPr txBox="1"/>
          <p:nvPr/>
        </p:nvSpPr>
        <p:spPr>
          <a:xfrm>
            <a:off x="1510086" y="1680278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should an agent do if a property has more than 25 suspicious reviews currently online? 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24A0BA5-6920-561F-6D0D-2244A470A0BD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9049E-8922-2B09-5BBA-8A85B8E6E392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Send the issue to Tier 2 right away without fixing anything.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D9B4A0-FCC6-2033-6874-6877C9E8C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13B56-2158-EE09-4629-AC2CE39C51DD}"/>
              </a:ext>
            </a:extLst>
          </p:cNvPr>
          <p:cNvSpPr txBox="1"/>
          <p:nvPr/>
        </p:nvSpPr>
        <p:spPr>
          <a:xfrm>
            <a:off x="1510086" y="5213500"/>
            <a:ext cx="1468000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Delete the 25 newest fake reviews, write down what was found, and send a sweep request. 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F648C10-8B58-5E33-00BB-F234B2BB664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4187D-A396-007E-4A44-5DD57EBB4A7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Delete every single review on the property page.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ACD14F-26EC-ABA0-5805-D415CCB280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9578B-E45B-6B03-3447-7268F48042A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Wait for the business owner to send proof.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59B1E-3056-672D-C727-71965A35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337120-0E18-6905-CEDC-1CD8EA49F83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82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89963-23C2-7BAD-7ABE-03F77103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F0B52-C777-7EC6-D345-8FC4D32E891B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675CE2-E771-762F-8A81-75093AE7ECC6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CA003-FF69-F4DA-5201-971036BDA862}"/>
              </a:ext>
            </a:extLst>
          </p:cNvPr>
          <p:cNvSpPr txBox="1"/>
          <p:nvPr/>
        </p:nvSpPr>
        <p:spPr>
          <a:xfrm>
            <a:off x="1510086" y="1372500"/>
            <a:ext cx="1468000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If staff members are suspected of offering rewards for good reviews, how far back should you check reviews to send surveys?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B2669-9F8D-1AAF-ECC7-8CF65BFD944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3F807688-A3D0-83C2-650C-88C18B19E230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573BA-4A3F-7407-B18E-BAD9D0C0ADF9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  <a:sym typeface="Arial"/>
              </a:rPr>
              <a:t>Public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Reviews submitted over the last 30 days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7896AF48-4EB4-BCA6-87D2-96365FBD6643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648DA1-46A9-15B9-4537-DB23E44BFDCA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Reviews submitted over the last 6 months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22CAEA74-0BF9-436F-3BA1-49FA53593F3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41A3B-1BEB-4397-7A97-4E45FB19BB34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Reviews submitted over the last 3 months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2AF99D2A-66DD-4FB6-9BAE-9FF330054672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A2D9E-B185-550A-C7EC-EE051D85D57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All 5-star reviews ever posted on the property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C7CA1-5907-1E99-8FC8-800C4160C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07505A-3770-06CF-9D55-7D2C35099AEC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75AD5F-C5C4-4F32-542C-0254275D6779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64165" y="3527990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You should still ask for a property sweep even if the bad reviews have already been deleted.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7AF034-BA1F-A326-423B-9CF6721F06FA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2F48A3-5C19-D568-A2CC-70BAC16E2A50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6928" y="6257424"/>
            <a:ext cx="1703071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DA601-95A4-B730-921B-A096D5C46115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771DE0-7BF9-E41C-7B90-9EE045B0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598551" y="3786881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0B5FB7-6759-74B4-462E-02A1ADAE39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695323" y="6368984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AA1E1D-84D5-A376-7198-6674888A462B}"/>
              </a:ext>
            </a:extLst>
          </p:cNvPr>
          <p:cNvSpPr/>
          <p:nvPr/>
        </p:nvSpPr>
        <p:spPr>
          <a:xfrm>
            <a:off x="12809657" y="6257424"/>
            <a:ext cx="3733801" cy="2789216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4755A6-EB97-F7EB-68D1-9F2206EBF22B}"/>
              </a:ext>
            </a:extLst>
          </p:cNvPr>
          <p:cNvSpPr txBox="1"/>
          <p:nvPr/>
        </p:nvSpPr>
        <p:spPr>
          <a:xfrm>
            <a:off x="13225504" y="6368984"/>
            <a:ext cx="3152000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You only ask for a sweep if the suspicious reviews are still live on the website.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60069-8C8A-3E82-31FA-2AB7B675E7EF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5C996-C06F-BEA4-77C4-36F50F9E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286C99-F5E2-A3A0-D750-77110B95485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9876985-1358-AE9C-781C-11BFB24637CE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4576F-2249-980B-938F-1B789D69F5BC}"/>
              </a:ext>
            </a:extLst>
          </p:cNvPr>
          <p:cNvSpPr txBox="1"/>
          <p:nvPr/>
        </p:nvSpPr>
        <p:spPr>
          <a:xfrm>
            <a:off x="1510086" y="1372500"/>
            <a:ext cx="1468000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should you say to a business owner if you start checking their page based only on your own search, not a customer report?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F5B3A-3075-74E9-09C2-D2681BF51CE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DD4BF052-FAF6-0E41-BDC6-6F99F5BECB5F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BE0F51-3F24-8D89-EA78-565F77E02471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Send them a standard fraud warning email.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3E00C6-C5D8-2F90-8FD7-8C1102934DCD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9AC0D2-3111-F37D-751D-2058E62872F0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Tell them their business is under review.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7FDF5CE-5CF7-33EF-0B3E-408610FE696F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EA8F93-03E6-D8FF-4C69-6EFDC44F9891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Do not send them any response at all.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84864ACC-409E-3D74-8B7F-E545B0E90E76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811E85-0E75-D070-CCA5-F77DD6BA7FEE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Ask them to send employee payment records.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C7161-1B67-A922-3768-203C3CCA2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6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1567F-D9AA-E82F-A4B9-F85C49E6C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4B57CC-E02A-F2CD-7082-75A1E10E8409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A5C98E-1D42-864E-8431-E54AC1BA30C3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67A14-E9C7-9146-A1EB-73D335086C5B}"/>
              </a:ext>
            </a:extLst>
          </p:cNvPr>
          <p:cNvSpPr txBox="1"/>
          <p:nvPr/>
        </p:nvSpPr>
        <p:spPr>
          <a:xfrm>
            <a:off x="1510086" y="168027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happens after 7 days if a reviewer does not reply to a verification request?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81D288-D57E-E2C1-96E2-A5C2914D61F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28058B8-3C2C-C640-09AD-263BF017B185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7CA56-FA5B-9712-4073-17DA7ED95149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Block the user's account permanently.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94FBB77D-AA11-4061-2E66-6310A2CE7895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FF718-33FA-1A82-8820-81A02392C404}"/>
              </a:ext>
            </a:extLst>
          </p:cNvPr>
          <p:cNvSpPr txBox="1"/>
          <p:nvPr/>
        </p:nvSpPr>
        <p:spPr>
          <a:xfrm>
            <a:off x="1510086" y="5213500"/>
            <a:ext cx="1468000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Unassign the reviews, and delete them for fake boosting if a clear pattern appears.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C776BE4-B1F0-CDF2-1607-AC5664AA46C1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B5EA38-2745-0046-576C-D4C96EBC4D76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Send an official warning letter to the business.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76BDE537-8E1B-2C82-FB9E-6AB680D5CA68}"/>
              </a:ext>
            </a:extLst>
          </p:cNvPr>
          <p:cNvSpPr/>
          <p:nvPr/>
        </p:nvSpPr>
        <p:spPr>
          <a:xfrm>
            <a:off x="1000000" y="7995677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9F6B56-38A5-CC7D-3504-939FDFBCB659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Send all unverified reviews to Tier 2 immediately.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BD397-AB38-988A-9076-9EED6F7D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6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3CEC7-4409-45E8-2741-21B29F67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71B695-DE8C-0C8F-A5FF-A998D449B406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9858E9-4881-FFFB-8A82-880BBDD0E1A7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541B6-2A66-540D-D709-69A44582FCE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F9639-F4D0-75FD-A043-459EDCCEBD17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93EE70-B681-A700-9768-DCAEA4EE61D1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CB853-B83D-763A-E015-7D6F7F41524F}"/>
              </a:ext>
            </a:extLst>
          </p:cNvPr>
          <p:cNvSpPr txBox="1"/>
          <p:nvPr/>
        </p:nvSpPr>
        <p:spPr>
          <a:xfrm>
            <a:off x="1564165" y="3527989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When searching for reviews in the ART tool, you should set the date filter to look back 6 months. 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FB13C0-27E4-4E81-E1BC-7DFBFF0F24F1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B39F36-D4BA-1E31-F398-6509898CF162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4D9591-2D77-98B4-E729-E2B224C856C7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4BA17E-BFD1-9DD7-610C-AAF21724B8D8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57116C-A5A4-1257-C51E-2828B17D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719208" y="3012813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00B18E-3BBC-2E2C-9909-9DF26347E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695323" y="6368984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FDFB70C-1823-F7F4-517E-83476F11C999}"/>
              </a:ext>
            </a:extLst>
          </p:cNvPr>
          <p:cNvSpPr/>
          <p:nvPr/>
        </p:nvSpPr>
        <p:spPr>
          <a:xfrm>
            <a:off x="12742225" y="6320839"/>
            <a:ext cx="3733801" cy="244810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246CC8-F831-1495-72E0-2B7D06A5A52F}"/>
              </a:ext>
            </a:extLst>
          </p:cNvPr>
          <p:cNvSpPr txBox="1"/>
          <p:nvPr/>
        </p:nvSpPr>
        <p:spPr>
          <a:xfrm>
            <a:off x="13100558" y="6522170"/>
            <a:ext cx="3152000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The date filter must be set to look back 3 months, not 6 months.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52CF6-F4F4-8128-A78F-97FED63B343D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332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05EDF-D843-9D63-531F-7E232D63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CE986-3C5B-41A6-5E0E-66EA147D9B03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5A5035-E257-4636-240B-A69E7D056D0A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5F62F-F2E8-8F80-F2B6-50DF509B2553}"/>
              </a:ext>
            </a:extLst>
          </p:cNvPr>
          <p:cNvSpPr txBox="1"/>
          <p:nvPr/>
        </p:nvSpPr>
        <p:spPr>
          <a:xfrm>
            <a:off x="1510086" y="168027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Which of these is a clear text sign that reviews might be fake?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36CE9-1425-1F78-68FE-9417D6A3D957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F36C808A-A671-A4A3-0CC5-6AF48044F306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9C0C2-5877-9425-3BCE-167DF82BDE99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People using different types of phones to post reviews.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DE127740-0D47-A65A-B347-FFC0332DC7D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469DE1-2065-4345-CC25-B382F9632E58}"/>
              </a:ext>
            </a:extLst>
          </p:cNvPr>
          <p:cNvSpPr txBox="1"/>
          <p:nvPr/>
        </p:nvSpPr>
        <p:spPr>
          <a:xfrm>
            <a:off x="1510086" y="5213500"/>
            <a:ext cx="1468000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The exact same line (like "Best Breakfast in London") used in many reviews.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DF9D567-1A3D-F4EC-766F-CED64FAFAA9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7B71C7-7F72-25EF-654D-2FBBCBCC11E0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 sudden jump in bad reviews after a service change.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FDBBF7-8D3A-ECBE-E8DB-2404142FF642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A12EF9-B9A9-3041-EA81-D953E6AAB2E8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 customer adding a photo to their review.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BD080A-FC8D-3BA2-7B25-AF88F8F9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7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E4AE8D3AC874580C728DBD6C58F20" ma:contentTypeVersion="16" ma:contentTypeDescription="Create a new document." ma:contentTypeScope="" ma:versionID="006169719bc193b9aed0450dc1fb951c">
  <xsd:schema xmlns:xsd="http://www.w3.org/2001/XMLSchema" xmlns:xs="http://www.w3.org/2001/XMLSchema" xmlns:p="http://schemas.microsoft.com/office/2006/metadata/properties" xmlns:ns2="363a3933-3acd-4138-81fd-92928eeda287" xmlns:ns3="55fb9b3e-a026-48a2-bdfc-bbf57372bf68" targetNamespace="http://schemas.microsoft.com/office/2006/metadata/properties" ma:root="true" ma:fieldsID="dad33e39320f44d79dd0383e43ad2fe2" ns2:_="" ns3:_="">
    <xsd:import namespace="363a3933-3acd-4138-81fd-92928eeda287"/>
    <xsd:import namespace="55fb9b3e-a026-48a2-bdfc-bbf57372bf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a3933-3acd-4138-81fd-92928eeda2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b6606f3-8e38-4bb2-982d-ae60526f985d}" ma:internalName="TaxCatchAll" ma:showField="CatchAllData" ma:web="363a3933-3acd-4138-81fd-92928eeda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b9b3e-a026-48a2-bdfc-bbf57372b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d924c95-84b7-4d1c-8a87-b591b54e0c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b9b3e-a026-48a2-bdfc-bbf57372bf68">
      <Terms xmlns="http://schemas.microsoft.com/office/infopath/2007/PartnerControls"/>
    </lcf76f155ced4ddcb4097134ff3c332f>
    <TaxCatchAll xmlns="363a3933-3acd-4138-81fd-92928eeda287" xsi:nil="true"/>
  </documentManagement>
</p:properties>
</file>

<file path=customXml/itemProps1.xml><?xml version="1.0" encoding="utf-8"?>
<ds:datastoreItem xmlns:ds="http://schemas.openxmlformats.org/officeDocument/2006/customXml" ds:itemID="{C30C5CD0-DD50-448D-8E68-33C9E0C824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a3933-3acd-4138-81fd-92928eeda287"/>
    <ds:schemaRef ds:uri="55fb9b3e-a026-48a2-bdfc-bbf57372b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6ABCF6-7E7F-47BE-802D-96742658AF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2F82FC-6572-4433-B06A-A35032A8581C}">
  <ds:schemaRefs>
    <ds:schemaRef ds:uri="http://schemas.microsoft.com/office/2006/metadata/properties"/>
    <ds:schemaRef ds:uri="http://schemas.microsoft.com/office/infopath/2007/PartnerControls"/>
    <ds:schemaRef ds:uri="55fb9b3e-a026-48a2-bdfc-bbf57372bf68"/>
    <ds:schemaRef ds:uri="363a3933-3acd-4138-81fd-92928eeda28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1883</TotalTime>
  <Words>2594</Words>
  <Application>Microsoft Office PowerPoint</Application>
  <PresentationFormat>Custom</PresentationFormat>
  <Paragraphs>299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Sutherland Global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Nithese Krrishna V M</dc:creator>
  <cp:lastModifiedBy>Anupama Chatti</cp:lastModifiedBy>
  <cp:revision>33</cp:revision>
  <dcterms:created xsi:type="dcterms:W3CDTF">2026-08-21T09:47:49Z</dcterms:created>
  <dcterms:modified xsi:type="dcterms:W3CDTF">2026-10-05T07:56:05Z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0x01010080EE4AE8D3AC874580C728DBD6C58F20</vt:lpwstr>
  </property>
  <property fmtid="{D5CDD505-2E9C-101B-9397-08002B2CF9AE}" pid="3" name="MediaServiceImageTags">
    <vt:lpwstr/>
  </property>
</Properties>
</file>