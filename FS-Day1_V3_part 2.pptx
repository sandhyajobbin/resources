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9"/>
  </p:notesMasterIdLst>
  <p:sldIdLst>
    <p:sldId id="317" r:id="rId4"/>
    <p:sldId id="321" r:id="rId5"/>
    <p:sldId id="322" r:id="rId6"/>
    <p:sldId id="261" r:id="rId7"/>
    <p:sldId id="326" r:id="rId8"/>
    <p:sldId id="323" r:id="rId9"/>
    <p:sldId id="331" r:id="rId10"/>
    <p:sldId id="342" r:id="rId11"/>
    <p:sldId id="332" r:id="rId12"/>
    <p:sldId id="318" r:id="rId13"/>
    <p:sldId id="266" r:id="rId14"/>
    <p:sldId id="312" r:id="rId15"/>
    <p:sldId id="313" r:id="rId16"/>
    <p:sldId id="314" r:id="rId17"/>
    <p:sldId id="31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883C8D-6D3E-404A-AFA9-28215E707E61}" type="doc">
      <dgm:prSet loTypeId="urn:microsoft.com/office/officeart/2005/8/layout/list1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4C52A34-76A5-4649-B8D1-AD9C4B383C65}">
      <dgm:prSet phldrT="[Text]" custT="1"/>
      <dgm:spPr/>
      <dgm:t>
        <a:bodyPr/>
        <a:lstStyle/>
        <a:p>
          <a: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  <a:t>Reviews individual pieces of content to ensure they comply with Tripadvisor policies.</a:t>
          </a:r>
          <a:b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dirty="0"/>
        </a:p>
      </dgm:t>
    </dgm:pt>
    <dgm:pt modelId="{BAF0C96B-E88A-4D14-AAF2-4E4D44413BBC}" type="parTrans" cxnId="{53B7CD43-705F-4B71-8F78-105ECF8116B4}">
      <dgm:prSet/>
      <dgm:spPr/>
      <dgm:t>
        <a:bodyPr/>
        <a:lstStyle/>
        <a:p>
          <a:endParaRPr lang="en-US"/>
        </a:p>
      </dgm:t>
    </dgm:pt>
    <dgm:pt modelId="{FA48D7B3-D33D-4E89-B1D9-A221B128BDA3}" type="sibTrans" cxnId="{53B7CD43-705F-4B71-8F78-105ECF8116B4}">
      <dgm:prSet/>
      <dgm:spPr/>
      <dgm:t>
        <a:bodyPr/>
        <a:lstStyle/>
        <a:p>
          <a:endParaRPr lang="en-US"/>
        </a:p>
      </dgm:t>
    </dgm:pt>
    <dgm:pt modelId="{CC7C5F3C-0A0A-4384-A7C2-7156C87B7FCF}">
      <dgm:prSet phldrT="[Text]" custT="1"/>
      <dgm:spPr/>
      <dgm:t>
        <a:bodyPr/>
        <a:lstStyle/>
        <a:p>
          <a: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  <a:t>Evaluates reviews, photos, and owner responses individually for policy compliance.</a:t>
          </a:r>
          <a:b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dirty="0"/>
        </a:p>
      </dgm:t>
    </dgm:pt>
    <dgm:pt modelId="{9325F43C-C0DD-45F5-963E-8704CB1681B9}" type="parTrans" cxnId="{B0680DC8-5C19-4138-950C-C94F8ED8B5A2}">
      <dgm:prSet/>
      <dgm:spPr/>
      <dgm:t>
        <a:bodyPr/>
        <a:lstStyle/>
        <a:p>
          <a:endParaRPr lang="en-US"/>
        </a:p>
      </dgm:t>
    </dgm:pt>
    <dgm:pt modelId="{2C6EC3EF-64E5-49A5-92EA-7F603AA09BB1}" type="sibTrans" cxnId="{B0680DC8-5C19-4138-950C-C94F8ED8B5A2}">
      <dgm:prSet/>
      <dgm:spPr/>
      <dgm:t>
        <a:bodyPr/>
        <a:lstStyle/>
        <a:p>
          <a:endParaRPr lang="en-US"/>
        </a:p>
      </dgm:t>
    </dgm:pt>
    <dgm:pt modelId="{C9A0968C-8214-44D7-AC3F-61A5DF827D67}">
      <dgm:prSet phldrT="[Text]" custT="1"/>
      <dgm:spPr/>
      <dgm:t>
        <a:bodyPr/>
        <a:lstStyle/>
        <a:p>
          <a: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  <a:t>Determines whether submitted content should remain, be removed, or require moderation.</a:t>
          </a:r>
          <a:b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dirty="0"/>
        </a:p>
      </dgm:t>
    </dgm:pt>
    <dgm:pt modelId="{76AD3B78-107B-4DE7-BC7B-B65A97A80E47}" type="parTrans" cxnId="{FF32D40E-E53D-4304-A9D2-362A291AAFAE}">
      <dgm:prSet/>
      <dgm:spPr/>
      <dgm:t>
        <a:bodyPr/>
        <a:lstStyle/>
        <a:p>
          <a:endParaRPr lang="en-US"/>
        </a:p>
      </dgm:t>
    </dgm:pt>
    <dgm:pt modelId="{E1294A17-11FA-4EF7-8901-1F587408C4F0}" type="sibTrans" cxnId="{FF32D40E-E53D-4304-A9D2-362A291AAFAE}">
      <dgm:prSet/>
      <dgm:spPr/>
      <dgm:t>
        <a:bodyPr/>
        <a:lstStyle/>
        <a:p>
          <a:endParaRPr lang="en-US"/>
        </a:p>
      </dgm:t>
    </dgm:pt>
    <dgm:pt modelId="{0E5331F6-32FE-4F69-9666-B83E6184432C}">
      <dgm:prSet phldrT="[Text]" custT="1"/>
      <dgm:spPr/>
      <dgm:t>
        <a:bodyPr/>
        <a:lstStyle/>
        <a:p>
          <a: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  <a:t>Content-centric review based on moderation guidelines.</a:t>
          </a:r>
          <a:b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dirty="0"/>
        </a:p>
      </dgm:t>
    </dgm:pt>
    <dgm:pt modelId="{0D82BB1C-123B-415C-B961-17D7F61BA07A}" type="parTrans" cxnId="{C62D7713-8D1D-4C79-B0E6-51012E57D9CC}">
      <dgm:prSet/>
      <dgm:spPr/>
      <dgm:t>
        <a:bodyPr/>
        <a:lstStyle/>
        <a:p>
          <a:endParaRPr lang="en-US"/>
        </a:p>
      </dgm:t>
    </dgm:pt>
    <dgm:pt modelId="{6C69C209-C997-4AC0-8789-140639968067}" type="sibTrans" cxnId="{C62D7713-8D1D-4C79-B0E6-51012E57D9CC}">
      <dgm:prSet/>
      <dgm:spPr/>
      <dgm:t>
        <a:bodyPr/>
        <a:lstStyle/>
        <a:p>
          <a:endParaRPr lang="en-US"/>
        </a:p>
      </dgm:t>
    </dgm:pt>
    <dgm:pt modelId="{D676DF8E-8FAF-4160-B5B5-3C3D5B0B4D2C}">
      <dgm:prSet phldrT="[Text]" custT="1"/>
      <dgm:spPr/>
      <dgm:t>
        <a:bodyPr/>
        <a:lstStyle/>
        <a:p>
          <a: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  <a:t>Keeping published content policy compliant.</a:t>
          </a:r>
          <a:endParaRPr lang="en-US" sz="1600" dirty="0"/>
        </a:p>
      </dgm:t>
    </dgm:pt>
    <dgm:pt modelId="{583DFAAB-1724-48AF-AD93-950548CB038A}" type="parTrans" cxnId="{2AA1765D-F84D-430D-B416-FD5BC23355E1}">
      <dgm:prSet/>
      <dgm:spPr/>
      <dgm:t>
        <a:bodyPr/>
        <a:lstStyle/>
        <a:p>
          <a:endParaRPr lang="en-US"/>
        </a:p>
      </dgm:t>
    </dgm:pt>
    <dgm:pt modelId="{5E0101F0-DB15-42EE-9BF5-6D3845A36D9B}" type="sibTrans" cxnId="{2AA1765D-F84D-430D-B416-FD5BC23355E1}">
      <dgm:prSet/>
      <dgm:spPr/>
      <dgm:t>
        <a:bodyPr/>
        <a:lstStyle/>
        <a:p>
          <a:endParaRPr lang="en-US"/>
        </a:p>
      </dgm:t>
    </dgm:pt>
    <dgm:pt modelId="{F92F2915-8A8C-4390-95F2-FA032E90EAD6}" type="pres">
      <dgm:prSet presAssocID="{F3883C8D-6D3E-404A-AFA9-28215E707E61}" presName="linear" presStyleCnt="0">
        <dgm:presLayoutVars>
          <dgm:dir/>
          <dgm:animLvl val="lvl"/>
          <dgm:resizeHandles val="exact"/>
        </dgm:presLayoutVars>
      </dgm:prSet>
      <dgm:spPr/>
    </dgm:pt>
    <dgm:pt modelId="{DB7B9007-DDB0-4DF7-8885-6C69CE0F7220}" type="pres">
      <dgm:prSet presAssocID="{B4C52A34-76A5-4649-B8D1-AD9C4B383C65}" presName="parentLin" presStyleCnt="0"/>
      <dgm:spPr/>
    </dgm:pt>
    <dgm:pt modelId="{ED231492-E7BE-4754-AFA1-30BB01447912}" type="pres">
      <dgm:prSet presAssocID="{B4C52A34-76A5-4649-B8D1-AD9C4B383C65}" presName="parentLeftMargin" presStyleLbl="node1" presStyleIdx="0" presStyleCnt="5"/>
      <dgm:spPr/>
    </dgm:pt>
    <dgm:pt modelId="{6A2B24CF-F099-4DEA-B0E8-6C2036CDDBA6}" type="pres">
      <dgm:prSet presAssocID="{B4C52A34-76A5-4649-B8D1-AD9C4B383C65}" presName="parentText" presStyleLbl="node1" presStyleIdx="0" presStyleCnt="5" custScaleX="132102">
        <dgm:presLayoutVars>
          <dgm:chMax val="0"/>
          <dgm:bulletEnabled val="1"/>
        </dgm:presLayoutVars>
      </dgm:prSet>
      <dgm:spPr/>
    </dgm:pt>
    <dgm:pt modelId="{8A3E7D88-8DAC-460C-97A2-0A83F536630E}" type="pres">
      <dgm:prSet presAssocID="{B4C52A34-76A5-4649-B8D1-AD9C4B383C65}" presName="negativeSpace" presStyleCnt="0"/>
      <dgm:spPr/>
    </dgm:pt>
    <dgm:pt modelId="{B07A493A-40D4-4AA8-B959-59319105804D}" type="pres">
      <dgm:prSet presAssocID="{B4C52A34-76A5-4649-B8D1-AD9C4B383C65}" presName="childText" presStyleLbl="conFgAcc1" presStyleIdx="0" presStyleCnt="5">
        <dgm:presLayoutVars>
          <dgm:bulletEnabled val="1"/>
        </dgm:presLayoutVars>
      </dgm:prSet>
      <dgm:spPr/>
    </dgm:pt>
    <dgm:pt modelId="{FF560C61-7BE8-4F1B-9B84-286C8B204203}" type="pres">
      <dgm:prSet presAssocID="{FA48D7B3-D33D-4E89-B1D9-A221B128BDA3}" presName="spaceBetweenRectangles" presStyleCnt="0"/>
      <dgm:spPr/>
    </dgm:pt>
    <dgm:pt modelId="{8D171BA2-7192-42A9-9410-C31402BED233}" type="pres">
      <dgm:prSet presAssocID="{CC7C5F3C-0A0A-4384-A7C2-7156C87B7FCF}" presName="parentLin" presStyleCnt="0"/>
      <dgm:spPr/>
    </dgm:pt>
    <dgm:pt modelId="{E63CDEB3-D0C2-4D4B-AEFF-134A1634E4EF}" type="pres">
      <dgm:prSet presAssocID="{CC7C5F3C-0A0A-4384-A7C2-7156C87B7FCF}" presName="parentLeftMargin" presStyleLbl="node1" presStyleIdx="0" presStyleCnt="5"/>
      <dgm:spPr/>
    </dgm:pt>
    <dgm:pt modelId="{C497A2BD-869F-428B-A7E1-3A82C9929C10}" type="pres">
      <dgm:prSet presAssocID="{CC7C5F3C-0A0A-4384-A7C2-7156C87B7FCF}" presName="parentText" presStyleLbl="node1" presStyleIdx="1" presStyleCnt="5" custScaleX="132102">
        <dgm:presLayoutVars>
          <dgm:chMax val="0"/>
          <dgm:bulletEnabled val="1"/>
        </dgm:presLayoutVars>
      </dgm:prSet>
      <dgm:spPr/>
    </dgm:pt>
    <dgm:pt modelId="{FE499FC7-F19E-47AE-A5E7-4593F76FB1E5}" type="pres">
      <dgm:prSet presAssocID="{CC7C5F3C-0A0A-4384-A7C2-7156C87B7FCF}" presName="negativeSpace" presStyleCnt="0"/>
      <dgm:spPr/>
    </dgm:pt>
    <dgm:pt modelId="{42C38F26-25DE-4390-9FD4-3C2EFA0F9E7F}" type="pres">
      <dgm:prSet presAssocID="{CC7C5F3C-0A0A-4384-A7C2-7156C87B7FCF}" presName="childText" presStyleLbl="conFgAcc1" presStyleIdx="1" presStyleCnt="5">
        <dgm:presLayoutVars>
          <dgm:bulletEnabled val="1"/>
        </dgm:presLayoutVars>
      </dgm:prSet>
      <dgm:spPr/>
    </dgm:pt>
    <dgm:pt modelId="{3747CB17-CCD9-4002-A850-2C0FB285371A}" type="pres">
      <dgm:prSet presAssocID="{2C6EC3EF-64E5-49A5-92EA-7F603AA09BB1}" presName="spaceBetweenRectangles" presStyleCnt="0"/>
      <dgm:spPr/>
    </dgm:pt>
    <dgm:pt modelId="{B2852DF9-F1F5-4CD1-850D-7CC1CEE5D733}" type="pres">
      <dgm:prSet presAssocID="{C9A0968C-8214-44D7-AC3F-61A5DF827D67}" presName="parentLin" presStyleCnt="0"/>
      <dgm:spPr/>
    </dgm:pt>
    <dgm:pt modelId="{4CC3F093-5B41-4C1A-AADD-0437D58EFCC1}" type="pres">
      <dgm:prSet presAssocID="{C9A0968C-8214-44D7-AC3F-61A5DF827D67}" presName="parentLeftMargin" presStyleLbl="node1" presStyleIdx="1" presStyleCnt="5"/>
      <dgm:spPr/>
    </dgm:pt>
    <dgm:pt modelId="{87422081-DE65-41BE-B894-8BD7292200DE}" type="pres">
      <dgm:prSet presAssocID="{C9A0968C-8214-44D7-AC3F-61A5DF827D67}" presName="parentText" presStyleLbl="node1" presStyleIdx="2" presStyleCnt="5" custScaleX="132102">
        <dgm:presLayoutVars>
          <dgm:chMax val="0"/>
          <dgm:bulletEnabled val="1"/>
        </dgm:presLayoutVars>
      </dgm:prSet>
      <dgm:spPr/>
    </dgm:pt>
    <dgm:pt modelId="{7F456E04-3F22-48FC-A51B-F4FE10BF30C7}" type="pres">
      <dgm:prSet presAssocID="{C9A0968C-8214-44D7-AC3F-61A5DF827D67}" presName="negativeSpace" presStyleCnt="0"/>
      <dgm:spPr/>
    </dgm:pt>
    <dgm:pt modelId="{AB6BBDE2-15BD-4155-B6CC-960FB453C789}" type="pres">
      <dgm:prSet presAssocID="{C9A0968C-8214-44D7-AC3F-61A5DF827D67}" presName="childText" presStyleLbl="conFgAcc1" presStyleIdx="2" presStyleCnt="5">
        <dgm:presLayoutVars>
          <dgm:bulletEnabled val="1"/>
        </dgm:presLayoutVars>
      </dgm:prSet>
      <dgm:spPr/>
    </dgm:pt>
    <dgm:pt modelId="{68B7C767-D08E-4F8D-AEBC-5ADA2F208125}" type="pres">
      <dgm:prSet presAssocID="{E1294A17-11FA-4EF7-8901-1F587408C4F0}" presName="spaceBetweenRectangles" presStyleCnt="0"/>
      <dgm:spPr/>
    </dgm:pt>
    <dgm:pt modelId="{79A992D2-AFB0-4201-BCBC-D9A71867582D}" type="pres">
      <dgm:prSet presAssocID="{0E5331F6-32FE-4F69-9666-B83E6184432C}" presName="parentLin" presStyleCnt="0"/>
      <dgm:spPr/>
    </dgm:pt>
    <dgm:pt modelId="{5C010B0A-6995-4AEE-8028-4029ADFECCDE}" type="pres">
      <dgm:prSet presAssocID="{0E5331F6-32FE-4F69-9666-B83E6184432C}" presName="parentLeftMargin" presStyleLbl="node1" presStyleIdx="2" presStyleCnt="5"/>
      <dgm:spPr/>
    </dgm:pt>
    <dgm:pt modelId="{579784FE-2C03-4E84-B6AC-729F3B8A3675}" type="pres">
      <dgm:prSet presAssocID="{0E5331F6-32FE-4F69-9666-B83E6184432C}" presName="parentText" presStyleLbl="node1" presStyleIdx="3" presStyleCnt="5" custScaleX="132102">
        <dgm:presLayoutVars>
          <dgm:chMax val="0"/>
          <dgm:bulletEnabled val="1"/>
        </dgm:presLayoutVars>
      </dgm:prSet>
      <dgm:spPr/>
    </dgm:pt>
    <dgm:pt modelId="{8029EFB3-5596-4D36-B1EB-199FEAC49FCD}" type="pres">
      <dgm:prSet presAssocID="{0E5331F6-32FE-4F69-9666-B83E6184432C}" presName="negativeSpace" presStyleCnt="0"/>
      <dgm:spPr/>
    </dgm:pt>
    <dgm:pt modelId="{B608B127-D941-4242-A116-CF523D0E4D2D}" type="pres">
      <dgm:prSet presAssocID="{0E5331F6-32FE-4F69-9666-B83E6184432C}" presName="childText" presStyleLbl="conFgAcc1" presStyleIdx="3" presStyleCnt="5">
        <dgm:presLayoutVars>
          <dgm:bulletEnabled val="1"/>
        </dgm:presLayoutVars>
      </dgm:prSet>
      <dgm:spPr/>
    </dgm:pt>
    <dgm:pt modelId="{108F6147-A702-47FD-A082-FF907A0F850E}" type="pres">
      <dgm:prSet presAssocID="{6C69C209-C997-4AC0-8789-140639968067}" presName="spaceBetweenRectangles" presStyleCnt="0"/>
      <dgm:spPr/>
    </dgm:pt>
    <dgm:pt modelId="{815C82E8-CE96-4AAC-906E-D6CB23AD3142}" type="pres">
      <dgm:prSet presAssocID="{D676DF8E-8FAF-4160-B5B5-3C3D5B0B4D2C}" presName="parentLin" presStyleCnt="0"/>
      <dgm:spPr/>
    </dgm:pt>
    <dgm:pt modelId="{3860596D-0719-4DBF-A83E-B28D1C3B6D83}" type="pres">
      <dgm:prSet presAssocID="{D676DF8E-8FAF-4160-B5B5-3C3D5B0B4D2C}" presName="parentLeftMargin" presStyleLbl="node1" presStyleIdx="3" presStyleCnt="5"/>
      <dgm:spPr/>
    </dgm:pt>
    <dgm:pt modelId="{83CE112D-EE62-440B-8049-FED61104A3EC}" type="pres">
      <dgm:prSet presAssocID="{D676DF8E-8FAF-4160-B5B5-3C3D5B0B4D2C}" presName="parentText" presStyleLbl="node1" presStyleIdx="4" presStyleCnt="5" custScaleX="132102">
        <dgm:presLayoutVars>
          <dgm:chMax val="0"/>
          <dgm:bulletEnabled val="1"/>
        </dgm:presLayoutVars>
      </dgm:prSet>
      <dgm:spPr/>
    </dgm:pt>
    <dgm:pt modelId="{238F9428-75F1-403D-8520-0322924DD18F}" type="pres">
      <dgm:prSet presAssocID="{D676DF8E-8FAF-4160-B5B5-3C3D5B0B4D2C}" presName="negativeSpace" presStyleCnt="0"/>
      <dgm:spPr/>
    </dgm:pt>
    <dgm:pt modelId="{99F33395-411E-43DF-9009-52161C5FBE96}" type="pres">
      <dgm:prSet presAssocID="{D676DF8E-8FAF-4160-B5B5-3C3D5B0B4D2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FF32D40E-E53D-4304-A9D2-362A291AAFAE}" srcId="{F3883C8D-6D3E-404A-AFA9-28215E707E61}" destId="{C9A0968C-8214-44D7-AC3F-61A5DF827D67}" srcOrd="2" destOrd="0" parTransId="{76AD3B78-107B-4DE7-BC7B-B65A97A80E47}" sibTransId="{E1294A17-11FA-4EF7-8901-1F587408C4F0}"/>
    <dgm:cxn modelId="{C3538E11-7514-42D8-8DD5-2D37489D0AC5}" type="presOf" srcId="{D676DF8E-8FAF-4160-B5B5-3C3D5B0B4D2C}" destId="{83CE112D-EE62-440B-8049-FED61104A3EC}" srcOrd="1" destOrd="0" presId="urn:microsoft.com/office/officeart/2005/8/layout/list1"/>
    <dgm:cxn modelId="{C62D7713-8D1D-4C79-B0E6-51012E57D9CC}" srcId="{F3883C8D-6D3E-404A-AFA9-28215E707E61}" destId="{0E5331F6-32FE-4F69-9666-B83E6184432C}" srcOrd="3" destOrd="0" parTransId="{0D82BB1C-123B-415C-B961-17D7F61BA07A}" sibTransId="{6C69C209-C997-4AC0-8789-140639968067}"/>
    <dgm:cxn modelId="{79E11E24-78E4-4816-894A-AE582803DEEA}" type="presOf" srcId="{0E5331F6-32FE-4F69-9666-B83E6184432C}" destId="{579784FE-2C03-4E84-B6AC-729F3B8A3675}" srcOrd="1" destOrd="0" presId="urn:microsoft.com/office/officeart/2005/8/layout/list1"/>
    <dgm:cxn modelId="{2AA1765D-F84D-430D-B416-FD5BC23355E1}" srcId="{F3883C8D-6D3E-404A-AFA9-28215E707E61}" destId="{D676DF8E-8FAF-4160-B5B5-3C3D5B0B4D2C}" srcOrd="4" destOrd="0" parTransId="{583DFAAB-1724-48AF-AD93-950548CB038A}" sibTransId="{5E0101F0-DB15-42EE-9BF5-6D3845A36D9B}"/>
    <dgm:cxn modelId="{53B7CD43-705F-4B71-8F78-105ECF8116B4}" srcId="{F3883C8D-6D3E-404A-AFA9-28215E707E61}" destId="{B4C52A34-76A5-4649-B8D1-AD9C4B383C65}" srcOrd="0" destOrd="0" parTransId="{BAF0C96B-E88A-4D14-AAF2-4E4D44413BBC}" sibTransId="{FA48D7B3-D33D-4E89-B1D9-A221B128BDA3}"/>
    <dgm:cxn modelId="{DE8F2849-2AFB-4F0C-8788-8462DDA032CF}" type="presOf" srcId="{D676DF8E-8FAF-4160-B5B5-3C3D5B0B4D2C}" destId="{3860596D-0719-4DBF-A83E-B28D1C3B6D83}" srcOrd="0" destOrd="0" presId="urn:microsoft.com/office/officeart/2005/8/layout/list1"/>
    <dgm:cxn modelId="{BFCEA183-05B3-4C22-ADE2-04638DC8BD4B}" type="presOf" srcId="{CC7C5F3C-0A0A-4384-A7C2-7156C87B7FCF}" destId="{C497A2BD-869F-428B-A7E1-3A82C9929C10}" srcOrd="1" destOrd="0" presId="urn:microsoft.com/office/officeart/2005/8/layout/list1"/>
    <dgm:cxn modelId="{C3D0BB8E-D101-4B77-B8AB-3493018B127B}" type="presOf" srcId="{B4C52A34-76A5-4649-B8D1-AD9C4B383C65}" destId="{6A2B24CF-F099-4DEA-B0E8-6C2036CDDBA6}" srcOrd="1" destOrd="0" presId="urn:microsoft.com/office/officeart/2005/8/layout/list1"/>
    <dgm:cxn modelId="{ACD6258F-68BC-44BE-B1AC-DC783F906A9D}" type="presOf" srcId="{C9A0968C-8214-44D7-AC3F-61A5DF827D67}" destId="{87422081-DE65-41BE-B894-8BD7292200DE}" srcOrd="1" destOrd="0" presId="urn:microsoft.com/office/officeart/2005/8/layout/list1"/>
    <dgm:cxn modelId="{521DD4B6-20CE-4F33-969A-FDBABDD65131}" type="presOf" srcId="{0E5331F6-32FE-4F69-9666-B83E6184432C}" destId="{5C010B0A-6995-4AEE-8028-4029ADFECCDE}" srcOrd="0" destOrd="0" presId="urn:microsoft.com/office/officeart/2005/8/layout/list1"/>
    <dgm:cxn modelId="{EC87DBBB-D260-40EC-BCD8-E8F968BF910A}" type="presOf" srcId="{C9A0968C-8214-44D7-AC3F-61A5DF827D67}" destId="{4CC3F093-5B41-4C1A-AADD-0437D58EFCC1}" srcOrd="0" destOrd="0" presId="urn:microsoft.com/office/officeart/2005/8/layout/list1"/>
    <dgm:cxn modelId="{A7FD5FBC-527C-40E1-AA00-3270EB5BA2FA}" type="presOf" srcId="{CC7C5F3C-0A0A-4384-A7C2-7156C87B7FCF}" destId="{E63CDEB3-D0C2-4D4B-AEFF-134A1634E4EF}" srcOrd="0" destOrd="0" presId="urn:microsoft.com/office/officeart/2005/8/layout/list1"/>
    <dgm:cxn modelId="{B0680DC8-5C19-4138-950C-C94F8ED8B5A2}" srcId="{F3883C8D-6D3E-404A-AFA9-28215E707E61}" destId="{CC7C5F3C-0A0A-4384-A7C2-7156C87B7FCF}" srcOrd="1" destOrd="0" parTransId="{9325F43C-C0DD-45F5-963E-8704CB1681B9}" sibTransId="{2C6EC3EF-64E5-49A5-92EA-7F603AA09BB1}"/>
    <dgm:cxn modelId="{752EB0EA-8123-420F-B39C-1847ED5CEF37}" type="presOf" srcId="{F3883C8D-6D3E-404A-AFA9-28215E707E61}" destId="{F92F2915-8A8C-4390-95F2-FA032E90EAD6}" srcOrd="0" destOrd="0" presId="urn:microsoft.com/office/officeart/2005/8/layout/list1"/>
    <dgm:cxn modelId="{6C86D2F0-FE9F-4C60-8B9A-D24B9B8E4D41}" type="presOf" srcId="{B4C52A34-76A5-4649-B8D1-AD9C4B383C65}" destId="{ED231492-E7BE-4754-AFA1-30BB01447912}" srcOrd="0" destOrd="0" presId="urn:microsoft.com/office/officeart/2005/8/layout/list1"/>
    <dgm:cxn modelId="{85B815FE-6E43-44F9-B558-D669279792F1}" type="presParOf" srcId="{F92F2915-8A8C-4390-95F2-FA032E90EAD6}" destId="{DB7B9007-DDB0-4DF7-8885-6C69CE0F7220}" srcOrd="0" destOrd="0" presId="urn:microsoft.com/office/officeart/2005/8/layout/list1"/>
    <dgm:cxn modelId="{D72F6800-2572-4C76-A28A-BC0324A62B9C}" type="presParOf" srcId="{DB7B9007-DDB0-4DF7-8885-6C69CE0F7220}" destId="{ED231492-E7BE-4754-AFA1-30BB01447912}" srcOrd="0" destOrd="0" presId="urn:microsoft.com/office/officeart/2005/8/layout/list1"/>
    <dgm:cxn modelId="{4D788924-29FA-4096-BF08-2A351223088E}" type="presParOf" srcId="{DB7B9007-DDB0-4DF7-8885-6C69CE0F7220}" destId="{6A2B24CF-F099-4DEA-B0E8-6C2036CDDBA6}" srcOrd="1" destOrd="0" presId="urn:microsoft.com/office/officeart/2005/8/layout/list1"/>
    <dgm:cxn modelId="{D91CFDDB-E00A-4D9C-B937-32689590F4F2}" type="presParOf" srcId="{F92F2915-8A8C-4390-95F2-FA032E90EAD6}" destId="{8A3E7D88-8DAC-460C-97A2-0A83F536630E}" srcOrd="1" destOrd="0" presId="urn:microsoft.com/office/officeart/2005/8/layout/list1"/>
    <dgm:cxn modelId="{8F4A1AF2-1651-4A22-8237-CCFA9A1F57E7}" type="presParOf" srcId="{F92F2915-8A8C-4390-95F2-FA032E90EAD6}" destId="{B07A493A-40D4-4AA8-B959-59319105804D}" srcOrd="2" destOrd="0" presId="urn:microsoft.com/office/officeart/2005/8/layout/list1"/>
    <dgm:cxn modelId="{1C4A076B-CA2C-4486-9139-A25BDE7E43D7}" type="presParOf" srcId="{F92F2915-8A8C-4390-95F2-FA032E90EAD6}" destId="{FF560C61-7BE8-4F1B-9B84-286C8B204203}" srcOrd="3" destOrd="0" presId="urn:microsoft.com/office/officeart/2005/8/layout/list1"/>
    <dgm:cxn modelId="{EB5AD829-8579-4311-AB3B-999BE3B55680}" type="presParOf" srcId="{F92F2915-8A8C-4390-95F2-FA032E90EAD6}" destId="{8D171BA2-7192-42A9-9410-C31402BED233}" srcOrd="4" destOrd="0" presId="urn:microsoft.com/office/officeart/2005/8/layout/list1"/>
    <dgm:cxn modelId="{8BF87FE9-BE10-4AE7-AB05-082C6E6564B0}" type="presParOf" srcId="{8D171BA2-7192-42A9-9410-C31402BED233}" destId="{E63CDEB3-D0C2-4D4B-AEFF-134A1634E4EF}" srcOrd="0" destOrd="0" presId="urn:microsoft.com/office/officeart/2005/8/layout/list1"/>
    <dgm:cxn modelId="{D446BC90-2351-49E0-862A-C2A6FDCE3A53}" type="presParOf" srcId="{8D171BA2-7192-42A9-9410-C31402BED233}" destId="{C497A2BD-869F-428B-A7E1-3A82C9929C10}" srcOrd="1" destOrd="0" presId="urn:microsoft.com/office/officeart/2005/8/layout/list1"/>
    <dgm:cxn modelId="{DE009738-8B1D-4E8A-BFF5-4D784AEB2321}" type="presParOf" srcId="{F92F2915-8A8C-4390-95F2-FA032E90EAD6}" destId="{FE499FC7-F19E-47AE-A5E7-4593F76FB1E5}" srcOrd="5" destOrd="0" presId="urn:microsoft.com/office/officeart/2005/8/layout/list1"/>
    <dgm:cxn modelId="{80A3F80D-5E43-483F-BC83-5204D766323C}" type="presParOf" srcId="{F92F2915-8A8C-4390-95F2-FA032E90EAD6}" destId="{42C38F26-25DE-4390-9FD4-3C2EFA0F9E7F}" srcOrd="6" destOrd="0" presId="urn:microsoft.com/office/officeart/2005/8/layout/list1"/>
    <dgm:cxn modelId="{766D21C5-6925-4918-8A9B-046B1EFD55FD}" type="presParOf" srcId="{F92F2915-8A8C-4390-95F2-FA032E90EAD6}" destId="{3747CB17-CCD9-4002-A850-2C0FB285371A}" srcOrd="7" destOrd="0" presId="urn:microsoft.com/office/officeart/2005/8/layout/list1"/>
    <dgm:cxn modelId="{F169961E-F36C-4DF3-8059-C5C56E70310C}" type="presParOf" srcId="{F92F2915-8A8C-4390-95F2-FA032E90EAD6}" destId="{B2852DF9-F1F5-4CD1-850D-7CC1CEE5D733}" srcOrd="8" destOrd="0" presId="urn:microsoft.com/office/officeart/2005/8/layout/list1"/>
    <dgm:cxn modelId="{B728A08C-D481-4B1D-845E-44541BACAADA}" type="presParOf" srcId="{B2852DF9-F1F5-4CD1-850D-7CC1CEE5D733}" destId="{4CC3F093-5B41-4C1A-AADD-0437D58EFCC1}" srcOrd="0" destOrd="0" presId="urn:microsoft.com/office/officeart/2005/8/layout/list1"/>
    <dgm:cxn modelId="{F1CEB6E6-5234-416B-A80E-4E97950DBE11}" type="presParOf" srcId="{B2852DF9-F1F5-4CD1-850D-7CC1CEE5D733}" destId="{87422081-DE65-41BE-B894-8BD7292200DE}" srcOrd="1" destOrd="0" presId="urn:microsoft.com/office/officeart/2005/8/layout/list1"/>
    <dgm:cxn modelId="{838E15AA-31F5-4CE4-8423-C909E04CEEB2}" type="presParOf" srcId="{F92F2915-8A8C-4390-95F2-FA032E90EAD6}" destId="{7F456E04-3F22-48FC-A51B-F4FE10BF30C7}" srcOrd="9" destOrd="0" presId="urn:microsoft.com/office/officeart/2005/8/layout/list1"/>
    <dgm:cxn modelId="{06A468EE-3B36-4D1E-AD76-1AA1FAC6C852}" type="presParOf" srcId="{F92F2915-8A8C-4390-95F2-FA032E90EAD6}" destId="{AB6BBDE2-15BD-4155-B6CC-960FB453C789}" srcOrd="10" destOrd="0" presId="urn:microsoft.com/office/officeart/2005/8/layout/list1"/>
    <dgm:cxn modelId="{2583A9DA-12C2-4026-AF10-29559E444D55}" type="presParOf" srcId="{F92F2915-8A8C-4390-95F2-FA032E90EAD6}" destId="{68B7C767-D08E-4F8D-AEBC-5ADA2F208125}" srcOrd="11" destOrd="0" presId="urn:microsoft.com/office/officeart/2005/8/layout/list1"/>
    <dgm:cxn modelId="{529E13A4-C60A-4035-B1AF-8B4874A1665F}" type="presParOf" srcId="{F92F2915-8A8C-4390-95F2-FA032E90EAD6}" destId="{79A992D2-AFB0-4201-BCBC-D9A71867582D}" srcOrd="12" destOrd="0" presId="urn:microsoft.com/office/officeart/2005/8/layout/list1"/>
    <dgm:cxn modelId="{674F67FC-0E58-416F-B633-26CDCAC2577D}" type="presParOf" srcId="{79A992D2-AFB0-4201-BCBC-D9A71867582D}" destId="{5C010B0A-6995-4AEE-8028-4029ADFECCDE}" srcOrd="0" destOrd="0" presId="urn:microsoft.com/office/officeart/2005/8/layout/list1"/>
    <dgm:cxn modelId="{979A8397-99E5-456C-86D3-45E325609430}" type="presParOf" srcId="{79A992D2-AFB0-4201-BCBC-D9A71867582D}" destId="{579784FE-2C03-4E84-B6AC-729F3B8A3675}" srcOrd="1" destOrd="0" presId="urn:microsoft.com/office/officeart/2005/8/layout/list1"/>
    <dgm:cxn modelId="{BEECB281-BFE2-4534-9B0E-9AE36DF414C1}" type="presParOf" srcId="{F92F2915-8A8C-4390-95F2-FA032E90EAD6}" destId="{8029EFB3-5596-4D36-B1EB-199FEAC49FCD}" srcOrd="13" destOrd="0" presId="urn:microsoft.com/office/officeart/2005/8/layout/list1"/>
    <dgm:cxn modelId="{CBF5B177-CBE1-4FFF-ADFF-82912D5010D0}" type="presParOf" srcId="{F92F2915-8A8C-4390-95F2-FA032E90EAD6}" destId="{B608B127-D941-4242-A116-CF523D0E4D2D}" srcOrd="14" destOrd="0" presId="urn:microsoft.com/office/officeart/2005/8/layout/list1"/>
    <dgm:cxn modelId="{0B4DE05A-1CD1-46DB-B372-67352D92AF2C}" type="presParOf" srcId="{F92F2915-8A8C-4390-95F2-FA032E90EAD6}" destId="{108F6147-A702-47FD-A082-FF907A0F850E}" srcOrd="15" destOrd="0" presId="urn:microsoft.com/office/officeart/2005/8/layout/list1"/>
    <dgm:cxn modelId="{AD27F735-EA65-4439-A98A-AA78F764B527}" type="presParOf" srcId="{F92F2915-8A8C-4390-95F2-FA032E90EAD6}" destId="{815C82E8-CE96-4AAC-906E-D6CB23AD3142}" srcOrd="16" destOrd="0" presId="urn:microsoft.com/office/officeart/2005/8/layout/list1"/>
    <dgm:cxn modelId="{41BFCEC7-9023-4013-8729-1FB7DCCBF02E}" type="presParOf" srcId="{815C82E8-CE96-4AAC-906E-D6CB23AD3142}" destId="{3860596D-0719-4DBF-A83E-B28D1C3B6D83}" srcOrd="0" destOrd="0" presId="urn:microsoft.com/office/officeart/2005/8/layout/list1"/>
    <dgm:cxn modelId="{0919A2C9-1816-4FFD-97D8-426191F9EB98}" type="presParOf" srcId="{815C82E8-CE96-4AAC-906E-D6CB23AD3142}" destId="{83CE112D-EE62-440B-8049-FED61104A3EC}" srcOrd="1" destOrd="0" presId="urn:microsoft.com/office/officeart/2005/8/layout/list1"/>
    <dgm:cxn modelId="{ADB7B4E5-4FAE-4966-8109-C4523E9C6F2B}" type="presParOf" srcId="{F92F2915-8A8C-4390-95F2-FA032E90EAD6}" destId="{238F9428-75F1-403D-8520-0322924DD18F}" srcOrd="17" destOrd="0" presId="urn:microsoft.com/office/officeart/2005/8/layout/list1"/>
    <dgm:cxn modelId="{6C52811A-841F-495F-A88C-2B09EFFF4062}" type="presParOf" srcId="{F92F2915-8A8C-4390-95F2-FA032E90EAD6}" destId="{99F33395-411E-43DF-9009-52161C5FBE9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883C8D-6D3E-404A-AFA9-28215E707E61}" type="doc">
      <dgm:prSet loTypeId="urn:microsoft.com/office/officeart/2005/8/layout/list1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4C52A34-76A5-4649-B8D1-AD9C4B383C65}">
      <dgm:prSet phldrT="[Text]" custT="1"/>
      <dgm:spPr/>
      <dgm:t>
        <a:bodyPr/>
        <a:lstStyle/>
        <a:p>
          <a: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  <a:t>Investigates the intent and authenticity behind content to protect the integrity of the platform.</a:t>
          </a:r>
          <a:b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dirty="0"/>
        </a:p>
      </dgm:t>
    </dgm:pt>
    <dgm:pt modelId="{BAF0C96B-E88A-4D14-AAF2-4E4D44413BBC}" type="parTrans" cxnId="{53B7CD43-705F-4B71-8F78-105ECF8116B4}">
      <dgm:prSet/>
      <dgm:spPr/>
      <dgm:t>
        <a:bodyPr/>
        <a:lstStyle/>
        <a:p>
          <a:endParaRPr lang="en-US"/>
        </a:p>
      </dgm:t>
    </dgm:pt>
    <dgm:pt modelId="{FA48D7B3-D33D-4E89-B1D9-A221B128BDA3}" type="sibTrans" cxnId="{53B7CD43-705F-4B71-8F78-105ECF8116B4}">
      <dgm:prSet/>
      <dgm:spPr/>
      <dgm:t>
        <a:bodyPr/>
        <a:lstStyle/>
        <a:p>
          <a:endParaRPr lang="en-US"/>
        </a:p>
      </dgm:t>
    </dgm:pt>
    <dgm:pt modelId="{7E522E3F-96C6-4BAD-A8AD-19E0E0BB0F2F}">
      <dgm:prSet phldrT="[Text]" custT="1"/>
      <dgm:spPr/>
      <dgm:t>
        <a:bodyPr/>
        <a:lstStyle/>
        <a:p>
          <a: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  <a:t>Examines accounts, review history, behaviours, and evidence to identify suspicious or fraudulent activity.</a:t>
          </a:r>
          <a:b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dirty="0"/>
        </a:p>
      </dgm:t>
    </dgm:pt>
    <dgm:pt modelId="{659B16D8-BF1A-4FBB-9FE1-35BAA07EFC25}" type="parTrans" cxnId="{A96886B5-E525-47FC-A2A3-98FB9D9DDF90}">
      <dgm:prSet/>
      <dgm:spPr/>
      <dgm:t>
        <a:bodyPr/>
        <a:lstStyle/>
        <a:p>
          <a:endParaRPr lang="en-US"/>
        </a:p>
      </dgm:t>
    </dgm:pt>
    <dgm:pt modelId="{5EB306CD-3976-4CF2-84E5-5E9DC4BD5220}" type="sibTrans" cxnId="{A96886B5-E525-47FC-A2A3-98FB9D9DDF90}">
      <dgm:prSet/>
      <dgm:spPr/>
      <dgm:t>
        <a:bodyPr/>
        <a:lstStyle/>
        <a:p>
          <a:endParaRPr lang="en-US"/>
        </a:p>
      </dgm:t>
    </dgm:pt>
    <dgm:pt modelId="{A8AF5C44-047E-4D37-B87B-34E1EC50E911}">
      <dgm:prSet phldrT="[Text]" custT="1"/>
      <dgm:spPr/>
      <dgm:t>
        <a:bodyPr/>
        <a:lstStyle/>
        <a:p>
          <a: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  <a:t>Determines whether fraudulent behaviour has occurred and recommends appropriate integrity actions.</a:t>
          </a:r>
          <a:b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dirty="0"/>
        </a:p>
      </dgm:t>
    </dgm:pt>
    <dgm:pt modelId="{42911E10-D87A-447F-833D-7FDE2AE309C2}" type="parTrans" cxnId="{AA254435-244F-45F8-B0A7-D8B3B63C184E}">
      <dgm:prSet/>
      <dgm:spPr/>
      <dgm:t>
        <a:bodyPr/>
        <a:lstStyle/>
        <a:p>
          <a:endParaRPr lang="en-US"/>
        </a:p>
      </dgm:t>
    </dgm:pt>
    <dgm:pt modelId="{DFAF82CE-B4A4-4E94-BDB6-42845A28F66E}" type="sibTrans" cxnId="{AA254435-244F-45F8-B0A7-D8B3B63C184E}">
      <dgm:prSet/>
      <dgm:spPr/>
      <dgm:t>
        <a:bodyPr/>
        <a:lstStyle/>
        <a:p>
          <a:endParaRPr lang="en-US"/>
        </a:p>
      </dgm:t>
    </dgm:pt>
    <dgm:pt modelId="{2F0401C7-5B29-4CAC-95B4-390A541204B4}">
      <dgm:prSet phldrT="[Text]" custT="1"/>
      <dgm:spPr/>
      <dgm:t>
        <a:bodyPr/>
        <a:lstStyle/>
        <a:p>
          <a: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  <a:t>Investigation-centric review by connecting multiple signals, evidence, and patterns.</a:t>
          </a:r>
          <a:b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dirty="0"/>
        </a:p>
      </dgm:t>
    </dgm:pt>
    <dgm:pt modelId="{5F8E8E44-0C38-43F6-B35E-1B19D28948AC}" type="parTrans" cxnId="{E8741817-4417-4A82-8AE9-06559E1DE22D}">
      <dgm:prSet/>
      <dgm:spPr/>
      <dgm:t>
        <a:bodyPr/>
        <a:lstStyle/>
        <a:p>
          <a:endParaRPr lang="en-US"/>
        </a:p>
      </dgm:t>
    </dgm:pt>
    <dgm:pt modelId="{8E351228-47F9-43C7-BA0A-9AF3838C948A}" type="sibTrans" cxnId="{E8741817-4417-4A82-8AE9-06559E1DE22D}">
      <dgm:prSet/>
      <dgm:spPr/>
      <dgm:t>
        <a:bodyPr/>
        <a:lstStyle/>
        <a:p>
          <a:endParaRPr lang="en-US"/>
        </a:p>
      </dgm:t>
    </dgm:pt>
    <dgm:pt modelId="{FDB7F2A5-CA7D-4DDB-945B-6256BAA0F9CC}">
      <dgm:prSet phldrT="[Text]" custT="1"/>
      <dgm:spPr/>
      <dgm:t>
        <a:bodyPr/>
        <a:lstStyle/>
        <a:p>
          <a:r>
            <a:rPr lang="en-US" sz="1600" dirty="0">
              <a:latin typeface="Poppins" panose="00000500000000000000" pitchFamily="2" charset="0"/>
              <a:cs typeface="Poppins" panose="00000500000000000000" pitchFamily="2" charset="0"/>
            </a:rPr>
            <a:t>Protecting trust by ensuring reviews and platform activity remain authentic and credible.</a:t>
          </a:r>
          <a:endParaRPr lang="en-US" sz="1600" dirty="0"/>
        </a:p>
      </dgm:t>
    </dgm:pt>
    <dgm:pt modelId="{35D35B75-BE27-42D0-BD39-BB9F12D1408F}" type="parTrans" cxnId="{37F1CEAE-6EC5-4697-BA1C-8BF94C374359}">
      <dgm:prSet/>
      <dgm:spPr/>
      <dgm:t>
        <a:bodyPr/>
        <a:lstStyle/>
        <a:p>
          <a:endParaRPr lang="en-US"/>
        </a:p>
      </dgm:t>
    </dgm:pt>
    <dgm:pt modelId="{68FC2274-7DDE-48FF-BFB9-4E8755490112}" type="sibTrans" cxnId="{37F1CEAE-6EC5-4697-BA1C-8BF94C374359}">
      <dgm:prSet/>
      <dgm:spPr/>
      <dgm:t>
        <a:bodyPr/>
        <a:lstStyle/>
        <a:p>
          <a:endParaRPr lang="en-US"/>
        </a:p>
      </dgm:t>
    </dgm:pt>
    <dgm:pt modelId="{F92F2915-8A8C-4390-95F2-FA032E90EAD6}" type="pres">
      <dgm:prSet presAssocID="{F3883C8D-6D3E-404A-AFA9-28215E707E61}" presName="linear" presStyleCnt="0">
        <dgm:presLayoutVars>
          <dgm:dir/>
          <dgm:animLvl val="lvl"/>
          <dgm:resizeHandles val="exact"/>
        </dgm:presLayoutVars>
      </dgm:prSet>
      <dgm:spPr/>
    </dgm:pt>
    <dgm:pt modelId="{DB7B9007-DDB0-4DF7-8885-6C69CE0F7220}" type="pres">
      <dgm:prSet presAssocID="{B4C52A34-76A5-4649-B8D1-AD9C4B383C65}" presName="parentLin" presStyleCnt="0"/>
      <dgm:spPr/>
    </dgm:pt>
    <dgm:pt modelId="{ED231492-E7BE-4754-AFA1-30BB01447912}" type="pres">
      <dgm:prSet presAssocID="{B4C52A34-76A5-4649-B8D1-AD9C4B383C65}" presName="parentLeftMargin" presStyleLbl="node1" presStyleIdx="0" presStyleCnt="5"/>
      <dgm:spPr/>
    </dgm:pt>
    <dgm:pt modelId="{6A2B24CF-F099-4DEA-B0E8-6C2036CDDBA6}" type="pres">
      <dgm:prSet presAssocID="{B4C52A34-76A5-4649-B8D1-AD9C4B383C65}" presName="parentText" presStyleLbl="node1" presStyleIdx="0" presStyleCnt="5" custScaleX="133660">
        <dgm:presLayoutVars>
          <dgm:chMax val="0"/>
          <dgm:bulletEnabled val="1"/>
        </dgm:presLayoutVars>
      </dgm:prSet>
      <dgm:spPr/>
    </dgm:pt>
    <dgm:pt modelId="{8A3E7D88-8DAC-460C-97A2-0A83F536630E}" type="pres">
      <dgm:prSet presAssocID="{B4C52A34-76A5-4649-B8D1-AD9C4B383C65}" presName="negativeSpace" presStyleCnt="0"/>
      <dgm:spPr/>
    </dgm:pt>
    <dgm:pt modelId="{B07A493A-40D4-4AA8-B959-59319105804D}" type="pres">
      <dgm:prSet presAssocID="{B4C52A34-76A5-4649-B8D1-AD9C4B383C65}" presName="childText" presStyleLbl="conFgAcc1" presStyleIdx="0" presStyleCnt="5">
        <dgm:presLayoutVars>
          <dgm:bulletEnabled val="1"/>
        </dgm:presLayoutVars>
      </dgm:prSet>
      <dgm:spPr/>
    </dgm:pt>
    <dgm:pt modelId="{54C2C5E2-F5BA-4F3B-8448-AE117BD5703E}" type="pres">
      <dgm:prSet presAssocID="{FA48D7B3-D33D-4E89-B1D9-A221B128BDA3}" presName="spaceBetweenRectangles" presStyleCnt="0"/>
      <dgm:spPr/>
    </dgm:pt>
    <dgm:pt modelId="{0B6E1F56-36B9-4327-B88A-8718F41CE1D5}" type="pres">
      <dgm:prSet presAssocID="{7E522E3F-96C6-4BAD-A8AD-19E0E0BB0F2F}" presName="parentLin" presStyleCnt="0"/>
      <dgm:spPr/>
    </dgm:pt>
    <dgm:pt modelId="{A7F1C563-7FFE-44CB-B35B-51C41DF4CF38}" type="pres">
      <dgm:prSet presAssocID="{7E522E3F-96C6-4BAD-A8AD-19E0E0BB0F2F}" presName="parentLeftMargin" presStyleLbl="node1" presStyleIdx="0" presStyleCnt="5"/>
      <dgm:spPr/>
    </dgm:pt>
    <dgm:pt modelId="{43C80148-BB38-4372-83E9-20A29F4E0DF0}" type="pres">
      <dgm:prSet presAssocID="{7E522E3F-96C6-4BAD-A8AD-19E0E0BB0F2F}" presName="parentText" presStyleLbl="node1" presStyleIdx="1" presStyleCnt="5" custScaleX="132990">
        <dgm:presLayoutVars>
          <dgm:chMax val="0"/>
          <dgm:bulletEnabled val="1"/>
        </dgm:presLayoutVars>
      </dgm:prSet>
      <dgm:spPr/>
    </dgm:pt>
    <dgm:pt modelId="{F69A4DC4-2A89-471A-8AEF-262D1D5E8923}" type="pres">
      <dgm:prSet presAssocID="{7E522E3F-96C6-4BAD-A8AD-19E0E0BB0F2F}" presName="negativeSpace" presStyleCnt="0"/>
      <dgm:spPr/>
    </dgm:pt>
    <dgm:pt modelId="{5DE01294-4C75-4AF0-9C32-CCA268B5459A}" type="pres">
      <dgm:prSet presAssocID="{7E522E3F-96C6-4BAD-A8AD-19E0E0BB0F2F}" presName="childText" presStyleLbl="conFgAcc1" presStyleIdx="1" presStyleCnt="5">
        <dgm:presLayoutVars>
          <dgm:bulletEnabled val="1"/>
        </dgm:presLayoutVars>
      </dgm:prSet>
      <dgm:spPr/>
    </dgm:pt>
    <dgm:pt modelId="{657C192D-F81F-4DBB-8E8E-452B1C4E6266}" type="pres">
      <dgm:prSet presAssocID="{5EB306CD-3976-4CF2-84E5-5E9DC4BD5220}" presName="spaceBetweenRectangles" presStyleCnt="0"/>
      <dgm:spPr/>
    </dgm:pt>
    <dgm:pt modelId="{5F1DBB22-C02D-46A0-BAA1-EE2BF2BBD02D}" type="pres">
      <dgm:prSet presAssocID="{A8AF5C44-047E-4D37-B87B-34E1EC50E911}" presName="parentLin" presStyleCnt="0"/>
      <dgm:spPr/>
    </dgm:pt>
    <dgm:pt modelId="{8E30C2F9-4B41-480D-95F6-DAF3D637D944}" type="pres">
      <dgm:prSet presAssocID="{A8AF5C44-047E-4D37-B87B-34E1EC50E911}" presName="parentLeftMargin" presStyleLbl="node1" presStyleIdx="1" presStyleCnt="5"/>
      <dgm:spPr/>
    </dgm:pt>
    <dgm:pt modelId="{064F7A48-1413-4C9F-814E-A75E3AA25444}" type="pres">
      <dgm:prSet presAssocID="{A8AF5C44-047E-4D37-B87B-34E1EC50E911}" presName="parentText" presStyleLbl="node1" presStyleIdx="2" presStyleCnt="5" custScaleX="132990">
        <dgm:presLayoutVars>
          <dgm:chMax val="0"/>
          <dgm:bulletEnabled val="1"/>
        </dgm:presLayoutVars>
      </dgm:prSet>
      <dgm:spPr/>
    </dgm:pt>
    <dgm:pt modelId="{445B2497-C6A8-4ACE-8765-B828DB3B3378}" type="pres">
      <dgm:prSet presAssocID="{A8AF5C44-047E-4D37-B87B-34E1EC50E911}" presName="negativeSpace" presStyleCnt="0"/>
      <dgm:spPr/>
    </dgm:pt>
    <dgm:pt modelId="{4C531C17-B89B-4EAC-B0AF-1D4753738C48}" type="pres">
      <dgm:prSet presAssocID="{A8AF5C44-047E-4D37-B87B-34E1EC50E911}" presName="childText" presStyleLbl="conFgAcc1" presStyleIdx="2" presStyleCnt="5">
        <dgm:presLayoutVars>
          <dgm:bulletEnabled val="1"/>
        </dgm:presLayoutVars>
      </dgm:prSet>
      <dgm:spPr/>
    </dgm:pt>
    <dgm:pt modelId="{9D98D7DC-B66A-40A3-A6ED-D385CA639266}" type="pres">
      <dgm:prSet presAssocID="{DFAF82CE-B4A4-4E94-BDB6-42845A28F66E}" presName="spaceBetweenRectangles" presStyleCnt="0"/>
      <dgm:spPr/>
    </dgm:pt>
    <dgm:pt modelId="{C8F8AFF2-157B-4333-9839-5A2DDC41D28C}" type="pres">
      <dgm:prSet presAssocID="{2F0401C7-5B29-4CAC-95B4-390A541204B4}" presName="parentLin" presStyleCnt="0"/>
      <dgm:spPr/>
    </dgm:pt>
    <dgm:pt modelId="{DB9C6A26-BB7F-47E0-A442-F323EC0464CE}" type="pres">
      <dgm:prSet presAssocID="{2F0401C7-5B29-4CAC-95B4-390A541204B4}" presName="parentLeftMargin" presStyleLbl="node1" presStyleIdx="2" presStyleCnt="5"/>
      <dgm:spPr/>
    </dgm:pt>
    <dgm:pt modelId="{A2C607E7-7D2D-46E4-BE1C-E9636F7A29F4}" type="pres">
      <dgm:prSet presAssocID="{2F0401C7-5B29-4CAC-95B4-390A541204B4}" presName="parentText" presStyleLbl="node1" presStyleIdx="3" presStyleCnt="5" custScaleX="132990">
        <dgm:presLayoutVars>
          <dgm:chMax val="0"/>
          <dgm:bulletEnabled val="1"/>
        </dgm:presLayoutVars>
      </dgm:prSet>
      <dgm:spPr/>
    </dgm:pt>
    <dgm:pt modelId="{8EA23AF0-AE38-4687-BAC5-E82AFD8E5F6E}" type="pres">
      <dgm:prSet presAssocID="{2F0401C7-5B29-4CAC-95B4-390A541204B4}" presName="negativeSpace" presStyleCnt="0"/>
      <dgm:spPr/>
    </dgm:pt>
    <dgm:pt modelId="{7A1F8696-185A-4DB1-A521-B6F7A4F79705}" type="pres">
      <dgm:prSet presAssocID="{2F0401C7-5B29-4CAC-95B4-390A541204B4}" presName="childText" presStyleLbl="conFgAcc1" presStyleIdx="3" presStyleCnt="5">
        <dgm:presLayoutVars>
          <dgm:bulletEnabled val="1"/>
        </dgm:presLayoutVars>
      </dgm:prSet>
      <dgm:spPr/>
    </dgm:pt>
    <dgm:pt modelId="{F483373A-BB8C-487D-88F3-6C22D89E3861}" type="pres">
      <dgm:prSet presAssocID="{8E351228-47F9-43C7-BA0A-9AF3838C948A}" presName="spaceBetweenRectangles" presStyleCnt="0"/>
      <dgm:spPr/>
    </dgm:pt>
    <dgm:pt modelId="{F0B9124C-FE08-4DA8-8E0C-7B847164FA0E}" type="pres">
      <dgm:prSet presAssocID="{FDB7F2A5-CA7D-4DDB-945B-6256BAA0F9CC}" presName="parentLin" presStyleCnt="0"/>
      <dgm:spPr/>
    </dgm:pt>
    <dgm:pt modelId="{1068E04B-8043-4248-B6FD-EF002D7BB359}" type="pres">
      <dgm:prSet presAssocID="{FDB7F2A5-CA7D-4DDB-945B-6256BAA0F9CC}" presName="parentLeftMargin" presStyleLbl="node1" presStyleIdx="3" presStyleCnt="5"/>
      <dgm:spPr/>
    </dgm:pt>
    <dgm:pt modelId="{96C500D5-94AA-4361-9BE3-FE37EED32494}" type="pres">
      <dgm:prSet presAssocID="{FDB7F2A5-CA7D-4DDB-945B-6256BAA0F9CC}" presName="parentText" presStyleLbl="node1" presStyleIdx="4" presStyleCnt="5" custScaleX="132990">
        <dgm:presLayoutVars>
          <dgm:chMax val="0"/>
          <dgm:bulletEnabled val="1"/>
        </dgm:presLayoutVars>
      </dgm:prSet>
      <dgm:spPr/>
    </dgm:pt>
    <dgm:pt modelId="{634CEDD4-7129-4E4C-9AC7-76775C3D980B}" type="pres">
      <dgm:prSet presAssocID="{FDB7F2A5-CA7D-4DDB-945B-6256BAA0F9CC}" presName="negativeSpace" presStyleCnt="0"/>
      <dgm:spPr/>
    </dgm:pt>
    <dgm:pt modelId="{154346AB-585A-4A18-8AFD-FCA5B4128D70}" type="pres">
      <dgm:prSet presAssocID="{FDB7F2A5-CA7D-4DDB-945B-6256BAA0F9C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3B3C9D07-6C59-4D17-B772-95E2196EF5FB}" type="presOf" srcId="{A8AF5C44-047E-4D37-B87B-34E1EC50E911}" destId="{064F7A48-1413-4C9F-814E-A75E3AA25444}" srcOrd="1" destOrd="0" presId="urn:microsoft.com/office/officeart/2005/8/layout/list1"/>
    <dgm:cxn modelId="{D2A4CA16-F462-400C-9017-FC116929183B}" type="presOf" srcId="{7E522E3F-96C6-4BAD-A8AD-19E0E0BB0F2F}" destId="{A7F1C563-7FFE-44CB-B35B-51C41DF4CF38}" srcOrd="0" destOrd="0" presId="urn:microsoft.com/office/officeart/2005/8/layout/list1"/>
    <dgm:cxn modelId="{E8741817-4417-4A82-8AE9-06559E1DE22D}" srcId="{F3883C8D-6D3E-404A-AFA9-28215E707E61}" destId="{2F0401C7-5B29-4CAC-95B4-390A541204B4}" srcOrd="3" destOrd="0" parTransId="{5F8E8E44-0C38-43F6-B35E-1B19D28948AC}" sibTransId="{8E351228-47F9-43C7-BA0A-9AF3838C948A}"/>
    <dgm:cxn modelId="{AA254435-244F-45F8-B0A7-D8B3B63C184E}" srcId="{F3883C8D-6D3E-404A-AFA9-28215E707E61}" destId="{A8AF5C44-047E-4D37-B87B-34E1EC50E911}" srcOrd="2" destOrd="0" parTransId="{42911E10-D87A-447F-833D-7FDE2AE309C2}" sibTransId="{DFAF82CE-B4A4-4E94-BDB6-42845A28F66E}"/>
    <dgm:cxn modelId="{53B7CD43-705F-4B71-8F78-105ECF8116B4}" srcId="{F3883C8D-6D3E-404A-AFA9-28215E707E61}" destId="{B4C52A34-76A5-4649-B8D1-AD9C4B383C65}" srcOrd="0" destOrd="0" parTransId="{BAF0C96B-E88A-4D14-AAF2-4E4D44413BBC}" sibTransId="{FA48D7B3-D33D-4E89-B1D9-A221B128BDA3}"/>
    <dgm:cxn modelId="{7D645480-42F7-4ECF-8B9F-2904B1F9AF43}" type="presOf" srcId="{7E522E3F-96C6-4BAD-A8AD-19E0E0BB0F2F}" destId="{43C80148-BB38-4372-83E9-20A29F4E0DF0}" srcOrd="1" destOrd="0" presId="urn:microsoft.com/office/officeart/2005/8/layout/list1"/>
    <dgm:cxn modelId="{E1DCCA83-21C5-4D67-BAC2-277FDB825B89}" type="presOf" srcId="{FDB7F2A5-CA7D-4DDB-945B-6256BAA0F9CC}" destId="{1068E04B-8043-4248-B6FD-EF002D7BB359}" srcOrd="0" destOrd="0" presId="urn:microsoft.com/office/officeart/2005/8/layout/list1"/>
    <dgm:cxn modelId="{C3D0BB8E-D101-4B77-B8AB-3493018B127B}" type="presOf" srcId="{B4C52A34-76A5-4649-B8D1-AD9C4B383C65}" destId="{6A2B24CF-F099-4DEA-B0E8-6C2036CDDBA6}" srcOrd="1" destOrd="0" presId="urn:microsoft.com/office/officeart/2005/8/layout/list1"/>
    <dgm:cxn modelId="{578E0F98-7BE6-46F1-B078-B200A509DB1C}" type="presOf" srcId="{2F0401C7-5B29-4CAC-95B4-390A541204B4}" destId="{DB9C6A26-BB7F-47E0-A442-F323EC0464CE}" srcOrd="0" destOrd="0" presId="urn:microsoft.com/office/officeart/2005/8/layout/list1"/>
    <dgm:cxn modelId="{37F1CEAE-6EC5-4697-BA1C-8BF94C374359}" srcId="{F3883C8D-6D3E-404A-AFA9-28215E707E61}" destId="{FDB7F2A5-CA7D-4DDB-945B-6256BAA0F9CC}" srcOrd="4" destOrd="0" parTransId="{35D35B75-BE27-42D0-BD39-BB9F12D1408F}" sibTransId="{68FC2274-7DDE-48FF-BFB9-4E8755490112}"/>
    <dgm:cxn modelId="{A96886B5-E525-47FC-A2A3-98FB9D9DDF90}" srcId="{F3883C8D-6D3E-404A-AFA9-28215E707E61}" destId="{7E522E3F-96C6-4BAD-A8AD-19E0E0BB0F2F}" srcOrd="1" destOrd="0" parTransId="{659B16D8-BF1A-4FBB-9FE1-35BAA07EFC25}" sibTransId="{5EB306CD-3976-4CF2-84E5-5E9DC4BD5220}"/>
    <dgm:cxn modelId="{D076D9CE-2A15-4A28-BB4F-AFA7A5CE2969}" type="presOf" srcId="{A8AF5C44-047E-4D37-B87B-34E1EC50E911}" destId="{8E30C2F9-4B41-480D-95F6-DAF3D637D944}" srcOrd="0" destOrd="0" presId="urn:microsoft.com/office/officeart/2005/8/layout/list1"/>
    <dgm:cxn modelId="{F5D185D6-056C-4367-919D-034308570E9D}" type="presOf" srcId="{FDB7F2A5-CA7D-4DDB-945B-6256BAA0F9CC}" destId="{96C500D5-94AA-4361-9BE3-FE37EED32494}" srcOrd="1" destOrd="0" presId="urn:microsoft.com/office/officeart/2005/8/layout/list1"/>
    <dgm:cxn modelId="{752EB0EA-8123-420F-B39C-1847ED5CEF37}" type="presOf" srcId="{F3883C8D-6D3E-404A-AFA9-28215E707E61}" destId="{F92F2915-8A8C-4390-95F2-FA032E90EAD6}" srcOrd="0" destOrd="0" presId="urn:microsoft.com/office/officeart/2005/8/layout/list1"/>
    <dgm:cxn modelId="{6C86D2F0-FE9F-4C60-8B9A-D24B9B8E4D41}" type="presOf" srcId="{B4C52A34-76A5-4649-B8D1-AD9C4B383C65}" destId="{ED231492-E7BE-4754-AFA1-30BB01447912}" srcOrd="0" destOrd="0" presId="urn:microsoft.com/office/officeart/2005/8/layout/list1"/>
    <dgm:cxn modelId="{0A5C4AF7-5B47-455F-AC28-29AF8E435A92}" type="presOf" srcId="{2F0401C7-5B29-4CAC-95B4-390A541204B4}" destId="{A2C607E7-7D2D-46E4-BE1C-E9636F7A29F4}" srcOrd="1" destOrd="0" presId="urn:microsoft.com/office/officeart/2005/8/layout/list1"/>
    <dgm:cxn modelId="{85B815FE-6E43-44F9-B558-D669279792F1}" type="presParOf" srcId="{F92F2915-8A8C-4390-95F2-FA032E90EAD6}" destId="{DB7B9007-DDB0-4DF7-8885-6C69CE0F7220}" srcOrd="0" destOrd="0" presId="urn:microsoft.com/office/officeart/2005/8/layout/list1"/>
    <dgm:cxn modelId="{D72F6800-2572-4C76-A28A-BC0324A62B9C}" type="presParOf" srcId="{DB7B9007-DDB0-4DF7-8885-6C69CE0F7220}" destId="{ED231492-E7BE-4754-AFA1-30BB01447912}" srcOrd="0" destOrd="0" presId="urn:microsoft.com/office/officeart/2005/8/layout/list1"/>
    <dgm:cxn modelId="{4D788924-29FA-4096-BF08-2A351223088E}" type="presParOf" srcId="{DB7B9007-DDB0-4DF7-8885-6C69CE0F7220}" destId="{6A2B24CF-F099-4DEA-B0E8-6C2036CDDBA6}" srcOrd="1" destOrd="0" presId="urn:microsoft.com/office/officeart/2005/8/layout/list1"/>
    <dgm:cxn modelId="{D91CFDDB-E00A-4D9C-B937-32689590F4F2}" type="presParOf" srcId="{F92F2915-8A8C-4390-95F2-FA032E90EAD6}" destId="{8A3E7D88-8DAC-460C-97A2-0A83F536630E}" srcOrd="1" destOrd="0" presId="urn:microsoft.com/office/officeart/2005/8/layout/list1"/>
    <dgm:cxn modelId="{8F4A1AF2-1651-4A22-8237-CCFA9A1F57E7}" type="presParOf" srcId="{F92F2915-8A8C-4390-95F2-FA032E90EAD6}" destId="{B07A493A-40D4-4AA8-B959-59319105804D}" srcOrd="2" destOrd="0" presId="urn:microsoft.com/office/officeart/2005/8/layout/list1"/>
    <dgm:cxn modelId="{3DE2A3F0-A2DD-44F3-ACF9-C48A8F6BE85B}" type="presParOf" srcId="{F92F2915-8A8C-4390-95F2-FA032E90EAD6}" destId="{54C2C5E2-F5BA-4F3B-8448-AE117BD5703E}" srcOrd="3" destOrd="0" presId="urn:microsoft.com/office/officeart/2005/8/layout/list1"/>
    <dgm:cxn modelId="{DBABDE82-7264-40ED-9FCD-B2B0A807B874}" type="presParOf" srcId="{F92F2915-8A8C-4390-95F2-FA032E90EAD6}" destId="{0B6E1F56-36B9-4327-B88A-8718F41CE1D5}" srcOrd="4" destOrd="0" presId="urn:microsoft.com/office/officeart/2005/8/layout/list1"/>
    <dgm:cxn modelId="{17C0CD08-7B9B-4D3C-B8F4-7853389A8800}" type="presParOf" srcId="{0B6E1F56-36B9-4327-B88A-8718F41CE1D5}" destId="{A7F1C563-7FFE-44CB-B35B-51C41DF4CF38}" srcOrd="0" destOrd="0" presId="urn:microsoft.com/office/officeart/2005/8/layout/list1"/>
    <dgm:cxn modelId="{A4E6995B-95EE-4BB1-B645-D066E01A527A}" type="presParOf" srcId="{0B6E1F56-36B9-4327-B88A-8718F41CE1D5}" destId="{43C80148-BB38-4372-83E9-20A29F4E0DF0}" srcOrd="1" destOrd="0" presId="urn:microsoft.com/office/officeart/2005/8/layout/list1"/>
    <dgm:cxn modelId="{6E963CB6-92C9-4162-8683-E7E7232EA83E}" type="presParOf" srcId="{F92F2915-8A8C-4390-95F2-FA032E90EAD6}" destId="{F69A4DC4-2A89-471A-8AEF-262D1D5E8923}" srcOrd="5" destOrd="0" presId="urn:microsoft.com/office/officeart/2005/8/layout/list1"/>
    <dgm:cxn modelId="{91FAA1DF-B534-4E28-8DB8-FFFAD46ED53A}" type="presParOf" srcId="{F92F2915-8A8C-4390-95F2-FA032E90EAD6}" destId="{5DE01294-4C75-4AF0-9C32-CCA268B5459A}" srcOrd="6" destOrd="0" presId="urn:microsoft.com/office/officeart/2005/8/layout/list1"/>
    <dgm:cxn modelId="{432F175C-3F72-406F-97D1-DE52DAFBE23E}" type="presParOf" srcId="{F92F2915-8A8C-4390-95F2-FA032E90EAD6}" destId="{657C192D-F81F-4DBB-8E8E-452B1C4E6266}" srcOrd="7" destOrd="0" presId="urn:microsoft.com/office/officeart/2005/8/layout/list1"/>
    <dgm:cxn modelId="{54E4110E-340A-4BEF-B0DE-1D2CBC4B0FCF}" type="presParOf" srcId="{F92F2915-8A8C-4390-95F2-FA032E90EAD6}" destId="{5F1DBB22-C02D-46A0-BAA1-EE2BF2BBD02D}" srcOrd="8" destOrd="0" presId="urn:microsoft.com/office/officeart/2005/8/layout/list1"/>
    <dgm:cxn modelId="{B5D378E1-3D2B-4119-8E4C-064B8EFE6877}" type="presParOf" srcId="{5F1DBB22-C02D-46A0-BAA1-EE2BF2BBD02D}" destId="{8E30C2F9-4B41-480D-95F6-DAF3D637D944}" srcOrd="0" destOrd="0" presId="urn:microsoft.com/office/officeart/2005/8/layout/list1"/>
    <dgm:cxn modelId="{F4FE28B9-D942-42F0-9B75-290D99527F74}" type="presParOf" srcId="{5F1DBB22-C02D-46A0-BAA1-EE2BF2BBD02D}" destId="{064F7A48-1413-4C9F-814E-A75E3AA25444}" srcOrd="1" destOrd="0" presId="urn:microsoft.com/office/officeart/2005/8/layout/list1"/>
    <dgm:cxn modelId="{E6A82DDB-69D5-445D-BA22-0E50F3A8F539}" type="presParOf" srcId="{F92F2915-8A8C-4390-95F2-FA032E90EAD6}" destId="{445B2497-C6A8-4ACE-8765-B828DB3B3378}" srcOrd="9" destOrd="0" presId="urn:microsoft.com/office/officeart/2005/8/layout/list1"/>
    <dgm:cxn modelId="{D1D069CF-B3DB-4780-9D19-A2D53B430B16}" type="presParOf" srcId="{F92F2915-8A8C-4390-95F2-FA032E90EAD6}" destId="{4C531C17-B89B-4EAC-B0AF-1D4753738C48}" srcOrd="10" destOrd="0" presId="urn:microsoft.com/office/officeart/2005/8/layout/list1"/>
    <dgm:cxn modelId="{8D5F79AA-57FD-42F6-9D08-FF5559CA8C39}" type="presParOf" srcId="{F92F2915-8A8C-4390-95F2-FA032E90EAD6}" destId="{9D98D7DC-B66A-40A3-A6ED-D385CA639266}" srcOrd="11" destOrd="0" presId="urn:microsoft.com/office/officeart/2005/8/layout/list1"/>
    <dgm:cxn modelId="{76D081AD-470D-4FB0-88EB-8A073FE180F2}" type="presParOf" srcId="{F92F2915-8A8C-4390-95F2-FA032E90EAD6}" destId="{C8F8AFF2-157B-4333-9839-5A2DDC41D28C}" srcOrd="12" destOrd="0" presId="urn:microsoft.com/office/officeart/2005/8/layout/list1"/>
    <dgm:cxn modelId="{FEC5E313-B451-4F6A-B0A5-89C35D911BFF}" type="presParOf" srcId="{C8F8AFF2-157B-4333-9839-5A2DDC41D28C}" destId="{DB9C6A26-BB7F-47E0-A442-F323EC0464CE}" srcOrd="0" destOrd="0" presId="urn:microsoft.com/office/officeart/2005/8/layout/list1"/>
    <dgm:cxn modelId="{F29083A2-E3B8-4A05-A3BA-1E604799B1C7}" type="presParOf" srcId="{C8F8AFF2-157B-4333-9839-5A2DDC41D28C}" destId="{A2C607E7-7D2D-46E4-BE1C-E9636F7A29F4}" srcOrd="1" destOrd="0" presId="urn:microsoft.com/office/officeart/2005/8/layout/list1"/>
    <dgm:cxn modelId="{4EA54390-E6C5-4841-B1C9-FA146E422E0E}" type="presParOf" srcId="{F92F2915-8A8C-4390-95F2-FA032E90EAD6}" destId="{8EA23AF0-AE38-4687-BAC5-E82AFD8E5F6E}" srcOrd="13" destOrd="0" presId="urn:microsoft.com/office/officeart/2005/8/layout/list1"/>
    <dgm:cxn modelId="{79C4B3C1-C3D7-45CE-BB09-B04CCF143B25}" type="presParOf" srcId="{F92F2915-8A8C-4390-95F2-FA032E90EAD6}" destId="{7A1F8696-185A-4DB1-A521-B6F7A4F79705}" srcOrd="14" destOrd="0" presId="urn:microsoft.com/office/officeart/2005/8/layout/list1"/>
    <dgm:cxn modelId="{F532B502-F86B-4C9C-8379-1F3C9FAD30E1}" type="presParOf" srcId="{F92F2915-8A8C-4390-95F2-FA032E90EAD6}" destId="{F483373A-BB8C-487D-88F3-6C22D89E3861}" srcOrd="15" destOrd="0" presId="urn:microsoft.com/office/officeart/2005/8/layout/list1"/>
    <dgm:cxn modelId="{CD6656D3-38F0-4A3F-AC3D-C921FCB409F8}" type="presParOf" srcId="{F92F2915-8A8C-4390-95F2-FA032E90EAD6}" destId="{F0B9124C-FE08-4DA8-8E0C-7B847164FA0E}" srcOrd="16" destOrd="0" presId="urn:microsoft.com/office/officeart/2005/8/layout/list1"/>
    <dgm:cxn modelId="{6A117CBC-72F5-4D75-B8C0-A762A4F7E36F}" type="presParOf" srcId="{F0B9124C-FE08-4DA8-8E0C-7B847164FA0E}" destId="{1068E04B-8043-4248-B6FD-EF002D7BB359}" srcOrd="0" destOrd="0" presId="urn:microsoft.com/office/officeart/2005/8/layout/list1"/>
    <dgm:cxn modelId="{99FF99FF-65CE-4D74-8524-56556FF72E25}" type="presParOf" srcId="{F0B9124C-FE08-4DA8-8E0C-7B847164FA0E}" destId="{96C500D5-94AA-4361-9BE3-FE37EED32494}" srcOrd="1" destOrd="0" presId="urn:microsoft.com/office/officeart/2005/8/layout/list1"/>
    <dgm:cxn modelId="{DFB517FC-B2E6-44BB-86BB-B00A4D4B2935}" type="presParOf" srcId="{F92F2915-8A8C-4390-95F2-FA032E90EAD6}" destId="{634CEDD4-7129-4E4C-9AC7-76775C3D980B}" srcOrd="17" destOrd="0" presId="urn:microsoft.com/office/officeart/2005/8/layout/list1"/>
    <dgm:cxn modelId="{819F6631-50A2-486B-B40D-D7F165627472}" type="presParOf" srcId="{F92F2915-8A8C-4390-95F2-FA032E90EAD6}" destId="{154346AB-585A-4A18-8AFD-FCA5B4128D70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A493A-40D4-4AA8-B959-59319105804D}">
      <dsp:nvSpPr>
        <dsp:cNvPr id="0" name=""/>
        <dsp:cNvSpPr/>
      </dsp:nvSpPr>
      <dsp:spPr>
        <a:xfrm>
          <a:off x="0" y="350070"/>
          <a:ext cx="48768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B24CF-F099-4DEA-B0E8-6C2036CDDBA6}">
      <dsp:nvSpPr>
        <dsp:cNvPr id="0" name=""/>
        <dsp:cNvSpPr/>
      </dsp:nvSpPr>
      <dsp:spPr>
        <a:xfrm>
          <a:off x="243840" y="25350"/>
          <a:ext cx="4509645" cy="6494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032" tIns="0" rIns="1290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  <a:t>Reviews individual pieces of content to ensure they comply with Tripadvisor policies.</a:t>
          </a:r>
          <a:b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kern="1200" dirty="0"/>
        </a:p>
      </dsp:txBody>
      <dsp:txXfrm>
        <a:off x="275543" y="57053"/>
        <a:ext cx="4446239" cy="586034"/>
      </dsp:txXfrm>
    </dsp:sp>
    <dsp:sp modelId="{42C38F26-25DE-4390-9FD4-3C2EFA0F9E7F}">
      <dsp:nvSpPr>
        <dsp:cNvPr id="0" name=""/>
        <dsp:cNvSpPr/>
      </dsp:nvSpPr>
      <dsp:spPr>
        <a:xfrm>
          <a:off x="0" y="1347990"/>
          <a:ext cx="48768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1689636"/>
              <a:satOff val="-4355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7A2BD-869F-428B-A7E1-3A82C9929C10}">
      <dsp:nvSpPr>
        <dsp:cNvPr id="0" name=""/>
        <dsp:cNvSpPr/>
      </dsp:nvSpPr>
      <dsp:spPr>
        <a:xfrm>
          <a:off x="243840" y="1023270"/>
          <a:ext cx="4509645" cy="649440"/>
        </a:xfrm>
        <a:prstGeom prst="roundRect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032" tIns="0" rIns="1290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  <a:t>Evaluates reviews, photos, and owner responses individually for policy compliance.</a:t>
          </a:r>
          <a:b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kern="1200" dirty="0"/>
        </a:p>
      </dsp:txBody>
      <dsp:txXfrm>
        <a:off x="275543" y="1054973"/>
        <a:ext cx="4446239" cy="586034"/>
      </dsp:txXfrm>
    </dsp:sp>
    <dsp:sp modelId="{AB6BBDE2-15BD-4155-B6CC-960FB453C789}">
      <dsp:nvSpPr>
        <dsp:cNvPr id="0" name=""/>
        <dsp:cNvSpPr/>
      </dsp:nvSpPr>
      <dsp:spPr>
        <a:xfrm>
          <a:off x="0" y="2345910"/>
          <a:ext cx="48768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422081-DE65-41BE-B894-8BD7292200DE}">
      <dsp:nvSpPr>
        <dsp:cNvPr id="0" name=""/>
        <dsp:cNvSpPr/>
      </dsp:nvSpPr>
      <dsp:spPr>
        <a:xfrm>
          <a:off x="243840" y="2021190"/>
          <a:ext cx="4509645" cy="64944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032" tIns="0" rIns="1290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  <a:t>Determines whether submitted content should remain, be removed, or require moderation.</a:t>
          </a:r>
          <a:b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kern="1200" dirty="0"/>
        </a:p>
      </dsp:txBody>
      <dsp:txXfrm>
        <a:off x="275543" y="2052893"/>
        <a:ext cx="4446239" cy="586034"/>
      </dsp:txXfrm>
    </dsp:sp>
    <dsp:sp modelId="{B608B127-D941-4242-A116-CF523D0E4D2D}">
      <dsp:nvSpPr>
        <dsp:cNvPr id="0" name=""/>
        <dsp:cNvSpPr/>
      </dsp:nvSpPr>
      <dsp:spPr>
        <a:xfrm>
          <a:off x="0" y="3343830"/>
          <a:ext cx="48768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5068907"/>
              <a:satOff val="-13064"/>
              <a:lumOff val="-882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9784FE-2C03-4E84-B6AC-729F3B8A3675}">
      <dsp:nvSpPr>
        <dsp:cNvPr id="0" name=""/>
        <dsp:cNvSpPr/>
      </dsp:nvSpPr>
      <dsp:spPr>
        <a:xfrm>
          <a:off x="243840" y="3019110"/>
          <a:ext cx="4509645" cy="649440"/>
        </a:xfrm>
        <a:prstGeom prst="roundRect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032" tIns="0" rIns="1290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  <a:t>Content-centric review based on moderation guidelines.</a:t>
          </a:r>
          <a:b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kern="1200" dirty="0"/>
        </a:p>
      </dsp:txBody>
      <dsp:txXfrm>
        <a:off x="275543" y="3050813"/>
        <a:ext cx="4446239" cy="586034"/>
      </dsp:txXfrm>
    </dsp:sp>
    <dsp:sp modelId="{99F33395-411E-43DF-9009-52161C5FBE96}">
      <dsp:nvSpPr>
        <dsp:cNvPr id="0" name=""/>
        <dsp:cNvSpPr/>
      </dsp:nvSpPr>
      <dsp:spPr>
        <a:xfrm>
          <a:off x="0" y="4341750"/>
          <a:ext cx="48768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CE112D-EE62-440B-8049-FED61104A3EC}">
      <dsp:nvSpPr>
        <dsp:cNvPr id="0" name=""/>
        <dsp:cNvSpPr/>
      </dsp:nvSpPr>
      <dsp:spPr>
        <a:xfrm>
          <a:off x="243840" y="4017030"/>
          <a:ext cx="4509645" cy="64944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032" tIns="0" rIns="1290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  <a:t>Keeping published content policy compliant.</a:t>
          </a:r>
          <a:endParaRPr lang="en-US" sz="1600" kern="1200" dirty="0"/>
        </a:p>
      </dsp:txBody>
      <dsp:txXfrm>
        <a:off x="275543" y="4048733"/>
        <a:ext cx="4446239" cy="58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A493A-40D4-4AA8-B959-59319105804D}">
      <dsp:nvSpPr>
        <dsp:cNvPr id="0" name=""/>
        <dsp:cNvSpPr/>
      </dsp:nvSpPr>
      <dsp:spPr>
        <a:xfrm>
          <a:off x="0" y="350070"/>
          <a:ext cx="48768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B24CF-F099-4DEA-B0E8-6C2036CDDBA6}">
      <dsp:nvSpPr>
        <dsp:cNvPr id="0" name=""/>
        <dsp:cNvSpPr/>
      </dsp:nvSpPr>
      <dsp:spPr>
        <a:xfrm>
          <a:off x="243840" y="25350"/>
          <a:ext cx="4562831" cy="6494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032" tIns="0" rIns="1290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  <a:t>Investigates the intent and authenticity behind content to protect the integrity of the platform.</a:t>
          </a:r>
          <a:b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kern="1200" dirty="0"/>
        </a:p>
      </dsp:txBody>
      <dsp:txXfrm>
        <a:off x="275543" y="57053"/>
        <a:ext cx="4499425" cy="586034"/>
      </dsp:txXfrm>
    </dsp:sp>
    <dsp:sp modelId="{5DE01294-4C75-4AF0-9C32-CCA268B5459A}">
      <dsp:nvSpPr>
        <dsp:cNvPr id="0" name=""/>
        <dsp:cNvSpPr/>
      </dsp:nvSpPr>
      <dsp:spPr>
        <a:xfrm>
          <a:off x="0" y="1347990"/>
          <a:ext cx="48768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2450223"/>
              <a:satOff val="-10194"/>
              <a:lumOff val="2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C80148-BB38-4372-83E9-20A29F4E0DF0}">
      <dsp:nvSpPr>
        <dsp:cNvPr id="0" name=""/>
        <dsp:cNvSpPr/>
      </dsp:nvSpPr>
      <dsp:spPr>
        <a:xfrm>
          <a:off x="243840" y="1023270"/>
          <a:ext cx="4539959" cy="649440"/>
        </a:xfrm>
        <a:prstGeom prst="roundRect">
          <a:avLst/>
        </a:prstGeom>
        <a:gradFill rotWithShape="0">
          <a:gsLst>
            <a:gs pos="0">
              <a:schemeClr val="accent4">
                <a:hueOff val="2450223"/>
                <a:satOff val="-10194"/>
                <a:lumOff val="240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2450223"/>
                <a:satOff val="-10194"/>
                <a:lumOff val="240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2450223"/>
                <a:satOff val="-10194"/>
                <a:lumOff val="240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032" tIns="0" rIns="1290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  <a:t>Examines accounts, review history, behaviours, and evidence to identify suspicious or fraudulent activity.</a:t>
          </a:r>
          <a:b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kern="1200" dirty="0"/>
        </a:p>
      </dsp:txBody>
      <dsp:txXfrm>
        <a:off x="275543" y="1054973"/>
        <a:ext cx="4476553" cy="586034"/>
      </dsp:txXfrm>
    </dsp:sp>
    <dsp:sp modelId="{4C531C17-B89B-4EAC-B0AF-1D4753738C48}">
      <dsp:nvSpPr>
        <dsp:cNvPr id="0" name=""/>
        <dsp:cNvSpPr/>
      </dsp:nvSpPr>
      <dsp:spPr>
        <a:xfrm>
          <a:off x="0" y="2345910"/>
          <a:ext cx="48768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4F7A48-1413-4C9F-814E-A75E3AA25444}">
      <dsp:nvSpPr>
        <dsp:cNvPr id="0" name=""/>
        <dsp:cNvSpPr/>
      </dsp:nvSpPr>
      <dsp:spPr>
        <a:xfrm>
          <a:off x="243840" y="2021190"/>
          <a:ext cx="4539959" cy="649440"/>
        </a:xfrm>
        <a:prstGeom prst="roundRect">
          <a:avLst/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032" tIns="0" rIns="1290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  <a:t>Determines whether fraudulent behaviour has occurred and recommends appropriate integrity actions.</a:t>
          </a:r>
          <a:b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kern="1200" dirty="0"/>
        </a:p>
      </dsp:txBody>
      <dsp:txXfrm>
        <a:off x="275543" y="2052893"/>
        <a:ext cx="4476553" cy="586034"/>
      </dsp:txXfrm>
    </dsp:sp>
    <dsp:sp modelId="{7A1F8696-185A-4DB1-A521-B6F7A4F79705}">
      <dsp:nvSpPr>
        <dsp:cNvPr id="0" name=""/>
        <dsp:cNvSpPr/>
      </dsp:nvSpPr>
      <dsp:spPr>
        <a:xfrm>
          <a:off x="0" y="3343830"/>
          <a:ext cx="48768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7350668"/>
              <a:satOff val="-30583"/>
              <a:lumOff val="720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C607E7-7D2D-46E4-BE1C-E9636F7A29F4}">
      <dsp:nvSpPr>
        <dsp:cNvPr id="0" name=""/>
        <dsp:cNvSpPr/>
      </dsp:nvSpPr>
      <dsp:spPr>
        <a:xfrm>
          <a:off x="243840" y="3019110"/>
          <a:ext cx="4539959" cy="649440"/>
        </a:xfrm>
        <a:prstGeom prst="roundRect">
          <a:avLst/>
        </a:prstGeom>
        <a:gradFill rotWithShape="0">
          <a:gsLst>
            <a:gs pos="0">
              <a:schemeClr val="accent4">
                <a:hueOff val="7350668"/>
                <a:satOff val="-30583"/>
                <a:lumOff val="720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7350668"/>
                <a:satOff val="-30583"/>
                <a:lumOff val="720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7350668"/>
                <a:satOff val="-30583"/>
                <a:lumOff val="720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032" tIns="0" rIns="1290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  <a:t>Investigation-centric review by connecting multiple signals, evidence, and patterns.</a:t>
          </a:r>
          <a:b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</a:br>
          <a:endParaRPr lang="en-US" sz="1600" kern="1200" dirty="0"/>
        </a:p>
      </dsp:txBody>
      <dsp:txXfrm>
        <a:off x="275543" y="3050813"/>
        <a:ext cx="4476553" cy="586034"/>
      </dsp:txXfrm>
    </dsp:sp>
    <dsp:sp modelId="{154346AB-585A-4A18-8AFD-FCA5B4128D70}">
      <dsp:nvSpPr>
        <dsp:cNvPr id="0" name=""/>
        <dsp:cNvSpPr/>
      </dsp:nvSpPr>
      <dsp:spPr>
        <a:xfrm>
          <a:off x="0" y="4341750"/>
          <a:ext cx="4876800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C500D5-94AA-4361-9BE3-FE37EED32494}">
      <dsp:nvSpPr>
        <dsp:cNvPr id="0" name=""/>
        <dsp:cNvSpPr/>
      </dsp:nvSpPr>
      <dsp:spPr>
        <a:xfrm>
          <a:off x="243840" y="4017030"/>
          <a:ext cx="4539959" cy="649440"/>
        </a:xfrm>
        <a:prstGeom prst="roundRect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9032" tIns="0" rIns="12903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Poppins" panose="00000500000000000000" pitchFamily="2" charset="0"/>
              <a:cs typeface="Poppins" panose="00000500000000000000" pitchFamily="2" charset="0"/>
            </a:rPr>
            <a:t>Protecting trust by ensuring reviews and platform activity remain authentic and credible.</a:t>
          </a:r>
          <a:endParaRPr lang="en-US" sz="1600" kern="1200" dirty="0"/>
        </a:p>
      </dsp:txBody>
      <dsp:txXfrm>
        <a:off x="275543" y="4048733"/>
        <a:ext cx="4476553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2C8F8-D24E-40B5-8DAD-5C4B7B02D6F6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CB1580-4839-4E06-8A3D-D29B499A1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63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47BF8-E698-E80A-0499-BCB8B2AC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76C0A-BF19-E227-8E52-6716390C1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23B13-8842-E634-C692-1E4CF9C80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233A3-DFBE-E4DE-99E9-E6A34AD5A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C8D9EE-DC96-4F1C-BCAC-A65D5AD1D4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69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FF007-5F49-0518-F4F5-3D5916B72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C7219-0276-0360-6E7D-AD2074872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0F8CC-0A16-E24E-A200-AEC88FBAC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D18C3-9352-BD68-9A75-32D812A308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945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912B-FF18-9393-16AB-CF15ABC84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73F87-0AA8-0B8B-BF11-BAECF5116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0207C-9D56-5FBC-7357-7F90AA7FE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9D73A-A1A2-45B0-7399-E127898B3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079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D70F5-66C0-6EC3-3E89-89BB5FB72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70C64-43CE-0D7A-4478-96A00192B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5FFC5-9D83-1AC2-137F-1807E434E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A89B6-F538-C5FC-0926-34F89B243D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325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0311E-DA6A-9907-CB0D-30B173071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3A42F8-D5F7-0425-FC8B-CD132B12D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053C2-A14B-7C17-1936-00605B68B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0AC0A-95A4-D681-58A4-97E212F54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565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8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8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8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62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05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46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1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85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7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84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23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840567"/>
            <a:ext cx="103632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181600"/>
            <a:ext cx="85344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1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1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07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875867"/>
            <a:ext cx="10363200" cy="1816100"/>
          </a:xfrm>
        </p:spPr>
        <p:txBody>
          <a:bodyPr anchor="t"/>
          <a:lstStyle>
            <a:lvl1pPr algn="l">
              <a:defRPr sz="5334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875618"/>
            <a:ext cx="10363200" cy="2000249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63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61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89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5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815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78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41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704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96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5384800" cy="6034617"/>
          </a:xfrm>
        </p:spPr>
        <p:txBody>
          <a:bodyPr/>
          <a:lstStyle>
            <a:lvl1pPr>
              <a:defRPr sz="3734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133601"/>
            <a:ext cx="5384800" cy="6034617"/>
          </a:xfrm>
        </p:spPr>
        <p:txBody>
          <a:bodyPr/>
          <a:lstStyle>
            <a:lvl1pPr>
              <a:defRPr sz="3734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49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46817"/>
            <a:ext cx="5386917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30" indent="0">
              <a:buNone/>
              <a:defRPr sz="2667" b="1"/>
            </a:lvl2pPr>
            <a:lvl3pPr marL="1219261" indent="0">
              <a:buNone/>
              <a:defRPr sz="2400" b="1"/>
            </a:lvl3pPr>
            <a:lvl4pPr marL="1828891" indent="0">
              <a:buNone/>
              <a:defRPr sz="2133" b="1"/>
            </a:lvl4pPr>
            <a:lvl5pPr marL="2438522" indent="0">
              <a:buNone/>
              <a:defRPr sz="2133" b="1"/>
            </a:lvl5pPr>
            <a:lvl6pPr marL="3048152" indent="0">
              <a:buNone/>
              <a:defRPr sz="2133" b="1"/>
            </a:lvl6pPr>
            <a:lvl7pPr marL="3657783" indent="0">
              <a:buNone/>
              <a:defRPr sz="2133" b="1"/>
            </a:lvl7pPr>
            <a:lvl8pPr marL="4267413" indent="0">
              <a:buNone/>
              <a:defRPr sz="2133" b="1"/>
            </a:lvl8pPr>
            <a:lvl9pPr marL="4877044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899833"/>
            <a:ext cx="5386917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2046817"/>
            <a:ext cx="5389033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30" indent="0">
              <a:buNone/>
              <a:defRPr sz="2667" b="1"/>
            </a:lvl2pPr>
            <a:lvl3pPr marL="1219261" indent="0">
              <a:buNone/>
              <a:defRPr sz="2400" b="1"/>
            </a:lvl3pPr>
            <a:lvl4pPr marL="1828891" indent="0">
              <a:buNone/>
              <a:defRPr sz="2133" b="1"/>
            </a:lvl4pPr>
            <a:lvl5pPr marL="2438522" indent="0">
              <a:buNone/>
              <a:defRPr sz="2133" b="1"/>
            </a:lvl5pPr>
            <a:lvl6pPr marL="3048152" indent="0">
              <a:buNone/>
              <a:defRPr sz="2133" b="1"/>
            </a:lvl6pPr>
            <a:lvl7pPr marL="3657783" indent="0">
              <a:buNone/>
              <a:defRPr sz="2133" b="1"/>
            </a:lvl7pPr>
            <a:lvl8pPr marL="4267413" indent="0">
              <a:buNone/>
              <a:defRPr sz="2133" b="1"/>
            </a:lvl8pPr>
            <a:lvl9pPr marL="4877044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899833"/>
            <a:ext cx="5389033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898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250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14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64067"/>
            <a:ext cx="4011084" cy="154940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364067"/>
            <a:ext cx="6815667" cy="7804151"/>
          </a:xfrm>
        </p:spPr>
        <p:txBody>
          <a:bodyPr/>
          <a:lstStyle>
            <a:lvl1pPr>
              <a:defRPr sz="4267"/>
            </a:lvl1pPr>
            <a:lvl2pPr>
              <a:defRPr sz="3734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913467"/>
            <a:ext cx="4011084" cy="6254751"/>
          </a:xfrm>
        </p:spPr>
        <p:txBody>
          <a:bodyPr/>
          <a:lstStyle>
            <a:lvl1pPr marL="0" indent="0">
              <a:buNone/>
              <a:defRPr sz="1867"/>
            </a:lvl1pPr>
            <a:lvl2pPr marL="609630" indent="0">
              <a:buNone/>
              <a:defRPr sz="1600"/>
            </a:lvl2pPr>
            <a:lvl3pPr marL="1219261" indent="0">
              <a:buNone/>
              <a:defRPr sz="1333"/>
            </a:lvl3pPr>
            <a:lvl4pPr marL="1828891" indent="0">
              <a:buNone/>
              <a:defRPr sz="1200"/>
            </a:lvl4pPr>
            <a:lvl5pPr marL="2438522" indent="0">
              <a:buNone/>
              <a:defRPr sz="1200"/>
            </a:lvl5pPr>
            <a:lvl6pPr marL="3048152" indent="0">
              <a:buNone/>
              <a:defRPr sz="1200"/>
            </a:lvl6pPr>
            <a:lvl7pPr marL="3657783" indent="0">
              <a:buNone/>
              <a:defRPr sz="1200"/>
            </a:lvl7pPr>
            <a:lvl8pPr marL="4267413" indent="0">
              <a:buNone/>
              <a:defRPr sz="1200"/>
            </a:lvl8pPr>
            <a:lvl9pPr marL="4877044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54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6400800"/>
            <a:ext cx="7315200" cy="7556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817033"/>
            <a:ext cx="7315200" cy="5486400"/>
          </a:xfrm>
        </p:spPr>
        <p:txBody>
          <a:bodyPr/>
          <a:lstStyle>
            <a:lvl1pPr marL="0" indent="0">
              <a:buNone/>
              <a:defRPr sz="4267"/>
            </a:lvl1pPr>
            <a:lvl2pPr marL="609630" indent="0">
              <a:buNone/>
              <a:defRPr sz="3734"/>
            </a:lvl2pPr>
            <a:lvl3pPr marL="1219261" indent="0">
              <a:buNone/>
              <a:defRPr sz="3200"/>
            </a:lvl3pPr>
            <a:lvl4pPr marL="1828891" indent="0">
              <a:buNone/>
              <a:defRPr sz="2667"/>
            </a:lvl4pPr>
            <a:lvl5pPr marL="2438522" indent="0">
              <a:buNone/>
              <a:defRPr sz="2667"/>
            </a:lvl5pPr>
            <a:lvl6pPr marL="3048152" indent="0">
              <a:buNone/>
              <a:defRPr sz="2667"/>
            </a:lvl6pPr>
            <a:lvl7pPr marL="3657783" indent="0">
              <a:buNone/>
              <a:defRPr sz="2667"/>
            </a:lvl7pPr>
            <a:lvl8pPr marL="4267413" indent="0">
              <a:buNone/>
              <a:defRPr sz="2667"/>
            </a:lvl8pPr>
            <a:lvl9pPr marL="4877044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7156451"/>
            <a:ext cx="7315200" cy="1073149"/>
          </a:xfrm>
        </p:spPr>
        <p:txBody>
          <a:bodyPr/>
          <a:lstStyle>
            <a:lvl1pPr marL="0" indent="0">
              <a:buNone/>
              <a:defRPr sz="1867"/>
            </a:lvl1pPr>
            <a:lvl2pPr marL="609630" indent="0">
              <a:buNone/>
              <a:defRPr sz="1600"/>
            </a:lvl2pPr>
            <a:lvl3pPr marL="1219261" indent="0">
              <a:buNone/>
              <a:defRPr sz="1333"/>
            </a:lvl3pPr>
            <a:lvl4pPr marL="1828891" indent="0">
              <a:buNone/>
              <a:defRPr sz="1200"/>
            </a:lvl4pPr>
            <a:lvl5pPr marL="2438522" indent="0">
              <a:buNone/>
              <a:defRPr sz="1200"/>
            </a:lvl5pPr>
            <a:lvl6pPr marL="3048152" indent="0">
              <a:buNone/>
              <a:defRPr sz="1200"/>
            </a:lvl6pPr>
            <a:lvl7pPr marL="3657783" indent="0">
              <a:buNone/>
              <a:defRPr sz="1200"/>
            </a:lvl7pPr>
            <a:lvl8pPr marL="4267413" indent="0">
              <a:buNone/>
              <a:defRPr sz="1200"/>
            </a:lvl8pPr>
            <a:lvl9pPr marL="4877044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752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142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366185"/>
            <a:ext cx="274320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66185"/>
            <a:ext cx="802640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273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11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3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33601"/>
            <a:ext cx="109728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27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23" indent="-457223" algn="l" defTabSz="609630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650" indent="-381019" algn="l" defTabSz="609630" rtl="0" eaLnBrk="1" latinLnBrk="0" hangingPunct="1">
        <a:spcBef>
          <a:spcPct val="20000"/>
        </a:spcBef>
        <a:buFont typeface="Arial"/>
        <a:buChar char="–"/>
        <a:defRPr sz="3734" kern="1200">
          <a:solidFill>
            <a:schemeClr val="tx1"/>
          </a:solidFill>
          <a:latin typeface="+mn-lt"/>
          <a:ea typeface="+mn-ea"/>
          <a:cs typeface="+mn-cs"/>
        </a:defRPr>
      </a:lvl2pPr>
      <a:lvl3pPr marL="1524076" indent="-304815" algn="l" defTabSz="60963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707" indent="-304815" algn="l" defTabSz="609630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337" indent="-304815" algn="l" defTabSz="609630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968" indent="-304815" algn="l" defTabSz="60963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598" indent="-304815" algn="l" defTabSz="60963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2229" indent="-304815" algn="l" defTabSz="60963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859" indent="-304815" algn="l" defTabSz="60963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30" algn="l" defTabSz="6096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61" algn="l" defTabSz="6096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91" algn="l" defTabSz="6096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522" algn="l" defTabSz="6096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152" algn="l" defTabSz="6096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783" algn="l" defTabSz="6096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413" algn="l" defTabSz="6096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044" algn="l" defTabSz="60963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92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lvl1pPr algn="ctr" defTabSz="914446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17" indent="-342917" algn="l" defTabSz="914446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87" indent="-285764" algn="l" defTabSz="914446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qaqooking.wiki/all/how-to/fun-facts-logo-png" TargetMode="External"/><Relationship Id="rId13" Type="http://schemas.openxmlformats.org/officeDocument/2006/relationships/image" Target="../media/image19.jp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hyperlink" Target="https://makersgonnalearn.com/cut_files/cartoon-owl/" TargetMode="External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5.png"/><Relationship Id="rId11" Type="http://schemas.openxmlformats.org/officeDocument/2006/relationships/image" Target="../media/image18.jpeg"/><Relationship Id="rId5" Type="http://schemas.openxmlformats.org/officeDocument/2006/relationships/hyperlink" Target="https://www.vecteezy.com/png/18868608-3d-employee-id-card" TargetMode="External"/><Relationship Id="rId10" Type="http://schemas.openxmlformats.org/officeDocument/2006/relationships/hyperlink" Target="https://www.freepik.com/premium-vector/wise-owl-with-open-book-symbol-wisdom-learning_358500257.htm" TargetMode="External"/><Relationship Id="rId4" Type="http://schemas.openxmlformats.org/officeDocument/2006/relationships/image" Target="../media/image14.png"/><Relationship Id="rId9" Type="http://schemas.openxmlformats.org/officeDocument/2006/relationships/image" Target="../media/image17.jpeg"/><Relationship Id="rId14" Type="http://schemas.openxmlformats.org/officeDocument/2006/relationships/hyperlink" Target="https://www.teacherspayteachers.com/Product/Emoji-Mood-Meter-1335146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hyperlink" Target="https://sandhyajobbin.github.io/WordGrid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9.sv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5.png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26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9.png"/><Relationship Id="rId11" Type="http://schemas.openxmlformats.org/officeDocument/2006/relationships/slide" Target="slide13.xml"/><Relationship Id="rId5" Type="http://schemas.openxmlformats.org/officeDocument/2006/relationships/image" Target="../media/image28.svg"/><Relationship Id="rId10" Type="http://schemas.openxmlformats.org/officeDocument/2006/relationships/slide" Target="slide14.xml"/><Relationship Id="rId4" Type="http://schemas.openxmlformats.org/officeDocument/2006/relationships/image" Target="../media/image27.svg"/><Relationship Id="rId9" Type="http://schemas.openxmlformats.org/officeDocument/2006/relationships/slide" Target="slide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C1591-E9F8-AD2B-80A0-96AE30EA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D42019C-DF6A-B28B-7B35-219403E50192}"/>
              </a:ext>
            </a:extLst>
          </p:cNvPr>
          <p:cNvSpPr/>
          <p:nvPr/>
        </p:nvSpPr>
        <p:spPr>
          <a:xfrm flipV="1">
            <a:off x="7702633" y="154296"/>
            <a:ext cx="0" cy="6549409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defRPr/>
            </a:pPr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420028D-DB96-D3B4-BAB5-D0559D4C95C2}"/>
              </a:ext>
            </a:extLst>
          </p:cNvPr>
          <p:cNvSpPr/>
          <p:nvPr/>
        </p:nvSpPr>
        <p:spPr>
          <a:xfrm flipV="1">
            <a:off x="323908" y="6070600"/>
            <a:ext cx="7161485" cy="1270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defRPr/>
            </a:pPr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53D1FEA-3B9F-301A-4BB1-715BCE511199}"/>
              </a:ext>
            </a:extLst>
          </p:cNvPr>
          <p:cNvSpPr txBox="1"/>
          <p:nvPr/>
        </p:nvSpPr>
        <p:spPr>
          <a:xfrm>
            <a:off x="546171" y="330200"/>
            <a:ext cx="6616783" cy="3366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8867"/>
              </a:lnSpc>
              <a:defRPr/>
            </a:pPr>
            <a:r>
              <a:rPr lang="en-US" sz="6334" b="1" dirty="0">
                <a:solidFill>
                  <a:prstClr val="white"/>
                </a:solidFill>
                <a:latin typeface="Poppins Bold"/>
                <a:ea typeface="Poppins Bold"/>
                <a:cs typeface="Poppins Bold"/>
                <a:sym typeface="Poppins Bold"/>
              </a:rPr>
              <a:t>“Module: 1</a:t>
            </a:r>
          </a:p>
          <a:p>
            <a:pPr defTabSz="609630">
              <a:lnSpc>
                <a:spcPts val="8867"/>
              </a:lnSpc>
              <a:defRPr/>
            </a:pPr>
            <a:r>
              <a:rPr lang="en-US" sz="6334" b="1" dirty="0">
                <a:solidFill>
                  <a:prstClr val="white"/>
                </a:solidFill>
                <a:latin typeface="Poppins Bold"/>
                <a:ea typeface="Poppins Bold"/>
                <a:cs typeface="Poppins Bold"/>
                <a:sym typeface="Poppins Bold"/>
              </a:rPr>
              <a:t>Fraud Support Fundamentals”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BA52700-2381-DB45-6426-D4ED7DF552B4}"/>
              </a:ext>
            </a:extLst>
          </p:cNvPr>
          <p:cNvGrpSpPr/>
          <p:nvPr/>
        </p:nvGrpSpPr>
        <p:grpSpPr>
          <a:xfrm>
            <a:off x="537978" y="3632834"/>
            <a:ext cx="6726421" cy="2244624"/>
            <a:chOff x="-25091" y="-47625"/>
            <a:chExt cx="1457498" cy="88676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58F3FD4-8625-ECC2-1E28-DF6E1FB4A5AE}"/>
                </a:ext>
              </a:extLst>
            </p:cNvPr>
            <p:cNvSpPr/>
            <p:nvPr/>
          </p:nvSpPr>
          <p:spPr>
            <a:xfrm>
              <a:off x="-25091" y="0"/>
              <a:ext cx="1432407" cy="839140"/>
            </a:xfrm>
            <a:custGeom>
              <a:avLst/>
              <a:gdLst/>
              <a:ahLst/>
              <a:cxnLst/>
              <a:rect l="l" t="t" r="r" b="b"/>
              <a:pathLst>
                <a:path w="1432407" h="839140">
                  <a:moveTo>
                    <a:pt x="72598" y="0"/>
                  </a:moveTo>
                  <a:lnTo>
                    <a:pt x="1359808" y="0"/>
                  </a:lnTo>
                  <a:cubicBezTo>
                    <a:pt x="1379063" y="0"/>
                    <a:pt x="1397528" y="7649"/>
                    <a:pt x="1411143" y="21264"/>
                  </a:cubicBezTo>
                  <a:cubicBezTo>
                    <a:pt x="1424758" y="34878"/>
                    <a:pt x="1432407" y="53344"/>
                    <a:pt x="1432407" y="72598"/>
                  </a:cubicBezTo>
                  <a:lnTo>
                    <a:pt x="1432407" y="766542"/>
                  </a:lnTo>
                  <a:cubicBezTo>
                    <a:pt x="1432407" y="785796"/>
                    <a:pt x="1424758" y="804262"/>
                    <a:pt x="1411143" y="817877"/>
                  </a:cubicBezTo>
                  <a:cubicBezTo>
                    <a:pt x="1397528" y="831491"/>
                    <a:pt x="1379063" y="839140"/>
                    <a:pt x="1359808" y="839140"/>
                  </a:cubicBezTo>
                  <a:lnTo>
                    <a:pt x="72598" y="839140"/>
                  </a:lnTo>
                  <a:cubicBezTo>
                    <a:pt x="53344" y="839140"/>
                    <a:pt x="34878" y="831491"/>
                    <a:pt x="21264" y="817877"/>
                  </a:cubicBezTo>
                  <a:cubicBezTo>
                    <a:pt x="7649" y="804262"/>
                    <a:pt x="0" y="785796"/>
                    <a:pt x="0" y="766542"/>
                  </a:cubicBezTo>
                  <a:lnTo>
                    <a:pt x="0" y="72598"/>
                  </a:lnTo>
                  <a:cubicBezTo>
                    <a:pt x="0" y="53344"/>
                    <a:pt x="7649" y="34878"/>
                    <a:pt x="21264" y="21264"/>
                  </a:cubicBezTo>
                  <a:cubicBezTo>
                    <a:pt x="34878" y="7649"/>
                    <a:pt x="53344" y="0"/>
                    <a:pt x="7259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2B11"/>
              </a:solidFill>
              <a:prstDash val="solid"/>
              <a:round/>
            </a:ln>
          </p:spPr>
          <p:txBody>
            <a:bodyPr/>
            <a:lstStyle/>
            <a:p>
              <a:pPr defTabSz="609630">
                <a:defRPr/>
              </a:pPr>
              <a:endParaRPr lang="en-US" sz="1200" dirty="0">
                <a:solidFill>
                  <a:prstClr val="black"/>
                </a:solidFill>
                <a:latin typeface="Calibri"/>
              </a:endParaRPr>
            </a:p>
            <a:p>
              <a:pPr defTabSz="609630">
                <a:defRPr/>
              </a:pPr>
              <a:endParaRPr lang="en-US" sz="1200" dirty="0">
                <a:solidFill>
                  <a:prstClr val="black"/>
                </a:solidFill>
                <a:latin typeface="Calibri"/>
              </a:endParaRPr>
            </a:p>
            <a:p>
              <a:pPr defTabSz="609630">
                <a:defRPr/>
              </a:pPr>
              <a:br>
                <a:rPr lang="en-US" sz="1200" dirty="0">
                  <a:solidFill>
                    <a:prstClr val="black"/>
                  </a:solidFill>
                  <a:latin typeface="Calibri"/>
                </a:rPr>
              </a:br>
              <a:endParaRPr lang="en-US" sz="1200" dirty="0">
                <a:solidFill>
                  <a:prstClr val="black"/>
                </a:solidFill>
                <a:latin typeface="Calibri"/>
              </a:endParaRPr>
            </a:p>
            <a:p>
              <a:pPr defTabSz="609630">
                <a:defRPr/>
              </a:pPr>
              <a:r>
                <a:rPr lang="en-US" sz="2400" b="1" dirty="0">
                  <a:solidFill>
                    <a:prstClr val="black"/>
                  </a:solidFill>
                  <a:latin typeface="Calibri"/>
                </a:rPr>
                <a:t>“Behind every suspicious review lies an investigation that protects millions of travelers.”</a:t>
              </a:r>
              <a:br>
                <a:rPr lang="en-US" sz="2400" dirty="0">
                  <a:solidFill>
                    <a:prstClr val="black"/>
                  </a:solidFill>
                  <a:latin typeface="Calibri"/>
                </a:rPr>
              </a:br>
              <a:endParaRPr lang="en-US" sz="213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1064B27-3D32-708D-1263-6781C2EF1BFA}"/>
                </a:ext>
              </a:extLst>
            </p:cNvPr>
            <p:cNvSpPr txBox="1"/>
            <p:nvPr/>
          </p:nvSpPr>
          <p:spPr>
            <a:xfrm>
              <a:off x="0" y="-47625"/>
              <a:ext cx="1432407" cy="88676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871"/>
                </a:lnSpc>
                <a:defRPr/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5E3EBE-D543-A7A1-ACEF-87739EB0156F}"/>
              </a:ext>
            </a:extLst>
          </p:cNvPr>
          <p:cNvGrpSpPr/>
          <p:nvPr/>
        </p:nvGrpSpPr>
        <p:grpSpPr>
          <a:xfrm>
            <a:off x="5943604" y="3945833"/>
            <a:ext cx="863596" cy="154348"/>
            <a:chOff x="1447800" y="6531228"/>
            <a:chExt cx="1295394" cy="23152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AEE2A08-980F-9BC5-99A4-EA676ACC2D4A}"/>
                </a:ext>
              </a:extLst>
            </p:cNvPr>
            <p:cNvSpPr/>
            <p:nvPr/>
          </p:nvSpPr>
          <p:spPr>
            <a:xfrm>
              <a:off x="1447800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US" sz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F7844A5-A88F-4C81-2653-485016AD8668}"/>
                </a:ext>
              </a:extLst>
            </p:cNvPr>
            <p:cNvSpPr/>
            <p:nvPr/>
          </p:nvSpPr>
          <p:spPr>
            <a:xfrm>
              <a:off x="1714499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US" sz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6330DDF-0565-252C-05FD-2AD2ACD8E2BB}"/>
                </a:ext>
              </a:extLst>
            </p:cNvPr>
            <p:cNvSpPr/>
            <p:nvPr/>
          </p:nvSpPr>
          <p:spPr>
            <a:xfrm>
              <a:off x="1981198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US" sz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4638375-5507-FCDD-DA16-870BD61BBC90}"/>
                </a:ext>
              </a:extLst>
            </p:cNvPr>
            <p:cNvSpPr/>
            <p:nvPr/>
          </p:nvSpPr>
          <p:spPr>
            <a:xfrm>
              <a:off x="2247897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US" sz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F130F05-ED69-8556-A5C7-7DBE28F5ADCF}"/>
                </a:ext>
              </a:extLst>
            </p:cNvPr>
            <p:cNvSpPr/>
            <p:nvPr/>
          </p:nvSpPr>
          <p:spPr>
            <a:xfrm>
              <a:off x="2514596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US" sz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45C40C8-59B1-0732-5FF2-72A618485B37}"/>
              </a:ext>
            </a:extLst>
          </p:cNvPr>
          <p:cNvSpPr txBox="1"/>
          <p:nvPr/>
        </p:nvSpPr>
        <p:spPr>
          <a:xfrm>
            <a:off x="660400" y="3945833"/>
            <a:ext cx="1117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en-US" sz="1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@ Module 1</a:t>
            </a:r>
          </a:p>
        </p:txBody>
      </p:sp>
      <p:pic>
        <p:nvPicPr>
          <p:cNvPr id="25" name="Picture 24" descr="ollie_green.png">
            <a:extLst>
              <a:ext uri="{FF2B5EF4-FFF2-40B4-BE49-F238E27FC236}">
                <a16:creationId xmlns:a16="http://schemas.microsoft.com/office/drawing/2014/main" id="{D88517DE-472D-3B3A-346F-6AB33072CAF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6574276" y="6276442"/>
            <a:ext cx="633151" cy="4035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1E3E79-8B88-9AFE-C54E-D996A53F72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176" y="733111"/>
            <a:ext cx="3979840" cy="55433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116C5D-4083-C4B2-8711-558479B55079}"/>
              </a:ext>
            </a:extLst>
          </p:cNvPr>
          <p:cNvSpPr txBox="1"/>
          <p:nvPr/>
        </p:nvSpPr>
        <p:spPr>
          <a:xfrm>
            <a:off x="563717" y="6290159"/>
            <a:ext cx="6096000" cy="42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09630">
              <a:defRPr/>
            </a:pPr>
            <a:r>
              <a:rPr lang="en-US" sz="2133" i="1" dirty="0">
                <a:solidFill>
                  <a:prstClr val="white"/>
                </a:solidFill>
                <a:latin typeface="Calibri"/>
              </a:rPr>
              <a:t>Welcome to Fraud Support Fundamentals</a:t>
            </a:r>
            <a:endParaRPr lang="en-US" sz="2133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8638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FF7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AF9C71-AFE5-FDFB-86A8-C23CB880F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0E6F7B23-B617-6809-D194-C6A73B82FCA2}"/>
              </a:ext>
            </a:extLst>
          </p:cNvPr>
          <p:cNvSpPr txBox="1"/>
          <p:nvPr/>
        </p:nvSpPr>
        <p:spPr>
          <a:xfrm>
            <a:off x="1175594" y="2740025"/>
            <a:ext cx="7204311" cy="254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053"/>
              </a:lnSpc>
              <a:buSzPct val="90000"/>
            </a:pPr>
            <a:r>
              <a:rPr lang="en-US" sz="1466" dirty="0">
                <a:solidFill>
                  <a:srgbClr val="002B11"/>
                </a:solidFill>
                <a:latin typeface="Poppins"/>
                <a:ea typeface="Poppins"/>
                <a:cs typeface="Poppins"/>
                <a:sym typeface="Poppins"/>
              </a:rPr>
              <a:t>Be on time. Every minute counts!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77AEBA9-76C1-D7B7-4160-D628ED30E62D}"/>
              </a:ext>
            </a:extLst>
          </p:cNvPr>
          <p:cNvSpPr txBox="1"/>
          <p:nvPr/>
        </p:nvSpPr>
        <p:spPr>
          <a:xfrm>
            <a:off x="1175594" y="3215286"/>
            <a:ext cx="7204311" cy="254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053"/>
              </a:lnSpc>
              <a:buSzPct val="90000"/>
            </a:pPr>
            <a:r>
              <a:rPr lang="en-US" sz="1466" dirty="0">
                <a:solidFill>
                  <a:srgbClr val="002B11"/>
                </a:solidFill>
                <a:latin typeface="Poppins"/>
                <a:ea typeface="Poppins"/>
                <a:cs typeface="Poppins"/>
                <a:sym typeface="Poppins"/>
              </a:rPr>
              <a:t>Check your internet, microphone, and camera once you login  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31E8E59-E42F-BA0F-D684-855D78489D83}"/>
              </a:ext>
            </a:extLst>
          </p:cNvPr>
          <p:cNvSpPr txBox="1"/>
          <p:nvPr/>
        </p:nvSpPr>
        <p:spPr>
          <a:xfrm>
            <a:off x="1175594" y="3690547"/>
            <a:ext cx="7204311" cy="254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053"/>
              </a:lnSpc>
              <a:buSzPct val="90000"/>
            </a:pPr>
            <a:r>
              <a:rPr lang="en-US" sz="1466" dirty="0">
                <a:solidFill>
                  <a:srgbClr val="002B11"/>
                </a:solidFill>
                <a:latin typeface="Poppins"/>
                <a:ea typeface="Poppins"/>
                <a:cs typeface="Poppins"/>
                <a:sym typeface="Poppins"/>
              </a:rPr>
              <a:t>Be present, not just logged in!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C4A0711-66C9-6B47-D089-894F0C1FB2DC}"/>
              </a:ext>
            </a:extLst>
          </p:cNvPr>
          <p:cNvSpPr txBox="1"/>
          <p:nvPr/>
        </p:nvSpPr>
        <p:spPr>
          <a:xfrm>
            <a:off x="1175594" y="4165808"/>
            <a:ext cx="7204311" cy="254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053"/>
              </a:lnSpc>
              <a:buSzPct val="90000"/>
            </a:pPr>
            <a:r>
              <a:rPr lang="en-US" sz="1466" dirty="0">
                <a:solidFill>
                  <a:srgbClr val="002B11"/>
                </a:solidFill>
                <a:latin typeface="Poppins"/>
                <a:ea typeface="Poppins"/>
                <a:cs typeface="Poppins"/>
                <a:sym typeface="Poppins"/>
              </a:rPr>
              <a:t>Use the Raise Hand / Chat feature to participate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C2ECF41-A69C-E93D-3466-2C674888E42F}"/>
              </a:ext>
            </a:extLst>
          </p:cNvPr>
          <p:cNvSpPr txBox="1"/>
          <p:nvPr/>
        </p:nvSpPr>
        <p:spPr>
          <a:xfrm>
            <a:off x="1175594" y="4565348"/>
            <a:ext cx="7204311" cy="793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053"/>
              </a:lnSpc>
              <a:buSzPct val="90000"/>
            </a:pPr>
            <a:r>
              <a:rPr lang="en-US" sz="1466" dirty="0">
                <a:solidFill>
                  <a:srgbClr val="002B11"/>
                </a:solidFill>
                <a:latin typeface="Poppins"/>
                <a:ea typeface="Poppins"/>
                <a:cs typeface="Poppins"/>
                <a:sym typeface="Poppins"/>
              </a:rPr>
              <a:t>Ask questions, don't wait for the “perfect” question</a:t>
            </a:r>
          </a:p>
          <a:p>
            <a:pPr defTabSz="609630">
              <a:lnSpc>
                <a:spcPts val="2053"/>
              </a:lnSpc>
            </a:pPr>
            <a:endParaRPr lang="en-US" sz="1466" dirty="0">
              <a:solidFill>
                <a:srgbClr val="002B1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defTabSz="609630">
              <a:lnSpc>
                <a:spcPts val="2053"/>
              </a:lnSpc>
            </a:pPr>
            <a:r>
              <a:rPr lang="en-US" sz="1466" b="1" i="1" dirty="0">
                <a:solidFill>
                  <a:srgbClr val="002B11"/>
                </a:solidFill>
                <a:latin typeface="Poppins"/>
                <a:ea typeface="Poppins"/>
                <a:cs typeface="Poppins"/>
                <a:sym typeface="Poppins"/>
              </a:rPr>
              <a:t>If you're wondering about it, chances are someone else is too.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38C3495-F7EF-5826-33FB-C96B5E9BC9A7}"/>
              </a:ext>
            </a:extLst>
          </p:cNvPr>
          <p:cNvSpPr txBox="1"/>
          <p:nvPr/>
        </p:nvSpPr>
        <p:spPr>
          <a:xfrm>
            <a:off x="609600" y="514350"/>
            <a:ext cx="5152430" cy="1042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8587"/>
              </a:lnSpc>
            </a:pPr>
            <a:r>
              <a:rPr lang="en-US" sz="60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House Rules!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852291E-D565-1542-A161-5DC8D345758A}"/>
              </a:ext>
            </a:extLst>
          </p:cNvPr>
          <p:cNvSpPr txBox="1"/>
          <p:nvPr/>
        </p:nvSpPr>
        <p:spPr>
          <a:xfrm>
            <a:off x="685801" y="1688111"/>
            <a:ext cx="7204311" cy="69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2800"/>
              </a:lnSpc>
            </a:pPr>
            <a:r>
              <a:rPr lang="en-US" sz="1867" dirty="0">
                <a:solidFill>
                  <a:srgbClr val="002B11"/>
                </a:solidFill>
                <a:latin typeface="Poppins"/>
                <a:ea typeface="Poppins"/>
                <a:cs typeface="Poppins"/>
                <a:sym typeface="Poppins"/>
              </a:rPr>
              <a:t>Follow the best practices below to ensure a smooth learning experience.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D183BB9-69F7-BA6A-DFBE-136A8A9303EC}"/>
              </a:ext>
            </a:extLst>
          </p:cNvPr>
          <p:cNvSpPr txBox="1"/>
          <p:nvPr/>
        </p:nvSpPr>
        <p:spPr>
          <a:xfrm>
            <a:off x="7340600" y="5816600"/>
            <a:ext cx="4851400" cy="682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5600"/>
              </a:lnSpc>
            </a:pPr>
            <a:r>
              <a:rPr lang="en-US" sz="4000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Happy Learning!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9E6C84D-4819-1670-3EEA-38B377A9E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712311" y="221634"/>
            <a:ext cx="4276489" cy="6414733"/>
          </a:xfrm>
          <a:prstGeom prst="rect">
            <a:avLst/>
          </a:prstGeom>
        </p:spPr>
      </p:pic>
      <p:sp>
        <p:nvSpPr>
          <p:cNvPr id="6" name="Freeform 2">
            <a:extLst>
              <a:ext uri="{FF2B5EF4-FFF2-40B4-BE49-F238E27FC236}">
                <a16:creationId xmlns:a16="http://schemas.microsoft.com/office/drawing/2014/main" id="{34F73CF9-3757-B4BE-87A0-F75CA0FCEE3B}"/>
              </a:ext>
            </a:extLst>
          </p:cNvPr>
          <p:cNvSpPr>
            <a:spLocks noChangeAspect="1"/>
          </p:cNvSpPr>
          <p:nvPr/>
        </p:nvSpPr>
        <p:spPr>
          <a:xfrm>
            <a:off x="762000" y="2619810"/>
            <a:ext cx="306745" cy="403611"/>
          </a:xfrm>
          <a:custGeom>
            <a:avLst/>
            <a:gdLst/>
            <a:ahLst/>
            <a:cxnLst/>
            <a:rect l="l" t="t" r="r" b="b"/>
            <a:pathLst>
              <a:path w="1374030" h="1807934">
                <a:moveTo>
                  <a:pt x="0" y="0"/>
                </a:moveTo>
                <a:lnTo>
                  <a:pt x="1374029" y="0"/>
                </a:lnTo>
                <a:lnTo>
                  <a:pt x="1374029" y="1807934"/>
                </a:lnTo>
                <a:lnTo>
                  <a:pt x="0" y="1807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>
              <a:defRPr/>
            </a:pPr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A952AB82-68FB-9042-6530-FAD65D94BCC0}"/>
              </a:ext>
            </a:extLst>
          </p:cNvPr>
          <p:cNvSpPr>
            <a:spLocks noChangeAspect="1"/>
          </p:cNvSpPr>
          <p:nvPr/>
        </p:nvSpPr>
        <p:spPr>
          <a:xfrm>
            <a:off x="760730" y="3171260"/>
            <a:ext cx="308015" cy="339722"/>
          </a:xfrm>
          <a:custGeom>
            <a:avLst/>
            <a:gdLst/>
            <a:ahLst/>
            <a:cxnLst/>
            <a:rect l="l" t="t" r="r" b="b"/>
            <a:pathLst>
              <a:path w="1570518" h="1732189">
                <a:moveTo>
                  <a:pt x="0" y="0"/>
                </a:moveTo>
                <a:lnTo>
                  <a:pt x="1570518" y="0"/>
                </a:lnTo>
                <a:lnTo>
                  <a:pt x="1570518" y="1732189"/>
                </a:lnTo>
                <a:lnTo>
                  <a:pt x="0" y="17321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>
              <a:defRPr/>
            </a:pPr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1AD50DE-4AA1-5276-5FE6-05FF00AA653B}"/>
              </a:ext>
            </a:extLst>
          </p:cNvPr>
          <p:cNvSpPr>
            <a:spLocks noChangeAspect="1"/>
          </p:cNvSpPr>
          <p:nvPr/>
        </p:nvSpPr>
        <p:spPr>
          <a:xfrm>
            <a:off x="749164" y="3690547"/>
            <a:ext cx="331147" cy="251671"/>
          </a:xfrm>
          <a:custGeom>
            <a:avLst/>
            <a:gdLst/>
            <a:ahLst/>
            <a:cxnLst/>
            <a:rect l="l" t="t" r="r" b="b"/>
            <a:pathLst>
              <a:path w="1278856" h="971931">
                <a:moveTo>
                  <a:pt x="0" y="0"/>
                </a:moveTo>
                <a:lnTo>
                  <a:pt x="1278856" y="0"/>
                </a:lnTo>
                <a:lnTo>
                  <a:pt x="1278856" y="971931"/>
                </a:lnTo>
                <a:lnTo>
                  <a:pt x="0" y="9719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defTabSz="609630">
              <a:defRPr/>
            </a:pPr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195EB745-4AC5-3D3F-D5AF-9EC7CDC212C9}"/>
              </a:ext>
            </a:extLst>
          </p:cNvPr>
          <p:cNvSpPr>
            <a:spLocks noChangeAspect="1"/>
          </p:cNvSpPr>
          <p:nvPr/>
        </p:nvSpPr>
        <p:spPr>
          <a:xfrm>
            <a:off x="812073" y="4059348"/>
            <a:ext cx="205329" cy="358131"/>
          </a:xfrm>
          <a:custGeom>
            <a:avLst/>
            <a:gdLst/>
            <a:ahLst/>
            <a:cxnLst/>
            <a:rect l="l" t="t" r="r" b="b"/>
            <a:pathLst>
              <a:path w="615985" h="1074393">
                <a:moveTo>
                  <a:pt x="0" y="0"/>
                </a:moveTo>
                <a:lnTo>
                  <a:pt x="615985" y="0"/>
                </a:lnTo>
                <a:lnTo>
                  <a:pt x="615985" y="1074393"/>
                </a:lnTo>
                <a:lnTo>
                  <a:pt x="0" y="1074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>
              <a:defRPr/>
            </a:pPr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B9914F48-5513-CF6E-3A87-7AB2F37D39B9}"/>
              </a:ext>
            </a:extLst>
          </p:cNvPr>
          <p:cNvSpPr>
            <a:spLocks noChangeAspect="1"/>
          </p:cNvSpPr>
          <p:nvPr/>
        </p:nvSpPr>
        <p:spPr>
          <a:xfrm>
            <a:off x="749163" y="4587764"/>
            <a:ext cx="331147" cy="365236"/>
          </a:xfrm>
          <a:custGeom>
            <a:avLst/>
            <a:gdLst/>
            <a:ahLst/>
            <a:cxnLst/>
            <a:rect l="l" t="t" r="r" b="b"/>
            <a:pathLst>
              <a:path w="1497283" h="1651415">
                <a:moveTo>
                  <a:pt x="0" y="0"/>
                </a:moveTo>
                <a:lnTo>
                  <a:pt x="1497283" y="0"/>
                </a:lnTo>
                <a:lnTo>
                  <a:pt x="1497283" y="1651414"/>
                </a:lnTo>
                <a:lnTo>
                  <a:pt x="0" y="16514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>
              <a:defRPr/>
            </a:pPr>
            <a:endParaRPr lang="en-US" sz="12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2337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FB831-B1DE-0417-9D86-60384F3B4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3EF7ED-C245-7985-9CD6-33F5E95AE233}"/>
              </a:ext>
            </a:extLst>
          </p:cNvPr>
          <p:cNvSpPr txBox="1"/>
          <p:nvPr/>
        </p:nvSpPr>
        <p:spPr>
          <a:xfrm>
            <a:off x="666667" y="613016"/>
            <a:ext cx="108000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/>
            <a:r>
              <a:rPr sz="4000" b="1" dirty="0">
                <a:solidFill>
                  <a:srgbClr val="FFFFFF"/>
                </a:solidFill>
                <a:latin typeface="Poppins Black"/>
              </a:rPr>
              <a:t>Agenda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ABE2B96-60E5-E273-A92E-6C214BE1C08B}"/>
              </a:ext>
            </a:extLst>
          </p:cNvPr>
          <p:cNvSpPr/>
          <p:nvPr/>
        </p:nvSpPr>
        <p:spPr>
          <a:xfrm>
            <a:off x="666667" y="1295400"/>
            <a:ext cx="10800000" cy="677109"/>
          </a:xfrm>
          <a:prstGeom prst="roundRect">
            <a:avLst/>
          </a:prstGeom>
          <a:solidFill>
            <a:srgbClr val="CFF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5EAA81-9003-A0C8-2831-E9ADA9427335}"/>
              </a:ext>
            </a:extLst>
          </p:cNvPr>
          <p:cNvSpPr txBox="1"/>
          <p:nvPr/>
        </p:nvSpPr>
        <p:spPr>
          <a:xfrm>
            <a:off x="1025912" y="1295400"/>
            <a:ext cx="9333333" cy="37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/>
            <a:r>
              <a:rPr lang="en-US" sz="1867" b="1" dirty="0">
                <a:solidFill>
                  <a:srgbClr val="002B11"/>
                </a:solidFill>
                <a:latin typeface="Poppins Black"/>
              </a:rPr>
              <a:t>Meet your Tier 2 Team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9F9C40-0BF6-C646-1275-29A1BE95A26B}"/>
              </a:ext>
            </a:extLst>
          </p:cNvPr>
          <p:cNvSpPr/>
          <p:nvPr/>
        </p:nvSpPr>
        <p:spPr>
          <a:xfrm>
            <a:off x="659233" y="2128800"/>
            <a:ext cx="10800000" cy="677109"/>
          </a:xfrm>
          <a:prstGeom prst="roundRect">
            <a:avLst/>
          </a:prstGeom>
          <a:solidFill>
            <a:srgbClr val="FF86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D116BE-98AC-5739-FEBF-684731DB0D83}"/>
              </a:ext>
            </a:extLst>
          </p:cNvPr>
          <p:cNvSpPr/>
          <p:nvPr/>
        </p:nvSpPr>
        <p:spPr>
          <a:xfrm>
            <a:off x="659233" y="3819531"/>
            <a:ext cx="10800000" cy="677109"/>
          </a:xfrm>
          <a:prstGeom prst="roundRect">
            <a:avLst/>
          </a:prstGeom>
          <a:solidFill>
            <a:srgbClr val="9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49FADBB-7FE1-AF18-FE08-B17D7F013329}"/>
              </a:ext>
            </a:extLst>
          </p:cNvPr>
          <p:cNvSpPr/>
          <p:nvPr/>
        </p:nvSpPr>
        <p:spPr>
          <a:xfrm>
            <a:off x="659233" y="4650765"/>
            <a:ext cx="10800000" cy="677109"/>
          </a:xfrm>
          <a:prstGeom prst="roundRect">
            <a:avLst/>
          </a:prstGeom>
          <a:solidFill>
            <a:srgbClr val="D95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60F9CA-3D5A-78BD-025C-57BB5BCA7AD8}"/>
              </a:ext>
            </a:extLst>
          </p:cNvPr>
          <p:cNvSpPr txBox="1"/>
          <p:nvPr/>
        </p:nvSpPr>
        <p:spPr>
          <a:xfrm>
            <a:off x="1025912" y="1667825"/>
            <a:ext cx="9333333" cy="318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/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Quick introductions on who you will be working with!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B37CC8-FD60-111C-BCB7-74C15960A139}"/>
              </a:ext>
            </a:extLst>
          </p:cNvPr>
          <p:cNvSpPr txBox="1"/>
          <p:nvPr/>
        </p:nvSpPr>
        <p:spPr>
          <a:xfrm>
            <a:off x="1016000" y="2108200"/>
            <a:ext cx="9333333" cy="37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/>
            <a:r>
              <a:rPr lang="en-US" sz="1867" b="1" dirty="0">
                <a:solidFill>
                  <a:srgbClr val="002B11"/>
                </a:solidFill>
                <a:latin typeface="Poppins Black"/>
              </a:rPr>
              <a:t>Introduce yourself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C275B7-690B-195C-E008-26B8D2711F8A}"/>
              </a:ext>
            </a:extLst>
          </p:cNvPr>
          <p:cNvSpPr txBox="1"/>
          <p:nvPr/>
        </p:nvSpPr>
        <p:spPr>
          <a:xfrm>
            <a:off x="1016000" y="2480625"/>
            <a:ext cx="9333333" cy="318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/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Let’s play a fun game to know more about your peers.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1358B-3623-37A4-9E7C-BAF686E48722}"/>
              </a:ext>
            </a:extLst>
          </p:cNvPr>
          <p:cNvSpPr txBox="1"/>
          <p:nvPr/>
        </p:nvSpPr>
        <p:spPr>
          <a:xfrm>
            <a:off x="1025912" y="3800697"/>
            <a:ext cx="9333333" cy="37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/>
            <a:r>
              <a:rPr lang="en-US" sz="1867" b="1" dirty="0">
                <a:solidFill>
                  <a:srgbClr val="002B11"/>
                </a:solidFill>
                <a:latin typeface="Poppins Black"/>
              </a:rPr>
              <a:t>The mission of Fraud Support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5AB3DD-8B53-67C5-1C22-AABF8C61D966}"/>
              </a:ext>
            </a:extLst>
          </p:cNvPr>
          <p:cNvSpPr txBox="1"/>
          <p:nvPr/>
        </p:nvSpPr>
        <p:spPr>
          <a:xfrm>
            <a:off x="1025912" y="4173122"/>
            <a:ext cx="9333333" cy="318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/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Understand how Fraud Support helps keep content genuine, fair, and trustworthy.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05BE6F-C201-38B1-64EE-63952A201F07}"/>
              </a:ext>
            </a:extLst>
          </p:cNvPr>
          <p:cNvSpPr txBox="1"/>
          <p:nvPr/>
        </p:nvSpPr>
        <p:spPr>
          <a:xfrm>
            <a:off x="1025912" y="4636175"/>
            <a:ext cx="9333333" cy="37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/>
            <a:r>
              <a:rPr lang="en-US" sz="1867" b="1" dirty="0">
                <a:solidFill>
                  <a:srgbClr val="002B11"/>
                </a:solidFill>
                <a:latin typeface="Poppins Black"/>
              </a:rPr>
              <a:t>Who reaches out to us and why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B6E876-F908-DD9D-3C08-F5210A34D342}"/>
              </a:ext>
            </a:extLst>
          </p:cNvPr>
          <p:cNvSpPr txBox="1"/>
          <p:nvPr/>
        </p:nvSpPr>
        <p:spPr>
          <a:xfrm>
            <a:off x="1025912" y="5008599"/>
            <a:ext cx="9333333" cy="318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/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Learn more about the types of contacts that reach out to FS.</a:t>
            </a:r>
          </a:p>
        </p:txBody>
      </p:sp>
      <p:sp>
        <p:nvSpPr>
          <p:cNvPr id="21" name="Rounded Rectangle 9">
            <a:extLst>
              <a:ext uri="{FF2B5EF4-FFF2-40B4-BE49-F238E27FC236}">
                <a16:creationId xmlns:a16="http://schemas.microsoft.com/office/drawing/2014/main" id="{9EA360FC-09A6-7FD7-10B9-D9C39E338CCE}"/>
              </a:ext>
            </a:extLst>
          </p:cNvPr>
          <p:cNvSpPr/>
          <p:nvPr/>
        </p:nvSpPr>
        <p:spPr>
          <a:xfrm>
            <a:off x="659233" y="5491688"/>
            <a:ext cx="10800000" cy="677109"/>
          </a:xfrm>
          <a:prstGeom prst="roundRect">
            <a:avLst/>
          </a:prstGeom>
          <a:solidFill>
            <a:srgbClr val="D1F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832526-3E65-0E28-1F0E-4043E433F798}"/>
              </a:ext>
            </a:extLst>
          </p:cNvPr>
          <p:cNvSpPr txBox="1"/>
          <p:nvPr/>
        </p:nvSpPr>
        <p:spPr>
          <a:xfrm>
            <a:off x="1025912" y="5477097"/>
            <a:ext cx="9333333" cy="37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/>
            <a:r>
              <a:rPr lang="en-US" sz="1867" b="1" dirty="0">
                <a:solidFill>
                  <a:srgbClr val="002B11"/>
                </a:solidFill>
                <a:latin typeface="Poppins Black"/>
              </a:rPr>
              <a:t>Understanding our two main conversation types: FS and FPS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DE12F4-9082-EF50-CDCC-6237EF8A330A}"/>
              </a:ext>
            </a:extLst>
          </p:cNvPr>
          <p:cNvSpPr txBox="1"/>
          <p:nvPr/>
        </p:nvSpPr>
        <p:spPr>
          <a:xfrm>
            <a:off x="1025912" y="5849522"/>
            <a:ext cx="9333333" cy="318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/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FS &amp; FPS deep dive.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8A421FD1-E362-3955-115B-A69B7E0C8CE4}"/>
              </a:ext>
            </a:extLst>
          </p:cNvPr>
          <p:cNvSpPr/>
          <p:nvPr/>
        </p:nvSpPr>
        <p:spPr>
          <a:xfrm>
            <a:off x="666667" y="2992400"/>
            <a:ext cx="10800000" cy="677109"/>
          </a:xfrm>
          <a:prstGeom prst="roundRect">
            <a:avLst/>
          </a:prstGeom>
          <a:solidFill>
            <a:srgbClr val="23EE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sz="24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EA5800-D35E-EDC9-CF8E-123BE45D5110}"/>
              </a:ext>
            </a:extLst>
          </p:cNvPr>
          <p:cNvSpPr txBox="1"/>
          <p:nvPr/>
        </p:nvSpPr>
        <p:spPr>
          <a:xfrm>
            <a:off x="1023434" y="2971800"/>
            <a:ext cx="9333333" cy="37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/>
            <a:r>
              <a:rPr lang="en-US" sz="1867" b="1" dirty="0">
                <a:solidFill>
                  <a:srgbClr val="002B11"/>
                </a:solidFill>
                <a:latin typeface="Poppins Black"/>
              </a:rPr>
              <a:t>CMI vs. FS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1280B8-7918-110D-F2D4-405BDE7FA61F}"/>
              </a:ext>
            </a:extLst>
          </p:cNvPr>
          <p:cNvSpPr txBox="1"/>
          <p:nvPr/>
        </p:nvSpPr>
        <p:spPr>
          <a:xfrm>
            <a:off x="1023434" y="3344225"/>
            <a:ext cx="9333333" cy="318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/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side-by-side comparison to understand transition from CMI to FS.</a:t>
            </a:r>
          </a:p>
        </p:txBody>
      </p:sp>
    </p:spTree>
    <p:extLst>
      <p:ext uri="{BB962C8B-B14F-4D97-AF65-F5344CB8AC3E}">
        <p14:creationId xmlns:p14="http://schemas.microsoft.com/office/powerpoint/2010/main" val="2030437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 4">
            <a:extLst>
              <a:ext uri="{FF2B5EF4-FFF2-40B4-BE49-F238E27FC236}">
                <a16:creationId xmlns:a16="http://schemas.microsoft.com/office/drawing/2014/main" id="{E4ED00BF-EC8E-418D-D55A-6A110D0AFA94}"/>
              </a:ext>
            </a:extLst>
          </p:cNvPr>
          <p:cNvSpPr/>
          <p:nvPr/>
        </p:nvSpPr>
        <p:spPr>
          <a:xfrm rot="13154954">
            <a:off x="7992552" y="406096"/>
            <a:ext cx="7623493" cy="3516429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>
              <a:defRPr/>
            </a:pPr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614680" y="538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3467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Get to Know Your Tier 2 Team</a:t>
            </a:r>
            <a:endParaRPr lang="en-US" sz="3467" dirty="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0400" y="1132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Get to know the small but mighty Tier 2 team of senior specialists who handle complex escalations.</a:t>
            </a:r>
            <a:endParaRPr lang="en-US" sz="1467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ABBB9B-5F55-09C1-220A-EEEAFF1B6F66}"/>
              </a:ext>
            </a:extLst>
          </p:cNvPr>
          <p:cNvGrpSpPr/>
          <p:nvPr/>
        </p:nvGrpSpPr>
        <p:grpSpPr>
          <a:xfrm>
            <a:off x="1778001" y="1549400"/>
            <a:ext cx="3896011" cy="4388147"/>
            <a:chOff x="0" y="-175755"/>
            <a:chExt cx="7792023" cy="877629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3FF283C-77F3-9BFB-0DA9-438670D23874}"/>
                </a:ext>
              </a:extLst>
            </p:cNvPr>
            <p:cNvGrpSpPr/>
            <p:nvPr/>
          </p:nvGrpSpPr>
          <p:grpSpPr>
            <a:xfrm>
              <a:off x="0" y="-175755"/>
              <a:ext cx="7792023" cy="8776294"/>
              <a:chOff x="0" y="-38100"/>
              <a:chExt cx="1689146" cy="1902515"/>
            </a:xfrm>
          </p:grpSpPr>
          <p:sp>
            <p:nvSpPr>
              <p:cNvPr id="28" name="Freeform 4">
                <a:extLst>
                  <a:ext uri="{FF2B5EF4-FFF2-40B4-BE49-F238E27FC236}">
                    <a16:creationId xmlns:a16="http://schemas.microsoft.com/office/drawing/2014/main" id="{8A7A44F8-A047-1BA5-81A1-C5B3A3E26B56}"/>
                  </a:ext>
                </a:extLst>
              </p:cNvPr>
              <p:cNvSpPr/>
              <p:nvPr/>
            </p:nvSpPr>
            <p:spPr>
              <a:xfrm>
                <a:off x="0" y="0"/>
                <a:ext cx="1689146" cy="1864415"/>
              </a:xfrm>
              <a:custGeom>
                <a:avLst/>
                <a:gdLst/>
                <a:ahLst/>
                <a:cxnLst/>
                <a:rect l="l" t="t" r="r" b="b"/>
                <a:pathLst>
                  <a:path w="1689146" h="1864415">
                    <a:moveTo>
                      <a:pt x="61564" y="0"/>
                    </a:moveTo>
                    <a:lnTo>
                      <a:pt x="1627582" y="0"/>
                    </a:lnTo>
                    <a:cubicBezTo>
                      <a:pt x="1661583" y="0"/>
                      <a:pt x="1689146" y="27563"/>
                      <a:pt x="1689146" y="61564"/>
                    </a:cubicBezTo>
                    <a:lnTo>
                      <a:pt x="1689146" y="1802851"/>
                    </a:lnTo>
                    <a:cubicBezTo>
                      <a:pt x="1689146" y="1819179"/>
                      <a:pt x="1682660" y="1834838"/>
                      <a:pt x="1671114" y="1846383"/>
                    </a:cubicBezTo>
                    <a:cubicBezTo>
                      <a:pt x="1659569" y="1857929"/>
                      <a:pt x="1643910" y="1864415"/>
                      <a:pt x="1627582" y="1864415"/>
                    </a:cubicBezTo>
                    <a:lnTo>
                      <a:pt x="61564" y="1864415"/>
                    </a:lnTo>
                    <a:cubicBezTo>
                      <a:pt x="27563" y="1864415"/>
                      <a:pt x="0" y="1836852"/>
                      <a:pt x="0" y="1802851"/>
                    </a:cubicBezTo>
                    <a:lnTo>
                      <a:pt x="0" y="61564"/>
                    </a:lnTo>
                    <a:cubicBezTo>
                      <a:pt x="0" y="27563"/>
                      <a:pt x="27563" y="0"/>
                      <a:pt x="61564" y="0"/>
                    </a:cubicBezTo>
                    <a:close/>
                  </a:path>
                </a:pathLst>
              </a:custGeom>
              <a:solidFill>
                <a:srgbClr val="00EB5B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9" name="TextBox 5">
                <a:extLst>
                  <a:ext uri="{FF2B5EF4-FFF2-40B4-BE49-F238E27FC236}">
                    <a16:creationId xmlns:a16="http://schemas.microsoft.com/office/drawing/2014/main" id="{43C367E8-D184-C560-C950-739B9E96F6D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89146" cy="190251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14535FA-07D4-496D-F73C-1277D047C861}"/>
                </a:ext>
              </a:extLst>
            </p:cNvPr>
            <p:cNvGrpSpPr/>
            <p:nvPr/>
          </p:nvGrpSpPr>
          <p:grpSpPr>
            <a:xfrm>
              <a:off x="235817" y="60062"/>
              <a:ext cx="7320389" cy="8304660"/>
              <a:chOff x="0" y="-38100"/>
              <a:chExt cx="1586905" cy="1800275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FB303674-555E-A09E-3ECB-03A6E3FB6738}"/>
                  </a:ext>
                </a:extLst>
              </p:cNvPr>
              <p:cNvSpPr/>
              <p:nvPr/>
            </p:nvSpPr>
            <p:spPr>
              <a:xfrm>
                <a:off x="0" y="0"/>
                <a:ext cx="1586905" cy="1762175"/>
              </a:xfrm>
              <a:custGeom>
                <a:avLst/>
                <a:gdLst/>
                <a:ahLst/>
                <a:cxnLst/>
                <a:rect l="l" t="t" r="r" b="b"/>
                <a:pathLst>
                  <a:path w="1586905" h="1762175">
                    <a:moveTo>
                      <a:pt x="65530" y="0"/>
                    </a:moveTo>
                    <a:lnTo>
                      <a:pt x="1521375" y="0"/>
                    </a:lnTo>
                    <a:cubicBezTo>
                      <a:pt x="1538755" y="0"/>
                      <a:pt x="1555423" y="6904"/>
                      <a:pt x="1567712" y="19193"/>
                    </a:cubicBezTo>
                    <a:cubicBezTo>
                      <a:pt x="1580001" y="31483"/>
                      <a:pt x="1586905" y="48151"/>
                      <a:pt x="1586905" y="65530"/>
                    </a:cubicBezTo>
                    <a:lnTo>
                      <a:pt x="1586905" y="1696645"/>
                    </a:lnTo>
                    <a:cubicBezTo>
                      <a:pt x="1586905" y="1714024"/>
                      <a:pt x="1580001" y="1730692"/>
                      <a:pt x="1567712" y="1742981"/>
                    </a:cubicBezTo>
                    <a:cubicBezTo>
                      <a:pt x="1555423" y="1755271"/>
                      <a:pt x="1538755" y="1762175"/>
                      <a:pt x="1521375" y="1762175"/>
                    </a:cubicBezTo>
                    <a:lnTo>
                      <a:pt x="65530" y="1762175"/>
                    </a:lnTo>
                    <a:cubicBezTo>
                      <a:pt x="48151" y="1762175"/>
                      <a:pt x="31483" y="1755271"/>
                      <a:pt x="19193" y="1742981"/>
                    </a:cubicBezTo>
                    <a:cubicBezTo>
                      <a:pt x="6904" y="1730692"/>
                      <a:pt x="0" y="1714024"/>
                      <a:pt x="0" y="1696645"/>
                    </a:cubicBezTo>
                    <a:lnTo>
                      <a:pt x="0" y="65530"/>
                    </a:lnTo>
                    <a:cubicBezTo>
                      <a:pt x="0" y="48151"/>
                      <a:pt x="6904" y="31483"/>
                      <a:pt x="19193" y="19193"/>
                    </a:cubicBezTo>
                    <a:cubicBezTo>
                      <a:pt x="31483" y="6904"/>
                      <a:pt x="48151" y="0"/>
                      <a:pt x="655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defTabSz="609630"/>
                <a:endParaRPr lang="en-US" sz="12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7" name="TextBox 8">
                <a:extLst>
                  <a:ext uri="{FF2B5EF4-FFF2-40B4-BE49-F238E27FC236}">
                    <a16:creationId xmlns:a16="http://schemas.microsoft.com/office/drawing/2014/main" id="{5764A4DA-77AD-B984-5161-E3A8AF223C6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86905" cy="180027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609630">
                  <a:lnSpc>
                    <a:spcPts val="1773"/>
                  </a:lnSpc>
                  <a:spcBef>
                    <a:spcPct val="0"/>
                  </a:spcBef>
                </a:pPr>
                <a:endParaRPr sz="120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6BD0763-2311-6FD8-A7CA-490C870131C6}"/>
              </a:ext>
            </a:extLst>
          </p:cNvPr>
          <p:cNvGrpSpPr/>
          <p:nvPr/>
        </p:nvGrpSpPr>
        <p:grpSpPr>
          <a:xfrm>
            <a:off x="6081600" y="1549400"/>
            <a:ext cx="3896011" cy="4388147"/>
            <a:chOff x="0" y="-38100"/>
            <a:chExt cx="1689146" cy="1902515"/>
          </a:xfrm>
        </p:grpSpPr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A1FF9D2A-BD87-F172-EB52-25ECB88C6815}"/>
                </a:ext>
              </a:extLst>
            </p:cNvPr>
            <p:cNvSpPr/>
            <p:nvPr/>
          </p:nvSpPr>
          <p:spPr>
            <a:xfrm>
              <a:off x="0" y="0"/>
              <a:ext cx="1689146" cy="1864415"/>
            </a:xfrm>
            <a:custGeom>
              <a:avLst/>
              <a:gdLst/>
              <a:ahLst/>
              <a:cxnLst/>
              <a:rect l="l" t="t" r="r" b="b"/>
              <a:pathLst>
                <a:path w="1689146" h="1864415">
                  <a:moveTo>
                    <a:pt x="67563" y="0"/>
                  </a:moveTo>
                  <a:lnTo>
                    <a:pt x="1621583" y="0"/>
                  </a:lnTo>
                  <a:cubicBezTo>
                    <a:pt x="1658897" y="0"/>
                    <a:pt x="1689146" y="30249"/>
                    <a:pt x="1689146" y="67563"/>
                  </a:cubicBezTo>
                  <a:lnTo>
                    <a:pt x="1689146" y="1796852"/>
                  </a:lnTo>
                  <a:cubicBezTo>
                    <a:pt x="1689146" y="1814771"/>
                    <a:pt x="1682028" y="1831956"/>
                    <a:pt x="1669357" y="1844626"/>
                  </a:cubicBezTo>
                  <a:cubicBezTo>
                    <a:pt x="1656687" y="1857297"/>
                    <a:pt x="1639502" y="1864415"/>
                    <a:pt x="1621583" y="1864415"/>
                  </a:cubicBezTo>
                  <a:lnTo>
                    <a:pt x="67563" y="1864415"/>
                  </a:lnTo>
                  <a:cubicBezTo>
                    <a:pt x="49644" y="1864415"/>
                    <a:pt x="32459" y="1857297"/>
                    <a:pt x="19789" y="1844626"/>
                  </a:cubicBezTo>
                  <a:cubicBezTo>
                    <a:pt x="7118" y="1831956"/>
                    <a:pt x="0" y="1814771"/>
                    <a:pt x="0" y="1796852"/>
                  </a:cubicBezTo>
                  <a:lnTo>
                    <a:pt x="0" y="67563"/>
                  </a:lnTo>
                  <a:cubicBezTo>
                    <a:pt x="0" y="49644"/>
                    <a:pt x="7118" y="32459"/>
                    <a:pt x="19789" y="19789"/>
                  </a:cubicBezTo>
                  <a:cubicBezTo>
                    <a:pt x="32459" y="7118"/>
                    <a:pt x="49644" y="0"/>
                    <a:pt x="67563" y="0"/>
                  </a:cubicBezTo>
                  <a:close/>
                </a:path>
              </a:pathLst>
            </a:custGeom>
            <a:solidFill>
              <a:srgbClr val="00EB5B"/>
            </a:solidFill>
            <a:ln w="38100" cap="rnd">
              <a:solidFill>
                <a:srgbClr val="002B11"/>
              </a:solidFill>
              <a:prstDash val="solid"/>
              <a:round/>
            </a:ln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TextBox 13">
              <a:extLst>
                <a:ext uri="{FF2B5EF4-FFF2-40B4-BE49-F238E27FC236}">
                  <a16:creationId xmlns:a16="http://schemas.microsoft.com/office/drawing/2014/main" id="{BB0FE452-65B6-EBC7-F402-A1430E69B982}"/>
                </a:ext>
              </a:extLst>
            </p:cNvPr>
            <p:cNvSpPr txBox="1"/>
            <p:nvPr/>
          </p:nvSpPr>
          <p:spPr>
            <a:xfrm>
              <a:off x="0" y="-38100"/>
              <a:ext cx="1689146" cy="190251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B2798D3-AD6B-360E-2DBB-F7EAE241EB77}"/>
              </a:ext>
            </a:extLst>
          </p:cNvPr>
          <p:cNvGrpSpPr/>
          <p:nvPr/>
        </p:nvGrpSpPr>
        <p:grpSpPr>
          <a:xfrm>
            <a:off x="6199508" y="1667309"/>
            <a:ext cx="3660195" cy="4152330"/>
            <a:chOff x="0" y="-38100"/>
            <a:chExt cx="1586905" cy="1800275"/>
          </a:xfrm>
        </p:grpSpPr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AE71CFBC-99F0-9A2F-B015-061E6AE9511F}"/>
                </a:ext>
              </a:extLst>
            </p:cNvPr>
            <p:cNvSpPr/>
            <p:nvPr/>
          </p:nvSpPr>
          <p:spPr>
            <a:xfrm>
              <a:off x="0" y="0"/>
              <a:ext cx="1586905" cy="1762175"/>
            </a:xfrm>
            <a:custGeom>
              <a:avLst/>
              <a:gdLst/>
              <a:ahLst/>
              <a:cxnLst/>
              <a:rect l="l" t="t" r="r" b="b"/>
              <a:pathLst>
                <a:path w="1586905" h="1762175">
                  <a:moveTo>
                    <a:pt x="71916" y="0"/>
                  </a:moveTo>
                  <a:lnTo>
                    <a:pt x="1514990" y="0"/>
                  </a:lnTo>
                  <a:cubicBezTo>
                    <a:pt x="1534063" y="0"/>
                    <a:pt x="1552355" y="7577"/>
                    <a:pt x="1565842" y="21064"/>
                  </a:cubicBezTo>
                  <a:cubicBezTo>
                    <a:pt x="1579329" y="34550"/>
                    <a:pt x="1586905" y="52842"/>
                    <a:pt x="1586905" y="71916"/>
                  </a:cubicBezTo>
                  <a:lnTo>
                    <a:pt x="1586905" y="1690259"/>
                  </a:lnTo>
                  <a:cubicBezTo>
                    <a:pt x="1586905" y="1729977"/>
                    <a:pt x="1554708" y="1762175"/>
                    <a:pt x="1514990" y="1762175"/>
                  </a:cubicBezTo>
                  <a:lnTo>
                    <a:pt x="71916" y="1762175"/>
                  </a:lnTo>
                  <a:cubicBezTo>
                    <a:pt x="32198" y="1762175"/>
                    <a:pt x="0" y="1729977"/>
                    <a:pt x="0" y="1690259"/>
                  </a:cubicBezTo>
                  <a:lnTo>
                    <a:pt x="0" y="71916"/>
                  </a:lnTo>
                  <a:cubicBezTo>
                    <a:pt x="0" y="32198"/>
                    <a:pt x="32198" y="0"/>
                    <a:pt x="7191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" name="TextBox 16">
              <a:extLst>
                <a:ext uri="{FF2B5EF4-FFF2-40B4-BE49-F238E27FC236}">
                  <a16:creationId xmlns:a16="http://schemas.microsoft.com/office/drawing/2014/main" id="{61831A0B-51A7-AFBD-D480-424230F002E2}"/>
                </a:ext>
              </a:extLst>
            </p:cNvPr>
            <p:cNvSpPr txBox="1"/>
            <p:nvPr/>
          </p:nvSpPr>
          <p:spPr>
            <a:xfrm>
              <a:off x="0" y="-38100"/>
              <a:ext cx="1586905" cy="18002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40" name="TextBox 19">
            <a:extLst>
              <a:ext uri="{FF2B5EF4-FFF2-40B4-BE49-F238E27FC236}">
                <a16:creationId xmlns:a16="http://schemas.microsoft.com/office/drawing/2014/main" id="{0F03FF29-8007-E366-E638-4D4C42991792}"/>
              </a:ext>
            </a:extLst>
          </p:cNvPr>
          <p:cNvSpPr txBox="1"/>
          <p:nvPr/>
        </p:nvSpPr>
        <p:spPr>
          <a:xfrm>
            <a:off x="2170188" y="4354567"/>
            <a:ext cx="2503412" cy="29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lnSpc>
                <a:spcPts val="2381"/>
              </a:lnSpc>
            </a:pPr>
            <a:r>
              <a:rPr lang="en-US" sz="1701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Jacob (Jake) Nicoletti</a:t>
            </a: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4926CBF1-3FC8-DB35-2474-9768979BD238}"/>
              </a:ext>
            </a:extLst>
          </p:cNvPr>
          <p:cNvSpPr txBox="1"/>
          <p:nvPr/>
        </p:nvSpPr>
        <p:spPr>
          <a:xfrm>
            <a:off x="2181761" y="4648653"/>
            <a:ext cx="816484" cy="230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lnSpc>
                <a:spcPts val="1871"/>
              </a:lnSpc>
            </a:pPr>
            <a:r>
              <a:rPr lang="en-US" sz="13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MANAGER</a:t>
            </a:r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155C1CDC-60B6-0248-CFF5-E1E3743CB863}"/>
              </a:ext>
            </a:extLst>
          </p:cNvPr>
          <p:cNvSpPr txBox="1"/>
          <p:nvPr/>
        </p:nvSpPr>
        <p:spPr>
          <a:xfrm>
            <a:off x="2170189" y="4990809"/>
            <a:ext cx="3180211" cy="718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lnSpc>
                <a:spcPts val="1871"/>
              </a:lnSpc>
            </a:pPr>
            <a:r>
              <a:rPr lang="en-US" sz="1336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Joined Nov 2025. A former federal agent and cyber-ops manager now protecting your vacations.</a:t>
            </a: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AF95339A-C9D9-E401-9FF4-95C9F315F3F5}"/>
              </a:ext>
            </a:extLst>
          </p:cNvPr>
          <p:cNvSpPr txBox="1"/>
          <p:nvPr/>
        </p:nvSpPr>
        <p:spPr>
          <a:xfrm>
            <a:off x="6415787" y="4225728"/>
            <a:ext cx="2135213" cy="2919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lnSpc>
                <a:spcPts val="2381"/>
              </a:lnSpc>
            </a:pPr>
            <a:r>
              <a:rPr lang="en-US" sz="1701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Marina Lomboni</a:t>
            </a:r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1EA656FC-B2B6-BB71-3228-409FBD7B055D}"/>
              </a:ext>
            </a:extLst>
          </p:cNvPr>
          <p:cNvSpPr txBox="1"/>
          <p:nvPr/>
        </p:nvSpPr>
        <p:spPr>
          <a:xfrm>
            <a:off x="6415788" y="4547009"/>
            <a:ext cx="1162389" cy="47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09630">
              <a:lnSpc>
                <a:spcPts val="1871"/>
              </a:lnSpc>
            </a:pPr>
            <a:r>
              <a:rPr lang="en-US" sz="13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SR. SPECIALIST</a:t>
            </a:r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6DFF8FD4-B76E-887C-D84E-CE8FEF54696B}"/>
              </a:ext>
            </a:extLst>
          </p:cNvPr>
          <p:cNvSpPr txBox="1"/>
          <p:nvPr/>
        </p:nvSpPr>
        <p:spPr>
          <a:xfrm>
            <a:off x="6404215" y="4872901"/>
            <a:ext cx="3147317" cy="718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630">
              <a:lnSpc>
                <a:spcPts val="1871"/>
              </a:lnSpc>
            </a:pPr>
            <a:r>
              <a:rPr lang="en-US" sz="13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 of the team since 2011, born in Italy and based in London.</a:t>
            </a:r>
          </a:p>
          <a:p>
            <a:pPr defTabSz="609630">
              <a:lnSpc>
                <a:spcPts val="1871"/>
              </a:lnSpc>
            </a:pPr>
            <a:endParaRPr lang="en-US" sz="1336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" name="Picture 45" descr="ollie_green.png">
            <a:extLst>
              <a:ext uri="{FF2B5EF4-FFF2-40B4-BE49-F238E27FC236}">
                <a16:creationId xmlns:a16="http://schemas.microsoft.com/office/drawing/2014/main" id="{D9314F31-7737-8164-71A1-BAE0F57EA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2373" y="5489495"/>
            <a:ext cx="377867" cy="240850"/>
          </a:xfrm>
          <a:prstGeom prst="rect">
            <a:avLst/>
          </a:prstGeom>
        </p:spPr>
      </p:pic>
      <p:pic>
        <p:nvPicPr>
          <p:cNvPr id="47" name="Picture 46" descr="ollie_green.png">
            <a:extLst>
              <a:ext uri="{FF2B5EF4-FFF2-40B4-BE49-F238E27FC236}">
                <a16:creationId xmlns:a16="http://schemas.microsoft.com/office/drawing/2014/main" id="{A1D3CCF6-E2F4-6FF4-4F83-C76C1C089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619" y="5489494"/>
            <a:ext cx="377867" cy="2408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AAE9D1E-482D-E217-F87E-340F4362D38C}"/>
              </a:ext>
            </a:extLst>
          </p:cNvPr>
          <p:cNvGrpSpPr/>
          <p:nvPr/>
        </p:nvGrpSpPr>
        <p:grpSpPr>
          <a:xfrm>
            <a:off x="2693729" y="1999520"/>
            <a:ext cx="6438465" cy="2135213"/>
            <a:chOff x="4037139" y="3022140"/>
            <a:chExt cx="9657698" cy="320281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1943F61-AE6D-B96C-F2DB-41BE1405D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7139" y="3102800"/>
              <a:ext cx="3122159" cy="3122159"/>
            </a:xfrm>
            <a:prstGeom prst="roundRect">
              <a:avLst/>
            </a:prstGeom>
            <a:ln>
              <a:solidFill>
                <a:srgbClr val="002B1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D96098D-0D04-84D6-FC8A-286162F1D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92018" y="3022140"/>
              <a:ext cx="3202819" cy="3202819"/>
            </a:xfrm>
            <a:prstGeom prst="roundRect">
              <a:avLst/>
            </a:prstGeom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D84ABF4-CAC2-A255-5619-AA441BD2B8ED}"/>
              </a:ext>
            </a:extLst>
          </p:cNvPr>
          <p:cNvSpPr txBox="1"/>
          <p:nvPr/>
        </p:nvSpPr>
        <p:spPr>
          <a:xfrm>
            <a:off x="355600" y="6578600"/>
            <a:ext cx="4876800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04815">
              <a:defRPr/>
            </a:pP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ripadvisor</a:t>
            </a: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F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raud Support</a:t>
            </a: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Tier 2 Team</a:t>
            </a:r>
            <a:endParaRPr sz="1067" spc="33" dirty="0">
              <a:solidFill>
                <a:srgbClr val="8A827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>
            <a:extLst>
              <a:ext uri="{FF2B5EF4-FFF2-40B4-BE49-F238E27FC236}">
                <a16:creationId xmlns:a16="http://schemas.microsoft.com/office/drawing/2014/main" id="{4B3FC336-CC45-64C6-14AB-BF1215035F51}"/>
              </a:ext>
            </a:extLst>
          </p:cNvPr>
          <p:cNvSpPr/>
          <p:nvPr/>
        </p:nvSpPr>
        <p:spPr>
          <a:xfrm rot="15278600">
            <a:off x="11155889" y="-1970932"/>
            <a:ext cx="3394537" cy="4969586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25AEAC2-F016-D737-B538-3635D66A3C3E}"/>
              </a:ext>
            </a:extLst>
          </p:cNvPr>
          <p:cNvGrpSpPr/>
          <p:nvPr/>
        </p:nvGrpSpPr>
        <p:grpSpPr>
          <a:xfrm>
            <a:off x="711200" y="4241800"/>
            <a:ext cx="2503661" cy="2220573"/>
            <a:chOff x="838200" y="6860136"/>
            <a:chExt cx="3215640" cy="2703461"/>
          </a:xfrm>
        </p:grpSpPr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137BBD38-0525-EED4-48B5-831AFD4D5194}"/>
                </a:ext>
              </a:extLst>
            </p:cNvPr>
            <p:cNvSpPr/>
            <p:nvPr/>
          </p:nvSpPr>
          <p:spPr>
            <a:xfrm>
              <a:off x="838200" y="6860136"/>
              <a:ext cx="3131820" cy="2627261"/>
            </a:xfrm>
            <a:prstGeom prst="roundRect">
              <a:avLst/>
            </a:prstGeom>
            <a:solidFill>
              <a:srgbClr val="00EB5B"/>
            </a:solidFill>
            <a:ln w="3810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ctr" defTabSz="609630"/>
              <a:endParaRPr lang="en-US" sz="2400" b="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0BDD1C7-46F0-335E-3796-4D6CAA1DCF8B}"/>
                </a:ext>
              </a:extLst>
            </p:cNvPr>
            <p:cNvSpPr/>
            <p:nvPr/>
          </p:nvSpPr>
          <p:spPr>
            <a:xfrm>
              <a:off x="922020" y="6936336"/>
              <a:ext cx="3131820" cy="2627261"/>
            </a:xfrm>
            <a:prstGeom prst="roundRect">
              <a:avLst/>
            </a:prstGeom>
            <a:solidFill>
              <a:srgbClr val="FFFFFF"/>
            </a:solidFill>
            <a:ln w="3810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ctr" defTabSz="609630"/>
              <a:endParaRPr lang="en-US" sz="2133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 defTabSz="609630"/>
              <a:endParaRPr lang="en-US" sz="2133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 defTabSz="609630"/>
              <a:endParaRPr lang="en-US" sz="2133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 defTabSz="609630"/>
              <a:endParaRPr lang="en-US" sz="2133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 defTabSz="609630"/>
              <a:r>
                <a:rPr lang="en-US" sz="2000" b="1" dirty="0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Start with your ‘Name’</a:t>
              </a:r>
            </a:p>
          </p:txBody>
        </p:sp>
      </p:grpSp>
      <p:sp>
        <p:nvSpPr>
          <p:cNvPr id="9" name="Text 2">
            <a:extLst>
              <a:ext uri="{FF2B5EF4-FFF2-40B4-BE49-F238E27FC236}">
                <a16:creationId xmlns:a16="http://schemas.microsoft.com/office/drawing/2014/main" id="{49D79E72-4561-5DEC-8E9B-9BE1A3C101B5}"/>
              </a:ext>
            </a:extLst>
          </p:cNvPr>
          <p:cNvSpPr/>
          <p:nvPr/>
        </p:nvSpPr>
        <p:spPr>
          <a:xfrm>
            <a:off x="614680" y="452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3467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Introduction - Get to know each other</a:t>
            </a:r>
            <a:endParaRPr lang="en-US" sz="3467" dirty="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55F99F-3236-7B03-A70B-BA5BF1CBCBB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109133"/>
            <a:ext cx="5080000" cy="3386667"/>
          </a:xfrm>
          <a:prstGeom prst="rect">
            <a:avLst/>
          </a:prstGeom>
        </p:spPr>
      </p:pic>
      <p:sp>
        <p:nvSpPr>
          <p:cNvPr id="12" name="Arrow: Notched Right 11">
            <a:extLst>
              <a:ext uri="{FF2B5EF4-FFF2-40B4-BE49-F238E27FC236}">
                <a16:creationId xmlns:a16="http://schemas.microsoft.com/office/drawing/2014/main" id="{89677643-419D-E79D-5DE1-B7E38F9594AC}"/>
              </a:ext>
            </a:extLst>
          </p:cNvPr>
          <p:cNvSpPr/>
          <p:nvPr/>
        </p:nvSpPr>
        <p:spPr>
          <a:xfrm>
            <a:off x="5887720" y="2593725"/>
            <a:ext cx="721361" cy="417483"/>
          </a:xfrm>
          <a:prstGeom prst="notchedRightArrow">
            <a:avLst/>
          </a:prstGeom>
          <a:solidFill>
            <a:srgbClr val="99BCE4"/>
          </a:solidFill>
          <a:ln w="38100">
            <a:solidFill>
              <a:srgbClr val="002B1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5DDE38A-41FA-7E25-1D01-52A41BC0B7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270000" y="4264275"/>
            <a:ext cx="1467424" cy="145867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5E0528-514E-DF0B-B975-9FAB91DBAC31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800" y="1134533"/>
            <a:ext cx="4775200" cy="3183467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4C4D5807-CD34-B080-ACEE-66756031BA69}"/>
              </a:ext>
            </a:extLst>
          </p:cNvPr>
          <p:cNvGrpSpPr/>
          <p:nvPr/>
        </p:nvGrpSpPr>
        <p:grpSpPr>
          <a:xfrm>
            <a:off x="3513448" y="4253694"/>
            <a:ext cx="2503661" cy="2220573"/>
            <a:chOff x="838200" y="6860136"/>
            <a:chExt cx="3215640" cy="2703460"/>
          </a:xfrm>
        </p:grpSpPr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D40D4520-A51F-8C94-479A-7B12C76E96AE}"/>
                </a:ext>
              </a:extLst>
            </p:cNvPr>
            <p:cNvSpPr/>
            <p:nvPr/>
          </p:nvSpPr>
          <p:spPr>
            <a:xfrm>
              <a:off x="838200" y="6860136"/>
              <a:ext cx="3131820" cy="2627261"/>
            </a:xfrm>
            <a:prstGeom prst="roundRect">
              <a:avLst/>
            </a:prstGeom>
            <a:solidFill>
              <a:srgbClr val="5FEAFF"/>
            </a:solidFill>
            <a:ln w="3810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ctr" defTabSz="609630"/>
              <a:endParaRPr lang="en-US" sz="2400" b="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5AB384D-5A22-F3BA-5CF9-15049511E3C7}"/>
                </a:ext>
              </a:extLst>
            </p:cNvPr>
            <p:cNvSpPr/>
            <p:nvPr/>
          </p:nvSpPr>
          <p:spPr>
            <a:xfrm>
              <a:off x="922020" y="6936336"/>
              <a:ext cx="3131820" cy="2627260"/>
            </a:xfrm>
            <a:prstGeom prst="roundRect">
              <a:avLst/>
            </a:prstGeom>
            <a:solidFill>
              <a:srgbClr val="FFFFFF"/>
            </a:solidFill>
            <a:ln w="3810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ctr" defTabSz="609630"/>
              <a:endParaRPr lang="en-US" sz="2133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 defTabSz="609630"/>
              <a:endParaRPr lang="en-US" sz="2133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 defTabSz="609630"/>
              <a:endParaRPr lang="en-US" sz="2133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 defTabSz="609630"/>
              <a:endParaRPr lang="en-US" sz="2133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 defTabSz="609630"/>
              <a:r>
                <a:rPr lang="en-US" sz="2000" b="1" dirty="0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One Weird / Funny Talent</a:t>
              </a:r>
            </a:p>
            <a:p>
              <a:pPr algn="ctr" defTabSz="609630"/>
              <a:endParaRPr lang="en-US" sz="2133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FB92FF8-7F8A-205B-317E-8E2FD4C9CE90}"/>
              </a:ext>
            </a:extLst>
          </p:cNvPr>
          <p:cNvGrpSpPr/>
          <p:nvPr/>
        </p:nvGrpSpPr>
        <p:grpSpPr>
          <a:xfrm>
            <a:off x="6274441" y="4264275"/>
            <a:ext cx="2502419" cy="2220573"/>
            <a:chOff x="838200" y="6860136"/>
            <a:chExt cx="3276387" cy="2703461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68B33828-1CC8-A02D-E8DB-CA2A51E383CC}"/>
                </a:ext>
              </a:extLst>
            </p:cNvPr>
            <p:cNvSpPr/>
            <p:nvPr/>
          </p:nvSpPr>
          <p:spPr>
            <a:xfrm>
              <a:off x="838200" y="6860136"/>
              <a:ext cx="3192568" cy="2627261"/>
            </a:xfrm>
            <a:prstGeom prst="roundRect">
              <a:avLst/>
            </a:prstGeom>
            <a:solidFill>
              <a:srgbClr val="D953FF"/>
            </a:solidFill>
            <a:ln w="3810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ctr" defTabSz="609630"/>
              <a:endParaRPr lang="en-US" sz="2400" b="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95C0082D-24C5-CAE3-2A30-8652DFE9E5A2}"/>
                </a:ext>
              </a:extLst>
            </p:cNvPr>
            <p:cNvSpPr/>
            <p:nvPr/>
          </p:nvSpPr>
          <p:spPr>
            <a:xfrm>
              <a:off x="922019" y="6936336"/>
              <a:ext cx="3192568" cy="2627261"/>
            </a:xfrm>
            <a:prstGeom prst="roundRect">
              <a:avLst/>
            </a:prstGeom>
            <a:solidFill>
              <a:srgbClr val="FFFFFF"/>
            </a:solidFill>
            <a:ln w="3810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ctr" defTabSz="609630"/>
              <a:endParaRPr lang="en-US" sz="2133" b="1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609630"/>
              <a:endParaRPr lang="en-US" sz="2133" b="1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609630"/>
              <a:endParaRPr lang="en-US" sz="2133" b="1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609630"/>
              <a:br>
                <a:rPr lang="en-US" sz="2000" b="1" dirty="0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n-US" sz="2000" b="1" dirty="0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What you’re excited to learn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1D5EB0D-5876-D968-D163-7CE97DA66557}"/>
              </a:ext>
            </a:extLst>
          </p:cNvPr>
          <p:cNvGrpSpPr/>
          <p:nvPr/>
        </p:nvGrpSpPr>
        <p:grpSpPr>
          <a:xfrm>
            <a:off x="9093200" y="4257682"/>
            <a:ext cx="2503661" cy="2220573"/>
            <a:chOff x="838200" y="6860136"/>
            <a:chExt cx="3215640" cy="2703461"/>
          </a:xfrm>
        </p:grpSpPr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7C500548-3C0F-2DB2-51A7-C6E46140A5F4}"/>
                </a:ext>
              </a:extLst>
            </p:cNvPr>
            <p:cNvSpPr/>
            <p:nvPr/>
          </p:nvSpPr>
          <p:spPr>
            <a:xfrm>
              <a:off x="838200" y="6860136"/>
              <a:ext cx="3131820" cy="2627261"/>
            </a:xfrm>
            <a:prstGeom prst="roundRect">
              <a:avLst/>
            </a:prstGeom>
            <a:solidFill>
              <a:srgbClr val="FFED0E"/>
            </a:solidFill>
            <a:ln w="3810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ctr" defTabSz="609630"/>
              <a:endParaRPr lang="en-US" sz="2400" b="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467FAAE5-4A26-3860-361E-47C4AFB49271}"/>
                </a:ext>
              </a:extLst>
            </p:cNvPr>
            <p:cNvSpPr/>
            <p:nvPr/>
          </p:nvSpPr>
          <p:spPr>
            <a:xfrm>
              <a:off x="922020" y="6936336"/>
              <a:ext cx="3131820" cy="2627261"/>
            </a:xfrm>
            <a:prstGeom prst="roundRect">
              <a:avLst/>
            </a:prstGeom>
            <a:solidFill>
              <a:srgbClr val="FFFFFF"/>
            </a:solidFill>
            <a:ln w="3810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ctr" defTabSz="609630"/>
              <a:endParaRPr lang="en-US" sz="2000" b="1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609630"/>
              <a:endParaRPr lang="en-US" sz="2000" b="1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609630"/>
              <a:br>
                <a:rPr lang="en-US" sz="2400" b="1" dirty="0">
                  <a:solidFill>
                    <a:prstClr val="black"/>
                  </a:solidFill>
                  <a:latin typeface="Calibri" panose="020F0502020204030204"/>
                </a:rPr>
              </a:br>
              <a:endParaRPr lang="en-US" sz="2000" b="1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609630"/>
              <a:r>
                <a:rPr lang="en-US" sz="2000" b="1" dirty="0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Current mood in one word</a:t>
              </a: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704CD5CC-A1C3-7EBC-806D-D53939F2C96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4172893" y="4394203"/>
            <a:ext cx="1262707" cy="126270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31CF79E-23A6-1116-DFD1-A6E9B63097C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056357" y="4428165"/>
            <a:ext cx="1056813" cy="105681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5682317-5E96-45CC-B58C-960240BE325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7006445" y="4394203"/>
            <a:ext cx="1240709" cy="126270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B5B5B4A1-A760-4A36-57F6-51A5DA19A6AE}"/>
              </a:ext>
            </a:extLst>
          </p:cNvPr>
          <p:cNvSpPr txBox="1"/>
          <p:nvPr/>
        </p:nvSpPr>
        <p:spPr>
          <a:xfrm>
            <a:off x="355600" y="6578600"/>
            <a:ext cx="4876800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04815">
              <a:defRPr/>
            </a:pP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ripadvisor</a:t>
            </a: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F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raud Support</a:t>
            </a: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Team Introduction</a:t>
            </a:r>
            <a:endParaRPr sz="1067" spc="33" dirty="0">
              <a:solidFill>
                <a:srgbClr val="8A827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0A9A4EA8-301D-4971-F2E3-079C016930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9753600" y="4394201"/>
            <a:ext cx="1262708" cy="126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84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3A6A4-2CF2-CC42-0A0B-C94159DA4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4D9BFC-7049-DA29-EA9B-756F3263B66D}"/>
              </a:ext>
            </a:extLst>
          </p:cNvPr>
          <p:cNvSpPr txBox="1"/>
          <p:nvPr/>
        </p:nvSpPr>
        <p:spPr>
          <a:xfrm>
            <a:off x="609600" y="434261"/>
            <a:ext cx="4775200" cy="810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/>
            <a:r>
              <a:rPr lang="en-US" sz="4667" dirty="0">
                <a:solidFill>
                  <a:prstClr val="black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Icebreaker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7035FA-732D-67C6-2B42-34EE08ACD519}"/>
              </a:ext>
            </a:extLst>
          </p:cNvPr>
          <p:cNvSpPr txBox="1"/>
          <p:nvPr/>
        </p:nvSpPr>
        <p:spPr>
          <a:xfrm>
            <a:off x="101600" y="6202492"/>
            <a:ext cx="11988800" cy="556252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609630"/>
            <a:r>
              <a:rPr lang="en-US" sz="2667" dirty="0">
                <a:solidFill>
                  <a:sysClr val="windowText" lastClr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Ready to switch on your </a:t>
            </a:r>
            <a:r>
              <a:rPr lang="en-US" sz="2667" b="1" dirty="0">
                <a:solidFill>
                  <a:sysClr val="windowText" lastClr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detective mode</a:t>
            </a:r>
            <a:r>
              <a:rPr lang="en-US" sz="2667" dirty="0">
                <a:solidFill>
                  <a:sysClr val="windowText" lastClr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?</a:t>
            </a:r>
            <a:endParaRPr lang="en-US" sz="2667" b="1" dirty="0">
              <a:solidFill>
                <a:sysClr val="windowText" lastClr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3D5AFD-4618-DF08-445A-FCC902106E76}"/>
              </a:ext>
            </a:extLst>
          </p:cNvPr>
          <p:cNvSpPr txBox="1"/>
          <p:nvPr/>
        </p:nvSpPr>
        <p:spPr>
          <a:xfrm>
            <a:off x="591573" y="1041400"/>
            <a:ext cx="11092427" cy="73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30">
              <a:lnSpc>
                <a:spcPct val="150000"/>
              </a:lnSpc>
            </a:pPr>
            <a:r>
              <a:rPr lang="en-US" sz="1467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Before we dive into today’s session, let’s warm up with a quick challenge! </a:t>
            </a:r>
            <a:r>
              <a:rPr lang="en-US" sz="1467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Detective Ollie</a:t>
            </a:r>
            <a:r>
              <a:rPr lang="en-US" sz="1467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has a mystery to solve and he needs your help.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DCE136-8D8E-D4B9-9A96-E3FBC6DCB677}"/>
              </a:ext>
            </a:extLst>
          </p:cNvPr>
          <p:cNvGrpSpPr/>
          <p:nvPr/>
        </p:nvGrpSpPr>
        <p:grpSpPr>
          <a:xfrm>
            <a:off x="8405172" y="3685205"/>
            <a:ext cx="2198292" cy="746501"/>
            <a:chOff x="12323562" y="7844106"/>
            <a:chExt cx="3297438" cy="111975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033B6E3-C350-3C74-4A63-B4F073FEE1A4}"/>
                </a:ext>
              </a:extLst>
            </p:cNvPr>
            <p:cNvSpPr/>
            <p:nvPr/>
          </p:nvSpPr>
          <p:spPr>
            <a:xfrm>
              <a:off x="12323562" y="7844106"/>
              <a:ext cx="3200400" cy="1077158"/>
            </a:xfrm>
            <a:prstGeom prst="roundRect">
              <a:avLst/>
            </a:prstGeom>
            <a:solidFill>
              <a:srgbClr val="002B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US" sz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97B8C65-E0A4-EA6B-9093-C08CB4892556}"/>
                </a:ext>
              </a:extLst>
            </p:cNvPr>
            <p:cNvSpPr/>
            <p:nvPr/>
          </p:nvSpPr>
          <p:spPr>
            <a:xfrm>
              <a:off x="12420600" y="7886700"/>
              <a:ext cx="3200400" cy="107715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/>
              <a:endParaRPr lang="en-US" sz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866C450-C472-8433-B774-585D84A94FCF}"/>
                </a:ext>
              </a:extLst>
            </p:cNvPr>
            <p:cNvSpPr txBox="1"/>
            <p:nvPr/>
          </p:nvSpPr>
          <p:spPr>
            <a:xfrm>
              <a:off x="13411200" y="8071337"/>
              <a:ext cx="2112762" cy="754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en-US" sz="2667" b="1" dirty="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Unlock</a:t>
              </a:r>
              <a:endParaRPr lang="en-US" sz="2667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17" name="Graphic 16" descr="Lock with solid fill">
              <a:extLst>
                <a:ext uri="{FF2B5EF4-FFF2-40B4-BE49-F238E27FC236}">
                  <a16:creationId xmlns:a16="http://schemas.microsoft.com/office/drawing/2014/main" id="{A5D03603-7D59-EF8A-FF5E-5870978338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703314" y="8028742"/>
              <a:ext cx="707886" cy="707886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8D2A85F-EA6B-B461-ED2C-3049DA62F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1854201"/>
            <a:ext cx="6197600" cy="432221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06120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BCBCA-41C1-1577-012F-49B63D2D9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 4">
            <a:extLst>
              <a:ext uri="{FF2B5EF4-FFF2-40B4-BE49-F238E27FC236}">
                <a16:creationId xmlns:a16="http://schemas.microsoft.com/office/drawing/2014/main" id="{4289FD9A-0623-FFC9-5AD8-E39B36B73A66}"/>
              </a:ext>
            </a:extLst>
          </p:cNvPr>
          <p:cNvSpPr/>
          <p:nvPr/>
        </p:nvSpPr>
        <p:spPr>
          <a:xfrm rot="19675944">
            <a:off x="7463882" y="3905986"/>
            <a:ext cx="7623493" cy="3516429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>
              <a:defRPr/>
            </a:pPr>
            <a:endParaRPr lang="en-US" sz="120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D82CE56-B4EF-A526-7063-A20E48C20973}"/>
              </a:ext>
            </a:extLst>
          </p:cNvPr>
          <p:cNvSpPr/>
          <p:nvPr/>
        </p:nvSpPr>
        <p:spPr>
          <a:xfrm>
            <a:off x="614680" y="127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3467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CMI vs. FS</a:t>
            </a:r>
            <a:endParaRPr lang="en-US" sz="3467" dirty="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0D6EA-4280-CFEA-08A1-6B87A8802E59}"/>
              </a:ext>
            </a:extLst>
          </p:cNvPr>
          <p:cNvSpPr txBox="1"/>
          <p:nvPr/>
        </p:nvSpPr>
        <p:spPr>
          <a:xfrm>
            <a:off x="355600" y="6578600"/>
            <a:ext cx="4876800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04815">
              <a:defRPr/>
            </a:pP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ripadvisor</a:t>
            </a: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F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raud Support</a:t>
            </a: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CMI vs. FS</a:t>
            </a:r>
            <a:endParaRPr sz="1067" spc="33" dirty="0">
              <a:solidFill>
                <a:srgbClr val="8A827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693D19C-981A-156D-E06D-7EF1D6A25875}"/>
              </a:ext>
            </a:extLst>
          </p:cNvPr>
          <p:cNvGraphicFramePr/>
          <p:nvPr/>
        </p:nvGraphicFramePr>
        <p:xfrm>
          <a:off x="1930400" y="1620520"/>
          <a:ext cx="4876800" cy="4921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EEDB8EB-D521-B08A-77A8-2632E8F1A84F}"/>
              </a:ext>
            </a:extLst>
          </p:cNvPr>
          <p:cNvGraphicFramePr/>
          <p:nvPr/>
        </p:nvGraphicFramePr>
        <p:xfrm>
          <a:off x="6959600" y="1620520"/>
          <a:ext cx="4876800" cy="4921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1410243-B546-804E-5A18-611B5F5F4C20}"/>
              </a:ext>
            </a:extLst>
          </p:cNvPr>
          <p:cNvSpPr txBox="1"/>
          <p:nvPr/>
        </p:nvSpPr>
        <p:spPr>
          <a:xfrm>
            <a:off x="101601" y="1955800"/>
            <a:ext cx="1676399" cy="32909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609630"/>
            <a:r>
              <a:rPr lang="en-US" sz="1333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Primary Focus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1B9EE69C-9F49-79CB-1A0B-1D77343587BD}"/>
              </a:ext>
            </a:extLst>
          </p:cNvPr>
          <p:cNvSpPr/>
          <p:nvPr/>
        </p:nvSpPr>
        <p:spPr>
          <a:xfrm>
            <a:off x="2235200" y="919480"/>
            <a:ext cx="4368800" cy="57912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9050">
            <a:solidFill>
              <a:srgbClr val="1FA2B0"/>
            </a:solidFill>
            <a:prstDash val="solid"/>
          </a:ln>
        </p:spPr>
        <p:txBody>
          <a:bodyPr/>
          <a:lstStyle/>
          <a:p>
            <a:pPr defTabSz="609630">
              <a:lnSpc>
                <a:spcPct val="150000"/>
              </a:lnSpc>
            </a:pPr>
            <a:r>
              <a:rPr lang="en-US" sz="1333" b="1" dirty="0">
                <a:solidFill>
                  <a:srgbClr val="1FA2B0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CMI:  </a:t>
            </a:r>
            <a:r>
              <a:rPr lang="en-US" sz="1333" i="1" dirty="0">
                <a:solidFill>
                  <a:srgbClr val="0B3D2E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“Does this content violate policy?”</a:t>
            </a:r>
            <a:endParaRPr lang="en-US" sz="1333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E922241B-65A2-AD4E-809D-67DBA949CFCC}"/>
              </a:ext>
            </a:extLst>
          </p:cNvPr>
          <p:cNvSpPr/>
          <p:nvPr/>
        </p:nvSpPr>
        <p:spPr>
          <a:xfrm>
            <a:off x="7264400" y="910339"/>
            <a:ext cx="4368800" cy="57912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9050">
            <a:solidFill>
              <a:srgbClr val="D9376E"/>
            </a:solidFill>
            <a:prstDash val="solid"/>
          </a:ln>
        </p:spPr>
        <p:txBody>
          <a:bodyPr/>
          <a:lstStyle/>
          <a:p>
            <a:pPr defTabSz="609630"/>
            <a:r>
              <a:rPr lang="en-US" sz="1333" b="1" dirty="0">
                <a:solidFill>
                  <a:srgbClr val="D9376E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FS:  </a:t>
            </a:r>
            <a:r>
              <a:rPr lang="en-US" sz="1333" i="1" dirty="0">
                <a:solidFill>
                  <a:srgbClr val="0B3D2E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“Is there evidence someone is trying to manipulate the platform?”</a:t>
            </a:r>
            <a:endParaRPr lang="en-US" sz="1333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1B265D-78D2-D37D-7975-3E40251242BB}"/>
              </a:ext>
            </a:extLst>
          </p:cNvPr>
          <p:cNvSpPr txBox="1"/>
          <p:nvPr/>
        </p:nvSpPr>
        <p:spPr>
          <a:xfrm>
            <a:off x="101600" y="2907143"/>
            <a:ext cx="1676399" cy="32909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609630"/>
            <a:r>
              <a:rPr lang="en-US" sz="1333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Scope of Work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6D0576-38E0-29D2-FBCD-BCC382BD8E15}"/>
              </a:ext>
            </a:extLst>
          </p:cNvPr>
          <p:cNvSpPr txBox="1"/>
          <p:nvPr/>
        </p:nvSpPr>
        <p:spPr>
          <a:xfrm>
            <a:off x="101601" y="3858487"/>
            <a:ext cx="1676399" cy="32909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609630"/>
            <a:r>
              <a:rPr lang="en-US" sz="1333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Decision Making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3BEF5F-01BB-9F3F-415B-E831B3DC0772}"/>
              </a:ext>
            </a:extLst>
          </p:cNvPr>
          <p:cNvSpPr txBox="1"/>
          <p:nvPr/>
        </p:nvSpPr>
        <p:spPr>
          <a:xfrm>
            <a:off x="101601" y="4809830"/>
            <a:ext cx="1676399" cy="32909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609630"/>
            <a:r>
              <a:rPr lang="en-US" sz="1333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Approach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719D87-5D93-994B-5E9D-05D3766492F9}"/>
              </a:ext>
            </a:extLst>
          </p:cNvPr>
          <p:cNvSpPr txBox="1"/>
          <p:nvPr/>
        </p:nvSpPr>
        <p:spPr>
          <a:xfrm>
            <a:off x="101601" y="5761173"/>
            <a:ext cx="1676399" cy="32909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609630"/>
            <a:r>
              <a:rPr lang="en-US" sz="1333" b="1" dirty="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Success Means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95858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B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26445-C663-B71C-0717-BA2C4B23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>
            <a:extLst>
              <a:ext uri="{FF2B5EF4-FFF2-40B4-BE49-F238E27FC236}">
                <a16:creationId xmlns:a16="http://schemas.microsoft.com/office/drawing/2014/main" id="{B2B11B02-ECA0-E261-97AE-AA7D0B623663}"/>
              </a:ext>
            </a:extLst>
          </p:cNvPr>
          <p:cNvGrpSpPr/>
          <p:nvPr/>
        </p:nvGrpSpPr>
        <p:grpSpPr>
          <a:xfrm>
            <a:off x="9928228" y="438492"/>
            <a:ext cx="1569421" cy="299937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8D99EEF0-3071-434F-0C53-0C7C5B809D9B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CC35DEBD-000B-161D-C43B-FCAA0E98D02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defTabSz="609630">
                  <a:defRPr/>
                </a:pPr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F677C33F-A661-CAC8-6B1D-B33D16B908C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871"/>
                  </a:lnSpc>
                  <a:defRPr/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833A3D8E-BE8C-CB66-70CB-29550261687D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6A1C759E-5A9A-D29D-389F-6576D00B8B4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defTabSz="609630">
                  <a:defRPr/>
                </a:pPr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4CD5C1AE-07C8-F05F-F2E6-DD0BB0FFF2D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871"/>
                  </a:lnSpc>
                  <a:defRPr/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3455BC2C-8594-B399-4E1F-70F77753E538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0EB73222-51AD-65E6-AB3A-DD3BBD2DF8D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defTabSz="609630">
                  <a:defRPr/>
                </a:pPr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E37016BC-022E-BF9A-E00F-1649FBB72D79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871"/>
                  </a:lnSpc>
                  <a:defRPr/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C8F052DC-BB3B-2239-0876-6942498954A6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7D5DF211-FC04-B67D-A6C5-54E4BCE8202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defTabSz="609630">
                  <a:defRPr/>
                </a:pPr>
                <a:endParaRPr lang="en-US" sz="12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0D27A8FE-34BA-C964-CF08-6951EFAC7F31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871"/>
                  </a:lnSpc>
                  <a:defRPr/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4FA3C4E2-8283-D3D0-DEA8-FCA2EEA8F501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991FD907-B97E-EE03-7E62-0323E44B847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defTabSz="609630">
                  <a:defRPr/>
                </a:pPr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C8116EE5-472D-0A63-C082-52EE07C0B7B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871"/>
                  </a:lnSpc>
                  <a:defRPr/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81473AC-84A2-5EDF-D51F-196FF6590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87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F83DA7-8EB5-1AE2-4B46-47CB512D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8">
            <a:extLst>
              <a:ext uri="{FF2B5EF4-FFF2-40B4-BE49-F238E27FC236}">
                <a16:creationId xmlns:a16="http://schemas.microsoft.com/office/drawing/2014/main" id="{896067F2-1128-7A96-7349-635794FCC5B0}"/>
              </a:ext>
            </a:extLst>
          </p:cNvPr>
          <p:cNvSpPr/>
          <p:nvPr/>
        </p:nvSpPr>
        <p:spPr>
          <a:xfrm rot="1722189">
            <a:off x="9518682" y="-611121"/>
            <a:ext cx="5680842" cy="4372140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F24CE5-AB34-2540-E430-7A488111A2E1}"/>
              </a:ext>
            </a:extLst>
          </p:cNvPr>
          <p:cNvSpPr/>
          <p:nvPr/>
        </p:nvSpPr>
        <p:spPr>
          <a:xfrm>
            <a:off x="662020" y="604111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3467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Fraud Support and Its Mission</a:t>
            </a:r>
            <a:endParaRPr lang="en-US" sz="3467" dirty="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0FFECA7-EC59-FD90-B387-E82B61A30E98}"/>
              </a:ext>
            </a:extLst>
          </p:cNvPr>
          <p:cNvSpPr/>
          <p:nvPr/>
        </p:nvSpPr>
        <p:spPr>
          <a:xfrm>
            <a:off x="675640" y="1397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867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What is Fraud?</a:t>
            </a:r>
            <a:endParaRPr lang="en-US" sz="1867" b="1" dirty="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AA5B593-B7D4-7680-1AF8-3496E6317CA4}"/>
              </a:ext>
            </a:extLst>
          </p:cNvPr>
          <p:cNvSpPr/>
          <p:nvPr/>
        </p:nvSpPr>
        <p:spPr>
          <a:xfrm>
            <a:off x="675640" y="1625979"/>
            <a:ext cx="11059160" cy="492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50000"/>
              </a:lnSpc>
            </a:pPr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When someone deliberately manipulates content, reviews, or accounts to gain an unfair advantage.</a:t>
            </a:r>
            <a:endParaRPr lang="en-US" sz="1467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4231957-B54A-0766-424E-0628521CAA73}"/>
              </a:ext>
            </a:extLst>
          </p:cNvPr>
          <p:cNvSpPr/>
          <p:nvPr/>
        </p:nvSpPr>
        <p:spPr>
          <a:xfrm>
            <a:off x="675640" y="221035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867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What does the FS team do?</a:t>
            </a:r>
            <a:endParaRPr lang="en-US" sz="1867" b="1" dirty="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C79722B7-03FC-6473-7277-ADADA3A97EAF}"/>
              </a:ext>
            </a:extLst>
          </p:cNvPr>
          <p:cNvSpPr/>
          <p:nvPr/>
        </p:nvSpPr>
        <p:spPr>
          <a:xfrm>
            <a:off x="6553200" y="2645195"/>
            <a:ext cx="5080000" cy="70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50000"/>
              </a:lnSpc>
            </a:pPr>
            <a:endParaRPr lang="en-US" sz="1467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F9EE32-7134-F3C7-D284-B1C3E16AD423}"/>
              </a:ext>
            </a:extLst>
          </p:cNvPr>
          <p:cNvSpPr/>
          <p:nvPr/>
        </p:nvSpPr>
        <p:spPr>
          <a:xfrm>
            <a:off x="660400" y="4006206"/>
            <a:ext cx="9574149" cy="2239150"/>
          </a:xfrm>
          <a:prstGeom prst="roundRect">
            <a:avLst/>
          </a:prstGeom>
          <a:solidFill>
            <a:srgbClr val="002B1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B33853-920E-2DB6-6C45-04531EB2B484}"/>
              </a:ext>
            </a:extLst>
          </p:cNvPr>
          <p:cNvSpPr/>
          <p:nvPr/>
        </p:nvSpPr>
        <p:spPr>
          <a:xfrm>
            <a:off x="726440" y="4062070"/>
            <a:ext cx="9508109" cy="2135775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09297520-1963-6BFF-2F7B-447ACAE0C4BA}"/>
              </a:ext>
            </a:extLst>
          </p:cNvPr>
          <p:cNvSpPr/>
          <p:nvPr/>
        </p:nvSpPr>
        <p:spPr>
          <a:xfrm>
            <a:off x="4700620" y="4147957"/>
            <a:ext cx="3640730" cy="530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867" b="1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Our Mission</a:t>
            </a:r>
            <a:endParaRPr lang="en-US" sz="1867" b="1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95CBBBDA-C394-0BCE-E27E-C419BF1E5274}"/>
              </a:ext>
            </a:extLst>
          </p:cNvPr>
          <p:cNvSpPr/>
          <p:nvPr/>
        </p:nvSpPr>
        <p:spPr>
          <a:xfrm>
            <a:off x="863600" y="4648406"/>
            <a:ext cx="9245600" cy="1294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50000"/>
              </a:lnSpc>
            </a:pPr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Our primary goal is to protect the integrity of Tripadvisor's content and safeguard the credibility of reviews. We are not a typical customer support team; our focus is on ensuring all content is genuine and unbiased. We are committed to making sure reviews come from travelers with legitimate, non-biased experiences.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47F13A-4898-0F3A-422B-C0A7B3BF2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 flipH="1">
            <a:off x="9829928" y="4987882"/>
            <a:ext cx="2209673" cy="17683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038DCA-7DEF-7A8F-0B03-DB461B5E2C31}"/>
              </a:ext>
            </a:extLst>
          </p:cNvPr>
          <p:cNvSpPr txBox="1"/>
          <p:nvPr/>
        </p:nvSpPr>
        <p:spPr>
          <a:xfrm>
            <a:off x="355600" y="6527800"/>
            <a:ext cx="4876800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04815">
              <a:defRPr/>
            </a:pP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ripadvisor</a:t>
            </a: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F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raud Support</a:t>
            </a: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Core Mission</a:t>
            </a:r>
            <a:endParaRPr sz="1067" spc="33" dirty="0">
              <a:solidFill>
                <a:srgbClr val="8A827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22F82510-068C-FB6C-E2AF-40D922271C09}"/>
              </a:ext>
            </a:extLst>
          </p:cNvPr>
          <p:cNvSpPr/>
          <p:nvPr/>
        </p:nvSpPr>
        <p:spPr>
          <a:xfrm>
            <a:off x="711201" y="2641451"/>
            <a:ext cx="10949663" cy="1182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11" indent="-228611" defTabSz="609630"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Investigate suspicious activity</a:t>
            </a:r>
          </a:p>
          <a:p>
            <a:pPr marL="228611" indent="-228611" defTabSz="609630"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Protect content integrity</a:t>
            </a:r>
          </a:p>
          <a:p>
            <a:pPr marL="228611" indent="-228611" defTabSz="609630">
              <a:buFont typeface="Arial" panose="020B0604020202020204" pitchFamily="34" charset="0"/>
              <a:buChar char="•"/>
            </a:pPr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Ensure a fair experience</a:t>
            </a:r>
          </a:p>
          <a:p>
            <a:pPr defTabSz="609630"/>
            <a:br>
              <a:rPr lang="en-US" sz="1467" b="1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</a:br>
            <a:r>
              <a:rPr lang="en-US" sz="1467" b="1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Example:</a:t>
            </a:r>
            <a:b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</a:br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Fake Reviews | Misleading Content | Account Misuse | Manipulated Activity </a:t>
            </a:r>
            <a:r>
              <a:rPr lang="en-US" sz="1467" b="1" i="1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(Investigate • Protect • Keep it Fair)</a:t>
            </a:r>
          </a:p>
        </p:txBody>
      </p:sp>
    </p:spTree>
    <p:extLst>
      <p:ext uri="{BB962C8B-B14F-4D97-AF65-F5344CB8AC3E}">
        <p14:creationId xmlns:p14="http://schemas.microsoft.com/office/powerpoint/2010/main" val="382095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B4C27-69CF-7CE8-1883-D2ACB13DE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419BADB7-399F-2FB7-D817-77126BF3D844}"/>
              </a:ext>
            </a:extLst>
          </p:cNvPr>
          <p:cNvSpPr/>
          <p:nvPr/>
        </p:nvSpPr>
        <p:spPr>
          <a:xfrm>
            <a:off x="640080" y="3530633"/>
            <a:ext cx="5334000" cy="876567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Freeform 7">
            <a:extLst>
              <a:ext uri="{FF2B5EF4-FFF2-40B4-BE49-F238E27FC236}">
                <a16:creationId xmlns:a16="http://schemas.microsoft.com/office/drawing/2014/main" id="{7B71AC17-D7FA-F105-D562-0706059A9905}"/>
              </a:ext>
            </a:extLst>
          </p:cNvPr>
          <p:cNvSpPr/>
          <p:nvPr/>
        </p:nvSpPr>
        <p:spPr>
          <a:xfrm rot="15278600">
            <a:off x="9146842" y="-2410497"/>
            <a:ext cx="3394537" cy="5466032"/>
          </a:xfrm>
          <a:custGeom>
            <a:avLst/>
            <a:gdLst/>
            <a:ahLst/>
            <a:cxnLst/>
            <a:rect l="l" t="t" r="r" b="b"/>
            <a:pathLst>
              <a:path w="2366010" h="4114800">
                <a:moveTo>
                  <a:pt x="0" y="0"/>
                </a:moveTo>
                <a:lnTo>
                  <a:pt x="2366010" y="0"/>
                </a:lnTo>
                <a:lnTo>
                  <a:pt x="2366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32249C-CA2E-E54B-4B23-E4E20870FC1E}"/>
              </a:ext>
            </a:extLst>
          </p:cNvPr>
          <p:cNvSpPr/>
          <p:nvPr/>
        </p:nvSpPr>
        <p:spPr>
          <a:xfrm>
            <a:off x="660400" y="72133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3467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Fraud Support &amp; Investigations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743CD31-AA30-2A69-2429-0D2FAB69DA42}"/>
              </a:ext>
            </a:extLst>
          </p:cNvPr>
          <p:cNvSpPr/>
          <p:nvPr/>
        </p:nvSpPr>
        <p:spPr>
          <a:xfrm>
            <a:off x="660400" y="13227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867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Roles and Responsibilities</a:t>
            </a:r>
            <a:endParaRPr lang="en-US" sz="1867" b="1" dirty="0">
              <a:solidFill>
                <a:srgbClr val="002B1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9C96733-49CF-14CC-CA77-95D9F7F3F0C2}"/>
              </a:ext>
            </a:extLst>
          </p:cNvPr>
          <p:cNvSpPr/>
          <p:nvPr/>
        </p:nvSpPr>
        <p:spPr>
          <a:xfrm>
            <a:off x="660400" y="1657104"/>
            <a:ext cx="9144000" cy="90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50000"/>
              </a:lnSpc>
            </a:pPr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The Fraud Support and Investigations (INV) teams are the only teams authorized to discuss content integrity issues with owners or reviewers.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F572B7B-0572-B81B-651D-5208C18EE9CA}"/>
              </a:ext>
            </a:extLst>
          </p:cNvPr>
          <p:cNvSpPr/>
          <p:nvPr/>
        </p:nvSpPr>
        <p:spPr>
          <a:xfrm>
            <a:off x="660400" y="2565400"/>
            <a:ext cx="5334000" cy="876567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DE703C00-7CDD-085F-6C3F-A5760A9DB88F}"/>
              </a:ext>
            </a:extLst>
          </p:cNvPr>
          <p:cNvSpPr/>
          <p:nvPr/>
        </p:nvSpPr>
        <p:spPr>
          <a:xfrm>
            <a:off x="853707" y="3479800"/>
            <a:ext cx="4947387" cy="90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50000"/>
              </a:lnSpc>
            </a:pPr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Investigate allegations of fraud, incentives, and vandalism</a:t>
            </a:r>
          </a:p>
        </p:txBody>
      </p:sp>
      <p:sp>
        <p:nvSpPr>
          <p:cNvPr id="65" name="Text 3">
            <a:extLst>
              <a:ext uri="{FF2B5EF4-FFF2-40B4-BE49-F238E27FC236}">
                <a16:creationId xmlns:a16="http://schemas.microsoft.com/office/drawing/2014/main" id="{13EA998C-45F6-39AA-AA84-A7102706D37F}"/>
              </a:ext>
            </a:extLst>
          </p:cNvPr>
          <p:cNvSpPr/>
          <p:nvPr/>
        </p:nvSpPr>
        <p:spPr>
          <a:xfrm>
            <a:off x="853707" y="2768601"/>
            <a:ext cx="4947387" cy="342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50000"/>
              </a:lnSpc>
            </a:pPr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Identify and analyze fraudulent patterns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921B040-61C4-3D05-4567-EB5F9F093388}"/>
              </a:ext>
            </a:extLst>
          </p:cNvPr>
          <p:cNvSpPr/>
          <p:nvPr/>
        </p:nvSpPr>
        <p:spPr>
          <a:xfrm>
            <a:off x="640080" y="5469695"/>
            <a:ext cx="5334000" cy="876567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A5F22FFA-3BB7-4F9A-934F-E33B7F5F3CE2}"/>
              </a:ext>
            </a:extLst>
          </p:cNvPr>
          <p:cNvSpPr/>
          <p:nvPr/>
        </p:nvSpPr>
        <p:spPr>
          <a:xfrm>
            <a:off x="843813" y="5571295"/>
            <a:ext cx="4947387" cy="601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50000"/>
              </a:lnSpc>
            </a:pPr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Document &amp; Communicate our guidelines to prevent fraudulent behaviour in the future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C6E122D0-6FA4-57AC-B263-45118C353822}"/>
              </a:ext>
            </a:extLst>
          </p:cNvPr>
          <p:cNvSpPr/>
          <p:nvPr/>
        </p:nvSpPr>
        <p:spPr>
          <a:xfrm>
            <a:off x="652207" y="4497584"/>
            <a:ext cx="5334000" cy="876567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Text 3">
            <a:extLst>
              <a:ext uri="{FF2B5EF4-FFF2-40B4-BE49-F238E27FC236}">
                <a16:creationId xmlns:a16="http://schemas.microsoft.com/office/drawing/2014/main" id="{14A650ED-C310-56BA-DFF5-4DD4917204F3}"/>
              </a:ext>
            </a:extLst>
          </p:cNvPr>
          <p:cNvSpPr/>
          <p:nvPr/>
        </p:nvSpPr>
        <p:spPr>
          <a:xfrm>
            <a:off x="853707" y="4597400"/>
            <a:ext cx="4947387" cy="601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50000"/>
              </a:lnSpc>
            </a:pPr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Take action to remove reviews that violate our guidelines</a:t>
            </a:r>
          </a:p>
        </p:txBody>
      </p:sp>
      <p:sp>
        <p:nvSpPr>
          <p:cNvPr id="75" name="Freeform 8">
            <a:extLst>
              <a:ext uri="{FF2B5EF4-FFF2-40B4-BE49-F238E27FC236}">
                <a16:creationId xmlns:a16="http://schemas.microsoft.com/office/drawing/2014/main" id="{265D1D4F-213E-DF02-928F-B7A40C3B1786}"/>
              </a:ext>
            </a:extLst>
          </p:cNvPr>
          <p:cNvSpPr/>
          <p:nvPr/>
        </p:nvSpPr>
        <p:spPr>
          <a:xfrm rot="8160421">
            <a:off x="8336614" y="5245715"/>
            <a:ext cx="5680842" cy="4372140"/>
          </a:xfrm>
          <a:custGeom>
            <a:avLst/>
            <a:gdLst/>
            <a:ahLst/>
            <a:cxnLst/>
            <a:rect l="l" t="t" r="r" b="b"/>
            <a:pathLst>
              <a:path w="4597542" h="4114800">
                <a:moveTo>
                  <a:pt x="0" y="0"/>
                </a:moveTo>
                <a:lnTo>
                  <a:pt x="4597542" y="0"/>
                </a:lnTo>
                <a:lnTo>
                  <a:pt x="459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83403D-8D03-51D6-4C8A-93085259F898}"/>
              </a:ext>
            </a:extLst>
          </p:cNvPr>
          <p:cNvSpPr txBox="1"/>
          <p:nvPr/>
        </p:nvSpPr>
        <p:spPr>
          <a:xfrm>
            <a:off x="355600" y="6578600"/>
            <a:ext cx="4876800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04815">
              <a:defRPr/>
            </a:pP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ripadvisor</a:t>
            </a: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F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raud Support</a:t>
            </a: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Roles and Responsibilities</a:t>
            </a:r>
            <a:endParaRPr sz="1067" spc="33" dirty="0">
              <a:solidFill>
                <a:srgbClr val="8A827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EBCEF-52D3-B073-EAE2-51C6BABE93B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540" y="2211584"/>
            <a:ext cx="365890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470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EEEF6-D4D4-C5E7-6BA0-C3890A9CC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01ECF10-CC3B-38BE-2E77-DC6B0FE91594}"/>
              </a:ext>
            </a:extLst>
          </p:cNvPr>
          <p:cNvSpPr/>
          <p:nvPr/>
        </p:nvSpPr>
        <p:spPr>
          <a:xfrm>
            <a:off x="660400" y="482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3467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Who Contacts Fraud Support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583A3D94-225E-6F42-F709-30DD2032C0A2}"/>
              </a:ext>
            </a:extLst>
          </p:cNvPr>
          <p:cNvSpPr/>
          <p:nvPr/>
        </p:nvSpPr>
        <p:spPr>
          <a:xfrm>
            <a:off x="660400" y="118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867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We interact with a wide range of individuals and groups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2DF771E-0992-91B5-BCCE-9AE79D845EC0}"/>
              </a:ext>
            </a:extLst>
          </p:cNvPr>
          <p:cNvSpPr/>
          <p:nvPr/>
        </p:nvSpPr>
        <p:spPr>
          <a:xfrm>
            <a:off x="660400" y="1498600"/>
            <a:ext cx="9144000" cy="90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50000"/>
              </a:lnSpc>
            </a:pPr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The Fraud Support and Investigations (INV) teams are the only teams authorized to discuss content integrity issues </a:t>
            </a:r>
            <a:r>
              <a:rPr lang="en-US" sz="1467" dirty="0">
                <a:solidFill>
                  <a:srgbClr val="727272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with owners </a:t>
            </a:r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or reviewers.</a:t>
            </a:r>
          </a:p>
        </p:txBody>
      </p:sp>
      <p:grpSp>
        <p:nvGrpSpPr>
          <p:cNvPr id="5" name="Group 2"/>
          <p:cNvGrpSpPr/>
          <p:nvPr/>
        </p:nvGrpSpPr>
        <p:grpSpPr>
          <a:xfrm>
            <a:off x="589093" y="2580670"/>
            <a:ext cx="2618958" cy="3167406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7" name="Group 3"/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11" name="Freeform 4"/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2B1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defTabSz="609630">
                  <a:defRPr/>
                </a:pPr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2" name="TextBox 5"/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871"/>
                  </a:lnSpc>
                  <a:defRPr/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8" name="Group 6"/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9" name="Freeform 7"/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defTabSz="609630">
                  <a:defRPr/>
                </a:pPr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0" name="TextBox 8"/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871"/>
                  </a:lnSpc>
                  <a:defRPr/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grpSp>
        <p:nvGrpSpPr>
          <p:cNvPr id="13" name="Group 9"/>
          <p:cNvGrpSpPr/>
          <p:nvPr/>
        </p:nvGrpSpPr>
        <p:grpSpPr>
          <a:xfrm>
            <a:off x="3410242" y="2586671"/>
            <a:ext cx="2618958" cy="3160783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4" name="Group 10"/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18" name="Freeform 11"/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defTabSz="609630">
                  <a:defRPr/>
                </a:pPr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9" name="TextBox 12"/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871"/>
                  </a:lnSpc>
                  <a:defRPr/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15" name="Group 13"/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16" name="Freeform 14"/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>
                  <a:defRPr/>
                </a:pPr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7" name="TextBox 15"/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871"/>
                  </a:lnSpc>
                  <a:defRPr/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grpSp>
        <p:nvGrpSpPr>
          <p:cNvPr id="20" name="Group 16"/>
          <p:cNvGrpSpPr/>
          <p:nvPr/>
        </p:nvGrpSpPr>
        <p:grpSpPr>
          <a:xfrm>
            <a:off x="6304803" y="2580670"/>
            <a:ext cx="2618958" cy="3120336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23" name="Group 17"/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27" name="Freeform 18"/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defTabSz="609630">
                  <a:defRPr/>
                </a:pPr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8" name="TextBox 19"/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871"/>
                  </a:lnSpc>
                  <a:defRPr/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24" name="Group 20"/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25" name="Freeform 21"/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>
                  <a:defRPr/>
                </a:pPr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6" name="TextBox 22"/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871"/>
                  </a:lnSpc>
                  <a:defRPr/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grpSp>
        <p:nvGrpSpPr>
          <p:cNvPr id="29" name="Group 23"/>
          <p:cNvGrpSpPr/>
          <p:nvPr/>
        </p:nvGrpSpPr>
        <p:grpSpPr>
          <a:xfrm>
            <a:off x="9204234" y="2586670"/>
            <a:ext cx="2618958" cy="3160783"/>
            <a:chOff x="0" y="0"/>
            <a:chExt cx="5237916" cy="4451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0" name="Group 24"/>
            <p:cNvGrpSpPr/>
            <p:nvPr/>
          </p:nvGrpSpPr>
          <p:grpSpPr>
            <a:xfrm>
              <a:off x="0" y="0"/>
              <a:ext cx="5237916" cy="4451284"/>
              <a:chOff x="0" y="0"/>
              <a:chExt cx="1528996" cy="1299371"/>
            </a:xfrm>
          </p:grpSpPr>
          <p:sp>
            <p:nvSpPr>
              <p:cNvPr id="34" name="Freeform 25"/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defTabSz="609630">
                  <a:defRPr/>
                </a:pPr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35" name="TextBox 26"/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871"/>
                  </a:lnSpc>
                  <a:defRPr/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31" name="Group 27"/>
            <p:cNvGrpSpPr/>
            <p:nvPr/>
          </p:nvGrpSpPr>
          <p:grpSpPr>
            <a:xfrm>
              <a:off x="217009" y="189029"/>
              <a:ext cx="4803898" cy="4073225"/>
              <a:chOff x="0" y="0"/>
              <a:chExt cx="1402303" cy="1189012"/>
            </a:xfrm>
          </p:grpSpPr>
          <p:sp>
            <p:nvSpPr>
              <p:cNvPr id="32" name="Freeform 28"/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defTabSz="609630">
                  <a:defRPr/>
                </a:pPr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33" name="TextBox 29"/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 defTabSz="609630">
                  <a:lnSpc>
                    <a:spcPts val="1871"/>
                  </a:lnSpc>
                  <a:defRPr/>
                </a:pPr>
                <a:endParaRPr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sp>
        <p:nvSpPr>
          <p:cNvPr id="36" name="Freeform 30"/>
          <p:cNvSpPr/>
          <p:nvPr/>
        </p:nvSpPr>
        <p:spPr>
          <a:xfrm>
            <a:off x="1475860" y="3230493"/>
            <a:ext cx="810141" cy="844869"/>
          </a:xfrm>
          <a:custGeom>
            <a:avLst/>
            <a:gdLst/>
            <a:ahLst/>
            <a:cxnLst/>
            <a:rect l="l" t="t" r="r" b="b"/>
            <a:pathLst>
              <a:path w="896173" h="974101">
                <a:moveTo>
                  <a:pt x="0" y="0"/>
                </a:moveTo>
                <a:lnTo>
                  <a:pt x="896173" y="0"/>
                </a:lnTo>
                <a:lnTo>
                  <a:pt x="896173" y="974101"/>
                </a:lnTo>
                <a:lnTo>
                  <a:pt x="0" y="974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defTabSz="609630">
              <a:defRPr/>
            </a:pPr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Freeform 31"/>
          <p:cNvSpPr/>
          <p:nvPr/>
        </p:nvSpPr>
        <p:spPr>
          <a:xfrm>
            <a:off x="4251128" y="3293131"/>
            <a:ext cx="761237" cy="752695"/>
          </a:xfrm>
          <a:custGeom>
            <a:avLst/>
            <a:gdLst/>
            <a:ahLst/>
            <a:cxnLst/>
            <a:rect l="l" t="t" r="r" b="b"/>
            <a:pathLst>
              <a:path w="1050472" h="1050472">
                <a:moveTo>
                  <a:pt x="0" y="0"/>
                </a:moveTo>
                <a:lnTo>
                  <a:pt x="1050472" y="0"/>
                </a:lnTo>
                <a:lnTo>
                  <a:pt x="1050472" y="1050472"/>
                </a:lnTo>
                <a:lnTo>
                  <a:pt x="0" y="10504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>
              <a:defRPr/>
            </a:pPr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Freeform 32"/>
          <p:cNvSpPr/>
          <p:nvPr/>
        </p:nvSpPr>
        <p:spPr>
          <a:xfrm>
            <a:off x="7074086" y="3179528"/>
            <a:ext cx="1038621" cy="789043"/>
          </a:xfrm>
          <a:custGeom>
            <a:avLst/>
            <a:gdLst/>
            <a:ahLst/>
            <a:cxnLst/>
            <a:rect l="l" t="t" r="r" b="b"/>
            <a:pathLst>
              <a:path w="1321792" h="1037607">
                <a:moveTo>
                  <a:pt x="0" y="0"/>
                </a:moveTo>
                <a:lnTo>
                  <a:pt x="1321792" y="0"/>
                </a:lnTo>
                <a:lnTo>
                  <a:pt x="1321792" y="1037607"/>
                </a:lnTo>
                <a:lnTo>
                  <a:pt x="0" y="103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>
              <a:defRPr/>
            </a:pPr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Freeform 33"/>
          <p:cNvSpPr/>
          <p:nvPr/>
        </p:nvSpPr>
        <p:spPr>
          <a:xfrm>
            <a:off x="10178794" y="3215253"/>
            <a:ext cx="821438" cy="898483"/>
          </a:xfrm>
          <a:custGeom>
            <a:avLst/>
            <a:gdLst/>
            <a:ahLst/>
            <a:cxnLst/>
            <a:rect l="l" t="t" r="r" b="b"/>
            <a:pathLst>
              <a:path w="836498" h="1020119">
                <a:moveTo>
                  <a:pt x="0" y="0"/>
                </a:moveTo>
                <a:lnTo>
                  <a:pt x="836498" y="0"/>
                </a:lnTo>
                <a:lnTo>
                  <a:pt x="836498" y="1020120"/>
                </a:lnTo>
                <a:lnTo>
                  <a:pt x="0" y="1020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defTabSz="609630">
              <a:defRPr/>
            </a:pP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0" name="TextBox 34"/>
          <p:cNvSpPr txBox="1"/>
          <p:nvPr/>
        </p:nvSpPr>
        <p:spPr>
          <a:xfrm>
            <a:off x="1091551" y="2878122"/>
            <a:ext cx="1679356" cy="225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1768"/>
              </a:lnSpc>
              <a:defRPr/>
            </a:pPr>
            <a:r>
              <a:rPr lang="en-US" sz="1467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Property Owners</a:t>
            </a:r>
          </a:p>
        </p:txBody>
      </p:sp>
      <p:sp>
        <p:nvSpPr>
          <p:cNvPr id="41" name="TextBox 35"/>
          <p:cNvSpPr txBox="1"/>
          <p:nvPr/>
        </p:nvSpPr>
        <p:spPr>
          <a:xfrm>
            <a:off x="973201" y="4198567"/>
            <a:ext cx="646392" cy="22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1768"/>
              </a:lnSpc>
              <a:defRPr/>
            </a:pPr>
            <a:r>
              <a:rPr lang="en-US" sz="1333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Why?</a:t>
            </a:r>
          </a:p>
        </p:txBody>
      </p:sp>
      <p:sp>
        <p:nvSpPr>
          <p:cNvPr id="42" name="TextBox 36"/>
          <p:cNvSpPr txBox="1"/>
          <p:nvPr/>
        </p:nvSpPr>
        <p:spPr>
          <a:xfrm>
            <a:off x="3960894" y="2878122"/>
            <a:ext cx="1750114" cy="225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defTabSz="609630">
              <a:lnSpc>
                <a:spcPts val="1768"/>
              </a:lnSpc>
              <a:defRPr/>
            </a:pPr>
            <a:r>
              <a:rPr lang="en-US" sz="1467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Users/Reviewers</a:t>
            </a:r>
          </a:p>
        </p:txBody>
      </p:sp>
      <p:sp>
        <p:nvSpPr>
          <p:cNvPr id="43" name="TextBox 37"/>
          <p:cNvSpPr txBox="1"/>
          <p:nvPr/>
        </p:nvSpPr>
        <p:spPr>
          <a:xfrm>
            <a:off x="3794349" y="4204567"/>
            <a:ext cx="646392" cy="22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1768"/>
              </a:lnSpc>
              <a:defRPr/>
            </a:pPr>
            <a:r>
              <a:rPr lang="en-US" sz="1333" b="1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Why?</a:t>
            </a:r>
          </a:p>
        </p:txBody>
      </p:sp>
      <p:sp>
        <p:nvSpPr>
          <p:cNvPr id="44" name="TextBox 38"/>
          <p:cNvSpPr txBox="1"/>
          <p:nvPr/>
        </p:nvSpPr>
        <p:spPr>
          <a:xfrm>
            <a:off x="6847029" y="2876000"/>
            <a:ext cx="1850742" cy="22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1768"/>
              </a:lnSpc>
              <a:defRPr/>
            </a:pPr>
            <a:r>
              <a:rPr lang="en-US" sz="1467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Other TA teams</a:t>
            </a:r>
          </a:p>
        </p:txBody>
      </p:sp>
      <p:sp>
        <p:nvSpPr>
          <p:cNvPr id="45" name="TextBox 39"/>
          <p:cNvSpPr txBox="1"/>
          <p:nvPr/>
        </p:nvSpPr>
        <p:spPr>
          <a:xfrm>
            <a:off x="6688911" y="4198566"/>
            <a:ext cx="646392" cy="22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1768"/>
              </a:lnSpc>
              <a:defRPr/>
            </a:pPr>
            <a:r>
              <a:rPr lang="en-US" sz="1333" b="1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Why?</a:t>
            </a:r>
          </a:p>
        </p:txBody>
      </p:sp>
      <p:sp>
        <p:nvSpPr>
          <p:cNvPr id="46" name="TextBox 40"/>
          <p:cNvSpPr txBox="1"/>
          <p:nvPr/>
        </p:nvSpPr>
        <p:spPr>
          <a:xfrm>
            <a:off x="9688418" y="2863876"/>
            <a:ext cx="1850742" cy="22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1768"/>
              </a:lnSpc>
              <a:defRPr/>
            </a:pPr>
            <a:r>
              <a:rPr lang="en-US" sz="1467" b="1" dirty="0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Attorneys/Police</a:t>
            </a:r>
          </a:p>
        </p:txBody>
      </p:sp>
      <p:sp>
        <p:nvSpPr>
          <p:cNvPr id="47" name="TextBox 41"/>
          <p:cNvSpPr txBox="1"/>
          <p:nvPr/>
        </p:nvSpPr>
        <p:spPr>
          <a:xfrm>
            <a:off x="9588342" y="4204566"/>
            <a:ext cx="646392" cy="22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defTabSz="609630">
              <a:lnSpc>
                <a:spcPts val="1768"/>
              </a:lnSpc>
              <a:defRPr/>
            </a:pPr>
            <a:r>
              <a:rPr lang="en-US" sz="1333" b="1">
                <a:solidFill>
                  <a:srgbClr val="002B11"/>
                </a:solidFill>
                <a:latin typeface="Poppins Bold"/>
                <a:ea typeface="Poppins Bold"/>
                <a:cs typeface="Poppins Bold"/>
                <a:sym typeface="Poppins Bold"/>
              </a:rPr>
              <a:t>Why?</a:t>
            </a:r>
          </a:p>
        </p:txBody>
      </p:sp>
      <p:sp>
        <p:nvSpPr>
          <p:cNvPr id="48" name="TextBox 42"/>
          <p:cNvSpPr txBox="1"/>
          <p:nvPr/>
        </p:nvSpPr>
        <p:spPr>
          <a:xfrm>
            <a:off x="973201" y="4542772"/>
            <a:ext cx="1850742" cy="501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288"/>
              </a:lnSpc>
              <a:defRPr/>
            </a:pPr>
            <a:r>
              <a:rPr lang="en-US" sz="1200" dirty="0">
                <a:solidFill>
                  <a:srgbClr val="727272"/>
                </a:solidFill>
                <a:latin typeface="Poppins"/>
                <a:ea typeface="Poppins"/>
                <a:cs typeface="Poppins"/>
                <a:sym typeface="Poppins"/>
              </a:rPr>
              <a:t>Review disputes, blackmail reports, etc.</a:t>
            </a:r>
          </a:p>
          <a:p>
            <a:pPr defTabSz="609630">
              <a:lnSpc>
                <a:spcPts val="1288"/>
              </a:lnSpc>
              <a:defRPr/>
            </a:pPr>
            <a:endParaRPr lang="en-US" sz="1200" dirty="0">
              <a:solidFill>
                <a:srgbClr val="72727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" name="TextBox 43"/>
          <p:cNvSpPr txBox="1"/>
          <p:nvPr/>
        </p:nvSpPr>
        <p:spPr>
          <a:xfrm>
            <a:off x="3794350" y="4548773"/>
            <a:ext cx="1850742" cy="501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288"/>
              </a:lnSpc>
              <a:defRPr/>
            </a:pPr>
            <a:r>
              <a:rPr lang="en-US" sz="1200" dirty="0">
                <a:solidFill>
                  <a:srgbClr val="727272"/>
                </a:solidFill>
                <a:latin typeface="Poppins"/>
                <a:ea typeface="Poppins"/>
                <a:cs typeface="Poppins"/>
                <a:sym typeface="Poppins"/>
              </a:rPr>
              <a:t>Status of their review, report suspicious activity, etc.</a:t>
            </a:r>
          </a:p>
        </p:txBody>
      </p:sp>
      <p:sp>
        <p:nvSpPr>
          <p:cNvPr id="50" name="TextBox 44"/>
          <p:cNvSpPr txBox="1"/>
          <p:nvPr/>
        </p:nvSpPr>
        <p:spPr>
          <a:xfrm>
            <a:off x="6693781" y="4511057"/>
            <a:ext cx="1850742" cy="501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288"/>
              </a:lnSpc>
              <a:defRPr/>
            </a:pPr>
            <a:r>
              <a:rPr lang="en-US" sz="1200" dirty="0">
                <a:solidFill>
                  <a:srgbClr val="727272"/>
                </a:solidFill>
                <a:latin typeface="Poppins"/>
                <a:ea typeface="Poppins"/>
                <a:cs typeface="Poppins"/>
                <a:sym typeface="Poppins"/>
              </a:rPr>
              <a:t>Forwarding user and owner concerns and direct escalations</a:t>
            </a:r>
          </a:p>
        </p:txBody>
      </p:sp>
      <p:sp>
        <p:nvSpPr>
          <p:cNvPr id="51" name="TextBox 45"/>
          <p:cNvSpPr txBox="1"/>
          <p:nvPr/>
        </p:nvSpPr>
        <p:spPr>
          <a:xfrm>
            <a:off x="9588342" y="4511056"/>
            <a:ext cx="1950817" cy="1001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1288"/>
              </a:lnSpc>
              <a:defRPr/>
            </a:pPr>
            <a:r>
              <a:rPr lang="en-US" sz="1200" dirty="0">
                <a:solidFill>
                  <a:srgbClr val="727272"/>
                </a:solidFill>
                <a:latin typeface="Poppins"/>
                <a:ea typeface="Poppins"/>
                <a:cs typeface="Poppins"/>
                <a:sym typeface="Poppins"/>
              </a:rPr>
              <a:t>They contact on behalf of an owner or a user to file a complaint. </a:t>
            </a:r>
          </a:p>
          <a:p>
            <a:pPr defTabSz="609630">
              <a:lnSpc>
                <a:spcPts val="1288"/>
              </a:lnSpc>
              <a:defRPr/>
            </a:pPr>
            <a:r>
              <a:rPr lang="en-US" sz="1200" dirty="0">
                <a:solidFill>
                  <a:srgbClr val="727272"/>
                </a:solidFill>
                <a:latin typeface="Poppins"/>
                <a:ea typeface="Poppins"/>
                <a:cs typeface="Poppins"/>
                <a:sym typeface="Poppins"/>
              </a:rPr>
              <a:t>This complaint may be about another user or Tripadvisor itself.</a:t>
            </a:r>
          </a:p>
        </p:txBody>
      </p:sp>
      <p:sp>
        <p:nvSpPr>
          <p:cNvPr id="53" name="Freeform 4">
            <a:extLst>
              <a:ext uri="{FF2B5EF4-FFF2-40B4-BE49-F238E27FC236}">
                <a16:creationId xmlns:a16="http://schemas.microsoft.com/office/drawing/2014/main" id="{B1D781C3-12E6-3814-41F8-8EB46B17BF99}"/>
              </a:ext>
            </a:extLst>
          </p:cNvPr>
          <p:cNvSpPr/>
          <p:nvPr/>
        </p:nvSpPr>
        <p:spPr>
          <a:xfrm rot="-10800000">
            <a:off x="7843520" y="0"/>
            <a:ext cx="4876800" cy="2609088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Rectangle: Rounded Corners 51">
            <a:hlinkClick r:id="rId8" action="ppaction://hlinksldjump"/>
            <a:extLst>
              <a:ext uri="{FF2B5EF4-FFF2-40B4-BE49-F238E27FC236}">
                <a16:creationId xmlns:a16="http://schemas.microsoft.com/office/drawing/2014/main" id="{134C04FB-959E-2138-BC7B-F55C6E653C86}"/>
              </a:ext>
            </a:extLst>
          </p:cNvPr>
          <p:cNvSpPr/>
          <p:nvPr/>
        </p:nvSpPr>
        <p:spPr>
          <a:xfrm>
            <a:off x="889829" y="5902957"/>
            <a:ext cx="2082800" cy="41292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Examples</a:t>
            </a:r>
          </a:p>
        </p:txBody>
      </p:sp>
      <p:sp>
        <p:nvSpPr>
          <p:cNvPr id="55" name="Rectangle: Rounded Corners 54">
            <a:hlinkClick r:id="rId9" action="ppaction://hlinksldjump"/>
            <a:extLst>
              <a:ext uri="{FF2B5EF4-FFF2-40B4-BE49-F238E27FC236}">
                <a16:creationId xmlns:a16="http://schemas.microsoft.com/office/drawing/2014/main" id="{F27C9390-F245-618F-393D-2357F80B79CE}"/>
              </a:ext>
            </a:extLst>
          </p:cNvPr>
          <p:cNvSpPr/>
          <p:nvPr/>
        </p:nvSpPr>
        <p:spPr>
          <a:xfrm>
            <a:off x="9548112" y="5887570"/>
            <a:ext cx="2082800" cy="41292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Examples</a:t>
            </a:r>
          </a:p>
        </p:txBody>
      </p:sp>
      <p:sp>
        <p:nvSpPr>
          <p:cNvPr id="57" name="Rectangle: Rounded Corners 56">
            <a:hlinkClick r:id="rId10" action="ppaction://hlinksldjump"/>
            <a:extLst>
              <a:ext uri="{FF2B5EF4-FFF2-40B4-BE49-F238E27FC236}">
                <a16:creationId xmlns:a16="http://schemas.microsoft.com/office/drawing/2014/main" id="{FF0F6B75-EA25-1746-EE4B-073E3F6FCC41}"/>
              </a:ext>
            </a:extLst>
          </p:cNvPr>
          <p:cNvSpPr/>
          <p:nvPr/>
        </p:nvSpPr>
        <p:spPr>
          <a:xfrm>
            <a:off x="6572881" y="5897940"/>
            <a:ext cx="2082800" cy="41292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Examples</a:t>
            </a:r>
          </a:p>
        </p:txBody>
      </p:sp>
      <p:sp>
        <p:nvSpPr>
          <p:cNvPr id="59" name="Rectangle: Rounded Corners 58">
            <a:hlinkClick r:id="rId11" action="ppaction://hlinksldjump"/>
            <a:extLst>
              <a:ext uri="{FF2B5EF4-FFF2-40B4-BE49-F238E27FC236}">
                <a16:creationId xmlns:a16="http://schemas.microsoft.com/office/drawing/2014/main" id="{087BF978-F5AA-5C54-1386-7503ADDAB235}"/>
              </a:ext>
            </a:extLst>
          </p:cNvPr>
          <p:cNvSpPr/>
          <p:nvPr/>
        </p:nvSpPr>
        <p:spPr>
          <a:xfrm>
            <a:off x="3678320" y="5884859"/>
            <a:ext cx="2082800" cy="41292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r>
              <a:rPr lang="en-US" sz="1467" dirty="0">
                <a:solidFill>
                  <a:srgbClr val="4A4A4A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Examples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E67507-8AD6-2B26-3501-BABF58213074}"/>
              </a:ext>
            </a:extLst>
          </p:cNvPr>
          <p:cNvSpPr txBox="1"/>
          <p:nvPr/>
        </p:nvSpPr>
        <p:spPr>
          <a:xfrm>
            <a:off x="355600" y="6578600"/>
            <a:ext cx="4876800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04815">
              <a:defRPr/>
            </a:pP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ripadvisor</a:t>
            </a: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F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raud Support</a:t>
            </a:r>
            <a:r>
              <a:rPr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</a:t>
            </a:r>
            <a:r>
              <a:rPr lang="en-US" sz="1067" spc="33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Contact Types</a:t>
            </a:r>
            <a:endParaRPr sz="1067" spc="33" dirty="0">
              <a:solidFill>
                <a:srgbClr val="8A827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87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8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29BA2088-F435-A3B0-ED27-71EDA0FABBA8}"/>
              </a:ext>
            </a:extLst>
          </p:cNvPr>
          <p:cNvSpPr/>
          <p:nvPr/>
        </p:nvSpPr>
        <p:spPr>
          <a:xfrm>
            <a:off x="6309333" y="1557952"/>
            <a:ext cx="5310667" cy="3903049"/>
          </a:xfrm>
          <a:prstGeom prst="roundRect">
            <a:avLst/>
          </a:prstGeom>
          <a:solidFill>
            <a:srgbClr val="FB518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8" name="Rounded Rectangle 3">
            <a:extLst>
              <a:ext uri="{FF2B5EF4-FFF2-40B4-BE49-F238E27FC236}">
                <a16:creationId xmlns:a16="http://schemas.microsoft.com/office/drawing/2014/main" id="{14BB6F45-8A66-4525-1DD9-A4B74F5499B2}"/>
              </a:ext>
            </a:extLst>
          </p:cNvPr>
          <p:cNvSpPr/>
          <p:nvPr/>
        </p:nvSpPr>
        <p:spPr>
          <a:xfrm>
            <a:off x="557866" y="1557952"/>
            <a:ext cx="5310667" cy="3903049"/>
          </a:xfrm>
          <a:prstGeom prst="roundRect">
            <a:avLst/>
          </a:prstGeom>
          <a:solidFill>
            <a:srgbClr val="CFFF2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2933" y="1600200"/>
            <a:ext cx="5310667" cy="390304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0D4F83A1-0FDB-A763-A342-5D6FCC1D524A}"/>
              </a:ext>
            </a:extLst>
          </p:cNvPr>
          <p:cNvSpPr/>
          <p:nvPr/>
        </p:nvSpPr>
        <p:spPr>
          <a:xfrm>
            <a:off x="609600" y="717166"/>
            <a:ext cx="10058400" cy="6258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lang="en-US" sz="3467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Why Owners Contact Us</a:t>
            </a: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2B931073-50AD-F5BD-5789-E2FF96D33ACC}"/>
              </a:ext>
            </a:extLst>
          </p:cNvPr>
          <p:cNvSpPr/>
          <p:nvPr/>
        </p:nvSpPr>
        <p:spPr>
          <a:xfrm>
            <a:off x="986035" y="1952113"/>
            <a:ext cx="4709160" cy="37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buClr>
                <a:srgbClr val="000000"/>
              </a:buClr>
              <a:defRPr/>
            </a:pPr>
            <a:r>
              <a:rPr lang="en-US" sz="1867" b="1" kern="0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 1: BLACKMAIL REPORT</a:t>
            </a: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1001306D-EDB7-942C-A727-97669B6D316D}"/>
              </a:ext>
            </a:extLst>
          </p:cNvPr>
          <p:cNvSpPr/>
          <p:nvPr/>
        </p:nvSpPr>
        <p:spPr>
          <a:xfrm>
            <a:off x="901328" y="2281496"/>
            <a:ext cx="4878577" cy="2142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30000"/>
              </a:lnSpc>
              <a:defRPr/>
            </a:pPr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"Greetings, team. We reach you out for you to assist us since there is a blackmail ongoing. One of the guests had a bad behavior and threatened to submit a bad review unless compensated. The guest won't be admitted at the resort anymore due to his behavior and disrespectful manners."</a:t>
            </a: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D54B018A-742F-1B9B-CBB0-19C338A974EE}"/>
              </a:ext>
            </a:extLst>
          </p:cNvPr>
          <p:cNvSpPr/>
          <p:nvPr/>
        </p:nvSpPr>
        <p:spPr>
          <a:xfrm>
            <a:off x="6373333" y="1600200"/>
            <a:ext cx="5310667" cy="390304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4830FA16-21DB-0D88-55CA-8748288A48B0}"/>
              </a:ext>
            </a:extLst>
          </p:cNvPr>
          <p:cNvSpPr/>
          <p:nvPr/>
        </p:nvSpPr>
        <p:spPr>
          <a:xfrm>
            <a:off x="6637864" y="1964533"/>
            <a:ext cx="4734938" cy="6669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buClr>
                <a:srgbClr val="000000"/>
              </a:buClr>
              <a:defRPr/>
            </a:pPr>
            <a:r>
              <a:rPr lang="en-US" sz="1867" b="1" kern="0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 2: ABUSIVE COMMUNICATION</a:t>
            </a: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727A3015-9392-D479-C876-744CDF77BE40}"/>
              </a:ext>
            </a:extLst>
          </p:cNvPr>
          <p:cNvSpPr/>
          <p:nvPr/>
        </p:nvSpPr>
        <p:spPr>
          <a:xfrm>
            <a:off x="6632627" y="2579218"/>
            <a:ext cx="4987373" cy="1428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30000"/>
              </a:lnSpc>
              <a:defRPr/>
            </a:pPr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“The guest used profane, abusive language directed at staff and the company after their review comments were removed, including insults toward Tripadvisor and its moderators."</a:t>
            </a:r>
            <a:endParaRPr lang="en-US" sz="1467" dirty="0">
              <a:solidFill>
                <a:prstClr val="black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0">
            <a:extLst>
              <a:ext uri="{FF2B5EF4-FFF2-40B4-BE49-F238E27FC236}">
                <a16:creationId xmlns:a16="http://schemas.microsoft.com/office/drawing/2014/main" id="{A83FB4DE-398C-252E-9460-C72941EBB6E4}"/>
              </a:ext>
            </a:extLst>
          </p:cNvPr>
          <p:cNvSpPr/>
          <p:nvPr/>
        </p:nvSpPr>
        <p:spPr>
          <a:xfrm>
            <a:off x="609600" y="397125"/>
            <a:ext cx="7315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lang="en-US" sz="1100" b="1" kern="0" spc="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OWNERS · VERBATIM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2EFC1A9-B9CF-A1FF-147A-E3D718EA4793}"/>
              </a:ext>
            </a:extLst>
          </p:cNvPr>
          <p:cNvGrpSpPr/>
          <p:nvPr/>
        </p:nvGrpSpPr>
        <p:grpSpPr>
          <a:xfrm>
            <a:off x="901327" y="4444252"/>
            <a:ext cx="1449764" cy="254528"/>
            <a:chOff x="1559154" y="7290209"/>
            <a:chExt cx="3440000" cy="560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8E89DE0-A776-0919-09C3-19FDA0F8C492}"/>
                </a:ext>
              </a:extLst>
            </p:cNvPr>
            <p:cNvSpPr/>
            <p:nvPr/>
          </p:nvSpPr>
          <p:spPr>
            <a:xfrm>
              <a:off x="155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1053C7E-B763-E4B9-6FDC-C958725391B8}"/>
                </a:ext>
              </a:extLst>
            </p:cNvPr>
            <p:cNvSpPr/>
            <p:nvPr/>
          </p:nvSpPr>
          <p:spPr>
            <a:xfrm>
              <a:off x="227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5E91F18-DF07-D89D-12F8-49F2E2ECF2FD}"/>
                </a:ext>
              </a:extLst>
            </p:cNvPr>
            <p:cNvSpPr/>
            <p:nvPr/>
          </p:nvSpPr>
          <p:spPr>
            <a:xfrm>
              <a:off x="299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A249409-D1E1-0285-58C3-6E60B5D7FAE9}"/>
                </a:ext>
              </a:extLst>
            </p:cNvPr>
            <p:cNvSpPr/>
            <p:nvPr/>
          </p:nvSpPr>
          <p:spPr>
            <a:xfrm>
              <a:off x="371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B1AA8D1-EFFA-C06E-EC69-3F28AFC87628}"/>
                </a:ext>
              </a:extLst>
            </p:cNvPr>
            <p:cNvSpPr/>
            <p:nvPr/>
          </p:nvSpPr>
          <p:spPr>
            <a:xfrm>
              <a:off x="443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CF4E879-1A57-D1C0-67D6-B8536892DDA4}"/>
              </a:ext>
            </a:extLst>
          </p:cNvPr>
          <p:cNvSpPr txBox="1"/>
          <p:nvPr/>
        </p:nvSpPr>
        <p:spPr>
          <a:xfrm>
            <a:off x="901327" y="4749800"/>
            <a:ext cx="400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sz="1200" dirty="0">
                <a:solidFill>
                  <a:srgbClr val="002B11"/>
                </a:solidFill>
                <a:latin typeface="Poppins"/>
              </a:rPr>
              <a:t>@FraudOps · Investigator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33D8569-1BDB-924C-276F-6C70D9044A3E}"/>
              </a:ext>
            </a:extLst>
          </p:cNvPr>
          <p:cNvGrpSpPr/>
          <p:nvPr/>
        </p:nvGrpSpPr>
        <p:grpSpPr>
          <a:xfrm>
            <a:off x="6632627" y="4321141"/>
            <a:ext cx="1449764" cy="254528"/>
            <a:chOff x="1559154" y="7290209"/>
            <a:chExt cx="3440000" cy="560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4A3F889-4CD3-CFCC-76C6-C0C84B2C33AF}"/>
                </a:ext>
              </a:extLst>
            </p:cNvPr>
            <p:cNvSpPr/>
            <p:nvPr/>
          </p:nvSpPr>
          <p:spPr>
            <a:xfrm>
              <a:off x="155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4654F8F-E580-73DD-46CA-FEEB2AFF5835}"/>
                </a:ext>
              </a:extLst>
            </p:cNvPr>
            <p:cNvSpPr/>
            <p:nvPr/>
          </p:nvSpPr>
          <p:spPr>
            <a:xfrm>
              <a:off x="227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E4D7403-FF86-E48D-D6F2-75A6B17A4378}"/>
                </a:ext>
              </a:extLst>
            </p:cNvPr>
            <p:cNvSpPr/>
            <p:nvPr/>
          </p:nvSpPr>
          <p:spPr>
            <a:xfrm>
              <a:off x="299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A02D999-CD9E-1C14-F365-2B11E34A17D0}"/>
                </a:ext>
              </a:extLst>
            </p:cNvPr>
            <p:cNvSpPr/>
            <p:nvPr/>
          </p:nvSpPr>
          <p:spPr>
            <a:xfrm>
              <a:off x="371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6B680FF-DC77-2E59-AA94-CF8A5688E5C2}"/>
                </a:ext>
              </a:extLst>
            </p:cNvPr>
            <p:cNvSpPr/>
            <p:nvPr/>
          </p:nvSpPr>
          <p:spPr>
            <a:xfrm>
              <a:off x="443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6AC4EAC-EE50-FB30-7571-4BFB65CBE188}"/>
              </a:ext>
            </a:extLst>
          </p:cNvPr>
          <p:cNvSpPr txBox="1"/>
          <p:nvPr/>
        </p:nvSpPr>
        <p:spPr>
          <a:xfrm>
            <a:off x="6632627" y="4626690"/>
            <a:ext cx="400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sz="1200" dirty="0">
                <a:solidFill>
                  <a:srgbClr val="002B11"/>
                </a:solidFill>
                <a:latin typeface="Poppins"/>
              </a:rPr>
              <a:t>@FraudOps · Investigator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6C79D79-D5A2-78DB-C8C0-C7112414E508}"/>
              </a:ext>
            </a:extLst>
          </p:cNvPr>
          <p:cNvGrpSpPr/>
          <p:nvPr/>
        </p:nvGrpSpPr>
        <p:grpSpPr>
          <a:xfrm>
            <a:off x="762000" y="5715001"/>
            <a:ext cx="9093201" cy="517843"/>
            <a:chOff x="1143000" y="8572501"/>
            <a:chExt cx="13639801" cy="776764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94136A0-6984-EE88-6536-9694C2D10BAD}"/>
                </a:ext>
              </a:extLst>
            </p:cNvPr>
            <p:cNvGrpSpPr/>
            <p:nvPr/>
          </p:nvGrpSpPr>
          <p:grpSpPr>
            <a:xfrm>
              <a:off x="1143000" y="8572501"/>
              <a:ext cx="13030200" cy="776764"/>
              <a:chOff x="1143000" y="8572501"/>
              <a:chExt cx="13030200" cy="776764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F7B60C71-053A-933F-2AB3-D2C886C3163B}"/>
                  </a:ext>
                </a:extLst>
              </p:cNvPr>
              <p:cNvSpPr/>
              <p:nvPr/>
            </p:nvSpPr>
            <p:spPr>
              <a:xfrm>
                <a:off x="1143000" y="8572501"/>
                <a:ext cx="12954000" cy="700564"/>
              </a:xfrm>
              <a:prstGeom prst="roundRect">
                <a:avLst/>
              </a:prstGeom>
              <a:solidFill>
                <a:srgbClr val="00EB5B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US" sz="12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BD780587-43A2-B0E6-0BB3-DA50B36AF061}"/>
                  </a:ext>
                </a:extLst>
              </p:cNvPr>
              <p:cNvSpPr/>
              <p:nvPr/>
            </p:nvSpPr>
            <p:spPr>
              <a:xfrm>
                <a:off x="1219200" y="8648701"/>
                <a:ext cx="12954000" cy="700564"/>
              </a:xfrm>
              <a:prstGeom prst="round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49" name="Text 3">
              <a:extLst>
                <a:ext uri="{FF2B5EF4-FFF2-40B4-BE49-F238E27FC236}">
                  <a16:creationId xmlns:a16="http://schemas.microsoft.com/office/drawing/2014/main" id="{1D990999-4C8E-F1D4-5EE7-696D5D8C8C18}"/>
                </a:ext>
              </a:extLst>
            </p:cNvPr>
            <p:cNvSpPr/>
            <p:nvPr/>
          </p:nvSpPr>
          <p:spPr>
            <a:xfrm>
              <a:off x="1528997" y="8832034"/>
              <a:ext cx="13253804" cy="47715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defTabSz="914446">
                <a:defRPr/>
              </a:pPr>
              <a:r>
                <a:rPr lang="en-US" sz="1467" b="1" i="1" dirty="0">
                  <a:solidFill>
                    <a:srgbClr val="002B1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Note: </a:t>
              </a:r>
              <a:r>
                <a:rPr lang="en-US" sz="1467" i="1" dirty="0">
                  <a:solidFill>
                    <a:srgbClr val="002B1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The excerpts are lightly summarized here; see the full case log for the original text.</a:t>
              </a:r>
              <a:endParaRPr lang="en-US" sz="1467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" name="Action Button: Go Home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E22CF0E-4362-432C-428B-191D0479C87E}"/>
              </a:ext>
            </a:extLst>
          </p:cNvPr>
          <p:cNvSpPr/>
          <p:nvPr/>
        </p:nvSpPr>
        <p:spPr>
          <a:xfrm>
            <a:off x="11379200" y="6175281"/>
            <a:ext cx="762000" cy="606519"/>
          </a:xfrm>
          <a:prstGeom prst="actionButtonHom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813F7-1808-1CC4-24EC-990800623502}"/>
              </a:ext>
            </a:extLst>
          </p:cNvPr>
          <p:cNvSpPr txBox="1"/>
          <p:nvPr/>
        </p:nvSpPr>
        <p:spPr>
          <a:xfrm>
            <a:off x="355600" y="6578600"/>
            <a:ext cx="4876800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04815">
              <a:defRPr/>
            </a:pPr>
            <a:r>
              <a:rPr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  <a:r>
              <a:rPr lang="en-US"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ripadvisor</a:t>
            </a:r>
            <a:r>
              <a:rPr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F</a:t>
            </a:r>
            <a:r>
              <a:rPr lang="en-US"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raud Support</a:t>
            </a:r>
            <a:r>
              <a:rPr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</a:t>
            </a:r>
            <a:r>
              <a:rPr lang="en-US"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Owner Examples</a:t>
            </a:r>
            <a:endParaRPr sz="1067" spc="33" dirty="0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8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0F277-A91F-75CC-8709-5C9C25693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FDE37E7D-CDB1-6D12-D65B-B08A4F381A8F}"/>
              </a:ext>
            </a:extLst>
          </p:cNvPr>
          <p:cNvSpPr/>
          <p:nvPr/>
        </p:nvSpPr>
        <p:spPr>
          <a:xfrm>
            <a:off x="6309333" y="1557952"/>
            <a:ext cx="5310667" cy="3728985"/>
          </a:xfrm>
          <a:prstGeom prst="roundRect">
            <a:avLst/>
          </a:prstGeom>
          <a:solidFill>
            <a:srgbClr val="FFED0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8" name="Rounded Rectangle 3">
            <a:extLst>
              <a:ext uri="{FF2B5EF4-FFF2-40B4-BE49-F238E27FC236}">
                <a16:creationId xmlns:a16="http://schemas.microsoft.com/office/drawing/2014/main" id="{C8ECDFAF-287B-BDAF-4D5D-5FD34F1EAE0A}"/>
              </a:ext>
            </a:extLst>
          </p:cNvPr>
          <p:cNvSpPr/>
          <p:nvPr/>
        </p:nvSpPr>
        <p:spPr>
          <a:xfrm>
            <a:off x="557866" y="1557952"/>
            <a:ext cx="5310667" cy="3728985"/>
          </a:xfrm>
          <a:prstGeom prst="roundRect">
            <a:avLst/>
          </a:prstGeom>
          <a:solidFill>
            <a:srgbClr val="FF6D3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486C216-D270-9451-4202-FE52F6BF355A}"/>
              </a:ext>
            </a:extLst>
          </p:cNvPr>
          <p:cNvSpPr/>
          <p:nvPr/>
        </p:nvSpPr>
        <p:spPr>
          <a:xfrm>
            <a:off x="632933" y="1600200"/>
            <a:ext cx="5310667" cy="372898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68495273-4A44-6422-573E-C387DE3E80C0}"/>
              </a:ext>
            </a:extLst>
          </p:cNvPr>
          <p:cNvSpPr/>
          <p:nvPr/>
        </p:nvSpPr>
        <p:spPr>
          <a:xfrm>
            <a:off x="6400800" y="1600200"/>
            <a:ext cx="5310667" cy="372898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79E6A378-80C9-8D3D-6232-17CF545A3E75}"/>
              </a:ext>
            </a:extLst>
          </p:cNvPr>
          <p:cNvSpPr/>
          <p:nvPr/>
        </p:nvSpPr>
        <p:spPr>
          <a:xfrm>
            <a:off x="632933" y="413725"/>
            <a:ext cx="7315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lang="en-US" sz="1100" b="1" kern="0" spc="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REVIEWERS · VERBATIM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5D4FBA11-4B5C-71A3-42BC-F9AB9E25D60F}"/>
              </a:ext>
            </a:extLst>
          </p:cNvPr>
          <p:cNvSpPr/>
          <p:nvPr/>
        </p:nvSpPr>
        <p:spPr>
          <a:xfrm>
            <a:off x="632933" y="733765"/>
            <a:ext cx="10058400" cy="6258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lang="en-US" sz="3467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Why Reviewers Contact Us</a:t>
            </a: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2E2B9AC7-99F1-EB70-5B73-D2D21173D4CC}"/>
              </a:ext>
            </a:extLst>
          </p:cNvPr>
          <p:cNvSpPr/>
          <p:nvPr/>
        </p:nvSpPr>
        <p:spPr>
          <a:xfrm>
            <a:off x="933687" y="2495583"/>
            <a:ext cx="4709160" cy="118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30000"/>
              </a:lnSpc>
              <a:defRPr/>
            </a:pPr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“My review isn't showing up on the hotel page yet; is it still being checked?”</a:t>
            </a: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BAADCF75-B0CF-4397-FE07-96DCE95BE1B9}"/>
              </a:ext>
            </a:extLst>
          </p:cNvPr>
          <p:cNvSpPr/>
          <p:nvPr/>
        </p:nvSpPr>
        <p:spPr>
          <a:xfrm>
            <a:off x="6717953" y="2200067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30000"/>
              </a:lnSpc>
              <a:defRPr/>
            </a:pPr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"Yesterday, I saw a counter sign offering free dessert for a live 5-star Tripadvisor review. Staff were actively pushing diners to review before billing. This violates your anti-incentivization policy and explains their high volume of generic 5-star ratings. Photo evidence attached."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6EDDBAD-76F4-8CEE-B4E7-347CFA9777ED}"/>
              </a:ext>
            </a:extLst>
          </p:cNvPr>
          <p:cNvGrpSpPr/>
          <p:nvPr/>
        </p:nvGrpSpPr>
        <p:grpSpPr>
          <a:xfrm>
            <a:off x="901327" y="4444252"/>
            <a:ext cx="1449764" cy="254528"/>
            <a:chOff x="1559154" y="7290209"/>
            <a:chExt cx="3440000" cy="560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CD4739F-78C6-33A7-15EB-3E7C30344130}"/>
                </a:ext>
              </a:extLst>
            </p:cNvPr>
            <p:cNvSpPr/>
            <p:nvPr/>
          </p:nvSpPr>
          <p:spPr>
            <a:xfrm>
              <a:off x="155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0F25A1A-8584-D390-628D-11B4FE4ECFE7}"/>
                </a:ext>
              </a:extLst>
            </p:cNvPr>
            <p:cNvSpPr/>
            <p:nvPr/>
          </p:nvSpPr>
          <p:spPr>
            <a:xfrm>
              <a:off x="227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FE39537-230F-AF42-DEB6-2C1591E953BA}"/>
                </a:ext>
              </a:extLst>
            </p:cNvPr>
            <p:cNvSpPr/>
            <p:nvPr/>
          </p:nvSpPr>
          <p:spPr>
            <a:xfrm>
              <a:off x="299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A190282-836C-EFAF-5B1D-1DD97735534E}"/>
                </a:ext>
              </a:extLst>
            </p:cNvPr>
            <p:cNvSpPr/>
            <p:nvPr/>
          </p:nvSpPr>
          <p:spPr>
            <a:xfrm>
              <a:off x="371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8EEC56F-FF00-29E5-8292-44585D213A8A}"/>
                </a:ext>
              </a:extLst>
            </p:cNvPr>
            <p:cNvSpPr/>
            <p:nvPr/>
          </p:nvSpPr>
          <p:spPr>
            <a:xfrm>
              <a:off x="443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9F4E6F5-498A-04BE-7AF7-3899B67C07E9}"/>
              </a:ext>
            </a:extLst>
          </p:cNvPr>
          <p:cNvSpPr txBox="1"/>
          <p:nvPr/>
        </p:nvSpPr>
        <p:spPr>
          <a:xfrm>
            <a:off x="901327" y="4749800"/>
            <a:ext cx="400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sz="1200" dirty="0">
                <a:solidFill>
                  <a:srgbClr val="002B11"/>
                </a:solidFill>
                <a:latin typeface="Poppins"/>
              </a:rPr>
              <a:t>@FraudOps · Investigator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1216552-0698-875C-DCC5-94195ADF2F2E}"/>
              </a:ext>
            </a:extLst>
          </p:cNvPr>
          <p:cNvGrpSpPr/>
          <p:nvPr/>
        </p:nvGrpSpPr>
        <p:grpSpPr>
          <a:xfrm>
            <a:off x="6717953" y="4610489"/>
            <a:ext cx="1449764" cy="254528"/>
            <a:chOff x="1559154" y="7290209"/>
            <a:chExt cx="3440000" cy="560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E3E5F94-E7E9-E3F3-0BE1-3A9D65224F01}"/>
                </a:ext>
              </a:extLst>
            </p:cNvPr>
            <p:cNvSpPr/>
            <p:nvPr/>
          </p:nvSpPr>
          <p:spPr>
            <a:xfrm>
              <a:off x="155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5B07DB2-444F-51A5-78B4-D6D2C887A314}"/>
                </a:ext>
              </a:extLst>
            </p:cNvPr>
            <p:cNvSpPr/>
            <p:nvPr/>
          </p:nvSpPr>
          <p:spPr>
            <a:xfrm>
              <a:off x="227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5E9A7B1-8797-1545-B670-5CE27912A614}"/>
                </a:ext>
              </a:extLst>
            </p:cNvPr>
            <p:cNvSpPr/>
            <p:nvPr/>
          </p:nvSpPr>
          <p:spPr>
            <a:xfrm>
              <a:off x="299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81CDD94-793C-8EF3-3C52-5727E74BE73B}"/>
                </a:ext>
              </a:extLst>
            </p:cNvPr>
            <p:cNvSpPr/>
            <p:nvPr/>
          </p:nvSpPr>
          <p:spPr>
            <a:xfrm>
              <a:off x="371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3816B09-B088-6FBB-B3DE-635D58CE7B14}"/>
                </a:ext>
              </a:extLst>
            </p:cNvPr>
            <p:cNvSpPr/>
            <p:nvPr/>
          </p:nvSpPr>
          <p:spPr>
            <a:xfrm>
              <a:off x="443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C030C4E-BB92-DB84-DB3E-30616D4E2B81}"/>
              </a:ext>
            </a:extLst>
          </p:cNvPr>
          <p:cNvSpPr txBox="1"/>
          <p:nvPr/>
        </p:nvSpPr>
        <p:spPr>
          <a:xfrm>
            <a:off x="6717953" y="4916038"/>
            <a:ext cx="400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sz="1200" dirty="0">
                <a:solidFill>
                  <a:srgbClr val="002B11"/>
                </a:solidFill>
                <a:latin typeface="Poppins"/>
              </a:rPr>
              <a:t>@FraudOps · Investigator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9C4D21C-6D6E-0EDC-A88D-3D6811AFB9EE}"/>
              </a:ext>
            </a:extLst>
          </p:cNvPr>
          <p:cNvGrpSpPr/>
          <p:nvPr/>
        </p:nvGrpSpPr>
        <p:grpSpPr>
          <a:xfrm>
            <a:off x="660137" y="5639165"/>
            <a:ext cx="9093201" cy="517843"/>
            <a:chOff x="1143000" y="8572501"/>
            <a:chExt cx="13639801" cy="776764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EAA96FE-A664-CD9C-186B-B20FF6B7E718}"/>
                </a:ext>
              </a:extLst>
            </p:cNvPr>
            <p:cNvGrpSpPr/>
            <p:nvPr/>
          </p:nvGrpSpPr>
          <p:grpSpPr>
            <a:xfrm>
              <a:off x="1143000" y="8572501"/>
              <a:ext cx="13030200" cy="776764"/>
              <a:chOff x="1143000" y="8572501"/>
              <a:chExt cx="13030200" cy="776764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6D36FAA1-EC85-4BC4-3ECE-F65C2C11ED9D}"/>
                  </a:ext>
                </a:extLst>
              </p:cNvPr>
              <p:cNvSpPr/>
              <p:nvPr/>
            </p:nvSpPr>
            <p:spPr>
              <a:xfrm>
                <a:off x="1143000" y="8572501"/>
                <a:ext cx="12954000" cy="700564"/>
              </a:xfrm>
              <a:prstGeom prst="roundRect">
                <a:avLst/>
              </a:prstGeom>
              <a:solidFill>
                <a:srgbClr val="00EB5B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US" sz="12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F845E798-A69C-822D-4DD4-D0888DE32D58}"/>
                  </a:ext>
                </a:extLst>
              </p:cNvPr>
              <p:cNvSpPr/>
              <p:nvPr/>
            </p:nvSpPr>
            <p:spPr>
              <a:xfrm>
                <a:off x="1219200" y="8648701"/>
                <a:ext cx="12954000" cy="700564"/>
              </a:xfrm>
              <a:prstGeom prst="round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46" name="Text 3">
              <a:extLst>
                <a:ext uri="{FF2B5EF4-FFF2-40B4-BE49-F238E27FC236}">
                  <a16:creationId xmlns:a16="http://schemas.microsoft.com/office/drawing/2014/main" id="{DACC8EDB-8C30-C7BD-F80B-874C2AD77815}"/>
                </a:ext>
              </a:extLst>
            </p:cNvPr>
            <p:cNvSpPr/>
            <p:nvPr/>
          </p:nvSpPr>
          <p:spPr>
            <a:xfrm>
              <a:off x="1528997" y="8832034"/>
              <a:ext cx="13253804" cy="47715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defTabSz="914446">
                <a:defRPr/>
              </a:pPr>
              <a:r>
                <a:rPr lang="en-US" sz="1467" b="1" i="1" dirty="0">
                  <a:solidFill>
                    <a:srgbClr val="002B1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Note: </a:t>
              </a:r>
              <a:r>
                <a:rPr lang="en-US" sz="1467" i="1" dirty="0">
                  <a:solidFill>
                    <a:srgbClr val="002B1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The excerpts are lightly summarized here; see the full case log for the original text.</a:t>
              </a:r>
              <a:endParaRPr lang="en-US" sz="1467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7" name="Action Button: Go Home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C9804C3-0274-C476-CC41-8EA0867B2F36}"/>
              </a:ext>
            </a:extLst>
          </p:cNvPr>
          <p:cNvSpPr/>
          <p:nvPr/>
        </p:nvSpPr>
        <p:spPr>
          <a:xfrm>
            <a:off x="11379200" y="6175281"/>
            <a:ext cx="762000" cy="606519"/>
          </a:xfrm>
          <a:prstGeom prst="actionButtonHom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44CEC7B6-5F86-6FBA-2697-AA40182B35CA}"/>
              </a:ext>
            </a:extLst>
          </p:cNvPr>
          <p:cNvSpPr/>
          <p:nvPr/>
        </p:nvSpPr>
        <p:spPr>
          <a:xfrm>
            <a:off x="6650654" y="1959589"/>
            <a:ext cx="4983480" cy="6669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buClr>
                <a:srgbClr val="000000"/>
              </a:buClr>
              <a:defRPr/>
            </a:pPr>
            <a:r>
              <a:rPr lang="en-US" sz="1867" b="1" kern="0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 2: REPORT SUSPICIOUS ACTIVITY</a:t>
            </a: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377FC655-18FF-9CF4-55F3-25689B79C158}"/>
              </a:ext>
            </a:extLst>
          </p:cNvPr>
          <p:cNvSpPr/>
          <p:nvPr/>
        </p:nvSpPr>
        <p:spPr>
          <a:xfrm>
            <a:off x="858619" y="2071397"/>
            <a:ext cx="4709160" cy="37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buClr>
                <a:srgbClr val="000000"/>
              </a:buClr>
              <a:defRPr/>
            </a:pPr>
            <a:r>
              <a:rPr lang="en-US" sz="1867" b="1" kern="0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 1: REVIEW STATUS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8405B4-1FD7-F2F1-5B94-17763BD3EE08}"/>
              </a:ext>
            </a:extLst>
          </p:cNvPr>
          <p:cNvSpPr txBox="1"/>
          <p:nvPr/>
        </p:nvSpPr>
        <p:spPr>
          <a:xfrm>
            <a:off x="355600" y="6578600"/>
            <a:ext cx="4876800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04815">
              <a:defRPr/>
            </a:pPr>
            <a:r>
              <a:rPr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  <a:r>
              <a:rPr lang="en-US"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ripadvisor</a:t>
            </a:r>
            <a:r>
              <a:rPr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F</a:t>
            </a:r>
            <a:r>
              <a:rPr lang="en-US"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raud Support</a:t>
            </a:r>
            <a:r>
              <a:rPr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</a:t>
            </a:r>
            <a:r>
              <a:rPr lang="en-US"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Reviewer Examples</a:t>
            </a:r>
            <a:endParaRPr sz="1067" spc="33" dirty="0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859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8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226CA-DDEE-01B8-0851-89DC796A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FFC434A3-38DF-BA3B-ADB4-11E39B11F40D}"/>
              </a:ext>
            </a:extLst>
          </p:cNvPr>
          <p:cNvSpPr/>
          <p:nvPr/>
        </p:nvSpPr>
        <p:spPr>
          <a:xfrm>
            <a:off x="6309333" y="1557952"/>
            <a:ext cx="5310667" cy="3750649"/>
          </a:xfrm>
          <a:prstGeom prst="roundRect">
            <a:avLst/>
          </a:prstGeom>
          <a:solidFill>
            <a:srgbClr val="23EEB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8" name="Rounded Rectangle 3">
            <a:extLst>
              <a:ext uri="{FF2B5EF4-FFF2-40B4-BE49-F238E27FC236}">
                <a16:creationId xmlns:a16="http://schemas.microsoft.com/office/drawing/2014/main" id="{CD0ADAAC-1C3D-53A4-C881-9CCD1F4CFF23}"/>
              </a:ext>
            </a:extLst>
          </p:cNvPr>
          <p:cNvSpPr/>
          <p:nvPr/>
        </p:nvSpPr>
        <p:spPr>
          <a:xfrm>
            <a:off x="557866" y="1557952"/>
            <a:ext cx="5310667" cy="3750649"/>
          </a:xfrm>
          <a:prstGeom prst="roundRect">
            <a:avLst/>
          </a:prstGeom>
          <a:solidFill>
            <a:srgbClr val="D953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DDB6DF7-32C7-99DF-4C67-5D3DFB4BAA9D}"/>
              </a:ext>
            </a:extLst>
          </p:cNvPr>
          <p:cNvSpPr/>
          <p:nvPr/>
        </p:nvSpPr>
        <p:spPr>
          <a:xfrm>
            <a:off x="632933" y="1600201"/>
            <a:ext cx="5310667" cy="375064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F7B58ABA-43A7-BE8B-DB23-A6E20B944058}"/>
              </a:ext>
            </a:extLst>
          </p:cNvPr>
          <p:cNvSpPr/>
          <p:nvPr/>
        </p:nvSpPr>
        <p:spPr>
          <a:xfrm>
            <a:off x="6373333" y="1600201"/>
            <a:ext cx="5310667" cy="375064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C8A3047-265C-1495-3587-2B405F539BA5}"/>
              </a:ext>
            </a:extLst>
          </p:cNvPr>
          <p:cNvSpPr/>
          <p:nvPr/>
        </p:nvSpPr>
        <p:spPr>
          <a:xfrm>
            <a:off x="640080" y="482600"/>
            <a:ext cx="7315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lang="en-US" sz="1100" b="1" kern="0" spc="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OTHER TA TEAMS · VERBATIM</a:t>
            </a: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8ED62312-77F6-0A23-3571-F672E5F378D8}"/>
              </a:ext>
            </a:extLst>
          </p:cNvPr>
          <p:cNvSpPr/>
          <p:nvPr/>
        </p:nvSpPr>
        <p:spPr>
          <a:xfrm>
            <a:off x="640080" y="787401"/>
            <a:ext cx="11091672" cy="6258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lang="en-US" sz="3467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Why Other TA Teams Contact Us</a:t>
            </a: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E8582B7A-74E1-ACAA-6D53-8C00890BBF05}"/>
              </a:ext>
            </a:extLst>
          </p:cNvPr>
          <p:cNvSpPr/>
          <p:nvPr/>
        </p:nvSpPr>
        <p:spPr>
          <a:xfrm>
            <a:off x="851560" y="2101852"/>
            <a:ext cx="5076800" cy="37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buClr>
                <a:srgbClr val="000000"/>
              </a:buClr>
              <a:defRPr/>
            </a:pPr>
            <a:r>
              <a:rPr lang="en-US" sz="1867" b="1" kern="0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 1: ESCALATION NOTE - OWNER</a:t>
            </a: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69D8AD4-54C3-FF0C-A1EE-13001943CD17}"/>
              </a:ext>
            </a:extLst>
          </p:cNvPr>
          <p:cNvSpPr/>
          <p:nvPr/>
        </p:nvSpPr>
        <p:spPr>
          <a:xfrm>
            <a:off x="910353" y="2482229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30000"/>
              </a:lnSpc>
              <a:defRPr/>
            </a:pPr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“Owner uploaded email proof of extortion from the user </a:t>
            </a:r>
            <a:r>
              <a:rPr lang="en-US" sz="1467" i="1" dirty="0" err="1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Traveler_Mike</a:t>
            </a:r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. A 1-star review was just posted. Requesting immediate removal and account block."</a:t>
            </a: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55C6F95C-7278-8EAA-D868-038AB5BBE53C}"/>
              </a:ext>
            </a:extLst>
          </p:cNvPr>
          <p:cNvSpPr/>
          <p:nvPr/>
        </p:nvSpPr>
        <p:spPr>
          <a:xfrm>
            <a:off x="6613942" y="2101852"/>
            <a:ext cx="4983480" cy="37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buClr>
                <a:srgbClr val="000000"/>
              </a:buClr>
              <a:defRPr/>
            </a:pPr>
            <a:r>
              <a:rPr lang="en-US" sz="1867" b="1" kern="0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 2: ESCALATION NOTE - USER</a:t>
            </a: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57A872BB-4CBF-AFD1-81B3-D9B6883CBF08}"/>
              </a:ext>
            </a:extLst>
          </p:cNvPr>
          <p:cNvSpPr/>
          <p:nvPr/>
        </p:nvSpPr>
        <p:spPr>
          <a:xfrm>
            <a:off x="6682840" y="2213734"/>
            <a:ext cx="4709160" cy="1914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30000"/>
              </a:lnSpc>
              <a:defRPr/>
            </a:pPr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"Traveler states the business owner threatened physical harm via messaging after a 2-star review was posted. Escalating for immediate profile block and security review."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A3BFB3F-DE66-DB15-F851-816BC0938F68}"/>
              </a:ext>
            </a:extLst>
          </p:cNvPr>
          <p:cNvGrpSpPr/>
          <p:nvPr/>
        </p:nvGrpSpPr>
        <p:grpSpPr>
          <a:xfrm>
            <a:off x="910353" y="4327279"/>
            <a:ext cx="1449764" cy="254528"/>
            <a:chOff x="1559154" y="7290209"/>
            <a:chExt cx="3440000" cy="560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C41615-55D9-364F-75DD-B40442912D81}"/>
                </a:ext>
              </a:extLst>
            </p:cNvPr>
            <p:cNvSpPr/>
            <p:nvPr/>
          </p:nvSpPr>
          <p:spPr>
            <a:xfrm>
              <a:off x="155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FF0244-5E3A-B0B9-9E8C-CBBD54566EF8}"/>
                </a:ext>
              </a:extLst>
            </p:cNvPr>
            <p:cNvSpPr/>
            <p:nvPr/>
          </p:nvSpPr>
          <p:spPr>
            <a:xfrm>
              <a:off x="227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7E34D4-C40F-90B2-16DE-F37BE8EC8507}"/>
                </a:ext>
              </a:extLst>
            </p:cNvPr>
            <p:cNvSpPr/>
            <p:nvPr/>
          </p:nvSpPr>
          <p:spPr>
            <a:xfrm>
              <a:off x="299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EA406B-64D9-2635-226C-8DC4C970E4DD}"/>
                </a:ext>
              </a:extLst>
            </p:cNvPr>
            <p:cNvSpPr/>
            <p:nvPr/>
          </p:nvSpPr>
          <p:spPr>
            <a:xfrm>
              <a:off x="371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192B560-0BA1-B117-2ADE-9FAEAEA0270E}"/>
                </a:ext>
              </a:extLst>
            </p:cNvPr>
            <p:cNvSpPr/>
            <p:nvPr/>
          </p:nvSpPr>
          <p:spPr>
            <a:xfrm>
              <a:off x="443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B40C924-F9B3-16E7-B181-11FF2353D582}"/>
              </a:ext>
            </a:extLst>
          </p:cNvPr>
          <p:cNvSpPr txBox="1"/>
          <p:nvPr/>
        </p:nvSpPr>
        <p:spPr>
          <a:xfrm>
            <a:off x="910353" y="4632827"/>
            <a:ext cx="400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sz="1200" dirty="0">
                <a:solidFill>
                  <a:srgbClr val="002B11"/>
                </a:solidFill>
                <a:latin typeface="Poppins"/>
              </a:rPr>
              <a:t>@FraudOps · Investigator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5269759-799D-359F-2166-F0B096688E55}"/>
              </a:ext>
            </a:extLst>
          </p:cNvPr>
          <p:cNvGrpSpPr/>
          <p:nvPr/>
        </p:nvGrpSpPr>
        <p:grpSpPr>
          <a:xfrm>
            <a:off x="6683795" y="4327279"/>
            <a:ext cx="1449764" cy="254528"/>
            <a:chOff x="1559154" y="7290209"/>
            <a:chExt cx="3440000" cy="560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BC4E85-2BB4-C521-F3AD-88E97E3F93F0}"/>
                </a:ext>
              </a:extLst>
            </p:cNvPr>
            <p:cNvSpPr/>
            <p:nvPr/>
          </p:nvSpPr>
          <p:spPr>
            <a:xfrm>
              <a:off x="155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66CFF8E-E4E6-7D00-4141-F84F360D2F51}"/>
                </a:ext>
              </a:extLst>
            </p:cNvPr>
            <p:cNvSpPr/>
            <p:nvPr/>
          </p:nvSpPr>
          <p:spPr>
            <a:xfrm>
              <a:off x="227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0BB9961-83AB-AAFB-B548-445785BA2DEC}"/>
                </a:ext>
              </a:extLst>
            </p:cNvPr>
            <p:cNvSpPr/>
            <p:nvPr/>
          </p:nvSpPr>
          <p:spPr>
            <a:xfrm>
              <a:off x="299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54BA7DA-69EC-23DD-99FF-DED3B820CE92}"/>
                </a:ext>
              </a:extLst>
            </p:cNvPr>
            <p:cNvSpPr/>
            <p:nvPr/>
          </p:nvSpPr>
          <p:spPr>
            <a:xfrm>
              <a:off x="371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A37B5A0-F290-1124-A6C9-4A40777BF663}"/>
                </a:ext>
              </a:extLst>
            </p:cNvPr>
            <p:cNvSpPr/>
            <p:nvPr/>
          </p:nvSpPr>
          <p:spPr>
            <a:xfrm>
              <a:off x="443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FEFB57D-7D74-0718-1651-8119EE8AB12F}"/>
              </a:ext>
            </a:extLst>
          </p:cNvPr>
          <p:cNvSpPr txBox="1"/>
          <p:nvPr/>
        </p:nvSpPr>
        <p:spPr>
          <a:xfrm>
            <a:off x="6683795" y="4632827"/>
            <a:ext cx="400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sz="1200" dirty="0">
                <a:solidFill>
                  <a:srgbClr val="002B11"/>
                </a:solidFill>
                <a:latin typeface="Poppins"/>
              </a:rPr>
              <a:t>@FraudOps · Investigator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6767A2D-B656-48EA-E931-79199C5B07E6}"/>
              </a:ext>
            </a:extLst>
          </p:cNvPr>
          <p:cNvGrpSpPr/>
          <p:nvPr/>
        </p:nvGrpSpPr>
        <p:grpSpPr>
          <a:xfrm>
            <a:off x="640080" y="5593580"/>
            <a:ext cx="9093201" cy="517843"/>
            <a:chOff x="1143000" y="8572501"/>
            <a:chExt cx="13639801" cy="77676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E89DB84-3DEC-864A-ADAA-F03A94FC8B33}"/>
                </a:ext>
              </a:extLst>
            </p:cNvPr>
            <p:cNvGrpSpPr/>
            <p:nvPr/>
          </p:nvGrpSpPr>
          <p:grpSpPr>
            <a:xfrm>
              <a:off x="1143000" y="8572501"/>
              <a:ext cx="13030200" cy="776764"/>
              <a:chOff x="1143000" y="8572501"/>
              <a:chExt cx="13030200" cy="776764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F253387C-B381-7291-C72A-A39CDFD97EA6}"/>
                  </a:ext>
                </a:extLst>
              </p:cNvPr>
              <p:cNvSpPr/>
              <p:nvPr/>
            </p:nvSpPr>
            <p:spPr>
              <a:xfrm>
                <a:off x="1143000" y="8572501"/>
                <a:ext cx="12954000" cy="700564"/>
              </a:xfrm>
              <a:prstGeom prst="roundRect">
                <a:avLst/>
              </a:prstGeom>
              <a:solidFill>
                <a:srgbClr val="00EB5B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US" sz="12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197F2F94-8C5A-29C9-5233-09FF1169162D}"/>
                  </a:ext>
                </a:extLst>
              </p:cNvPr>
              <p:cNvSpPr/>
              <p:nvPr/>
            </p:nvSpPr>
            <p:spPr>
              <a:xfrm>
                <a:off x="1219200" y="8648701"/>
                <a:ext cx="12954000" cy="700564"/>
              </a:xfrm>
              <a:prstGeom prst="round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42" name="Text 3">
              <a:extLst>
                <a:ext uri="{FF2B5EF4-FFF2-40B4-BE49-F238E27FC236}">
                  <a16:creationId xmlns:a16="http://schemas.microsoft.com/office/drawing/2014/main" id="{3AB6F006-C9B3-0519-73E9-FE5149677F53}"/>
                </a:ext>
              </a:extLst>
            </p:cNvPr>
            <p:cNvSpPr/>
            <p:nvPr/>
          </p:nvSpPr>
          <p:spPr>
            <a:xfrm>
              <a:off x="1528997" y="8832034"/>
              <a:ext cx="13253804" cy="47715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defTabSz="914446">
                <a:defRPr/>
              </a:pPr>
              <a:r>
                <a:rPr lang="en-US" sz="1467" b="1" i="1" dirty="0">
                  <a:solidFill>
                    <a:srgbClr val="002B1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Note: </a:t>
              </a:r>
              <a:r>
                <a:rPr lang="en-US" sz="1467" i="1" dirty="0">
                  <a:solidFill>
                    <a:srgbClr val="002B1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The excerpts are lightly summarized here; see the full case log for the original text.</a:t>
              </a:r>
              <a:endParaRPr lang="en-US" sz="1467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7" name="Action Button: Go Home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357E57F-C13E-BACE-3B11-0602592217B6}"/>
              </a:ext>
            </a:extLst>
          </p:cNvPr>
          <p:cNvSpPr/>
          <p:nvPr/>
        </p:nvSpPr>
        <p:spPr>
          <a:xfrm>
            <a:off x="11379200" y="6175281"/>
            <a:ext cx="762000" cy="606519"/>
          </a:xfrm>
          <a:prstGeom prst="actionButtonHom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EF50B-9BD4-D24A-D2FB-62B375F47B5A}"/>
              </a:ext>
            </a:extLst>
          </p:cNvPr>
          <p:cNvSpPr txBox="1"/>
          <p:nvPr/>
        </p:nvSpPr>
        <p:spPr>
          <a:xfrm>
            <a:off x="355600" y="6578600"/>
            <a:ext cx="4876800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04815">
              <a:defRPr/>
            </a:pPr>
            <a:r>
              <a:rPr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  <a:r>
              <a:rPr lang="en-US"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ripadvisor</a:t>
            </a:r>
            <a:r>
              <a:rPr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F</a:t>
            </a:r>
            <a:r>
              <a:rPr lang="en-US"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raud Support</a:t>
            </a:r>
            <a:r>
              <a:rPr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</a:t>
            </a:r>
            <a:r>
              <a:rPr lang="en-US"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 Examples</a:t>
            </a:r>
            <a:endParaRPr sz="1067" spc="33" dirty="0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805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8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7EF654-B835-A33A-A59E-24A7019EE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4F249A8E-B100-8C14-D89A-6C127E4E4F33}"/>
              </a:ext>
            </a:extLst>
          </p:cNvPr>
          <p:cNvSpPr/>
          <p:nvPr/>
        </p:nvSpPr>
        <p:spPr>
          <a:xfrm>
            <a:off x="6309333" y="1557952"/>
            <a:ext cx="5310667" cy="3734581"/>
          </a:xfrm>
          <a:prstGeom prst="roundRect">
            <a:avLst/>
          </a:prstGeom>
          <a:solidFill>
            <a:srgbClr val="FFED0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8" name="Rounded Rectangle 3">
            <a:extLst>
              <a:ext uri="{FF2B5EF4-FFF2-40B4-BE49-F238E27FC236}">
                <a16:creationId xmlns:a16="http://schemas.microsoft.com/office/drawing/2014/main" id="{6B1D6971-9957-F28C-B2EC-269A512AB241}"/>
              </a:ext>
            </a:extLst>
          </p:cNvPr>
          <p:cNvSpPr/>
          <p:nvPr/>
        </p:nvSpPr>
        <p:spPr>
          <a:xfrm>
            <a:off x="557866" y="1557952"/>
            <a:ext cx="5310667" cy="3734581"/>
          </a:xfrm>
          <a:prstGeom prst="roundRect">
            <a:avLst/>
          </a:prstGeom>
          <a:solidFill>
            <a:srgbClr val="002B1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921DCFC-B9B3-5736-FC47-1020DBABE01F}"/>
              </a:ext>
            </a:extLst>
          </p:cNvPr>
          <p:cNvSpPr/>
          <p:nvPr/>
        </p:nvSpPr>
        <p:spPr>
          <a:xfrm>
            <a:off x="632933" y="1600201"/>
            <a:ext cx="5310667" cy="3734581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0DB2B30C-B0D0-C9E2-2435-1FEDF21D588F}"/>
              </a:ext>
            </a:extLst>
          </p:cNvPr>
          <p:cNvSpPr/>
          <p:nvPr/>
        </p:nvSpPr>
        <p:spPr>
          <a:xfrm>
            <a:off x="6373333" y="1600201"/>
            <a:ext cx="5310667" cy="3734581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sz="48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CEC6086-7730-3E23-D6C8-4DC5DFED97F7}"/>
              </a:ext>
            </a:extLst>
          </p:cNvPr>
          <p:cNvSpPr/>
          <p:nvPr/>
        </p:nvSpPr>
        <p:spPr>
          <a:xfrm>
            <a:off x="640080" y="482600"/>
            <a:ext cx="7315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lang="en-US" sz="1100" b="1" kern="0" spc="200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POLICE/ATTORNEY · VERBATIM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434E1B8D-6B02-73F4-D4D2-E52CAC93C640}"/>
              </a:ext>
            </a:extLst>
          </p:cNvPr>
          <p:cNvSpPr/>
          <p:nvPr/>
        </p:nvSpPr>
        <p:spPr>
          <a:xfrm>
            <a:off x="640080" y="787401"/>
            <a:ext cx="11091672" cy="6258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lang="en-US" sz="3467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Why Police or Attorney Contact Us</a:t>
            </a: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691F9F41-E41F-1879-8CAC-DAB77B369255}"/>
              </a:ext>
            </a:extLst>
          </p:cNvPr>
          <p:cNvSpPr/>
          <p:nvPr/>
        </p:nvSpPr>
        <p:spPr>
          <a:xfrm>
            <a:off x="851560" y="2101852"/>
            <a:ext cx="4709160" cy="37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buClr>
                <a:srgbClr val="000000"/>
              </a:buClr>
              <a:defRPr/>
            </a:pPr>
            <a:r>
              <a:rPr lang="en-US" sz="1867" b="1" kern="0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 1: POLICE EXTORTION REPORT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FCF16E24-C978-4F87-AFBC-203C9B1C4FE3}"/>
              </a:ext>
            </a:extLst>
          </p:cNvPr>
          <p:cNvSpPr/>
          <p:nvPr/>
        </p:nvSpPr>
        <p:spPr>
          <a:xfrm>
            <a:off x="914400" y="2240280"/>
            <a:ext cx="470916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30000"/>
              </a:lnSpc>
              <a:defRPr/>
            </a:pPr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"Suspect threatened to damage victim's livelihood via text unless given a $1,200 refund. Victim refused; 1-star reviews appeared immediately. Requesting IP logs for prosecution."</a:t>
            </a: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07037CF1-27C5-B84F-7536-B9F5BE5E2CAC}"/>
              </a:ext>
            </a:extLst>
          </p:cNvPr>
          <p:cNvSpPr/>
          <p:nvPr/>
        </p:nvSpPr>
        <p:spPr>
          <a:xfrm>
            <a:off x="6690453" y="2101852"/>
            <a:ext cx="4983480" cy="379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buClr>
                <a:srgbClr val="000000"/>
              </a:buClr>
              <a:defRPr/>
            </a:pPr>
            <a:r>
              <a:rPr lang="en-US" sz="1867" b="1" kern="0" dirty="0">
                <a:solidFill>
                  <a:srgbClr val="8A827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 2: ATTORNEY SABOTAGE FILE</a:t>
            </a: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AE4E411C-5D4A-9A4E-B2F1-973252299D4F}"/>
              </a:ext>
            </a:extLst>
          </p:cNvPr>
          <p:cNvSpPr/>
          <p:nvPr/>
        </p:nvSpPr>
        <p:spPr>
          <a:xfrm>
            <a:off x="6778320" y="2213734"/>
            <a:ext cx="4709160" cy="1977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ct val="130000"/>
              </a:lnSpc>
              <a:defRPr/>
            </a:pPr>
            <a:r>
              <a:rPr lang="en-US" sz="1467" i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"Representing Client #456. Listing targeted by 42 templated 1-star reviews redirecting traffic to a rival. This constitutes trade libel and tortious business interference." 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11D251E-A0BC-AD8F-779E-8E6F3FD3A6BC}"/>
              </a:ext>
            </a:extLst>
          </p:cNvPr>
          <p:cNvGrpSpPr/>
          <p:nvPr/>
        </p:nvGrpSpPr>
        <p:grpSpPr>
          <a:xfrm>
            <a:off x="910353" y="4327279"/>
            <a:ext cx="1449764" cy="254528"/>
            <a:chOff x="1559154" y="7290209"/>
            <a:chExt cx="3440000" cy="560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C4B7B7B-662E-B051-001E-E36D5204B501}"/>
                </a:ext>
              </a:extLst>
            </p:cNvPr>
            <p:cNvSpPr/>
            <p:nvPr/>
          </p:nvSpPr>
          <p:spPr>
            <a:xfrm>
              <a:off x="155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3B040C8-68C9-B204-21CA-EC68F151A541}"/>
                </a:ext>
              </a:extLst>
            </p:cNvPr>
            <p:cNvSpPr/>
            <p:nvPr/>
          </p:nvSpPr>
          <p:spPr>
            <a:xfrm>
              <a:off x="227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9FC9E0E-EA99-6A16-90F8-D1B30D0C4C2E}"/>
                </a:ext>
              </a:extLst>
            </p:cNvPr>
            <p:cNvSpPr/>
            <p:nvPr/>
          </p:nvSpPr>
          <p:spPr>
            <a:xfrm>
              <a:off x="299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125B08E-9280-1D47-28CA-6C645F825C28}"/>
                </a:ext>
              </a:extLst>
            </p:cNvPr>
            <p:cNvSpPr/>
            <p:nvPr/>
          </p:nvSpPr>
          <p:spPr>
            <a:xfrm>
              <a:off x="371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7825132-1404-B326-59B0-41F85DA6F973}"/>
                </a:ext>
              </a:extLst>
            </p:cNvPr>
            <p:cNvSpPr/>
            <p:nvPr/>
          </p:nvSpPr>
          <p:spPr>
            <a:xfrm>
              <a:off x="443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1BFC84A-ECFD-239A-4819-46B20616F18C}"/>
              </a:ext>
            </a:extLst>
          </p:cNvPr>
          <p:cNvSpPr txBox="1"/>
          <p:nvPr/>
        </p:nvSpPr>
        <p:spPr>
          <a:xfrm>
            <a:off x="910353" y="4632827"/>
            <a:ext cx="400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sz="1200" dirty="0">
                <a:solidFill>
                  <a:srgbClr val="002B11"/>
                </a:solidFill>
                <a:latin typeface="Poppins"/>
              </a:rPr>
              <a:t>@FraudOps · Investigator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68D9796-625A-0986-C899-4A700CCB9E85}"/>
              </a:ext>
            </a:extLst>
          </p:cNvPr>
          <p:cNvGrpSpPr/>
          <p:nvPr/>
        </p:nvGrpSpPr>
        <p:grpSpPr>
          <a:xfrm>
            <a:off x="6683795" y="4327279"/>
            <a:ext cx="1449764" cy="254528"/>
            <a:chOff x="1559154" y="7290209"/>
            <a:chExt cx="3440000" cy="56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050200B-7534-9220-8507-2CAA63C8ECF5}"/>
                </a:ext>
              </a:extLst>
            </p:cNvPr>
            <p:cNvSpPr/>
            <p:nvPr/>
          </p:nvSpPr>
          <p:spPr>
            <a:xfrm>
              <a:off x="155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8752FC-ABFA-6A62-86B9-BF0837FD019E}"/>
                </a:ext>
              </a:extLst>
            </p:cNvPr>
            <p:cNvSpPr/>
            <p:nvPr/>
          </p:nvSpPr>
          <p:spPr>
            <a:xfrm>
              <a:off x="227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643C7C-87F8-4F84-BB3E-5BA6CAB90C14}"/>
                </a:ext>
              </a:extLst>
            </p:cNvPr>
            <p:cNvSpPr/>
            <p:nvPr/>
          </p:nvSpPr>
          <p:spPr>
            <a:xfrm>
              <a:off x="2999154" y="7290209"/>
              <a:ext cx="560000" cy="560000"/>
            </a:xfrm>
            <a:prstGeom prst="ellipse">
              <a:avLst/>
            </a:prstGeom>
            <a:solidFill>
              <a:srgbClr val="00EB5B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3B65788-F13E-1451-49D0-3A513725512B}"/>
                </a:ext>
              </a:extLst>
            </p:cNvPr>
            <p:cNvSpPr/>
            <p:nvPr/>
          </p:nvSpPr>
          <p:spPr>
            <a:xfrm>
              <a:off x="371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67723C9-6159-88AC-1D30-4D44711D4172}"/>
                </a:ext>
              </a:extLst>
            </p:cNvPr>
            <p:cNvSpPr/>
            <p:nvPr/>
          </p:nvSpPr>
          <p:spPr>
            <a:xfrm>
              <a:off x="4439154" y="7290209"/>
              <a:ext cx="560000" cy="5600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EB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30">
                <a:defRPr/>
              </a:pPr>
              <a:endParaRPr sz="48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1F01E57-CCAB-EEEE-5086-42FFFF2A4C5C}"/>
              </a:ext>
            </a:extLst>
          </p:cNvPr>
          <p:cNvSpPr txBox="1"/>
          <p:nvPr/>
        </p:nvSpPr>
        <p:spPr>
          <a:xfrm>
            <a:off x="6683795" y="4632827"/>
            <a:ext cx="400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609630">
              <a:defRPr/>
            </a:pPr>
            <a:r>
              <a:rPr sz="1200" dirty="0">
                <a:solidFill>
                  <a:srgbClr val="002B11"/>
                </a:solidFill>
                <a:latin typeface="Poppins"/>
              </a:rPr>
              <a:t>@FraudOps · Investigator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B0AC3C-751F-2DA3-8721-69890B771B66}"/>
              </a:ext>
            </a:extLst>
          </p:cNvPr>
          <p:cNvGrpSpPr/>
          <p:nvPr/>
        </p:nvGrpSpPr>
        <p:grpSpPr>
          <a:xfrm>
            <a:off x="640080" y="5620860"/>
            <a:ext cx="9093201" cy="517843"/>
            <a:chOff x="1143000" y="8572501"/>
            <a:chExt cx="13639801" cy="776764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B54DD41-7CC7-D765-32BC-224019801EFF}"/>
                </a:ext>
              </a:extLst>
            </p:cNvPr>
            <p:cNvGrpSpPr/>
            <p:nvPr/>
          </p:nvGrpSpPr>
          <p:grpSpPr>
            <a:xfrm>
              <a:off x="1143000" y="8572501"/>
              <a:ext cx="13030200" cy="776764"/>
              <a:chOff x="1143000" y="8572501"/>
              <a:chExt cx="13030200" cy="776764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5BBD6228-23CB-7540-A703-F01520DB76D3}"/>
                  </a:ext>
                </a:extLst>
              </p:cNvPr>
              <p:cNvSpPr/>
              <p:nvPr/>
            </p:nvSpPr>
            <p:spPr>
              <a:xfrm>
                <a:off x="1143000" y="8572501"/>
                <a:ext cx="12954000" cy="700564"/>
              </a:xfrm>
              <a:prstGeom prst="roundRect">
                <a:avLst/>
              </a:prstGeom>
              <a:solidFill>
                <a:srgbClr val="00EB5B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30"/>
                <a:endParaRPr lang="en-US" sz="120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0104B06D-4A20-C014-47F8-065817388484}"/>
                  </a:ext>
                </a:extLst>
              </p:cNvPr>
              <p:cNvSpPr/>
              <p:nvPr/>
            </p:nvSpPr>
            <p:spPr>
              <a:xfrm>
                <a:off x="1219200" y="8648701"/>
                <a:ext cx="12954000" cy="700564"/>
              </a:xfrm>
              <a:prstGeom prst="round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defTabSz="609630"/>
                <a:endParaRPr lang="en-US" sz="120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43" name="Text 3">
              <a:extLst>
                <a:ext uri="{FF2B5EF4-FFF2-40B4-BE49-F238E27FC236}">
                  <a16:creationId xmlns:a16="http://schemas.microsoft.com/office/drawing/2014/main" id="{FCFE458A-8B34-4DFA-A33C-9B673335D153}"/>
                </a:ext>
              </a:extLst>
            </p:cNvPr>
            <p:cNvSpPr/>
            <p:nvPr/>
          </p:nvSpPr>
          <p:spPr>
            <a:xfrm>
              <a:off x="1528997" y="8832034"/>
              <a:ext cx="13253804" cy="47715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defTabSz="914446">
                <a:defRPr/>
              </a:pPr>
              <a:r>
                <a:rPr lang="en-US" sz="1467" b="1" i="1" dirty="0">
                  <a:solidFill>
                    <a:srgbClr val="002B1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Note: </a:t>
              </a:r>
              <a:r>
                <a:rPr lang="en-US" sz="1467" i="1" dirty="0">
                  <a:solidFill>
                    <a:srgbClr val="002B11"/>
                  </a:solidFill>
                  <a:latin typeface="Poppins" panose="00000500000000000000" pitchFamily="2" charset="0"/>
                  <a:ea typeface="Calibri" pitchFamily="34" charset="-122"/>
                  <a:cs typeface="Poppins" panose="00000500000000000000" pitchFamily="2" charset="0"/>
                </a:rPr>
                <a:t>The excerpts are lightly summarized here; see the full case log for the original text.</a:t>
              </a:r>
              <a:endParaRPr lang="en-US" sz="1467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CAEE101-DC30-CA30-B541-4D023A08217B}"/>
              </a:ext>
            </a:extLst>
          </p:cNvPr>
          <p:cNvSpPr txBox="1"/>
          <p:nvPr/>
        </p:nvSpPr>
        <p:spPr>
          <a:xfrm>
            <a:off x="355600" y="6578600"/>
            <a:ext cx="4876800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304815">
              <a:defRPr/>
            </a:pPr>
            <a:r>
              <a:rPr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</a:t>
            </a:r>
            <a:r>
              <a:rPr lang="en-US"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ripadvisor</a:t>
            </a:r>
            <a:r>
              <a:rPr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F</a:t>
            </a:r>
            <a:r>
              <a:rPr lang="en-US"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raud Support</a:t>
            </a:r>
            <a:r>
              <a:rPr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/ </a:t>
            </a:r>
            <a:r>
              <a:rPr lang="en-US" sz="1067" spc="3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Police/Attorney Examples</a:t>
            </a:r>
            <a:endParaRPr sz="1067" spc="33" dirty="0">
              <a:solidFill>
                <a:prstClr val="whit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78874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1371</Words>
  <Application>Microsoft Office PowerPoint</Application>
  <PresentationFormat>Widescreen</PresentationFormat>
  <Paragraphs>169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Arial</vt:lpstr>
      <vt:lpstr>Calibri</vt:lpstr>
      <vt:lpstr>Poppins</vt:lpstr>
      <vt:lpstr>Poppins Black</vt:lpstr>
      <vt:lpstr>Poppins Bold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Sutherland Global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Anoop Krishnan</dc:creator>
  <cp:lastModifiedBy>Anoop Krishnan</cp:lastModifiedBy>
  <cp:revision>1</cp:revision>
  <dcterms:created xsi:type="dcterms:W3CDTF">2026-08-21T15:43:32Z</dcterms:created>
  <dcterms:modified xsi:type="dcterms:W3CDTF">2026-08-21T15:43:52Z</dcterms:modified>
</cp:coreProperties>
</file>