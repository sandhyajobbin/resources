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3D_77B96247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72_7CA83843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4D_E291E46A.xml" ContentType="application/vnd.ms-powerpoint.comments+xml"/>
  <Override PartName="/ppt/notesSlides/notesSlide8.xml" ContentType="application/vnd.openxmlformats-officedocument.presentationml.notesSlide+xml"/>
  <Override PartName="/ppt/comments/modernComment_14E_1C27DB76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53_F2CCAB16.xml" ContentType="application/vnd.ms-powerpoint.comments+xml"/>
  <Override PartName="/ppt/notesSlides/notesSlide14.xml" ContentType="application/vnd.openxmlformats-officedocument.presentationml.notesSlide+xml"/>
  <Override PartName="/ppt/comments/modernComment_154_75A631.xml" ContentType="application/vnd.ms-powerpoint.comments+xml"/>
  <Override PartName="/ppt/notesSlides/notesSlide15.xml" ContentType="application/vnd.openxmlformats-officedocument.presentationml.notesSlide+xml"/>
  <Override PartName="/ppt/comments/modernComment_156_5A6A6579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0" r:id="rId5"/>
    <p:sldMasterId id="2147483672" r:id="rId6"/>
  </p:sldMasterIdLst>
  <p:notesMasterIdLst>
    <p:notesMasterId r:id="rId36"/>
  </p:notesMasterIdLst>
  <p:sldIdLst>
    <p:sldId id="317" r:id="rId7"/>
    <p:sldId id="320" r:id="rId8"/>
    <p:sldId id="319" r:id="rId9"/>
    <p:sldId id="263" r:id="rId10"/>
    <p:sldId id="369" r:id="rId11"/>
    <p:sldId id="321" r:id="rId12"/>
    <p:sldId id="370" r:id="rId13"/>
    <p:sldId id="322" r:id="rId14"/>
    <p:sldId id="331" r:id="rId15"/>
    <p:sldId id="333" r:id="rId16"/>
    <p:sldId id="334" r:id="rId17"/>
    <p:sldId id="335" r:id="rId18"/>
    <p:sldId id="332" r:id="rId19"/>
    <p:sldId id="336" r:id="rId20"/>
    <p:sldId id="337" r:id="rId21"/>
    <p:sldId id="338" r:id="rId22"/>
    <p:sldId id="339" r:id="rId23"/>
    <p:sldId id="341" r:id="rId24"/>
    <p:sldId id="340" r:id="rId25"/>
    <p:sldId id="342" r:id="rId26"/>
    <p:sldId id="330" r:id="rId27"/>
    <p:sldId id="362" r:id="rId28"/>
    <p:sldId id="300" r:id="rId29"/>
    <p:sldId id="364" r:id="rId30"/>
    <p:sldId id="363" r:id="rId31"/>
    <p:sldId id="365" r:id="rId32"/>
    <p:sldId id="366" r:id="rId33"/>
    <p:sldId id="367" r:id="rId34"/>
    <p:sldId id="368" r:id="rId35"/>
  </p:sldIdLst>
  <p:sldSz cx="18288000" cy="10287000"/>
  <p:notesSz cx="6858000" cy="9144000"/>
  <p:embeddedFontLst>
    <p:embeddedFont>
      <p:font typeface="Poppins" panose="020B0604020202020204" charset="0"/>
      <p:regular r:id="rId37"/>
      <p:bold r:id="rId38"/>
      <p:italic r:id="rId39"/>
      <p:boldItalic r:id="rId40"/>
    </p:embeddedFont>
    <p:embeddedFont>
      <p:font typeface="Poppins Black" panose="020B0604020202020204" charset="0"/>
      <p:bold r:id="rId41"/>
      <p:boldItalic r:id="rId42"/>
    </p:embeddedFont>
    <p:embeddedFont>
      <p:font typeface="Poppins Bold" panose="020B0604020202020204" charset="0"/>
      <p:regular r:id="rId43"/>
      <p:bold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AE53-A5C0-7019-264B-F90CA0F09934}" name="Harikrishnan B" initials="HB" userId="Harikrishnan B" providerId="None"/>
  <p188:author id="{601739CD-6BD1-BAA4-2804-D2A8DA1BC46A}" name="Anupama Chatti" initials="AC" userId="S::chaanupa@sutherlandglobal.com::8d317b31-7766-4d69-bc0a-0192281c33af" providerId="AD"/>
  <p188:author id="{A62EB9F7-5DA3-8116-45FB-F3A788FDA335}" name="Blessy S" initials="BS" userId="S::sbless2@sutherlandglobal.com::15b3e473-e26c-4018-a39b-85200c5350c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59"/>
    <a:srgbClr val="CFFF21"/>
    <a:srgbClr val="23EEBE"/>
    <a:srgbClr val="4A4A4A"/>
    <a:srgbClr val="D1FF73"/>
    <a:srgbClr val="FF4E51"/>
    <a:srgbClr val="A0FFE9"/>
    <a:srgbClr val="00EB5B"/>
    <a:srgbClr val="D953FF"/>
    <a:srgbClr val="FF5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237619-2021-8C0C-659A-9C59355CD9D7}" v="8" dt="2026-09-21T14:58:54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font" Target="fonts/font3.fntdata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49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a Chatti" userId="S::chaanupa@sutherlandglobal.com::8d317b31-7766-4d69-bc0a-0192281c33af" providerId="AD" clId="Web-{97237619-2021-8C0C-659A-9C59355CD9D7}"/>
    <pc:docChg chg="modSld">
      <pc:chgData name="Anupama Chatti" userId="S::chaanupa@sutherlandglobal.com::8d317b31-7766-4d69-bc0a-0192281c33af" providerId="AD" clId="Web-{97237619-2021-8C0C-659A-9C59355CD9D7}" dt="2026-09-21T14:58:54.829" v="7" actId="14100"/>
      <pc:docMkLst>
        <pc:docMk/>
      </pc:docMkLst>
      <pc:sldChg chg="modSp">
        <pc:chgData name="Anupama Chatti" userId="S::chaanupa@sutherlandglobal.com::8d317b31-7766-4d69-bc0a-0192281c33af" providerId="AD" clId="Web-{97237619-2021-8C0C-659A-9C59355CD9D7}" dt="2026-09-21T14:58:54.829" v="7" actId="14100"/>
        <pc:sldMkLst>
          <pc:docMk/>
          <pc:sldMk cId="905790864" sldId="322"/>
        </pc:sldMkLst>
        <pc:picChg chg="mod">
          <ac:chgData name="Anupama Chatti" userId="S::chaanupa@sutherlandglobal.com::8d317b31-7766-4d69-bc0a-0192281c33af" providerId="AD" clId="Web-{97237619-2021-8C0C-659A-9C59355CD9D7}" dt="2026-09-21T14:58:54.829" v="7" actId="14100"/>
          <ac:picMkLst>
            <pc:docMk/>
            <pc:sldMk cId="905790864" sldId="322"/>
            <ac:picMk id="92" creationId="{82A5FBB6-CFBE-235A-DC18-16180B32AB70}"/>
          </ac:picMkLst>
        </pc:picChg>
      </pc:sldChg>
    </pc:docChg>
  </pc:docChgLst>
  <pc:docChgLst>
    <pc:chgData name="Anupama Chatti" userId="S::chaanupa@sutherlandglobal.com::8d317b31-7766-4d69-bc0a-0192281c33af" providerId="AD" clId="Web-{7C88F020-AD4F-0522-D816-2B7339CD18C7}"/>
    <pc:docChg chg="modSld">
      <pc:chgData name="Anupama Chatti" userId="S::chaanupa@sutherlandglobal.com::8d317b31-7766-4d69-bc0a-0192281c33af" providerId="AD" clId="Web-{7C88F020-AD4F-0522-D816-2B7339CD18C7}" dt="2026-09-07T07:11:47.484" v="0" actId="1076"/>
      <pc:docMkLst>
        <pc:docMk/>
      </pc:docMkLst>
      <pc:sldChg chg="modSp">
        <pc:chgData name="Anupama Chatti" userId="S::chaanupa@sutherlandglobal.com::8d317b31-7766-4d69-bc0a-0192281c33af" providerId="AD" clId="Web-{7C88F020-AD4F-0522-D816-2B7339CD18C7}" dt="2026-09-07T07:11:47.484" v="0" actId="1076"/>
        <pc:sldMkLst>
          <pc:docMk/>
          <pc:sldMk cId="2763654139" sldId="321"/>
        </pc:sldMkLst>
        <pc:spChg chg="mod">
          <ac:chgData name="Anupama Chatti" userId="S::chaanupa@sutherlandglobal.com::8d317b31-7766-4d69-bc0a-0192281c33af" providerId="AD" clId="Web-{7C88F020-AD4F-0522-D816-2B7339CD18C7}" dt="2026-09-07T07:11:47.484" v="0" actId="1076"/>
          <ac:spMkLst>
            <pc:docMk/>
            <pc:sldMk cId="2763654139" sldId="321"/>
            <ac:spMk id="11" creationId="{F3416AA3-4897-86DA-4577-E1E0B32DC7CB}"/>
          </ac:spMkLst>
        </pc:spChg>
      </pc:sldChg>
    </pc:docChg>
  </pc:docChgLst>
  <pc:docChgLst>
    <pc:chgData name="Anupama Chatti" userId="S::chaanupa@sutherlandglobal.com::8d317b31-7766-4d69-bc0a-0192281c33af" providerId="AD" clId="Web-{00000000-0000-0000-0000-000000000000}"/>
    <pc:docChg chg="modSld">
      <pc:chgData name="Anupama Chatti" userId="S::chaanupa@sutherlandglobal.com::8d317b31-7766-4d69-bc0a-0192281c33af" providerId="AD" clId="Web-{00000000-0000-0000-0000-000000000000}" dt="2026-09-04T15:55:36.883" v="0" actId="1076"/>
      <pc:docMkLst>
        <pc:docMk/>
      </pc:docMkLst>
      <pc:sldChg chg="modSp">
        <pc:chgData name="Anupama Chatti" userId="S::chaanupa@sutherlandglobal.com::8d317b31-7766-4d69-bc0a-0192281c33af" providerId="AD" clId="Web-{00000000-0000-0000-0000-000000000000}" dt="2026-09-04T15:55:36.883" v="0" actId="1076"/>
        <pc:sldMkLst>
          <pc:docMk/>
          <pc:sldMk cId="3826800022" sldId="335"/>
        </pc:sldMkLst>
        <pc:spChg chg="mod">
          <ac:chgData name="Anupama Chatti" userId="S::chaanupa@sutherlandglobal.com::8d317b31-7766-4d69-bc0a-0192281c33af" providerId="AD" clId="Web-{00000000-0000-0000-0000-000000000000}" dt="2026-09-04T15:55:36.883" v="0" actId="1076"/>
          <ac:spMkLst>
            <pc:docMk/>
            <pc:sldMk cId="3826800022" sldId="335"/>
            <ac:spMk id="7" creationId="{DE4E459F-07FA-467B-B51C-5B886063EC65}"/>
          </ac:spMkLst>
        </pc:spChg>
      </pc:sldChg>
    </pc:docChg>
  </pc:docChgLst>
</pc:chgInfo>
</file>

<file path=ppt/comments/modernComment_13D_77B962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C09A65-14AF-4079-93A7-98B325185C45}" authorId="{A62EB9F7-5DA3-8116-45FB-F3A788FDA335}" created="2026-08-19T13:42:45.151">
    <pc:sldMkLst xmlns:pc="http://schemas.microsoft.com/office/powerpoint/2013/main/command">
      <pc:docMk/>
      <pc:sldMk cId="2008638023" sldId="317"/>
    </pc:sldMkLst>
    <p188:txBody>
      <a:bodyPr/>
      <a:lstStyle/>
      <a:p>
        <a:r>
          <a:rPr lang="en-US"/>
          <a:t>Kindly include the image for the intro slide</a:t>
        </a:r>
      </a:p>
    </p188:txBody>
  </p188:cm>
</p188:cmLst>
</file>

<file path=ppt/comments/modernComment_14D_E291E4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C03A84-9BDB-4F2F-9000-66DFE65A3073}" authorId="{601739CD-6BD1-BAA4-2804-D2A8DA1BC46A}" created="2026-09-04T15:55:16.5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1212010" sldId="333"/>
      <ac:spMk id="4" creationId="{8A078D41-07B8-B5F8-F184-1AF2B3A339E2}"/>
      <ac:txMk cp="0" len="4">
        <ac:context len="56" hash="385166772"/>
      </ac:txMk>
    </ac:txMkLst>
    <p188:pos x="1595886" y="-64698"/>
    <p188:txBody>
      <a:bodyPr/>
      <a:lstStyle/>
      <a:p>
        <a:r>
          <a:rPr lang="en-US"/>
          <a:t>Need relevant Image</a:t>
        </a:r>
      </a:p>
    </p188:txBody>
  </p188:cm>
</p188:cmLst>
</file>

<file path=ppt/comments/modernComment_14E_1C27DB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B3D020-41FF-4392-A268-75E56D9325E3}" authorId="{601739CD-6BD1-BAA4-2804-D2A8DA1BC46A}" created="2026-09-04T15:55:27.4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72374134" sldId="334"/>
      <ac:spMk id="4" creationId="{DBA14771-5727-176B-743E-1B06F7492C30}"/>
      <ac:txMk cp="0" len="4">
        <ac:context len="65" hash="3155704126"/>
      </ac:txMk>
    </ac:txMkLst>
    <p188:pos x="1595886" y="194094"/>
    <p188:txBody>
      <a:bodyPr/>
      <a:lstStyle/>
      <a:p>
        <a:r>
          <a:rPr lang="en-US"/>
          <a:t>Need relevant image</a:t>
        </a:r>
      </a:p>
    </p188:txBody>
  </p188:cm>
</p188:cmLst>
</file>

<file path=ppt/comments/modernComment_153_F2CCAB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FBB166-79F3-4585-AF94-9D8F51FC99FA}" authorId="{601739CD-6BD1-BAA4-2804-D2A8DA1BC46A}" created="2026-09-04T15:55:55.63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73499414" sldId="339"/>
      <ac:spMk id="47" creationId="{F4D4D8CB-F96E-4DCD-C664-69C911BBD4E9}"/>
      <ac:txMk cp="0" len="4">
        <ac:context len="39" hash="1843804"/>
      </ac:txMk>
    </ac:txMkLst>
    <p188:pos x="1488056" y="323490"/>
    <p188:txBody>
      <a:bodyPr/>
      <a:lstStyle/>
      <a:p>
        <a:r>
          <a:rPr lang="en-US"/>
          <a:t>Relevant image</a:t>
        </a:r>
      </a:p>
    </p188:txBody>
  </p188:cm>
</p188:cmLst>
</file>

<file path=ppt/comments/modernComment_154_75A6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A5D02A-CDD6-4DB9-8212-D0BC403851F6}" authorId="{601739CD-6BD1-BAA4-2804-D2A8DA1BC46A}" created="2026-08-27T16:59:29.11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710257" sldId="340"/>
      <ac:spMk id="7" creationId="{2BD3FF56-5269-93B3-FF9C-FB5231902390}"/>
      <ac:txMk cp="0" len="5">
        <ac:context len="6" hash="3435008194"/>
      </ac:txMk>
    </ac:txMkLst>
    <p188:pos x="1297294" y="579270"/>
    <p188:txBody>
      <a:bodyPr/>
      <a:lstStyle/>
      <a:p>
        <a:r>
          <a:rPr lang="en-US"/>
          <a:t>Examples for when each one is used</a:t>
        </a:r>
      </a:p>
    </p188:txBody>
  </p188:cm>
</p188:cmLst>
</file>

<file path=ppt/comments/modernComment_156_5A6A65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0FB44F-F7A0-4FB9-BBBC-1460FCC0EAE8}" authorId="{A62EB9F7-5DA3-8116-45FB-F3A788FDA335}" created="2026-08-19T13:31:20.798">
    <pc:sldMkLst xmlns:pc="http://schemas.microsoft.com/office/powerpoint/2013/main/command">
      <pc:docMk/>
      <pc:sldMk cId="1516922233" sldId="342"/>
    </pc:sldMkLst>
    <p188:txBody>
      <a:bodyPr/>
      <a:lstStyle/>
      <a:p>
        <a:r>
          <a:rPr lang="en-US"/>
          <a:t>Kindly confirm if more of “Penalty mitigation” content can be included or can we create a separate module</a:t>
        </a:r>
      </a:p>
    </p188:txBody>
  </p188:cm>
</p188:cmLst>
</file>

<file path=ppt/comments/modernComment_172_7CA838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043571-4601-4469-AC1E-1F9A3ECF0C7A}" authorId="{601739CD-6BD1-BAA4-2804-D2A8DA1BC46A}" created="2026-08-27T16:58:32.57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91399235" sldId="370"/>
      <ac:spMk id="4" creationId="{021277FE-8289-2915-3FB4-3E6C91A09406}"/>
      <ac:txMk cp="0" len="15">
        <ac:context len="25" hash="2476724155"/>
      </ac:txMk>
    </ac:txMkLst>
    <p188:pos x="5587832" y="626944"/>
    <p188:txBody>
      <a:bodyPr/>
      <a:lstStyle/>
      <a:p>
        <a:r>
          <a:rPr lang="en-US"/>
          <a:t>If this feels text-heavy we can go with the previous slide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3075B-63E9-4190-822D-12D94F2C201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8D9EE-DC96-4F1C-BCAC-A65D5AD1D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0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F8-E698-E80A-0499-BCB8B2AC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76C0A-BF19-E227-8E52-6716390C1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23B13-8842-E634-C692-1E4CF9C80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33A3-DFBE-E4DE-99E9-E6A34AD5A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D9EE-DC96-4F1C-BCAC-A65D5AD1D4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0165F-89E6-EA51-C280-1174DF41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7C319-2FE4-BE1E-35CD-AFD16099D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E713-D984-5E8A-CF4A-B1D622CB9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0C2D-8120-2433-0894-300ED8A06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338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5A6F3-A979-C16E-F87B-3598710DA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3F22E-4A44-2259-5933-54302E410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FF694-2A2B-EE6C-C249-2DE1DF3E9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1149A-879F-D8CD-4109-E7BD7E8C5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597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D93A-2EE4-0FAF-E759-108E15C4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94060-9AFD-8595-0308-7F66913EE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40B91-FF74-C3E1-F6C3-D57C73CDA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Trainer notes - Why: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rtl="0" fontAlgn="base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Efficiency: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Automates routine inquiries, freeing agents to focus on complex, high-impact cases.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 first-time offenders to self-resolve penalties with automatic mitigation. </a:t>
            </a:r>
          </a:p>
          <a:p>
            <a:pPr rtl="0" fontAlgn="base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Standardization &amp; Risk Reduction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 consistent, objective penalty decisions, reducing perceptions of bias.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Enhances transparency by providing a formal, clear mitigation process.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Empowers owners with a direct, semi-private resolution path, lowering anxiety.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00589-2A66-C074-1366-2139222A5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329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6C4C-944C-26A5-790E-9D155502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46DE7-BA3C-E1E8-EBAF-0FD38A051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90C7E-6B13-2DA3-D4F1-9403A3159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Trainer notes - Why: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rtl="0" fontAlgn="base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Efficiency: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Automates routine inquiries, freeing agents to focus on complex, high-impact cases.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 first-time offenders to self-resolve penalties with automatic mitigation. </a:t>
            </a:r>
          </a:p>
          <a:p>
            <a:pPr rtl="0" fontAlgn="base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Standardization &amp; Risk Reduction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 consistent, objective penalty decisions, reducing perceptions of bias.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Enhances transparency by providing a formal, clear mitigation process. 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Empowers owners with a direct, semi-private resolution path, lowering anxiety.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1F74F-1A05-47C3-772B-5F2B2A1FF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657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FDD13-2BBA-1DF9-6E95-D013DB5B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A608F-260F-2687-8304-68C3C6AF6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DC086-3D84-CB5D-BB1D-EE9F18ADE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89EAF-EF7A-8B77-619A-E819ACCCF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210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A010-CEB3-6062-7148-3391F722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99509-47DB-6A31-98B5-82672C63B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09E27-2779-F41C-CD7D-194F1E370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F26BC-0CF6-B175-2536-0944F0ACC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288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E28D5-606A-97F8-0B8E-ACF64555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094DC-9808-2134-8897-C30E50862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C2588-A375-5425-CA2E-9B8F47B35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7C5A3-518B-2D4D-7C87-14709F51C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099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F9FF-5F3C-2DCD-9750-273EBF50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D42AA-D1E5-A724-BF0E-7D253B554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8D2AF9-451A-5687-6A38-841199C63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2DBED-0F27-116C-51EA-1A40587A9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369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5BD3D-9149-A69E-12F2-1E79353C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97E39-ADF3-21D1-2F03-A0F611237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6776E-102E-C5D4-192A-70425B136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A38F5-3EED-0A73-BBD9-10B86CC28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713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FC92-6E86-C38E-4375-9A2DA825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A4A9C-3790-87D1-45FE-42B90066A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62BE9-EAFF-C2CC-4669-80E9550E3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B8EF5-6D9B-B071-FA0B-5205593CDC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1864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82D9-54B6-CD7E-AE4D-DA7237F7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8B1FD-0191-1646-6F22-74E8D09A8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8AC83-6082-3E26-A229-B8F62FE68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56B58-D693-2CAC-BC8F-4B017FB90D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610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C9F8-1FF8-C22F-A012-2DA4112F0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79297-778E-F5BE-85E2-CA2BA648A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70557-AA03-13F9-84C1-237D0358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84371-218A-E401-F08E-D7510446A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941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9422-AE51-3D45-6A83-B49854AD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0B52F-1FE2-A58A-BF4B-332C89277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8FEC5-0F41-D6E3-3D4C-3CC42D96F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A9D4A-965D-E918-7FF3-9C7DA2765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916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7027-9567-0FD5-38BF-EF8AED54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38D0B-DDEE-FA16-EC7E-CBE40BF9A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48ED7-691B-C280-78A2-1CC54FB9F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BCED-364C-6C95-5098-0D6B83E209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87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1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09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0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1"/>
            <a:ext cx="155448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7"/>
            <a:ext cx="155448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34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41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1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9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99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51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546100"/>
            <a:ext cx="6016626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1"/>
            <a:ext cx="1022350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2870201"/>
            <a:ext cx="6016626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380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0"/>
            <a:ext cx="10972800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50"/>
            <a:ext cx="109728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6"/>
            <a:ext cx="10972800" cy="160972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06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356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7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7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26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84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1"/>
            <a:ext cx="16459200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1"/>
            <a:ext cx="5791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914400" rtl="0" eaLnBrk="1" latinLnBrk="0" hangingPunct="1">
        <a:spcBef>
          <a:spcPct val="20000"/>
        </a:spcBef>
        <a:buFont typeface="Arial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914400" rtl="0" eaLnBrk="1" latinLnBrk="0" hangingPunct="1">
        <a:spcBef>
          <a:spcPct val="20000"/>
        </a:spcBef>
        <a:buFont typeface="Arial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914400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914400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914400" rtl="0" eaLnBrk="1" latinLnBrk="0" hangingPunct="1">
        <a:spcBef>
          <a:spcPct val="20000"/>
        </a:spcBef>
        <a:buFont typeface="Arial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60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ctr" defTabSz="13716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13716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defTabSz="1371600" rtl="0" eaLnBrk="1" latinLnBrk="0" hangingPunct="1">
        <a:spcBef>
          <a:spcPct val="20000"/>
        </a:spcBef>
        <a:buFont typeface="Arial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spcBef>
          <a:spcPct val="20000"/>
        </a:spcBef>
        <a:buFont typeface="Arial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D_77B9624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microsoft.com/office/2018/10/relationships/comments" Target="../comments/modernComment_172_7CA83843.xml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D_E291E46A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E_1C27DB7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4.png"/><Relationship Id="rId5" Type="http://schemas.microsoft.com/office/2007/relationships/hdphoto" Target="../media/hdphoto1.wdp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microsoft.com/office/2018/10/relationships/comments" Target="../comments/modernComment_153_F2CCAB16.xml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7.png"/><Relationship Id="rId11" Type="http://schemas.openxmlformats.org/officeDocument/2006/relationships/image" Target="../media/image1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2.sv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4_75A631.xml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microsoft.com/office/2018/10/relationships/comments" Target="../comments/modernComment_156_5A6A6579.xml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4.svg"/><Relationship Id="rId9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C1591-E9F8-AD2B-80A0-96AE30EA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42019C-DF6A-B28B-7B35-219403E50192}"/>
              </a:ext>
            </a:extLst>
          </p:cNvPr>
          <p:cNvSpPr/>
          <p:nvPr/>
        </p:nvSpPr>
        <p:spPr>
          <a:xfrm flipV="1">
            <a:off x="11553949" y="231443"/>
            <a:ext cx="0" cy="9824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420028D-DB96-D3B4-BAB5-D0559D4C95C2}"/>
              </a:ext>
            </a:extLst>
          </p:cNvPr>
          <p:cNvSpPr/>
          <p:nvPr/>
        </p:nvSpPr>
        <p:spPr>
          <a:xfrm flipV="1">
            <a:off x="485862" y="9105900"/>
            <a:ext cx="10742228" cy="1905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5E3EBE-D543-A7A1-ACEF-87739EB0156F}"/>
              </a:ext>
            </a:extLst>
          </p:cNvPr>
          <p:cNvGrpSpPr/>
          <p:nvPr/>
        </p:nvGrpSpPr>
        <p:grpSpPr>
          <a:xfrm>
            <a:off x="8915406" y="5918749"/>
            <a:ext cx="1295394" cy="231522"/>
            <a:chOff x="1447800" y="6531228"/>
            <a:chExt cx="1295394" cy="23152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AEE2A08-980F-9BC5-99A4-EA676ACC2D4A}"/>
                </a:ext>
              </a:extLst>
            </p:cNvPr>
            <p:cNvSpPr/>
            <p:nvPr/>
          </p:nvSpPr>
          <p:spPr>
            <a:xfrm>
              <a:off x="1447800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F7844A5-A88F-4C81-2653-485016AD8668}"/>
                </a:ext>
              </a:extLst>
            </p:cNvPr>
            <p:cNvSpPr/>
            <p:nvPr/>
          </p:nvSpPr>
          <p:spPr>
            <a:xfrm>
              <a:off x="1714499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330DDF-0565-252C-05FD-2AD2ACD8E2BB}"/>
                </a:ext>
              </a:extLst>
            </p:cNvPr>
            <p:cNvSpPr/>
            <p:nvPr/>
          </p:nvSpPr>
          <p:spPr>
            <a:xfrm>
              <a:off x="1981198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638375-5507-FCDD-DA16-870BD61BBC90}"/>
                </a:ext>
              </a:extLst>
            </p:cNvPr>
            <p:cNvSpPr/>
            <p:nvPr/>
          </p:nvSpPr>
          <p:spPr>
            <a:xfrm>
              <a:off x="2247897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130F05-ED69-8556-A5C7-7DBE28F5ADCF}"/>
                </a:ext>
              </a:extLst>
            </p:cNvPr>
            <p:cNvSpPr/>
            <p:nvPr/>
          </p:nvSpPr>
          <p:spPr>
            <a:xfrm>
              <a:off x="2514596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 descr="ollie_green.png">
            <a:extLst>
              <a:ext uri="{FF2B5EF4-FFF2-40B4-BE49-F238E27FC236}">
                <a16:creationId xmlns:a16="http://schemas.microsoft.com/office/drawing/2014/main" id="{D88517DE-472D-3B3A-346F-6AB33072CAF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9861413" y="9414663"/>
            <a:ext cx="949727" cy="605350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7D8F050D-17AC-0C0A-4D23-CFEF1D38BBFB}"/>
              </a:ext>
            </a:extLst>
          </p:cNvPr>
          <p:cNvSpPr txBox="1"/>
          <p:nvPr/>
        </p:nvSpPr>
        <p:spPr>
          <a:xfrm>
            <a:off x="819256" y="495300"/>
            <a:ext cx="9925174" cy="844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“Module:</a:t>
            </a:r>
          </a:p>
          <a:p>
            <a:pPr lvl="0">
              <a:lnSpc>
                <a:spcPts val="13300"/>
              </a:lnSpc>
              <a:defRPr/>
            </a:pPr>
            <a:r>
              <a:rPr lang="en-US" sz="9500" b="1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Guideline Compliance Form (GCF) Overview</a:t>
            </a:r>
            <a:r>
              <a:rPr kumimoji="0" lang="en-US" sz="95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86380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ACFFE-1280-0441-B250-B2843CF4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53830-E496-3518-8AA7-764D6D52C982}"/>
              </a:ext>
            </a:extLst>
          </p:cNvPr>
          <p:cNvSpPr txBox="1"/>
          <p:nvPr/>
        </p:nvSpPr>
        <p:spPr>
          <a:xfrm>
            <a:off x="961634" y="983355"/>
            <a:ext cx="16200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Poppins Black"/>
              </a:rPr>
              <a:t>Agenda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01538F-783E-E0B9-E017-98AC2416F304}"/>
              </a:ext>
            </a:extLst>
          </p:cNvPr>
          <p:cNvSpPr/>
          <p:nvPr/>
        </p:nvSpPr>
        <p:spPr>
          <a:xfrm>
            <a:off x="988848" y="2225301"/>
            <a:ext cx="16200000" cy="1015663"/>
          </a:xfrm>
          <a:prstGeom prst="roundRect">
            <a:avLst/>
          </a:prstGeom>
          <a:solidFill>
            <a:srgbClr val="CFF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21453-3ECB-41F2-B025-90D25E8C8176}"/>
              </a:ext>
            </a:extLst>
          </p:cNvPr>
          <p:cNvSpPr txBox="1"/>
          <p:nvPr/>
        </p:nvSpPr>
        <p:spPr>
          <a:xfrm>
            <a:off x="1527716" y="2225301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>
                <a:solidFill>
                  <a:srgbClr val="002B11"/>
                </a:solidFill>
                <a:latin typeface="Poppins Black"/>
              </a:rPr>
              <a:t>GCF Overview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7069DC-382F-E447-1C39-3D871746B600}"/>
              </a:ext>
            </a:extLst>
          </p:cNvPr>
          <p:cNvSpPr/>
          <p:nvPr/>
        </p:nvSpPr>
        <p:spPr>
          <a:xfrm>
            <a:off x="961368" y="3656871"/>
            <a:ext cx="16200000" cy="1015663"/>
          </a:xfrm>
          <a:prstGeom prst="roundRect">
            <a:avLst/>
          </a:prstGeom>
          <a:solidFill>
            <a:srgbClr val="FF86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DB3A6B-E2AD-D37F-4B78-DEA3A4F8591D}"/>
              </a:ext>
            </a:extLst>
          </p:cNvPr>
          <p:cNvSpPr/>
          <p:nvPr/>
        </p:nvSpPr>
        <p:spPr>
          <a:xfrm>
            <a:off x="977697" y="6453729"/>
            <a:ext cx="16200000" cy="1015663"/>
          </a:xfrm>
          <a:prstGeom prst="roundRect">
            <a:avLst/>
          </a:prstGeom>
          <a:solidFill>
            <a:srgbClr val="9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4C0A-A0B9-E2B5-E547-D3F03D9A5319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>
                <a:solidFill>
                  <a:srgbClr val="8A8272"/>
                </a:solidFill>
                <a:latin typeface="Poppins"/>
              </a:rPr>
              <a:t>Tripadvisor / Fraud support / 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D73F27-2B15-90B4-86AB-0DC7F5F51FFD}"/>
              </a:ext>
            </a:extLst>
          </p:cNvPr>
          <p:cNvSpPr txBox="1"/>
          <p:nvPr/>
        </p:nvSpPr>
        <p:spPr>
          <a:xfrm>
            <a:off x="1527716" y="2783938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Quick dive into the new tool on the live site!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DC9069-959D-A9A8-202C-1715ABF06EF1}"/>
              </a:ext>
            </a:extLst>
          </p:cNvPr>
          <p:cNvSpPr txBox="1"/>
          <p:nvPr/>
        </p:nvSpPr>
        <p:spPr>
          <a:xfrm>
            <a:off x="1496519" y="3625971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>
                <a:solidFill>
                  <a:srgbClr val="002B11"/>
                </a:solidFill>
                <a:latin typeface="Poppins Black"/>
              </a:rPr>
              <a:t>What is Auto Mitigation?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569710-A773-69AF-BC75-520CBEC0EACA}"/>
              </a:ext>
            </a:extLst>
          </p:cNvPr>
          <p:cNvSpPr txBox="1"/>
          <p:nvPr/>
        </p:nvSpPr>
        <p:spPr>
          <a:xfrm>
            <a:off x="1496519" y="4184608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Let’s take a look into the criteria and process!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C66BD-917B-C157-4A37-F0BB5515C9C7}"/>
              </a:ext>
            </a:extLst>
          </p:cNvPr>
          <p:cNvSpPr txBox="1"/>
          <p:nvPr/>
        </p:nvSpPr>
        <p:spPr>
          <a:xfrm>
            <a:off x="1527716" y="6425479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>
                <a:solidFill>
                  <a:srgbClr val="002B11"/>
                </a:solidFill>
                <a:latin typeface="Poppins Black"/>
              </a:rPr>
              <a:t>GCF Mitigation Tickets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CE1503-5222-5EA2-AFBC-94176A4F0256}"/>
              </a:ext>
            </a:extLst>
          </p:cNvPr>
          <p:cNvSpPr txBox="1"/>
          <p:nvPr/>
        </p:nvSpPr>
        <p:spPr>
          <a:xfrm>
            <a:off x="1527716" y="6984116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Understand various components of GCF granted and denied tickets!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2BE4AF66-376E-24A5-A6B5-3D4D099382EF}"/>
              </a:ext>
            </a:extLst>
          </p:cNvPr>
          <p:cNvSpPr/>
          <p:nvPr/>
        </p:nvSpPr>
        <p:spPr>
          <a:xfrm>
            <a:off x="999734" y="5043018"/>
            <a:ext cx="16200000" cy="1015663"/>
          </a:xfrm>
          <a:prstGeom prst="roundRect">
            <a:avLst/>
          </a:prstGeom>
          <a:solidFill>
            <a:srgbClr val="23E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BD9917-C19C-1B00-4336-CBAD6CBBD580}"/>
              </a:ext>
            </a:extLst>
          </p:cNvPr>
          <p:cNvSpPr txBox="1"/>
          <p:nvPr/>
        </p:nvSpPr>
        <p:spPr>
          <a:xfrm>
            <a:off x="1534885" y="5012118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>
                <a:solidFill>
                  <a:srgbClr val="002B11"/>
                </a:solidFill>
                <a:latin typeface="Poppins Black"/>
              </a:rPr>
              <a:t>How to Handle Auto-mitigation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BD89A2-C699-3B49-5F9A-B3F33231BF7B}"/>
              </a:ext>
            </a:extLst>
          </p:cNvPr>
          <p:cNvSpPr txBox="1"/>
          <p:nvPr/>
        </p:nvSpPr>
        <p:spPr>
          <a:xfrm>
            <a:off x="1534885" y="5570755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 the step-by-step process and various scenarios!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80C9E0A-AADC-0272-8EFD-5C48C69D0F31}"/>
              </a:ext>
            </a:extLst>
          </p:cNvPr>
          <p:cNvSpPr/>
          <p:nvPr/>
        </p:nvSpPr>
        <p:spPr>
          <a:xfrm>
            <a:off x="977697" y="7873577"/>
            <a:ext cx="16200000" cy="1015663"/>
          </a:xfrm>
          <a:prstGeom prst="roundRect">
            <a:avLst/>
          </a:prstGeom>
          <a:solidFill>
            <a:srgbClr val="D9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816F4-A497-788D-AE0C-73D82B4A6E83}"/>
              </a:ext>
            </a:extLst>
          </p:cNvPr>
          <p:cNvSpPr txBox="1"/>
          <p:nvPr/>
        </p:nvSpPr>
        <p:spPr>
          <a:xfrm>
            <a:off x="1527716" y="7851692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>
                <a:solidFill>
                  <a:srgbClr val="002B11"/>
                </a:solidFill>
                <a:latin typeface="Poppins Black"/>
              </a:rPr>
              <a:t>Penalty Mitigation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3BC360-A47F-D40F-823B-D28A9026F241}"/>
              </a:ext>
            </a:extLst>
          </p:cNvPr>
          <p:cNvSpPr txBox="1"/>
          <p:nvPr/>
        </p:nvSpPr>
        <p:spPr>
          <a:xfrm>
            <a:off x="1527716" y="8410329"/>
            <a:ext cx="14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 more about the types and four pillars of penalty mitigation!.</a:t>
            </a:r>
          </a:p>
        </p:txBody>
      </p:sp>
    </p:spTree>
    <p:extLst>
      <p:ext uri="{BB962C8B-B14F-4D97-AF65-F5344CB8AC3E}">
        <p14:creationId xmlns:p14="http://schemas.microsoft.com/office/powerpoint/2010/main" val="2417570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EA52A-3B93-9087-06F9-1D9BE170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7">
            <a:extLst>
              <a:ext uri="{FF2B5EF4-FFF2-40B4-BE49-F238E27FC236}">
                <a16:creationId xmlns:a16="http://schemas.microsoft.com/office/drawing/2014/main" id="{B86D8CDF-9FCF-7A45-5C06-91D90BF624D9}"/>
              </a:ext>
            </a:extLst>
          </p:cNvPr>
          <p:cNvSpPr/>
          <p:nvPr/>
        </p:nvSpPr>
        <p:spPr>
          <a:xfrm>
            <a:off x="980880" y="2703915"/>
            <a:ext cx="7889106" cy="2063475"/>
          </a:xfrm>
          <a:custGeom>
            <a:avLst/>
            <a:gdLst/>
            <a:ahLst/>
            <a:cxnLst/>
            <a:rect l="l" t="t" r="r" b="b"/>
            <a:pathLst>
              <a:path w="1586905" h="1762175">
                <a:moveTo>
                  <a:pt x="65530" y="0"/>
                </a:moveTo>
                <a:lnTo>
                  <a:pt x="1521375" y="0"/>
                </a:lnTo>
                <a:cubicBezTo>
                  <a:pt x="1538755" y="0"/>
                  <a:pt x="1555423" y="6904"/>
                  <a:pt x="1567712" y="19193"/>
                </a:cubicBezTo>
                <a:cubicBezTo>
                  <a:pt x="1580001" y="31483"/>
                  <a:pt x="1586905" y="48151"/>
                  <a:pt x="1586905" y="65530"/>
                </a:cubicBezTo>
                <a:lnTo>
                  <a:pt x="1586905" y="1696645"/>
                </a:lnTo>
                <a:cubicBezTo>
                  <a:pt x="1586905" y="1714024"/>
                  <a:pt x="1580001" y="1730692"/>
                  <a:pt x="1567712" y="1742981"/>
                </a:cubicBezTo>
                <a:cubicBezTo>
                  <a:pt x="1555423" y="1755271"/>
                  <a:pt x="1538755" y="1762175"/>
                  <a:pt x="1521375" y="1762175"/>
                </a:cubicBezTo>
                <a:lnTo>
                  <a:pt x="65530" y="1762175"/>
                </a:lnTo>
                <a:cubicBezTo>
                  <a:pt x="48151" y="1762175"/>
                  <a:pt x="31483" y="1755271"/>
                  <a:pt x="19193" y="1742981"/>
                </a:cubicBezTo>
                <a:cubicBezTo>
                  <a:pt x="6904" y="1730692"/>
                  <a:pt x="0" y="1714024"/>
                  <a:pt x="0" y="1696645"/>
                </a:cubicBezTo>
                <a:lnTo>
                  <a:pt x="0" y="65530"/>
                </a:lnTo>
                <a:cubicBezTo>
                  <a:pt x="0" y="48151"/>
                  <a:pt x="6904" y="31483"/>
                  <a:pt x="19193" y="19193"/>
                </a:cubicBezTo>
                <a:cubicBezTo>
                  <a:pt x="31483" y="6904"/>
                  <a:pt x="48151" y="0"/>
                  <a:pt x="65530" y="0"/>
                </a:cubicBezTo>
                <a:close/>
              </a:path>
            </a:pathLst>
          </a:custGeom>
          <a:solidFill>
            <a:srgbClr val="5FEAFF"/>
          </a:solidFill>
          <a:ln w="38100" cap="rnd">
            <a:solidFill>
              <a:srgbClr val="002B11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Freeform 4">
            <a:extLst>
              <a:ext uri="{FF2B5EF4-FFF2-40B4-BE49-F238E27FC236}">
                <a16:creationId xmlns:a16="http://schemas.microsoft.com/office/drawing/2014/main" id="{80EDD06C-EAF3-1519-F9D1-A0F0F7F4761C}"/>
              </a:ext>
            </a:extLst>
          </p:cNvPr>
          <p:cNvSpPr/>
          <p:nvPr/>
        </p:nvSpPr>
        <p:spPr>
          <a:xfrm rot="13154954">
            <a:off x="11988828" y="609144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2C6A75-94DC-CF21-0DA8-239FAA43530D}"/>
              </a:ext>
            </a:extLst>
          </p:cNvPr>
          <p:cNvSpPr/>
          <p:nvPr/>
        </p:nvSpPr>
        <p:spPr>
          <a:xfrm>
            <a:off x="960120" y="1205388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Overview</a:t>
            </a:r>
            <a:endParaRPr lang="en-US" sz="520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AF6BFCC-9AFC-1525-7D21-C86E6A1237C4}"/>
              </a:ext>
            </a:extLst>
          </p:cNvPr>
          <p:cNvSpPr/>
          <p:nvPr/>
        </p:nvSpPr>
        <p:spPr>
          <a:xfrm>
            <a:off x="12192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GCF overview</a:t>
            </a:r>
            <a:endParaRPr lang="en-US" sz="120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41DC1D6-A1A3-DF75-CA08-54653884BB71}"/>
              </a:ext>
            </a:extLst>
          </p:cNvPr>
          <p:cNvGrpSpPr/>
          <p:nvPr/>
        </p:nvGrpSpPr>
        <p:grpSpPr>
          <a:xfrm>
            <a:off x="847558" y="2734194"/>
            <a:ext cx="8272796" cy="2142173"/>
            <a:chOff x="0" y="-175755"/>
            <a:chExt cx="7792023" cy="8776294"/>
          </a:xfrm>
        </p:grpSpPr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55D27BCF-702F-6808-2C02-14DF06023C6B}"/>
                </a:ext>
              </a:extLst>
            </p:cNvPr>
            <p:cNvSpPr txBox="1"/>
            <p:nvPr/>
          </p:nvSpPr>
          <p:spPr>
            <a:xfrm>
              <a:off x="0" y="-175755"/>
              <a:ext cx="7792023" cy="8776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0CA76D3-298F-A212-526D-F0B4A8E878B3}"/>
                </a:ext>
              </a:extLst>
            </p:cNvPr>
            <p:cNvGrpSpPr/>
            <p:nvPr/>
          </p:nvGrpSpPr>
          <p:grpSpPr>
            <a:xfrm>
              <a:off x="235817" y="60062"/>
              <a:ext cx="7355323" cy="8304660"/>
              <a:chOff x="0" y="-38100"/>
              <a:chExt cx="1594478" cy="1800275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B4664EA0-F578-9AFB-2C75-51D2D579F823}"/>
                  </a:ext>
                </a:extLst>
              </p:cNvPr>
              <p:cNvSpPr/>
              <p:nvPr/>
            </p:nvSpPr>
            <p:spPr>
              <a:xfrm>
                <a:off x="0" y="0"/>
                <a:ext cx="1594478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8">
                <a:extLst>
                  <a:ext uri="{FF2B5EF4-FFF2-40B4-BE49-F238E27FC236}">
                    <a16:creationId xmlns:a16="http://schemas.microsoft.com/office/drawing/2014/main" id="{E68BECD5-A59C-DEE9-8289-96E2B2EC98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42" name="TextBox 21">
            <a:extLst>
              <a:ext uri="{FF2B5EF4-FFF2-40B4-BE49-F238E27FC236}">
                <a16:creationId xmlns:a16="http://schemas.microsoft.com/office/drawing/2014/main" id="{60B3A176-56E0-A5D3-60B7-F241C3FB0D2A}"/>
              </a:ext>
            </a:extLst>
          </p:cNvPr>
          <p:cNvSpPr txBox="1"/>
          <p:nvPr/>
        </p:nvSpPr>
        <p:spPr>
          <a:xfrm>
            <a:off x="3151100" y="3289763"/>
            <a:ext cx="5536256" cy="1066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6"/>
              </a:lnSpc>
            </a:pPr>
            <a:r>
              <a:rPr lang="en-US" sz="2200" b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it?</a:t>
            </a:r>
            <a:b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Guideline Compliance Form (GCF) is a new tool on the live site. </a:t>
            </a: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F3DA77DA-D892-944B-25E4-CF09B34BC764}"/>
              </a:ext>
            </a:extLst>
          </p:cNvPr>
          <p:cNvSpPr/>
          <p:nvPr/>
        </p:nvSpPr>
        <p:spPr>
          <a:xfrm>
            <a:off x="9370721" y="2703915"/>
            <a:ext cx="7889106" cy="2063475"/>
          </a:xfrm>
          <a:custGeom>
            <a:avLst/>
            <a:gdLst/>
            <a:ahLst/>
            <a:cxnLst/>
            <a:rect l="l" t="t" r="r" b="b"/>
            <a:pathLst>
              <a:path w="1586905" h="1762175">
                <a:moveTo>
                  <a:pt x="65530" y="0"/>
                </a:moveTo>
                <a:lnTo>
                  <a:pt x="1521375" y="0"/>
                </a:lnTo>
                <a:cubicBezTo>
                  <a:pt x="1538755" y="0"/>
                  <a:pt x="1555423" y="6904"/>
                  <a:pt x="1567712" y="19193"/>
                </a:cubicBezTo>
                <a:cubicBezTo>
                  <a:pt x="1580001" y="31483"/>
                  <a:pt x="1586905" y="48151"/>
                  <a:pt x="1586905" y="65530"/>
                </a:cubicBezTo>
                <a:lnTo>
                  <a:pt x="1586905" y="1696645"/>
                </a:lnTo>
                <a:cubicBezTo>
                  <a:pt x="1586905" y="1714024"/>
                  <a:pt x="1580001" y="1730692"/>
                  <a:pt x="1567712" y="1742981"/>
                </a:cubicBezTo>
                <a:cubicBezTo>
                  <a:pt x="1555423" y="1755271"/>
                  <a:pt x="1538755" y="1762175"/>
                  <a:pt x="1521375" y="1762175"/>
                </a:cubicBezTo>
                <a:lnTo>
                  <a:pt x="65530" y="1762175"/>
                </a:lnTo>
                <a:cubicBezTo>
                  <a:pt x="48151" y="1762175"/>
                  <a:pt x="31483" y="1755271"/>
                  <a:pt x="19193" y="1742981"/>
                </a:cubicBezTo>
                <a:cubicBezTo>
                  <a:pt x="6904" y="1730692"/>
                  <a:pt x="0" y="1714024"/>
                  <a:pt x="0" y="1696645"/>
                </a:cubicBezTo>
                <a:lnTo>
                  <a:pt x="0" y="65530"/>
                </a:lnTo>
                <a:cubicBezTo>
                  <a:pt x="0" y="48151"/>
                  <a:pt x="6904" y="31483"/>
                  <a:pt x="19193" y="19193"/>
                </a:cubicBezTo>
                <a:cubicBezTo>
                  <a:pt x="31483" y="6904"/>
                  <a:pt x="48151" y="0"/>
                  <a:pt x="65530" y="0"/>
                </a:cubicBezTo>
                <a:close/>
              </a:path>
            </a:pathLst>
          </a:custGeom>
          <a:solidFill>
            <a:srgbClr val="D953FF"/>
          </a:solidFill>
          <a:ln w="38100" cap="rnd">
            <a:solidFill>
              <a:srgbClr val="002B11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48B6C2D-8D43-BE40-65AA-C8C289E3F23C}"/>
              </a:ext>
            </a:extLst>
          </p:cNvPr>
          <p:cNvGrpSpPr/>
          <p:nvPr/>
        </p:nvGrpSpPr>
        <p:grpSpPr>
          <a:xfrm>
            <a:off x="9237399" y="2734194"/>
            <a:ext cx="8272796" cy="2142173"/>
            <a:chOff x="0" y="-175755"/>
            <a:chExt cx="7792023" cy="8776294"/>
          </a:xfrm>
        </p:grpSpPr>
        <p:sp>
          <p:nvSpPr>
            <p:cNvPr id="35" name="TextBox 5">
              <a:extLst>
                <a:ext uri="{FF2B5EF4-FFF2-40B4-BE49-F238E27FC236}">
                  <a16:creationId xmlns:a16="http://schemas.microsoft.com/office/drawing/2014/main" id="{D2FC9D11-7E62-45CA-EF39-FABE4CA39B3D}"/>
                </a:ext>
              </a:extLst>
            </p:cNvPr>
            <p:cNvSpPr txBox="1"/>
            <p:nvPr/>
          </p:nvSpPr>
          <p:spPr>
            <a:xfrm>
              <a:off x="0" y="-175755"/>
              <a:ext cx="7792023" cy="8776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1CE17AD-13D9-C8E0-BA23-EB315DE80170}"/>
                </a:ext>
              </a:extLst>
            </p:cNvPr>
            <p:cNvGrpSpPr/>
            <p:nvPr/>
          </p:nvGrpSpPr>
          <p:grpSpPr>
            <a:xfrm>
              <a:off x="235817" y="60062"/>
              <a:ext cx="7355323" cy="8304660"/>
              <a:chOff x="0" y="-38100"/>
              <a:chExt cx="1594478" cy="1800275"/>
            </a:xfrm>
          </p:grpSpPr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2100001B-8873-6C72-9AE7-A83D296FEC51}"/>
                  </a:ext>
                </a:extLst>
              </p:cNvPr>
              <p:cNvSpPr/>
              <p:nvPr/>
            </p:nvSpPr>
            <p:spPr>
              <a:xfrm>
                <a:off x="0" y="0"/>
                <a:ext cx="1594478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8">
                <a:extLst>
                  <a:ext uri="{FF2B5EF4-FFF2-40B4-BE49-F238E27FC236}">
                    <a16:creationId xmlns:a16="http://schemas.microsoft.com/office/drawing/2014/main" id="{19901647-25B9-B470-8DA8-CA9AAAA644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9" name="TextBox 21">
            <a:extLst>
              <a:ext uri="{FF2B5EF4-FFF2-40B4-BE49-F238E27FC236}">
                <a16:creationId xmlns:a16="http://schemas.microsoft.com/office/drawing/2014/main" id="{7F52AE45-3726-A3BF-BC84-BB7354B545F8}"/>
              </a:ext>
            </a:extLst>
          </p:cNvPr>
          <p:cNvSpPr txBox="1"/>
          <p:nvPr/>
        </p:nvSpPr>
        <p:spPr>
          <a:xfrm>
            <a:off x="11577117" y="3064101"/>
            <a:ext cx="5536256" cy="1425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6"/>
              </a:lnSpc>
            </a:pPr>
            <a:r>
              <a:rPr lang="en-US" sz="2200" b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does it do?</a:t>
            </a:r>
          </a:p>
          <a:p>
            <a:pPr>
              <a:lnSpc>
                <a:spcPts val="2806"/>
              </a:lnSpc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Allows property owners to apply for mitigation directly by answering questions about their violations</a:t>
            </a:r>
            <a:endParaRPr lang="en-US" sz="2200">
              <a:solidFill>
                <a:srgbClr val="002B1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41" name="Freeform 7">
            <a:extLst>
              <a:ext uri="{FF2B5EF4-FFF2-40B4-BE49-F238E27FC236}">
                <a16:creationId xmlns:a16="http://schemas.microsoft.com/office/drawing/2014/main" id="{49772E81-10C5-CEFC-37D5-69D9D4D2F3F4}"/>
              </a:ext>
            </a:extLst>
          </p:cNvPr>
          <p:cNvSpPr/>
          <p:nvPr/>
        </p:nvSpPr>
        <p:spPr>
          <a:xfrm>
            <a:off x="960120" y="5770607"/>
            <a:ext cx="7889106" cy="2063475"/>
          </a:xfrm>
          <a:custGeom>
            <a:avLst/>
            <a:gdLst/>
            <a:ahLst/>
            <a:cxnLst/>
            <a:rect l="l" t="t" r="r" b="b"/>
            <a:pathLst>
              <a:path w="1586905" h="1762175">
                <a:moveTo>
                  <a:pt x="65530" y="0"/>
                </a:moveTo>
                <a:lnTo>
                  <a:pt x="1521375" y="0"/>
                </a:lnTo>
                <a:cubicBezTo>
                  <a:pt x="1538755" y="0"/>
                  <a:pt x="1555423" y="6904"/>
                  <a:pt x="1567712" y="19193"/>
                </a:cubicBezTo>
                <a:cubicBezTo>
                  <a:pt x="1580001" y="31483"/>
                  <a:pt x="1586905" y="48151"/>
                  <a:pt x="1586905" y="65530"/>
                </a:cubicBezTo>
                <a:lnTo>
                  <a:pt x="1586905" y="1696645"/>
                </a:lnTo>
                <a:cubicBezTo>
                  <a:pt x="1586905" y="1714024"/>
                  <a:pt x="1580001" y="1730692"/>
                  <a:pt x="1567712" y="1742981"/>
                </a:cubicBezTo>
                <a:cubicBezTo>
                  <a:pt x="1555423" y="1755271"/>
                  <a:pt x="1538755" y="1762175"/>
                  <a:pt x="1521375" y="1762175"/>
                </a:cubicBezTo>
                <a:lnTo>
                  <a:pt x="65530" y="1762175"/>
                </a:lnTo>
                <a:cubicBezTo>
                  <a:pt x="48151" y="1762175"/>
                  <a:pt x="31483" y="1755271"/>
                  <a:pt x="19193" y="1742981"/>
                </a:cubicBezTo>
                <a:cubicBezTo>
                  <a:pt x="6904" y="1730692"/>
                  <a:pt x="0" y="1714024"/>
                  <a:pt x="0" y="1696645"/>
                </a:cubicBezTo>
                <a:lnTo>
                  <a:pt x="0" y="65530"/>
                </a:lnTo>
                <a:cubicBezTo>
                  <a:pt x="0" y="48151"/>
                  <a:pt x="6904" y="31483"/>
                  <a:pt x="19193" y="19193"/>
                </a:cubicBezTo>
                <a:cubicBezTo>
                  <a:pt x="31483" y="6904"/>
                  <a:pt x="48151" y="0"/>
                  <a:pt x="65530" y="0"/>
                </a:cubicBezTo>
                <a:close/>
              </a:path>
            </a:pathLst>
          </a:custGeom>
          <a:solidFill>
            <a:srgbClr val="23EEBE"/>
          </a:solidFill>
          <a:ln w="38100" cap="rnd">
            <a:solidFill>
              <a:srgbClr val="002B11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0FE3D9C-DE07-7F89-DAFF-1DD9F3258324}"/>
              </a:ext>
            </a:extLst>
          </p:cNvPr>
          <p:cNvGrpSpPr/>
          <p:nvPr/>
        </p:nvGrpSpPr>
        <p:grpSpPr>
          <a:xfrm>
            <a:off x="826798" y="5800886"/>
            <a:ext cx="8272796" cy="2142173"/>
            <a:chOff x="0" y="-175755"/>
            <a:chExt cx="7792023" cy="8776294"/>
          </a:xfrm>
        </p:grpSpPr>
        <p:sp>
          <p:nvSpPr>
            <p:cNvPr id="44" name="TextBox 5">
              <a:extLst>
                <a:ext uri="{FF2B5EF4-FFF2-40B4-BE49-F238E27FC236}">
                  <a16:creationId xmlns:a16="http://schemas.microsoft.com/office/drawing/2014/main" id="{41034B12-8061-C431-5511-F766B5DB39EE}"/>
                </a:ext>
              </a:extLst>
            </p:cNvPr>
            <p:cNvSpPr txBox="1"/>
            <p:nvPr/>
          </p:nvSpPr>
          <p:spPr>
            <a:xfrm>
              <a:off x="0" y="-175755"/>
              <a:ext cx="7792023" cy="8776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56E8796-05E9-C826-2728-5A80E74D489B}"/>
                </a:ext>
              </a:extLst>
            </p:cNvPr>
            <p:cNvGrpSpPr/>
            <p:nvPr/>
          </p:nvGrpSpPr>
          <p:grpSpPr>
            <a:xfrm>
              <a:off x="235817" y="60062"/>
              <a:ext cx="7355323" cy="8304660"/>
              <a:chOff x="0" y="-38100"/>
              <a:chExt cx="1594478" cy="1800275"/>
            </a:xfrm>
          </p:grpSpPr>
          <p:sp>
            <p:nvSpPr>
              <p:cNvPr id="46" name="Freeform 7">
                <a:extLst>
                  <a:ext uri="{FF2B5EF4-FFF2-40B4-BE49-F238E27FC236}">
                    <a16:creationId xmlns:a16="http://schemas.microsoft.com/office/drawing/2014/main" id="{8015703E-CC2C-0D12-2CF9-8891B80590C2}"/>
                  </a:ext>
                </a:extLst>
              </p:cNvPr>
              <p:cNvSpPr/>
              <p:nvPr/>
            </p:nvSpPr>
            <p:spPr>
              <a:xfrm>
                <a:off x="0" y="0"/>
                <a:ext cx="1594478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8">
                <a:extLst>
                  <a:ext uri="{FF2B5EF4-FFF2-40B4-BE49-F238E27FC236}">
                    <a16:creationId xmlns:a16="http://schemas.microsoft.com/office/drawing/2014/main" id="{5967742A-EF34-5777-5D87-28E2073F80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48" name="TextBox 21">
            <a:extLst>
              <a:ext uri="{FF2B5EF4-FFF2-40B4-BE49-F238E27FC236}">
                <a16:creationId xmlns:a16="http://schemas.microsoft.com/office/drawing/2014/main" id="{8BA4F0FF-969D-1A76-27B2-BAD2F27110D0}"/>
              </a:ext>
            </a:extLst>
          </p:cNvPr>
          <p:cNvSpPr txBox="1"/>
          <p:nvPr/>
        </p:nvSpPr>
        <p:spPr>
          <a:xfrm>
            <a:off x="3159603" y="6178677"/>
            <a:ext cx="5536256" cy="1425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6"/>
              </a:lnSpc>
            </a:pPr>
            <a:r>
              <a:rPr lang="en-US" sz="2200" b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does it function?	</a:t>
            </a:r>
            <a:b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Mitigation decisions are automated (granted or denied) based on the property's fraud history</a:t>
            </a:r>
            <a:endParaRPr lang="en-US" sz="2200">
              <a:solidFill>
                <a:srgbClr val="002B1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50" name="Freeform 7">
            <a:extLst>
              <a:ext uri="{FF2B5EF4-FFF2-40B4-BE49-F238E27FC236}">
                <a16:creationId xmlns:a16="http://schemas.microsoft.com/office/drawing/2014/main" id="{B9CA75F3-44CF-D215-47D5-4717CC678435}"/>
              </a:ext>
            </a:extLst>
          </p:cNvPr>
          <p:cNvSpPr/>
          <p:nvPr/>
        </p:nvSpPr>
        <p:spPr>
          <a:xfrm>
            <a:off x="9370721" y="5774960"/>
            <a:ext cx="7889106" cy="2063475"/>
          </a:xfrm>
          <a:custGeom>
            <a:avLst/>
            <a:gdLst/>
            <a:ahLst/>
            <a:cxnLst/>
            <a:rect l="l" t="t" r="r" b="b"/>
            <a:pathLst>
              <a:path w="1586905" h="1762175">
                <a:moveTo>
                  <a:pt x="65530" y="0"/>
                </a:moveTo>
                <a:lnTo>
                  <a:pt x="1521375" y="0"/>
                </a:lnTo>
                <a:cubicBezTo>
                  <a:pt x="1538755" y="0"/>
                  <a:pt x="1555423" y="6904"/>
                  <a:pt x="1567712" y="19193"/>
                </a:cubicBezTo>
                <a:cubicBezTo>
                  <a:pt x="1580001" y="31483"/>
                  <a:pt x="1586905" y="48151"/>
                  <a:pt x="1586905" y="65530"/>
                </a:cubicBezTo>
                <a:lnTo>
                  <a:pt x="1586905" y="1696645"/>
                </a:lnTo>
                <a:cubicBezTo>
                  <a:pt x="1586905" y="1714024"/>
                  <a:pt x="1580001" y="1730692"/>
                  <a:pt x="1567712" y="1742981"/>
                </a:cubicBezTo>
                <a:cubicBezTo>
                  <a:pt x="1555423" y="1755271"/>
                  <a:pt x="1538755" y="1762175"/>
                  <a:pt x="1521375" y="1762175"/>
                </a:cubicBezTo>
                <a:lnTo>
                  <a:pt x="65530" y="1762175"/>
                </a:lnTo>
                <a:cubicBezTo>
                  <a:pt x="48151" y="1762175"/>
                  <a:pt x="31483" y="1755271"/>
                  <a:pt x="19193" y="1742981"/>
                </a:cubicBezTo>
                <a:cubicBezTo>
                  <a:pt x="6904" y="1730692"/>
                  <a:pt x="0" y="1714024"/>
                  <a:pt x="0" y="1696645"/>
                </a:cubicBezTo>
                <a:lnTo>
                  <a:pt x="0" y="65530"/>
                </a:lnTo>
                <a:cubicBezTo>
                  <a:pt x="0" y="48151"/>
                  <a:pt x="6904" y="31483"/>
                  <a:pt x="19193" y="19193"/>
                </a:cubicBezTo>
                <a:cubicBezTo>
                  <a:pt x="31483" y="6904"/>
                  <a:pt x="48151" y="0"/>
                  <a:pt x="65530" y="0"/>
                </a:cubicBezTo>
                <a:close/>
              </a:path>
            </a:pathLst>
          </a:custGeom>
          <a:solidFill>
            <a:srgbClr val="FB5184"/>
          </a:solidFill>
          <a:ln w="38100" cap="rnd">
            <a:solidFill>
              <a:srgbClr val="002B11"/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7E042B-3990-A900-B1B6-F3A1C9BB2DAF}"/>
              </a:ext>
            </a:extLst>
          </p:cNvPr>
          <p:cNvGrpSpPr/>
          <p:nvPr/>
        </p:nvGrpSpPr>
        <p:grpSpPr>
          <a:xfrm>
            <a:off x="9237399" y="5805239"/>
            <a:ext cx="8272796" cy="2142173"/>
            <a:chOff x="0" y="-175755"/>
            <a:chExt cx="7792023" cy="8776294"/>
          </a:xfrm>
        </p:grpSpPr>
        <p:sp>
          <p:nvSpPr>
            <p:cNvPr id="52" name="TextBox 5">
              <a:extLst>
                <a:ext uri="{FF2B5EF4-FFF2-40B4-BE49-F238E27FC236}">
                  <a16:creationId xmlns:a16="http://schemas.microsoft.com/office/drawing/2014/main" id="{7AA16702-14CC-BAC8-118D-449D15DBAADC}"/>
                </a:ext>
              </a:extLst>
            </p:cNvPr>
            <p:cNvSpPr txBox="1"/>
            <p:nvPr/>
          </p:nvSpPr>
          <p:spPr>
            <a:xfrm>
              <a:off x="0" y="-175755"/>
              <a:ext cx="7792023" cy="8776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7C9C940-18D5-58E0-CBD6-109E9194B78B}"/>
                </a:ext>
              </a:extLst>
            </p:cNvPr>
            <p:cNvGrpSpPr/>
            <p:nvPr/>
          </p:nvGrpSpPr>
          <p:grpSpPr>
            <a:xfrm>
              <a:off x="235817" y="60062"/>
              <a:ext cx="7355323" cy="8304660"/>
              <a:chOff x="0" y="-38100"/>
              <a:chExt cx="1594478" cy="1800275"/>
            </a:xfrm>
          </p:grpSpPr>
          <p:sp>
            <p:nvSpPr>
              <p:cNvPr id="54" name="Freeform 7">
                <a:extLst>
                  <a:ext uri="{FF2B5EF4-FFF2-40B4-BE49-F238E27FC236}">
                    <a16:creationId xmlns:a16="http://schemas.microsoft.com/office/drawing/2014/main" id="{15FA3F04-7527-8EE3-4049-475CB3CE999A}"/>
                  </a:ext>
                </a:extLst>
              </p:cNvPr>
              <p:cNvSpPr/>
              <p:nvPr/>
            </p:nvSpPr>
            <p:spPr>
              <a:xfrm>
                <a:off x="0" y="0"/>
                <a:ext cx="1594478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8">
                <a:extLst>
                  <a:ext uri="{FF2B5EF4-FFF2-40B4-BE49-F238E27FC236}">
                    <a16:creationId xmlns:a16="http://schemas.microsoft.com/office/drawing/2014/main" id="{2CFEDBA1-9486-B5D0-52A2-C08CB21D7C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56" name="TextBox 21">
            <a:extLst>
              <a:ext uri="{FF2B5EF4-FFF2-40B4-BE49-F238E27FC236}">
                <a16:creationId xmlns:a16="http://schemas.microsoft.com/office/drawing/2014/main" id="{E943B642-49AD-89AD-769B-47F0B0AC2339}"/>
              </a:ext>
            </a:extLst>
          </p:cNvPr>
          <p:cNvSpPr txBox="1"/>
          <p:nvPr/>
        </p:nvSpPr>
        <p:spPr>
          <a:xfrm>
            <a:off x="11626426" y="6358213"/>
            <a:ext cx="5536256" cy="1066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6"/>
              </a:lnSpc>
            </a:pPr>
            <a:r>
              <a:rPr lang="en-US" sz="2200" b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How is it helpful?</a:t>
            </a:r>
            <a:b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Faster resolution and consistent penalty handling</a:t>
            </a:r>
            <a:endParaRPr lang="en-US" sz="2200">
              <a:solidFill>
                <a:srgbClr val="002B1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497DB-7BF6-DE02-B36F-2AA2F801A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437" y="3222166"/>
            <a:ext cx="1147593" cy="11199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6A269A-2F73-5B72-FAEF-6532D2F6D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1326" y="6314833"/>
            <a:ext cx="1430679" cy="11247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A1075-6B09-DCB6-8886-AADFBCC73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597" y="6330741"/>
            <a:ext cx="1218210" cy="11391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CE1C89-895B-40C8-ADAC-AE758121FE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706" y="3284930"/>
            <a:ext cx="1127655" cy="10571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537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A7DCCA36-FF0F-E192-2407-27DDB4E64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3058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01. What is </a:t>
            </a:r>
            <a:r>
              <a:rPr lang="en-US" sz="75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Auto Mitigation?</a:t>
            </a:r>
            <a:endParaRPr kumimoji="0" lang="en-US" sz="75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0267" y="804806"/>
            <a:ext cx="141624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Australia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5082E-3EF1-E065-E69D-2B4783A5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543CC9A4-C32D-2D1B-682A-92FA7CE76C77}"/>
              </a:ext>
            </a:extLst>
          </p:cNvPr>
          <p:cNvSpPr/>
          <p:nvPr/>
        </p:nvSpPr>
        <p:spPr>
          <a:xfrm rot="13154954">
            <a:off x="11148855" y="-1501294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C45CAA-880A-10AC-C16D-83CD4CDB5B14}"/>
              </a:ext>
            </a:extLst>
          </p:cNvPr>
          <p:cNvSpPr/>
          <p:nvPr/>
        </p:nvSpPr>
        <p:spPr>
          <a:xfrm>
            <a:off x="998747" y="1051166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What is Auto-mitigation?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DAD87C9-93D8-1B18-BBE6-D890CEF79558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What is </a:t>
            </a:r>
            <a:r>
              <a:rPr lang="en-US" sz="1200" err="1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uto</a:t>
            </a:r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-mitigation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1855EF2-A9AF-E98E-42BA-83BA7430D40E}"/>
              </a:ext>
            </a:extLst>
          </p:cNvPr>
          <p:cNvSpPr/>
          <p:nvPr/>
        </p:nvSpPr>
        <p:spPr>
          <a:xfrm>
            <a:off x="998747" y="2252128"/>
            <a:ext cx="1426484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is an automated process handling fraud mitigation steps previously done by agents.</a:t>
            </a:r>
            <a:endParaRPr kumimoji="0" lang="en-US" sz="220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0D4ABB8F-3432-01A1-E74A-150F7DA09047}"/>
              </a:ext>
            </a:extLst>
          </p:cNvPr>
          <p:cNvSpPr/>
          <p:nvPr/>
        </p:nvSpPr>
        <p:spPr>
          <a:xfrm>
            <a:off x="1007259" y="3366977"/>
            <a:ext cx="1188972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8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Triggered when owners receive a Fraud Letter for:</a:t>
            </a:r>
            <a:endParaRPr kumimoji="0" lang="en-US" sz="2800" b="1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056789" y="4528719"/>
            <a:ext cx="5104716" cy="2088867"/>
            <a:chOff x="0" y="0"/>
            <a:chExt cx="1730996" cy="7083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0996" cy="708329"/>
            </a:xfrm>
            <a:custGeom>
              <a:avLst/>
              <a:gdLst/>
              <a:ahLst/>
              <a:cxnLst/>
              <a:rect l="l" t="t" r="r" b="b"/>
              <a:pathLst>
                <a:path w="1730996" h="708329">
                  <a:moveTo>
                    <a:pt x="77348" y="0"/>
                  </a:moveTo>
                  <a:lnTo>
                    <a:pt x="1653648" y="0"/>
                  </a:lnTo>
                  <a:cubicBezTo>
                    <a:pt x="1696366" y="0"/>
                    <a:pt x="1730996" y="34630"/>
                    <a:pt x="1730996" y="77348"/>
                  </a:cubicBezTo>
                  <a:lnTo>
                    <a:pt x="1730996" y="630982"/>
                  </a:lnTo>
                  <a:cubicBezTo>
                    <a:pt x="1730996" y="673700"/>
                    <a:pt x="1696366" y="708329"/>
                    <a:pt x="1653648" y="708329"/>
                  </a:cubicBezTo>
                  <a:lnTo>
                    <a:pt x="77348" y="708329"/>
                  </a:lnTo>
                  <a:cubicBezTo>
                    <a:pt x="34630" y="708329"/>
                    <a:pt x="0" y="673700"/>
                    <a:pt x="0" y="630982"/>
                  </a:cubicBezTo>
                  <a:lnTo>
                    <a:pt x="0" y="77348"/>
                  </a:lnTo>
                  <a:cubicBezTo>
                    <a:pt x="0" y="34630"/>
                    <a:pt x="34630" y="0"/>
                    <a:pt x="77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-57150"/>
              <a:ext cx="1730996" cy="765479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264998" y="4229100"/>
            <a:ext cx="599238" cy="599238"/>
            <a:chOff x="0" y="0"/>
            <a:chExt cx="812800" cy="812800"/>
          </a:xfrm>
        </p:grpSpPr>
        <p:sp>
          <p:nvSpPr>
            <p:cNvPr id="8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Freeform 8"/>
          <p:cNvSpPr/>
          <p:nvPr/>
        </p:nvSpPr>
        <p:spPr>
          <a:xfrm>
            <a:off x="1311803" y="4302872"/>
            <a:ext cx="505627" cy="451694"/>
          </a:xfrm>
          <a:custGeom>
            <a:avLst/>
            <a:gdLst/>
            <a:ahLst/>
            <a:cxnLst/>
            <a:rect l="l" t="t" r="r" b="b"/>
            <a:pathLst>
              <a:path w="505627" h="451694">
                <a:moveTo>
                  <a:pt x="0" y="0"/>
                </a:moveTo>
                <a:lnTo>
                  <a:pt x="505628" y="0"/>
                </a:lnTo>
                <a:lnTo>
                  <a:pt x="505628" y="451694"/>
                </a:lnTo>
                <a:lnTo>
                  <a:pt x="0" y="45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9"/>
          <p:cNvSpPr/>
          <p:nvPr/>
        </p:nvSpPr>
        <p:spPr>
          <a:xfrm>
            <a:off x="1393167" y="4963056"/>
            <a:ext cx="1365889" cy="1220194"/>
          </a:xfrm>
          <a:custGeom>
            <a:avLst/>
            <a:gdLst/>
            <a:ahLst/>
            <a:cxnLst/>
            <a:rect l="l" t="t" r="r" b="b"/>
            <a:pathLst>
              <a:path w="1365889" h="1220194">
                <a:moveTo>
                  <a:pt x="0" y="0"/>
                </a:moveTo>
                <a:lnTo>
                  <a:pt x="1365889" y="0"/>
                </a:lnTo>
                <a:lnTo>
                  <a:pt x="1365889" y="1220193"/>
                </a:lnTo>
                <a:lnTo>
                  <a:pt x="0" y="1220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10"/>
          <p:cNvGrpSpPr/>
          <p:nvPr/>
        </p:nvGrpSpPr>
        <p:grpSpPr>
          <a:xfrm>
            <a:off x="6570611" y="4528719"/>
            <a:ext cx="5104716" cy="2088867"/>
            <a:chOff x="0" y="0"/>
            <a:chExt cx="1730996" cy="708329"/>
          </a:xfrm>
        </p:grpSpPr>
        <p:sp>
          <p:nvSpPr>
            <p:cNvPr id="13" name="Freeform 11"/>
            <p:cNvSpPr/>
            <p:nvPr/>
          </p:nvSpPr>
          <p:spPr>
            <a:xfrm>
              <a:off x="0" y="0"/>
              <a:ext cx="1730996" cy="708329"/>
            </a:xfrm>
            <a:custGeom>
              <a:avLst/>
              <a:gdLst/>
              <a:ahLst/>
              <a:cxnLst/>
              <a:rect l="l" t="t" r="r" b="b"/>
              <a:pathLst>
                <a:path w="1730996" h="708329">
                  <a:moveTo>
                    <a:pt x="77348" y="0"/>
                  </a:moveTo>
                  <a:lnTo>
                    <a:pt x="1653648" y="0"/>
                  </a:lnTo>
                  <a:cubicBezTo>
                    <a:pt x="1696366" y="0"/>
                    <a:pt x="1730996" y="34630"/>
                    <a:pt x="1730996" y="77348"/>
                  </a:cubicBezTo>
                  <a:lnTo>
                    <a:pt x="1730996" y="630982"/>
                  </a:lnTo>
                  <a:cubicBezTo>
                    <a:pt x="1730996" y="673700"/>
                    <a:pt x="1696366" y="708329"/>
                    <a:pt x="1653648" y="708329"/>
                  </a:cubicBezTo>
                  <a:lnTo>
                    <a:pt x="77348" y="708329"/>
                  </a:lnTo>
                  <a:cubicBezTo>
                    <a:pt x="34630" y="708329"/>
                    <a:pt x="0" y="673700"/>
                    <a:pt x="0" y="630982"/>
                  </a:cubicBezTo>
                  <a:lnTo>
                    <a:pt x="0" y="77348"/>
                  </a:lnTo>
                  <a:cubicBezTo>
                    <a:pt x="0" y="34630"/>
                    <a:pt x="34630" y="0"/>
                    <a:pt x="77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2"/>
            <p:cNvSpPr txBox="1"/>
            <p:nvPr/>
          </p:nvSpPr>
          <p:spPr>
            <a:xfrm>
              <a:off x="0" y="-57150"/>
              <a:ext cx="1730996" cy="765479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3"/>
          <p:cNvGrpSpPr/>
          <p:nvPr/>
        </p:nvGrpSpPr>
        <p:grpSpPr>
          <a:xfrm>
            <a:off x="6778820" y="4229100"/>
            <a:ext cx="599238" cy="599238"/>
            <a:chOff x="0" y="0"/>
            <a:chExt cx="812800" cy="812800"/>
          </a:xfrm>
        </p:grpSpPr>
        <p:sp>
          <p:nvSpPr>
            <p:cNvPr id="18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2" name="Freeform 16"/>
          <p:cNvSpPr/>
          <p:nvPr/>
        </p:nvSpPr>
        <p:spPr>
          <a:xfrm>
            <a:off x="6825626" y="4302872"/>
            <a:ext cx="505627" cy="451694"/>
          </a:xfrm>
          <a:custGeom>
            <a:avLst/>
            <a:gdLst/>
            <a:ahLst/>
            <a:cxnLst/>
            <a:rect l="l" t="t" r="r" b="b"/>
            <a:pathLst>
              <a:path w="505627" h="451694">
                <a:moveTo>
                  <a:pt x="0" y="0"/>
                </a:moveTo>
                <a:lnTo>
                  <a:pt x="505627" y="0"/>
                </a:lnTo>
                <a:lnTo>
                  <a:pt x="505627" y="451694"/>
                </a:lnTo>
                <a:lnTo>
                  <a:pt x="0" y="45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oup 17"/>
          <p:cNvGrpSpPr/>
          <p:nvPr/>
        </p:nvGrpSpPr>
        <p:grpSpPr>
          <a:xfrm>
            <a:off x="3609147" y="7053460"/>
            <a:ext cx="5104716" cy="2088867"/>
            <a:chOff x="0" y="0"/>
            <a:chExt cx="1730996" cy="708329"/>
          </a:xfrm>
        </p:grpSpPr>
        <p:sp>
          <p:nvSpPr>
            <p:cNvPr id="24" name="Freeform 18"/>
            <p:cNvSpPr/>
            <p:nvPr/>
          </p:nvSpPr>
          <p:spPr>
            <a:xfrm>
              <a:off x="0" y="0"/>
              <a:ext cx="1730996" cy="708329"/>
            </a:xfrm>
            <a:custGeom>
              <a:avLst/>
              <a:gdLst/>
              <a:ahLst/>
              <a:cxnLst/>
              <a:rect l="l" t="t" r="r" b="b"/>
              <a:pathLst>
                <a:path w="1730996" h="708329">
                  <a:moveTo>
                    <a:pt x="77348" y="0"/>
                  </a:moveTo>
                  <a:lnTo>
                    <a:pt x="1653648" y="0"/>
                  </a:lnTo>
                  <a:cubicBezTo>
                    <a:pt x="1696366" y="0"/>
                    <a:pt x="1730996" y="34630"/>
                    <a:pt x="1730996" y="77348"/>
                  </a:cubicBezTo>
                  <a:lnTo>
                    <a:pt x="1730996" y="630982"/>
                  </a:lnTo>
                  <a:cubicBezTo>
                    <a:pt x="1730996" y="673700"/>
                    <a:pt x="1696366" y="708329"/>
                    <a:pt x="1653648" y="708329"/>
                  </a:cubicBezTo>
                  <a:lnTo>
                    <a:pt x="77348" y="708329"/>
                  </a:lnTo>
                  <a:cubicBezTo>
                    <a:pt x="34630" y="708329"/>
                    <a:pt x="0" y="673700"/>
                    <a:pt x="0" y="630982"/>
                  </a:cubicBezTo>
                  <a:lnTo>
                    <a:pt x="0" y="77348"/>
                  </a:lnTo>
                  <a:cubicBezTo>
                    <a:pt x="0" y="34630"/>
                    <a:pt x="34630" y="0"/>
                    <a:pt x="773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BF63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19"/>
            <p:cNvSpPr txBox="1"/>
            <p:nvPr/>
          </p:nvSpPr>
          <p:spPr>
            <a:xfrm>
              <a:off x="0" y="-57150"/>
              <a:ext cx="1730996" cy="765479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0"/>
          <p:cNvGrpSpPr/>
          <p:nvPr/>
        </p:nvGrpSpPr>
        <p:grpSpPr>
          <a:xfrm>
            <a:off x="3817356" y="6753841"/>
            <a:ext cx="599238" cy="599238"/>
            <a:chOff x="0" y="0"/>
            <a:chExt cx="812800" cy="812800"/>
          </a:xfrm>
        </p:grpSpPr>
        <p:sp>
          <p:nvSpPr>
            <p:cNvPr id="27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39456" tIns="39456" rIns="39456" bIns="39456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Freeform 23"/>
          <p:cNvSpPr/>
          <p:nvPr/>
        </p:nvSpPr>
        <p:spPr>
          <a:xfrm>
            <a:off x="3864161" y="6827613"/>
            <a:ext cx="505627" cy="451694"/>
          </a:xfrm>
          <a:custGeom>
            <a:avLst/>
            <a:gdLst/>
            <a:ahLst/>
            <a:cxnLst/>
            <a:rect l="l" t="t" r="r" b="b"/>
            <a:pathLst>
              <a:path w="505627" h="451694">
                <a:moveTo>
                  <a:pt x="0" y="0"/>
                </a:moveTo>
                <a:lnTo>
                  <a:pt x="505627" y="0"/>
                </a:lnTo>
                <a:lnTo>
                  <a:pt x="505627" y="451694"/>
                </a:lnTo>
                <a:lnTo>
                  <a:pt x="0" y="451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Freeform 24"/>
          <p:cNvSpPr/>
          <p:nvPr/>
        </p:nvSpPr>
        <p:spPr>
          <a:xfrm>
            <a:off x="7078439" y="5031905"/>
            <a:ext cx="1233744" cy="1167944"/>
          </a:xfrm>
          <a:custGeom>
            <a:avLst/>
            <a:gdLst/>
            <a:ahLst/>
            <a:cxnLst/>
            <a:rect l="l" t="t" r="r" b="b"/>
            <a:pathLst>
              <a:path w="1233744" h="1167944">
                <a:moveTo>
                  <a:pt x="0" y="0"/>
                </a:moveTo>
                <a:lnTo>
                  <a:pt x="1233744" y="0"/>
                </a:lnTo>
                <a:lnTo>
                  <a:pt x="1233744" y="1167944"/>
                </a:lnTo>
                <a:lnTo>
                  <a:pt x="0" y="11679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Freeform 25"/>
          <p:cNvSpPr/>
          <p:nvPr/>
        </p:nvSpPr>
        <p:spPr>
          <a:xfrm>
            <a:off x="3888084" y="7660992"/>
            <a:ext cx="1057019" cy="873803"/>
          </a:xfrm>
          <a:custGeom>
            <a:avLst/>
            <a:gdLst/>
            <a:ahLst/>
            <a:cxnLst/>
            <a:rect l="l" t="t" r="r" b="b"/>
            <a:pathLst>
              <a:path w="1057019" h="873803">
                <a:moveTo>
                  <a:pt x="0" y="0"/>
                </a:moveTo>
                <a:lnTo>
                  <a:pt x="1057019" y="0"/>
                </a:lnTo>
                <a:lnTo>
                  <a:pt x="1057019" y="873803"/>
                </a:lnTo>
                <a:lnTo>
                  <a:pt x="0" y="8738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2759056" y="5010404"/>
            <a:ext cx="3402450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Confirmed Boosting, Vandalism, or Paid Reviews</a:t>
            </a:r>
          </a:p>
        </p:txBody>
      </p:sp>
      <p:sp>
        <p:nvSpPr>
          <p:cNvPr id="34" name="TextBox 31"/>
          <p:cNvSpPr txBox="1"/>
          <p:nvPr/>
        </p:nvSpPr>
        <p:spPr>
          <a:xfrm>
            <a:off x="8437158" y="4958155"/>
            <a:ext cx="2900033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Confirmed Incentives or Bullying</a:t>
            </a:r>
          </a:p>
        </p:txBody>
      </p:sp>
      <p:sp>
        <p:nvSpPr>
          <p:cNvPr id="35" name="TextBox 32"/>
          <p:cNvSpPr txBox="1"/>
          <p:nvPr/>
        </p:nvSpPr>
        <p:spPr>
          <a:xfrm>
            <a:off x="5354678" y="7499496"/>
            <a:ext cx="3026948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Ensures a faster, more consistent response for owners</a:t>
            </a:r>
          </a:p>
        </p:txBody>
      </p:sp>
      <p:sp>
        <p:nvSpPr>
          <p:cNvPr id="39" name="Freeform 29">
            <a:extLst>
              <a:ext uri="{FF2B5EF4-FFF2-40B4-BE49-F238E27FC236}">
                <a16:creationId xmlns:a16="http://schemas.microsoft.com/office/drawing/2014/main" id="{88272680-FD19-3F46-4A52-7D526A5A44BA}"/>
              </a:ext>
            </a:extLst>
          </p:cNvPr>
          <p:cNvSpPr/>
          <p:nvPr/>
        </p:nvSpPr>
        <p:spPr>
          <a:xfrm>
            <a:off x="12944157" y="4112640"/>
            <a:ext cx="4032040" cy="4174418"/>
          </a:xfrm>
          <a:custGeom>
            <a:avLst/>
            <a:gdLst/>
            <a:ahLst/>
            <a:cxnLst/>
            <a:rect l="l" t="t" r="r" b="b"/>
            <a:pathLst>
              <a:path w="1968006" h="1968006">
                <a:moveTo>
                  <a:pt x="0" y="0"/>
                </a:moveTo>
                <a:lnTo>
                  <a:pt x="1968006" y="0"/>
                </a:lnTo>
                <a:lnTo>
                  <a:pt x="1968006" y="1968006"/>
                </a:lnTo>
                <a:lnTo>
                  <a:pt x="0" y="1968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397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B1AD2-B6CF-7D1B-5B88-3501C502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>
            <a:extLst>
              <a:ext uri="{FF2B5EF4-FFF2-40B4-BE49-F238E27FC236}">
                <a16:creationId xmlns:a16="http://schemas.microsoft.com/office/drawing/2014/main" id="{DC9FF549-1986-3EAD-D50E-7A077630B084}"/>
              </a:ext>
            </a:extLst>
          </p:cNvPr>
          <p:cNvGrpSpPr/>
          <p:nvPr/>
        </p:nvGrpSpPr>
        <p:grpSpPr>
          <a:xfrm>
            <a:off x="8357798" y="7153217"/>
            <a:ext cx="7307640" cy="1575567"/>
            <a:chOff x="0" y="0"/>
            <a:chExt cx="1778700" cy="1137490"/>
          </a:xfrm>
          <a:solidFill>
            <a:srgbClr val="FF4E5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2" name="Freeform 3">
              <a:extLst>
                <a:ext uri="{FF2B5EF4-FFF2-40B4-BE49-F238E27FC236}">
                  <a16:creationId xmlns:a16="http://schemas.microsoft.com/office/drawing/2014/main" id="{AD739C7D-C76A-E2DC-5F3A-48BD60E6DF7F}"/>
                </a:ext>
              </a:extLst>
            </p:cNvPr>
            <p:cNvSpPr/>
            <p:nvPr/>
          </p:nvSpPr>
          <p:spPr>
            <a:xfrm>
              <a:off x="0" y="0"/>
              <a:ext cx="1778701" cy="1137490"/>
            </a:xfrm>
            <a:custGeom>
              <a:avLst/>
              <a:gdLst/>
              <a:ahLst/>
              <a:cxnLst/>
              <a:rect l="l" t="t" r="r" b="b"/>
              <a:pathLst>
                <a:path w="1778701" h="1137490">
                  <a:moveTo>
                    <a:pt x="0" y="0"/>
                  </a:moveTo>
                  <a:lnTo>
                    <a:pt x="1778701" y="0"/>
                  </a:lnTo>
                  <a:lnTo>
                    <a:pt x="1778701" y="1137490"/>
                  </a:lnTo>
                  <a:lnTo>
                    <a:pt x="0" y="113749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EB5B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TextBox 4">
              <a:extLst>
                <a:ext uri="{FF2B5EF4-FFF2-40B4-BE49-F238E27FC236}">
                  <a16:creationId xmlns:a16="http://schemas.microsoft.com/office/drawing/2014/main" id="{3569B31A-7494-11EA-51AA-C2C670FD9069}"/>
                </a:ext>
              </a:extLst>
            </p:cNvPr>
            <p:cNvSpPr txBox="1"/>
            <p:nvPr/>
          </p:nvSpPr>
          <p:spPr>
            <a:xfrm>
              <a:off x="0" y="-47625"/>
              <a:ext cx="1778700" cy="11851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EB5B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4" name="Group 5">
            <a:extLst>
              <a:ext uri="{FF2B5EF4-FFF2-40B4-BE49-F238E27FC236}">
                <a16:creationId xmlns:a16="http://schemas.microsoft.com/office/drawing/2014/main" id="{A520ADC3-2469-9816-7DB0-B79C44551F26}"/>
              </a:ext>
            </a:extLst>
          </p:cNvPr>
          <p:cNvGrpSpPr/>
          <p:nvPr/>
        </p:nvGrpSpPr>
        <p:grpSpPr>
          <a:xfrm>
            <a:off x="8577869" y="7173723"/>
            <a:ext cx="6838786" cy="1911547"/>
            <a:chOff x="0" y="-47625"/>
            <a:chExt cx="1647103" cy="10754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7B182A4C-FF6A-D8B2-A9D6-A41B07E44C3C}"/>
                </a:ext>
              </a:extLst>
            </p:cNvPr>
            <p:cNvSpPr/>
            <p:nvPr/>
          </p:nvSpPr>
          <p:spPr>
            <a:xfrm>
              <a:off x="0" y="17326"/>
              <a:ext cx="1647103" cy="716527"/>
            </a:xfrm>
            <a:custGeom>
              <a:avLst/>
              <a:gdLst/>
              <a:ahLst/>
              <a:cxnLst/>
              <a:rect l="l" t="t" r="r" b="b"/>
              <a:pathLst>
                <a:path w="1647103" h="1027826">
                  <a:moveTo>
                    <a:pt x="71673" y="0"/>
                  </a:moveTo>
                  <a:lnTo>
                    <a:pt x="1575430" y="0"/>
                  </a:lnTo>
                  <a:cubicBezTo>
                    <a:pt x="1615014" y="0"/>
                    <a:pt x="1647103" y="32089"/>
                    <a:pt x="1647103" y="71673"/>
                  </a:cubicBezTo>
                  <a:lnTo>
                    <a:pt x="1647103" y="956154"/>
                  </a:lnTo>
                  <a:cubicBezTo>
                    <a:pt x="1647103" y="995737"/>
                    <a:pt x="1615014" y="1027826"/>
                    <a:pt x="1575430" y="1027826"/>
                  </a:cubicBezTo>
                  <a:lnTo>
                    <a:pt x="71673" y="1027826"/>
                  </a:lnTo>
                  <a:cubicBezTo>
                    <a:pt x="32089" y="1027826"/>
                    <a:pt x="0" y="995737"/>
                    <a:pt x="0" y="956154"/>
                  </a:cubicBezTo>
                  <a:lnTo>
                    <a:pt x="0" y="71673"/>
                  </a:lnTo>
                  <a:cubicBezTo>
                    <a:pt x="0" y="32089"/>
                    <a:pt x="32089" y="0"/>
                    <a:pt x="71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TextBox 7">
              <a:extLst>
                <a:ext uri="{FF2B5EF4-FFF2-40B4-BE49-F238E27FC236}">
                  <a16:creationId xmlns:a16="http://schemas.microsoft.com/office/drawing/2014/main" id="{29715D5C-54D8-93CD-F4C6-208C18A14494}"/>
                </a:ext>
              </a:extLst>
            </p:cNvPr>
            <p:cNvSpPr txBox="1"/>
            <p:nvPr/>
          </p:nvSpPr>
          <p:spPr>
            <a:xfrm>
              <a:off x="0" y="-47625"/>
              <a:ext cx="1647103" cy="107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8" name="Freeform 8">
            <a:extLst>
              <a:ext uri="{FF2B5EF4-FFF2-40B4-BE49-F238E27FC236}">
                <a16:creationId xmlns:a16="http://schemas.microsoft.com/office/drawing/2014/main" id="{E668F18C-5FD2-30C6-8E99-F54681189449}"/>
              </a:ext>
            </a:extLst>
          </p:cNvPr>
          <p:cNvSpPr/>
          <p:nvPr/>
        </p:nvSpPr>
        <p:spPr>
          <a:xfrm rot="3016692">
            <a:off x="13534455" y="302149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BB6A1F-0AD4-7060-4297-FF2240A2E7D5}"/>
              </a:ext>
            </a:extLst>
          </p:cNvPr>
          <p:cNvSpPr/>
          <p:nvPr/>
        </p:nvSpPr>
        <p:spPr>
          <a:xfrm>
            <a:off x="742630" y="568810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Criteria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B5D8B8D8-519D-7601-11F5-4A59EB616A41}"/>
              </a:ext>
            </a:extLst>
          </p:cNvPr>
          <p:cNvSpPr/>
          <p:nvPr/>
        </p:nvSpPr>
        <p:spPr>
          <a:xfrm>
            <a:off x="742630" y="3996957"/>
            <a:ext cx="1508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28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Full (100%) mitigation is granted if:</a:t>
            </a: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5AE17992-B325-4B2D-2C70-0D3B68133D3F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Interface &amp; navigation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2B56E1-9413-717D-3F7E-29119D7A5185}"/>
              </a:ext>
            </a:extLst>
          </p:cNvPr>
          <p:cNvGrpSpPr/>
          <p:nvPr/>
        </p:nvGrpSpPr>
        <p:grpSpPr>
          <a:xfrm>
            <a:off x="742630" y="1790700"/>
            <a:ext cx="15980897" cy="1546311"/>
            <a:chOff x="1000000" y="2319285"/>
            <a:chExt cx="7846927" cy="434821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F6EE8E3A-06C5-D0F4-324B-B884BBDB9599}"/>
                </a:ext>
              </a:extLst>
            </p:cNvPr>
            <p:cNvSpPr/>
            <p:nvPr/>
          </p:nvSpPr>
          <p:spPr>
            <a:xfrm>
              <a:off x="1000000" y="2319285"/>
              <a:ext cx="7800000" cy="4348216"/>
            </a:xfrm>
            <a:prstGeom prst="roundRect">
              <a:avLst/>
            </a:prstGeom>
            <a:solidFill>
              <a:srgbClr val="C197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9" name="Rounded Rectangle 3">
              <a:extLst>
                <a:ext uri="{FF2B5EF4-FFF2-40B4-BE49-F238E27FC236}">
                  <a16:creationId xmlns:a16="http://schemas.microsoft.com/office/drawing/2014/main" id="{884ECAB5-D5D8-A7FE-3803-C8F3F6C02528}"/>
                </a:ext>
              </a:extLst>
            </p:cNvPr>
            <p:cNvSpPr/>
            <p:nvPr/>
          </p:nvSpPr>
          <p:spPr>
            <a:xfrm>
              <a:off x="1046927" y="2533559"/>
              <a:ext cx="7800000" cy="4088242"/>
            </a:xfrm>
            <a:prstGeom prst="roundRect">
              <a:avLst/>
            </a:prstGeom>
            <a:ln>
              <a:solidFill>
                <a:srgbClr val="C197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3416AA3-4897-86DA-4577-E1E0B32DC7CB}"/>
              </a:ext>
            </a:extLst>
          </p:cNvPr>
          <p:cNvSpPr txBox="1"/>
          <p:nvPr/>
        </p:nvSpPr>
        <p:spPr>
          <a:xfrm>
            <a:off x="1248603" y="2140339"/>
            <a:ext cx="659995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>
                <a:sym typeface="Arial"/>
              </a:rPr>
              <a:t>Why Are We Offering Auto-Mitigation?</a:t>
            </a:r>
            <a:endParaRPr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E48B4F-8A95-2CCA-294F-C91A4F06782E}"/>
              </a:ext>
            </a:extLst>
          </p:cNvPr>
          <p:cNvSpPr txBox="1"/>
          <p:nvPr/>
        </p:nvSpPr>
        <p:spPr>
          <a:xfrm>
            <a:off x="7414260" y="2345999"/>
            <a:ext cx="5796849" cy="552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Standardization &amp; Risk Reduction</a:t>
            </a:r>
            <a:endParaRPr kumimoji="0" lang="en-US" sz="22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44383-81C4-B297-FB32-0AE224974E79}"/>
              </a:ext>
            </a:extLst>
          </p:cNvPr>
          <p:cNvSpPr txBox="1"/>
          <p:nvPr/>
        </p:nvSpPr>
        <p:spPr>
          <a:xfrm>
            <a:off x="13122285" y="2368356"/>
            <a:ext cx="4244340" cy="552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Increased Efficiency</a:t>
            </a:r>
            <a:endParaRPr kumimoji="0" lang="en-US" sz="22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4" name="Graphic 13" descr="Shield Tick with solid fill">
            <a:extLst>
              <a:ext uri="{FF2B5EF4-FFF2-40B4-BE49-F238E27FC236}">
                <a16:creationId xmlns:a16="http://schemas.microsoft.com/office/drawing/2014/main" id="{979786FC-BEA7-CCB9-D528-E67CF33F7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2096" y="2259529"/>
            <a:ext cx="803109" cy="803109"/>
          </a:xfrm>
          <a:prstGeom prst="rect">
            <a:avLst/>
          </a:prstGeom>
        </p:spPr>
      </p:pic>
      <p:pic>
        <p:nvPicPr>
          <p:cNvPr id="16" name="Graphic 15" descr="Stopwatch 75% with solid fill">
            <a:extLst>
              <a:ext uri="{FF2B5EF4-FFF2-40B4-BE49-F238E27FC236}">
                <a16:creationId xmlns:a16="http://schemas.microsoft.com/office/drawing/2014/main" id="{DF87FFFC-CC16-C238-D502-3D6108931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7613" y="2290358"/>
            <a:ext cx="804672" cy="804672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22D79A-98A7-64BA-63AC-A692857D122D}"/>
              </a:ext>
            </a:extLst>
          </p:cNvPr>
          <p:cNvSpPr/>
          <p:nvPr/>
        </p:nvSpPr>
        <p:spPr>
          <a:xfrm>
            <a:off x="737187" y="4779218"/>
            <a:ext cx="6077878" cy="1618089"/>
          </a:xfrm>
          <a:prstGeom prst="roundRect">
            <a:avLst/>
          </a:prstGeom>
          <a:solidFill>
            <a:srgbClr val="23EEBE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2073FE4-1E25-CB30-29CC-9C60A36345D2}"/>
              </a:ext>
            </a:extLst>
          </p:cNvPr>
          <p:cNvSpPr/>
          <p:nvPr/>
        </p:nvSpPr>
        <p:spPr>
          <a:xfrm>
            <a:off x="813387" y="4855418"/>
            <a:ext cx="6077878" cy="161808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8482C565-AA9A-3836-DB86-254FC0F950F8}"/>
              </a:ext>
            </a:extLst>
          </p:cNvPr>
          <p:cNvSpPr/>
          <p:nvPr/>
        </p:nvSpPr>
        <p:spPr>
          <a:xfrm>
            <a:off x="1028825" y="5115907"/>
            <a:ext cx="565504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i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Property has fewer than two fraud removals in the last 365 days (low fraud volume)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DE862CF-85F4-6B39-5C5D-F04EB5122F88}"/>
              </a:ext>
            </a:extLst>
          </p:cNvPr>
          <p:cNvSpPr/>
          <p:nvPr/>
        </p:nvSpPr>
        <p:spPr>
          <a:xfrm>
            <a:off x="8357798" y="4779218"/>
            <a:ext cx="6077878" cy="1618089"/>
          </a:xfrm>
          <a:prstGeom prst="roundRect">
            <a:avLst/>
          </a:prstGeom>
          <a:solidFill>
            <a:srgbClr val="6780F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D9C0029-1CA5-3E08-2400-8F06377D7F0E}"/>
              </a:ext>
            </a:extLst>
          </p:cNvPr>
          <p:cNvSpPr/>
          <p:nvPr/>
        </p:nvSpPr>
        <p:spPr>
          <a:xfrm>
            <a:off x="8433998" y="4855418"/>
            <a:ext cx="6077878" cy="161808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2ECDE4F1-22FB-9B09-72B5-1E32DA04A624}"/>
              </a:ext>
            </a:extLst>
          </p:cNvPr>
          <p:cNvSpPr/>
          <p:nvPr/>
        </p:nvSpPr>
        <p:spPr>
          <a:xfrm>
            <a:off x="8649436" y="5115907"/>
            <a:ext cx="565504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i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Multiple removals but all from the same Member ID within the last 365 days (single source violation)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09083A8-553C-0518-89A1-787776D3FE82}"/>
              </a:ext>
            </a:extLst>
          </p:cNvPr>
          <p:cNvSpPr/>
          <p:nvPr/>
        </p:nvSpPr>
        <p:spPr>
          <a:xfrm>
            <a:off x="769844" y="6949990"/>
            <a:ext cx="6077878" cy="1618089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9D82835-91E6-78CF-CFB9-E7F50D92149B}"/>
              </a:ext>
            </a:extLst>
          </p:cNvPr>
          <p:cNvSpPr/>
          <p:nvPr/>
        </p:nvSpPr>
        <p:spPr>
          <a:xfrm>
            <a:off x="846044" y="7026190"/>
            <a:ext cx="6077878" cy="161808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2CD516E4-9C6B-B55A-DE42-6B5207C9C078}"/>
              </a:ext>
            </a:extLst>
          </p:cNvPr>
          <p:cNvSpPr/>
          <p:nvPr/>
        </p:nvSpPr>
        <p:spPr>
          <a:xfrm>
            <a:off x="1061482" y="7286679"/>
            <a:ext cx="565504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i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29% or less of the property’s reviews were removed as suspicious in the past year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79021AC8-D90E-870C-733C-01F836622CD8}"/>
              </a:ext>
            </a:extLst>
          </p:cNvPr>
          <p:cNvSpPr/>
          <p:nvPr/>
        </p:nvSpPr>
        <p:spPr>
          <a:xfrm>
            <a:off x="10864831" y="7377117"/>
            <a:ext cx="4469052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i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Agents should not manually verify or share these criteria with owners.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8" name="Freeform 9">
            <a:extLst>
              <a:ext uri="{FF2B5EF4-FFF2-40B4-BE49-F238E27FC236}">
                <a16:creationId xmlns:a16="http://schemas.microsoft.com/office/drawing/2014/main" id="{360CC941-BE70-FA1B-3AD7-6976BDA21BBE}"/>
              </a:ext>
            </a:extLst>
          </p:cNvPr>
          <p:cNvSpPr/>
          <p:nvPr/>
        </p:nvSpPr>
        <p:spPr>
          <a:xfrm>
            <a:off x="8763205" y="7531576"/>
            <a:ext cx="1852839" cy="710148"/>
          </a:xfrm>
          <a:custGeom>
            <a:avLst/>
            <a:gdLst/>
            <a:ahLst/>
            <a:cxnLst/>
            <a:rect l="l" t="t" r="r" b="b"/>
            <a:pathLst>
              <a:path w="1770265" h="592301">
                <a:moveTo>
                  <a:pt x="0" y="0"/>
                </a:moveTo>
                <a:lnTo>
                  <a:pt x="1770265" y="0"/>
                </a:lnTo>
                <a:lnTo>
                  <a:pt x="1770265" y="592301"/>
                </a:lnTo>
                <a:lnTo>
                  <a:pt x="0" y="5923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914378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365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491C5-7F91-9D8E-496A-2F0B3B36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B2234E5F-9195-501A-01C2-25EC071922E3}"/>
              </a:ext>
            </a:extLst>
          </p:cNvPr>
          <p:cNvSpPr/>
          <p:nvPr/>
        </p:nvSpPr>
        <p:spPr>
          <a:xfrm rot="3016692">
            <a:off x="13534455" y="302149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1277FE-8289-2915-3FB4-3E6C91A09406}"/>
              </a:ext>
            </a:extLst>
          </p:cNvPr>
          <p:cNvSpPr/>
          <p:nvPr/>
        </p:nvSpPr>
        <p:spPr>
          <a:xfrm>
            <a:off x="742630" y="568810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Criteria</a:t>
            </a: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59C0A30E-54E1-2665-5AB7-ACCA87EB794F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Interface &amp; navigation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6225C-55E0-861E-86A9-B367C550A7C9}"/>
              </a:ext>
            </a:extLst>
          </p:cNvPr>
          <p:cNvSpPr txBox="1"/>
          <p:nvPr/>
        </p:nvSpPr>
        <p:spPr>
          <a:xfrm>
            <a:off x="742630" y="1800422"/>
            <a:ext cx="838092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>
                <a:solidFill>
                  <a:srgbClr val="4A4A4A"/>
                </a:solidFill>
                <a:sym typeface="Arial"/>
              </a:rPr>
              <a:t>Why Are We Offering Auto-Mitigation?</a:t>
            </a:r>
            <a:endParaRPr>
              <a:solidFill>
                <a:srgbClr val="4A4A4A"/>
              </a:solidFill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6D13A0-420D-8713-62CB-2394B4641B69}"/>
              </a:ext>
            </a:extLst>
          </p:cNvPr>
          <p:cNvSpPr txBox="1"/>
          <p:nvPr/>
        </p:nvSpPr>
        <p:spPr>
          <a:xfrm>
            <a:off x="2085148" y="2676229"/>
            <a:ext cx="5796849" cy="552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Standardization &amp; Risk Reduction</a:t>
            </a:r>
            <a:endParaRPr kumimoji="0" lang="en-US" sz="22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B28E5C-9298-6F0C-5163-632FD7537F8F}"/>
              </a:ext>
            </a:extLst>
          </p:cNvPr>
          <p:cNvSpPr txBox="1"/>
          <p:nvPr/>
        </p:nvSpPr>
        <p:spPr>
          <a:xfrm>
            <a:off x="2167393" y="3589860"/>
            <a:ext cx="4244340" cy="552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Increased Efficiency</a:t>
            </a:r>
            <a:endParaRPr kumimoji="0" lang="en-US" sz="22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49E78D8-0BAA-EECE-19F7-76079C1A89E1}"/>
              </a:ext>
            </a:extLst>
          </p:cNvPr>
          <p:cNvSpPr/>
          <p:nvPr/>
        </p:nvSpPr>
        <p:spPr>
          <a:xfrm>
            <a:off x="742630" y="4688885"/>
            <a:ext cx="1508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28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Full (100%) mitigation is granted if: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74969-85BD-37C2-A05F-9DBB73AAE75C}"/>
              </a:ext>
            </a:extLst>
          </p:cNvPr>
          <p:cNvSpPr txBox="1"/>
          <p:nvPr/>
        </p:nvSpPr>
        <p:spPr>
          <a:xfrm>
            <a:off x="1019780" y="5547976"/>
            <a:ext cx="9114820" cy="3091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Property has fewer than two fraud removals in the last 365 days (low fraud volume)</a:t>
            </a:r>
          </a:p>
          <a:p>
            <a:pPr marL="34290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29% or less of the property’s reviews were removed as suspicious in the past year</a:t>
            </a:r>
          </a:p>
          <a:p>
            <a:pPr marL="34290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i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Multiple removals but all from the same Member ID within the last 365 days (single source violation)</a:t>
            </a:r>
            <a:endParaRPr lang="en-US" sz="220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5141CF-6FD9-74EE-3880-F8D2DEFF04D9}"/>
              </a:ext>
            </a:extLst>
          </p:cNvPr>
          <p:cNvGrpSpPr/>
          <p:nvPr/>
        </p:nvGrpSpPr>
        <p:grpSpPr>
          <a:xfrm>
            <a:off x="10591800" y="6751721"/>
            <a:ext cx="6324600" cy="1979435"/>
            <a:chOff x="10591800" y="6029765"/>
            <a:chExt cx="7072180" cy="268676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92EC9A2-6693-6286-A597-F30B11A46BD4}"/>
                </a:ext>
              </a:extLst>
            </p:cNvPr>
            <p:cNvSpPr/>
            <p:nvPr/>
          </p:nvSpPr>
          <p:spPr>
            <a:xfrm>
              <a:off x="10591800" y="6029765"/>
              <a:ext cx="6995980" cy="2658634"/>
            </a:xfrm>
            <a:prstGeom prst="roundRect">
              <a:avLst/>
            </a:prstGeom>
            <a:solidFill>
              <a:srgbClr val="FF4E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9E5B999-9288-F750-75BA-6DEBD6B87F3C}"/>
                </a:ext>
              </a:extLst>
            </p:cNvPr>
            <p:cNvSpPr/>
            <p:nvPr/>
          </p:nvSpPr>
          <p:spPr>
            <a:xfrm>
              <a:off x="10668000" y="6057900"/>
              <a:ext cx="6995980" cy="26586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4E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079C2F7-E27B-E5B6-5C85-92BA3EC635F9}"/>
              </a:ext>
            </a:extLst>
          </p:cNvPr>
          <p:cNvSpPr txBox="1"/>
          <p:nvPr/>
        </p:nvSpPr>
        <p:spPr>
          <a:xfrm>
            <a:off x="11083976" y="7770456"/>
            <a:ext cx="56800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Agents should not manually verify or share these criteria with owners.</a:t>
            </a:r>
            <a:endParaRPr kumimoji="0" lang="en-US" sz="2200" b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7" name="Freeform 9">
            <a:extLst>
              <a:ext uri="{FF2B5EF4-FFF2-40B4-BE49-F238E27FC236}">
                <a16:creationId xmlns:a16="http://schemas.microsoft.com/office/drawing/2014/main" id="{F20E2B43-04EA-C0FD-EFEA-D6E1993F4DC6}"/>
              </a:ext>
            </a:extLst>
          </p:cNvPr>
          <p:cNvSpPr/>
          <p:nvPr/>
        </p:nvSpPr>
        <p:spPr>
          <a:xfrm>
            <a:off x="12634764" y="6997694"/>
            <a:ext cx="1852839" cy="710148"/>
          </a:xfrm>
          <a:custGeom>
            <a:avLst/>
            <a:gdLst/>
            <a:ahLst/>
            <a:cxnLst/>
            <a:rect l="l" t="t" r="r" b="b"/>
            <a:pathLst>
              <a:path w="1770265" h="592301">
                <a:moveTo>
                  <a:pt x="0" y="0"/>
                </a:moveTo>
                <a:lnTo>
                  <a:pt x="1770265" y="0"/>
                </a:lnTo>
                <a:lnTo>
                  <a:pt x="1770265" y="592301"/>
                </a:lnTo>
                <a:lnTo>
                  <a:pt x="0" y="592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914378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Freeform 27">
            <a:extLst>
              <a:ext uri="{FF2B5EF4-FFF2-40B4-BE49-F238E27FC236}">
                <a16:creationId xmlns:a16="http://schemas.microsoft.com/office/drawing/2014/main" id="{0F64088E-7638-D862-27E2-0C31207C3D57}"/>
              </a:ext>
            </a:extLst>
          </p:cNvPr>
          <p:cNvSpPr>
            <a:spLocks noChangeAspect="1"/>
          </p:cNvSpPr>
          <p:nvPr/>
        </p:nvSpPr>
        <p:spPr>
          <a:xfrm>
            <a:off x="1030931" y="2714800"/>
            <a:ext cx="907676" cy="459889"/>
          </a:xfrm>
          <a:custGeom>
            <a:avLst/>
            <a:gdLst/>
            <a:ahLst/>
            <a:cxnLst/>
            <a:rect l="l" t="t" r="r" b="b"/>
            <a:pathLst>
              <a:path w="7315200" h="3706368">
                <a:moveTo>
                  <a:pt x="0" y="0"/>
                </a:moveTo>
                <a:lnTo>
                  <a:pt x="7315200" y="0"/>
                </a:lnTo>
                <a:lnTo>
                  <a:pt x="7315200" y="3706368"/>
                </a:lnTo>
                <a:lnTo>
                  <a:pt x="0" y="3706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reeform 28">
            <a:extLst>
              <a:ext uri="{FF2B5EF4-FFF2-40B4-BE49-F238E27FC236}">
                <a16:creationId xmlns:a16="http://schemas.microsoft.com/office/drawing/2014/main" id="{DC5AD472-4EFF-5978-F4D9-7955A586755C}"/>
              </a:ext>
            </a:extLst>
          </p:cNvPr>
          <p:cNvSpPr>
            <a:spLocks noChangeAspect="1"/>
          </p:cNvSpPr>
          <p:nvPr/>
        </p:nvSpPr>
        <p:spPr>
          <a:xfrm>
            <a:off x="1118836" y="3504907"/>
            <a:ext cx="731865" cy="722107"/>
          </a:xfrm>
          <a:custGeom>
            <a:avLst/>
            <a:gdLst/>
            <a:ahLst/>
            <a:cxnLst/>
            <a:rect l="l" t="t" r="r" b="b"/>
            <a:pathLst>
              <a:path w="4170405" h="4114800">
                <a:moveTo>
                  <a:pt x="0" y="0"/>
                </a:moveTo>
                <a:lnTo>
                  <a:pt x="4170405" y="0"/>
                </a:lnTo>
                <a:lnTo>
                  <a:pt x="41704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46169A0-F355-1319-00F1-1172F227B96E}"/>
              </a:ext>
            </a:extLst>
          </p:cNvPr>
          <p:cNvSpPr/>
          <p:nvPr/>
        </p:nvSpPr>
        <p:spPr>
          <a:xfrm>
            <a:off x="10319839" y="1590506"/>
            <a:ext cx="6282370" cy="450083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26">
            <a:extLst>
              <a:ext uri="{FF2B5EF4-FFF2-40B4-BE49-F238E27FC236}">
                <a16:creationId xmlns:a16="http://schemas.microsoft.com/office/drawing/2014/main" id="{B5419ADB-E8E1-4911-865F-22F75BC7EE04}"/>
              </a:ext>
            </a:extLst>
          </p:cNvPr>
          <p:cNvSpPr>
            <a:spLocks noChangeAspect="1"/>
          </p:cNvSpPr>
          <p:nvPr/>
        </p:nvSpPr>
        <p:spPr>
          <a:xfrm>
            <a:off x="11153154" y="1972563"/>
            <a:ext cx="4391645" cy="3688982"/>
          </a:xfrm>
          <a:custGeom>
            <a:avLst/>
            <a:gdLst/>
            <a:ahLst/>
            <a:cxnLst/>
            <a:rect l="l" t="t" r="r" b="b"/>
            <a:pathLst>
              <a:path w="4898571" h="4114800">
                <a:moveTo>
                  <a:pt x="0" y="0"/>
                </a:moveTo>
                <a:lnTo>
                  <a:pt x="4898571" y="0"/>
                </a:lnTo>
                <a:lnTo>
                  <a:pt x="48985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3992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E340A-6015-F260-015A-481ECB35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4">
            <a:extLst>
              <a:ext uri="{FF2B5EF4-FFF2-40B4-BE49-F238E27FC236}">
                <a16:creationId xmlns:a16="http://schemas.microsoft.com/office/drawing/2014/main" id="{CD230EF1-0DBB-B3D8-2E78-01850652905B}"/>
              </a:ext>
            </a:extLst>
          </p:cNvPr>
          <p:cNvSpPr/>
          <p:nvPr/>
        </p:nvSpPr>
        <p:spPr>
          <a:xfrm rot="13154954">
            <a:off x="10970531" y="423802"/>
            <a:ext cx="11435239" cy="5274643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7621BE-B37B-9637-8DBB-1753FB05B760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Auto-mitigation process</a:t>
            </a:r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30895D7E-325F-107C-DBCB-29B838704189}"/>
              </a:ext>
            </a:extLst>
          </p:cNvPr>
          <p:cNvSpPr/>
          <p:nvPr/>
        </p:nvSpPr>
        <p:spPr>
          <a:xfrm>
            <a:off x="883639" y="1087061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Process</a:t>
            </a:r>
          </a:p>
        </p:txBody>
      </p:sp>
      <p:grpSp>
        <p:nvGrpSpPr>
          <p:cNvPr id="32" name="Group 2">
            <a:extLst>
              <a:ext uri="{FF2B5EF4-FFF2-40B4-BE49-F238E27FC236}">
                <a16:creationId xmlns:a16="http://schemas.microsoft.com/office/drawing/2014/main" id="{1940B921-F3A9-5CAB-C22D-69FCA770B435}"/>
              </a:ext>
            </a:extLst>
          </p:cNvPr>
          <p:cNvGrpSpPr/>
          <p:nvPr/>
        </p:nvGrpSpPr>
        <p:grpSpPr>
          <a:xfrm>
            <a:off x="883639" y="2767945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CCDA48B9-81BB-5404-84FA-0D92B78CE4FA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37" name="Freeform 4">
                <a:extLst>
                  <a:ext uri="{FF2B5EF4-FFF2-40B4-BE49-F238E27FC236}">
                    <a16:creationId xmlns:a16="http://schemas.microsoft.com/office/drawing/2014/main" id="{AED08C62-DF3C-CF32-26B9-D1E88268CC06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86A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TextBox 5">
                <a:extLst>
                  <a:ext uri="{FF2B5EF4-FFF2-40B4-BE49-F238E27FC236}">
                    <a16:creationId xmlns:a16="http://schemas.microsoft.com/office/drawing/2014/main" id="{9A7E7556-33A7-0AD1-27A5-08C5CED6358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59DF0678-1243-49F3-E43F-7BF18925E234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35" name="Freeform 7">
                <a:extLst>
                  <a:ext uri="{FF2B5EF4-FFF2-40B4-BE49-F238E27FC236}">
                    <a16:creationId xmlns:a16="http://schemas.microsoft.com/office/drawing/2014/main" id="{C28AE150-BE85-6BCB-998E-69A22802365D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TextBox 8">
                <a:extLst>
                  <a:ext uri="{FF2B5EF4-FFF2-40B4-BE49-F238E27FC236}">
                    <a16:creationId xmlns:a16="http://schemas.microsoft.com/office/drawing/2014/main" id="{18ACB833-FE2C-E864-7723-902D85A8917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42">
            <a:extLst>
              <a:ext uri="{FF2B5EF4-FFF2-40B4-BE49-F238E27FC236}">
                <a16:creationId xmlns:a16="http://schemas.microsoft.com/office/drawing/2014/main" id="{313B767F-C80D-85A4-A238-FD48AC4B800E}"/>
              </a:ext>
            </a:extLst>
          </p:cNvPr>
          <p:cNvSpPr txBox="1"/>
          <p:nvPr/>
        </p:nvSpPr>
        <p:spPr>
          <a:xfrm>
            <a:off x="1275524" y="3363093"/>
            <a:ext cx="327090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Owners complete the GCF and receive confirmation: "Compliance form submitted. Please allow up to two business days for a response."</a:t>
            </a:r>
            <a:endParaRPr lang="en-US" sz="2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8" name="Group 2">
            <a:extLst>
              <a:ext uri="{FF2B5EF4-FFF2-40B4-BE49-F238E27FC236}">
                <a16:creationId xmlns:a16="http://schemas.microsoft.com/office/drawing/2014/main" id="{AC80AD07-9088-32D9-A7A5-E63D293D9DDD}"/>
              </a:ext>
            </a:extLst>
          </p:cNvPr>
          <p:cNvGrpSpPr/>
          <p:nvPr/>
        </p:nvGrpSpPr>
        <p:grpSpPr>
          <a:xfrm>
            <a:off x="5225480" y="2769079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9B6D5813-B407-C2C9-D03C-F882F0B1B954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54" name="Freeform 4">
                <a:extLst>
                  <a:ext uri="{FF2B5EF4-FFF2-40B4-BE49-F238E27FC236}">
                    <a16:creationId xmlns:a16="http://schemas.microsoft.com/office/drawing/2014/main" id="{760B1CE2-2E5D-6B35-056B-1AE3DCCB931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23EEB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id="{439B22DE-FBAE-1F0D-2CFE-F038DD00E93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92FB32AB-E5A3-6156-295E-663F302FB353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51" name="Freeform 7">
                <a:extLst>
                  <a:ext uri="{FF2B5EF4-FFF2-40B4-BE49-F238E27FC236}">
                    <a16:creationId xmlns:a16="http://schemas.microsoft.com/office/drawing/2014/main" id="{C25A6E9F-E9A9-985A-3FB1-2D9394ACE250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TextBox 8">
                <a:extLst>
                  <a:ext uri="{FF2B5EF4-FFF2-40B4-BE49-F238E27FC236}">
                    <a16:creationId xmlns:a16="http://schemas.microsoft.com/office/drawing/2014/main" id="{2EB21778-820E-745A-5421-466D2A5A41E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7" name="TextBox 42">
            <a:extLst>
              <a:ext uri="{FF2B5EF4-FFF2-40B4-BE49-F238E27FC236}">
                <a16:creationId xmlns:a16="http://schemas.microsoft.com/office/drawing/2014/main" id="{E0CE2AA0-F24D-B99B-6983-DB31D0231238}"/>
              </a:ext>
            </a:extLst>
          </p:cNvPr>
          <p:cNvSpPr txBox="1"/>
          <p:nvPr/>
        </p:nvSpPr>
        <p:spPr>
          <a:xfrm>
            <a:off x="5666415" y="3363093"/>
            <a:ext cx="3019518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system analyzes the listing and creates a Zendesk ticket named "Guideline Compliance Appeal: (property name)."</a:t>
            </a:r>
            <a:endParaRPr lang="en-US" sz="2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9" name="Group 2">
            <a:extLst>
              <a:ext uri="{FF2B5EF4-FFF2-40B4-BE49-F238E27FC236}">
                <a16:creationId xmlns:a16="http://schemas.microsoft.com/office/drawing/2014/main" id="{B771C882-8F7F-51EA-9CE6-1092C513FA90}"/>
              </a:ext>
            </a:extLst>
          </p:cNvPr>
          <p:cNvGrpSpPr/>
          <p:nvPr/>
        </p:nvGrpSpPr>
        <p:grpSpPr>
          <a:xfrm>
            <a:off x="9574703" y="2767943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3">
              <a:extLst>
                <a:ext uri="{FF2B5EF4-FFF2-40B4-BE49-F238E27FC236}">
                  <a16:creationId xmlns:a16="http://schemas.microsoft.com/office/drawing/2014/main" id="{7F663762-BFFE-B755-BD85-551549119B0D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68" name="Freeform 4">
                <a:extLst>
                  <a:ext uri="{FF2B5EF4-FFF2-40B4-BE49-F238E27FC236}">
                    <a16:creationId xmlns:a16="http://schemas.microsoft.com/office/drawing/2014/main" id="{9F864079-F352-80EC-F90D-2D03259E1623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85FF8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TextBox 5">
                <a:extLst>
                  <a:ext uri="{FF2B5EF4-FFF2-40B4-BE49-F238E27FC236}">
                    <a16:creationId xmlns:a16="http://schemas.microsoft.com/office/drawing/2014/main" id="{7E45306C-5737-AD5D-5CCD-8037CB2CDFF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">
              <a:extLst>
                <a:ext uri="{FF2B5EF4-FFF2-40B4-BE49-F238E27FC236}">
                  <a16:creationId xmlns:a16="http://schemas.microsoft.com/office/drawing/2014/main" id="{9C351F33-C862-D600-A15F-CB4D900401D6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65" name="Freeform 7">
                <a:extLst>
                  <a:ext uri="{FF2B5EF4-FFF2-40B4-BE49-F238E27FC236}">
                    <a16:creationId xmlns:a16="http://schemas.microsoft.com/office/drawing/2014/main" id="{78478C90-C611-4FBC-222D-F097869012A9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TextBox 8">
                <a:extLst>
                  <a:ext uri="{FF2B5EF4-FFF2-40B4-BE49-F238E27FC236}">
                    <a16:creationId xmlns:a16="http://schemas.microsoft.com/office/drawing/2014/main" id="{6E2FC056-4084-1432-1067-315D124BF6D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0" name="TextBox 42">
            <a:extLst>
              <a:ext uri="{FF2B5EF4-FFF2-40B4-BE49-F238E27FC236}">
                <a16:creationId xmlns:a16="http://schemas.microsoft.com/office/drawing/2014/main" id="{070BBA9D-2914-2097-E402-792A759FA0A8}"/>
              </a:ext>
            </a:extLst>
          </p:cNvPr>
          <p:cNvSpPr txBox="1"/>
          <p:nvPr/>
        </p:nvSpPr>
        <p:spPr>
          <a:xfrm>
            <a:off x="9956511" y="3450725"/>
            <a:ext cx="3255776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If eligible, penalty is removed and owner receives an automated relief email.</a:t>
            </a:r>
            <a:endParaRPr lang="en-US" sz="2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1" name="Group 2">
            <a:extLst>
              <a:ext uri="{FF2B5EF4-FFF2-40B4-BE49-F238E27FC236}">
                <a16:creationId xmlns:a16="http://schemas.microsoft.com/office/drawing/2014/main" id="{435473A5-E54B-7325-93DE-DA4F4026D645}"/>
              </a:ext>
            </a:extLst>
          </p:cNvPr>
          <p:cNvGrpSpPr/>
          <p:nvPr/>
        </p:nvGrpSpPr>
        <p:grpSpPr>
          <a:xfrm>
            <a:off x="13827788" y="2767943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2" name="Group 3">
              <a:extLst>
                <a:ext uri="{FF2B5EF4-FFF2-40B4-BE49-F238E27FC236}">
                  <a16:creationId xmlns:a16="http://schemas.microsoft.com/office/drawing/2014/main" id="{BFF932D5-CE51-1315-AF09-09943BE86504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76" name="Freeform 4">
                <a:extLst>
                  <a:ext uri="{FF2B5EF4-FFF2-40B4-BE49-F238E27FC236}">
                    <a16:creationId xmlns:a16="http://schemas.microsoft.com/office/drawing/2014/main" id="{18BE465D-8647-F123-D86D-BAD003693C55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D953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7" name="TextBox 5">
                <a:extLst>
                  <a:ext uri="{FF2B5EF4-FFF2-40B4-BE49-F238E27FC236}">
                    <a16:creationId xmlns:a16="http://schemas.microsoft.com/office/drawing/2014/main" id="{AC502045-FC30-2B6C-2706-1094D36F054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73" name="Group 6">
              <a:extLst>
                <a:ext uri="{FF2B5EF4-FFF2-40B4-BE49-F238E27FC236}">
                  <a16:creationId xmlns:a16="http://schemas.microsoft.com/office/drawing/2014/main" id="{18E2BB18-52FB-8C50-ECAB-B6E8F71E3807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4CC469CD-E65E-9984-5109-75B0A4EAEBE9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5" name="TextBox 8">
                <a:extLst>
                  <a:ext uri="{FF2B5EF4-FFF2-40B4-BE49-F238E27FC236}">
                    <a16:creationId xmlns:a16="http://schemas.microsoft.com/office/drawing/2014/main" id="{0C9C6E50-3807-9F9B-2473-9699205E1C6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8" name="TextBox 42">
            <a:extLst>
              <a:ext uri="{FF2B5EF4-FFF2-40B4-BE49-F238E27FC236}">
                <a16:creationId xmlns:a16="http://schemas.microsoft.com/office/drawing/2014/main" id="{4AE9D614-86D5-E407-13E6-3472DFAF6729}"/>
              </a:ext>
            </a:extLst>
          </p:cNvPr>
          <p:cNvSpPr txBox="1"/>
          <p:nvPr/>
        </p:nvSpPr>
        <p:spPr>
          <a:xfrm>
            <a:off x="14194723" y="3363093"/>
            <a:ext cx="3209638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If not eligible, no automated notification; manual agent involvement may be required.</a:t>
            </a:r>
            <a:endParaRPr lang="en-US" sz="2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82A5FBB6-CFBE-235A-DC18-16180B32AB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20773" y="5754744"/>
            <a:ext cx="1533650" cy="143580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D598DE65-6F14-99BC-6BDA-78AC834618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43" y="5637457"/>
            <a:ext cx="1487790" cy="13649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82035AAC-3712-065E-CBF6-259AC9316B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830" y="5602486"/>
            <a:ext cx="2080151" cy="14678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FDD6E082-7B3A-D9CD-F0A4-6437FAC203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1" y="5903515"/>
            <a:ext cx="1682268" cy="11668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579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D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CB76C7-9479-0A0D-79BD-F95ABD6A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FE91416-E416-8DBE-C89F-328120252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85F41F7D-4342-FD2B-C4DF-A56E3A228DFB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14398C6-98E8-A8A0-DF9F-57E17169332E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3314129-7F3F-EB21-A5BB-A44A214C5CC0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F6D37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41FD5BE-4B25-BED8-AF87-43DB23F2126D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6D9404F-EF59-EBE5-D536-A8187F22D77D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7DB5A5C-1872-80B0-1A5B-3E4F2C86A95F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F6D37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CCF1C2-CA67-5737-F5C8-B479C6032245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3613476-2959-2E6A-F5B5-FFF404142901}"/>
              </a:ext>
            </a:extLst>
          </p:cNvPr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02. How to Handle Auto-mitigation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D810BA-9720-3F3E-94F0-3ED1B922B3C7}"/>
              </a:ext>
            </a:extLst>
          </p:cNvPr>
          <p:cNvSpPr txBox="1"/>
          <p:nvPr/>
        </p:nvSpPr>
        <p:spPr>
          <a:xfrm>
            <a:off x="1215433" y="803181"/>
            <a:ext cx="1865915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South Africa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91B6894-48BA-152B-C866-3C83D43EDE90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0039037-B786-7E36-889D-EE96BF3F3F2D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C6780172-697A-BDBC-1855-21EE9708FB9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F9AD6A01-0BAA-60BC-58E4-8C36C7BF58C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9CB00B2A-37CB-0E39-673D-FFDBFB6A5B54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67A5DC9-6993-CACE-E19D-DABABAC57D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F9DB968-3FD9-FE0E-479F-BA3A42B0E9F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C1FEFD71-A389-3C3C-F64F-0DB24378C730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B1265051-B85D-A4CC-8396-B307F6624DF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C1BA735B-0AB4-7646-FC96-8D14F8AA9B4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6EDC46D5-C13C-D7D9-2D01-409C2E1EB3AA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06F5AA3D-754C-4DFC-55B2-2D411C9A6B3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1C9756E4-8112-42BD-0C08-76A3803C09F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162BE2C6-4DE9-8BB7-9A35-119866385EEF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C5D4132-3D4A-C892-864A-92A0E7424C8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F809241D-DA85-ACE2-16C5-D045C488B26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7123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A8720-AA8F-6DCD-9C73-03DEB197B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A078D41-07B8-B5F8-F184-1AF2B3A339E2}"/>
              </a:ext>
            </a:extLst>
          </p:cNvPr>
          <p:cNvSpPr/>
          <p:nvPr/>
        </p:nvSpPr>
        <p:spPr>
          <a:xfrm>
            <a:off x="772180" y="709568"/>
            <a:ext cx="156870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How to Handle Auto-mitigation in Fraud Support | Step 1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19510F-5785-8969-08CB-2521FD501121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How to handle auto-mitigation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3528F76-8FCC-01B1-014B-62C8B7ABA8F0}"/>
              </a:ext>
            </a:extLst>
          </p:cNvPr>
          <p:cNvSpPr/>
          <p:nvPr/>
        </p:nvSpPr>
        <p:spPr>
          <a:xfrm>
            <a:off x="772313" y="2401550"/>
            <a:ext cx="12715087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1: Check Auto-Mitigation Status </a:t>
            </a:r>
          </a:p>
          <a:p>
            <a:pPr lvl="0" defTabSz="1371600">
              <a:defRPr/>
            </a:pPr>
            <a:endParaRPr lang="en-US" sz="220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Verify if the property has applied for auto-mitigation in the last year using Location Center. 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F4D6AD29-8123-010A-80A4-2359CB1734F1}"/>
              </a:ext>
            </a:extLst>
          </p:cNvPr>
          <p:cNvSpPr/>
          <p:nvPr/>
        </p:nvSpPr>
        <p:spPr>
          <a:xfrm>
            <a:off x="766737" y="4097548"/>
            <a:ext cx="1508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28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A: Property HAS applied for auto-mitigation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73222F-8235-5B25-2A44-004B1B82870F}"/>
              </a:ext>
            </a:extLst>
          </p:cNvPr>
          <p:cNvSpPr txBox="1"/>
          <p:nvPr/>
        </p:nvSpPr>
        <p:spPr>
          <a:xfrm>
            <a:off x="1828800" y="5695084"/>
            <a:ext cx="9073995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Full - 100%" mitigation stamp visible. Process ticket as usual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6CFF96-1338-BB13-29BA-6642488A1527}"/>
              </a:ext>
            </a:extLst>
          </p:cNvPr>
          <p:cNvSpPr txBox="1"/>
          <p:nvPr/>
        </p:nvSpPr>
        <p:spPr>
          <a:xfrm>
            <a:off x="1828801" y="5076154"/>
            <a:ext cx="25945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b="1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If GRANTED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DAAB63-4481-DAAD-71C7-B7ED0B729CF7}"/>
              </a:ext>
            </a:extLst>
          </p:cNvPr>
          <p:cNvSpPr txBox="1"/>
          <p:nvPr/>
        </p:nvSpPr>
        <p:spPr>
          <a:xfrm>
            <a:off x="1862254" y="6883002"/>
            <a:ext cx="8692996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No stamp. Confirm denial via Zendesk by searching Location ID for closed "Guideline Compliance Appeal" ticket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0B0F8E-349A-B9CD-25DE-21E43ED65043}"/>
              </a:ext>
            </a:extLst>
          </p:cNvPr>
          <p:cNvSpPr txBox="1"/>
          <p:nvPr/>
        </p:nvSpPr>
        <p:spPr>
          <a:xfrm>
            <a:off x="1828800" y="6340493"/>
            <a:ext cx="259453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b="1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If DENIED</a:t>
            </a:r>
            <a:endParaRPr kumimoji="0" sz="2200" b="1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63A78543-F06B-23C1-E123-2EAACD0AE9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04" y="5216691"/>
            <a:ext cx="769441" cy="769441"/>
          </a:xfrm>
          <a:prstGeom prst="rect">
            <a:avLst/>
          </a:prstGeom>
          <a:effectLst/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4DCD63A-5A65-9B65-9ABA-C65419D12F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04" y="6555936"/>
            <a:ext cx="769442" cy="772716"/>
          </a:xfrm>
          <a:prstGeom prst="rect">
            <a:avLst/>
          </a:prstGeom>
          <a:effectLst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928AED3-2372-96CF-9729-435CFB3BFF5C}"/>
              </a:ext>
            </a:extLst>
          </p:cNvPr>
          <p:cNvGrpSpPr/>
          <p:nvPr/>
        </p:nvGrpSpPr>
        <p:grpSpPr>
          <a:xfrm>
            <a:off x="837580" y="8035719"/>
            <a:ext cx="9564650" cy="1152714"/>
            <a:chOff x="1066800" y="7962900"/>
            <a:chExt cx="9564650" cy="11527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115529A-39EB-926E-B915-D59AACEE3E3C}"/>
                </a:ext>
              </a:extLst>
            </p:cNvPr>
            <p:cNvGrpSpPr/>
            <p:nvPr/>
          </p:nvGrpSpPr>
          <p:grpSpPr>
            <a:xfrm>
              <a:off x="1066800" y="7962900"/>
              <a:ext cx="9564650" cy="1152714"/>
              <a:chOff x="1066800" y="7962900"/>
              <a:chExt cx="9564650" cy="1152714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7FB28ECC-0607-DAE2-4903-BFF9EEB3DB9A}"/>
                  </a:ext>
                </a:extLst>
              </p:cNvPr>
              <p:cNvSpPr/>
              <p:nvPr/>
            </p:nvSpPr>
            <p:spPr>
              <a:xfrm>
                <a:off x="1066800" y="7962900"/>
                <a:ext cx="9488450" cy="1076514"/>
              </a:xfrm>
              <a:prstGeom prst="roundRect">
                <a:avLst/>
              </a:prstGeom>
              <a:solidFill>
                <a:srgbClr val="D1F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50D660A4-D889-C334-EB85-FA2AA7BBC43C}"/>
                  </a:ext>
                </a:extLst>
              </p:cNvPr>
              <p:cNvSpPr/>
              <p:nvPr/>
            </p:nvSpPr>
            <p:spPr>
              <a:xfrm>
                <a:off x="1143000" y="8039100"/>
                <a:ext cx="9488450" cy="1076514"/>
              </a:xfrm>
              <a:prstGeom prst="round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CB66860-3783-6237-7D83-5173728B2E0A}"/>
                </a:ext>
              </a:extLst>
            </p:cNvPr>
            <p:cNvSpPr txBox="1"/>
            <p:nvPr/>
          </p:nvSpPr>
          <p:spPr>
            <a:xfrm>
              <a:off x="1295400" y="8039100"/>
              <a:ext cx="9146661" cy="10600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lvl="0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sz="2200" b="1" kern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  <a:sym typeface="Arial"/>
                </a:rPr>
                <a:t>Note: </a:t>
              </a:r>
              <a:r>
                <a:rPr lang="en-US" sz="2200" kern="0">
                  <a:solidFill>
                    <a:srgbClr val="000000"/>
                  </a:solidFill>
                  <a:latin typeface="Poppins" panose="00000500000000000000" pitchFamily="2" charset="0"/>
                  <a:cs typeface="Poppins" panose="00000500000000000000" pitchFamily="2" charset="0"/>
                  <a:sym typeface="Arial"/>
                </a:rPr>
                <a:t>Do NOT discuss grant/denial reasons with owners; refer to manual handling as rare exception</a:t>
              </a:r>
              <a:endParaRPr kumimoji="0" sz="2200" b="0" i="0" u="none" strike="noStrike" kern="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12120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209C6-ED1F-3F16-BE90-08DA0D56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BA14771-5727-176B-743E-1B06F7492C30}"/>
              </a:ext>
            </a:extLst>
          </p:cNvPr>
          <p:cNvSpPr/>
          <p:nvPr/>
        </p:nvSpPr>
        <p:spPr>
          <a:xfrm>
            <a:off x="766737" y="822982"/>
            <a:ext cx="16073463" cy="149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How to Handle Auto-mitigation in Fraud Support | Step 1 (2 of 2)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9AA22EF-D0E7-B1A9-3F0D-ADA94181BF14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How to handle auto-mitigation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75D306E7-CAEA-524C-005D-CB89EEBF64C4}"/>
              </a:ext>
            </a:extLst>
          </p:cNvPr>
          <p:cNvSpPr/>
          <p:nvPr/>
        </p:nvSpPr>
        <p:spPr>
          <a:xfrm>
            <a:off x="777888" y="3275589"/>
            <a:ext cx="1508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371600"/>
            <a:r>
              <a:rPr lang="en-US" sz="28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Scenario B: Property HAS NOT applied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4B7D67-EBA1-50A3-4F1E-BB31BC101220}"/>
              </a:ext>
            </a:extLst>
          </p:cNvPr>
          <p:cNvSpPr txBox="1"/>
          <p:nvPr/>
        </p:nvSpPr>
        <p:spPr>
          <a:xfrm>
            <a:off x="1992351" y="4313037"/>
            <a:ext cx="758638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Direct owners with penalties to complete the Guideline Compliance Form (GCF)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BD485-CD3B-7A8C-AE56-ECD4FE076352}"/>
              </a:ext>
            </a:extLst>
          </p:cNvPr>
          <p:cNvSpPr txBox="1"/>
          <p:nvPr/>
        </p:nvSpPr>
        <p:spPr>
          <a:xfrm>
            <a:off x="1992352" y="6515100"/>
            <a:ext cx="777240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Do NOT send to GCF if OSM/ORM scenarios, active badges, recent auto-mitigation use (within 12 months), or bullying/incentives violations with no removals.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14CC33-A7EF-E97F-CB34-374C5C559845}"/>
              </a:ext>
            </a:extLst>
          </p:cNvPr>
          <p:cNvSpPr txBox="1"/>
          <p:nvPr/>
        </p:nvSpPr>
        <p:spPr>
          <a:xfrm>
            <a:off x="777888" y="5532013"/>
            <a:ext cx="2594531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800" b="1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EXCEPTIONS</a:t>
            </a:r>
            <a:endParaRPr kumimoji="0" sz="2800" b="1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DD816C-E1A1-0E1E-918F-5E19C2C981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28" y="6504768"/>
            <a:ext cx="841873" cy="92484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E86436-F500-FED6-12DC-4A4CC9781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37573" y="4353991"/>
            <a:ext cx="734385" cy="68753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723741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63086-E081-41DC-9E49-EA3702C5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7">
            <a:extLst>
              <a:ext uri="{FF2B5EF4-FFF2-40B4-BE49-F238E27FC236}">
                <a16:creationId xmlns:a16="http://schemas.microsoft.com/office/drawing/2014/main" id="{B2C2D3A6-0A18-FBF5-4999-0107AF8D9C18}"/>
              </a:ext>
            </a:extLst>
          </p:cNvPr>
          <p:cNvSpPr/>
          <p:nvPr/>
        </p:nvSpPr>
        <p:spPr>
          <a:xfrm rot="20775071">
            <a:off x="14262050" y="1043976"/>
            <a:ext cx="5091805" cy="8199048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2B130A-1FE2-573C-CCC3-16F87FB66156}"/>
              </a:ext>
            </a:extLst>
          </p:cNvPr>
          <p:cNvSpPr/>
          <p:nvPr/>
        </p:nvSpPr>
        <p:spPr>
          <a:xfrm>
            <a:off x="772180" y="709568"/>
            <a:ext cx="12073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How to Handle Auto-mitigation in Fraud Support | Step 2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1A872EE-0710-CB58-AD95-8A88A77C67FD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How to handle auto-mitigation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919BCEF-D01C-F781-82A6-73AB2EB22F89}"/>
              </a:ext>
            </a:extLst>
          </p:cNvPr>
          <p:cNvSpPr/>
          <p:nvPr/>
        </p:nvSpPr>
        <p:spPr>
          <a:xfrm>
            <a:off x="772180" y="2233017"/>
            <a:ext cx="1188972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Step 2: Verification and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EAB0C-6C27-32E2-1A4D-F7459EC01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856" y="2141036"/>
            <a:ext cx="6781800" cy="60049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6CC14-C270-45C3-C392-ABFF784C2E64}"/>
              </a:ext>
            </a:extLst>
          </p:cNvPr>
          <p:cNvSpPr txBox="1"/>
          <p:nvPr/>
        </p:nvSpPr>
        <p:spPr>
          <a:xfrm>
            <a:off x="12060768" y="3822242"/>
            <a:ext cx="4667839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b="1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Key Notes: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18BC6-8902-5AC4-AD0E-D5C1402A267B}"/>
              </a:ext>
            </a:extLst>
          </p:cNvPr>
          <p:cNvSpPr txBox="1"/>
          <p:nvPr/>
        </p:nvSpPr>
        <p:spPr>
          <a:xfrm>
            <a:off x="12653443" y="4622950"/>
            <a:ext cx="4667839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Do not verify eligibility criteria manually or share with owners. </a:t>
            </a:r>
          </a:p>
          <a:p>
            <a:pPr lvl="0">
              <a:buClr>
                <a:srgbClr val="000000"/>
              </a:buClr>
              <a:defRPr/>
            </a:pPr>
            <a:endParaRPr lang="en-US" sz="2200" kern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endParaRPr lang="en-US" sz="2200" kern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Use macros to communicate clearly and consistently. 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9D1627-2D48-9331-B442-9D37BC1A701E}"/>
              </a:ext>
            </a:extLst>
          </p:cNvPr>
          <p:cNvSpPr txBox="1"/>
          <p:nvPr/>
        </p:nvSpPr>
        <p:spPr>
          <a:xfrm>
            <a:off x="1741122" y="6070044"/>
            <a:ext cx="8241078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Verify login with registered email. </a:t>
            </a:r>
          </a:p>
          <a:p>
            <a:pPr lvl="0">
              <a:buClr>
                <a:srgbClr val="000000"/>
              </a:buClr>
              <a:defRPr/>
            </a:pPr>
            <a:endParaRPr lang="en-US" sz="2200" kern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If form fails, continue discussion and tag ticket with "GCF Failure" macro. </a:t>
            </a:r>
          </a:p>
          <a:p>
            <a:pPr lvl="0">
              <a:buClr>
                <a:srgbClr val="000000"/>
              </a:buClr>
              <a:defRPr/>
            </a:pPr>
            <a:endParaRPr lang="en-US" sz="2200" kern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r>
              <a:rPr lang="en-US" sz="2200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Escalate severe violation cases (vandalism, paid reviews, bullying) to Investigators.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D435B9-B022-96DB-7BF8-B539EFCF58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695327" y="4495794"/>
            <a:ext cx="1211148" cy="12111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67C5F9-E5A9-274D-6A03-7F5761593F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696744" y="5837930"/>
            <a:ext cx="1211148" cy="12111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7119125-5A8E-31AB-6793-9259C34BACFB}"/>
              </a:ext>
            </a:extLst>
          </p:cNvPr>
          <p:cNvSpPr txBox="1"/>
          <p:nvPr/>
        </p:nvSpPr>
        <p:spPr>
          <a:xfrm>
            <a:off x="843157" y="5120519"/>
            <a:ext cx="4347729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en-US" sz="2800" b="1" kern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GCF Troubleshooting</a:t>
            </a:r>
            <a:endParaRPr kumimoji="0" sz="2800" b="1" i="0" u="none" strike="noStrike" kern="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E1C54D3-441A-0410-16BC-9068CA963B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57" y="3553905"/>
            <a:ext cx="523747" cy="522320"/>
          </a:xfrm>
          <a:prstGeom prst="rect">
            <a:avLst/>
          </a:prstGeom>
          <a:effectLst/>
        </p:spPr>
      </p:pic>
      <p:pic>
        <p:nvPicPr>
          <p:cNvPr id="33" name="Graphic 32" descr="Repeat with solid fill">
            <a:extLst>
              <a:ext uri="{FF2B5EF4-FFF2-40B4-BE49-F238E27FC236}">
                <a16:creationId xmlns:a16="http://schemas.microsoft.com/office/drawing/2014/main" id="{A073557A-BA90-6746-6768-052745836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158" y="4215911"/>
            <a:ext cx="523747" cy="523747"/>
          </a:xfrm>
          <a:prstGeom prst="rect">
            <a:avLst/>
          </a:prstGeom>
          <a:effectLst/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A995C2-7ADC-141F-527D-DAC3FA641F2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58" y="7784225"/>
            <a:ext cx="623339" cy="623018"/>
          </a:xfrm>
          <a:prstGeom prst="rect">
            <a:avLst/>
          </a:prstGeom>
          <a:effectLst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2E58580-5D3E-1394-6961-4C3B8927F5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58" y="5993934"/>
            <a:ext cx="623339" cy="571883"/>
          </a:xfrm>
          <a:prstGeom prst="rect">
            <a:avLst/>
          </a:prstGeom>
          <a:effectLst/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FDADFD8-FDAD-A84F-B1E7-10390DB86C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337" y="6705503"/>
            <a:ext cx="1041455" cy="822260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4E459F-07FA-467B-B51C-5B886063EC65}"/>
              </a:ext>
            </a:extLst>
          </p:cNvPr>
          <p:cNvSpPr txBox="1"/>
          <p:nvPr/>
        </p:nvSpPr>
        <p:spPr>
          <a:xfrm>
            <a:off x="1376031" y="2951099"/>
            <a:ext cx="1013645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Confirm confirmed fraud penalty removal within last 365 days. </a:t>
            </a:r>
          </a:p>
          <a:p>
            <a:pPr lvl="0" defTabSz="1371600">
              <a:defRPr/>
            </a:pPr>
            <a:endParaRPr lang="en-US" sz="220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     Provide GCF link with relevant macros if eligible</a:t>
            </a:r>
          </a:p>
          <a:p>
            <a:pPr lvl="0" defTabSz="1371600">
              <a:defRPr/>
            </a:pPr>
            <a:endParaRPr lang="en-US" sz="2200">
              <a:solidFill>
                <a:srgbClr val="002B11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      Handle repeat offenders manually without mentioning GCF</a:t>
            </a:r>
          </a:p>
        </p:txBody>
      </p:sp>
    </p:spTree>
    <p:extLst>
      <p:ext uri="{BB962C8B-B14F-4D97-AF65-F5344CB8AC3E}">
        <p14:creationId xmlns:p14="http://schemas.microsoft.com/office/powerpoint/2010/main" val="382680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18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2CAEF-AB96-91C2-8075-99EE2E31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0C987CE-946D-C30A-5777-9882A80A4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22960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B22C2110-94AE-59B9-CB3D-E32EF3A8F670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5215F4A-8514-9DCA-9672-AF01F1A12E97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0AB800A-3DF2-D222-E91D-8667D0D28093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B3A8175-27A6-7563-D58D-36AC5C29E575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2E6961E-690B-996C-315B-8492CF20BBE8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7E4E7FB-2529-0541-8812-AF4299BB931E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FB5184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FAD0CF6-E729-5D8D-6386-0BD730631483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DF88D0C-EC67-BDCF-C8AB-FAA60F8BAA46}"/>
              </a:ext>
            </a:extLst>
          </p:cNvPr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0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</a:t>
            </a:r>
            <a:r>
              <a:rPr lang="en-US" sz="75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kumimoji="0" lang="en-US" sz="7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. </a:t>
            </a:r>
            <a:r>
              <a:rPr lang="en-US" sz="75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GCF Mitigation Tickets</a:t>
            </a:r>
            <a:endParaRPr kumimoji="0" lang="en-US" sz="75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CD0912C-5341-493A-7178-51E36A054D28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A8285A3-F15D-86E3-901F-07F2F7442781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6670B03B-927B-F542-DEA7-7C79099C62EB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E49615ED-22ED-FC89-BB04-EC861AA76BB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D06A9F5B-B360-DB1B-B73A-DA9689556A7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4ED91C7-9E21-68D6-7CDA-E4B021BE5535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94B24942-27DA-5BC5-FDB2-B4FB3982284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132111F-1F63-808E-68CE-6CDF01BCD89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6D0DAC6-59A4-BA3C-D06C-E269E6C6EBAE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FF9D5ACA-10B2-DAA8-AD5A-DDAEE1B47B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F5C02DD-AA84-690F-DDEC-5BFADED646C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22ED8D2D-F56A-60C1-D417-20E7D2D3CD34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D8B7E3D8-3F33-95D6-E70F-C779EA69CBC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3B231E43-28D8-507C-F462-DB222081275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B8FADC71-B61C-A247-89D1-607625430C7F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FC4D4A55-048D-BD7F-4DB3-942E0BC0702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8E8110E5-9B21-725C-479B-28CE8205247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4443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C9693-3671-7FDE-C925-B9AC8FC8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4">
            <a:extLst>
              <a:ext uri="{FF2B5EF4-FFF2-40B4-BE49-F238E27FC236}">
                <a16:creationId xmlns:a16="http://schemas.microsoft.com/office/drawing/2014/main" id="{6763322A-D23B-B0A0-A7D6-554DB9C7CAE5}"/>
              </a:ext>
            </a:extLst>
          </p:cNvPr>
          <p:cNvSpPr/>
          <p:nvPr/>
        </p:nvSpPr>
        <p:spPr>
          <a:xfrm rot="10800000">
            <a:off x="11765280" y="0"/>
            <a:ext cx="7315200" cy="3913632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2BFA4C-92C4-0CB3-A994-CC7C4389601B}"/>
              </a:ext>
            </a:extLst>
          </p:cNvPr>
          <p:cNvGrpSpPr/>
          <p:nvPr/>
        </p:nvGrpSpPr>
        <p:grpSpPr>
          <a:xfrm>
            <a:off x="990022" y="3669263"/>
            <a:ext cx="17015227" cy="5460558"/>
            <a:chOff x="973276" y="3451027"/>
            <a:chExt cx="17015227" cy="5460558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18BE3DB-E2DD-C792-B8EB-4D93FF28141E}"/>
                </a:ext>
              </a:extLst>
            </p:cNvPr>
            <p:cNvSpPr/>
            <p:nvPr/>
          </p:nvSpPr>
          <p:spPr>
            <a:xfrm>
              <a:off x="15042950" y="5966592"/>
              <a:ext cx="2945553" cy="2944993"/>
            </a:xfrm>
            <a:prstGeom prst="ellipse">
              <a:avLst/>
            </a:prstGeom>
            <a:solidFill>
              <a:srgbClr val="00EB5B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4049F52-A851-04AB-0409-156A36A0B1D8}"/>
                </a:ext>
              </a:extLst>
            </p:cNvPr>
            <p:cNvSpPr/>
            <p:nvPr/>
          </p:nvSpPr>
          <p:spPr>
            <a:xfrm>
              <a:off x="15142133" y="6064776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9670" tIns="499414" rIns="499670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If no action, add internal note &amp; set ticket to Solved.</a:t>
              </a:r>
            </a:p>
          </p:txBody>
        </p:sp>
        <p:sp>
          <p:nvSpPr>
            <p:cNvPr id="53" name="Teardrop 52">
              <a:extLst>
                <a:ext uri="{FF2B5EF4-FFF2-40B4-BE49-F238E27FC236}">
                  <a16:creationId xmlns:a16="http://schemas.microsoft.com/office/drawing/2014/main" id="{D8A0B46E-00A7-E393-B63C-0343900EEB7D}"/>
                </a:ext>
              </a:extLst>
            </p:cNvPr>
            <p:cNvSpPr/>
            <p:nvPr/>
          </p:nvSpPr>
          <p:spPr>
            <a:xfrm rot="2700000">
              <a:off x="12000292" y="5966261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00C6E5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1749DC6-9E1A-50A8-60E7-53C3FD900DD7}"/>
                </a:ext>
              </a:extLst>
            </p:cNvPr>
            <p:cNvSpPr/>
            <p:nvPr/>
          </p:nvSpPr>
          <p:spPr>
            <a:xfrm>
              <a:off x="12099268" y="6064776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9670" tIns="499414" rIns="499670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Manual response required if specific comments are left.</a:t>
              </a:r>
            </a:p>
          </p:txBody>
        </p:sp>
        <p:sp>
          <p:nvSpPr>
            <p:cNvPr id="55" name="Teardrop 54">
              <a:extLst>
                <a:ext uri="{FF2B5EF4-FFF2-40B4-BE49-F238E27FC236}">
                  <a16:creationId xmlns:a16="http://schemas.microsoft.com/office/drawing/2014/main" id="{AC7FC305-3793-FE44-10A7-6A934452ECCA}"/>
                </a:ext>
              </a:extLst>
            </p:cNvPr>
            <p:cNvSpPr/>
            <p:nvPr/>
          </p:nvSpPr>
          <p:spPr>
            <a:xfrm rot="2700000">
              <a:off x="8957426" y="5966261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85FF8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60AA4C1-8135-7675-E39A-00F8D61CA87F}"/>
                </a:ext>
              </a:extLst>
            </p:cNvPr>
            <p:cNvSpPr/>
            <p:nvPr/>
          </p:nvSpPr>
          <p:spPr>
            <a:xfrm>
              <a:off x="9056402" y="6064776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9670" tIns="499414" rIns="499670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Most cases resolved via automated email.</a:t>
              </a:r>
            </a:p>
          </p:txBody>
        </p:sp>
        <p:sp>
          <p:nvSpPr>
            <p:cNvPr id="57" name="Teardrop 56">
              <a:extLst>
                <a:ext uri="{FF2B5EF4-FFF2-40B4-BE49-F238E27FC236}">
                  <a16:creationId xmlns:a16="http://schemas.microsoft.com/office/drawing/2014/main" id="{B4732D81-C085-6746-EF4B-E9784A9BBC13}"/>
                </a:ext>
              </a:extLst>
            </p:cNvPr>
            <p:cNvSpPr/>
            <p:nvPr/>
          </p:nvSpPr>
          <p:spPr>
            <a:xfrm rot="4944568">
              <a:off x="6831540" y="3473487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CFFF2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1EC6CE7-A482-1EE6-652E-A9E3208B37EC}"/>
                </a:ext>
              </a:extLst>
            </p:cNvPr>
            <p:cNvSpPr/>
            <p:nvPr/>
          </p:nvSpPr>
          <p:spPr>
            <a:xfrm>
              <a:off x="6930516" y="3572002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7798" tIns="499414" rIns="501542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Owner receives automated email confirming penalty relief.</a:t>
              </a:r>
            </a:p>
          </p:txBody>
        </p:sp>
        <p:sp>
          <p:nvSpPr>
            <p:cNvPr id="59" name="Teardrop 58">
              <a:extLst>
                <a:ext uri="{FF2B5EF4-FFF2-40B4-BE49-F238E27FC236}">
                  <a16:creationId xmlns:a16="http://schemas.microsoft.com/office/drawing/2014/main" id="{2680CAF6-D3D2-5446-E7D2-EFDA179D8CC3}"/>
                </a:ext>
              </a:extLst>
            </p:cNvPr>
            <p:cNvSpPr/>
            <p:nvPr/>
          </p:nvSpPr>
          <p:spPr>
            <a:xfrm rot="2700000">
              <a:off x="4016142" y="3451027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D953FF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0E25298-DB7B-A2B3-F413-ECD3D479EFE2}"/>
                </a:ext>
              </a:extLst>
            </p:cNvPr>
            <p:cNvSpPr/>
            <p:nvPr/>
          </p:nvSpPr>
          <p:spPr>
            <a:xfrm>
              <a:off x="4115117" y="3549542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7799" tIns="499414" rIns="501541" bIns="49941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ea typeface="+mn-ea"/>
                  <a:cs typeface="Poppins" panose="00000500000000000000" pitchFamily="2" charset="0"/>
                </a:rPr>
                <a:t>If eligible, penalty mitigation granted.</a:t>
              </a:r>
            </a:p>
          </p:txBody>
        </p:sp>
        <p:sp>
          <p:nvSpPr>
            <p:cNvPr id="62" name="Teardrop 61">
              <a:extLst>
                <a:ext uri="{FF2B5EF4-FFF2-40B4-BE49-F238E27FC236}">
                  <a16:creationId xmlns:a16="http://schemas.microsoft.com/office/drawing/2014/main" id="{FA0F33CC-8A09-BBF0-B9CE-90A67CFDA7E6}"/>
                </a:ext>
              </a:extLst>
            </p:cNvPr>
            <p:cNvSpPr/>
            <p:nvPr/>
          </p:nvSpPr>
          <p:spPr>
            <a:xfrm rot="2700000">
              <a:off x="973276" y="3451027"/>
              <a:ext cx="2945138" cy="2945138"/>
            </a:xfrm>
            <a:prstGeom prst="teardrop">
              <a:avLst>
                <a:gd name="adj" fmla="val 100000"/>
              </a:avLst>
            </a:prstGeom>
            <a:solidFill>
              <a:srgbClr val="FF4E51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1F94307-A174-452B-E34E-925C0305BBEA}"/>
                </a:ext>
              </a:extLst>
            </p:cNvPr>
            <p:cNvSpPr/>
            <p:nvPr/>
          </p:nvSpPr>
          <p:spPr>
            <a:xfrm>
              <a:off x="1070381" y="3549542"/>
              <a:ext cx="2749058" cy="2748626"/>
            </a:xfrm>
            <a:custGeom>
              <a:avLst/>
              <a:gdLst>
                <a:gd name="csX0" fmla="*/ 0 w 2749058"/>
                <a:gd name="csY0" fmla="*/ 1374313 h 2748626"/>
                <a:gd name="csX1" fmla="*/ 1374529 w 2749058"/>
                <a:gd name="csY1" fmla="*/ 0 h 2748626"/>
                <a:gd name="csX2" fmla="*/ 2749058 w 2749058"/>
                <a:gd name="csY2" fmla="*/ 1374313 h 2748626"/>
                <a:gd name="csX3" fmla="*/ 1374529 w 2749058"/>
                <a:gd name="csY3" fmla="*/ 2748626 h 2748626"/>
                <a:gd name="csX4" fmla="*/ 0 w 2749058"/>
                <a:gd name="csY4" fmla="*/ 1374313 h 27486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49058" h="2748626">
                  <a:moveTo>
                    <a:pt x="0" y="1374313"/>
                  </a:moveTo>
                  <a:cubicBezTo>
                    <a:pt x="0" y="615301"/>
                    <a:pt x="615398" y="0"/>
                    <a:pt x="1374529" y="0"/>
                  </a:cubicBezTo>
                  <a:cubicBezTo>
                    <a:pt x="2133660" y="0"/>
                    <a:pt x="2749058" y="615301"/>
                    <a:pt x="2749058" y="1374313"/>
                  </a:cubicBezTo>
                  <a:cubicBezTo>
                    <a:pt x="2749058" y="2133325"/>
                    <a:pt x="2133660" y="2748626"/>
                    <a:pt x="1374529" y="2748626"/>
                  </a:cubicBezTo>
                  <a:cubicBezTo>
                    <a:pt x="615398" y="2748626"/>
                    <a:pt x="0" y="2133325"/>
                    <a:pt x="0" y="1374313"/>
                  </a:cubicBez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300000" contourW="19050" prstMaterial="metal">
              <a:bevelT w="88900" h="203200"/>
              <a:bevelB w="165100" h="254000"/>
            </a:sp3d>
          </p:spPr>
          <p:style>
            <a:lnRef idx="0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20930" tIns="420674" rIns="420930" bIns="420676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b="0" i="0" kern="1200">
                  <a:latin typeface="Poppins" panose="00000500000000000000" pitchFamily="2" charset="0"/>
                  <a:cs typeface="Poppins" panose="00000500000000000000" pitchFamily="2" charset="0"/>
                </a:rPr>
                <a:t>GCF submission auto-creates Zendesk ticket.</a:t>
              </a:r>
              <a:endParaRPr lang="en-US" sz="2200" kern="1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6" name="Text 19">
            <a:extLst>
              <a:ext uri="{FF2B5EF4-FFF2-40B4-BE49-F238E27FC236}">
                <a16:creationId xmlns:a16="http://schemas.microsoft.com/office/drawing/2014/main" id="{530BFB1B-04A2-D22F-E896-5249F2BAE47C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granted tickets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6B60AE-1CE2-E3C5-DBF9-0F9F4A8DE67D}"/>
              </a:ext>
            </a:extLst>
          </p:cNvPr>
          <p:cNvSpPr/>
          <p:nvPr/>
        </p:nvSpPr>
        <p:spPr>
          <a:xfrm>
            <a:off x="742630" y="565657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Granted Tickets (1 of 2)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4A6A7-6C1F-804E-B24C-3BE06F335CFD}"/>
              </a:ext>
            </a:extLst>
          </p:cNvPr>
          <p:cNvSpPr txBox="1"/>
          <p:nvPr/>
        </p:nvSpPr>
        <p:spPr>
          <a:xfrm>
            <a:off x="753656" y="1632589"/>
            <a:ext cx="15134397" cy="1198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>
                <a:solidFill>
                  <a:srgbClr val="4A4A4A"/>
                </a:solidFill>
                <a:sym typeface="Arial"/>
              </a:rPr>
              <a:t>Overview: </a:t>
            </a:r>
          </a:p>
          <a:p>
            <a:pPr>
              <a:lnSpc>
                <a:spcPct val="150000"/>
              </a:lnSpc>
            </a:pPr>
            <a:r>
              <a:rPr lang="en-US" sz="2200" b="0">
                <a:solidFill>
                  <a:srgbClr val="4A4A4A"/>
                </a:solidFill>
                <a:sym typeface="Arial"/>
              </a:rPr>
              <a:t>Handle Guideline Compliance Form (GCF) submissions in Zendesk when mitigation is granted.</a:t>
            </a:r>
            <a:endParaRPr sz="2200" b="0">
              <a:solidFill>
                <a:srgbClr val="4A4A4A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388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336C1-F9FD-3970-7E94-E91F5C78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4">
            <a:extLst>
              <a:ext uri="{FF2B5EF4-FFF2-40B4-BE49-F238E27FC236}">
                <a16:creationId xmlns:a16="http://schemas.microsoft.com/office/drawing/2014/main" id="{6CCE493D-8198-D063-3219-302605C6C83E}"/>
              </a:ext>
            </a:extLst>
          </p:cNvPr>
          <p:cNvSpPr/>
          <p:nvPr/>
        </p:nvSpPr>
        <p:spPr>
          <a:xfrm rot="10800000">
            <a:off x="13629401" y="-257999"/>
            <a:ext cx="7315200" cy="3913632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B06696-BA81-1416-BD0F-5F717484CFB4}"/>
              </a:ext>
            </a:extLst>
          </p:cNvPr>
          <p:cNvSpPr/>
          <p:nvPr/>
        </p:nvSpPr>
        <p:spPr>
          <a:xfrm>
            <a:off x="763074" y="926277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Granted Tickets (2 of 2)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871D29-437E-B4CF-25CD-AED5EFF7F24E}"/>
              </a:ext>
            </a:extLst>
          </p:cNvPr>
          <p:cNvSpPr txBox="1"/>
          <p:nvPr/>
        </p:nvSpPr>
        <p:spPr>
          <a:xfrm>
            <a:off x="763074" y="2049618"/>
            <a:ext cx="14000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>
                <a:solidFill>
                  <a:srgbClr val="002B11"/>
                </a:solidFill>
                <a:latin typeface="Poppins Black"/>
              </a:rPr>
              <a:t>Manual Response Cases: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BCCDD-E1D1-4781-F32E-BA6640609F5F}"/>
              </a:ext>
            </a:extLst>
          </p:cNvPr>
          <p:cNvSpPr txBox="1"/>
          <p:nvPr/>
        </p:nvSpPr>
        <p:spPr>
          <a:xfrm>
            <a:off x="1816362" y="3203260"/>
            <a:ext cx="14000000" cy="178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Admission of violations (e.g., incentives, review gating) </a:t>
            </a:r>
          </a:p>
          <a:p>
            <a:endParaRPr lang="en-US" sz="220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Questions or requests for assistance </a:t>
            </a:r>
          </a:p>
          <a:p>
            <a:endParaRPr lang="en-US" sz="220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Claims of vandalism or blackmail (request evidence)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0845FD2-0F58-F428-52FA-94B173D094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55" t="54286" r="50000" b="6190"/>
          <a:stretch>
            <a:fillRect/>
          </a:stretch>
        </p:blipFill>
        <p:spPr>
          <a:xfrm>
            <a:off x="10826612" y="2198263"/>
            <a:ext cx="5758642" cy="620736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FA19207-4BE8-B37A-8E19-43B6437D0C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62" y="4450163"/>
            <a:ext cx="522817" cy="521208"/>
          </a:xfrm>
          <a:prstGeom prst="rect">
            <a:avLst/>
          </a:prstGeom>
          <a:effectLst/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DA1D933-A689-8026-0C45-B8C6D25BC3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62" y="3765701"/>
            <a:ext cx="520962" cy="520962"/>
          </a:xfrm>
          <a:prstGeom prst="rect">
            <a:avLst/>
          </a:prstGeom>
          <a:effectLst/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775BAC8-89C6-6E0B-3853-2BF064C65D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62" y="3082753"/>
            <a:ext cx="444430" cy="521208"/>
          </a:xfrm>
          <a:prstGeom prst="rect">
            <a:avLst/>
          </a:prstGeom>
          <a:effectLst/>
        </p:spPr>
      </p:pic>
      <p:sp>
        <p:nvSpPr>
          <p:cNvPr id="41" name="Text 19">
            <a:extLst>
              <a:ext uri="{FF2B5EF4-FFF2-40B4-BE49-F238E27FC236}">
                <a16:creationId xmlns:a16="http://schemas.microsoft.com/office/drawing/2014/main" id="{4F1D36CB-9619-549E-8FDC-F17D1F4DCFB9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granted tickets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B3953D-FF45-CB7F-D8A5-309D24AB3A54}"/>
              </a:ext>
            </a:extLst>
          </p:cNvPr>
          <p:cNvGrpSpPr/>
          <p:nvPr/>
        </p:nvGrpSpPr>
        <p:grpSpPr>
          <a:xfrm>
            <a:off x="1124986" y="5699955"/>
            <a:ext cx="6324600" cy="2340356"/>
            <a:chOff x="10591800" y="6029765"/>
            <a:chExt cx="7072180" cy="268676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7F35246-0816-3EF1-D521-F258F2F0E0B1}"/>
                </a:ext>
              </a:extLst>
            </p:cNvPr>
            <p:cNvSpPr/>
            <p:nvPr/>
          </p:nvSpPr>
          <p:spPr>
            <a:xfrm>
              <a:off x="10591800" y="6029765"/>
              <a:ext cx="6995980" cy="2658634"/>
            </a:xfrm>
            <a:prstGeom prst="roundRect">
              <a:avLst/>
            </a:prstGeom>
            <a:solidFill>
              <a:srgbClr val="FF4E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F175EFB-074A-A466-E27C-4E3E7A55A415}"/>
                </a:ext>
              </a:extLst>
            </p:cNvPr>
            <p:cNvSpPr/>
            <p:nvPr/>
          </p:nvSpPr>
          <p:spPr>
            <a:xfrm>
              <a:off x="10668000" y="6057900"/>
              <a:ext cx="6995980" cy="26586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4E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Freeform 9">
            <a:extLst>
              <a:ext uri="{FF2B5EF4-FFF2-40B4-BE49-F238E27FC236}">
                <a16:creationId xmlns:a16="http://schemas.microsoft.com/office/drawing/2014/main" id="{219411A4-17EC-1A32-0C06-D85E2E958490}"/>
              </a:ext>
            </a:extLst>
          </p:cNvPr>
          <p:cNvSpPr/>
          <p:nvPr/>
        </p:nvSpPr>
        <p:spPr>
          <a:xfrm>
            <a:off x="3167950" y="5945928"/>
            <a:ext cx="1852839" cy="710148"/>
          </a:xfrm>
          <a:custGeom>
            <a:avLst/>
            <a:gdLst/>
            <a:ahLst/>
            <a:cxnLst/>
            <a:rect l="l" t="t" r="r" b="b"/>
            <a:pathLst>
              <a:path w="1770265" h="592301">
                <a:moveTo>
                  <a:pt x="0" y="0"/>
                </a:moveTo>
                <a:lnTo>
                  <a:pt x="1770265" y="0"/>
                </a:lnTo>
                <a:lnTo>
                  <a:pt x="1770265" y="592301"/>
                </a:lnTo>
                <a:lnTo>
                  <a:pt x="0" y="5923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defTabSz="914378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9CF3A-2047-868F-1A3A-41671172FDFA}"/>
              </a:ext>
            </a:extLst>
          </p:cNvPr>
          <p:cNvSpPr txBox="1"/>
          <p:nvPr/>
        </p:nvSpPr>
        <p:spPr>
          <a:xfrm>
            <a:off x="1323278" y="6957628"/>
            <a:ext cx="5919847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vandalism auto-mitigation, manually clear penalty in Location Center.</a:t>
            </a:r>
          </a:p>
        </p:txBody>
      </p:sp>
    </p:spTree>
    <p:extLst>
      <p:ext uri="{BB962C8B-B14F-4D97-AF65-F5344CB8AC3E}">
        <p14:creationId xmlns:p14="http://schemas.microsoft.com/office/powerpoint/2010/main" val="1711331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6C847-1FE4-3250-FE13-174DDD62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1372954C-A07C-1AAE-048F-066E7911D55D}"/>
              </a:ext>
            </a:extLst>
          </p:cNvPr>
          <p:cNvSpPr/>
          <p:nvPr/>
        </p:nvSpPr>
        <p:spPr>
          <a:xfrm rot="3016692">
            <a:off x="13534455" y="302149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B36BC5C-16E0-064D-B929-2929EB984E18}"/>
              </a:ext>
            </a:extLst>
          </p:cNvPr>
          <p:cNvSpPr/>
          <p:nvPr/>
        </p:nvSpPr>
        <p:spPr>
          <a:xfrm>
            <a:off x="1088698" y="3887911"/>
            <a:ext cx="6480557" cy="691767"/>
          </a:xfrm>
          <a:custGeom>
            <a:avLst/>
            <a:gdLst>
              <a:gd name="csX0" fmla="*/ 0 w 5947262"/>
              <a:gd name="csY0" fmla="*/ 0 h 1256915"/>
              <a:gd name="csX1" fmla="*/ 5947262 w 5947262"/>
              <a:gd name="csY1" fmla="*/ 0 h 1256915"/>
              <a:gd name="csX2" fmla="*/ 5947262 w 5947262"/>
              <a:gd name="csY2" fmla="*/ 1256915 h 1256915"/>
              <a:gd name="csX3" fmla="*/ 0 w 5947262"/>
              <a:gd name="csY3" fmla="*/ 1256915 h 1256915"/>
              <a:gd name="csX4" fmla="*/ 0 w 5947262"/>
              <a:gd name="csY4" fmla="*/ 0 h 12569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47262" h="1256915">
                <a:moveTo>
                  <a:pt x="0" y="0"/>
                </a:moveTo>
                <a:lnTo>
                  <a:pt x="5947262" y="0"/>
                </a:lnTo>
                <a:lnTo>
                  <a:pt x="5947262" y="1256915"/>
                </a:lnTo>
                <a:lnTo>
                  <a:pt x="0" y="12569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35560" rIns="53340" bIns="35560" numCol="1" spcCol="1270" anchor="ctr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>
                <a:latin typeface="Poppins" panose="00000500000000000000" pitchFamily="2" charset="0"/>
                <a:cs typeface="Poppins" panose="00000500000000000000" pitchFamily="2" charset="0"/>
              </a:rPr>
              <a:t>Ineligibility Criteria (Auto Denial)</a:t>
            </a:r>
            <a:endParaRPr lang="en-US" sz="2800" b="1" kern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969B0979-1BCB-A356-78B4-860A655E727C}"/>
              </a:ext>
            </a:extLst>
          </p:cNvPr>
          <p:cNvSpPr/>
          <p:nvPr/>
        </p:nvSpPr>
        <p:spPr>
          <a:xfrm>
            <a:off x="1075688" y="2403794"/>
            <a:ext cx="13163348" cy="1198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lnSpc>
                <a:spcPct val="150000"/>
              </a:lnSpc>
              <a:defRPr/>
            </a:pPr>
            <a:r>
              <a:rPr lang="en-US" sz="28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Purpose:  </a:t>
            </a:r>
          </a:p>
          <a:p>
            <a:pPr lvl="0" defTabSz="1371600">
              <a:lnSpc>
                <a:spcPct val="150000"/>
              </a:lnSpc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Guide agents to handle GCF mitigation denied tickets during Fraud Support</a:t>
            </a: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32A3BDA4-7BD0-B6C3-1F60-252DC561D573}"/>
              </a:ext>
            </a:extLst>
          </p:cNvPr>
          <p:cNvSpPr/>
          <p:nvPr/>
        </p:nvSpPr>
        <p:spPr>
          <a:xfrm>
            <a:off x="1088698" y="1277595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Denied Tickets (1 of 2)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90C34148-8AB0-66E3-69DE-FC508E233A35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denied tickets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5" name="Rounded Rectangle 5">
            <a:extLst>
              <a:ext uri="{FF2B5EF4-FFF2-40B4-BE49-F238E27FC236}">
                <a16:creationId xmlns:a16="http://schemas.microsoft.com/office/drawing/2014/main" id="{A883DC17-8622-D917-BF2E-94313F8D03BF}"/>
              </a:ext>
            </a:extLst>
          </p:cNvPr>
          <p:cNvSpPr/>
          <p:nvPr/>
        </p:nvSpPr>
        <p:spPr>
          <a:xfrm>
            <a:off x="817816" y="4941053"/>
            <a:ext cx="7632438" cy="1431053"/>
          </a:xfrm>
          <a:prstGeom prst="roundRect">
            <a:avLst/>
          </a:prstGeom>
          <a:solidFill>
            <a:srgbClr val="6780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672323A0-45FA-228E-9AC8-C4B387BBDE21}"/>
              </a:ext>
            </a:extLst>
          </p:cNvPr>
          <p:cNvSpPr/>
          <p:nvPr/>
        </p:nvSpPr>
        <p:spPr>
          <a:xfrm>
            <a:off x="9460518" y="4941053"/>
            <a:ext cx="7632438" cy="1431053"/>
          </a:xfrm>
          <a:prstGeom prst="roundRect">
            <a:avLst/>
          </a:prstGeom>
          <a:solidFill>
            <a:srgbClr val="23EEB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Rounded Rectangle 5">
            <a:extLst>
              <a:ext uri="{FF2B5EF4-FFF2-40B4-BE49-F238E27FC236}">
                <a16:creationId xmlns:a16="http://schemas.microsoft.com/office/drawing/2014/main" id="{D4C3DD1A-5ECD-D374-B465-E48E38D7AE74}"/>
              </a:ext>
            </a:extLst>
          </p:cNvPr>
          <p:cNvSpPr/>
          <p:nvPr/>
        </p:nvSpPr>
        <p:spPr>
          <a:xfrm>
            <a:off x="5644299" y="6670107"/>
            <a:ext cx="7632438" cy="1431053"/>
          </a:xfrm>
          <a:prstGeom prst="roundRect">
            <a:avLst/>
          </a:prstGeom>
          <a:solidFill>
            <a:srgbClr val="CFFF2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7CF598E8-54B7-45B1-551C-B171092FBC78}"/>
              </a:ext>
            </a:extLst>
          </p:cNvPr>
          <p:cNvSpPr/>
          <p:nvPr/>
        </p:nvSpPr>
        <p:spPr>
          <a:xfrm>
            <a:off x="937261" y="5033416"/>
            <a:ext cx="7632438" cy="143105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49036-B3FF-B1E7-2F8A-ACA142D13EFE}"/>
              </a:ext>
            </a:extLst>
          </p:cNvPr>
          <p:cNvSpPr txBox="1"/>
          <p:nvPr/>
        </p:nvSpPr>
        <p:spPr>
          <a:xfrm>
            <a:off x="2509062" y="5381970"/>
            <a:ext cx="6082801" cy="704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1+ Fraud Removals &amp; ≥30% suspicious reviews within 365 days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655169-7341-0B16-72C5-9EA51DA833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327" y="5365574"/>
            <a:ext cx="746074" cy="672979"/>
          </a:xfrm>
          <a:prstGeom prst="rect">
            <a:avLst/>
          </a:prstGeom>
          <a:effectLst/>
        </p:spPr>
      </p:pic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E076F85-6F0C-B39C-A90C-6F6128A8B049}"/>
              </a:ext>
            </a:extLst>
          </p:cNvPr>
          <p:cNvSpPr/>
          <p:nvPr/>
        </p:nvSpPr>
        <p:spPr>
          <a:xfrm>
            <a:off x="9547861" y="5033416"/>
            <a:ext cx="7632438" cy="1431053"/>
          </a:xfrm>
          <a:prstGeom prst="roundRect">
            <a:avLst/>
          </a:prstGeom>
          <a:ln>
            <a:solidFill>
              <a:srgbClr val="23EEBE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1BC55-666B-4299-5319-AF6E80806911}"/>
              </a:ext>
            </a:extLst>
          </p:cNvPr>
          <p:cNvSpPr txBox="1"/>
          <p:nvPr/>
        </p:nvSpPr>
        <p:spPr>
          <a:xfrm>
            <a:off x="11210470" y="5396666"/>
            <a:ext cx="6162551" cy="704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Multiple fraud removals from different members in 365 days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2E9107-4F0F-DF35-0293-B33C482A7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2055" y="5309808"/>
            <a:ext cx="805557" cy="805557"/>
          </a:xfrm>
          <a:prstGeom prst="rect">
            <a:avLst/>
          </a:prstGeom>
        </p:spPr>
      </p:pic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5EA82001-A0D5-13F0-C361-58A19411BD08}"/>
              </a:ext>
            </a:extLst>
          </p:cNvPr>
          <p:cNvSpPr/>
          <p:nvPr/>
        </p:nvSpPr>
        <p:spPr>
          <a:xfrm>
            <a:off x="5737861" y="6786016"/>
            <a:ext cx="7632438" cy="1431053"/>
          </a:xfrm>
          <a:prstGeom prst="roundRect">
            <a:avLst/>
          </a:prstGeom>
          <a:ln>
            <a:solidFill>
              <a:srgbClr val="CFFF2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36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BEECE-648B-8F3D-1FB4-7C091CC8E2A3}"/>
              </a:ext>
            </a:extLst>
          </p:cNvPr>
          <p:cNvSpPr txBox="1"/>
          <p:nvPr/>
        </p:nvSpPr>
        <p:spPr>
          <a:xfrm>
            <a:off x="7301310" y="7138327"/>
            <a:ext cx="6162551" cy="704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Three previous GCF submissions across different years</a:t>
            </a:r>
          </a:p>
        </p:txBody>
      </p:sp>
      <p:pic>
        <p:nvPicPr>
          <p:cNvPr id="17" name="Graphic 16" descr="Flip calendar with solid fill">
            <a:extLst>
              <a:ext uri="{FF2B5EF4-FFF2-40B4-BE49-F238E27FC236}">
                <a16:creationId xmlns:a16="http://schemas.microsoft.com/office/drawing/2014/main" id="{4367E650-DA67-A3C6-E2EF-61A1C697F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5970" y="7001725"/>
            <a:ext cx="927291" cy="92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51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055B0-7EB9-BE17-0130-55A676C4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2BBCB7DB-879A-9A0A-F370-DED7690DCF2E}"/>
              </a:ext>
            </a:extLst>
          </p:cNvPr>
          <p:cNvSpPr/>
          <p:nvPr/>
        </p:nvSpPr>
        <p:spPr>
          <a:xfrm rot="3016692">
            <a:off x="13718666" y="418351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62807E2-F003-8E1C-85FE-61B3A41DD8D7}"/>
              </a:ext>
            </a:extLst>
          </p:cNvPr>
          <p:cNvSpPr/>
          <p:nvPr/>
        </p:nvSpPr>
        <p:spPr>
          <a:xfrm>
            <a:off x="1996483" y="2468708"/>
            <a:ext cx="5530953" cy="83705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Review ticket and owner’s info</a:t>
            </a:r>
            <a:endParaRPr lang="en-US" sz="2200" kern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DB48F31-1938-C237-B9A3-6851C87CC487}"/>
              </a:ext>
            </a:extLst>
          </p:cNvPr>
          <p:cNvSpPr/>
          <p:nvPr/>
        </p:nvSpPr>
        <p:spPr>
          <a:xfrm>
            <a:off x="1996483" y="3343169"/>
            <a:ext cx="8153179" cy="101840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Handle case per 11c Penalty Mitigation guidelines</a:t>
            </a:r>
            <a:endParaRPr lang="en-US" sz="2200" kern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6A80697-5581-34FA-AF12-D607107BD695}"/>
              </a:ext>
            </a:extLst>
          </p:cNvPr>
          <p:cNvSpPr/>
          <p:nvPr/>
        </p:nvSpPr>
        <p:spPr>
          <a:xfrm>
            <a:off x="2075790" y="4398980"/>
            <a:ext cx="7503651" cy="101840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Escalate to Investigations if criteria met</a:t>
            </a:r>
            <a:endParaRPr lang="en-US" sz="2200" kern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C507F-1F1B-D32E-87AD-8ABCAC90746C}"/>
              </a:ext>
            </a:extLst>
          </p:cNvPr>
          <p:cNvSpPr txBox="1"/>
          <p:nvPr/>
        </p:nvSpPr>
        <p:spPr>
          <a:xfrm>
            <a:off x="911837" y="6851622"/>
            <a:ext cx="640866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>
                <a:solidFill>
                  <a:srgbClr val="002B11"/>
                </a:solidFill>
                <a:latin typeface="Poppins Black"/>
              </a:rPr>
              <a:t>Response Macro: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C32D8-FE92-B840-5196-2B2353C50EBE}"/>
              </a:ext>
            </a:extLst>
          </p:cNvPr>
          <p:cNvSpPr txBox="1"/>
          <p:nvPr/>
        </p:nvSpPr>
        <p:spPr>
          <a:xfrm>
            <a:off x="1539041" y="7532667"/>
            <a:ext cx="6408666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 standard macro if no escalation. </a:t>
            </a:r>
          </a:p>
          <a:p>
            <a:endParaRPr lang="en-US" sz="220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 NOT explain auto-mitigation reasons.</a:t>
            </a: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F4D4D8CB-F96E-4DCD-C664-69C911BBD4E9}"/>
              </a:ext>
            </a:extLst>
          </p:cNvPr>
          <p:cNvSpPr/>
          <p:nvPr/>
        </p:nvSpPr>
        <p:spPr>
          <a:xfrm>
            <a:off x="718755" y="747001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Denied Tickets (2 of 2)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66FD55BC-B1A8-952F-F7EC-C440CCB23BB1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mitigation denied tickets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F236A-4730-0281-AFC2-76D68D884EDC}"/>
              </a:ext>
            </a:extLst>
          </p:cNvPr>
          <p:cNvSpPr txBox="1"/>
          <p:nvPr/>
        </p:nvSpPr>
        <p:spPr>
          <a:xfrm>
            <a:off x="816191" y="1773753"/>
            <a:ext cx="659995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>
                <a:solidFill>
                  <a:srgbClr val="002B11"/>
                </a:solidFill>
                <a:sym typeface="Arial"/>
              </a:rPr>
              <a:t>Ticket workflow</a:t>
            </a:r>
            <a:endParaRPr>
              <a:solidFill>
                <a:srgbClr val="002B11"/>
              </a:solidFill>
              <a:sym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772A80-307B-47AE-5113-88A90EF769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486" y="3512641"/>
            <a:ext cx="588240" cy="604301"/>
          </a:xfrm>
          <a:prstGeom prst="rect">
            <a:avLst/>
          </a:prstGeom>
          <a:effectLst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825590-4A89-84D6-1FFE-DF7C56F203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70" y="2585053"/>
            <a:ext cx="860030" cy="653447"/>
          </a:xfrm>
          <a:prstGeom prst="rect">
            <a:avLst/>
          </a:prstGeom>
          <a:effectLst/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7D28CA-AB16-3D13-AE47-D797D2E2E807}"/>
              </a:ext>
            </a:extLst>
          </p:cNvPr>
          <p:cNvSpPr/>
          <p:nvPr/>
        </p:nvSpPr>
        <p:spPr>
          <a:xfrm>
            <a:off x="2075790" y="5506709"/>
            <a:ext cx="7701892" cy="101840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Escalate to Tier 2 Support (if needed)</a:t>
            </a:r>
            <a:endParaRPr lang="en-US" sz="2200" kern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FF53D5E-5217-4C0A-7684-A114D98FDF6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486" y="5596389"/>
            <a:ext cx="743761" cy="822677"/>
          </a:xfrm>
          <a:prstGeom prst="rect">
            <a:avLst/>
          </a:prstGeom>
          <a:effectLst/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C92EA4F-F177-24BD-781E-98B59A474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1" y="4335734"/>
            <a:ext cx="1128369" cy="1132580"/>
          </a:xfrm>
          <a:prstGeom prst="rect">
            <a:avLst/>
          </a:prstGeom>
          <a:effectLst/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B5AD227-56C2-A414-1270-A2113E4287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386" y="8181682"/>
            <a:ext cx="523220" cy="523220"/>
          </a:xfrm>
          <a:prstGeom prst="rect">
            <a:avLst/>
          </a:prstGeom>
          <a:effectLst/>
        </p:spPr>
      </p:pic>
      <p:sp>
        <p:nvSpPr>
          <p:cNvPr id="38" name="Freeform 2">
            <a:extLst>
              <a:ext uri="{FF2B5EF4-FFF2-40B4-BE49-F238E27FC236}">
                <a16:creationId xmlns:a16="http://schemas.microsoft.com/office/drawing/2014/main" id="{F2F93250-1AF2-4AEA-81FD-565A3CA1EBE7}"/>
              </a:ext>
            </a:extLst>
          </p:cNvPr>
          <p:cNvSpPr/>
          <p:nvPr/>
        </p:nvSpPr>
        <p:spPr>
          <a:xfrm>
            <a:off x="988386" y="7449736"/>
            <a:ext cx="550655" cy="552170"/>
          </a:xfrm>
          <a:custGeom>
            <a:avLst/>
            <a:gdLst/>
            <a:ahLst/>
            <a:cxnLst/>
            <a:rect l="l" t="t" r="r" b="b"/>
            <a:pathLst>
              <a:path w="4172663" h="3901440">
                <a:moveTo>
                  <a:pt x="0" y="0"/>
                </a:moveTo>
                <a:lnTo>
                  <a:pt x="4172663" y="0"/>
                </a:lnTo>
                <a:lnTo>
                  <a:pt x="4172663" y="3901440"/>
                </a:lnTo>
                <a:lnTo>
                  <a:pt x="0" y="39014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effectLst/>
        </p:spPr>
        <p:txBody>
          <a:bodyPr/>
          <a:lstStyle/>
          <a:p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559A167-9790-9BBB-432B-634DE9BA75FF}"/>
              </a:ext>
            </a:extLst>
          </p:cNvPr>
          <p:cNvGrpSpPr/>
          <p:nvPr/>
        </p:nvGrpSpPr>
        <p:grpSpPr>
          <a:xfrm>
            <a:off x="8466767" y="7243163"/>
            <a:ext cx="9301740" cy="1387468"/>
            <a:chOff x="10591800" y="6029765"/>
            <a:chExt cx="7072180" cy="268676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D872009-49B7-C8D7-2D82-F2997A422395}"/>
                </a:ext>
              </a:extLst>
            </p:cNvPr>
            <p:cNvSpPr/>
            <p:nvPr/>
          </p:nvSpPr>
          <p:spPr>
            <a:xfrm>
              <a:off x="10591800" y="6029765"/>
              <a:ext cx="6995980" cy="2658634"/>
            </a:xfrm>
            <a:prstGeom prst="roundRect">
              <a:avLst/>
            </a:prstGeom>
            <a:solidFill>
              <a:srgbClr val="FF4E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07E4A33-05CD-3277-0ECD-BBEB8E197527}"/>
                </a:ext>
              </a:extLst>
            </p:cNvPr>
            <p:cNvSpPr/>
            <p:nvPr/>
          </p:nvSpPr>
          <p:spPr>
            <a:xfrm>
              <a:off x="10668000" y="6057900"/>
              <a:ext cx="6995980" cy="26586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4E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E49690C-DBC8-4A5F-F4AE-EB05C7E1E6D4}"/>
              </a:ext>
            </a:extLst>
          </p:cNvPr>
          <p:cNvSpPr/>
          <p:nvPr/>
        </p:nvSpPr>
        <p:spPr>
          <a:xfrm>
            <a:off x="8757197" y="7601025"/>
            <a:ext cx="1852839" cy="710148"/>
          </a:xfrm>
          <a:custGeom>
            <a:avLst/>
            <a:gdLst/>
            <a:ahLst/>
            <a:cxnLst/>
            <a:rect l="l" t="t" r="r" b="b"/>
            <a:pathLst>
              <a:path w="1770265" h="592301">
                <a:moveTo>
                  <a:pt x="0" y="0"/>
                </a:moveTo>
                <a:lnTo>
                  <a:pt x="1770265" y="0"/>
                </a:lnTo>
                <a:lnTo>
                  <a:pt x="1770265" y="592301"/>
                </a:lnTo>
                <a:lnTo>
                  <a:pt x="0" y="5923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 defTabSz="914378">
              <a:defRPr/>
            </a:pPr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5B3B9-124B-0557-5E75-2D8CAFB0F7FD}"/>
              </a:ext>
            </a:extLst>
          </p:cNvPr>
          <p:cNvSpPr txBox="1"/>
          <p:nvPr/>
        </p:nvSpPr>
        <p:spPr>
          <a:xfrm>
            <a:off x="10912465" y="7524825"/>
            <a:ext cx="6956265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Ensure consistent policy application and clear communication.</a:t>
            </a:r>
            <a:endParaRPr lang="en-US" sz="220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994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CCEA1-2940-14D1-F517-8A2DEF20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B89D50B-C742-36BE-534D-9FA0258BE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AA9C3764-BB01-670F-5EDF-E5956FA2129D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E830854-D6B8-9D62-F919-1ED468BF926F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2E7B25F-BB48-985F-8D95-B811836CE69D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A0FFE9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C5FB182-01B2-EA96-97B8-30574AB12648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17568D1-3057-5648-DE06-0550C2D8FCFB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C6B3FB8-143C-D695-4AB7-FFA86E4C9B5F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A0FFE9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95BEFB9-0587-1392-E895-2EC647210467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37CB7EF-A277-7A89-83AC-9EA9D8352621}"/>
              </a:ext>
            </a:extLst>
          </p:cNvPr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04. </a:t>
            </a:r>
            <a:r>
              <a:rPr lang="en-US" sz="75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Penalty Mitigation</a:t>
            </a:r>
            <a:endParaRPr kumimoji="0" lang="en-US" sz="75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48FB908-D60D-D164-A386-CF084058EAFC}"/>
              </a:ext>
            </a:extLst>
          </p:cNvPr>
          <p:cNvSpPr txBox="1"/>
          <p:nvPr/>
        </p:nvSpPr>
        <p:spPr>
          <a:xfrm>
            <a:off x="1141613" y="801147"/>
            <a:ext cx="2013556" cy="377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Vietnam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FA9C5A4-E161-F42F-5983-8F037CEEFF2C}"/>
              </a:ext>
            </a:extLst>
          </p:cNvPr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6F79F78-F7CB-72AE-DF61-126951F25CBA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79419F9-061A-8846-B54F-3957DF4B4CE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43820473-D76C-919F-090D-3AD52B1668B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AAE1A07-B11F-3AA8-70AE-821565F46C82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B7C87E56-255B-23A8-DDD7-24A1354EC50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943A668-DA16-AD5F-E2BE-7AF213E747B1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AA5669E3-C710-A971-0026-EC876ED41A65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75C09BFB-4A09-F97B-EACC-1ED755DBED9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C81357FB-30FB-3478-DE6F-E880E7CB58D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61972B77-0584-62C0-7E12-EDC9671B0593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3C6D9DB6-9D13-F815-17F2-E4E378CCCD9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861472BE-51AF-2E00-5872-DADE8863CFD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F2D98EAE-033E-CDD6-01FB-BE3C1BA79BE4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93A6E9E6-BC3C-9245-8E7E-8AEB1D20457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4049B229-629F-AA17-70BC-3BD6E2984A2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5119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32066-8E86-D240-DE9F-9FDE8195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9B0F78B-CDE2-D8D7-E3D1-6694381E1AB2}"/>
              </a:ext>
            </a:extLst>
          </p:cNvPr>
          <p:cNvSpPr/>
          <p:nvPr/>
        </p:nvSpPr>
        <p:spPr>
          <a:xfrm>
            <a:off x="1904996" y="2182943"/>
            <a:ext cx="8839204" cy="83705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Penalty applied when review removed for fraud, reducing Pop Index ranking</a:t>
            </a:r>
            <a:endParaRPr lang="en-US" sz="2200" kern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3FF56-5269-93B3-FF9C-FB5231902390}"/>
              </a:ext>
            </a:extLst>
          </p:cNvPr>
          <p:cNvSpPr txBox="1"/>
          <p:nvPr/>
        </p:nvSpPr>
        <p:spPr>
          <a:xfrm>
            <a:off x="930091" y="5446392"/>
            <a:ext cx="640866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800" b="1">
                <a:solidFill>
                  <a:srgbClr val="002B11"/>
                </a:solidFill>
                <a:latin typeface="Poppins Black"/>
              </a:rPr>
              <a:t>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C3901-77D6-21E0-E0FB-D4C727873A5C}"/>
              </a:ext>
            </a:extLst>
          </p:cNvPr>
          <p:cNvSpPr txBox="1"/>
          <p:nvPr/>
        </p:nvSpPr>
        <p:spPr>
          <a:xfrm>
            <a:off x="930091" y="6210848"/>
            <a:ext cx="6408666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b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Full Mitigation: </a:t>
            </a: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Removes 100% of penalty</a:t>
            </a: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07FD326C-3F86-7772-CA22-3619C6E806E8}"/>
              </a:ext>
            </a:extLst>
          </p:cNvPr>
          <p:cNvSpPr/>
          <p:nvPr/>
        </p:nvSpPr>
        <p:spPr>
          <a:xfrm>
            <a:off x="718755" y="747001"/>
            <a:ext cx="129806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Penalty Mitigation And Its Types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8770877D-09AA-2476-707C-420E56562381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Penalty mitigation and its types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E09945D-A22D-844A-0CCB-4CA51A610939}"/>
              </a:ext>
            </a:extLst>
          </p:cNvPr>
          <p:cNvSpPr/>
          <p:nvPr/>
        </p:nvSpPr>
        <p:spPr>
          <a:xfrm>
            <a:off x="1904996" y="3340672"/>
            <a:ext cx="7541160" cy="83705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>
                <a:latin typeface="Poppins" panose="00000500000000000000" pitchFamily="2" charset="0"/>
                <a:cs typeface="Poppins" panose="00000500000000000000" pitchFamily="2" charset="0"/>
              </a:rPr>
              <a:t>Primary goal: </a:t>
            </a: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Educate owners to prevent future fraud</a:t>
            </a:r>
            <a:endParaRPr lang="en-US" sz="2200" kern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788A127-294A-E663-6ECC-A0B6E99B59CE}"/>
              </a:ext>
            </a:extLst>
          </p:cNvPr>
          <p:cNvSpPr/>
          <p:nvPr/>
        </p:nvSpPr>
        <p:spPr>
          <a:xfrm>
            <a:off x="1904996" y="4236571"/>
            <a:ext cx="7239004" cy="837057"/>
          </a:xfrm>
          <a:custGeom>
            <a:avLst/>
            <a:gdLst>
              <a:gd name="csX0" fmla="*/ 0 w 5530953"/>
              <a:gd name="csY0" fmla="*/ 0 h 1018407"/>
              <a:gd name="csX1" fmla="*/ 5530953 w 5530953"/>
              <a:gd name="csY1" fmla="*/ 0 h 1018407"/>
              <a:gd name="csX2" fmla="*/ 5530953 w 5530953"/>
              <a:gd name="csY2" fmla="*/ 1018407 h 1018407"/>
              <a:gd name="csX3" fmla="*/ 0 w 5530953"/>
              <a:gd name="csY3" fmla="*/ 1018407 h 1018407"/>
              <a:gd name="csX4" fmla="*/ 0 w 5530953"/>
              <a:gd name="csY4" fmla="*/ 0 h 10184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30953" h="1018407">
                <a:moveTo>
                  <a:pt x="0" y="0"/>
                </a:moveTo>
                <a:lnTo>
                  <a:pt x="5530953" y="0"/>
                </a:lnTo>
                <a:lnTo>
                  <a:pt x="5530953" y="1018407"/>
                </a:lnTo>
                <a:lnTo>
                  <a:pt x="0" y="101840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6464" tIns="156464" rIns="156464" bIns="156464" numCol="1" spcCol="1270" anchor="ctr" anchorCtr="0">
            <a:noAutofit/>
          </a:bodyPr>
          <a:lstStyle/>
          <a:p>
            <a:pPr lvl="0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>
                <a:latin typeface="Poppins" panose="00000500000000000000" pitchFamily="2" charset="0"/>
                <a:cs typeface="Poppins" panose="00000500000000000000" pitchFamily="2" charset="0"/>
              </a:rPr>
              <a:t>Mitigation can reduce penalties partially or fully</a:t>
            </a:r>
            <a:endParaRPr lang="en-US" sz="2200" kern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4" name="Graphic 53" descr="Bullseye with solid fill">
            <a:extLst>
              <a:ext uri="{FF2B5EF4-FFF2-40B4-BE49-F238E27FC236}">
                <a16:creationId xmlns:a16="http://schemas.microsoft.com/office/drawing/2014/main" id="{5CE9F073-1112-98F9-648C-047924B37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092" y="3185508"/>
            <a:ext cx="723701" cy="723701"/>
          </a:xfrm>
          <a:prstGeom prst="rect">
            <a:avLst/>
          </a:prstGeom>
          <a:effectLst/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4AE80E1-8483-F61A-71C0-495F0131C6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91" y="4173411"/>
            <a:ext cx="723701" cy="723701"/>
          </a:xfrm>
          <a:prstGeom prst="rect">
            <a:avLst/>
          </a:prstGeom>
          <a:effectLst/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47FAA3AA-B9F0-C4D5-849D-B35E95324A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91" y="2161878"/>
            <a:ext cx="723701" cy="674831"/>
          </a:xfrm>
          <a:prstGeom prst="rect">
            <a:avLst/>
          </a:prstGeom>
          <a:effectLst/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2680C1E9-5BBC-92E4-D72E-8537AF007298}"/>
              </a:ext>
            </a:extLst>
          </p:cNvPr>
          <p:cNvSpPr txBox="1"/>
          <p:nvPr/>
        </p:nvSpPr>
        <p:spPr>
          <a:xfrm>
            <a:off x="930091" y="6874739"/>
            <a:ext cx="72535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200" b="1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Standard Mitigation:</a:t>
            </a: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Removes 50% of penalty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409C37-472B-1CEA-8F64-3E6591256CBF}"/>
              </a:ext>
            </a:extLst>
          </p:cNvPr>
          <p:cNvGrpSpPr/>
          <p:nvPr/>
        </p:nvGrpSpPr>
        <p:grpSpPr>
          <a:xfrm>
            <a:off x="10972800" y="1943100"/>
            <a:ext cx="6331460" cy="4026512"/>
            <a:chOff x="10972800" y="1943100"/>
            <a:chExt cx="6331460" cy="43434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7819D20B-A876-9A3D-925C-F79A5651B27F}"/>
                </a:ext>
              </a:extLst>
            </p:cNvPr>
            <p:cNvSpPr/>
            <p:nvPr/>
          </p:nvSpPr>
          <p:spPr>
            <a:xfrm>
              <a:off x="10972800" y="1943100"/>
              <a:ext cx="6255260" cy="4267748"/>
            </a:xfrm>
            <a:prstGeom prst="roundRect">
              <a:avLst/>
            </a:prstGeom>
            <a:solidFill>
              <a:srgbClr val="FFFF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3D4C402-5267-68E2-7CFA-D27A708BF997}"/>
                </a:ext>
              </a:extLst>
            </p:cNvPr>
            <p:cNvSpPr/>
            <p:nvPr/>
          </p:nvSpPr>
          <p:spPr>
            <a:xfrm>
              <a:off x="11049000" y="2018752"/>
              <a:ext cx="6255260" cy="4267748"/>
            </a:xfrm>
            <a:prstGeom prst="roundRect">
              <a:avLst/>
            </a:prstGeom>
            <a:ln>
              <a:solidFill>
                <a:srgbClr val="FFFF59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Freeform 10">
            <a:extLst>
              <a:ext uri="{FF2B5EF4-FFF2-40B4-BE49-F238E27FC236}">
                <a16:creationId xmlns:a16="http://schemas.microsoft.com/office/drawing/2014/main" id="{41B2BA2C-D06E-3857-3A90-BFB50156C2DF}"/>
              </a:ext>
            </a:extLst>
          </p:cNvPr>
          <p:cNvSpPr/>
          <p:nvPr/>
        </p:nvSpPr>
        <p:spPr>
          <a:xfrm rot="1443000">
            <a:off x="15894008" y="1384125"/>
            <a:ext cx="1329613" cy="1426878"/>
          </a:xfrm>
          <a:custGeom>
            <a:avLst/>
            <a:gdLst/>
            <a:ahLst/>
            <a:cxnLst/>
            <a:rect l="l" t="t" r="r" b="b"/>
            <a:pathLst>
              <a:path w="1245584" h="1271005">
                <a:moveTo>
                  <a:pt x="0" y="0"/>
                </a:moveTo>
                <a:lnTo>
                  <a:pt x="1245584" y="0"/>
                </a:lnTo>
                <a:lnTo>
                  <a:pt x="1245584" y="1271005"/>
                </a:lnTo>
                <a:lnTo>
                  <a:pt x="0" y="1271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/>
        </p:spPr>
        <p:txBody>
          <a:bodyPr/>
          <a:lstStyle/>
          <a:p>
            <a:pPr defTabSz="914445">
              <a:buClr>
                <a:srgbClr val="000000"/>
              </a:buClr>
            </a:pPr>
            <a:endParaRPr lang="en-US" sz="2801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3D2E2-106A-1290-0B88-6884801BB566}"/>
              </a:ext>
            </a:extLst>
          </p:cNvPr>
          <p:cNvSpPr txBox="1"/>
          <p:nvPr/>
        </p:nvSpPr>
        <p:spPr>
          <a:xfrm>
            <a:off x="11225620" y="2848091"/>
            <a:ext cx="5902019" cy="2583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lvl="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Always prioritize policy understanding over penalty reduction. </a:t>
            </a:r>
          </a:p>
          <a:p>
            <a:pPr marL="342900" lvl="0" indent="-342900" defTabSz="13716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Only offer mitigation if the property meets the necessary guidelines during the conversation. </a:t>
            </a:r>
            <a:endParaRPr lang="en-US" sz="220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02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0546F-0397-382C-F12B-A396F8BD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BD7272B3-BFC1-5484-255D-3B2B05CE3824}"/>
              </a:ext>
            </a:extLst>
          </p:cNvPr>
          <p:cNvSpPr/>
          <p:nvPr/>
        </p:nvSpPr>
        <p:spPr>
          <a:xfrm rot="3016692">
            <a:off x="13534455" y="302149"/>
            <a:ext cx="8521263" cy="655821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8D1C27-6048-9632-BA7B-F92C7F90F2DC}"/>
              </a:ext>
            </a:extLst>
          </p:cNvPr>
          <p:cNvSpPr/>
          <p:nvPr/>
        </p:nvSpPr>
        <p:spPr>
          <a:xfrm>
            <a:off x="873722" y="533727"/>
            <a:ext cx="1371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lang="en-US" sz="5200" b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Four Pillars of Mitigation Decisions</a:t>
            </a:r>
            <a:endParaRPr kumimoji="0" lang="en-US" sz="5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E82AF07A-7181-33DD-0CF5-7CEDDECF7F9E}"/>
              </a:ext>
            </a:extLst>
          </p:cNvPr>
          <p:cNvSpPr/>
          <p:nvPr/>
        </p:nvSpPr>
        <p:spPr>
          <a:xfrm>
            <a:off x="685800" y="9738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371600"/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Tripadvisor / Fraud support / </a:t>
            </a:r>
            <a:r>
              <a:rPr lang="en-US" sz="1200">
                <a:solidFill>
                  <a:srgbClr val="8A8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Four pillars of mitigation decisions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8E7A3697-49D9-2375-1D17-A63215E51ADD}"/>
              </a:ext>
            </a:extLst>
          </p:cNvPr>
          <p:cNvGrpSpPr/>
          <p:nvPr/>
        </p:nvGrpSpPr>
        <p:grpSpPr>
          <a:xfrm>
            <a:off x="895493" y="1866902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789035A1-BF2C-537C-6264-737D950DE5EC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93E13BCF-FCD9-0FAD-37B1-7F220726B0D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EB5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1E7E28C0-E95C-6EBD-6382-9CB9D1C44B4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3D4D7070-4B64-000B-1BB3-5B583A207869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15" name="Freeform 7">
                <a:extLst>
                  <a:ext uri="{FF2B5EF4-FFF2-40B4-BE49-F238E27FC236}">
                    <a16:creationId xmlns:a16="http://schemas.microsoft.com/office/drawing/2014/main" id="{BC390D48-01E1-6CFF-F421-30A70F89720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TextBox 8">
                <a:extLst>
                  <a:ext uri="{FF2B5EF4-FFF2-40B4-BE49-F238E27FC236}">
                    <a16:creationId xmlns:a16="http://schemas.microsoft.com/office/drawing/2014/main" id="{3B0CC87E-A1E5-0BCD-A94C-AE4EAA141E2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TextBox 42">
            <a:extLst>
              <a:ext uri="{FF2B5EF4-FFF2-40B4-BE49-F238E27FC236}">
                <a16:creationId xmlns:a16="http://schemas.microsoft.com/office/drawing/2014/main" id="{C5D1A816-6A77-2866-E04C-DC42520DBC96}"/>
              </a:ext>
            </a:extLst>
          </p:cNvPr>
          <p:cNvSpPr txBox="1"/>
          <p:nvPr/>
        </p:nvSpPr>
        <p:spPr>
          <a:xfrm>
            <a:off x="1258670" y="3385684"/>
            <a:ext cx="3270902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No suspicious activity for at least 14 days</a:t>
            </a:r>
            <a:endParaRPr lang="en-US" sz="2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ACFFC4FD-C059-1E55-8ACD-E9745BD65C7F}"/>
              </a:ext>
            </a:extLst>
          </p:cNvPr>
          <p:cNvGrpSpPr/>
          <p:nvPr/>
        </p:nvGrpSpPr>
        <p:grpSpPr>
          <a:xfrm>
            <a:off x="5237334" y="1868036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5" name="Group 3">
              <a:extLst>
                <a:ext uri="{FF2B5EF4-FFF2-40B4-BE49-F238E27FC236}">
                  <a16:creationId xmlns:a16="http://schemas.microsoft.com/office/drawing/2014/main" id="{A121A3C1-760E-42D1-097F-31837980CF44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33" name="Freeform 4">
                <a:extLst>
                  <a:ext uri="{FF2B5EF4-FFF2-40B4-BE49-F238E27FC236}">
                    <a16:creationId xmlns:a16="http://schemas.microsoft.com/office/drawing/2014/main" id="{DB169585-D63C-35A7-C773-596C843F945E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D953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TextBox 5">
                <a:extLst>
                  <a:ext uri="{FF2B5EF4-FFF2-40B4-BE49-F238E27FC236}">
                    <a16:creationId xmlns:a16="http://schemas.microsoft.com/office/drawing/2014/main" id="{C5C15314-3656-64CE-15AA-75E981F219D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6">
              <a:extLst>
                <a:ext uri="{FF2B5EF4-FFF2-40B4-BE49-F238E27FC236}">
                  <a16:creationId xmlns:a16="http://schemas.microsoft.com/office/drawing/2014/main" id="{81F488F0-CB52-7786-60E5-0F438FC3F008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CCE9F092-F043-30AC-A919-0723818B80E2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TextBox 8">
                <a:extLst>
                  <a:ext uri="{FF2B5EF4-FFF2-40B4-BE49-F238E27FC236}">
                    <a16:creationId xmlns:a16="http://schemas.microsoft.com/office/drawing/2014/main" id="{D320F161-888C-00AE-314D-2518AD764DC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2">
            <a:extLst>
              <a:ext uri="{FF2B5EF4-FFF2-40B4-BE49-F238E27FC236}">
                <a16:creationId xmlns:a16="http://schemas.microsoft.com/office/drawing/2014/main" id="{15930A47-1ACC-CD64-BC80-14EBA91CAE41}"/>
              </a:ext>
            </a:extLst>
          </p:cNvPr>
          <p:cNvGrpSpPr/>
          <p:nvPr/>
        </p:nvGrpSpPr>
        <p:grpSpPr>
          <a:xfrm>
            <a:off x="9586557" y="1866900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0" name="Group 3">
              <a:extLst>
                <a:ext uri="{FF2B5EF4-FFF2-40B4-BE49-F238E27FC236}">
                  <a16:creationId xmlns:a16="http://schemas.microsoft.com/office/drawing/2014/main" id="{1EC1BB5D-1134-4862-20B7-452FAC213DFE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44" name="Freeform 4">
                <a:extLst>
                  <a:ext uri="{FF2B5EF4-FFF2-40B4-BE49-F238E27FC236}">
                    <a16:creationId xmlns:a16="http://schemas.microsoft.com/office/drawing/2014/main" id="{23CA3070-3980-3748-2906-092B38AC4C7B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23EEBE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" name="TextBox 5">
                <a:extLst>
                  <a:ext uri="{FF2B5EF4-FFF2-40B4-BE49-F238E27FC236}">
                    <a16:creationId xmlns:a16="http://schemas.microsoft.com/office/drawing/2014/main" id="{3C11FDBE-5FFD-F0B8-5E1E-CA635060359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6">
              <a:extLst>
                <a:ext uri="{FF2B5EF4-FFF2-40B4-BE49-F238E27FC236}">
                  <a16:creationId xmlns:a16="http://schemas.microsoft.com/office/drawing/2014/main" id="{37C0342A-0D81-B8FD-BD4E-74C58E19B101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42" name="Freeform 7">
                <a:extLst>
                  <a:ext uri="{FF2B5EF4-FFF2-40B4-BE49-F238E27FC236}">
                    <a16:creationId xmlns:a16="http://schemas.microsoft.com/office/drawing/2014/main" id="{EB63BE4C-7F13-3C11-FB08-7BCD0AC6C0E2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TextBox 8">
                <a:extLst>
                  <a:ext uri="{FF2B5EF4-FFF2-40B4-BE49-F238E27FC236}">
                    <a16:creationId xmlns:a16="http://schemas.microsoft.com/office/drawing/2014/main" id="{E320A42A-1F0F-F70E-46A8-555CE89EB24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" name="Group 2">
            <a:extLst>
              <a:ext uri="{FF2B5EF4-FFF2-40B4-BE49-F238E27FC236}">
                <a16:creationId xmlns:a16="http://schemas.microsoft.com/office/drawing/2014/main" id="{A5B042D8-6D5A-5E82-6D5D-0BA3C93C077B}"/>
              </a:ext>
            </a:extLst>
          </p:cNvPr>
          <p:cNvGrpSpPr/>
          <p:nvPr/>
        </p:nvGrpSpPr>
        <p:grpSpPr>
          <a:xfrm>
            <a:off x="13839642" y="1866900"/>
            <a:ext cx="3928437" cy="4751109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5FCA0A34-28DC-EDA1-7B99-7581184E3C9F}"/>
                </a:ext>
              </a:extLst>
            </p:cNvPr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60" name="Freeform 4">
                <a:extLst>
                  <a:ext uri="{FF2B5EF4-FFF2-40B4-BE49-F238E27FC236}">
                    <a16:creationId xmlns:a16="http://schemas.microsoft.com/office/drawing/2014/main" id="{CD58A7DB-EFD4-0499-1E7F-69D7840B2DF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FF4E5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id="{AEF3C173-D143-F4CA-B8D2-7BA344D82E7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B965CA4E-5B33-F185-38C0-D346F4D44E58}"/>
                </a:ext>
              </a:extLst>
            </p:cNvPr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57" name="Freeform 7">
                <a:extLst>
                  <a:ext uri="{FF2B5EF4-FFF2-40B4-BE49-F238E27FC236}">
                    <a16:creationId xmlns:a16="http://schemas.microsoft.com/office/drawing/2014/main" id="{40103026-1868-F582-7122-6EA1FA2C776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TextBox 8">
                <a:extLst>
                  <a:ext uri="{FF2B5EF4-FFF2-40B4-BE49-F238E27FC236}">
                    <a16:creationId xmlns:a16="http://schemas.microsoft.com/office/drawing/2014/main" id="{2D3B33CB-D0B0-AB73-515A-68EFF448DDC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4" name="TextBox 34">
            <a:extLst>
              <a:ext uri="{FF2B5EF4-FFF2-40B4-BE49-F238E27FC236}">
                <a16:creationId xmlns:a16="http://schemas.microsoft.com/office/drawing/2014/main" id="{59C3FE4D-4941-6DB3-BAB5-E4E07D4F0647}"/>
              </a:ext>
            </a:extLst>
          </p:cNvPr>
          <p:cNvSpPr txBox="1"/>
          <p:nvPr/>
        </p:nvSpPr>
        <p:spPr>
          <a:xfrm>
            <a:off x="1102465" y="2462050"/>
            <a:ext cx="3324311" cy="684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52"/>
              </a:lnSpc>
              <a:defRPr/>
            </a:pPr>
            <a:r>
              <a:rPr lang="en-US" sz="22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Cessation of Activity</a:t>
            </a:r>
          </a:p>
          <a:p>
            <a:pPr lvl="0" algn="ctr">
              <a:lnSpc>
                <a:spcPts val="2652"/>
              </a:lnSpc>
              <a:defRPr/>
            </a:pPr>
            <a:r>
              <a:rPr lang="en-US" sz="22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(2-Week Rule)</a:t>
            </a:r>
            <a:endParaRPr kumimoji="0" lang="en-US" sz="2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6" name="TextBox 42">
            <a:extLst>
              <a:ext uri="{FF2B5EF4-FFF2-40B4-BE49-F238E27FC236}">
                <a16:creationId xmlns:a16="http://schemas.microsoft.com/office/drawing/2014/main" id="{637ECB6D-EFD9-2647-DC46-9C39B189E8F2}"/>
              </a:ext>
            </a:extLst>
          </p:cNvPr>
          <p:cNvSpPr txBox="1"/>
          <p:nvPr/>
        </p:nvSpPr>
        <p:spPr>
          <a:xfrm>
            <a:off x="5539397" y="3380241"/>
            <a:ext cx="332431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Isolated (few individuals even if repetitive) vs. Systemic (group-wide)</a:t>
            </a:r>
            <a:endParaRPr lang="en-US" sz="2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Box 34">
            <a:extLst>
              <a:ext uri="{FF2B5EF4-FFF2-40B4-BE49-F238E27FC236}">
                <a16:creationId xmlns:a16="http://schemas.microsoft.com/office/drawing/2014/main" id="{9EA1802B-AB90-1214-47AC-1679BB1C7D3B}"/>
              </a:ext>
            </a:extLst>
          </p:cNvPr>
          <p:cNvSpPr txBox="1"/>
          <p:nvPr/>
        </p:nvSpPr>
        <p:spPr>
          <a:xfrm>
            <a:off x="5446552" y="2456607"/>
            <a:ext cx="3324311" cy="338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52"/>
              </a:lnSpc>
              <a:defRPr/>
            </a:pPr>
            <a:r>
              <a:rPr lang="en-US" sz="22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Severity of Violation</a:t>
            </a:r>
            <a:endParaRPr kumimoji="0" lang="en-US" sz="2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0" name="TextBox 42">
            <a:extLst>
              <a:ext uri="{FF2B5EF4-FFF2-40B4-BE49-F238E27FC236}">
                <a16:creationId xmlns:a16="http://schemas.microsoft.com/office/drawing/2014/main" id="{0CC25965-CE9B-37DF-D241-30593CADCFCE}"/>
              </a:ext>
            </a:extLst>
          </p:cNvPr>
          <p:cNvSpPr txBox="1"/>
          <p:nvPr/>
        </p:nvSpPr>
        <p:spPr>
          <a:xfrm>
            <a:off x="10001273" y="3380241"/>
            <a:ext cx="3270902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Review the property’s full fraud history via the Location Center and URD</a:t>
            </a:r>
            <a:endParaRPr lang="en-US" sz="2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Box 34">
            <a:extLst>
              <a:ext uri="{FF2B5EF4-FFF2-40B4-BE49-F238E27FC236}">
                <a16:creationId xmlns:a16="http://schemas.microsoft.com/office/drawing/2014/main" id="{F28E6615-1D19-4B63-02F1-F3FEFAC9628E}"/>
              </a:ext>
            </a:extLst>
          </p:cNvPr>
          <p:cNvSpPr txBox="1"/>
          <p:nvPr/>
        </p:nvSpPr>
        <p:spPr>
          <a:xfrm>
            <a:off x="9845068" y="2456607"/>
            <a:ext cx="3324311" cy="338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52"/>
              </a:lnSpc>
              <a:defRPr/>
            </a:pPr>
            <a:r>
              <a:rPr lang="en-US" sz="22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Fraud History</a:t>
            </a:r>
            <a:endParaRPr kumimoji="0" lang="en-US" sz="2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4" name="TextBox 42">
            <a:extLst>
              <a:ext uri="{FF2B5EF4-FFF2-40B4-BE49-F238E27FC236}">
                <a16:creationId xmlns:a16="http://schemas.microsoft.com/office/drawing/2014/main" id="{365CBEB3-4C97-7F0F-507F-51E183960584}"/>
              </a:ext>
            </a:extLst>
          </p:cNvPr>
          <p:cNvSpPr txBox="1"/>
          <p:nvPr/>
        </p:nvSpPr>
        <p:spPr>
          <a:xfrm>
            <a:off x="14205083" y="3380241"/>
            <a:ext cx="3270902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914378"/>
            <a:r>
              <a:rPr lang="en-US" sz="2200">
                <a:solidFill>
                  <a:srgbClr val="1F2937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Assess the owner's attitude and internal actions: Engagement, Proactivity, Accountability</a:t>
            </a:r>
            <a:endParaRPr lang="en-US" sz="220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Box 34">
            <a:extLst>
              <a:ext uri="{FF2B5EF4-FFF2-40B4-BE49-F238E27FC236}">
                <a16:creationId xmlns:a16="http://schemas.microsoft.com/office/drawing/2014/main" id="{E26116F3-D462-6ABB-F5CB-3F1C5FD23207}"/>
              </a:ext>
            </a:extLst>
          </p:cNvPr>
          <p:cNvSpPr txBox="1"/>
          <p:nvPr/>
        </p:nvSpPr>
        <p:spPr>
          <a:xfrm>
            <a:off x="14119017" y="2423950"/>
            <a:ext cx="3324311" cy="338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52"/>
              </a:lnSpc>
              <a:defRPr/>
            </a:pPr>
            <a:r>
              <a:rPr lang="en-US" sz="2200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Owner Cooperation</a:t>
            </a:r>
            <a:endParaRPr kumimoji="0" lang="en-US" sz="22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3427F708-49F5-A8CA-2BBB-226747BC8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5266" y="5070478"/>
            <a:ext cx="1201307" cy="12013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7A167C67-0575-ADE7-944B-B32463D6D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5820" y="5070479"/>
            <a:ext cx="1201307" cy="12013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9D160BE0-3E45-B4CC-2BCB-4BF2069ED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698" y="5070478"/>
            <a:ext cx="1104821" cy="11698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5263A2CE-D7C6-6B92-51FC-CF076DACED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377" y="5143500"/>
            <a:ext cx="1096788" cy="10967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2D7A469-3DD4-7ECB-A102-118749BC3FB2}"/>
              </a:ext>
            </a:extLst>
          </p:cNvPr>
          <p:cNvGrpSpPr/>
          <p:nvPr/>
        </p:nvGrpSpPr>
        <p:grpSpPr>
          <a:xfrm>
            <a:off x="3876870" y="6935046"/>
            <a:ext cx="10534259" cy="2385636"/>
            <a:chOff x="1102465" y="6975001"/>
            <a:chExt cx="10534259" cy="2385636"/>
          </a:xfrm>
        </p:grpSpPr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8800BB42-CA3F-C0CD-3EAF-3EA75913E6F9}"/>
                </a:ext>
              </a:extLst>
            </p:cNvPr>
            <p:cNvGrpSpPr/>
            <p:nvPr/>
          </p:nvGrpSpPr>
          <p:grpSpPr>
            <a:xfrm>
              <a:off x="1102465" y="7274620"/>
              <a:ext cx="9717936" cy="2086017"/>
              <a:chOff x="0" y="0"/>
              <a:chExt cx="1730996" cy="708329"/>
            </a:xfrm>
          </p:grpSpPr>
          <p:sp>
            <p:nvSpPr>
              <p:cNvPr id="14" name="Freeform 18">
                <a:extLst>
                  <a:ext uri="{FF2B5EF4-FFF2-40B4-BE49-F238E27FC236}">
                    <a16:creationId xmlns:a16="http://schemas.microsoft.com/office/drawing/2014/main" id="{A5EE9155-CD9B-6985-EAA3-7E4E264A1FFC}"/>
                  </a:ext>
                </a:extLst>
              </p:cNvPr>
              <p:cNvSpPr/>
              <p:nvPr/>
            </p:nvSpPr>
            <p:spPr>
              <a:xfrm>
                <a:off x="0" y="0"/>
                <a:ext cx="1730996" cy="708329"/>
              </a:xfrm>
              <a:custGeom>
                <a:avLst/>
                <a:gdLst/>
                <a:ahLst/>
                <a:cxnLst/>
                <a:rect l="l" t="t" r="r" b="b"/>
                <a:pathLst>
                  <a:path w="1730996" h="708329">
                    <a:moveTo>
                      <a:pt x="77348" y="0"/>
                    </a:moveTo>
                    <a:lnTo>
                      <a:pt x="1653648" y="0"/>
                    </a:lnTo>
                    <a:cubicBezTo>
                      <a:pt x="1696366" y="0"/>
                      <a:pt x="1730996" y="34630"/>
                      <a:pt x="1730996" y="77348"/>
                    </a:cubicBezTo>
                    <a:lnTo>
                      <a:pt x="1730996" y="630982"/>
                    </a:lnTo>
                    <a:cubicBezTo>
                      <a:pt x="1730996" y="673700"/>
                      <a:pt x="1696366" y="708329"/>
                      <a:pt x="1653648" y="708329"/>
                    </a:cubicBezTo>
                    <a:lnTo>
                      <a:pt x="77348" y="708329"/>
                    </a:lnTo>
                    <a:cubicBezTo>
                      <a:pt x="34630" y="708329"/>
                      <a:pt x="0" y="673700"/>
                      <a:pt x="0" y="630982"/>
                    </a:cubicBezTo>
                    <a:lnTo>
                      <a:pt x="0" y="77348"/>
                    </a:lnTo>
                    <a:cubicBezTo>
                      <a:pt x="0" y="34630"/>
                      <a:pt x="34630" y="0"/>
                      <a:pt x="773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BF63"/>
                </a:solidFill>
                <a:prstDash val="solid"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D98525FE-000B-DB15-05A6-500AEF18F739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730996" cy="765479"/>
              </a:xfrm>
              <a:prstGeom prst="rect">
                <a:avLst/>
              </a:prstGeom>
            </p:spPr>
            <p:txBody>
              <a:bodyPr lIns="39456" tIns="39456" rIns="39456" bIns="39456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EB1D242D-A38B-A593-96F1-92F5176419DA}"/>
                </a:ext>
              </a:extLst>
            </p:cNvPr>
            <p:cNvGrpSpPr/>
            <p:nvPr/>
          </p:nvGrpSpPr>
          <p:grpSpPr>
            <a:xfrm>
              <a:off x="1310674" y="6975001"/>
              <a:ext cx="599238" cy="599238"/>
              <a:chOff x="0" y="0"/>
              <a:chExt cx="812800" cy="812800"/>
            </a:xfrm>
          </p:grpSpPr>
          <p:sp>
            <p:nvSpPr>
              <p:cNvPr id="23" name="Freeform 21">
                <a:extLst>
                  <a:ext uri="{FF2B5EF4-FFF2-40B4-BE49-F238E27FC236}">
                    <a16:creationId xmlns:a16="http://schemas.microsoft.com/office/drawing/2014/main" id="{AFF0471B-8DC9-F74C-D359-6AE5B09134E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TextBox 22">
                <a:extLst>
                  <a:ext uri="{FF2B5EF4-FFF2-40B4-BE49-F238E27FC236}">
                    <a16:creationId xmlns:a16="http://schemas.microsoft.com/office/drawing/2014/main" id="{E06D3EF1-2304-FFAF-BF73-6CFC8596BDAA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39456" tIns="39456" rIns="39456" bIns="39456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30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0B7327AF-02BA-58F5-A6F1-052541C775DC}"/>
                </a:ext>
              </a:extLst>
            </p:cNvPr>
            <p:cNvSpPr/>
            <p:nvPr/>
          </p:nvSpPr>
          <p:spPr>
            <a:xfrm>
              <a:off x="1357479" y="7048773"/>
              <a:ext cx="505627" cy="451694"/>
            </a:xfrm>
            <a:custGeom>
              <a:avLst/>
              <a:gdLst/>
              <a:ahLst/>
              <a:cxnLst/>
              <a:rect l="l" t="t" r="r" b="b"/>
              <a:pathLst>
                <a:path w="505627" h="451694">
                  <a:moveTo>
                    <a:pt x="0" y="0"/>
                  </a:moveTo>
                  <a:lnTo>
                    <a:pt x="505627" y="0"/>
                  </a:lnTo>
                  <a:lnTo>
                    <a:pt x="505627" y="451694"/>
                  </a:lnTo>
                  <a:lnTo>
                    <a:pt x="0" y="451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4D0EE7-0FC2-17A3-876A-96EE960E6E78}"/>
                </a:ext>
              </a:extLst>
            </p:cNvPr>
            <p:cNvSpPr txBox="1"/>
            <p:nvPr/>
          </p:nvSpPr>
          <p:spPr>
            <a:xfrm>
              <a:off x="1323874" y="7505700"/>
              <a:ext cx="10312850" cy="15678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lvl="0" defTabSz="1371600">
                <a:lnSpc>
                  <a:spcPct val="150000"/>
                </a:lnSpc>
                <a:defRPr/>
              </a:pPr>
              <a:r>
                <a:rPr lang="en-US" sz="2200" b="1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Note:</a:t>
              </a:r>
            </a:p>
            <a:p>
              <a:pPr lvl="0" defTabSz="1371600">
                <a:lnSpc>
                  <a:spcPct val="150000"/>
                </a:lnSpc>
                <a:defRPr/>
              </a:pPr>
              <a:r>
                <a:rPr lang="en-US" sz="220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Always check for high-risk behavior such as bullying, vandalism, coercion, coaching, incentives, or paid reviews.</a:t>
              </a:r>
              <a:endParaRPr lang="en-US" sz="220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9222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88392" y="-2584536"/>
            <a:ext cx="13802599" cy="13595560"/>
          </a:xfrm>
          <a:custGeom>
            <a:avLst/>
            <a:gdLst/>
            <a:ahLst/>
            <a:cxnLst/>
            <a:rect l="l" t="t" r="r" b="b"/>
            <a:pathLst>
              <a:path w="13802599" h="13595560">
                <a:moveTo>
                  <a:pt x="0" y="0"/>
                </a:moveTo>
                <a:lnTo>
                  <a:pt x="13802599" y="0"/>
                </a:lnTo>
                <a:lnTo>
                  <a:pt x="13802599" y="13595560"/>
                </a:lnTo>
                <a:lnTo>
                  <a:pt x="0" y="13595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8839200" y="-1843738"/>
            <a:ext cx="12070084" cy="12130738"/>
          </a:xfrm>
          <a:custGeom>
            <a:avLst/>
            <a:gdLst/>
            <a:ahLst/>
            <a:cxnLst/>
            <a:rect l="l" t="t" r="r" b="b"/>
            <a:pathLst>
              <a:path w="12070084" h="12130738">
                <a:moveTo>
                  <a:pt x="0" y="0"/>
                </a:moveTo>
                <a:lnTo>
                  <a:pt x="12070084" y="0"/>
                </a:lnTo>
                <a:lnTo>
                  <a:pt x="12070084" y="12130738"/>
                </a:lnTo>
                <a:lnTo>
                  <a:pt x="0" y="12130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 rot="-10800000">
            <a:off x="4724400" y="0"/>
            <a:ext cx="7315200" cy="3913632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7B6FF442-8E20-7F9E-260A-38C3100635B4}"/>
              </a:ext>
            </a:extLst>
          </p:cNvPr>
          <p:cNvSpPr txBox="1"/>
          <p:nvPr/>
        </p:nvSpPr>
        <p:spPr>
          <a:xfrm>
            <a:off x="908957" y="723527"/>
            <a:ext cx="21099332" cy="119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0500"/>
              </a:lnSpc>
              <a:defRPr/>
            </a:pPr>
            <a:r>
              <a:rPr kumimoji="0" lang="en-US" sz="5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Key Takeaways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682395-91AC-A514-EF45-C7D2251B5F09}"/>
              </a:ext>
            </a:extLst>
          </p:cNvPr>
          <p:cNvSpPr/>
          <p:nvPr/>
        </p:nvSpPr>
        <p:spPr>
          <a:xfrm>
            <a:off x="718755" y="2457548"/>
            <a:ext cx="13802598" cy="853673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BCDD85-FC0D-DA4C-C8EA-21D0502FB034}"/>
              </a:ext>
            </a:extLst>
          </p:cNvPr>
          <p:cNvSpPr/>
          <p:nvPr/>
        </p:nvSpPr>
        <p:spPr>
          <a:xfrm>
            <a:off x="794955" y="2533748"/>
            <a:ext cx="13802598" cy="85367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504F2027-1E5F-60A1-21B9-F1DEDA92BA6D}"/>
              </a:ext>
            </a:extLst>
          </p:cNvPr>
          <p:cNvSpPr/>
          <p:nvPr/>
        </p:nvSpPr>
        <p:spPr>
          <a:xfrm>
            <a:off x="1030813" y="2745140"/>
            <a:ext cx="131633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GCF automates mitigation for specific fraud types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05DAA2-5A9B-F7D9-9283-C605C55E38FD}"/>
              </a:ext>
            </a:extLst>
          </p:cNvPr>
          <p:cNvSpPr/>
          <p:nvPr/>
        </p:nvSpPr>
        <p:spPr>
          <a:xfrm>
            <a:off x="724198" y="3734509"/>
            <a:ext cx="13802598" cy="853673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D047E6B-8C5C-03B8-1DC9-3E8346F1E65D}"/>
              </a:ext>
            </a:extLst>
          </p:cNvPr>
          <p:cNvSpPr/>
          <p:nvPr/>
        </p:nvSpPr>
        <p:spPr>
          <a:xfrm>
            <a:off x="800398" y="3810709"/>
            <a:ext cx="13802598" cy="85367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B9808030-3565-D1D1-A5EB-816FBAA135EB}"/>
              </a:ext>
            </a:extLst>
          </p:cNvPr>
          <p:cNvSpPr/>
          <p:nvPr/>
        </p:nvSpPr>
        <p:spPr>
          <a:xfrm>
            <a:off x="1036256" y="4022101"/>
            <a:ext cx="131633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Agents support by guiding eligible owners to the form and managing exceptions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BFA6B6A-07EE-6D6B-1E95-DF2A8D42DE85}"/>
              </a:ext>
            </a:extLst>
          </p:cNvPr>
          <p:cNvSpPr/>
          <p:nvPr/>
        </p:nvSpPr>
        <p:spPr>
          <a:xfrm>
            <a:off x="718755" y="5156986"/>
            <a:ext cx="13802598" cy="853673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1F4B9B6-D95F-B162-B86C-EB63691B60A7}"/>
              </a:ext>
            </a:extLst>
          </p:cNvPr>
          <p:cNvSpPr/>
          <p:nvPr/>
        </p:nvSpPr>
        <p:spPr>
          <a:xfrm>
            <a:off x="794955" y="5233186"/>
            <a:ext cx="13802598" cy="85367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6B798AF3-1028-E392-FFB7-FC4D4B906A07}"/>
              </a:ext>
            </a:extLst>
          </p:cNvPr>
          <p:cNvSpPr/>
          <p:nvPr/>
        </p:nvSpPr>
        <p:spPr>
          <a:xfrm>
            <a:off x="1030813" y="5444578"/>
            <a:ext cx="131633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Auto-mitigation status must be verified before engagement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33DA050-DD23-D7E6-B1B7-A013FEA97816}"/>
              </a:ext>
            </a:extLst>
          </p:cNvPr>
          <p:cNvSpPr/>
          <p:nvPr/>
        </p:nvSpPr>
        <p:spPr>
          <a:xfrm>
            <a:off x="718755" y="6528276"/>
            <a:ext cx="13802598" cy="853673"/>
          </a:xfrm>
          <a:prstGeom prst="roundRect">
            <a:avLst/>
          </a:prstGeom>
          <a:solidFill>
            <a:srgbClr val="CFFF2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6E7B2D-576C-5BD1-3486-344946CF4328}"/>
              </a:ext>
            </a:extLst>
          </p:cNvPr>
          <p:cNvSpPr/>
          <p:nvPr/>
        </p:nvSpPr>
        <p:spPr>
          <a:xfrm>
            <a:off x="794955" y="6604476"/>
            <a:ext cx="13802598" cy="853673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D52CB3E3-2269-EA91-B146-CA9528A11426}"/>
              </a:ext>
            </a:extLst>
          </p:cNvPr>
          <p:cNvSpPr/>
          <p:nvPr/>
        </p:nvSpPr>
        <p:spPr>
          <a:xfrm>
            <a:off x="1030813" y="6815868"/>
            <a:ext cx="131633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1371600">
              <a:defRPr/>
            </a:pPr>
            <a:r>
              <a:rPr lang="en-US" sz="220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Use macros and escalation paths as needed to ensure smooth handling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4D734CA-3AFE-7F5F-1074-1CE87F8FC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flipH="1">
            <a:off x="11458623" y="5290880"/>
            <a:ext cx="5847971" cy="46800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564165" y="3835764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>
                <a:solidFill>
                  <a:srgbClr val="002B11"/>
                </a:solidFill>
                <a:latin typeface="Poppins"/>
                <a:cs typeface="Arial"/>
                <a:sym typeface="Arial"/>
              </a:rPr>
              <a:t>Agents must share the eligibility criteria with owners.</a:t>
            </a:r>
            <a:endParaRPr kumimoji="0" sz="40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869899" y="6389022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1963400" y="6350850"/>
            <a:ext cx="5715000" cy="242423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2207599" y="6655024"/>
            <a:ext cx="5226602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cs typeface="Arial"/>
              </a:defRPr>
            </a:lvl1pPr>
          </a:lstStyle>
          <a:p>
            <a:r>
              <a:rPr lang="en-US"/>
              <a:t>Agents are not required to verify eligibility criteria manually and they must not share these with any owner.</a:t>
            </a:r>
            <a:endParaRPr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48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1887-C814-A6A2-84F3-CA9842E4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45AEB-B185-FFD3-4B0A-4CEF16EEDA0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1888D2-A122-55C4-E244-879A230C0080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5F090-5D09-BB97-D352-59D7C4D15B29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of the following is NOT a reason for offering auto-mitigation?</a:t>
            </a:r>
            <a:endParaRPr kumimoji="0" sz="40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24A0BA5-6920-561F-6D0D-2244A470A0BD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9049E-8922-2B09-5BBA-8A85B8E6E392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Increased efficiency for agents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D9B4A0-FCC6-2033-6874-6877C9E8C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13B56-2158-EE09-4629-AC2CE39C51DD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Standardization and risk reduction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F648C10-8B58-5E33-00BB-F234B2BB664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4187D-A396-007E-4A44-5DD57EBB4A7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To manually review all cases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ACD14F-26EC-ABA0-5805-D415CCB280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9578B-E45B-6B03-3447-7268F48042A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To provide self-service for first-time offenders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59B1E-3056-672D-C727-71965A35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337120-0E18-6905-CEDC-1CD8EA49F83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82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380F8-0657-4F50-76F8-8A70CAA1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3702FA-948E-706C-8535-DA5F689349EC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E3E75A-DD1C-F7C4-6608-030502CABA0A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890BB-64F0-B444-3E76-D356AC0D54D7}"/>
              </a:ext>
            </a:extLst>
          </p:cNvPr>
          <p:cNvSpPr txBox="1"/>
          <p:nvPr/>
        </p:nvSpPr>
        <p:spPr>
          <a:xfrm>
            <a:off x="1510086" y="1988052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cases should NOT be directed to the GCF?</a:t>
            </a:r>
            <a:endParaRPr kumimoji="0" sz="40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C324BA8-22FE-D94A-2676-5EDFB3AB17A6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20DD8-8A4B-32EA-713E-669E39E4899D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OSM/ORM scenarios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1D29E783-87F6-28AE-7DBB-46DAB0B19FA4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56BD5-7472-602D-07F5-8CF8DC9D0F49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Listings with active badges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6FA4F8C-DF31-C1DF-6FA4-4D29ECF2BC47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68F59-93C5-0E8F-DF82-C9A3BE06CB1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Recent use of auto-mitigation within 12 months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5760EF74-F2DB-2176-851B-F349EC99DA64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4AE5EF-9E0A-1FDA-50E8-B5AAEFF339A1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All of the above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80279-F0EF-2B2C-274F-9BA45C2D2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BE7B68-495E-368E-96F5-F5E804A3AE1A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06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564165" y="3527988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>
                <a:solidFill>
                  <a:srgbClr val="002B11"/>
                </a:solidFill>
                <a:latin typeface="Poppins"/>
                <a:cs typeface="Arial"/>
                <a:sym typeface="Arial"/>
              </a:rPr>
              <a:t>Penalties removed via auto-mitigation are recorded in the Location Notes automatically.</a:t>
            </a:r>
            <a:endParaRPr kumimoji="0" sz="40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695323" y="6368984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2788824" y="6330812"/>
            <a:ext cx="3455341" cy="1555888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3411200" y="6830073"/>
            <a:ext cx="400625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You’re right!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520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336B1-C3F0-D48C-CE0A-D5945BF8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291530-F9C5-DD95-F7FA-79D8BC495606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917DB2-0B2B-B1E1-512F-DA737950ED61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C8E38-7CAC-3B97-DA60-7471863892DE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>
                <a:solidFill>
                  <a:srgbClr val="002B11"/>
                </a:solidFill>
                <a:latin typeface="Poppins"/>
                <a:cs typeface="Arial"/>
                <a:sym typeface="Arial"/>
              </a:rPr>
              <a:t>Properties that meet which condition are automatically denied penalty mitigation?</a:t>
            </a:r>
            <a:endParaRPr kumimoji="0" sz="40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E0EEB3DB-E3F4-3466-BACE-9EAB3A5B05D2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7F2B8-A337-1ED8-2910-C78520853C33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One fraud removal and less than 30% suspicious reviews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80645A7F-5160-71BA-45F0-144CA90FF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F412D-753B-1B75-EDA0-C686ADDFB2A5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Multiple fraud removals from different members within 365 days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3CB293E-A77D-D9ED-B40C-792E9EA3942C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AA9FC4-AFA6-7391-E57A-047BB90E0462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No previous violations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07AD139D-370D-A032-F3ED-A12BF494BEE8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380175-B0AF-1497-7EC1-4E0D4B7CE366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2 previous GCF submissions with 2 different years in the timestamps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CACDD-B82D-C24B-2417-0DF35F56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AC838E-FB7A-501F-006A-A510A298053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226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D4F73-56E7-0BD2-EEC7-FECC429E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7A047-A398-BAB2-9804-910055211BB1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AFF3C6-192B-E3F4-A6FE-2196BBE5679E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0350B-5B43-5878-9F83-4BC0B0450D61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What is the standard response macro used when mitigation is denied?</a:t>
            </a:r>
            <a:endParaRPr kumimoji="0" sz="40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A56F3BA5-BF89-7D51-647A-31AF1876A31E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0C43BA-E24C-1157-023A-7F444BC3C08E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Owner :: CI :: Mitigation :: Send to GCF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B98AE00C-1409-9FB8-BE7D-59B8F3CB94DB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5D0EE8-41CD-131B-069F-09F4F3740181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Owner :: CI :: Mitigation :: Completed GCF, not eligible for mitigation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4171F38-C9E5-27D6-ED72-F00B3D80852B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F245DE-AB1A-6DA0-D16F-58B700963CD9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Owner :: CI :: Mitigation :: Granted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EA07E531-CEC8-C7BB-B6BC-D7BF0A9674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65D9AB-F7E4-F3E7-B179-B701C200DE8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Owner :: CI :: Penalty Removal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B684A-B957-C248-C850-9F5D704E08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B92259-C258-580E-507B-3D2D164ED087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080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09940-44EC-60DA-61C7-5352C741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C31AD9-72F6-5AC0-B2AD-11395FE2977C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15C9CA-A2AF-5FCC-711A-96659137C1ED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839D6A-D268-DB06-D0E9-279148D7E645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FDD38-A2CD-DE2B-B7F5-96ABCC444A36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F66B93-3D5E-FF41-06F4-BC455050E664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9D9DB-0050-16E7-52C0-02B529C6C5D1}"/>
              </a:ext>
            </a:extLst>
          </p:cNvPr>
          <p:cNvSpPr txBox="1"/>
          <p:nvPr/>
        </p:nvSpPr>
        <p:spPr>
          <a:xfrm>
            <a:off x="1564165" y="3527988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>
                <a:solidFill>
                  <a:srgbClr val="002B11"/>
                </a:solidFill>
                <a:latin typeface="Poppins"/>
                <a:cs typeface="Arial"/>
                <a:sym typeface="Arial"/>
              </a:rPr>
              <a:t>Technical issues with the GCF should be escalated to Investigators only if the violations are severe.</a:t>
            </a:r>
            <a:endParaRPr kumimoji="0" sz="40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28DBDB-DBEA-7309-C104-1A16033AD3CD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B9A951-38D5-D595-DB30-97FC77B1497B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7F374A-3E86-814D-510A-BA2136D5BCC7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94DCD-ED12-819F-CCE7-235B78BD3AF3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5A924E-DE11-5564-1422-D92D15B11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258551" y="3815726"/>
            <a:ext cx="1601449" cy="1747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A0FC2A6-6008-6889-A3A6-01BE866B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439941" y="7405048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5660C0-AECD-6AA6-29C8-775EF08FC50B}"/>
              </a:ext>
            </a:extLst>
          </p:cNvPr>
          <p:cNvSpPr/>
          <p:nvPr/>
        </p:nvSpPr>
        <p:spPr>
          <a:xfrm>
            <a:off x="11561304" y="6330812"/>
            <a:ext cx="6345696" cy="329278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E2EB16-C4A6-32F7-6D90-20301DBE4306}"/>
              </a:ext>
            </a:extLst>
          </p:cNvPr>
          <p:cNvSpPr txBox="1"/>
          <p:nvPr/>
        </p:nvSpPr>
        <p:spPr>
          <a:xfrm>
            <a:off x="11675380" y="6853817"/>
            <a:ext cx="6117543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0" i="0" u="none" strike="noStrike" cap="none" spc="0" normalizeH="0" baseline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cs typeface="Arial"/>
              </a:defRPr>
            </a:lvl1pPr>
          </a:lstStyle>
          <a:p>
            <a:r>
              <a:rPr lang="en-US"/>
              <a:t>If the form fails and the violations are severe (e.g., vandalism, paid reviews, or bullying), escalate the ticket to Investigators for potential manual mitigation.</a:t>
            </a:r>
            <a:endParaRPr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10008-706B-4A6D-5441-A9ACE8F29782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09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21327-63F3-2E32-D837-FC742CF5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4841D-6E23-DA11-5D94-B37B9601C5A6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C18690-1A11-96DC-283A-AF2E016EC655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151D8-F583-5F11-C7B1-7A7B6D420051}"/>
              </a:ext>
            </a:extLst>
          </p:cNvPr>
          <p:cNvSpPr txBox="1"/>
          <p:nvPr/>
        </p:nvSpPr>
        <p:spPr>
          <a:xfrm>
            <a:off x="1510086" y="16802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4000" b="1">
                <a:solidFill>
                  <a:srgbClr val="002B11"/>
                </a:solidFill>
                <a:latin typeface="Poppins"/>
                <a:cs typeface="Arial"/>
                <a:sym typeface="Arial"/>
              </a:rPr>
              <a:t>Which of the following is NOT an eligibility criterion for auto-mitigation?</a:t>
            </a:r>
            <a:endParaRPr kumimoji="0" sz="4000" b="1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773B50C7-8CDE-A913-7C6D-C358F084BE52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88CC3-C653-2F6F-57FD-D9AE5CF0113F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rgbClr val="002B11"/>
                </a:solidFill>
                <a:latin typeface="Poppins"/>
                <a:cs typeface="Arial"/>
                <a:sym typeface="Arial"/>
              </a:rPr>
              <a:t>Low fraud volume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3C6FA782-3318-42BD-2FA2-20DF964B2AF9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E8E15C-53BD-5B32-A2F7-531B482860D8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Single source violation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A1EBF33B-6254-AEC0-889A-439E3445412B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832277-E370-B56C-A172-196D1623D567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More than two fraud removals from different members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ADFBF34A-C490-9791-C1BA-E44E21DE25E7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6CCB36-C820-CF88-6B7C-76DF761DBA1C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lvl="0">
              <a:defRPr/>
            </a:pPr>
            <a:r>
              <a:rPr lang="en-US">
                <a:cs typeface="Arial"/>
                <a:sym typeface="Arial"/>
              </a:rPr>
              <a:t>Suspicious activity with 29% or less reviews removed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2DCA98-6595-ABCF-2C7B-67A049A5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7275" y="1935947"/>
            <a:ext cx="1601449" cy="1747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8635E3-10EC-2951-6596-62EA6B45BDBE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41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b9b3e-a026-48a2-bdfc-bbf57372bf68">
      <Terms xmlns="http://schemas.microsoft.com/office/infopath/2007/PartnerControls"/>
    </lcf76f155ced4ddcb4097134ff3c332f>
    <TaxCatchAll xmlns="363a3933-3acd-4138-81fd-92928eeda28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E4AE8D3AC874580C728DBD6C58F20" ma:contentTypeVersion="16" ma:contentTypeDescription="Create a new document." ma:contentTypeScope="" ma:versionID="006169719bc193b9aed0450dc1fb951c">
  <xsd:schema xmlns:xsd="http://www.w3.org/2001/XMLSchema" xmlns:xs="http://www.w3.org/2001/XMLSchema" xmlns:p="http://schemas.microsoft.com/office/2006/metadata/properties" xmlns:ns2="363a3933-3acd-4138-81fd-92928eeda287" xmlns:ns3="55fb9b3e-a026-48a2-bdfc-bbf57372bf68" targetNamespace="http://schemas.microsoft.com/office/2006/metadata/properties" ma:root="true" ma:fieldsID="dad33e39320f44d79dd0383e43ad2fe2" ns2:_="" ns3:_="">
    <xsd:import namespace="363a3933-3acd-4138-81fd-92928eeda287"/>
    <xsd:import namespace="55fb9b3e-a026-48a2-bdfc-bbf57372bf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a3933-3acd-4138-81fd-92928eeda2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b6606f3-8e38-4bb2-982d-ae60526f985d}" ma:internalName="TaxCatchAll" ma:showField="CatchAllData" ma:web="363a3933-3acd-4138-81fd-92928eeda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b9b3e-a026-48a2-bdfc-bbf57372b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d924c95-84b7-4d1c-8a87-b591b54e0c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6BC563-B348-40BB-ABD0-63EECC7047CF}">
  <ds:schemaRefs>
    <ds:schemaRef ds:uri="363a3933-3acd-4138-81fd-92928eeda287"/>
    <ds:schemaRef ds:uri="55fb9b3e-a026-48a2-bdfc-bbf57372bf6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CF9DF0E-4479-4DC0-B24D-41AFDC5A26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93E276-E071-4553-AE21-BA87EFC25A01}">
  <ds:schemaRefs>
    <ds:schemaRef ds:uri="363a3933-3acd-4138-81fd-92928eeda287"/>
    <ds:schemaRef ds:uri="55fb9b3e-a026-48a2-bdfc-bbf57372bf6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29</Slides>
  <Notes>15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GTS Focus</dc:title>
  <cp:revision>1</cp:revision>
  <dcterms:created xsi:type="dcterms:W3CDTF">2006-08-16T00:00:00Z</dcterms:created>
  <dcterms:modified xsi:type="dcterms:W3CDTF">2026-09-21T14:59:19Z</dcterms:modified>
  <dc:identifier>DAHJphC7R98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0x01010080EE4AE8D3AC874580C728DBD6C58F20</vt:lpwstr>
  </property>
  <property fmtid="{D5CDD505-2E9C-101B-9397-08002B2CF9AE}" pid="3" name="MediaServiceImageTags">
    <vt:lpwstr/>
  </property>
</Properties>
</file>