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18"/>
  </p:notesMasterIdLst>
  <p:sldIdLst>
    <p:sldId id="345" r:id="rId3"/>
    <p:sldId id="348" r:id="rId4"/>
    <p:sldId id="304" r:id="rId5"/>
    <p:sldId id="305" r:id="rId6"/>
    <p:sldId id="257" r:id="rId7"/>
    <p:sldId id="333" r:id="rId8"/>
    <p:sldId id="334" r:id="rId9"/>
    <p:sldId id="335" r:id="rId10"/>
    <p:sldId id="336" r:id="rId11"/>
    <p:sldId id="337" r:id="rId12"/>
    <p:sldId id="338" r:id="rId13"/>
    <p:sldId id="339" r:id="rId14"/>
    <p:sldId id="296" r:id="rId15"/>
    <p:sldId id="324" r:id="rId16"/>
    <p:sldId id="347" r:id="rId17"/>
  </p:sldIdLst>
  <p:sldSz cx="18288000" cy="10287000"/>
  <p:notesSz cx="6858000" cy="9144000"/>
  <p:embeddedFontLst>
    <p:embeddedFont>
      <p:font typeface="Poppins" panose="00000500000000000000" pitchFamily="2" charset="0"/>
      <p:regular r:id="rId19"/>
      <p:bold r:id="rId20"/>
      <p:italic r:id="rId21"/>
      <p:boldItalic r:id="rId22"/>
    </p:embeddedFont>
    <p:embeddedFont>
      <p:font typeface="Poppins Black" panose="00000A00000000000000" pitchFamily="2" charset="0"/>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AE53-A5C0-7019-264B-F90CA0F09934}" name="Harikrishnan B" initials="HB" userId="Harikrishnan B" providerId="None"/>
  <p188:author id="{601739CD-6BD1-BAA4-2804-D2A8DA1BC46A}" name="Anupama Chatti" initials="AC" userId="S::chaanupa@sutherlandglobal.com::8d317b31-7766-4d69-bc0a-0192281c33a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BCE4"/>
    <a:srgbClr val="4A4A4A"/>
    <a:srgbClr val="D953FF"/>
    <a:srgbClr val="9ADFDF"/>
    <a:srgbClr val="23EEBE"/>
    <a:srgbClr val="FF57E6"/>
    <a:srgbClr val="FFED0E"/>
    <a:srgbClr val="CFFF21"/>
    <a:srgbClr val="5FEAFF"/>
    <a:srgbClr val="002B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5033" autoAdjust="0"/>
  </p:normalViewPr>
  <p:slideViewPr>
    <p:cSldViewPr>
      <p:cViewPr varScale="1">
        <p:scale>
          <a:sx n="50" d="100"/>
          <a:sy n="50" d="100"/>
        </p:scale>
        <p:origin x="874"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font" Target="fonts/font3.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28" Type="http://schemas.microsoft.com/office/2018/10/relationships/authors" Target="authors.xml"/><Relationship Id="rId10" Type="http://schemas.openxmlformats.org/officeDocument/2006/relationships/slide" Target="slides/slide8.xml"/><Relationship Id="rId19"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93075B-63E9-4190-822D-12D94F2C201A}" type="datetimeFigureOut">
              <a:rPr lang="en-US" smtClean="0"/>
              <a:t>8/21/2026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C8D9EE-DC96-4F1C-BCAC-A65D5AD1D43F}" type="slidenum">
              <a:rPr lang="en-US" smtClean="0"/>
              <a:t>‹#›</a:t>
            </a:fld>
            <a:endParaRPr lang="en-US"/>
          </a:p>
        </p:txBody>
      </p:sp>
    </p:spTree>
    <p:extLst>
      <p:ext uri="{BB962C8B-B14F-4D97-AF65-F5344CB8AC3E}">
        <p14:creationId xmlns:p14="http://schemas.microsoft.com/office/powerpoint/2010/main" val="2445007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C8D9EE-DC96-4F1C-BCAC-A65D5AD1D43F}" type="slidenum">
              <a:rPr lang="en-US" smtClean="0"/>
              <a:t>3</a:t>
            </a:fld>
            <a:endParaRPr lang="en-US"/>
          </a:p>
        </p:txBody>
      </p:sp>
    </p:spTree>
    <p:extLst>
      <p:ext uri="{BB962C8B-B14F-4D97-AF65-F5344CB8AC3E}">
        <p14:creationId xmlns:p14="http://schemas.microsoft.com/office/powerpoint/2010/main" val="3937143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C8D9EE-DC96-4F1C-BCAC-A65D5AD1D43F}" type="slidenum">
              <a:rPr lang="en-US" smtClean="0"/>
              <a:t>4</a:t>
            </a:fld>
            <a:endParaRPr lang="en-US"/>
          </a:p>
        </p:txBody>
      </p:sp>
    </p:spTree>
    <p:extLst>
      <p:ext uri="{BB962C8B-B14F-4D97-AF65-F5344CB8AC3E}">
        <p14:creationId xmlns:p14="http://schemas.microsoft.com/office/powerpoint/2010/main" val="571614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4260851"/>
            <a:ext cx="15544800" cy="2940050"/>
          </a:xfrm>
        </p:spPr>
        <p:txBody>
          <a:bodyPr/>
          <a:lstStyle/>
          <a:p>
            <a:r>
              <a:rPr lang="en-US"/>
              <a:t>Click to edit Master title style</a:t>
            </a:r>
          </a:p>
        </p:txBody>
      </p:sp>
      <p:sp>
        <p:nvSpPr>
          <p:cNvPr id="3" name="Subtitle 2"/>
          <p:cNvSpPr>
            <a:spLocks noGrp="1"/>
          </p:cNvSpPr>
          <p:nvPr>
            <p:ph type="subTitle" idx="1"/>
          </p:nvPr>
        </p:nvSpPr>
        <p:spPr>
          <a:xfrm>
            <a:off x="2743200" y="7772400"/>
            <a:ext cx="12801600" cy="3505200"/>
          </a:xfrm>
        </p:spPr>
        <p:txBody>
          <a:bodyPr/>
          <a:lstStyle>
            <a:lvl1pPr marL="0" indent="0" algn="ctr">
              <a:buNone/>
              <a:defRPr>
                <a:solidFill>
                  <a:schemeClr val="tx1">
                    <a:tint val="75000"/>
                  </a:schemeClr>
                </a:solidFill>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823096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40095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626" y="8813801"/>
            <a:ext cx="15544800" cy="2724150"/>
          </a:xfrm>
        </p:spPr>
        <p:txBody>
          <a:bodyPr anchor="t"/>
          <a:lstStyle>
            <a:lvl1pPr algn="l">
              <a:defRPr sz="8000" b="1" cap="all"/>
            </a:lvl1pPr>
          </a:lstStyle>
          <a:p>
            <a:r>
              <a:rPr lang="en-US"/>
              <a:t>Click to edit Master title style</a:t>
            </a:r>
          </a:p>
        </p:txBody>
      </p:sp>
      <p:sp>
        <p:nvSpPr>
          <p:cNvPr id="3" name="Text Placeholder 2"/>
          <p:cNvSpPr>
            <a:spLocks noGrp="1"/>
          </p:cNvSpPr>
          <p:nvPr>
            <p:ph type="body" idx="1"/>
          </p:nvPr>
        </p:nvSpPr>
        <p:spPr>
          <a:xfrm>
            <a:off x="1444626" y="5813427"/>
            <a:ext cx="15544800" cy="3000374"/>
          </a:xfrm>
        </p:spPr>
        <p:txBody>
          <a:bodyPr anchor="b"/>
          <a:lstStyle>
            <a:lvl1pPr marL="0" indent="0">
              <a:buNone/>
              <a:defRPr sz="4000">
                <a:solidFill>
                  <a:schemeClr val="tx1">
                    <a:tint val="7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2834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3200401"/>
            <a:ext cx="8077200" cy="9051926"/>
          </a:xfrm>
        </p:spPr>
        <p:txBody>
          <a:bodyPr/>
          <a:lstStyle>
            <a:lvl1pPr>
              <a:defRPr sz="5600"/>
            </a:lvl1pPr>
            <a:lvl2pPr>
              <a:defRPr sz="4800"/>
            </a:lvl2pPr>
            <a:lvl3pPr>
              <a:defRPr sz="40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96400" y="3200401"/>
            <a:ext cx="8077200" cy="9051926"/>
          </a:xfrm>
        </p:spPr>
        <p:txBody>
          <a:bodyPr/>
          <a:lstStyle>
            <a:lvl1pPr>
              <a:defRPr sz="5600"/>
            </a:lvl1pPr>
            <a:lvl2pPr>
              <a:defRPr sz="4800"/>
            </a:lvl2pPr>
            <a:lvl3pPr>
              <a:defRPr sz="40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901418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3070226"/>
            <a:ext cx="8080376" cy="12795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914400" y="4349750"/>
            <a:ext cx="8080376" cy="7902576"/>
          </a:xfrm>
        </p:spPr>
        <p:txBody>
          <a:bodyPr/>
          <a:lstStyle>
            <a:lvl1pPr>
              <a:defRPr sz="48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90051" y="3070226"/>
            <a:ext cx="8083550" cy="12795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9290051" y="4349750"/>
            <a:ext cx="8083550" cy="7902576"/>
          </a:xfrm>
        </p:spPr>
        <p:txBody>
          <a:bodyPr/>
          <a:lstStyle>
            <a:lvl1pPr>
              <a:defRPr sz="48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8139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132997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02511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1" y="546100"/>
            <a:ext cx="6016626" cy="2324100"/>
          </a:xfrm>
        </p:spPr>
        <p:txBody>
          <a:bodyPr anchor="b"/>
          <a:lstStyle>
            <a:lvl1pPr algn="l">
              <a:defRPr sz="4000" b="1"/>
            </a:lvl1pPr>
          </a:lstStyle>
          <a:p>
            <a:r>
              <a:rPr lang="en-US"/>
              <a:t>Click to edit Master title style</a:t>
            </a:r>
          </a:p>
        </p:txBody>
      </p:sp>
      <p:sp>
        <p:nvSpPr>
          <p:cNvPr id="3" name="Content Placeholder 2"/>
          <p:cNvSpPr>
            <a:spLocks noGrp="1"/>
          </p:cNvSpPr>
          <p:nvPr>
            <p:ph idx="1"/>
          </p:nvPr>
        </p:nvSpPr>
        <p:spPr>
          <a:xfrm>
            <a:off x="7150100" y="546101"/>
            <a:ext cx="10223500" cy="11706226"/>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4401" y="2870201"/>
            <a:ext cx="6016626" cy="9382126"/>
          </a:xfrm>
        </p:spPr>
        <p:txBody>
          <a:bodyPr/>
          <a:lstStyle>
            <a:lvl1pPr marL="0" indent="0">
              <a:buNone/>
              <a:defRPr sz="28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18380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4576" y="9601200"/>
            <a:ext cx="10972800" cy="1133476"/>
          </a:xfrm>
        </p:spPr>
        <p:txBody>
          <a:bodyPr anchor="b"/>
          <a:lstStyle>
            <a:lvl1pPr algn="l">
              <a:defRPr sz="4000" b="1"/>
            </a:lvl1pPr>
          </a:lstStyle>
          <a:p>
            <a:r>
              <a:rPr lang="en-US"/>
              <a:t>Click to edit Master title style</a:t>
            </a:r>
          </a:p>
        </p:txBody>
      </p:sp>
      <p:sp>
        <p:nvSpPr>
          <p:cNvPr id="3" name="Picture Placeholder 2"/>
          <p:cNvSpPr>
            <a:spLocks noGrp="1"/>
          </p:cNvSpPr>
          <p:nvPr>
            <p:ph type="pic" idx="1"/>
          </p:nvPr>
        </p:nvSpPr>
        <p:spPr>
          <a:xfrm>
            <a:off x="3584576" y="1225550"/>
            <a:ext cx="10972800" cy="822960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3584576" y="10734676"/>
            <a:ext cx="10972800" cy="1609724"/>
          </a:xfrm>
        </p:spPr>
        <p:txBody>
          <a:bodyPr/>
          <a:lstStyle>
            <a:lvl1pPr marL="0" indent="0">
              <a:buNone/>
              <a:defRPr sz="28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12060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51356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8800" y="549277"/>
            <a:ext cx="4114800" cy="117030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549277"/>
            <a:ext cx="12039600" cy="11703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5226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549276"/>
            <a:ext cx="16459200" cy="2286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4400" y="3200401"/>
            <a:ext cx="16459200" cy="90519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14400" y="12712701"/>
            <a:ext cx="4267200"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5BCAD085-E8A6-8845-BD4E-CB4CCA059FC4}" type="datetimeFigureOut">
              <a:rPr lang="en-US" smtClean="0"/>
              <a:t>8/21/2026</a:t>
            </a:fld>
            <a:endParaRPr lang="en-US"/>
          </a:p>
        </p:txBody>
      </p:sp>
      <p:sp>
        <p:nvSpPr>
          <p:cNvPr id="5" name="Footer Placeholder 4"/>
          <p:cNvSpPr>
            <a:spLocks noGrp="1"/>
          </p:cNvSpPr>
          <p:nvPr>
            <p:ph type="ftr" sz="quarter" idx="3"/>
          </p:nvPr>
        </p:nvSpPr>
        <p:spPr>
          <a:xfrm>
            <a:off x="6248400" y="12712701"/>
            <a:ext cx="5791200"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3106400" y="12712701"/>
            <a:ext cx="4267200"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85040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8800" kern="1200">
          <a:solidFill>
            <a:schemeClr val="tx1"/>
          </a:solidFill>
          <a:latin typeface="+mj-lt"/>
          <a:ea typeface="+mj-ea"/>
          <a:cs typeface="+mj-cs"/>
        </a:defRPr>
      </a:lvl1pPr>
    </p:titleStyle>
    <p:bodyStyle>
      <a:lvl1pPr marL="685800" indent="-685800" algn="l" defTabSz="914400" rtl="0" eaLnBrk="1" latinLnBrk="0" hangingPunct="1">
        <a:spcBef>
          <a:spcPct val="20000"/>
        </a:spcBef>
        <a:buFont typeface="Arial"/>
        <a:buChar char="•"/>
        <a:defRPr sz="6400" kern="1200">
          <a:solidFill>
            <a:schemeClr val="tx1"/>
          </a:solidFill>
          <a:latin typeface="+mn-lt"/>
          <a:ea typeface="+mn-ea"/>
          <a:cs typeface="+mn-cs"/>
        </a:defRPr>
      </a:lvl1pPr>
      <a:lvl2pPr marL="1485900" indent="-571500" algn="l" defTabSz="914400" rtl="0" eaLnBrk="1" latinLnBrk="0" hangingPunct="1">
        <a:spcBef>
          <a:spcPct val="20000"/>
        </a:spcBef>
        <a:buFont typeface="Arial"/>
        <a:buChar char="–"/>
        <a:defRPr sz="5600" kern="1200">
          <a:solidFill>
            <a:schemeClr val="tx1"/>
          </a:solidFill>
          <a:latin typeface="+mn-lt"/>
          <a:ea typeface="+mn-ea"/>
          <a:cs typeface="+mn-cs"/>
        </a:defRPr>
      </a:lvl2pPr>
      <a:lvl3pPr marL="2286000" indent="-457200" algn="l" defTabSz="914400" rtl="0" eaLnBrk="1" latinLnBrk="0" hangingPunct="1">
        <a:spcBef>
          <a:spcPct val="20000"/>
        </a:spcBef>
        <a:buFont typeface="Arial"/>
        <a:buChar char="•"/>
        <a:defRPr sz="4800" kern="1200">
          <a:solidFill>
            <a:schemeClr val="tx1"/>
          </a:solidFill>
          <a:latin typeface="+mn-lt"/>
          <a:ea typeface="+mn-ea"/>
          <a:cs typeface="+mn-cs"/>
        </a:defRPr>
      </a:lvl3pPr>
      <a:lvl4pPr marL="3200400" indent="-457200" algn="l" defTabSz="914400" rtl="0" eaLnBrk="1" latinLnBrk="0" hangingPunct="1">
        <a:spcBef>
          <a:spcPct val="20000"/>
        </a:spcBef>
        <a:buFont typeface="Arial"/>
        <a:buChar char="–"/>
        <a:defRPr sz="4000" kern="1200">
          <a:solidFill>
            <a:schemeClr val="tx1"/>
          </a:solidFill>
          <a:latin typeface="+mn-lt"/>
          <a:ea typeface="+mn-ea"/>
          <a:cs typeface="+mn-cs"/>
        </a:defRPr>
      </a:lvl4pPr>
      <a:lvl5pPr marL="4114800" indent="-457200" algn="l" defTabSz="914400" rtl="0" eaLnBrk="1" latinLnBrk="0" hangingPunct="1">
        <a:spcBef>
          <a:spcPct val="20000"/>
        </a:spcBef>
        <a:buFont typeface="Arial"/>
        <a:buChar char="»"/>
        <a:defRPr sz="4000" kern="1200">
          <a:solidFill>
            <a:schemeClr val="tx1"/>
          </a:solidFill>
          <a:latin typeface="+mn-lt"/>
          <a:ea typeface="+mn-ea"/>
          <a:cs typeface="+mn-cs"/>
        </a:defRPr>
      </a:lvl5pPr>
      <a:lvl6pPr marL="5029200" indent="-457200" algn="l" defTabSz="914400" rtl="0" eaLnBrk="1" latinLnBrk="0" hangingPunct="1">
        <a:spcBef>
          <a:spcPct val="20000"/>
        </a:spcBef>
        <a:buFont typeface="Arial"/>
        <a:buChar char="•"/>
        <a:defRPr sz="4000" kern="1200">
          <a:solidFill>
            <a:schemeClr val="tx1"/>
          </a:solidFill>
          <a:latin typeface="+mn-lt"/>
          <a:ea typeface="+mn-ea"/>
          <a:cs typeface="+mn-cs"/>
        </a:defRPr>
      </a:lvl6pPr>
      <a:lvl7pPr marL="5943600" indent="-457200" algn="l" defTabSz="914400" rtl="0" eaLnBrk="1" latinLnBrk="0" hangingPunct="1">
        <a:spcBef>
          <a:spcPct val="20000"/>
        </a:spcBef>
        <a:buFont typeface="Arial"/>
        <a:buChar char="•"/>
        <a:defRPr sz="4000" kern="1200">
          <a:solidFill>
            <a:schemeClr val="tx1"/>
          </a:solidFill>
          <a:latin typeface="+mn-lt"/>
          <a:ea typeface="+mn-ea"/>
          <a:cs typeface="+mn-cs"/>
        </a:defRPr>
      </a:lvl7pPr>
      <a:lvl8pPr marL="6858000" indent="-457200" algn="l" defTabSz="914400" rtl="0" eaLnBrk="1" latinLnBrk="0" hangingPunct="1">
        <a:spcBef>
          <a:spcPct val="20000"/>
        </a:spcBef>
        <a:buFont typeface="Arial"/>
        <a:buChar char="•"/>
        <a:defRPr sz="4000" kern="1200">
          <a:solidFill>
            <a:schemeClr val="tx1"/>
          </a:solidFill>
          <a:latin typeface="+mn-lt"/>
          <a:ea typeface="+mn-ea"/>
          <a:cs typeface="+mn-cs"/>
        </a:defRPr>
      </a:lvl8pPr>
      <a:lvl9pPr marL="7772400" indent="-457200" algn="l" defTabSz="914400" rtl="0" eaLnBrk="1" latinLnBrk="0" hangingPunct="1">
        <a:spcBef>
          <a:spcPct val="20000"/>
        </a:spcBef>
        <a:buFont typeface="Arial"/>
        <a:buChar char="•"/>
        <a:defRPr sz="4000" kern="1200">
          <a:solidFill>
            <a:schemeClr val="tx1"/>
          </a:solidFill>
          <a:latin typeface="+mn-lt"/>
          <a:ea typeface="+mn-ea"/>
          <a:cs typeface="+mn-cs"/>
        </a:defRPr>
      </a:lvl9pPr>
    </p:bodyStyle>
    <p:other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6.svg"/><Relationship Id="rId7" Type="http://schemas.openxmlformats.org/officeDocument/2006/relationships/slide" Target="slide7.xml"/><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10.xml"/><Relationship Id="rId4" Type="http://schemas.openxmlformats.org/officeDocument/2006/relationships/image" Target="../media/image7.png"/><Relationship Id="rId9" Type="http://schemas.openxmlformats.org/officeDocument/2006/relationships/slide" Target="slide9.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image" Target="../media/image10.sv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image" Target="../media/image10.svg"/><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image" Target="../media/image10.sv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image" Target="../media/image10.svg"/><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image" Target="../media/image10.svg"/><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sv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hyperlink" Target="https://tripadvisor.atlassian.net/wiki/spaces/ASK/pages/300090472/03.+Fraud+support+glossary"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hyperlink" Target="https://www.vecteezy.com/png/9398573-magnifying-glass-clipart-design-illustration" TargetMode="External"/><Relationship Id="rId2" Type="http://schemas.openxmlformats.org/officeDocument/2006/relationships/image" Target="../media/image15.png"/><Relationship Id="rId1" Type="http://schemas.openxmlformats.org/officeDocument/2006/relationships/slideLayout" Target="../slideLayouts/slideLayout18.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hyperlink" Target="https://sandhyajobbin.github.io/EvidenceLockbox/"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6D37"/>
        </a:solidFill>
        <a:effectLst/>
      </p:bgPr>
    </p:bg>
    <p:spTree>
      <p:nvGrpSpPr>
        <p:cNvPr id="1" name="">
          <a:extLst>
            <a:ext uri="{FF2B5EF4-FFF2-40B4-BE49-F238E27FC236}">
              <a16:creationId xmlns:a16="http://schemas.microsoft.com/office/drawing/2014/main" id="{96891713-AEC8-A543-8DEF-B2386AD7A35D}"/>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DE17B234-66C6-F28D-1135-86AE625F33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Tree>
    <p:extLst>
      <p:ext uri="{BB962C8B-B14F-4D97-AF65-F5344CB8AC3E}">
        <p14:creationId xmlns:p14="http://schemas.microsoft.com/office/powerpoint/2010/main" val="2096993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6D37"/>
        </a:solidFill>
        <a:effectLst/>
      </p:bgPr>
    </p:bg>
    <p:spTree>
      <p:nvGrpSpPr>
        <p:cNvPr id="1" name="">
          <a:extLst>
            <a:ext uri="{FF2B5EF4-FFF2-40B4-BE49-F238E27FC236}">
              <a16:creationId xmlns:a16="http://schemas.microsoft.com/office/drawing/2014/main" id="{E25D16EA-73EA-17F8-BA60-4BA88BCA2B7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2C443C-695D-81FD-D59A-8B9C25F33C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34"/>
            <a:ext cx="18288000" cy="10292468"/>
          </a:xfrm>
          <a:prstGeom prst="rect">
            <a:avLst/>
          </a:prstGeom>
        </p:spPr>
      </p:pic>
    </p:spTree>
    <p:extLst>
      <p:ext uri="{BB962C8B-B14F-4D97-AF65-F5344CB8AC3E}">
        <p14:creationId xmlns:p14="http://schemas.microsoft.com/office/powerpoint/2010/main" val="443151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Freeform 4">
            <a:extLst>
              <a:ext uri="{FF2B5EF4-FFF2-40B4-BE49-F238E27FC236}">
                <a16:creationId xmlns:a16="http://schemas.microsoft.com/office/drawing/2014/main" id="{43E640C5-569E-781A-AEBE-13E384339B6D}"/>
              </a:ext>
            </a:extLst>
          </p:cNvPr>
          <p:cNvSpPr/>
          <p:nvPr/>
        </p:nvSpPr>
        <p:spPr>
          <a:xfrm rot="5554844">
            <a:off x="-2642766" y="2763952"/>
            <a:ext cx="9056866"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2"/>
          <p:cNvSpPr txBox="1"/>
          <p:nvPr/>
        </p:nvSpPr>
        <p:spPr>
          <a:xfrm>
            <a:off x="1000000" y="736991"/>
            <a:ext cx="16200000" cy="89255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en-US" sz="5200" b="1"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rPr>
              <a:t>FS vs. FPS Deep Dive</a:t>
            </a:r>
            <a:endParaRPr kumimoji="0" sz="5200" b="1"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sym typeface="Arial"/>
            </a:endParaRPr>
          </a:p>
        </p:txBody>
      </p:sp>
      <p:grpSp>
        <p:nvGrpSpPr>
          <p:cNvPr id="23" name="Group 22">
            <a:extLst>
              <a:ext uri="{FF2B5EF4-FFF2-40B4-BE49-F238E27FC236}">
                <a16:creationId xmlns:a16="http://schemas.microsoft.com/office/drawing/2014/main" id="{689CE87F-711D-3F06-15B4-69C9ADE31367}"/>
              </a:ext>
            </a:extLst>
          </p:cNvPr>
          <p:cNvGrpSpPr/>
          <p:nvPr/>
        </p:nvGrpSpPr>
        <p:grpSpPr>
          <a:xfrm>
            <a:off x="1000000" y="2579259"/>
            <a:ext cx="7866800" cy="6679041"/>
            <a:chOff x="1000000" y="2579259"/>
            <a:chExt cx="7866800" cy="6679041"/>
          </a:xfrm>
          <a:effectLst>
            <a:outerShdw blurRad="50800" dist="38100" dir="5400000" algn="t" rotWithShape="0">
              <a:prstClr val="black">
                <a:alpha val="40000"/>
              </a:prstClr>
            </a:outerShdw>
          </a:effectLst>
        </p:grpSpPr>
        <p:sp>
          <p:nvSpPr>
            <p:cNvPr id="9" name="Rounded Rectangle 3">
              <a:extLst>
                <a:ext uri="{FF2B5EF4-FFF2-40B4-BE49-F238E27FC236}">
                  <a16:creationId xmlns:a16="http://schemas.microsoft.com/office/drawing/2014/main" id="{97F0C27C-98EE-ECC9-EC24-C7AB9A26579C}"/>
                </a:ext>
              </a:extLst>
            </p:cNvPr>
            <p:cNvSpPr/>
            <p:nvPr/>
          </p:nvSpPr>
          <p:spPr>
            <a:xfrm>
              <a:off x="1000000" y="2579259"/>
              <a:ext cx="7800000" cy="6553305"/>
            </a:xfrm>
            <a:prstGeom prst="roundRect">
              <a:avLst/>
            </a:prstGeom>
            <a:solidFill>
              <a:srgbClr val="9BF2FF"/>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4" name="Rounded Rectangle 3">
              <a:extLst>
                <a:ext uri="{FF2B5EF4-FFF2-40B4-BE49-F238E27FC236}">
                  <a16:creationId xmlns:a16="http://schemas.microsoft.com/office/drawing/2014/main" id="{1A268A0A-8B82-6671-8EBA-070C368C2CB5}"/>
                </a:ext>
              </a:extLst>
            </p:cNvPr>
            <p:cNvSpPr/>
            <p:nvPr/>
          </p:nvSpPr>
          <p:spPr>
            <a:xfrm>
              <a:off x="1066800" y="2704995"/>
              <a:ext cx="7800000" cy="6553305"/>
            </a:xfrm>
            <a:prstGeom prst="roundRect">
              <a:avLst/>
            </a:prstGeom>
            <a:ln>
              <a:solidFill>
                <a:srgbClr val="9BF2FF"/>
              </a:solidFill>
            </a:ln>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a:ln>
                  <a:noFill/>
                </a:ln>
                <a:solidFill>
                  <a:prstClr val="white"/>
                </a:solidFill>
                <a:effectLst/>
                <a:uLnTx/>
                <a:uFillTx/>
                <a:latin typeface="Calibri"/>
                <a:ea typeface="+mn-ea"/>
                <a:cs typeface="+mn-cs"/>
                <a:sym typeface="Arial"/>
              </a:endParaRPr>
            </a:p>
          </p:txBody>
        </p:sp>
      </p:grpSp>
      <p:sp>
        <p:nvSpPr>
          <p:cNvPr id="20" name="TextBox 19">
            <a:extLst>
              <a:ext uri="{FF2B5EF4-FFF2-40B4-BE49-F238E27FC236}">
                <a16:creationId xmlns:a16="http://schemas.microsoft.com/office/drawing/2014/main" id="{EFE97015-FC79-0290-B2C6-0E200DB63793}"/>
              </a:ext>
            </a:extLst>
          </p:cNvPr>
          <p:cNvSpPr txBox="1"/>
          <p:nvPr/>
        </p:nvSpPr>
        <p:spPr>
          <a:xfrm>
            <a:off x="1000000" y="1700761"/>
            <a:ext cx="1382634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rPr>
              <a:t>The Fraud Support team handles two conversational case types:</a:t>
            </a:r>
          </a:p>
        </p:txBody>
      </p:sp>
      <p:sp>
        <p:nvSpPr>
          <p:cNvPr id="8" name="TextBox 7">
            <a:extLst>
              <a:ext uri="{FF2B5EF4-FFF2-40B4-BE49-F238E27FC236}">
                <a16:creationId xmlns:a16="http://schemas.microsoft.com/office/drawing/2014/main" id="{B7C38C81-87EB-9A79-F296-3CA41C32D042}"/>
              </a:ext>
            </a:extLst>
          </p:cNvPr>
          <p:cNvSpPr txBox="1"/>
          <p:nvPr/>
        </p:nvSpPr>
        <p:spPr>
          <a:xfrm>
            <a:off x="1576800" y="3124153"/>
            <a:ext cx="6599999" cy="523220"/>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FS (Fraud Support) </a:t>
            </a:r>
            <a:endParaRPr kumimoji="0" sz="2800" b="1"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sp>
        <p:nvSpPr>
          <p:cNvPr id="12" name="TextBox 11">
            <a:extLst>
              <a:ext uri="{FF2B5EF4-FFF2-40B4-BE49-F238E27FC236}">
                <a16:creationId xmlns:a16="http://schemas.microsoft.com/office/drawing/2014/main" id="{C5F3CE18-303B-771A-8856-5702D82B3FCB}"/>
              </a:ext>
            </a:extLst>
          </p:cNvPr>
          <p:cNvSpPr txBox="1"/>
          <p:nvPr/>
        </p:nvSpPr>
        <p:spPr>
          <a:xfrm>
            <a:off x="1576800" y="4240276"/>
            <a:ext cx="6600000" cy="2075696"/>
          </a:xfrm>
          <a:prstGeom prst="rect">
            <a:avLst/>
          </a:prstGeom>
          <a:noFill/>
        </p:spPr>
        <p:txBody>
          <a:bodyPr wrap="square" anchor="t">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Content integrity issues where:</a:t>
            </a:r>
          </a:p>
          <a:p>
            <a:pPr marL="342900" marR="0" lvl="1" indent="-34290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No official notification (Fraud or Warning Letter) has been sent to the property.</a:t>
            </a:r>
          </a:p>
          <a:p>
            <a:pPr marL="342900" marR="0" lvl="1" indent="-34290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The property is not under any penalty.</a:t>
            </a:r>
          </a:p>
        </p:txBody>
      </p:sp>
      <p:grpSp>
        <p:nvGrpSpPr>
          <p:cNvPr id="24" name="Group 23">
            <a:extLst>
              <a:ext uri="{FF2B5EF4-FFF2-40B4-BE49-F238E27FC236}">
                <a16:creationId xmlns:a16="http://schemas.microsoft.com/office/drawing/2014/main" id="{6D2829DC-85B8-31D5-5191-E9ED6B3BD612}"/>
              </a:ext>
            </a:extLst>
          </p:cNvPr>
          <p:cNvGrpSpPr/>
          <p:nvPr/>
        </p:nvGrpSpPr>
        <p:grpSpPr>
          <a:xfrm>
            <a:off x="9400000" y="2579259"/>
            <a:ext cx="7897400" cy="6679041"/>
            <a:chOff x="9400000" y="2579259"/>
            <a:chExt cx="7897400" cy="6679041"/>
          </a:xfrm>
          <a:effectLst>
            <a:outerShdw blurRad="50800" dist="38100" dir="5400000" algn="t" rotWithShape="0">
              <a:prstClr val="black">
                <a:alpha val="40000"/>
              </a:prstClr>
            </a:outerShdw>
          </a:effectLst>
        </p:grpSpPr>
        <p:sp>
          <p:nvSpPr>
            <p:cNvPr id="15" name="Rounded Rectangle 6">
              <a:extLst>
                <a:ext uri="{FF2B5EF4-FFF2-40B4-BE49-F238E27FC236}">
                  <a16:creationId xmlns:a16="http://schemas.microsoft.com/office/drawing/2014/main" id="{5AC6F99B-9891-E5E7-1820-C54E5A94DC40}"/>
                </a:ext>
              </a:extLst>
            </p:cNvPr>
            <p:cNvSpPr/>
            <p:nvPr/>
          </p:nvSpPr>
          <p:spPr>
            <a:xfrm>
              <a:off x="9400000" y="2579259"/>
              <a:ext cx="7800000" cy="6545193"/>
            </a:xfrm>
            <a:prstGeom prst="roundRect">
              <a:avLst/>
            </a:prstGeom>
            <a:solidFill>
              <a:srgbClr val="FFED0E"/>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14" name="Rounded Rectangle 6">
              <a:extLst>
                <a:ext uri="{FF2B5EF4-FFF2-40B4-BE49-F238E27FC236}">
                  <a16:creationId xmlns:a16="http://schemas.microsoft.com/office/drawing/2014/main" id="{0565091E-3A5E-CA18-35A6-993B4B503CC7}"/>
                </a:ext>
              </a:extLst>
            </p:cNvPr>
            <p:cNvSpPr/>
            <p:nvPr/>
          </p:nvSpPr>
          <p:spPr>
            <a:xfrm>
              <a:off x="9497400" y="2713107"/>
              <a:ext cx="7800000" cy="6545193"/>
            </a:xfrm>
            <a:prstGeom prst="roundRect">
              <a:avLst/>
            </a:prstGeom>
            <a:ln>
              <a:solidFill>
                <a:srgbClr val="FFED0E"/>
              </a:solidFill>
            </a:ln>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7200" b="0" i="0" u="none" strike="noStrike" kern="0" cap="none" spc="0" normalizeH="0" baseline="0" noProof="0">
                <a:ln>
                  <a:noFill/>
                </a:ln>
                <a:solidFill>
                  <a:prstClr val="white"/>
                </a:solidFill>
                <a:effectLst/>
                <a:uLnTx/>
                <a:uFillTx/>
                <a:latin typeface="Calibri"/>
                <a:ea typeface="+mn-ea"/>
                <a:cs typeface="+mn-cs"/>
                <a:sym typeface="Arial"/>
              </a:endParaRPr>
            </a:p>
          </p:txBody>
        </p:sp>
      </p:grpSp>
      <p:sp>
        <p:nvSpPr>
          <p:cNvPr id="18" name="TextBox 17">
            <a:extLst>
              <a:ext uri="{FF2B5EF4-FFF2-40B4-BE49-F238E27FC236}">
                <a16:creationId xmlns:a16="http://schemas.microsoft.com/office/drawing/2014/main" id="{70EDEE41-EF69-EC00-B47C-D70A545B3B37}"/>
              </a:ext>
            </a:extLst>
          </p:cNvPr>
          <p:cNvSpPr txBox="1"/>
          <p:nvPr/>
        </p:nvSpPr>
        <p:spPr>
          <a:xfrm>
            <a:off x="10488000" y="3215082"/>
            <a:ext cx="6600000" cy="523220"/>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FPS (Fraud Penalty System)</a:t>
            </a:r>
            <a:endParaRPr kumimoji="0" sz="2800" b="1"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sp>
        <p:nvSpPr>
          <p:cNvPr id="22" name="TextBox 21">
            <a:extLst>
              <a:ext uri="{FF2B5EF4-FFF2-40B4-BE49-F238E27FC236}">
                <a16:creationId xmlns:a16="http://schemas.microsoft.com/office/drawing/2014/main" id="{BBA0E1E0-B2B2-72EC-1764-4761EBCFA04E}"/>
              </a:ext>
            </a:extLst>
          </p:cNvPr>
          <p:cNvSpPr txBox="1"/>
          <p:nvPr/>
        </p:nvSpPr>
        <p:spPr>
          <a:xfrm>
            <a:off x="10111200" y="3977824"/>
            <a:ext cx="6600000" cy="3091359"/>
          </a:xfrm>
          <a:prstGeom prst="rect">
            <a:avLst/>
          </a:prstGeom>
          <a:noFill/>
        </p:spPr>
        <p:txBody>
          <a:bodyPr wrap="square" anchor="t">
            <a:spAutoFit/>
          </a:bodyPr>
          <a:lstStyle>
            <a:defPPr marR="0" lvl="0" algn="l" rtl="0">
              <a:lnSpc>
                <a:spcPct val="100000"/>
              </a:lnSpc>
              <a:spcBef>
                <a:spcPts val="0"/>
              </a:spcBef>
              <a:spcAft>
                <a:spcPts val="0"/>
              </a:spcAft>
            </a:defPPr>
            <a:lvl1pPr fontAlgn="auto">
              <a:defRPr sz="2200">
                <a:latin typeface="Poppins" panose="00000500000000000000" pitchFamily="2" charset="0"/>
                <a:cs typeface="Poppins" panose="00000500000000000000" pitchFamily="2" charset="0"/>
              </a:defRPr>
            </a:lvl1pPr>
            <a:lvl2pPr marL="342900" indent="-342900" fontAlgn="auto">
              <a:buFont typeface="Arial" panose="020B0604020202020204" pitchFamily="34" charset="0"/>
              <a:buChar char="•"/>
              <a:defRPr sz="2200">
                <a:latin typeface="Poppins" panose="00000500000000000000" pitchFamily="2" charset="0"/>
                <a:cs typeface="Poppins" panose="00000500000000000000" pitchFamily="2" charset="0"/>
              </a:defRPr>
            </a:lvl2p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Conversation involve property owners who have:</a:t>
            </a:r>
          </a:p>
          <a:p>
            <a:pPr marL="342900" marR="0" lvl="1" indent="-34290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Received a Fraud Letter or Warning Letter.</a:t>
            </a:r>
          </a:p>
          <a:p>
            <a:pPr lvl="1">
              <a:lnSpc>
                <a:spcPct val="150000"/>
              </a:lnSpc>
              <a:buClr>
                <a:srgbClr val="000000"/>
              </a:buClr>
              <a:defRPr/>
            </a:pPr>
            <a:r>
              <a:rPr lang="en-US" dirty="0"/>
              <a:t>Questions about the property's fraudulent history or current fraud penalties.</a:t>
            </a:r>
          </a:p>
          <a:p>
            <a:pPr lvl="1">
              <a:lnSpc>
                <a:spcPct val="150000"/>
              </a:lnSpc>
              <a:buClr>
                <a:srgbClr val="000000"/>
              </a:buClr>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Had awards removed due to fraud.</a:t>
            </a:r>
          </a:p>
        </p:txBody>
      </p:sp>
      <p:pic>
        <p:nvPicPr>
          <p:cNvPr id="26" name="Picture 25">
            <a:extLst>
              <a:ext uri="{FF2B5EF4-FFF2-40B4-BE49-F238E27FC236}">
                <a16:creationId xmlns:a16="http://schemas.microsoft.com/office/drawing/2014/main" id="{C78F040F-DCEF-2B99-6359-D65E9B05A4DA}"/>
              </a:ext>
            </a:extLst>
          </p:cNvPr>
          <p:cNvPicPr>
            <a:picLocks noChangeAspect="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l="2033" t="34718" r="67406" b="34463"/>
          <a:stretch>
            <a:fillRect/>
          </a:stretch>
        </p:blipFill>
        <p:spPr>
          <a:xfrm flipH="1">
            <a:off x="6577601" y="6488350"/>
            <a:ext cx="2109199" cy="2534410"/>
          </a:xfrm>
          <a:prstGeom prst="rect">
            <a:avLst/>
          </a:prstGeom>
        </p:spPr>
      </p:pic>
      <p:pic>
        <p:nvPicPr>
          <p:cNvPr id="11" name="Picture 10">
            <a:extLst>
              <a:ext uri="{FF2B5EF4-FFF2-40B4-BE49-F238E27FC236}">
                <a16:creationId xmlns:a16="http://schemas.microsoft.com/office/drawing/2014/main" id="{4B5DB6A6-3FE2-3D52-7088-C5F8A95B7ECF}"/>
              </a:ext>
            </a:extLst>
          </p:cNvPr>
          <p:cNvPicPr>
            <a:picLocks noChangeAspect="1"/>
          </p:cNvPicPr>
          <p:nvPr/>
        </p:nvPicPr>
        <p:blipFill>
          <a:blip r:embed="rId5">
            <a:clrChange>
              <a:clrFrom>
                <a:srgbClr val="FEFEFE"/>
              </a:clrFrom>
              <a:clrTo>
                <a:srgbClr val="FEFEFE">
                  <a:alpha val="0"/>
                </a:srgbClr>
              </a:clrTo>
            </a:clrChange>
          </a:blip>
          <a:stretch>
            <a:fillRect/>
          </a:stretch>
        </p:blipFill>
        <p:spPr>
          <a:xfrm>
            <a:off x="15468600" y="6598154"/>
            <a:ext cx="1702884" cy="2534410"/>
          </a:xfrm>
          <a:prstGeom prst="rect">
            <a:avLst/>
          </a:prstGeom>
        </p:spPr>
      </p:pic>
      <p:sp>
        <p:nvSpPr>
          <p:cNvPr id="5" name="TextBox 4">
            <a:extLst>
              <a:ext uri="{FF2B5EF4-FFF2-40B4-BE49-F238E27FC236}">
                <a16:creationId xmlns:a16="http://schemas.microsoft.com/office/drawing/2014/main" id="{CC80407D-C675-42D3-1320-F4BFC668A337}"/>
              </a:ext>
            </a:extLst>
          </p:cNvPr>
          <p:cNvSpPr txBox="1"/>
          <p:nvPr/>
        </p:nvSpPr>
        <p:spPr>
          <a:xfrm>
            <a:off x="533400" y="9867900"/>
            <a:ext cx="7315200" cy="24622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T</a:t>
            </a:r>
            <a:r>
              <a:rPr kumimoji="0" lang="en-US"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ripadvisor</a:t>
            </a:r>
            <a:r>
              <a:rPr kumimoji="0"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 / F</a:t>
            </a:r>
            <a:r>
              <a:rPr kumimoji="0" lang="en-US"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raud Support</a:t>
            </a:r>
            <a:r>
              <a:rPr kumimoji="0"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 / </a:t>
            </a:r>
            <a:r>
              <a:rPr lang="en-US" sz="1600" spc="50" dirty="0">
                <a:solidFill>
                  <a:srgbClr val="8A8272"/>
                </a:solidFill>
                <a:latin typeface="Poppins" panose="00000500000000000000" pitchFamily="2" charset="0"/>
                <a:cs typeface="Poppins" panose="00000500000000000000" pitchFamily="2" charset="0"/>
              </a:rPr>
              <a:t>FS vs. FPS Deep Dive</a:t>
            </a:r>
            <a:endParaRPr kumimoji="0"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196EC-3EC2-A4ED-2778-B9EC45C31DFC}"/>
            </a:ext>
          </a:extLst>
        </p:cNvPr>
        <p:cNvGrpSpPr/>
        <p:nvPr/>
      </p:nvGrpSpPr>
      <p:grpSpPr>
        <a:xfrm>
          <a:off x="0" y="0"/>
          <a:ext cx="0" cy="0"/>
          <a:chOff x="0" y="0"/>
          <a:chExt cx="0" cy="0"/>
        </a:xfrm>
      </p:grpSpPr>
      <p:sp>
        <p:nvSpPr>
          <p:cNvPr id="97" name="Freeform 8">
            <a:extLst>
              <a:ext uri="{FF2B5EF4-FFF2-40B4-BE49-F238E27FC236}">
                <a16:creationId xmlns:a16="http://schemas.microsoft.com/office/drawing/2014/main" id="{99FD3158-27C2-E06D-34EA-CFB8ABFB9307}"/>
              </a:ext>
            </a:extLst>
          </p:cNvPr>
          <p:cNvSpPr/>
          <p:nvPr/>
        </p:nvSpPr>
        <p:spPr>
          <a:xfrm rot="13535020">
            <a:off x="-2435400" y="3882191"/>
            <a:ext cx="5403750" cy="4266046"/>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3">
            <a:extLst>
              <a:ext uri="{FF2B5EF4-FFF2-40B4-BE49-F238E27FC236}">
                <a16:creationId xmlns:a16="http://schemas.microsoft.com/office/drawing/2014/main" id="{D080D05F-07DE-2AAE-F2BC-8352C6315836}"/>
              </a:ext>
            </a:extLst>
          </p:cNvPr>
          <p:cNvGrpSpPr/>
          <p:nvPr/>
        </p:nvGrpSpPr>
        <p:grpSpPr>
          <a:xfrm>
            <a:off x="2828308" y="5890479"/>
            <a:ext cx="3968496" cy="3483864"/>
            <a:chOff x="984760" y="2171700"/>
            <a:chExt cx="3928437" cy="4304269"/>
          </a:xfrm>
          <a:effectLst>
            <a:outerShdw blurRad="50800" dist="38100" dir="5400000" algn="t" rotWithShape="0">
              <a:prstClr val="black">
                <a:alpha val="40000"/>
              </a:prstClr>
            </a:outerShdw>
          </a:effectLst>
        </p:grpSpPr>
        <p:grpSp>
          <p:nvGrpSpPr>
            <p:cNvPr id="33" name="Group 3">
              <a:extLst>
                <a:ext uri="{FF2B5EF4-FFF2-40B4-BE49-F238E27FC236}">
                  <a16:creationId xmlns:a16="http://schemas.microsoft.com/office/drawing/2014/main" id="{C64E8CBA-078E-F3C7-475F-02D6AE44555B}"/>
                </a:ext>
              </a:extLst>
            </p:cNvPr>
            <p:cNvGrpSpPr/>
            <p:nvPr/>
          </p:nvGrpSpPr>
          <p:grpSpPr>
            <a:xfrm>
              <a:off x="984760" y="2171700"/>
              <a:ext cx="3928437" cy="4304269"/>
              <a:chOff x="0" y="0"/>
              <a:chExt cx="1528996" cy="1299371"/>
            </a:xfrm>
          </p:grpSpPr>
          <p:sp>
            <p:nvSpPr>
              <p:cNvPr id="41" name="Freeform 4">
                <a:extLst>
                  <a:ext uri="{FF2B5EF4-FFF2-40B4-BE49-F238E27FC236}">
                    <a16:creationId xmlns:a16="http://schemas.microsoft.com/office/drawing/2014/main" id="{95B86DA4-82C8-5335-533F-0EA386DE119A}"/>
                  </a:ext>
                </a:extLst>
              </p:cNvPr>
              <p:cNvSpPr/>
              <p:nvPr/>
            </p:nvSpPr>
            <p:spPr>
              <a:xfrm>
                <a:off x="0" y="0"/>
                <a:ext cx="1528996" cy="1299371"/>
              </a:xfrm>
              <a:custGeom>
                <a:avLst/>
                <a:gdLst/>
                <a:ahLst/>
                <a:cxnLst/>
                <a:rect l="l" t="t" r="r" b="b"/>
                <a:pathLst>
                  <a:path w="1528996" h="1299371">
                    <a:moveTo>
                      <a:pt x="77080" y="0"/>
                    </a:moveTo>
                    <a:lnTo>
                      <a:pt x="1451916" y="0"/>
                    </a:lnTo>
                    <a:cubicBezTo>
                      <a:pt x="1472359" y="0"/>
                      <a:pt x="1491965" y="8121"/>
                      <a:pt x="1506420" y="22576"/>
                    </a:cubicBezTo>
                    <a:cubicBezTo>
                      <a:pt x="1520875" y="37032"/>
                      <a:pt x="1528996" y="56637"/>
                      <a:pt x="1528996" y="77080"/>
                    </a:cubicBezTo>
                    <a:lnTo>
                      <a:pt x="1528996" y="1222291"/>
                    </a:lnTo>
                    <a:cubicBezTo>
                      <a:pt x="1528996" y="1242734"/>
                      <a:pt x="1520875" y="1262340"/>
                      <a:pt x="1506420" y="1276795"/>
                    </a:cubicBezTo>
                    <a:cubicBezTo>
                      <a:pt x="1491965" y="1291250"/>
                      <a:pt x="1472359" y="1299371"/>
                      <a:pt x="1451916" y="1299371"/>
                    </a:cubicBezTo>
                    <a:lnTo>
                      <a:pt x="77080" y="1299371"/>
                    </a:lnTo>
                    <a:cubicBezTo>
                      <a:pt x="56637" y="1299371"/>
                      <a:pt x="37032" y="1291250"/>
                      <a:pt x="22576" y="1276795"/>
                    </a:cubicBezTo>
                    <a:cubicBezTo>
                      <a:pt x="8121" y="1262340"/>
                      <a:pt x="0" y="1242734"/>
                      <a:pt x="0" y="1222291"/>
                    </a:cubicBezTo>
                    <a:lnTo>
                      <a:pt x="0" y="77080"/>
                    </a:lnTo>
                    <a:cubicBezTo>
                      <a:pt x="0" y="56637"/>
                      <a:pt x="8121" y="37032"/>
                      <a:pt x="22576" y="22576"/>
                    </a:cubicBezTo>
                    <a:cubicBezTo>
                      <a:pt x="37032" y="8121"/>
                      <a:pt x="56637" y="0"/>
                      <a:pt x="77080" y="0"/>
                    </a:cubicBezTo>
                    <a:close/>
                  </a:path>
                </a:pathLst>
              </a:custGeom>
              <a:solidFill>
                <a:srgbClr val="FFED0E"/>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3" name="TextBox 5">
                <a:extLst>
                  <a:ext uri="{FF2B5EF4-FFF2-40B4-BE49-F238E27FC236}">
                    <a16:creationId xmlns:a16="http://schemas.microsoft.com/office/drawing/2014/main" id="{D943B03B-FB62-950F-F61A-05D624BFC0DD}"/>
                  </a:ext>
                </a:extLst>
              </p:cNvPr>
              <p:cNvSpPr txBox="1"/>
              <p:nvPr/>
            </p:nvSpPr>
            <p:spPr>
              <a:xfrm>
                <a:off x="0" y="-47625"/>
                <a:ext cx="1528996" cy="1346996"/>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5" name="Group 6">
              <a:extLst>
                <a:ext uri="{FF2B5EF4-FFF2-40B4-BE49-F238E27FC236}">
                  <a16:creationId xmlns:a16="http://schemas.microsoft.com/office/drawing/2014/main" id="{4A425CCF-FB22-2D6B-EEE0-572FD544888A}"/>
                </a:ext>
              </a:extLst>
            </p:cNvPr>
            <p:cNvGrpSpPr/>
            <p:nvPr/>
          </p:nvGrpSpPr>
          <p:grpSpPr>
            <a:xfrm>
              <a:off x="1147517" y="2354486"/>
              <a:ext cx="3602924" cy="3938696"/>
              <a:chOff x="0" y="0"/>
              <a:chExt cx="1402303" cy="1189012"/>
            </a:xfrm>
          </p:grpSpPr>
          <p:sp>
            <p:nvSpPr>
              <p:cNvPr id="37" name="Freeform 7">
                <a:extLst>
                  <a:ext uri="{FF2B5EF4-FFF2-40B4-BE49-F238E27FC236}">
                    <a16:creationId xmlns:a16="http://schemas.microsoft.com/office/drawing/2014/main" id="{5B7746BF-0C48-1967-66E5-CF91EEBD7D9E}"/>
                  </a:ext>
                </a:extLst>
              </p:cNvPr>
              <p:cNvSpPr/>
              <p:nvPr/>
            </p:nvSpPr>
            <p:spPr>
              <a:xfrm>
                <a:off x="0" y="0"/>
                <a:ext cx="1402303" cy="1189012"/>
              </a:xfrm>
              <a:custGeom>
                <a:avLst/>
                <a:gdLst/>
                <a:ahLst/>
                <a:cxnLst/>
                <a:rect l="l" t="t" r="r" b="b"/>
                <a:pathLst>
                  <a:path w="1402303" h="1189012">
                    <a:moveTo>
                      <a:pt x="84044" y="0"/>
                    </a:moveTo>
                    <a:lnTo>
                      <a:pt x="1318259" y="0"/>
                    </a:lnTo>
                    <a:cubicBezTo>
                      <a:pt x="1340548" y="0"/>
                      <a:pt x="1361925" y="8855"/>
                      <a:pt x="1377687" y="24616"/>
                    </a:cubicBezTo>
                    <a:cubicBezTo>
                      <a:pt x="1393448" y="40377"/>
                      <a:pt x="1402303" y="61754"/>
                      <a:pt x="1402303" y="84044"/>
                    </a:cubicBezTo>
                    <a:lnTo>
                      <a:pt x="1402303" y="1104968"/>
                    </a:lnTo>
                    <a:cubicBezTo>
                      <a:pt x="1402303" y="1151384"/>
                      <a:pt x="1364675" y="1189012"/>
                      <a:pt x="1318259" y="1189012"/>
                    </a:cubicBezTo>
                    <a:lnTo>
                      <a:pt x="84044" y="1189012"/>
                    </a:lnTo>
                    <a:cubicBezTo>
                      <a:pt x="37628" y="1189012"/>
                      <a:pt x="0" y="1151384"/>
                      <a:pt x="0" y="1104968"/>
                    </a:cubicBezTo>
                    <a:lnTo>
                      <a:pt x="0" y="84044"/>
                    </a:lnTo>
                    <a:cubicBezTo>
                      <a:pt x="0" y="37628"/>
                      <a:pt x="37628" y="0"/>
                      <a:pt x="84044" y="0"/>
                    </a:cubicBezTo>
                    <a:close/>
                  </a:path>
                </a:pathLst>
              </a:custGeom>
              <a:solidFill>
                <a:srgbClr val="FFFF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Box 8">
                <a:extLst>
                  <a:ext uri="{FF2B5EF4-FFF2-40B4-BE49-F238E27FC236}">
                    <a16:creationId xmlns:a16="http://schemas.microsoft.com/office/drawing/2014/main" id="{67F798C3-3A39-C5A2-D980-22ECB5485F63}"/>
                  </a:ext>
                </a:extLst>
              </p:cNvPr>
              <p:cNvSpPr txBox="1"/>
              <p:nvPr/>
            </p:nvSpPr>
            <p:spPr>
              <a:xfrm>
                <a:off x="0" y="-47625"/>
                <a:ext cx="1402303" cy="1236637"/>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3" name="TextBox 2">
            <a:extLst>
              <a:ext uri="{FF2B5EF4-FFF2-40B4-BE49-F238E27FC236}">
                <a16:creationId xmlns:a16="http://schemas.microsoft.com/office/drawing/2014/main" id="{65AE8623-BC0A-B6D6-E866-6CA7E063AC25}"/>
              </a:ext>
            </a:extLst>
          </p:cNvPr>
          <p:cNvSpPr txBox="1"/>
          <p:nvPr/>
        </p:nvSpPr>
        <p:spPr>
          <a:xfrm>
            <a:off x="794886" y="1056784"/>
            <a:ext cx="16200000" cy="89255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200" b="1" i="0" u="none" strike="noStrike" kern="0" cap="none" spc="0" normalizeH="0" baseline="0" noProof="0" dirty="0">
                <a:ln>
                  <a:noFill/>
                </a:ln>
                <a:solidFill>
                  <a:srgbClr val="002B11"/>
                </a:solidFill>
                <a:effectLst/>
                <a:uLnTx/>
                <a:uFillTx/>
                <a:latin typeface="Poppins Black"/>
                <a:cs typeface="Arial"/>
                <a:sym typeface="Arial"/>
              </a:rPr>
              <a:t>Case Types Handled: FS</a:t>
            </a:r>
            <a:endParaRPr kumimoji="0" sz="5200" b="1" i="0" u="none" strike="noStrike" kern="0" cap="none" spc="0" normalizeH="0" baseline="0" noProof="0" dirty="0">
              <a:ln>
                <a:noFill/>
              </a:ln>
              <a:solidFill>
                <a:srgbClr val="002B11"/>
              </a:solidFill>
              <a:effectLst/>
              <a:uLnTx/>
              <a:uFillTx/>
              <a:latin typeface="Poppins Black"/>
              <a:cs typeface="Arial"/>
              <a:sym typeface="Arial"/>
            </a:endParaRPr>
          </a:p>
        </p:txBody>
      </p:sp>
      <p:grpSp>
        <p:nvGrpSpPr>
          <p:cNvPr id="13" name="Group 12">
            <a:extLst>
              <a:ext uri="{FF2B5EF4-FFF2-40B4-BE49-F238E27FC236}">
                <a16:creationId xmlns:a16="http://schemas.microsoft.com/office/drawing/2014/main" id="{89FE628C-9A1A-D684-5180-98E14952B3DC}"/>
              </a:ext>
            </a:extLst>
          </p:cNvPr>
          <p:cNvGrpSpPr/>
          <p:nvPr/>
        </p:nvGrpSpPr>
        <p:grpSpPr>
          <a:xfrm>
            <a:off x="630480" y="2247902"/>
            <a:ext cx="3968239" cy="3296225"/>
            <a:chOff x="984760" y="2171700"/>
            <a:chExt cx="3928437" cy="4304269"/>
          </a:xfrm>
          <a:effectLst>
            <a:outerShdw blurRad="50800" dist="38100" dir="5400000" algn="t" rotWithShape="0">
              <a:prstClr val="black">
                <a:alpha val="40000"/>
              </a:prstClr>
            </a:outerShdw>
          </a:effectLst>
        </p:grpSpPr>
        <p:grpSp>
          <p:nvGrpSpPr>
            <p:cNvPr id="5" name="Group 3">
              <a:extLst>
                <a:ext uri="{FF2B5EF4-FFF2-40B4-BE49-F238E27FC236}">
                  <a16:creationId xmlns:a16="http://schemas.microsoft.com/office/drawing/2014/main" id="{BA914720-6AF1-8497-A7C1-0B1B24A2A629}"/>
                </a:ext>
              </a:extLst>
            </p:cNvPr>
            <p:cNvGrpSpPr/>
            <p:nvPr/>
          </p:nvGrpSpPr>
          <p:grpSpPr>
            <a:xfrm>
              <a:off x="984760" y="2171700"/>
              <a:ext cx="3928437" cy="4304269"/>
              <a:chOff x="0" y="0"/>
              <a:chExt cx="1528996" cy="1299371"/>
            </a:xfrm>
          </p:grpSpPr>
          <p:sp>
            <p:nvSpPr>
              <p:cNvPr id="11" name="Freeform 4">
                <a:extLst>
                  <a:ext uri="{FF2B5EF4-FFF2-40B4-BE49-F238E27FC236}">
                    <a16:creationId xmlns:a16="http://schemas.microsoft.com/office/drawing/2014/main" id="{D396D97C-0B59-0F2D-61BB-5298C294EB8D}"/>
                  </a:ext>
                </a:extLst>
              </p:cNvPr>
              <p:cNvSpPr/>
              <p:nvPr/>
            </p:nvSpPr>
            <p:spPr>
              <a:xfrm>
                <a:off x="0" y="0"/>
                <a:ext cx="1528996" cy="1299371"/>
              </a:xfrm>
              <a:custGeom>
                <a:avLst/>
                <a:gdLst/>
                <a:ahLst/>
                <a:cxnLst/>
                <a:rect l="l" t="t" r="r" b="b"/>
                <a:pathLst>
                  <a:path w="1528996" h="1299371">
                    <a:moveTo>
                      <a:pt x="77080" y="0"/>
                    </a:moveTo>
                    <a:lnTo>
                      <a:pt x="1451916" y="0"/>
                    </a:lnTo>
                    <a:cubicBezTo>
                      <a:pt x="1472359" y="0"/>
                      <a:pt x="1491965" y="8121"/>
                      <a:pt x="1506420" y="22576"/>
                    </a:cubicBezTo>
                    <a:cubicBezTo>
                      <a:pt x="1520875" y="37032"/>
                      <a:pt x="1528996" y="56637"/>
                      <a:pt x="1528996" y="77080"/>
                    </a:cubicBezTo>
                    <a:lnTo>
                      <a:pt x="1528996" y="1222291"/>
                    </a:lnTo>
                    <a:cubicBezTo>
                      <a:pt x="1528996" y="1242734"/>
                      <a:pt x="1520875" y="1262340"/>
                      <a:pt x="1506420" y="1276795"/>
                    </a:cubicBezTo>
                    <a:cubicBezTo>
                      <a:pt x="1491965" y="1291250"/>
                      <a:pt x="1472359" y="1299371"/>
                      <a:pt x="1451916" y="1299371"/>
                    </a:cubicBezTo>
                    <a:lnTo>
                      <a:pt x="77080" y="1299371"/>
                    </a:lnTo>
                    <a:cubicBezTo>
                      <a:pt x="56637" y="1299371"/>
                      <a:pt x="37032" y="1291250"/>
                      <a:pt x="22576" y="1276795"/>
                    </a:cubicBezTo>
                    <a:cubicBezTo>
                      <a:pt x="8121" y="1262340"/>
                      <a:pt x="0" y="1242734"/>
                      <a:pt x="0" y="1222291"/>
                    </a:cubicBezTo>
                    <a:lnTo>
                      <a:pt x="0" y="77080"/>
                    </a:lnTo>
                    <a:cubicBezTo>
                      <a:pt x="0" y="56637"/>
                      <a:pt x="8121" y="37032"/>
                      <a:pt x="22576" y="22576"/>
                    </a:cubicBezTo>
                    <a:cubicBezTo>
                      <a:pt x="37032" y="8121"/>
                      <a:pt x="56637" y="0"/>
                      <a:pt x="77080" y="0"/>
                    </a:cubicBezTo>
                    <a:close/>
                  </a:path>
                </a:pathLst>
              </a:custGeom>
              <a:solidFill>
                <a:srgbClr val="FF6D37"/>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5">
                <a:extLst>
                  <a:ext uri="{FF2B5EF4-FFF2-40B4-BE49-F238E27FC236}">
                    <a16:creationId xmlns:a16="http://schemas.microsoft.com/office/drawing/2014/main" id="{3D338BE6-042F-EB7C-456A-8F6F7F84048C}"/>
                  </a:ext>
                </a:extLst>
              </p:cNvPr>
              <p:cNvSpPr txBox="1"/>
              <p:nvPr/>
            </p:nvSpPr>
            <p:spPr>
              <a:xfrm>
                <a:off x="0" y="-47625"/>
                <a:ext cx="1528996" cy="1346996"/>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6">
              <a:extLst>
                <a:ext uri="{FF2B5EF4-FFF2-40B4-BE49-F238E27FC236}">
                  <a16:creationId xmlns:a16="http://schemas.microsoft.com/office/drawing/2014/main" id="{7D2B3FDC-650B-12CA-76ED-28089051BD86}"/>
                </a:ext>
              </a:extLst>
            </p:cNvPr>
            <p:cNvGrpSpPr/>
            <p:nvPr/>
          </p:nvGrpSpPr>
          <p:grpSpPr>
            <a:xfrm>
              <a:off x="1147517" y="2354486"/>
              <a:ext cx="3602924" cy="3938696"/>
              <a:chOff x="0" y="0"/>
              <a:chExt cx="1402303" cy="1189012"/>
            </a:xfrm>
          </p:grpSpPr>
          <p:sp>
            <p:nvSpPr>
              <p:cNvPr id="9" name="Freeform 7">
                <a:extLst>
                  <a:ext uri="{FF2B5EF4-FFF2-40B4-BE49-F238E27FC236}">
                    <a16:creationId xmlns:a16="http://schemas.microsoft.com/office/drawing/2014/main" id="{9232A350-64D9-672E-5D61-4B6C6C983466}"/>
                  </a:ext>
                </a:extLst>
              </p:cNvPr>
              <p:cNvSpPr/>
              <p:nvPr/>
            </p:nvSpPr>
            <p:spPr>
              <a:xfrm>
                <a:off x="0" y="0"/>
                <a:ext cx="1402303" cy="1189012"/>
              </a:xfrm>
              <a:custGeom>
                <a:avLst/>
                <a:gdLst/>
                <a:ahLst/>
                <a:cxnLst/>
                <a:rect l="l" t="t" r="r" b="b"/>
                <a:pathLst>
                  <a:path w="1402303" h="1189012">
                    <a:moveTo>
                      <a:pt x="84044" y="0"/>
                    </a:moveTo>
                    <a:lnTo>
                      <a:pt x="1318259" y="0"/>
                    </a:lnTo>
                    <a:cubicBezTo>
                      <a:pt x="1340548" y="0"/>
                      <a:pt x="1361925" y="8855"/>
                      <a:pt x="1377687" y="24616"/>
                    </a:cubicBezTo>
                    <a:cubicBezTo>
                      <a:pt x="1393448" y="40377"/>
                      <a:pt x="1402303" y="61754"/>
                      <a:pt x="1402303" y="84044"/>
                    </a:cubicBezTo>
                    <a:lnTo>
                      <a:pt x="1402303" y="1104968"/>
                    </a:lnTo>
                    <a:cubicBezTo>
                      <a:pt x="1402303" y="1151384"/>
                      <a:pt x="1364675" y="1189012"/>
                      <a:pt x="1318259" y="1189012"/>
                    </a:cubicBezTo>
                    <a:lnTo>
                      <a:pt x="84044" y="1189012"/>
                    </a:lnTo>
                    <a:cubicBezTo>
                      <a:pt x="37628" y="1189012"/>
                      <a:pt x="0" y="1151384"/>
                      <a:pt x="0" y="1104968"/>
                    </a:cubicBezTo>
                    <a:lnTo>
                      <a:pt x="0" y="84044"/>
                    </a:lnTo>
                    <a:cubicBezTo>
                      <a:pt x="0" y="37628"/>
                      <a:pt x="37628" y="0"/>
                      <a:pt x="84044" y="0"/>
                    </a:cubicBezTo>
                    <a:close/>
                  </a:path>
                </a:pathLst>
              </a:custGeom>
              <a:solidFill>
                <a:srgbClr val="FFFF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8">
                <a:extLst>
                  <a:ext uri="{FF2B5EF4-FFF2-40B4-BE49-F238E27FC236}">
                    <a16:creationId xmlns:a16="http://schemas.microsoft.com/office/drawing/2014/main" id="{A6141CA8-DB74-051C-21EA-6239D5E5643D}"/>
                  </a:ext>
                </a:extLst>
              </p:cNvPr>
              <p:cNvSpPr txBox="1"/>
              <p:nvPr/>
            </p:nvSpPr>
            <p:spPr>
              <a:xfrm>
                <a:off x="0" y="-47625"/>
                <a:ext cx="1402303" cy="1236637"/>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14" name="Group 13">
            <a:extLst>
              <a:ext uri="{FF2B5EF4-FFF2-40B4-BE49-F238E27FC236}">
                <a16:creationId xmlns:a16="http://schemas.microsoft.com/office/drawing/2014/main" id="{1BB5F779-475A-A28A-DFCD-14CEC43193ED}"/>
              </a:ext>
            </a:extLst>
          </p:cNvPr>
          <p:cNvGrpSpPr/>
          <p:nvPr/>
        </p:nvGrpSpPr>
        <p:grpSpPr>
          <a:xfrm>
            <a:off x="5055920" y="2247902"/>
            <a:ext cx="3968239" cy="3296226"/>
            <a:chOff x="984760" y="2171700"/>
            <a:chExt cx="3928437" cy="4304269"/>
          </a:xfrm>
          <a:effectLst>
            <a:outerShdw blurRad="50800" dist="38100" dir="5400000" algn="t" rotWithShape="0">
              <a:prstClr val="black">
                <a:alpha val="40000"/>
              </a:prstClr>
            </a:outerShdw>
          </a:effectLst>
        </p:grpSpPr>
        <p:grpSp>
          <p:nvGrpSpPr>
            <p:cNvPr id="15" name="Group 3">
              <a:extLst>
                <a:ext uri="{FF2B5EF4-FFF2-40B4-BE49-F238E27FC236}">
                  <a16:creationId xmlns:a16="http://schemas.microsoft.com/office/drawing/2014/main" id="{0EFE2068-87FE-016E-D91A-05779FD1668A}"/>
                </a:ext>
              </a:extLst>
            </p:cNvPr>
            <p:cNvGrpSpPr/>
            <p:nvPr/>
          </p:nvGrpSpPr>
          <p:grpSpPr>
            <a:xfrm>
              <a:off x="984760" y="2171700"/>
              <a:ext cx="3928437" cy="4304269"/>
              <a:chOff x="0" y="0"/>
              <a:chExt cx="1528996" cy="1299371"/>
            </a:xfrm>
          </p:grpSpPr>
          <p:sp>
            <p:nvSpPr>
              <p:cNvPr id="19" name="Freeform 4">
                <a:extLst>
                  <a:ext uri="{FF2B5EF4-FFF2-40B4-BE49-F238E27FC236}">
                    <a16:creationId xmlns:a16="http://schemas.microsoft.com/office/drawing/2014/main" id="{850FB930-08CA-B6FB-D460-59AD4EF9C994}"/>
                  </a:ext>
                </a:extLst>
              </p:cNvPr>
              <p:cNvSpPr/>
              <p:nvPr/>
            </p:nvSpPr>
            <p:spPr>
              <a:xfrm>
                <a:off x="0" y="0"/>
                <a:ext cx="1528996" cy="1299371"/>
              </a:xfrm>
              <a:custGeom>
                <a:avLst/>
                <a:gdLst/>
                <a:ahLst/>
                <a:cxnLst/>
                <a:rect l="l" t="t" r="r" b="b"/>
                <a:pathLst>
                  <a:path w="1528996" h="1299371">
                    <a:moveTo>
                      <a:pt x="77080" y="0"/>
                    </a:moveTo>
                    <a:lnTo>
                      <a:pt x="1451916" y="0"/>
                    </a:lnTo>
                    <a:cubicBezTo>
                      <a:pt x="1472359" y="0"/>
                      <a:pt x="1491965" y="8121"/>
                      <a:pt x="1506420" y="22576"/>
                    </a:cubicBezTo>
                    <a:cubicBezTo>
                      <a:pt x="1520875" y="37032"/>
                      <a:pt x="1528996" y="56637"/>
                      <a:pt x="1528996" y="77080"/>
                    </a:cubicBezTo>
                    <a:lnTo>
                      <a:pt x="1528996" y="1222291"/>
                    </a:lnTo>
                    <a:cubicBezTo>
                      <a:pt x="1528996" y="1242734"/>
                      <a:pt x="1520875" y="1262340"/>
                      <a:pt x="1506420" y="1276795"/>
                    </a:cubicBezTo>
                    <a:cubicBezTo>
                      <a:pt x="1491965" y="1291250"/>
                      <a:pt x="1472359" y="1299371"/>
                      <a:pt x="1451916" y="1299371"/>
                    </a:cubicBezTo>
                    <a:lnTo>
                      <a:pt x="77080" y="1299371"/>
                    </a:lnTo>
                    <a:cubicBezTo>
                      <a:pt x="56637" y="1299371"/>
                      <a:pt x="37032" y="1291250"/>
                      <a:pt x="22576" y="1276795"/>
                    </a:cubicBezTo>
                    <a:cubicBezTo>
                      <a:pt x="8121" y="1262340"/>
                      <a:pt x="0" y="1242734"/>
                      <a:pt x="0" y="1222291"/>
                    </a:cubicBezTo>
                    <a:lnTo>
                      <a:pt x="0" y="77080"/>
                    </a:lnTo>
                    <a:cubicBezTo>
                      <a:pt x="0" y="56637"/>
                      <a:pt x="8121" y="37032"/>
                      <a:pt x="22576" y="22576"/>
                    </a:cubicBezTo>
                    <a:cubicBezTo>
                      <a:pt x="37032" y="8121"/>
                      <a:pt x="56637" y="0"/>
                      <a:pt x="77080" y="0"/>
                    </a:cubicBezTo>
                    <a:close/>
                  </a:path>
                </a:pathLst>
              </a:custGeom>
              <a:solidFill>
                <a:srgbClr val="5FEA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 name="TextBox 5">
                <a:extLst>
                  <a:ext uri="{FF2B5EF4-FFF2-40B4-BE49-F238E27FC236}">
                    <a16:creationId xmlns:a16="http://schemas.microsoft.com/office/drawing/2014/main" id="{87F7DAB6-4839-2DEF-1720-58A3D69F18E2}"/>
                  </a:ext>
                </a:extLst>
              </p:cNvPr>
              <p:cNvSpPr txBox="1"/>
              <p:nvPr/>
            </p:nvSpPr>
            <p:spPr>
              <a:xfrm>
                <a:off x="0" y="-47625"/>
                <a:ext cx="1528996" cy="1346996"/>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6">
              <a:extLst>
                <a:ext uri="{FF2B5EF4-FFF2-40B4-BE49-F238E27FC236}">
                  <a16:creationId xmlns:a16="http://schemas.microsoft.com/office/drawing/2014/main" id="{C79CCE32-44AB-4A85-B013-CE4DDFEAA6BD}"/>
                </a:ext>
              </a:extLst>
            </p:cNvPr>
            <p:cNvGrpSpPr/>
            <p:nvPr/>
          </p:nvGrpSpPr>
          <p:grpSpPr>
            <a:xfrm>
              <a:off x="1147517" y="2354486"/>
              <a:ext cx="3602924" cy="3938696"/>
              <a:chOff x="0" y="0"/>
              <a:chExt cx="1402303" cy="1189012"/>
            </a:xfrm>
          </p:grpSpPr>
          <p:sp>
            <p:nvSpPr>
              <p:cNvPr id="17" name="Freeform 7">
                <a:extLst>
                  <a:ext uri="{FF2B5EF4-FFF2-40B4-BE49-F238E27FC236}">
                    <a16:creationId xmlns:a16="http://schemas.microsoft.com/office/drawing/2014/main" id="{AF7AFB65-3552-9DD9-F60B-B93E9B3D71BE}"/>
                  </a:ext>
                </a:extLst>
              </p:cNvPr>
              <p:cNvSpPr/>
              <p:nvPr/>
            </p:nvSpPr>
            <p:spPr>
              <a:xfrm>
                <a:off x="0" y="0"/>
                <a:ext cx="1402303" cy="1189012"/>
              </a:xfrm>
              <a:custGeom>
                <a:avLst/>
                <a:gdLst/>
                <a:ahLst/>
                <a:cxnLst/>
                <a:rect l="l" t="t" r="r" b="b"/>
                <a:pathLst>
                  <a:path w="1402303" h="1189012">
                    <a:moveTo>
                      <a:pt x="84044" y="0"/>
                    </a:moveTo>
                    <a:lnTo>
                      <a:pt x="1318259" y="0"/>
                    </a:lnTo>
                    <a:cubicBezTo>
                      <a:pt x="1340548" y="0"/>
                      <a:pt x="1361925" y="8855"/>
                      <a:pt x="1377687" y="24616"/>
                    </a:cubicBezTo>
                    <a:cubicBezTo>
                      <a:pt x="1393448" y="40377"/>
                      <a:pt x="1402303" y="61754"/>
                      <a:pt x="1402303" y="84044"/>
                    </a:cubicBezTo>
                    <a:lnTo>
                      <a:pt x="1402303" y="1104968"/>
                    </a:lnTo>
                    <a:cubicBezTo>
                      <a:pt x="1402303" y="1151384"/>
                      <a:pt x="1364675" y="1189012"/>
                      <a:pt x="1318259" y="1189012"/>
                    </a:cubicBezTo>
                    <a:lnTo>
                      <a:pt x="84044" y="1189012"/>
                    </a:lnTo>
                    <a:cubicBezTo>
                      <a:pt x="37628" y="1189012"/>
                      <a:pt x="0" y="1151384"/>
                      <a:pt x="0" y="1104968"/>
                    </a:cubicBezTo>
                    <a:lnTo>
                      <a:pt x="0" y="84044"/>
                    </a:lnTo>
                    <a:cubicBezTo>
                      <a:pt x="0" y="37628"/>
                      <a:pt x="37628" y="0"/>
                      <a:pt x="84044" y="0"/>
                    </a:cubicBezTo>
                    <a:close/>
                  </a:path>
                </a:pathLst>
              </a:custGeom>
              <a:solidFill>
                <a:srgbClr val="FFFF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8">
                <a:extLst>
                  <a:ext uri="{FF2B5EF4-FFF2-40B4-BE49-F238E27FC236}">
                    <a16:creationId xmlns:a16="http://schemas.microsoft.com/office/drawing/2014/main" id="{70CB24F6-E3D0-5215-4F58-D42587827ADD}"/>
                  </a:ext>
                </a:extLst>
              </p:cNvPr>
              <p:cNvSpPr txBox="1"/>
              <p:nvPr/>
            </p:nvSpPr>
            <p:spPr>
              <a:xfrm>
                <a:off x="0" y="-47625"/>
                <a:ext cx="1402303" cy="1236637"/>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21" name="Group 20">
            <a:extLst>
              <a:ext uri="{FF2B5EF4-FFF2-40B4-BE49-F238E27FC236}">
                <a16:creationId xmlns:a16="http://schemas.microsoft.com/office/drawing/2014/main" id="{6A766C60-F65F-503F-D7B0-8EFAED755058}"/>
              </a:ext>
            </a:extLst>
          </p:cNvPr>
          <p:cNvGrpSpPr/>
          <p:nvPr/>
        </p:nvGrpSpPr>
        <p:grpSpPr>
          <a:xfrm>
            <a:off x="9481360" y="2247900"/>
            <a:ext cx="3968239" cy="3296225"/>
            <a:chOff x="984760" y="2171700"/>
            <a:chExt cx="3928437" cy="4304269"/>
          </a:xfrm>
          <a:effectLst>
            <a:outerShdw blurRad="50800" dist="38100" dir="5400000" algn="t" rotWithShape="0">
              <a:prstClr val="black">
                <a:alpha val="40000"/>
              </a:prstClr>
            </a:outerShdw>
          </a:effectLst>
        </p:grpSpPr>
        <p:grpSp>
          <p:nvGrpSpPr>
            <p:cNvPr id="22" name="Group 3">
              <a:extLst>
                <a:ext uri="{FF2B5EF4-FFF2-40B4-BE49-F238E27FC236}">
                  <a16:creationId xmlns:a16="http://schemas.microsoft.com/office/drawing/2014/main" id="{42A1EBFC-0317-F12A-B395-9F2927D9C381}"/>
                </a:ext>
              </a:extLst>
            </p:cNvPr>
            <p:cNvGrpSpPr/>
            <p:nvPr/>
          </p:nvGrpSpPr>
          <p:grpSpPr>
            <a:xfrm>
              <a:off x="984760" y="2171700"/>
              <a:ext cx="3928437" cy="4304269"/>
              <a:chOff x="0" y="0"/>
              <a:chExt cx="1528996" cy="1299371"/>
            </a:xfrm>
          </p:grpSpPr>
          <p:sp>
            <p:nvSpPr>
              <p:cNvPr id="26" name="Freeform 4">
                <a:extLst>
                  <a:ext uri="{FF2B5EF4-FFF2-40B4-BE49-F238E27FC236}">
                    <a16:creationId xmlns:a16="http://schemas.microsoft.com/office/drawing/2014/main" id="{71644966-610F-03BC-EE8F-9A43A230E84E}"/>
                  </a:ext>
                </a:extLst>
              </p:cNvPr>
              <p:cNvSpPr/>
              <p:nvPr/>
            </p:nvSpPr>
            <p:spPr>
              <a:xfrm>
                <a:off x="0" y="0"/>
                <a:ext cx="1528996" cy="1299371"/>
              </a:xfrm>
              <a:custGeom>
                <a:avLst/>
                <a:gdLst/>
                <a:ahLst/>
                <a:cxnLst/>
                <a:rect l="l" t="t" r="r" b="b"/>
                <a:pathLst>
                  <a:path w="1528996" h="1299371">
                    <a:moveTo>
                      <a:pt x="77080" y="0"/>
                    </a:moveTo>
                    <a:lnTo>
                      <a:pt x="1451916" y="0"/>
                    </a:lnTo>
                    <a:cubicBezTo>
                      <a:pt x="1472359" y="0"/>
                      <a:pt x="1491965" y="8121"/>
                      <a:pt x="1506420" y="22576"/>
                    </a:cubicBezTo>
                    <a:cubicBezTo>
                      <a:pt x="1520875" y="37032"/>
                      <a:pt x="1528996" y="56637"/>
                      <a:pt x="1528996" y="77080"/>
                    </a:cubicBezTo>
                    <a:lnTo>
                      <a:pt x="1528996" y="1222291"/>
                    </a:lnTo>
                    <a:cubicBezTo>
                      <a:pt x="1528996" y="1242734"/>
                      <a:pt x="1520875" y="1262340"/>
                      <a:pt x="1506420" y="1276795"/>
                    </a:cubicBezTo>
                    <a:cubicBezTo>
                      <a:pt x="1491965" y="1291250"/>
                      <a:pt x="1472359" y="1299371"/>
                      <a:pt x="1451916" y="1299371"/>
                    </a:cubicBezTo>
                    <a:lnTo>
                      <a:pt x="77080" y="1299371"/>
                    </a:lnTo>
                    <a:cubicBezTo>
                      <a:pt x="56637" y="1299371"/>
                      <a:pt x="37032" y="1291250"/>
                      <a:pt x="22576" y="1276795"/>
                    </a:cubicBezTo>
                    <a:cubicBezTo>
                      <a:pt x="8121" y="1262340"/>
                      <a:pt x="0" y="1242734"/>
                      <a:pt x="0" y="1222291"/>
                    </a:cubicBezTo>
                    <a:lnTo>
                      <a:pt x="0" y="77080"/>
                    </a:lnTo>
                    <a:cubicBezTo>
                      <a:pt x="0" y="56637"/>
                      <a:pt x="8121" y="37032"/>
                      <a:pt x="22576" y="22576"/>
                    </a:cubicBezTo>
                    <a:cubicBezTo>
                      <a:pt x="37032" y="8121"/>
                      <a:pt x="56637" y="0"/>
                      <a:pt x="77080" y="0"/>
                    </a:cubicBezTo>
                    <a:close/>
                  </a:path>
                </a:pathLst>
              </a:custGeom>
              <a:solidFill>
                <a:srgbClr val="CFFF21"/>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7" name="TextBox 5">
                <a:extLst>
                  <a:ext uri="{FF2B5EF4-FFF2-40B4-BE49-F238E27FC236}">
                    <a16:creationId xmlns:a16="http://schemas.microsoft.com/office/drawing/2014/main" id="{BB6EFF5A-190A-588B-0FB0-87419536E2C0}"/>
                  </a:ext>
                </a:extLst>
              </p:cNvPr>
              <p:cNvSpPr txBox="1"/>
              <p:nvPr/>
            </p:nvSpPr>
            <p:spPr>
              <a:xfrm>
                <a:off x="0" y="-47625"/>
                <a:ext cx="1528996" cy="1346996"/>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3" name="Group 6">
              <a:extLst>
                <a:ext uri="{FF2B5EF4-FFF2-40B4-BE49-F238E27FC236}">
                  <a16:creationId xmlns:a16="http://schemas.microsoft.com/office/drawing/2014/main" id="{86759740-478C-1278-96BF-48F46D6A3A2F}"/>
                </a:ext>
              </a:extLst>
            </p:cNvPr>
            <p:cNvGrpSpPr/>
            <p:nvPr/>
          </p:nvGrpSpPr>
          <p:grpSpPr>
            <a:xfrm>
              <a:off x="1147517" y="2354486"/>
              <a:ext cx="3602924" cy="3938696"/>
              <a:chOff x="0" y="0"/>
              <a:chExt cx="1402303" cy="1189012"/>
            </a:xfrm>
          </p:grpSpPr>
          <p:sp>
            <p:nvSpPr>
              <p:cNvPr id="24" name="Freeform 7">
                <a:extLst>
                  <a:ext uri="{FF2B5EF4-FFF2-40B4-BE49-F238E27FC236}">
                    <a16:creationId xmlns:a16="http://schemas.microsoft.com/office/drawing/2014/main" id="{7CFCD0A6-B88A-54AA-901E-17401745F8FB}"/>
                  </a:ext>
                </a:extLst>
              </p:cNvPr>
              <p:cNvSpPr/>
              <p:nvPr/>
            </p:nvSpPr>
            <p:spPr>
              <a:xfrm>
                <a:off x="0" y="0"/>
                <a:ext cx="1402303" cy="1189012"/>
              </a:xfrm>
              <a:custGeom>
                <a:avLst/>
                <a:gdLst/>
                <a:ahLst/>
                <a:cxnLst/>
                <a:rect l="l" t="t" r="r" b="b"/>
                <a:pathLst>
                  <a:path w="1402303" h="1189012">
                    <a:moveTo>
                      <a:pt x="84044" y="0"/>
                    </a:moveTo>
                    <a:lnTo>
                      <a:pt x="1318259" y="0"/>
                    </a:lnTo>
                    <a:cubicBezTo>
                      <a:pt x="1340548" y="0"/>
                      <a:pt x="1361925" y="8855"/>
                      <a:pt x="1377687" y="24616"/>
                    </a:cubicBezTo>
                    <a:cubicBezTo>
                      <a:pt x="1393448" y="40377"/>
                      <a:pt x="1402303" y="61754"/>
                      <a:pt x="1402303" y="84044"/>
                    </a:cubicBezTo>
                    <a:lnTo>
                      <a:pt x="1402303" y="1104968"/>
                    </a:lnTo>
                    <a:cubicBezTo>
                      <a:pt x="1402303" y="1151384"/>
                      <a:pt x="1364675" y="1189012"/>
                      <a:pt x="1318259" y="1189012"/>
                    </a:cubicBezTo>
                    <a:lnTo>
                      <a:pt x="84044" y="1189012"/>
                    </a:lnTo>
                    <a:cubicBezTo>
                      <a:pt x="37628" y="1189012"/>
                      <a:pt x="0" y="1151384"/>
                      <a:pt x="0" y="1104968"/>
                    </a:cubicBezTo>
                    <a:lnTo>
                      <a:pt x="0" y="84044"/>
                    </a:lnTo>
                    <a:cubicBezTo>
                      <a:pt x="0" y="37628"/>
                      <a:pt x="37628" y="0"/>
                      <a:pt x="84044" y="0"/>
                    </a:cubicBezTo>
                    <a:close/>
                  </a:path>
                </a:pathLst>
              </a:custGeom>
              <a:solidFill>
                <a:srgbClr val="FFFF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8">
                <a:extLst>
                  <a:ext uri="{FF2B5EF4-FFF2-40B4-BE49-F238E27FC236}">
                    <a16:creationId xmlns:a16="http://schemas.microsoft.com/office/drawing/2014/main" id="{10FA0015-FE22-BB99-887D-D4E2DA4F114C}"/>
                  </a:ext>
                </a:extLst>
              </p:cNvPr>
              <p:cNvSpPr txBox="1"/>
              <p:nvPr/>
            </p:nvSpPr>
            <p:spPr>
              <a:xfrm>
                <a:off x="0" y="-47625"/>
                <a:ext cx="1402303" cy="1236637"/>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28" name="Group 27">
            <a:extLst>
              <a:ext uri="{FF2B5EF4-FFF2-40B4-BE49-F238E27FC236}">
                <a16:creationId xmlns:a16="http://schemas.microsoft.com/office/drawing/2014/main" id="{650A01AD-BEAD-AB68-8524-8C86CB456B14}"/>
              </a:ext>
            </a:extLst>
          </p:cNvPr>
          <p:cNvGrpSpPr/>
          <p:nvPr/>
        </p:nvGrpSpPr>
        <p:grpSpPr>
          <a:xfrm>
            <a:off x="13906800" y="2247900"/>
            <a:ext cx="3968239" cy="3296226"/>
            <a:chOff x="984760" y="2171700"/>
            <a:chExt cx="3928437" cy="4304269"/>
          </a:xfrm>
          <a:effectLst>
            <a:outerShdw blurRad="50800" dist="38100" dir="5400000" algn="t" rotWithShape="0">
              <a:prstClr val="black">
                <a:alpha val="40000"/>
              </a:prstClr>
            </a:outerShdw>
          </a:effectLst>
        </p:grpSpPr>
        <p:grpSp>
          <p:nvGrpSpPr>
            <p:cNvPr id="29" name="Group 3">
              <a:extLst>
                <a:ext uri="{FF2B5EF4-FFF2-40B4-BE49-F238E27FC236}">
                  <a16:creationId xmlns:a16="http://schemas.microsoft.com/office/drawing/2014/main" id="{32A3086B-8168-7834-A2B8-44BC94F77C72}"/>
                </a:ext>
              </a:extLst>
            </p:cNvPr>
            <p:cNvGrpSpPr/>
            <p:nvPr/>
          </p:nvGrpSpPr>
          <p:grpSpPr>
            <a:xfrm>
              <a:off x="984760" y="2171700"/>
              <a:ext cx="3928437" cy="4304269"/>
              <a:chOff x="0" y="0"/>
              <a:chExt cx="1528996" cy="1299371"/>
            </a:xfrm>
          </p:grpSpPr>
          <p:sp>
            <p:nvSpPr>
              <p:cNvPr id="34" name="Freeform 4">
                <a:extLst>
                  <a:ext uri="{FF2B5EF4-FFF2-40B4-BE49-F238E27FC236}">
                    <a16:creationId xmlns:a16="http://schemas.microsoft.com/office/drawing/2014/main" id="{E0BCC88F-47E4-10A6-4524-C3D8F540A925}"/>
                  </a:ext>
                </a:extLst>
              </p:cNvPr>
              <p:cNvSpPr/>
              <p:nvPr/>
            </p:nvSpPr>
            <p:spPr>
              <a:xfrm>
                <a:off x="0" y="0"/>
                <a:ext cx="1528996" cy="1299371"/>
              </a:xfrm>
              <a:custGeom>
                <a:avLst/>
                <a:gdLst/>
                <a:ahLst/>
                <a:cxnLst/>
                <a:rect l="l" t="t" r="r" b="b"/>
                <a:pathLst>
                  <a:path w="1528996" h="1299371">
                    <a:moveTo>
                      <a:pt x="77080" y="0"/>
                    </a:moveTo>
                    <a:lnTo>
                      <a:pt x="1451916" y="0"/>
                    </a:lnTo>
                    <a:cubicBezTo>
                      <a:pt x="1472359" y="0"/>
                      <a:pt x="1491965" y="8121"/>
                      <a:pt x="1506420" y="22576"/>
                    </a:cubicBezTo>
                    <a:cubicBezTo>
                      <a:pt x="1520875" y="37032"/>
                      <a:pt x="1528996" y="56637"/>
                      <a:pt x="1528996" y="77080"/>
                    </a:cubicBezTo>
                    <a:lnTo>
                      <a:pt x="1528996" y="1222291"/>
                    </a:lnTo>
                    <a:cubicBezTo>
                      <a:pt x="1528996" y="1242734"/>
                      <a:pt x="1520875" y="1262340"/>
                      <a:pt x="1506420" y="1276795"/>
                    </a:cubicBezTo>
                    <a:cubicBezTo>
                      <a:pt x="1491965" y="1291250"/>
                      <a:pt x="1472359" y="1299371"/>
                      <a:pt x="1451916" y="1299371"/>
                    </a:cubicBezTo>
                    <a:lnTo>
                      <a:pt x="77080" y="1299371"/>
                    </a:lnTo>
                    <a:cubicBezTo>
                      <a:pt x="56637" y="1299371"/>
                      <a:pt x="37032" y="1291250"/>
                      <a:pt x="22576" y="1276795"/>
                    </a:cubicBezTo>
                    <a:cubicBezTo>
                      <a:pt x="8121" y="1262340"/>
                      <a:pt x="0" y="1242734"/>
                      <a:pt x="0" y="1222291"/>
                    </a:cubicBezTo>
                    <a:lnTo>
                      <a:pt x="0" y="77080"/>
                    </a:lnTo>
                    <a:cubicBezTo>
                      <a:pt x="0" y="56637"/>
                      <a:pt x="8121" y="37032"/>
                      <a:pt x="22576" y="22576"/>
                    </a:cubicBezTo>
                    <a:cubicBezTo>
                      <a:pt x="37032" y="8121"/>
                      <a:pt x="56637" y="0"/>
                      <a:pt x="77080" y="0"/>
                    </a:cubicBezTo>
                    <a:close/>
                  </a:path>
                </a:pathLst>
              </a:custGeom>
              <a:solidFill>
                <a:srgbClr val="D953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6" name="TextBox 5">
                <a:extLst>
                  <a:ext uri="{FF2B5EF4-FFF2-40B4-BE49-F238E27FC236}">
                    <a16:creationId xmlns:a16="http://schemas.microsoft.com/office/drawing/2014/main" id="{05C9A9AC-F57F-7FA9-CC94-C2A3C88F0ABE}"/>
                  </a:ext>
                </a:extLst>
              </p:cNvPr>
              <p:cNvSpPr txBox="1"/>
              <p:nvPr/>
            </p:nvSpPr>
            <p:spPr>
              <a:xfrm>
                <a:off x="0" y="-47625"/>
                <a:ext cx="1528996" cy="1346996"/>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0" name="Group 6">
              <a:extLst>
                <a:ext uri="{FF2B5EF4-FFF2-40B4-BE49-F238E27FC236}">
                  <a16:creationId xmlns:a16="http://schemas.microsoft.com/office/drawing/2014/main" id="{C15FB3E9-8D89-3BD8-D20B-1D101A97B3F6}"/>
                </a:ext>
              </a:extLst>
            </p:cNvPr>
            <p:cNvGrpSpPr/>
            <p:nvPr/>
          </p:nvGrpSpPr>
          <p:grpSpPr>
            <a:xfrm>
              <a:off x="1147517" y="2354486"/>
              <a:ext cx="3602924" cy="3938696"/>
              <a:chOff x="0" y="0"/>
              <a:chExt cx="1402303" cy="1189012"/>
            </a:xfrm>
          </p:grpSpPr>
          <p:sp>
            <p:nvSpPr>
              <p:cNvPr id="31" name="Freeform 7">
                <a:extLst>
                  <a:ext uri="{FF2B5EF4-FFF2-40B4-BE49-F238E27FC236}">
                    <a16:creationId xmlns:a16="http://schemas.microsoft.com/office/drawing/2014/main" id="{40CB38B4-5924-1817-2F77-C725F1F3D890}"/>
                  </a:ext>
                </a:extLst>
              </p:cNvPr>
              <p:cNvSpPr/>
              <p:nvPr/>
            </p:nvSpPr>
            <p:spPr>
              <a:xfrm>
                <a:off x="0" y="0"/>
                <a:ext cx="1402303" cy="1189012"/>
              </a:xfrm>
              <a:custGeom>
                <a:avLst/>
                <a:gdLst/>
                <a:ahLst/>
                <a:cxnLst/>
                <a:rect l="l" t="t" r="r" b="b"/>
                <a:pathLst>
                  <a:path w="1402303" h="1189012">
                    <a:moveTo>
                      <a:pt x="84044" y="0"/>
                    </a:moveTo>
                    <a:lnTo>
                      <a:pt x="1318259" y="0"/>
                    </a:lnTo>
                    <a:cubicBezTo>
                      <a:pt x="1340548" y="0"/>
                      <a:pt x="1361925" y="8855"/>
                      <a:pt x="1377687" y="24616"/>
                    </a:cubicBezTo>
                    <a:cubicBezTo>
                      <a:pt x="1393448" y="40377"/>
                      <a:pt x="1402303" y="61754"/>
                      <a:pt x="1402303" y="84044"/>
                    </a:cubicBezTo>
                    <a:lnTo>
                      <a:pt x="1402303" y="1104968"/>
                    </a:lnTo>
                    <a:cubicBezTo>
                      <a:pt x="1402303" y="1151384"/>
                      <a:pt x="1364675" y="1189012"/>
                      <a:pt x="1318259" y="1189012"/>
                    </a:cubicBezTo>
                    <a:lnTo>
                      <a:pt x="84044" y="1189012"/>
                    </a:lnTo>
                    <a:cubicBezTo>
                      <a:pt x="37628" y="1189012"/>
                      <a:pt x="0" y="1151384"/>
                      <a:pt x="0" y="1104968"/>
                    </a:cubicBezTo>
                    <a:lnTo>
                      <a:pt x="0" y="84044"/>
                    </a:lnTo>
                    <a:cubicBezTo>
                      <a:pt x="0" y="37628"/>
                      <a:pt x="37628" y="0"/>
                      <a:pt x="84044" y="0"/>
                    </a:cubicBezTo>
                    <a:close/>
                  </a:path>
                </a:pathLst>
              </a:custGeom>
              <a:solidFill>
                <a:srgbClr val="FFFF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Box 8">
                <a:extLst>
                  <a:ext uri="{FF2B5EF4-FFF2-40B4-BE49-F238E27FC236}">
                    <a16:creationId xmlns:a16="http://schemas.microsoft.com/office/drawing/2014/main" id="{472B334F-B0AE-E60B-ACBC-FF80956775CF}"/>
                  </a:ext>
                </a:extLst>
              </p:cNvPr>
              <p:cNvSpPr txBox="1"/>
              <p:nvPr/>
            </p:nvSpPr>
            <p:spPr>
              <a:xfrm>
                <a:off x="0" y="-47625"/>
                <a:ext cx="1402303" cy="1236637"/>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grpSp>
      </p:grpSp>
      <p:grpSp>
        <p:nvGrpSpPr>
          <p:cNvPr id="52" name="Group 51">
            <a:extLst>
              <a:ext uri="{FF2B5EF4-FFF2-40B4-BE49-F238E27FC236}">
                <a16:creationId xmlns:a16="http://schemas.microsoft.com/office/drawing/2014/main" id="{4AA74F69-D8B6-AF8E-8E43-AD82199FAC97}"/>
              </a:ext>
            </a:extLst>
          </p:cNvPr>
          <p:cNvGrpSpPr/>
          <p:nvPr/>
        </p:nvGrpSpPr>
        <p:grpSpPr>
          <a:xfrm>
            <a:off x="7274545" y="5876719"/>
            <a:ext cx="3968239" cy="3482186"/>
            <a:chOff x="984760" y="2171700"/>
            <a:chExt cx="3928437" cy="4304269"/>
          </a:xfrm>
          <a:effectLst>
            <a:outerShdw blurRad="50800" dist="38100" dir="5400000" algn="t" rotWithShape="0">
              <a:prstClr val="black">
                <a:alpha val="40000"/>
              </a:prstClr>
            </a:outerShdw>
          </a:effectLst>
        </p:grpSpPr>
        <p:grpSp>
          <p:nvGrpSpPr>
            <p:cNvPr id="54" name="Group 3">
              <a:extLst>
                <a:ext uri="{FF2B5EF4-FFF2-40B4-BE49-F238E27FC236}">
                  <a16:creationId xmlns:a16="http://schemas.microsoft.com/office/drawing/2014/main" id="{91D983A6-2132-F060-5B76-0E3EDF1DCD83}"/>
                </a:ext>
              </a:extLst>
            </p:cNvPr>
            <p:cNvGrpSpPr/>
            <p:nvPr/>
          </p:nvGrpSpPr>
          <p:grpSpPr>
            <a:xfrm>
              <a:off x="984760" y="2171700"/>
              <a:ext cx="3928437" cy="4304269"/>
              <a:chOff x="0" y="0"/>
              <a:chExt cx="1528996" cy="1299371"/>
            </a:xfrm>
          </p:grpSpPr>
          <p:sp>
            <p:nvSpPr>
              <p:cNvPr id="62" name="Freeform 4">
                <a:extLst>
                  <a:ext uri="{FF2B5EF4-FFF2-40B4-BE49-F238E27FC236}">
                    <a16:creationId xmlns:a16="http://schemas.microsoft.com/office/drawing/2014/main" id="{5450B737-408B-44C3-C8D8-E88D1CB4326C}"/>
                  </a:ext>
                </a:extLst>
              </p:cNvPr>
              <p:cNvSpPr/>
              <p:nvPr/>
            </p:nvSpPr>
            <p:spPr>
              <a:xfrm>
                <a:off x="0" y="0"/>
                <a:ext cx="1528996" cy="1299371"/>
              </a:xfrm>
              <a:custGeom>
                <a:avLst/>
                <a:gdLst/>
                <a:ahLst/>
                <a:cxnLst/>
                <a:rect l="l" t="t" r="r" b="b"/>
                <a:pathLst>
                  <a:path w="1528996" h="1299371">
                    <a:moveTo>
                      <a:pt x="77080" y="0"/>
                    </a:moveTo>
                    <a:lnTo>
                      <a:pt x="1451916" y="0"/>
                    </a:lnTo>
                    <a:cubicBezTo>
                      <a:pt x="1472359" y="0"/>
                      <a:pt x="1491965" y="8121"/>
                      <a:pt x="1506420" y="22576"/>
                    </a:cubicBezTo>
                    <a:cubicBezTo>
                      <a:pt x="1520875" y="37032"/>
                      <a:pt x="1528996" y="56637"/>
                      <a:pt x="1528996" y="77080"/>
                    </a:cubicBezTo>
                    <a:lnTo>
                      <a:pt x="1528996" y="1222291"/>
                    </a:lnTo>
                    <a:cubicBezTo>
                      <a:pt x="1528996" y="1242734"/>
                      <a:pt x="1520875" y="1262340"/>
                      <a:pt x="1506420" y="1276795"/>
                    </a:cubicBezTo>
                    <a:cubicBezTo>
                      <a:pt x="1491965" y="1291250"/>
                      <a:pt x="1472359" y="1299371"/>
                      <a:pt x="1451916" y="1299371"/>
                    </a:cubicBezTo>
                    <a:lnTo>
                      <a:pt x="77080" y="1299371"/>
                    </a:lnTo>
                    <a:cubicBezTo>
                      <a:pt x="56637" y="1299371"/>
                      <a:pt x="37032" y="1291250"/>
                      <a:pt x="22576" y="1276795"/>
                    </a:cubicBezTo>
                    <a:cubicBezTo>
                      <a:pt x="8121" y="1262340"/>
                      <a:pt x="0" y="1242734"/>
                      <a:pt x="0" y="1222291"/>
                    </a:cubicBezTo>
                    <a:lnTo>
                      <a:pt x="0" y="77080"/>
                    </a:lnTo>
                    <a:cubicBezTo>
                      <a:pt x="0" y="56637"/>
                      <a:pt x="8121" y="37032"/>
                      <a:pt x="22576" y="22576"/>
                    </a:cubicBezTo>
                    <a:cubicBezTo>
                      <a:pt x="37032" y="8121"/>
                      <a:pt x="56637" y="0"/>
                      <a:pt x="77080" y="0"/>
                    </a:cubicBezTo>
                    <a:close/>
                  </a:path>
                </a:pathLst>
              </a:custGeom>
              <a:solidFill>
                <a:srgbClr val="FF57E6"/>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4" name="TextBox 5">
                <a:extLst>
                  <a:ext uri="{FF2B5EF4-FFF2-40B4-BE49-F238E27FC236}">
                    <a16:creationId xmlns:a16="http://schemas.microsoft.com/office/drawing/2014/main" id="{339B3986-C1F3-C618-814E-42ADFF5EFA50}"/>
                  </a:ext>
                </a:extLst>
              </p:cNvPr>
              <p:cNvSpPr txBox="1"/>
              <p:nvPr/>
            </p:nvSpPr>
            <p:spPr>
              <a:xfrm>
                <a:off x="0" y="-47625"/>
                <a:ext cx="1528996" cy="1346996"/>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6">
              <a:extLst>
                <a:ext uri="{FF2B5EF4-FFF2-40B4-BE49-F238E27FC236}">
                  <a16:creationId xmlns:a16="http://schemas.microsoft.com/office/drawing/2014/main" id="{CF93F966-7342-921E-0967-61BF23FBE281}"/>
                </a:ext>
              </a:extLst>
            </p:cNvPr>
            <p:cNvGrpSpPr/>
            <p:nvPr/>
          </p:nvGrpSpPr>
          <p:grpSpPr>
            <a:xfrm>
              <a:off x="1147517" y="2354486"/>
              <a:ext cx="3602924" cy="3938696"/>
              <a:chOff x="0" y="0"/>
              <a:chExt cx="1402303" cy="1189012"/>
            </a:xfrm>
          </p:grpSpPr>
          <p:sp>
            <p:nvSpPr>
              <p:cNvPr id="58" name="Freeform 7">
                <a:extLst>
                  <a:ext uri="{FF2B5EF4-FFF2-40B4-BE49-F238E27FC236}">
                    <a16:creationId xmlns:a16="http://schemas.microsoft.com/office/drawing/2014/main" id="{23FE8D04-8C1D-2BE2-FF64-867113F66853}"/>
                  </a:ext>
                </a:extLst>
              </p:cNvPr>
              <p:cNvSpPr/>
              <p:nvPr/>
            </p:nvSpPr>
            <p:spPr>
              <a:xfrm>
                <a:off x="0" y="0"/>
                <a:ext cx="1402303" cy="1189012"/>
              </a:xfrm>
              <a:custGeom>
                <a:avLst/>
                <a:gdLst/>
                <a:ahLst/>
                <a:cxnLst/>
                <a:rect l="l" t="t" r="r" b="b"/>
                <a:pathLst>
                  <a:path w="1402303" h="1189012">
                    <a:moveTo>
                      <a:pt x="84044" y="0"/>
                    </a:moveTo>
                    <a:lnTo>
                      <a:pt x="1318259" y="0"/>
                    </a:lnTo>
                    <a:cubicBezTo>
                      <a:pt x="1340548" y="0"/>
                      <a:pt x="1361925" y="8855"/>
                      <a:pt x="1377687" y="24616"/>
                    </a:cubicBezTo>
                    <a:cubicBezTo>
                      <a:pt x="1393448" y="40377"/>
                      <a:pt x="1402303" y="61754"/>
                      <a:pt x="1402303" y="84044"/>
                    </a:cubicBezTo>
                    <a:lnTo>
                      <a:pt x="1402303" y="1104968"/>
                    </a:lnTo>
                    <a:cubicBezTo>
                      <a:pt x="1402303" y="1151384"/>
                      <a:pt x="1364675" y="1189012"/>
                      <a:pt x="1318259" y="1189012"/>
                    </a:cubicBezTo>
                    <a:lnTo>
                      <a:pt x="84044" y="1189012"/>
                    </a:lnTo>
                    <a:cubicBezTo>
                      <a:pt x="37628" y="1189012"/>
                      <a:pt x="0" y="1151384"/>
                      <a:pt x="0" y="1104968"/>
                    </a:cubicBezTo>
                    <a:lnTo>
                      <a:pt x="0" y="84044"/>
                    </a:lnTo>
                    <a:cubicBezTo>
                      <a:pt x="0" y="37628"/>
                      <a:pt x="37628" y="0"/>
                      <a:pt x="84044" y="0"/>
                    </a:cubicBezTo>
                    <a:close/>
                  </a:path>
                </a:pathLst>
              </a:custGeom>
              <a:solidFill>
                <a:srgbClr val="FFFF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Box 8">
                <a:extLst>
                  <a:ext uri="{FF2B5EF4-FFF2-40B4-BE49-F238E27FC236}">
                    <a16:creationId xmlns:a16="http://schemas.microsoft.com/office/drawing/2014/main" id="{F20BF11A-1EF1-087C-FCDC-E83262BCD5FF}"/>
                  </a:ext>
                </a:extLst>
              </p:cNvPr>
              <p:cNvSpPr txBox="1"/>
              <p:nvPr/>
            </p:nvSpPr>
            <p:spPr>
              <a:xfrm>
                <a:off x="0" y="-47625"/>
                <a:ext cx="1402303" cy="1236637"/>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6" name="Group 65">
            <a:extLst>
              <a:ext uri="{FF2B5EF4-FFF2-40B4-BE49-F238E27FC236}">
                <a16:creationId xmlns:a16="http://schemas.microsoft.com/office/drawing/2014/main" id="{65AC8586-D06A-92F2-3D71-435D7AB6C560}"/>
              </a:ext>
            </a:extLst>
          </p:cNvPr>
          <p:cNvGrpSpPr/>
          <p:nvPr/>
        </p:nvGrpSpPr>
        <p:grpSpPr>
          <a:xfrm>
            <a:off x="11635132" y="5867267"/>
            <a:ext cx="3968239" cy="3483864"/>
            <a:chOff x="984760" y="2171700"/>
            <a:chExt cx="3928437" cy="4304269"/>
          </a:xfrm>
          <a:effectLst>
            <a:outerShdw blurRad="50800" dist="38100" dir="5400000" algn="t" rotWithShape="0">
              <a:prstClr val="black">
                <a:alpha val="40000"/>
              </a:prstClr>
            </a:outerShdw>
          </a:effectLst>
        </p:grpSpPr>
        <p:grpSp>
          <p:nvGrpSpPr>
            <p:cNvPr id="68" name="Group 3">
              <a:extLst>
                <a:ext uri="{FF2B5EF4-FFF2-40B4-BE49-F238E27FC236}">
                  <a16:creationId xmlns:a16="http://schemas.microsoft.com/office/drawing/2014/main" id="{288F4796-C728-5526-3E18-FE4B49C4FAFC}"/>
                </a:ext>
              </a:extLst>
            </p:cNvPr>
            <p:cNvGrpSpPr/>
            <p:nvPr/>
          </p:nvGrpSpPr>
          <p:grpSpPr>
            <a:xfrm>
              <a:off x="984760" y="2171700"/>
              <a:ext cx="3928437" cy="4304269"/>
              <a:chOff x="0" y="0"/>
              <a:chExt cx="1528996" cy="1299371"/>
            </a:xfrm>
          </p:grpSpPr>
          <p:sp>
            <p:nvSpPr>
              <p:cNvPr id="75" name="Freeform 4">
                <a:extLst>
                  <a:ext uri="{FF2B5EF4-FFF2-40B4-BE49-F238E27FC236}">
                    <a16:creationId xmlns:a16="http://schemas.microsoft.com/office/drawing/2014/main" id="{5F897732-F733-B1FA-0BCE-7B092A684ABE}"/>
                  </a:ext>
                </a:extLst>
              </p:cNvPr>
              <p:cNvSpPr/>
              <p:nvPr/>
            </p:nvSpPr>
            <p:spPr>
              <a:xfrm>
                <a:off x="0" y="0"/>
                <a:ext cx="1528996" cy="1299371"/>
              </a:xfrm>
              <a:custGeom>
                <a:avLst/>
                <a:gdLst/>
                <a:ahLst/>
                <a:cxnLst/>
                <a:rect l="l" t="t" r="r" b="b"/>
                <a:pathLst>
                  <a:path w="1528996" h="1299371">
                    <a:moveTo>
                      <a:pt x="77080" y="0"/>
                    </a:moveTo>
                    <a:lnTo>
                      <a:pt x="1451916" y="0"/>
                    </a:lnTo>
                    <a:cubicBezTo>
                      <a:pt x="1472359" y="0"/>
                      <a:pt x="1491965" y="8121"/>
                      <a:pt x="1506420" y="22576"/>
                    </a:cubicBezTo>
                    <a:cubicBezTo>
                      <a:pt x="1520875" y="37032"/>
                      <a:pt x="1528996" y="56637"/>
                      <a:pt x="1528996" y="77080"/>
                    </a:cubicBezTo>
                    <a:lnTo>
                      <a:pt x="1528996" y="1222291"/>
                    </a:lnTo>
                    <a:cubicBezTo>
                      <a:pt x="1528996" y="1242734"/>
                      <a:pt x="1520875" y="1262340"/>
                      <a:pt x="1506420" y="1276795"/>
                    </a:cubicBezTo>
                    <a:cubicBezTo>
                      <a:pt x="1491965" y="1291250"/>
                      <a:pt x="1472359" y="1299371"/>
                      <a:pt x="1451916" y="1299371"/>
                    </a:cubicBezTo>
                    <a:lnTo>
                      <a:pt x="77080" y="1299371"/>
                    </a:lnTo>
                    <a:cubicBezTo>
                      <a:pt x="56637" y="1299371"/>
                      <a:pt x="37032" y="1291250"/>
                      <a:pt x="22576" y="1276795"/>
                    </a:cubicBezTo>
                    <a:cubicBezTo>
                      <a:pt x="8121" y="1262340"/>
                      <a:pt x="0" y="1242734"/>
                      <a:pt x="0" y="1222291"/>
                    </a:cubicBezTo>
                    <a:lnTo>
                      <a:pt x="0" y="77080"/>
                    </a:lnTo>
                    <a:cubicBezTo>
                      <a:pt x="0" y="56637"/>
                      <a:pt x="8121" y="37032"/>
                      <a:pt x="22576" y="22576"/>
                    </a:cubicBezTo>
                    <a:cubicBezTo>
                      <a:pt x="37032" y="8121"/>
                      <a:pt x="56637" y="0"/>
                      <a:pt x="77080" y="0"/>
                    </a:cubicBezTo>
                    <a:close/>
                  </a:path>
                </a:pathLst>
              </a:custGeom>
              <a:solidFill>
                <a:srgbClr val="23EEBE"/>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6" name="TextBox 5">
                <a:extLst>
                  <a:ext uri="{FF2B5EF4-FFF2-40B4-BE49-F238E27FC236}">
                    <a16:creationId xmlns:a16="http://schemas.microsoft.com/office/drawing/2014/main" id="{FFA9598F-8ECA-D546-347E-325C219807BA}"/>
                  </a:ext>
                </a:extLst>
              </p:cNvPr>
              <p:cNvSpPr txBox="1"/>
              <p:nvPr/>
            </p:nvSpPr>
            <p:spPr>
              <a:xfrm>
                <a:off x="0" y="-47625"/>
                <a:ext cx="1528996" cy="1346996"/>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0" name="Group 6">
              <a:extLst>
                <a:ext uri="{FF2B5EF4-FFF2-40B4-BE49-F238E27FC236}">
                  <a16:creationId xmlns:a16="http://schemas.microsoft.com/office/drawing/2014/main" id="{4D82B8A1-6F46-1808-5F16-791511C3F2C1}"/>
                </a:ext>
              </a:extLst>
            </p:cNvPr>
            <p:cNvGrpSpPr/>
            <p:nvPr/>
          </p:nvGrpSpPr>
          <p:grpSpPr>
            <a:xfrm>
              <a:off x="1147517" y="2354486"/>
              <a:ext cx="3602924" cy="3938696"/>
              <a:chOff x="0" y="0"/>
              <a:chExt cx="1402303" cy="1189012"/>
            </a:xfrm>
          </p:grpSpPr>
          <p:sp>
            <p:nvSpPr>
              <p:cNvPr id="72" name="Freeform 7">
                <a:extLst>
                  <a:ext uri="{FF2B5EF4-FFF2-40B4-BE49-F238E27FC236}">
                    <a16:creationId xmlns:a16="http://schemas.microsoft.com/office/drawing/2014/main" id="{4EB29BBF-61C9-8FB7-2187-F314E78866EE}"/>
                  </a:ext>
                </a:extLst>
              </p:cNvPr>
              <p:cNvSpPr/>
              <p:nvPr/>
            </p:nvSpPr>
            <p:spPr>
              <a:xfrm>
                <a:off x="0" y="0"/>
                <a:ext cx="1402303" cy="1189012"/>
              </a:xfrm>
              <a:custGeom>
                <a:avLst/>
                <a:gdLst/>
                <a:ahLst/>
                <a:cxnLst/>
                <a:rect l="l" t="t" r="r" b="b"/>
                <a:pathLst>
                  <a:path w="1402303" h="1189012">
                    <a:moveTo>
                      <a:pt x="84044" y="0"/>
                    </a:moveTo>
                    <a:lnTo>
                      <a:pt x="1318259" y="0"/>
                    </a:lnTo>
                    <a:cubicBezTo>
                      <a:pt x="1340548" y="0"/>
                      <a:pt x="1361925" y="8855"/>
                      <a:pt x="1377687" y="24616"/>
                    </a:cubicBezTo>
                    <a:cubicBezTo>
                      <a:pt x="1393448" y="40377"/>
                      <a:pt x="1402303" y="61754"/>
                      <a:pt x="1402303" y="84044"/>
                    </a:cubicBezTo>
                    <a:lnTo>
                      <a:pt x="1402303" y="1104968"/>
                    </a:lnTo>
                    <a:cubicBezTo>
                      <a:pt x="1402303" y="1151384"/>
                      <a:pt x="1364675" y="1189012"/>
                      <a:pt x="1318259" y="1189012"/>
                    </a:cubicBezTo>
                    <a:lnTo>
                      <a:pt x="84044" y="1189012"/>
                    </a:lnTo>
                    <a:cubicBezTo>
                      <a:pt x="37628" y="1189012"/>
                      <a:pt x="0" y="1151384"/>
                      <a:pt x="0" y="1104968"/>
                    </a:cubicBezTo>
                    <a:lnTo>
                      <a:pt x="0" y="84044"/>
                    </a:lnTo>
                    <a:cubicBezTo>
                      <a:pt x="0" y="37628"/>
                      <a:pt x="37628" y="0"/>
                      <a:pt x="84044" y="0"/>
                    </a:cubicBezTo>
                    <a:close/>
                  </a:path>
                </a:pathLst>
              </a:custGeom>
              <a:solidFill>
                <a:srgbClr val="FFFF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8">
                <a:extLst>
                  <a:ext uri="{FF2B5EF4-FFF2-40B4-BE49-F238E27FC236}">
                    <a16:creationId xmlns:a16="http://schemas.microsoft.com/office/drawing/2014/main" id="{E171FF5D-AAFF-FC7E-80E6-DC282CDCF135}"/>
                  </a:ext>
                </a:extLst>
              </p:cNvPr>
              <p:cNvSpPr txBox="1"/>
              <p:nvPr/>
            </p:nvSpPr>
            <p:spPr>
              <a:xfrm>
                <a:off x="0" y="-47625"/>
                <a:ext cx="1402303" cy="1236637"/>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78" name="TextBox 77">
            <a:extLst>
              <a:ext uri="{FF2B5EF4-FFF2-40B4-BE49-F238E27FC236}">
                <a16:creationId xmlns:a16="http://schemas.microsoft.com/office/drawing/2014/main" id="{ECDE6975-56FA-78B6-840C-8983F38080BF}"/>
              </a:ext>
            </a:extLst>
          </p:cNvPr>
          <p:cNvSpPr txBox="1"/>
          <p:nvPr/>
        </p:nvSpPr>
        <p:spPr>
          <a:xfrm>
            <a:off x="1400000" y="2613225"/>
            <a:ext cx="2638600" cy="523220"/>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FS Blackmail</a:t>
            </a:r>
            <a:endParaRPr kumimoji="0" sz="2800" b="1"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sp>
        <p:nvSpPr>
          <p:cNvPr id="80" name="TextBox 79">
            <a:extLst>
              <a:ext uri="{FF2B5EF4-FFF2-40B4-BE49-F238E27FC236}">
                <a16:creationId xmlns:a16="http://schemas.microsoft.com/office/drawing/2014/main" id="{ABE514FC-CD3B-5EC2-D03C-E2E5B7CEEA25}"/>
              </a:ext>
            </a:extLst>
          </p:cNvPr>
          <p:cNvSpPr txBox="1"/>
          <p:nvPr/>
        </p:nvSpPr>
        <p:spPr>
          <a:xfrm>
            <a:off x="923989" y="3017503"/>
            <a:ext cx="3381222" cy="1785104"/>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Owners claiming guests are demanding goods or services to avoid negative reviews</a:t>
            </a:r>
            <a:endParaRPr kumimoji="0" sz="2200" b="0"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sp>
        <p:nvSpPr>
          <p:cNvPr id="82" name="TextBox 81">
            <a:extLst>
              <a:ext uri="{FF2B5EF4-FFF2-40B4-BE49-F238E27FC236}">
                <a16:creationId xmlns:a16="http://schemas.microsoft.com/office/drawing/2014/main" id="{5C86CA49-3882-FB17-A417-D4A0E000E20F}"/>
              </a:ext>
            </a:extLst>
          </p:cNvPr>
          <p:cNvSpPr txBox="1"/>
          <p:nvPr/>
        </p:nvSpPr>
        <p:spPr>
          <a:xfrm>
            <a:off x="5778239" y="2649219"/>
            <a:ext cx="2852414" cy="523220"/>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FS Incentives</a:t>
            </a:r>
            <a:endParaRPr kumimoji="0" sz="2800" b="1"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sp>
        <p:nvSpPr>
          <p:cNvPr id="84" name="TextBox 83">
            <a:extLst>
              <a:ext uri="{FF2B5EF4-FFF2-40B4-BE49-F238E27FC236}">
                <a16:creationId xmlns:a16="http://schemas.microsoft.com/office/drawing/2014/main" id="{81FF58C3-B986-D8A8-941E-53D57333FCD2}"/>
              </a:ext>
            </a:extLst>
          </p:cNvPr>
          <p:cNvSpPr txBox="1"/>
          <p:nvPr/>
        </p:nvSpPr>
        <p:spPr>
          <a:xfrm>
            <a:off x="5478532" y="3017503"/>
            <a:ext cx="3123014" cy="1785104"/>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Properties offering or demanding goods/services in exchange for reviews.</a:t>
            </a:r>
            <a:endParaRPr kumimoji="0" sz="2200" b="0"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sp>
        <p:nvSpPr>
          <p:cNvPr id="85" name="TextBox 84">
            <a:extLst>
              <a:ext uri="{FF2B5EF4-FFF2-40B4-BE49-F238E27FC236}">
                <a16:creationId xmlns:a16="http://schemas.microsoft.com/office/drawing/2014/main" id="{2A80E43F-9B9F-40D1-B53C-8B8A1F62EEC0}"/>
              </a:ext>
            </a:extLst>
          </p:cNvPr>
          <p:cNvSpPr txBox="1"/>
          <p:nvPr/>
        </p:nvSpPr>
        <p:spPr>
          <a:xfrm>
            <a:off x="10192401" y="2641616"/>
            <a:ext cx="2852414" cy="523220"/>
          </a:xfrm>
          <a:prstGeom prst="rect">
            <a:avLst/>
          </a:prstGeom>
          <a:noFill/>
        </p:spPr>
        <p:txBody>
          <a:bodyPr wrap="square" anchor="t">
            <a:spAutoFit/>
          </a:bodyPr>
          <a:lstStyle/>
          <a:p>
            <a:pPr lvl="0">
              <a:buClr>
                <a:srgbClr val="000000"/>
              </a:buClr>
              <a:defRPr/>
            </a:pPr>
            <a:r>
              <a:rPr lang="en-US" sz="2800" b="1" kern="0" dirty="0">
                <a:solidFill>
                  <a:srgbClr val="000000"/>
                </a:solidFill>
                <a:latin typeface="Poppins" panose="00000500000000000000" pitchFamily="2" charset="0"/>
                <a:cs typeface="Poppins" panose="00000500000000000000" pitchFamily="2" charset="0"/>
                <a:sym typeface="Arial"/>
              </a:rPr>
              <a:t>FS Bullying</a:t>
            </a:r>
            <a:endParaRPr lang="en-US" sz="2800" b="1" kern="0" dirty="0">
              <a:solidFill>
                <a:srgbClr val="002B11"/>
              </a:solidFill>
              <a:latin typeface="Poppins" panose="00000500000000000000" pitchFamily="2" charset="0"/>
              <a:cs typeface="Poppins" panose="00000500000000000000" pitchFamily="2" charset="0"/>
              <a:sym typeface="Arial"/>
            </a:endParaRPr>
          </a:p>
        </p:txBody>
      </p:sp>
      <p:sp>
        <p:nvSpPr>
          <p:cNvPr id="86" name="TextBox 85">
            <a:extLst>
              <a:ext uri="{FF2B5EF4-FFF2-40B4-BE49-F238E27FC236}">
                <a16:creationId xmlns:a16="http://schemas.microsoft.com/office/drawing/2014/main" id="{4AEB2F0D-7161-8227-E90B-6201EBCD4212}"/>
              </a:ext>
            </a:extLst>
          </p:cNvPr>
          <p:cNvSpPr txBox="1"/>
          <p:nvPr/>
        </p:nvSpPr>
        <p:spPr>
          <a:xfrm>
            <a:off x="9892694" y="3009900"/>
            <a:ext cx="3123014" cy="1785104"/>
          </a:xfrm>
          <a:prstGeom prst="rect">
            <a:avLst/>
          </a:prstGeom>
          <a:noFill/>
        </p:spPr>
        <p:txBody>
          <a:bodyPr wrap="square" anchor="t">
            <a:spAutoFit/>
          </a:bodyPr>
          <a:lstStyle/>
          <a:p>
            <a:pPr lvl="0" algn="ctr">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Users reporting harassment from owners attempting to have reviews removed.</a:t>
            </a:r>
            <a:endParaRPr lang="en-US" sz="2200" kern="0" dirty="0">
              <a:solidFill>
                <a:srgbClr val="002B11"/>
              </a:solidFill>
              <a:latin typeface="Poppins" panose="00000500000000000000" pitchFamily="2" charset="0"/>
              <a:cs typeface="Poppins" panose="00000500000000000000" pitchFamily="2" charset="0"/>
              <a:sym typeface="Arial"/>
            </a:endParaRPr>
          </a:p>
        </p:txBody>
      </p:sp>
      <p:sp>
        <p:nvSpPr>
          <p:cNvPr id="87" name="TextBox 86">
            <a:extLst>
              <a:ext uri="{FF2B5EF4-FFF2-40B4-BE49-F238E27FC236}">
                <a16:creationId xmlns:a16="http://schemas.microsoft.com/office/drawing/2014/main" id="{05D37478-C70E-F81C-4CC6-A4E5090C482D}"/>
              </a:ext>
            </a:extLst>
          </p:cNvPr>
          <p:cNvSpPr txBox="1"/>
          <p:nvPr/>
        </p:nvSpPr>
        <p:spPr>
          <a:xfrm>
            <a:off x="14606563" y="2634013"/>
            <a:ext cx="2852414" cy="523220"/>
          </a:xfrm>
          <a:prstGeom prst="rect">
            <a:avLst/>
          </a:prstGeom>
          <a:noFill/>
        </p:spPr>
        <p:txBody>
          <a:bodyPr wrap="square" anchor="t">
            <a:spAutoFit/>
          </a:bodyPr>
          <a:lstStyle/>
          <a:p>
            <a:pPr lvl="0">
              <a:buClr>
                <a:srgbClr val="000000"/>
              </a:buClr>
              <a:defRPr/>
            </a:pPr>
            <a:r>
              <a:rPr lang="en-US" sz="2800" b="1" kern="0" dirty="0">
                <a:solidFill>
                  <a:srgbClr val="000000"/>
                </a:solidFill>
                <a:latin typeface="Poppins" panose="00000500000000000000" pitchFamily="2" charset="0"/>
                <a:cs typeface="Poppins" panose="00000500000000000000" pitchFamily="2" charset="0"/>
                <a:sym typeface="Arial"/>
              </a:rPr>
              <a:t>FS Boosting</a:t>
            </a:r>
            <a:endParaRPr lang="en-US" sz="2800" b="1" kern="0" dirty="0">
              <a:solidFill>
                <a:srgbClr val="002B11"/>
              </a:solidFill>
              <a:latin typeface="Poppins" panose="00000500000000000000" pitchFamily="2" charset="0"/>
              <a:cs typeface="Poppins" panose="00000500000000000000" pitchFamily="2" charset="0"/>
              <a:sym typeface="Arial"/>
            </a:endParaRPr>
          </a:p>
        </p:txBody>
      </p:sp>
      <p:sp>
        <p:nvSpPr>
          <p:cNvPr id="88" name="TextBox 87">
            <a:extLst>
              <a:ext uri="{FF2B5EF4-FFF2-40B4-BE49-F238E27FC236}">
                <a16:creationId xmlns:a16="http://schemas.microsoft.com/office/drawing/2014/main" id="{92450957-E3C6-AFD1-5146-62EEBFBDA899}"/>
              </a:ext>
            </a:extLst>
          </p:cNvPr>
          <p:cNvSpPr txBox="1"/>
          <p:nvPr/>
        </p:nvSpPr>
        <p:spPr>
          <a:xfrm>
            <a:off x="14329412" y="3191913"/>
            <a:ext cx="3123014" cy="1107996"/>
          </a:xfrm>
          <a:prstGeom prst="rect">
            <a:avLst/>
          </a:prstGeom>
          <a:noFill/>
        </p:spPr>
        <p:txBody>
          <a:bodyPr wrap="square" anchor="t">
            <a:spAutoFit/>
          </a:bodyPr>
          <a:lstStyle/>
          <a:p>
            <a:pPr lvl="0" algn="ctr">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Users reporting properties writing reviews on their own.</a:t>
            </a:r>
            <a:endParaRPr lang="en-US" sz="2200" kern="0" dirty="0">
              <a:solidFill>
                <a:srgbClr val="002B11"/>
              </a:solidFill>
              <a:latin typeface="Poppins" panose="00000500000000000000" pitchFamily="2" charset="0"/>
              <a:cs typeface="Poppins" panose="00000500000000000000" pitchFamily="2" charset="0"/>
              <a:sym typeface="Arial"/>
            </a:endParaRPr>
          </a:p>
        </p:txBody>
      </p:sp>
      <p:sp>
        <p:nvSpPr>
          <p:cNvPr id="89" name="TextBox 88">
            <a:extLst>
              <a:ext uri="{FF2B5EF4-FFF2-40B4-BE49-F238E27FC236}">
                <a16:creationId xmlns:a16="http://schemas.microsoft.com/office/drawing/2014/main" id="{813094E5-B745-EBDA-E5E6-80F66C9BC635}"/>
              </a:ext>
            </a:extLst>
          </p:cNvPr>
          <p:cNvSpPr txBox="1"/>
          <p:nvPr/>
        </p:nvSpPr>
        <p:spPr>
          <a:xfrm>
            <a:off x="3659164" y="6134100"/>
            <a:ext cx="3381222" cy="521208"/>
          </a:xfrm>
          <a:prstGeom prst="rect">
            <a:avLst/>
          </a:prstGeom>
          <a:noFill/>
        </p:spPr>
        <p:txBody>
          <a:bodyPr wrap="square" anchor="t">
            <a:spAutoFit/>
          </a:bodyPr>
          <a:lstStyle/>
          <a:p>
            <a:pPr lvl="0">
              <a:buClr>
                <a:srgbClr val="000000"/>
              </a:buClr>
              <a:defRPr/>
            </a:pPr>
            <a:r>
              <a:rPr lang="en-US" sz="2800" b="1" kern="0" dirty="0">
                <a:solidFill>
                  <a:srgbClr val="000000"/>
                </a:solidFill>
                <a:latin typeface="Poppins" panose="00000500000000000000" pitchFamily="2" charset="0"/>
                <a:cs typeface="Poppins" panose="00000500000000000000" pitchFamily="2" charset="0"/>
                <a:sym typeface="Arial"/>
              </a:rPr>
              <a:t>FS Reverse Incentives</a:t>
            </a:r>
            <a:endParaRPr lang="en-US" sz="2800" b="1" kern="0" dirty="0">
              <a:solidFill>
                <a:srgbClr val="002B11"/>
              </a:solidFill>
              <a:latin typeface="Poppins" panose="00000500000000000000" pitchFamily="2" charset="0"/>
              <a:cs typeface="Poppins" panose="00000500000000000000" pitchFamily="2" charset="0"/>
              <a:sym typeface="Arial"/>
            </a:endParaRPr>
          </a:p>
        </p:txBody>
      </p:sp>
      <p:sp>
        <p:nvSpPr>
          <p:cNvPr id="90" name="TextBox 89">
            <a:extLst>
              <a:ext uri="{FF2B5EF4-FFF2-40B4-BE49-F238E27FC236}">
                <a16:creationId xmlns:a16="http://schemas.microsoft.com/office/drawing/2014/main" id="{AE1C52F6-FF09-FD0B-46B4-87F41B530259}"/>
              </a:ext>
            </a:extLst>
          </p:cNvPr>
          <p:cNvSpPr txBox="1"/>
          <p:nvPr/>
        </p:nvSpPr>
        <p:spPr>
          <a:xfrm>
            <a:off x="3109447" y="6972300"/>
            <a:ext cx="3381222" cy="1446550"/>
          </a:xfrm>
          <a:prstGeom prst="rect">
            <a:avLst/>
          </a:prstGeom>
          <a:noFill/>
        </p:spPr>
        <p:txBody>
          <a:bodyPr wrap="square" anchor="t">
            <a:spAutoFit/>
          </a:bodyPr>
          <a:lstStyle/>
          <a:p>
            <a:pPr lvl="0" algn="ctr">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Users reporting properties offering goods/services in exchange for reviews.</a:t>
            </a:r>
            <a:endParaRPr lang="en-US" sz="2200" kern="0" dirty="0">
              <a:solidFill>
                <a:srgbClr val="002B11"/>
              </a:solidFill>
              <a:latin typeface="Poppins" panose="00000500000000000000" pitchFamily="2" charset="0"/>
              <a:cs typeface="Poppins" panose="00000500000000000000" pitchFamily="2" charset="0"/>
              <a:sym typeface="Arial"/>
            </a:endParaRPr>
          </a:p>
        </p:txBody>
      </p:sp>
      <p:sp>
        <p:nvSpPr>
          <p:cNvPr id="91" name="TextBox 90">
            <a:extLst>
              <a:ext uri="{FF2B5EF4-FFF2-40B4-BE49-F238E27FC236}">
                <a16:creationId xmlns:a16="http://schemas.microsoft.com/office/drawing/2014/main" id="{5FF11FC8-A9CD-5EE0-4BE3-7D45ABBCD531}"/>
              </a:ext>
            </a:extLst>
          </p:cNvPr>
          <p:cNvSpPr txBox="1"/>
          <p:nvPr/>
        </p:nvSpPr>
        <p:spPr>
          <a:xfrm>
            <a:off x="8277378" y="6177838"/>
            <a:ext cx="3381222" cy="954107"/>
          </a:xfrm>
          <a:prstGeom prst="rect">
            <a:avLst/>
          </a:prstGeom>
          <a:noFill/>
        </p:spPr>
        <p:txBody>
          <a:bodyPr wrap="square" anchor="t">
            <a:spAutoFit/>
          </a:bodyPr>
          <a:lstStyle/>
          <a:p>
            <a:pPr lvl="0">
              <a:buClr>
                <a:srgbClr val="000000"/>
              </a:buClr>
              <a:defRPr/>
            </a:pPr>
            <a:r>
              <a:rPr lang="en-US" sz="2800" b="1" kern="0" dirty="0">
                <a:solidFill>
                  <a:srgbClr val="000000"/>
                </a:solidFill>
                <a:latin typeface="Poppins" panose="00000500000000000000" pitchFamily="2" charset="0"/>
                <a:cs typeface="Poppins" panose="00000500000000000000" pitchFamily="2" charset="0"/>
                <a:sym typeface="Arial"/>
              </a:rPr>
              <a:t>FS Review Disputes</a:t>
            </a:r>
            <a:endParaRPr lang="en-US" sz="2800" b="1" kern="0" dirty="0">
              <a:solidFill>
                <a:srgbClr val="002B11"/>
              </a:solidFill>
              <a:latin typeface="Poppins" panose="00000500000000000000" pitchFamily="2" charset="0"/>
              <a:cs typeface="Poppins" panose="00000500000000000000" pitchFamily="2" charset="0"/>
              <a:sym typeface="Arial"/>
            </a:endParaRPr>
          </a:p>
        </p:txBody>
      </p:sp>
      <p:sp>
        <p:nvSpPr>
          <p:cNvPr id="92" name="TextBox 91">
            <a:extLst>
              <a:ext uri="{FF2B5EF4-FFF2-40B4-BE49-F238E27FC236}">
                <a16:creationId xmlns:a16="http://schemas.microsoft.com/office/drawing/2014/main" id="{DABC9388-3396-F64E-5E08-7E4E45EDF828}"/>
              </a:ext>
            </a:extLst>
          </p:cNvPr>
          <p:cNvSpPr txBox="1"/>
          <p:nvPr/>
        </p:nvSpPr>
        <p:spPr>
          <a:xfrm>
            <a:off x="7568054" y="7318949"/>
            <a:ext cx="3381222" cy="1107996"/>
          </a:xfrm>
          <a:prstGeom prst="rect">
            <a:avLst/>
          </a:prstGeom>
          <a:noFill/>
        </p:spPr>
        <p:txBody>
          <a:bodyPr wrap="square" anchor="t">
            <a:spAutoFit/>
          </a:bodyPr>
          <a:lstStyle/>
          <a:p>
            <a:pPr lvl="0" algn="ctr">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Reviews being reported by owners or users</a:t>
            </a:r>
            <a:endParaRPr lang="en-US" sz="2200" kern="0" dirty="0">
              <a:solidFill>
                <a:srgbClr val="002B11"/>
              </a:solidFill>
              <a:latin typeface="Poppins" panose="00000500000000000000" pitchFamily="2" charset="0"/>
              <a:cs typeface="Poppins" panose="00000500000000000000" pitchFamily="2" charset="0"/>
              <a:sym typeface="Arial"/>
            </a:endParaRPr>
          </a:p>
        </p:txBody>
      </p:sp>
      <p:sp>
        <p:nvSpPr>
          <p:cNvPr id="93" name="TextBox 92">
            <a:extLst>
              <a:ext uri="{FF2B5EF4-FFF2-40B4-BE49-F238E27FC236}">
                <a16:creationId xmlns:a16="http://schemas.microsoft.com/office/drawing/2014/main" id="{BC8E6C21-632F-80AB-00DB-47EFEF0BAAA3}"/>
              </a:ext>
            </a:extLst>
          </p:cNvPr>
          <p:cNvSpPr txBox="1"/>
          <p:nvPr/>
        </p:nvSpPr>
        <p:spPr>
          <a:xfrm>
            <a:off x="12000629" y="6180520"/>
            <a:ext cx="3381222" cy="954107"/>
          </a:xfrm>
          <a:prstGeom prst="rect">
            <a:avLst/>
          </a:prstGeom>
          <a:noFill/>
        </p:spPr>
        <p:txBody>
          <a:bodyPr wrap="square" anchor="t">
            <a:spAutoFit/>
          </a:bodyPr>
          <a:lstStyle/>
          <a:p>
            <a:pPr lvl="0" algn="ctr">
              <a:buClr>
                <a:srgbClr val="000000"/>
              </a:buClr>
              <a:defRPr/>
            </a:pPr>
            <a:r>
              <a:rPr lang="en-US" sz="2800" b="1" kern="0" dirty="0">
                <a:solidFill>
                  <a:srgbClr val="000000"/>
                </a:solidFill>
                <a:latin typeface="Poppins" panose="00000500000000000000" pitchFamily="2" charset="0"/>
                <a:cs typeface="Poppins" panose="00000500000000000000" pitchFamily="2" charset="0"/>
                <a:sym typeface="Arial"/>
              </a:rPr>
              <a:t>FS Status of My Review</a:t>
            </a:r>
            <a:endParaRPr lang="en-US" sz="2800" b="1" kern="0" dirty="0">
              <a:solidFill>
                <a:srgbClr val="002B11"/>
              </a:solidFill>
              <a:latin typeface="Poppins" panose="00000500000000000000" pitchFamily="2" charset="0"/>
              <a:cs typeface="Poppins" panose="00000500000000000000" pitchFamily="2" charset="0"/>
              <a:sym typeface="Arial"/>
            </a:endParaRPr>
          </a:p>
        </p:txBody>
      </p:sp>
      <p:sp>
        <p:nvSpPr>
          <p:cNvPr id="94" name="TextBox 93">
            <a:extLst>
              <a:ext uri="{FF2B5EF4-FFF2-40B4-BE49-F238E27FC236}">
                <a16:creationId xmlns:a16="http://schemas.microsoft.com/office/drawing/2014/main" id="{D3D59826-FB30-D67C-F89E-F6718FF419F6}"/>
              </a:ext>
            </a:extLst>
          </p:cNvPr>
          <p:cNvSpPr txBox="1"/>
          <p:nvPr/>
        </p:nvSpPr>
        <p:spPr>
          <a:xfrm>
            <a:off x="11928641" y="7112280"/>
            <a:ext cx="3381222" cy="1446550"/>
          </a:xfrm>
          <a:prstGeom prst="rect">
            <a:avLst/>
          </a:prstGeom>
          <a:noFill/>
        </p:spPr>
        <p:txBody>
          <a:bodyPr wrap="square" anchor="t">
            <a:spAutoFit/>
          </a:bodyPr>
          <a:lstStyle/>
          <a:p>
            <a:pPr lvl="0" algn="ctr">
              <a:buClr>
                <a:srgbClr val="000000"/>
              </a:buClr>
              <a:defRPr/>
            </a:pPr>
            <a:r>
              <a:rPr lang="en-US" sz="2200" kern="0" dirty="0">
                <a:solidFill>
                  <a:srgbClr val="000000"/>
                </a:solidFill>
                <a:latin typeface="Poppins" panose="00000500000000000000" pitchFamily="2" charset="0"/>
                <a:cs typeface="Poppins" panose="00000500000000000000" pitchFamily="2" charset="0"/>
                <a:sym typeface="Arial"/>
              </a:rPr>
              <a:t>User inquiries regarding why submitted reviews are not yet published.</a:t>
            </a:r>
            <a:endParaRPr lang="en-US" sz="2200" kern="0" dirty="0">
              <a:solidFill>
                <a:srgbClr val="002B11"/>
              </a:solidFill>
              <a:latin typeface="Poppins" panose="00000500000000000000" pitchFamily="2" charset="0"/>
              <a:cs typeface="Poppins" panose="00000500000000000000" pitchFamily="2" charset="0"/>
              <a:sym typeface="Arial"/>
            </a:endParaRPr>
          </a:p>
        </p:txBody>
      </p:sp>
      <p:sp>
        <p:nvSpPr>
          <p:cNvPr id="96" name="Freeform 8">
            <a:extLst>
              <a:ext uri="{FF2B5EF4-FFF2-40B4-BE49-F238E27FC236}">
                <a16:creationId xmlns:a16="http://schemas.microsoft.com/office/drawing/2014/main" id="{F4C85FE0-2970-A55E-D122-B9F06581D47E}"/>
              </a:ext>
            </a:extLst>
          </p:cNvPr>
          <p:cNvSpPr/>
          <p:nvPr/>
        </p:nvSpPr>
        <p:spPr>
          <a:xfrm rot="19170964">
            <a:off x="11455914" y="-4157532"/>
            <a:ext cx="7440314" cy="6183818"/>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40" name="Picture 39">
            <a:extLst>
              <a:ext uri="{FF2B5EF4-FFF2-40B4-BE49-F238E27FC236}">
                <a16:creationId xmlns:a16="http://schemas.microsoft.com/office/drawing/2014/main" id="{46A71088-7341-E340-E2CA-2A7E014EA6FA}"/>
              </a:ext>
            </a:extLst>
          </p:cNvPr>
          <p:cNvPicPr>
            <a:picLocks noChangeAspect="1"/>
          </p:cNvPicPr>
          <p:nvPr/>
        </p:nvPicPr>
        <p:blipFill>
          <a:blip r:embed="rId4">
            <a:clrChange>
              <a:clrFrom>
                <a:srgbClr val="FEFEFE"/>
              </a:clrFrom>
              <a:clrTo>
                <a:srgbClr val="FEFEFE">
                  <a:alpha val="0"/>
                </a:srgbClr>
              </a:clrTo>
            </a:clrChange>
          </a:blip>
          <a:stretch>
            <a:fillRect/>
          </a:stretch>
        </p:blipFill>
        <p:spPr>
          <a:xfrm>
            <a:off x="15515602" y="5905500"/>
            <a:ext cx="2848598" cy="3560748"/>
          </a:xfrm>
          <a:prstGeom prst="rect">
            <a:avLst/>
          </a:prstGeom>
        </p:spPr>
      </p:pic>
      <p:sp>
        <p:nvSpPr>
          <p:cNvPr id="6" name="TextBox 5">
            <a:extLst>
              <a:ext uri="{FF2B5EF4-FFF2-40B4-BE49-F238E27FC236}">
                <a16:creationId xmlns:a16="http://schemas.microsoft.com/office/drawing/2014/main" id="{9EC2B0BE-4587-0292-A7A4-0D770B968ED7}"/>
              </a:ext>
            </a:extLst>
          </p:cNvPr>
          <p:cNvSpPr txBox="1"/>
          <p:nvPr/>
        </p:nvSpPr>
        <p:spPr>
          <a:xfrm>
            <a:off x="533400" y="9867900"/>
            <a:ext cx="7315200" cy="24622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T</a:t>
            </a:r>
            <a:r>
              <a:rPr kumimoji="0" lang="en-US"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ripadvisor</a:t>
            </a:r>
            <a:r>
              <a:rPr kumimoji="0"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 / F</a:t>
            </a:r>
            <a:r>
              <a:rPr kumimoji="0" lang="en-US"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raud Support</a:t>
            </a:r>
            <a:r>
              <a:rPr kumimoji="0"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 / </a:t>
            </a:r>
            <a:r>
              <a:rPr lang="en-US" sz="1600" spc="50" dirty="0">
                <a:solidFill>
                  <a:srgbClr val="8A8272"/>
                </a:solidFill>
                <a:latin typeface="Poppins" panose="00000500000000000000" pitchFamily="2" charset="0"/>
                <a:cs typeface="Poppins" panose="00000500000000000000" pitchFamily="2" charset="0"/>
              </a:rPr>
              <a:t>Case Types Handled</a:t>
            </a:r>
            <a:endParaRPr kumimoji="0"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endParaRPr>
          </a:p>
        </p:txBody>
      </p:sp>
      <p:sp>
        <p:nvSpPr>
          <p:cNvPr id="38" name="Rectangle: Rounded Corners 37">
            <a:hlinkClick r:id="rId5" action="ppaction://hlinksldjump"/>
            <a:extLst>
              <a:ext uri="{FF2B5EF4-FFF2-40B4-BE49-F238E27FC236}">
                <a16:creationId xmlns:a16="http://schemas.microsoft.com/office/drawing/2014/main" id="{F3FB1C92-8F43-23D6-D953-DD526CB5666F}"/>
              </a:ext>
            </a:extLst>
          </p:cNvPr>
          <p:cNvSpPr/>
          <p:nvPr/>
        </p:nvSpPr>
        <p:spPr>
          <a:xfrm>
            <a:off x="1556888" y="4838700"/>
            <a:ext cx="2018057" cy="392216"/>
          </a:xfrm>
          <a:prstGeom prst="roundRect">
            <a:avLst>
              <a:gd name="adj" fmla="val 5000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4A4A4A"/>
                </a:solidFill>
                <a:latin typeface="Poppins" panose="00000500000000000000" pitchFamily="2" charset="0"/>
                <a:ea typeface="Calibri" pitchFamily="34" charset="-122"/>
                <a:cs typeface="Poppins" panose="00000500000000000000" pitchFamily="2" charset="0"/>
              </a:rPr>
              <a:t>Examples</a:t>
            </a:r>
            <a:endParaRPr lang="en-US" sz="2200" dirty="0">
              <a:solidFill>
                <a:srgbClr val="4A4A4A"/>
              </a:solidFill>
              <a:latin typeface="Poppins" panose="00000500000000000000" pitchFamily="2" charset="0"/>
              <a:ea typeface="Calibri" pitchFamily="34" charset="-122"/>
              <a:cs typeface="Poppins" panose="00000500000000000000" pitchFamily="2" charset="0"/>
            </a:endParaRPr>
          </a:p>
        </p:txBody>
      </p:sp>
      <p:sp>
        <p:nvSpPr>
          <p:cNvPr id="46" name="Rectangle: Rounded Corners 45">
            <a:hlinkClick r:id="rId6" action="ppaction://hlinksldjump"/>
            <a:extLst>
              <a:ext uri="{FF2B5EF4-FFF2-40B4-BE49-F238E27FC236}">
                <a16:creationId xmlns:a16="http://schemas.microsoft.com/office/drawing/2014/main" id="{2F26A290-DDB0-8629-9C5A-99F55923CC5E}"/>
              </a:ext>
            </a:extLst>
          </p:cNvPr>
          <p:cNvSpPr/>
          <p:nvPr/>
        </p:nvSpPr>
        <p:spPr>
          <a:xfrm>
            <a:off x="6061269" y="4838700"/>
            <a:ext cx="2018057" cy="392216"/>
          </a:xfrm>
          <a:prstGeom prst="roundRect">
            <a:avLst>
              <a:gd name="adj" fmla="val 50000"/>
            </a:avLst>
          </a:prstGeom>
          <a:ln>
            <a:solidFill>
              <a:srgbClr val="5FEAF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4A4A4A"/>
                </a:solidFill>
                <a:latin typeface="Poppins" panose="00000500000000000000" pitchFamily="2" charset="0"/>
                <a:ea typeface="Calibri" pitchFamily="34" charset="-122"/>
                <a:cs typeface="Poppins" panose="00000500000000000000" pitchFamily="2" charset="0"/>
              </a:rPr>
              <a:t>Examples</a:t>
            </a:r>
            <a:endParaRPr lang="en-US" sz="2200" dirty="0">
              <a:solidFill>
                <a:srgbClr val="4A4A4A"/>
              </a:solidFill>
              <a:latin typeface="Poppins" panose="00000500000000000000" pitchFamily="2" charset="0"/>
              <a:ea typeface="Calibri" pitchFamily="34" charset="-122"/>
              <a:cs typeface="Poppins" panose="00000500000000000000" pitchFamily="2" charset="0"/>
            </a:endParaRPr>
          </a:p>
        </p:txBody>
      </p:sp>
      <p:sp>
        <p:nvSpPr>
          <p:cNvPr id="48" name="Rectangle: Rounded Corners 47">
            <a:hlinkClick r:id="rId7" action="ppaction://hlinksldjump"/>
            <a:extLst>
              <a:ext uri="{FF2B5EF4-FFF2-40B4-BE49-F238E27FC236}">
                <a16:creationId xmlns:a16="http://schemas.microsoft.com/office/drawing/2014/main" id="{FE0DD142-A48F-CEFB-2AAB-5698FC10A0F8}"/>
              </a:ext>
            </a:extLst>
          </p:cNvPr>
          <p:cNvSpPr/>
          <p:nvPr/>
        </p:nvSpPr>
        <p:spPr>
          <a:xfrm>
            <a:off x="10510734" y="4838700"/>
            <a:ext cx="2018057" cy="392216"/>
          </a:xfrm>
          <a:prstGeom prst="roundRect">
            <a:avLst>
              <a:gd name="adj" fmla="val 50000"/>
            </a:avLst>
          </a:prstGeom>
          <a:ln>
            <a:solidFill>
              <a:srgbClr val="CFFF2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4A4A4A"/>
                </a:solidFill>
                <a:latin typeface="Poppins" panose="00000500000000000000" pitchFamily="2" charset="0"/>
                <a:ea typeface="Calibri" pitchFamily="34" charset="-122"/>
                <a:cs typeface="Poppins" panose="00000500000000000000" pitchFamily="2" charset="0"/>
              </a:rPr>
              <a:t>Examples</a:t>
            </a:r>
            <a:endParaRPr lang="en-US" sz="2200" dirty="0">
              <a:solidFill>
                <a:srgbClr val="4A4A4A"/>
              </a:solidFill>
              <a:latin typeface="Poppins" panose="00000500000000000000" pitchFamily="2" charset="0"/>
              <a:ea typeface="Calibri" pitchFamily="34" charset="-122"/>
              <a:cs typeface="Poppins" panose="00000500000000000000" pitchFamily="2" charset="0"/>
            </a:endParaRPr>
          </a:p>
        </p:txBody>
      </p:sp>
      <p:sp>
        <p:nvSpPr>
          <p:cNvPr id="50" name="Rectangle: Rounded Corners 49">
            <a:hlinkClick r:id="rId8" action="ppaction://hlinksldjump"/>
            <a:extLst>
              <a:ext uri="{FF2B5EF4-FFF2-40B4-BE49-F238E27FC236}">
                <a16:creationId xmlns:a16="http://schemas.microsoft.com/office/drawing/2014/main" id="{734C1756-8D3B-1215-4D6A-3D4C2B1A48B9}"/>
              </a:ext>
            </a:extLst>
          </p:cNvPr>
          <p:cNvSpPr/>
          <p:nvPr/>
        </p:nvSpPr>
        <p:spPr>
          <a:xfrm>
            <a:off x="14881890" y="4802157"/>
            <a:ext cx="2018057" cy="392216"/>
          </a:xfrm>
          <a:prstGeom prst="roundRect">
            <a:avLst>
              <a:gd name="adj" fmla="val 50000"/>
            </a:avLst>
          </a:prstGeom>
          <a:noFill/>
          <a:ln>
            <a:solidFill>
              <a:srgbClr val="D953F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4A4A4A"/>
                </a:solidFill>
                <a:latin typeface="Poppins" panose="00000500000000000000" pitchFamily="2" charset="0"/>
                <a:ea typeface="Calibri" pitchFamily="34" charset="-122"/>
                <a:cs typeface="Poppins" panose="00000500000000000000" pitchFamily="2" charset="0"/>
              </a:rPr>
              <a:t>Examples</a:t>
            </a:r>
            <a:endParaRPr lang="en-US" sz="2200" dirty="0">
              <a:solidFill>
                <a:srgbClr val="4A4A4A"/>
              </a:solidFill>
              <a:latin typeface="Poppins" panose="00000500000000000000" pitchFamily="2" charset="0"/>
              <a:ea typeface="Calibri" pitchFamily="34" charset="-122"/>
              <a:cs typeface="Poppins" panose="00000500000000000000" pitchFamily="2" charset="0"/>
            </a:endParaRPr>
          </a:p>
        </p:txBody>
      </p:sp>
      <p:sp>
        <p:nvSpPr>
          <p:cNvPr id="53" name="Rectangle: Rounded Corners 52">
            <a:hlinkClick r:id="rId9" action="ppaction://hlinksldjump"/>
            <a:extLst>
              <a:ext uri="{FF2B5EF4-FFF2-40B4-BE49-F238E27FC236}">
                <a16:creationId xmlns:a16="http://schemas.microsoft.com/office/drawing/2014/main" id="{116C0C5D-D0A7-BC1A-7A64-5DF7B0E46096}"/>
              </a:ext>
            </a:extLst>
          </p:cNvPr>
          <p:cNvSpPr/>
          <p:nvPr/>
        </p:nvSpPr>
        <p:spPr>
          <a:xfrm>
            <a:off x="3696291" y="8680211"/>
            <a:ext cx="2018057" cy="392216"/>
          </a:xfrm>
          <a:prstGeom prst="roundRect">
            <a:avLst>
              <a:gd name="adj" fmla="val 50000"/>
            </a:avLst>
          </a:prstGeom>
          <a:ln>
            <a:solidFill>
              <a:srgbClr val="FFED0E"/>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4A4A4A"/>
                </a:solidFill>
                <a:latin typeface="Poppins" panose="00000500000000000000" pitchFamily="2" charset="0"/>
                <a:ea typeface="Calibri" pitchFamily="34" charset="-122"/>
                <a:cs typeface="Poppins" panose="00000500000000000000" pitchFamily="2" charset="0"/>
              </a:rPr>
              <a:t>Examples</a:t>
            </a:r>
            <a:endParaRPr lang="en-US" sz="2200" dirty="0">
              <a:solidFill>
                <a:srgbClr val="4A4A4A"/>
              </a:solidFill>
              <a:latin typeface="Poppins" panose="00000500000000000000" pitchFamily="2" charset="0"/>
              <a:ea typeface="Calibri" pitchFamily="34" charset="-122"/>
              <a:cs typeface="Poppins" panose="00000500000000000000" pitchFamily="2" charset="0"/>
            </a:endParaRPr>
          </a:p>
        </p:txBody>
      </p:sp>
      <p:sp>
        <p:nvSpPr>
          <p:cNvPr id="57" name="Rectangle: Rounded Corners 56">
            <a:hlinkClick r:id="rId10" action="ppaction://hlinksldjump"/>
            <a:extLst>
              <a:ext uri="{FF2B5EF4-FFF2-40B4-BE49-F238E27FC236}">
                <a16:creationId xmlns:a16="http://schemas.microsoft.com/office/drawing/2014/main" id="{83C564A3-23A1-D712-8365-D3E9DF99A520}"/>
              </a:ext>
            </a:extLst>
          </p:cNvPr>
          <p:cNvSpPr/>
          <p:nvPr/>
        </p:nvSpPr>
        <p:spPr>
          <a:xfrm>
            <a:off x="8213609" y="8680211"/>
            <a:ext cx="2018057" cy="392216"/>
          </a:xfrm>
          <a:prstGeom prst="roundRect">
            <a:avLst>
              <a:gd name="adj" fmla="val 50000"/>
            </a:avLst>
          </a:prstGeom>
          <a:ln>
            <a:solidFill>
              <a:srgbClr val="FF57E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4A4A4A"/>
                </a:solidFill>
                <a:latin typeface="Poppins" panose="00000500000000000000" pitchFamily="2" charset="0"/>
                <a:ea typeface="Calibri" pitchFamily="34" charset="-122"/>
                <a:cs typeface="Poppins" panose="00000500000000000000" pitchFamily="2" charset="0"/>
              </a:rPr>
              <a:t>Examples</a:t>
            </a:r>
            <a:endParaRPr lang="en-US" sz="2200" dirty="0">
              <a:solidFill>
                <a:srgbClr val="4A4A4A"/>
              </a:solidFill>
              <a:latin typeface="Poppins" panose="00000500000000000000" pitchFamily="2" charset="0"/>
              <a:ea typeface="Calibri" pitchFamily="34" charset="-122"/>
              <a:cs typeface="Poppins" panose="00000500000000000000" pitchFamily="2" charset="0"/>
            </a:endParaRPr>
          </a:p>
        </p:txBody>
      </p:sp>
      <p:sp>
        <p:nvSpPr>
          <p:cNvPr id="61" name="Rectangle: Rounded Corners 60">
            <a:hlinkClick r:id="rId11" action="ppaction://hlinksldjump"/>
            <a:extLst>
              <a:ext uri="{FF2B5EF4-FFF2-40B4-BE49-F238E27FC236}">
                <a16:creationId xmlns:a16="http://schemas.microsoft.com/office/drawing/2014/main" id="{EF70677E-211D-1F5B-BC18-587A0206B52C}"/>
              </a:ext>
            </a:extLst>
          </p:cNvPr>
          <p:cNvSpPr/>
          <p:nvPr/>
        </p:nvSpPr>
        <p:spPr>
          <a:xfrm>
            <a:off x="12682211" y="8680211"/>
            <a:ext cx="2018057" cy="392216"/>
          </a:xfrm>
          <a:prstGeom prst="roundRect">
            <a:avLst>
              <a:gd name="adj" fmla="val 50000"/>
            </a:avLst>
          </a:prstGeom>
          <a:ln>
            <a:solidFill>
              <a:srgbClr val="23EEBE"/>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rgbClr val="4A4A4A"/>
                </a:solidFill>
                <a:latin typeface="Poppins" panose="00000500000000000000" pitchFamily="2" charset="0"/>
                <a:ea typeface="Calibri" pitchFamily="34" charset="-122"/>
                <a:cs typeface="Poppins" panose="00000500000000000000" pitchFamily="2" charset="0"/>
              </a:rPr>
              <a:t>Examples</a:t>
            </a:r>
            <a:endParaRPr lang="en-US" sz="2200" dirty="0">
              <a:solidFill>
                <a:srgbClr val="4A4A4A"/>
              </a:solidFill>
              <a:latin typeface="Poppins" panose="00000500000000000000" pitchFamily="2" charset="0"/>
              <a:ea typeface="Calibri" pitchFamily="34" charset="-122"/>
              <a:cs typeface="Poppins" panose="00000500000000000000" pitchFamily="2" charset="0"/>
            </a:endParaRPr>
          </a:p>
        </p:txBody>
      </p:sp>
    </p:spTree>
    <p:extLst>
      <p:ext uri="{BB962C8B-B14F-4D97-AF65-F5344CB8AC3E}">
        <p14:creationId xmlns:p14="http://schemas.microsoft.com/office/powerpoint/2010/main" val="2542605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Freeform 4">
            <a:extLst>
              <a:ext uri="{FF2B5EF4-FFF2-40B4-BE49-F238E27FC236}">
                <a16:creationId xmlns:a16="http://schemas.microsoft.com/office/drawing/2014/main" id="{B4CA5203-7ECD-3914-0C87-BF3D77FB6B78}"/>
              </a:ext>
            </a:extLst>
          </p:cNvPr>
          <p:cNvSpPr/>
          <p:nvPr/>
        </p:nvSpPr>
        <p:spPr>
          <a:xfrm rot="17310465">
            <a:off x="12328431" y="3992316"/>
            <a:ext cx="9056866"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80" name="Freeform 4">
            <a:extLst>
              <a:ext uri="{FF2B5EF4-FFF2-40B4-BE49-F238E27FC236}">
                <a16:creationId xmlns:a16="http://schemas.microsoft.com/office/drawing/2014/main" id="{001A8480-D534-5AC9-7DE1-892632235B2B}"/>
              </a:ext>
            </a:extLst>
          </p:cNvPr>
          <p:cNvSpPr/>
          <p:nvPr/>
        </p:nvSpPr>
        <p:spPr>
          <a:xfrm rot="5554844">
            <a:off x="-6561578" y="3184640"/>
            <a:ext cx="12381610"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23" name="Group 23"/>
          <p:cNvGrpSpPr/>
          <p:nvPr/>
        </p:nvGrpSpPr>
        <p:grpSpPr>
          <a:xfrm>
            <a:off x="9482205" y="1805188"/>
            <a:ext cx="5949039" cy="3804447"/>
            <a:chOff x="0" y="0"/>
            <a:chExt cx="1778700" cy="1137490"/>
          </a:xfrm>
        </p:grpSpPr>
        <p:sp>
          <p:nvSpPr>
            <p:cNvPr id="24" name="Freeform 24"/>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5"/>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6" name="Group 26"/>
          <p:cNvGrpSpPr/>
          <p:nvPr/>
        </p:nvGrpSpPr>
        <p:grpSpPr>
          <a:xfrm>
            <a:off x="9702276" y="1984982"/>
            <a:ext cx="5508897" cy="3437667"/>
            <a:chOff x="0" y="0"/>
            <a:chExt cx="1647103" cy="1027826"/>
          </a:xfrm>
        </p:grpSpPr>
        <p:sp>
          <p:nvSpPr>
            <p:cNvPr id="27" name="Freeform 27"/>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 name="TextBox 28"/>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9" name="Group 29"/>
          <p:cNvGrpSpPr/>
          <p:nvPr/>
        </p:nvGrpSpPr>
        <p:grpSpPr>
          <a:xfrm>
            <a:off x="12954000" y="4862049"/>
            <a:ext cx="350910" cy="350910"/>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Box 31"/>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2" name="Group 32"/>
          <p:cNvGrpSpPr/>
          <p:nvPr/>
        </p:nvGrpSpPr>
        <p:grpSpPr>
          <a:xfrm>
            <a:off x="13365090" y="4864299"/>
            <a:ext cx="350910" cy="350910"/>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Box 34"/>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5" name="Group 35"/>
          <p:cNvGrpSpPr/>
          <p:nvPr/>
        </p:nvGrpSpPr>
        <p:grpSpPr>
          <a:xfrm>
            <a:off x="14203290" y="4868797"/>
            <a:ext cx="350910" cy="350910"/>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Box 37"/>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8"/>
          <p:cNvGrpSpPr/>
          <p:nvPr/>
        </p:nvGrpSpPr>
        <p:grpSpPr>
          <a:xfrm>
            <a:off x="14630400" y="4871047"/>
            <a:ext cx="350910" cy="350910"/>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Box 40"/>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1" name="Group 41"/>
          <p:cNvGrpSpPr/>
          <p:nvPr/>
        </p:nvGrpSpPr>
        <p:grpSpPr>
          <a:xfrm>
            <a:off x="13792200" y="4866548"/>
            <a:ext cx="350910" cy="350910"/>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Box 43"/>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4" name="Group 44"/>
          <p:cNvGrpSpPr/>
          <p:nvPr/>
        </p:nvGrpSpPr>
        <p:grpSpPr>
          <a:xfrm>
            <a:off x="5956707" y="5944191"/>
            <a:ext cx="5949039" cy="3804447"/>
            <a:chOff x="0" y="0"/>
            <a:chExt cx="1778700" cy="1137490"/>
          </a:xfrm>
        </p:grpSpPr>
        <p:sp>
          <p:nvSpPr>
            <p:cNvPr id="45" name="Freeform 45"/>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Box 46"/>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7" name="Group 47"/>
          <p:cNvGrpSpPr/>
          <p:nvPr/>
        </p:nvGrpSpPr>
        <p:grpSpPr>
          <a:xfrm>
            <a:off x="6176778" y="6123985"/>
            <a:ext cx="5508897" cy="3437667"/>
            <a:chOff x="0" y="0"/>
            <a:chExt cx="1647103" cy="1027826"/>
          </a:xfrm>
        </p:grpSpPr>
        <p:sp>
          <p:nvSpPr>
            <p:cNvPr id="48" name="Freeform 48"/>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Box 49"/>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0" name="Group 50"/>
          <p:cNvGrpSpPr/>
          <p:nvPr/>
        </p:nvGrpSpPr>
        <p:grpSpPr>
          <a:xfrm>
            <a:off x="9372600" y="9001052"/>
            <a:ext cx="350910" cy="350910"/>
            <a:chOff x="0" y="0"/>
            <a:chExt cx="812800" cy="812800"/>
          </a:xfrm>
        </p:grpSpPr>
        <p:sp>
          <p:nvSpPr>
            <p:cNvPr id="51" name="Freeform 5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Box 52"/>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3" name="Group 53"/>
          <p:cNvGrpSpPr/>
          <p:nvPr/>
        </p:nvGrpSpPr>
        <p:grpSpPr>
          <a:xfrm>
            <a:off x="9783690" y="9003301"/>
            <a:ext cx="350910" cy="350910"/>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p:cNvGrpSpPr/>
          <p:nvPr/>
        </p:nvGrpSpPr>
        <p:grpSpPr>
          <a:xfrm>
            <a:off x="10621890" y="9007800"/>
            <a:ext cx="350910" cy="350910"/>
            <a:chOff x="0" y="0"/>
            <a:chExt cx="812800" cy="812800"/>
          </a:xfrm>
        </p:grpSpPr>
        <p:sp>
          <p:nvSpPr>
            <p:cNvPr id="57" name="Freeform 5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p:cNvGrpSpPr/>
          <p:nvPr/>
        </p:nvGrpSpPr>
        <p:grpSpPr>
          <a:xfrm>
            <a:off x="11049000" y="9010050"/>
            <a:ext cx="350910" cy="350910"/>
            <a:chOff x="0" y="0"/>
            <a:chExt cx="812800" cy="812800"/>
          </a:xfrm>
        </p:grpSpPr>
        <p:sp>
          <p:nvSpPr>
            <p:cNvPr id="60" name="Freeform 6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p:cNvGrpSpPr/>
          <p:nvPr/>
        </p:nvGrpSpPr>
        <p:grpSpPr>
          <a:xfrm>
            <a:off x="10210800" y="9005551"/>
            <a:ext cx="350910" cy="350910"/>
            <a:chOff x="0" y="0"/>
            <a:chExt cx="812800" cy="812800"/>
          </a:xfrm>
        </p:grpSpPr>
        <p:sp>
          <p:nvSpPr>
            <p:cNvPr id="63" name="Freeform 6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7">
            <a:extLst>
              <a:ext uri="{FF2B5EF4-FFF2-40B4-BE49-F238E27FC236}">
                <a16:creationId xmlns:a16="http://schemas.microsoft.com/office/drawing/2014/main" id="{C01AB7AF-9643-11B8-6ED3-736932D14413}"/>
              </a:ext>
            </a:extLst>
          </p:cNvPr>
          <p:cNvGrpSpPr/>
          <p:nvPr/>
        </p:nvGrpSpPr>
        <p:grpSpPr>
          <a:xfrm>
            <a:off x="1720736" y="1444102"/>
            <a:ext cx="6273444" cy="4169129"/>
            <a:chOff x="1720736" y="1444102"/>
            <a:chExt cx="6273444" cy="4169129"/>
          </a:xfrm>
        </p:grpSpPr>
        <p:grpSp>
          <p:nvGrpSpPr>
            <p:cNvPr id="2" name="Group 2"/>
            <p:cNvGrpSpPr/>
            <p:nvPr/>
          </p:nvGrpSpPr>
          <p:grpSpPr>
            <a:xfrm>
              <a:off x="2045141" y="1808784"/>
              <a:ext cx="5949039" cy="3804447"/>
              <a:chOff x="0" y="0"/>
              <a:chExt cx="1778700" cy="1137490"/>
            </a:xfrm>
          </p:grpSpPr>
          <p:sp>
            <p:nvSpPr>
              <p:cNvPr id="3" name="Freeform 3"/>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p:cNvGrpSpPr/>
            <p:nvPr/>
          </p:nvGrpSpPr>
          <p:grpSpPr>
            <a:xfrm>
              <a:off x="2265212" y="1988578"/>
              <a:ext cx="5508897" cy="3437667"/>
              <a:chOff x="0" y="0"/>
              <a:chExt cx="1647103" cy="1027826"/>
            </a:xfrm>
          </p:grpSpPr>
          <p:sp>
            <p:nvSpPr>
              <p:cNvPr id="6" name="Freeform 6"/>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p:cNvGrpSpPr/>
            <p:nvPr/>
          </p:nvGrpSpPr>
          <p:grpSpPr>
            <a:xfrm>
              <a:off x="5486400" y="4865645"/>
              <a:ext cx="350910" cy="35091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p:cNvGrpSpPr/>
            <p:nvPr/>
          </p:nvGrpSpPr>
          <p:grpSpPr>
            <a:xfrm>
              <a:off x="5897490" y="4867894"/>
              <a:ext cx="350910" cy="35091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p:cNvGrpSpPr/>
            <p:nvPr/>
          </p:nvGrpSpPr>
          <p:grpSpPr>
            <a:xfrm>
              <a:off x="6735690" y="4872393"/>
              <a:ext cx="350910" cy="35091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p:cNvGrpSpPr/>
            <p:nvPr/>
          </p:nvGrpSpPr>
          <p:grpSpPr>
            <a:xfrm>
              <a:off x="7149817" y="4874643"/>
              <a:ext cx="350910" cy="350910"/>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 name="Group 20"/>
            <p:cNvGrpSpPr/>
            <p:nvPr/>
          </p:nvGrpSpPr>
          <p:grpSpPr>
            <a:xfrm>
              <a:off x="6324600" y="4870144"/>
              <a:ext cx="350910" cy="35091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2"/>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5" name="Freeform 65"/>
            <p:cNvSpPr/>
            <p:nvPr/>
          </p:nvSpPr>
          <p:spPr>
            <a:xfrm>
              <a:off x="1720736" y="1444102"/>
              <a:ext cx="1088952" cy="1088952"/>
            </a:xfrm>
            <a:custGeom>
              <a:avLst/>
              <a:gdLst/>
              <a:ahLst/>
              <a:cxnLst/>
              <a:rect l="l" t="t" r="r" b="b"/>
              <a:pathLst>
                <a:path w="1088952" h="1088952">
                  <a:moveTo>
                    <a:pt x="0" y="0"/>
                  </a:moveTo>
                  <a:lnTo>
                    <a:pt x="1088952" y="0"/>
                  </a:lnTo>
                  <a:lnTo>
                    <a:pt x="1088952" y="1088952"/>
                  </a:lnTo>
                  <a:lnTo>
                    <a:pt x="0" y="10889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6" name="Freeform 66"/>
          <p:cNvSpPr/>
          <p:nvPr/>
        </p:nvSpPr>
        <p:spPr>
          <a:xfrm>
            <a:off x="9185419" y="1499341"/>
            <a:ext cx="1033713" cy="1033713"/>
          </a:xfrm>
          <a:custGeom>
            <a:avLst/>
            <a:gdLst/>
            <a:ahLst/>
            <a:cxnLst/>
            <a:rect l="l" t="t" r="r" b="b"/>
            <a:pathLst>
              <a:path w="1033713" h="1033713">
                <a:moveTo>
                  <a:pt x="0" y="0"/>
                </a:moveTo>
                <a:lnTo>
                  <a:pt x="1033713" y="0"/>
                </a:lnTo>
                <a:lnTo>
                  <a:pt x="1033713" y="1033713"/>
                </a:lnTo>
                <a:lnTo>
                  <a:pt x="0" y="10337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Freeform 67"/>
          <p:cNvSpPr/>
          <p:nvPr/>
        </p:nvSpPr>
        <p:spPr>
          <a:xfrm>
            <a:off x="5589702" y="5734641"/>
            <a:ext cx="1071918" cy="1071918"/>
          </a:xfrm>
          <a:custGeom>
            <a:avLst/>
            <a:gdLst/>
            <a:ahLst/>
            <a:cxnLst/>
            <a:rect l="l" t="t" r="r" b="b"/>
            <a:pathLst>
              <a:path w="1071918" h="1071918">
                <a:moveTo>
                  <a:pt x="0" y="0"/>
                </a:moveTo>
                <a:lnTo>
                  <a:pt x="1071919" y="0"/>
                </a:lnTo>
                <a:lnTo>
                  <a:pt x="1071919" y="1071918"/>
                </a:lnTo>
                <a:lnTo>
                  <a:pt x="0" y="10719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TextBox 68">
            <a:extLst>
              <a:ext uri="{FF2B5EF4-FFF2-40B4-BE49-F238E27FC236}">
                <a16:creationId xmlns:a16="http://schemas.microsoft.com/office/drawing/2014/main" id="{1E6D25B9-7F5A-0CE5-EB9A-6191B3E483AA}"/>
              </a:ext>
            </a:extLst>
          </p:cNvPr>
          <p:cNvSpPr txBox="1"/>
          <p:nvPr/>
        </p:nvSpPr>
        <p:spPr>
          <a:xfrm>
            <a:off x="1085419" y="446516"/>
            <a:ext cx="16200000" cy="89255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200" b="1" i="0" u="none" strike="noStrike" kern="0" cap="none" spc="0" normalizeH="0" baseline="0" noProof="0" dirty="0">
                <a:ln>
                  <a:noFill/>
                </a:ln>
                <a:solidFill>
                  <a:srgbClr val="002B11"/>
                </a:solidFill>
                <a:effectLst/>
                <a:uLnTx/>
                <a:uFillTx/>
                <a:latin typeface="Poppins Black"/>
                <a:cs typeface="Arial"/>
                <a:sym typeface="Arial"/>
              </a:rPr>
              <a:t>FS Blackmail - Examples</a:t>
            </a:r>
          </a:p>
        </p:txBody>
      </p:sp>
      <p:sp>
        <p:nvSpPr>
          <p:cNvPr id="71" name="TextBox 70">
            <a:extLst>
              <a:ext uri="{FF2B5EF4-FFF2-40B4-BE49-F238E27FC236}">
                <a16:creationId xmlns:a16="http://schemas.microsoft.com/office/drawing/2014/main" id="{16993F8F-9AF0-9B9B-A204-BF363CFD4F64}"/>
              </a:ext>
            </a:extLst>
          </p:cNvPr>
          <p:cNvSpPr txBox="1"/>
          <p:nvPr/>
        </p:nvSpPr>
        <p:spPr>
          <a:xfrm>
            <a:off x="2544000" y="2748305"/>
            <a:ext cx="4956727" cy="1567865"/>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An owner hints to a guest that a discount might be given if the review is positive. </a:t>
            </a:r>
          </a:p>
        </p:txBody>
      </p:sp>
      <p:sp>
        <p:nvSpPr>
          <p:cNvPr id="72" name="TextBox 71">
            <a:extLst>
              <a:ext uri="{FF2B5EF4-FFF2-40B4-BE49-F238E27FC236}">
                <a16:creationId xmlns:a16="http://schemas.microsoft.com/office/drawing/2014/main" id="{DEBB0E28-FF81-949A-5612-4419832F35E4}"/>
              </a:ext>
            </a:extLst>
          </p:cNvPr>
          <p:cNvSpPr txBox="1"/>
          <p:nvPr/>
        </p:nvSpPr>
        <p:spPr>
          <a:xfrm>
            <a:off x="9959145" y="2810198"/>
            <a:ext cx="4956727" cy="1567865"/>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An owner explicitly demands free services from a guest to avoid a negative review. </a:t>
            </a:r>
          </a:p>
        </p:txBody>
      </p:sp>
      <p:sp>
        <p:nvSpPr>
          <p:cNvPr id="73" name="TextBox 72">
            <a:extLst>
              <a:ext uri="{FF2B5EF4-FFF2-40B4-BE49-F238E27FC236}">
                <a16:creationId xmlns:a16="http://schemas.microsoft.com/office/drawing/2014/main" id="{6D256F8C-3BCE-6C09-43F9-2377117935AB}"/>
              </a:ext>
            </a:extLst>
          </p:cNvPr>
          <p:cNvSpPr txBox="1"/>
          <p:nvPr/>
        </p:nvSpPr>
        <p:spPr>
          <a:xfrm>
            <a:off x="6500055" y="6743700"/>
            <a:ext cx="4956727" cy="2075696"/>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An owner threatens legal action or public shaming if a guest leaves a negative review without providing goods or services. </a:t>
            </a:r>
          </a:p>
        </p:txBody>
      </p:sp>
      <p:sp>
        <p:nvSpPr>
          <p:cNvPr id="76" name="TextBox 75">
            <a:extLst>
              <a:ext uri="{FF2B5EF4-FFF2-40B4-BE49-F238E27FC236}">
                <a16:creationId xmlns:a16="http://schemas.microsoft.com/office/drawing/2014/main" id="{87A95FF8-16BD-4653-9A37-C1FFF38615D3}"/>
              </a:ext>
            </a:extLst>
          </p:cNvPr>
          <p:cNvSpPr txBox="1"/>
          <p:nvPr/>
        </p:nvSpPr>
        <p:spPr>
          <a:xfrm>
            <a:off x="533400" y="9867900"/>
            <a:ext cx="7315200" cy="246221"/>
          </a:xfrm>
          <a:prstGeom prst="rect">
            <a:avLst/>
          </a:prstGeom>
          <a:noFill/>
        </p:spPr>
        <p:txBody>
          <a:bodyPr wrap="square" lIns="0" tIns="0" rIns="0" bIns="0" anchor="t">
            <a:spAutoFit/>
          </a:bodyPr>
          <a:lstStyle/>
          <a:p>
            <a:pPr defTabSz="457200">
              <a:defRPr/>
            </a:pPr>
            <a:r>
              <a:rPr sz="1600" spc="50" dirty="0">
                <a:solidFill>
                  <a:srgbClr val="8A8272"/>
                </a:solidFill>
                <a:latin typeface="Poppins" panose="00000500000000000000" pitchFamily="2" charset="0"/>
                <a:cs typeface="Poppins" panose="00000500000000000000" pitchFamily="2" charset="0"/>
              </a:rPr>
              <a:t>T</a:t>
            </a:r>
            <a:r>
              <a:rPr lang="en-US" sz="1600" spc="50" dirty="0">
                <a:solidFill>
                  <a:srgbClr val="8A8272"/>
                </a:solidFill>
                <a:latin typeface="Poppins" panose="00000500000000000000" pitchFamily="2" charset="0"/>
                <a:cs typeface="Poppins" panose="00000500000000000000" pitchFamily="2" charset="0"/>
              </a:rPr>
              <a:t>ripadvisor</a:t>
            </a:r>
            <a:r>
              <a:rPr sz="1600" spc="50" dirty="0">
                <a:solidFill>
                  <a:srgbClr val="8A8272"/>
                </a:solidFill>
                <a:latin typeface="Poppins" panose="00000500000000000000" pitchFamily="2" charset="0"/>
                <a:cs typeface="Poppins" panose="00000500000000000000" pitchFamily="2" charset="0"/>
              </a:rPr>
              <a:t> / F</a:t>
            </a:r>
            <a:r>
              <a:rPr lang="en-US" sz="1600" spc="50" dirty="0">
                <a:solidFill>
                  <a:srgbClr val="8A8272"/>
                </a:solidFill>
                <a:latin typeface="Poppins" panose="00000500000000000000" pitchFamily="2" charset="0"/>
                <a:cs typeface="Poppins" panose="00000500000000000000" pitchFamily="2" charset="0"/>
              </a:rPr>
              <a:t>raud Support</a:t>
            </a:r>
            <a:r>
              <a:rPr sz="1600" spc="50" dirty="0">
                <a:solidFill>
                  <a:srgbClr val="8A8272"/>
                </a:solidFill>
                <a:latin typeface="Poppins" panose="00000500000000000000" pitchFamily="2" charset="0"/>
                <a:cs typeface="Poppins" panose="00000500000000000000" pitchFamily="2" charset="0"/>
              </a:rPr>
              <a:t> / </a:t>
            </a:r>
            <a:r>
              <a:rPr lang="en-US" sz="1600" spc="50" dirty="0">
                <a:solidFill>
                  <a:srgbClr val="8A8272"/>
                </a:solidFill>
                <a:latin typeface="Poppins" panose="00000500000000000000" pitchFamily="2" charset="0"/>
                <a:cs typeface="Poppins" panose="00000500000000000000" pitchFamily="2" charset="0"/>
              </a:rPr>
              <a:t>Examples</a:t>
            </a:r>
            <a:endParaRPr sz="1600" spc="50" dirty="0">
              <a:solidFill>
                <a:srgbClr val="8A8272"/>
              </a:solidFill>
              <a:latin typeface="Poppins" panose="00000500000000000000" pitchFamily="2" charset="0"/>
              <a:cs typeface="Poppins" panose="00000500000000000000" pitchFamily="2" charset="0"/>
            </a:endParaRPr>
          </a:p>
        </p:txBody>
      </p:sp>
      <p:sp>
        <p:nvSpPr>
          <p:cNvPr id="70" name="Action Button: Go Home 69">
            <a:hlinkClick r:id="rId6" action="ppaction://hlinksldjump" highlightClick="1"/>
            <a:extLst>
              <a:ext uri="{FF2B5EF4-FFF2-40B4-BE49-F238E27FC236}">
                <a16:creationId xmlns:a16="http://schemas.microsoft.com/office/drawing/2014/main" id="{427C67F1-94FD-DD38-18A6-4B9CF440B31C}"/>
              </a:ext>
            </a:extLst>
          </p:cNvPr>
          <p:cNvSpPr/>
          <p:nvPr/>
        </p:nvSpPr>
        <p:spPr>
          <a:xfrm>
            <a:off x="17068800" y="9262922"/>
            <a:ext cx="1143000" cy="909778"/>
          </a:xfrm>
          <a:prstGeom prst="actionButtonHom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F8DF6-2498-229A-0FDC-E119A85CD94A}"/>
            </a:ext>
          </a:extLst>
        </p:cNvPr>
        <p:cNvGrpSpPr/>
        <p:nvPr/>
      </p:nvGrpSpPr>
      <p:grpSpPr>
        <a:xfrm>
          <a:off x="0" y="0"/>
          <a:ext cx="0" cy="0"/>
          <a:chOff x="0" y="0"/>
          <a:chExt cx="0" cy="0"/>
        </a:xfrm>
      </p:grpSpPr>
      <p:sp>
        <p:nvSpPr>
          <p:cNvPr id="70" name="Freeform 4">
            <a:extLst>
              <a:ext uri="{FF2B5EF4-FFF2-40B4-BE49-F238E27FC236}">
                <a16:creationId xmlns:a16="http://schemas.microsoft.com/office/drawing/2014/main" id="{F96D1C53-8FE7-4455-FAAE-7341C264802A}"/>
              </a:ext>
            </a:extLst>
          </p:cNvPr>
          <p:cNvSpPr/>
          <p:nvPr/>
        </p:nvSpPr>
        <p:spPr>
          <a:xfrm rot="17310465">
            <a:off x="12328431" y="3992316"/>
            <a:ext cx="9056866"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5" name="Freeform 4">
            <a:extLst>
              <a:ext uri="{FF2B5EF4-FFF2-40B4-BE49-F238E27FC236}">
                <a16:creationId xmlns:a16="http://schemas.microsoft.com/office/drawing/2014/main" id="{20F51027-7FD5-7763-D7C0-758D02AB39E3}"/>
              </a:ext>
            </a:extLst>
          </p:cNvPr>
          <p:cNvSpPr/>
          <p:nvPr/>
        </p:nvSpPr>
        <p:spPr>
          <a:xfrm rot="5554844">
            <a:off x="-6561578" y="3184640"/>
            <a:ext cx="12381610"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2" name="Group 2">
            <a:extLst>
              <a:ext uri="{FF2B5EF4-FFF2-40B4-BE49-F238E27FC236}">
                <a16:creationId xmlns:a16="http://schemas.microsoft.com/office/drawing/2014/main" id="{D44E9DD1-D8B2-0253-7BD9-453009EE7981}"/>
              </a:ext>
            </a:extLst>
          </p:cNvPr>
          <p:cNvGrpSpPr/>
          <p:nvPr/>
        </p:nvGrpSpPr>
        <p:grpSpPr>
          <a:xfrm>
            <a:off x="2045141" y="1808784"/>
            <a:ext cx="5949039" cy="3804447"/>
            <a:chOff x="0" y="0"/>
            <a:chExt cx="1778700" cy="1137490"/>
          </a:xfrm>
        </p:grpSpPr>
        <p:sp>
          <p:nvSpPr>
            <p:cNvPr id="3" name="Freeform 3">
              <a:extLst>
                <a:ext uri="{FF2B5EF4-FFF2-40B4-BE49-F238E27FC236}">
                  <a16:creationId xmlns:a16="http://schemas.microsoft.com/office/drawing/2014/main" id="{3B4002F9-5B93-C7B8-6B75-11291C99BC20}"/>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5D2B1763-26C7-FE18-EB05-D16628A3ADA3}"/>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9290D3C1-A3D7-2E3D-E51B-0D5752765D58}"/>
              </a:ext>
            </a:extLst>
          </p:cNvPr>
          <p:cNvGrpSpPr/>
          <p:nvPr/>
        </p:nvGrpSpPr>
        <p:grpSpPr>
          <a:xfrm>
            <a:off x="2265212" y="1988578"/>
            <a:ext cx="5508897" cy="3437667"/>
            <a:chOff x="0" y="0"/>
            <a:chExt cx="1647103" cy="1027826"/>
          </a:xfrm>
        </p:grpSpPr>
        <p:sp>
          <p:nvSpPr>
            <p:cNvPr id="6" name="Freeform 6">
              <a:extLst>
                <a:ext uri="{FF2B5EF4-FFF2-40B4-BE49-F238E27FC236}">
                  <a16:creationId xmlns:a16="http://schemas.microsoft.com/office/drawing/2014/main" id="{17ADE699-AD27-5A2E-C79F-F31A97C9D0D4}"/>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B87285C5-1210-B323-8351-C4D760E3EA62}"/>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2356E011-1708-EDE9-24C2-A49912A633CC}"/>
              </a:ext>
            </a:extLst>
          </p:cNvPr>
          <p:cNvGrpSpPr/>
          <p:nvPr/>
        </p:nvGrpSpPr>
        <p:grpSpPr>
          <a:xfrm>
            <a:off x="5486400" y="4865645"/>
            <a:ext cx="350910" cy="350910"/>
            <a:chOff x="0" y="0"/>
            <a:chExt cx="812800" cy="812800"/>
          </a:xfrm>
        </p:grpSpPr>
        <p:sp>
          <p:nvSpPr>
            <p:cNvPr id="9" name="Freeform 9">
              <a:extLst>
                <a:ext uri="{FF2B5EF4-FFF2-40B4-BE49-F238E27FC236}">
                  <a16:creationId xmlns:a16="http://schemas.microsoft.com/office/drawing/2014/main" id="{5D298151-FEA9-866E-23ED-DA722799DD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F638FD2D-7FED-7311-C099-298EA8316AA3}"/>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8873CB47-44CF-7E48-1AAD-3E58A7F1BC4C}"/>
              </a:ext>
            </a:extLst>
          </p:cNvPr>
          <p:cNvGrpSpPr/>
          <p:nvPr/>
        </p:nvGrpSpPr>
        <p:grpSpPr>
          <a:xfrm>
            <a:off x="5897490" y="4867894"/>
            <a:ext cx="350910" cy="350910"/>
            <a:chOff x="0" y="0"/>
            <a:chExt cx="812800" cy="812800"/>
          </a:xfrm>
        </p:grpSpPr>
        <p:sp>
          <p:nvSpPr>
            <p:cNvPr id="12" name="Freeform 12">
              <a:extLst>
                <a:ext uri="{FF2B5EF4-FFF2-40B4-BE49-F238E27FC236}">
                  <a16:creationId xmlns:a16="http://schemas.microsoft.com/office/drawing/2014/main" id="{DF79F753-AB7D-DC06-EA9E-13F4C054555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3C6FB517-B6CB-29FE-7A42-9F2EE8CFC829}"/>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6CB736AE-AA58-579B-49AD-742F27E80831}"/>
              </a:ext>
            </a:extLst>
          </p:cNvPr>
          <p:cNvGrpSpPr/>
          <p:nvPr/>
        </p:nvGrpSpPr>
        <p:grpSpPr>
          <a:xfrm>
            <a:off x="6735690" y="4872393"/>
            <a:ext cx="350910" cy="350910"/>
            <a:chOff x="0" y="0"/>
            <a:chExt cx="812800" cy="812800"/>
          </a:xfrm>
        </p:grpSpPr>
        <p:sp>
          <p:nvSpPr>
            <p:cNvPr id="15" name="Freeform 15">
              <a:extLst>
                <a:ext uri="{FF2B5EF4-FFF2-40B4-BE49-F238E27FC236}">
                  <a16:creationId xmlns:a16="http://schemas.microsoft.com/office/drawing/2014/main" id="{2F9179F0-458D-B899-A981-704BFC82248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48A47E5B-1F95-C493-6C79-07D646874942}"/>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9FE4D338-53DA-ECA6-A824-10B1BAA4DFCE}"/>
              </a:ext>
            </a:extLst>
          </p:cNvPr>
          <p:cNvGrpSpPr/>
          <p:nvPr/>
        </p:nvGrpSpPr>
        <p:grpSpPr>
          <a:xfrm>
            <a:off x="7149817" y="4874643"/>
            <a:ext cx="350910" cy="350910"/>
            <a:chOff x="0" y="0"/>
            <a:chExt cx="812800" cy="812800"/>
          </a:xfrm>
        </p:grpSpPr>
        <p:sp>
          <p:nvSpPr>
            <p:cNvPr id="18" name="Freeform 18">
              <a:extLst>
                <a:ext uri="{FF2B5EF4-FFF2-40B4-BE49-F238E27FC236}">
                  <a16:creationId xmlns:a16="http://schemas.microsoft.com/office/drawing/2014/main" id="{DFF9DE5B-D6F4-11A6-94F8-5CB3D92733A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29725667-CA4A-EBD7-22FD-833AD862660F}"/>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 name="Group 20">
            <a:extLst>
              <a:ext uri="{FF2B5EF4-FFF2-40B4-BE49-F238E27FC236}">
                <a16:creationId xmlns:a16="http://schemas.microsoft.com/office/drawing/2014/main" id="{114ECF7F-04B2-58A7-FE0E-F60D8FC7A4EF}"/>
              </a:ext>
            </a:extLst>
          </p:cNvPr>
          <p:cNvGrpSpPr/>
          <p:nvPr/>
        </p:nvGrpSpPr>
        <p:grpSpPr>
          <a:xfrm>
            <a:off x="6324600" y="4870144"/>
            <a:ext cx="350910" cy="350910"/>
            <a:chOff x="0" y="0"/>
            <a:chExt cx="812800" cy="812800"/>
          </a:xfrm>
        </p:grpSpPr>
        <p:sp>
          <p:nvSpPr>
            <p:cNvPr id="21" name="Freeform 21">
              <a:extLst>
                <a:ext uri="{FF2B5EF4-FFF2-40B4-BE49-F238E27FC236}">
                  <a16:creationId xmlns:a16="http://schemas.microsoft.com/office/drawing/2014/main" id="{EE867DCD-8E14-4DC0-76DA-0C78976A2A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2">
              <a:extLst>
                <a:ext uri="{FF2B5EF4-FFF2-40B4-BE49-F238E27FC236}">
                  <a16:creationId xmlns:a16="http://schemas.microsoft.com/office/drawing/2014/main" id="{145114FA-0801-4F10-27CC-23C1E3C8BB0C}"/>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3" name="Group 23">
            <a:extLst>
              <a:ext uri="{FF2B5EF4-FFF2-40B4-BE49-F238E27FC236}">
                <a16:creationId xmlns:a16="http://schemas.microsoft.com/office/drawing/2014/main" id="{6C2A1BEF-6B30-E636-44F5-063821BD6EA9}"/>
              </a:ext>
            </a:extLst>
          </p:cNvPr>
          <p:cNvGrpSpPr/>
          <p:nvPr/>
        </p:nvGrpSpPr>
        <p:grpSpPr>
          <a:xfrm>
            <a:off x="9482205" y="1805188"/>
            <a:ext cx="5949039" cy="3804447"/>
            <a:chOff x="0" y="0"/>
            <a:chExt cx="1778700" cy="1137490"/>
          </a:xfrm>
        </p:grpSpPr>
        <p:sp>
          <p:nvSpPr>
            <p:cNvPr id="24" name="Freeform 24">
              <a:extLst>
                <a:ext uri="{FF2B5EF4-FFF2-40B4-BE49-F238E27FC236}">
                  <a16:creationId xmlns:a16="http://schemas.microsoft.com/office/drawing/2014/main" id="{F0BD8689-3771-548D-7013-438AAD397890}"/>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5">
              <a:extLst>
                <a:ext uri="{FF2B5EF4-FFF2-40B4-BE49-F238E27FC236}">
                  <a16:creationId xmlns:a16="http://schemas.microsoft.com/office/drawing/2014/main" id="{F48314EC-24B2-FC20-36D6-DCE5B8CC43C9}"/>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6" name="Group 26">
            <a:extLst>
              <a:ext uri="{FF2B5EF4-FFF2-40B4-BE49-F238E27FC236}">
                <a16:creationId xmlns:a16="http://schemas.microsoft.com/office/drawing/2014/main" id="{997C1D98-5CAA-710F-0DE6-594F910C9B60}"/>
              </a:ext>
            </a:extLst>
          </p:cNvPr>
          <p:cNvGrpSpPr/>
          <p:nvPr/>
        </p:nvGrpSpPr>
        <p:grpSpPr>
          <a:xfrm>
            <a:off x="9702276" y="1984982"/>
            <a:ext cx="5508897" cy="3437667"/>
            <a:chOff x="0" y="0"/>
            <a:chExt cx="1647103" cy="1027826"/>
          </a:xfrm>
        </p:grpSpPr>
        <p:sp>
          <p:nvSpPr>
            <p:cNvPr id="27" name="Freeform 27">
              <a:extLst>
                <a:ext uri="{FF2B5EF4-FFF2-40B4-BE49-F238E27FC236}">
                  <a16:creationId xmlns:a16="http://schemas.microsoft.com/office/drawing/2014/main" id="{298DE672-57AF-82AA-D312-FAD85E3256C7}"/>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 name="TextBox 28">
              <a:extLst>
                <a:ext uri="{FF2B5EF4-FFF2-40B4-BE49-F238E27FC236}">
                  <a16:creationId xmlns:a16="http://schemas.microsoft.com/office/drawing/2014/main" id="{0A088195-BA6A-1E1F-41A5-D764C63A4C91}"/>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9" name="Group 29">
            <a:extLst>
              <a:ext uri="{FF2B5EF4-FFF2-40B4-BE49-F238E27FC236}">
                <a16:creationId xmlns:a16="http://schemas.microsoft.com/office/drawing/2014/main" id="{B7BA0DBC-11D7-21CC-936D-9E3290C1125A}"/>
              </a:ext>
            </a:extLst>
          </p:cNvPr>
          <p:cNvGrpSpPr/>
          <p:nvPr/>
        </p:nvGrpSpPr>
        <p:grpSpPr>
          <a:xfrm>
            <a:off x="12954000" y="4862049"/>
            <a:ext cx="350910" cy="350910"/>
            <a:chOff x="0" y="0"/>
            <a:chExt cx="812800" cy="812800"/>
          </a:xfrm>
        </p:grpSpPr>
        <p:sp>
          <p:nvSpPr>
            <p:cNvPr id="30" name="Freeform 30">
              <a:extLst>
                <a:ext uri="{FF2B5EF4-FFF2-40B4-BE49-F238E27FC236}">
                  <a16:creationId xmlns:a16="http://schemas.microsoft.com/office/drawing/2014/main" id="{F449D75C-16E6-78D4-5458-B3158163D6C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Box 31">
              <a:extLst>
                <a:ext uri="{FF2B5EF4-FFF2-40B4-BE49-F238E27FC236}">
                  <a16:creationId xmlns:a16="http://schemas.microsoft.com/office/drawing/2014/main" id="{76982936-7F97-FFE9-E1E3-ECC531396EC1}"/>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2" name="Group 32">
            <a:extLst>
              <a:ext uri="{FF2B5EF4-FFF2-40B4-BE49-F238E27FC236}">
                <a16:creationId xmlns:a16="http://schemas.microsoft.com/office/drawing/2014/main" id="{62DFA14D-09BF-2FC4-6C76-F002F2F1E55C}"/>
              </a:ext>
            </a:extLst>
          </p:cNvPr>
          <p:cNvGrpSpPr/>
          <p:nvPr/>
        </p:nvGrpSpPr>
        <p:grpSpPr>
          <a:xfrm>
            <a:off x="13365090" y="4864299"/>
            <a:ext cx="350910" cy="350910"/>
            <a:chOff x="0" y="0"/>
            <a:chExt cx="812800" cy="812800"/>
          </a:xfrm>
        </p:grpSpPr>
        <p:sp>
          <p:nvSpPr>
            <p:cNvPr id="33" name="Freeform 33">
              <a:extLst>
                <a:ext uri="{FF2B5EF4-FFF2-40B4-BE49-F238E27FC236}">
                  <a16:creationId xmlns:a16="http://schemas.microsoft.com/office/drawing/2014/main" id="{9E70C509-B5F9-229A-35E5-C966BEA42F3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Box 34">
              <a:extLst>
                <a:ext uri="{FF2B5EF4-FFF2-40B4-BE49-F238E27FC236}">
                  <a16:creationId xmlns:a16="http://schemas.microsoft.com/office/drawing/2014/main" id="{DDEB31EC-18D9-C43D-7464-36B7743B574A}"/>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5" name="Group 35">
            <a:extLst>
              <a:ext uri="{FF2B5EF4-FFF2-40B4-BE49-F238E27FC236}">
                <a16:creationId xmlns:a16="http://schemas.microsoft.com/office/drawing/2014/main" id="{973D1222-8FAD-C56C-C09E-92E4BCE56324}"/>
              </a:ext>
            </a:extLst>
          </p:cNvPr>
          <p:cNvGrpSpPr/>
          <p:nvPr/>
        </p:nvGrpSpPr>
        <p:grpSpPr>
          <a:xfrm>
            <a:off x="14203290" y="4868797"/>
            <a:ext cx="350910" cy="350910"/>
            <a:chOff x="0" y="0"/>
            <a:chExt cx="812800" cy="812800"/>
          </a:xfrm>
        </p:grpSpPr>
        <p:sp>
          <p:nvSpPr>
            <p:cNvPr id="36" name="Freeform 36">
              <a:extLst>
                <a:ext uri="{FF2B5EF4-FFF2-40B4-BE49-F238E27FC236}">
                  <a16:creationId xmlns:a16="http://schemas.microsoft.com/office/drawing/2014/main" id="{E9FFBED7-79B9-92DC-F579-797C11B8360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Box 37">
              <a:extLst>
                <a:ext uri="{FF2B5EF4-FFF2-40B4-BE49-F238E27FC236}">
                  <a16:creationId xmlns:a16="http://schemas.microsoft.com/office/drawing/2014/main" id="{A57ACC3E-8EFB-BBCA-B39B-4598B9188090}"/>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8">
            <a:extLst>
              <a:ext uri="{FF2B5EF4-FFF2-40B4-BE49-F238E27FC236}">
                <a16:creationId xmlns:a16="http://schemas.microsoft.com/office/drawing/2014/main" id="{2C0B9006-B3BE-004C-7947-6B989E9CE455}"/>
              </a:ext>
            </a:extLst>
          </p:cNvPr>
          <p:cNvGrpSpPr/>
          <p:nvPr/>
        </p:nvGrpSpPr>
        <p:grpSpPr>
          <a:xfrm>
            <a:off x="14630400" y="4871047"/>
            <a:ext cx="350910" cy="350910"/>
            <a:chOff x="0" y="0"/>
            <a:chExt cx="812800" cy="812800"/>
          </a:xfrm>
        </p:grpSpPr>
        <p:sp>
          <p:nvSpPr>
            <p:cNvPr id="39" name="Freeform 39">
              <a:extLst>
                <a:ext uri="{FF2B5EF4-FFF2-40B4-BE49-F238E27FC236}">
                  <a16:creationId xmlns:a16="http://schemas.microsoft.com/office/drawing/2014/main" id="{2301ACC5-D557-6951-B2E4-9C22622631A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Box 40">
              <a:extLst>
                <a:ext uri="{FF2B5EF4-FFF2-40B4-BE49-F238E27FC236}">
                  <a16:creationId xmlns:a16="http://schemas.microsoft.com/office/drawing/2014/main" id="{5F09D847-C40B-BB12-64DE-6BC3960BD81D}"/>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1" name="Group 41">
            <a:extLst>
              <a:ext uri="{FF2B5EF4-FFF2-40B4-BE49-F238E27FC236}">
                <a16:creationId xmlns:a16="http://schemas.microsoft.com/office/drawing/2014/main" id="{5423B4F3-4593-8EF6-4616-5AC3FB496E81}"/>
              </a:ext>
            </a:extLst>
          </p:cNvPr>
          <p:cNvGrpSpPr/>
          <p:nvPr/>
        </p:nvGrpSpPr>
        <p:grpSpPr>
          <a:xfrm>
            <a:off x="13792200" y="4866548"/>
            <a:ext cx="350910" cy="350910"/>
            <a:chOff x="0" y="0"/>
            <a:chExt cx="812800" cy="812800"/>
          </a:xfrm>
        </p:grpSpPr>
        <p:sp>
          <p:nvSpPr>
            <p:cNvPr id="42" name="Freeform 42">
              <a:extLst>
                <a:ext uri="{FF2B5EF4-FFF2-40B4-BE49-F238E27FC236}">
                  <a16:creationId xmlns:a16="http://schemas.microsoft.com/office/drawing/2014/main" id="{C7861229-7F69-1E97-6325-9DF5EDE38F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Box 43">
              <a:extLst>
                <a:ext uri="{FF2B5EF4-FFF2-40B4-BE49-F238E27FC236}">
                  <a16:creationId xmlns:a16="http://schemas.microsoft.com/office/drawing/2014/main" id="{6741B46A-6BE6-87B3-F291-BE32A0E24D13}"/>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4" name="Group 44">
            <a:extLst>
              <a:ext uri="{FF2B5EF4-FFF2-40B4-BE49-F238E27FC236}">
                <a16:creationId xmlns:a16="http://schemas.microsoft.com/office/drawing/2014/main" id="{82E92E38-D0EF-A303-9446-2B6965715463}"/>
              </a:ext>
            </a:extLst>
          </p:cNvPr>
          <p:cNvGrpSpPr/>
          <p:nvPr/>
        </p:nvGrpSpPr>
        <p:grpSpPr>
          <a:xfrm>
            <a:off x="5956707" y="5944191"/>
            <a:ext cx="5949039" cy="3804447"/>
            <a:chOff x="0" y="0"/>
            <a:chExt cx="1778700" cy="1137490"/>
          </a:xfrm>
        </p:grpSpPr>
        <p:sp>
          <p:nvSpPr>
            <p:cNvPr id="45" name="Freeform 45">
              <a:extLst>
                <a:ext uri="{FF2B5EF4-FFF2-40B4-BE49-F238E27FC236}">
                  <a16:creationId xmlns:a16="http://schemas.microsoft.com/office/drawing/2014/main" id="{F69B061C-2DB3-5B89-119D-5F82D391F056}"/>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Box 46">
              <a:extLst>
                <a:ext uri="{FF2B5EF4-FFF2-40B4-BE49-F238E27FC236}">
                  <a16:creationId xmlns:a16="http://schemas.microsoft.com/office/drawing/2014/main" id="{837254BA-22DE-83AF-E9D4-1201492C9637}"/>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7" name="Group 47">
            <a:extLst>
              <a:ext uri="{FF2B5EF4-FFF2-40B4-BE49-F238E27FC236}">
                <a16:creationId xmlns:a16="http://schemas.microsoft.com/office/drawing/2014/main" id="{5D4966C1-D15C-B330-7CDC-DA8983D0ABC1}"/>
              </a:ext>
            </a:extLst>
          </p:cNvPr>
          <p:cNvGrpSpPr/>
          <p:nvPr/>
        </p:nvGrpSpPr>
        <p:grpSpPr>
          <a:xfrm>
            <a:off x="6176778" y="6123985"/>
            <a:ext cx="5508897" cy="3437667"/>
            <a:chOff x="0" y="0"/>
            <a:chExt cx="1647103" cy="1027826"/>
          </a:xfrm>
        </p:grpSpPr>
        <p:sp>
          <p:nvSpPr>
            <p:cNvPr id="48" name="Freeform 48">
              <a:extLst>
                <a:ext uri="{FF2B5EF4-FFF2-40B4-BE49-F238E27FC236}">
                  <a16:creationId xmlns:a16="http://schemas.microsoft.com/office/drawing/2014/main" id="{3CEFF774-24AA-83F7-4A12-3197B6F15865}"/>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Box 49">
              <a:extLst>
                <a:ext uri="{FF2B5EF4-FFF2-40B4-BE49-F238E27FC236}">
                  <a16:creationId xmlns:a16="http://schemas.microsoft.com/office/drawing/2014/main" id="{E293F1A8-2F58-A88D-27E1-E4C4C682F9C4}"/>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0" name="Group 50">
            <a:extLst>
              <a:ext uri="{FF2B5EF4-FFF2-40B4-BE49-F238E27FC236}">
                <a16:creationId xmlns:a16="http://schemas.microsoft.com/office/drawing/2014/main" id="{134255F0-E886-FAEE-9015-5531F1916352}"/>
              </a:ext>
            </a:extLst>
          </p:cNvPr>
          <p:cNvGrpSpPr/>
          <p:nvPr/>
        </p:nvGrpSpPr>
        <p:grpSpPr>
          <a:xfrm>
            <a:off x="9372600" y="9001052"/>
            <a:ext cx="350910" cy="350910"/>
            <a:chOff x="0" y="0"/>
            <a:chExt cx="812800" cy="812800"/>
          </a:xfrm>
        </p:grpSpPr>
        <p:sp>
          <p:nvSpPr>
            <p:cNvPr id="51" name="Freeform 51">
              <a:extLst>
                <a:ext uri="{FF2B5EF4-FFF2-40B4-BE49-F238E27FC236}">
                  <a16:creationId xmlns:a16="http://schemas.microsoft.com/office/drawing/2014/main" id="{C42C78D9-D7AE-96F9-9F84-FE7914B473B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Box 52">
              <a:extLst>
                <a:ext uri="{FF2B5EF4-FFF2-40B4-BE49-F238E27FC236}">
                  <a16:creationId xmlns:a16="http://schemas.microsoft.com/office/drawing/2014/main" id="{FB93B1CF-63FB-0F9F-593B-612C2700A2BF}"/>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3" name="Group 53">
            <a:extLst>
              <a:ext uri="{FF2B5EF4-FFF2-40B4-BE49-F238E27FC236}">
                <a16:creationId xmlns:a16="http://schemas.microsoft.com/office/drawing/2014/main" id="{7B5DB630-2362-2806-369D-2BC006EFEDCB}"/>
              </a:ext>
            </a:extLst>
          </p:cNvPr>
          <p:cNvGrpSpPr/>
          <p:nvPr/>
        </p:nvGrpSpPr>
        <p:grpSpPr>
          <a:xfrm>
            <a:off x="9783690" y="9003301"/>
            <a:ext cx="350910" cy="350910"/>
            <a:chOff x="0" y="0"/>
            <a:chExt cx="812800" cy="812800"/>
          </a:xfrm>
        </p:grpSpPr>
        <p:sp>
          <p:nvSpPr>
            <p:cNvPr id="54" name="Freeform 54">
              <a:extLst>
                <a:ext uri="{FF2B5EF4-FFF2-40B4-BE49-F238E27FC236}">
                  <a16:creationId xmlns:a16="http://schemas.microsoft.com/office/drawing/2014/main" id="{5CE9DF38-81D4-7719-23CA-58FA6CC5968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5661BAFF-5324-4574-2C47-3B54C619E451}"/>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6D12BAD5-7C5D-BAD4-9F68-510D089804AE}"/>
              </a:ext>
            </a:extLst>
          </p:cNvPr>
          <p:cNvGrpSpPr/>
          <p:nvPr/>
        </p:nvGrpSpPr>
        <p:grpSpPr>
          <a:xfrm>
            <a:off x="10621890" y="9007800"/>
            <a:ext cx="350910" cy="350910"/>
            <a:chOff x="0" y="0"/>
            <a:chExt cx="812800" cy="812800"/>
          </a:xfrm>
        </p:grpSpPr>
        <p:sp>
          <p:nvSpPr>
            <p:cNvPr id="57" name="Freeform 57">
              <a:extLst>
                <a:ext uri="{FF2B5EF4-FFF2-40B4-BE49-F238E27FC236}">
                  <a16:creationId xmlns:a16="http://schemas.microsoft.com/office/drawing/2014/main" id="{3C969CD9-F5B8-59BB-E438-D82087DF4B3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2698EBCF-F362-1B5C-04AB-8429904777AA}"/>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B72279DD-34A6-C91F-E36B-605889765524}"/>
              </a:ext>
            </a:extLst>
          </p:cNvPr>
          <p:cNvGrpSpPr/>
          <p:nvPr/>
        </p:nvGrpSpPr>
        <p:grpSpPr>
          <a:xfrm>
            <a:off x="11049000" y="9010050"/>
            <a:ext cx="350910" cy="350910"/>
            <a:chOff x="0" y="0"/>
            <a:chExt cx="812800" cy="812800"/>
          </a:xfrm>
        </p:grpSpPr>
        <p:sp>
          <p:nvSpPr>
            <p:cNvPr id="60" name="Freeform 60">
              <a:extLst>
                <a:ext uri="{FF2B5EF4-FFF2-40B4-BE49-F238E27FC236}">
                  <a16:creationId xmlns:a16="http://schemas.microsoft.com/office/drawing/2014/main" id="{85ACE55E-4DF1-4855-1B37-EE5F8B33EF5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93F45D71-50A7-8504-24BF-8B3236615CCF}"/>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0C105D36-626D-B55E-C8DC-E809972F78CD}"/>
              </a:ext>
            </a:extLst>
          </p:cNvPr>
          <p:cNvGrpSpPr/>
          <p:nvPr/>
        </p:nvGrpSpPr>
        <p:grpSpPr>
          <a:xfrm>
            <a:off x="10210800" y="9005551"/>
            <a:ext cx="350910" cy="350910"/>
            <a:chOff x="0" y="0"/>
            <a:chExt cx="812800" cy="812800"/>
          </a:xfrm>
        </p:grpSpPr>
        <p:sp>
          <p:nvSpPr>
            <p:cNvPr id="63" name="Freeform 63">
              <a:extLst>
                <a:ext uri="{FF2B5EF4-FFF2-40B4-BE49-F238E27FC236}">
                  <a16:creationId xmlns:a16="http://schemas.microsoft.com/office/drawing/2014/main" id="{0C240A86-BB03-1B22-188A-6140DAD5E04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AD1AAB2B-0E23-DFE1-85E2-308B9DB6DF79}"/>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5" name="Freeform 65">
            <a:extLst>
              <a:ext uri="{FF2B5EF4-FFF2-40B4-BE49-F238E27FC236}">
                <a16:creationId xmlns:a16="http://schemas.microsoft.com/office/drawing/2014/main" id="{1EA11AC0-89CB-AC31-5091-5917072FE676}"/>
              </a:ext>
            </a:extLst>
          </p:cNvPr>
          <p:cNvSpPr/>
          <p:nvPr/>
        </p:nvSpPr>
        <p:spPr>
          <a:xfrm>
            <a:off x="1720736" y="1444102"/>
            <a:ext cx="1088952" cy="1088952"/>
          </a:xfrm>
          <a:custGeom>
            <a:avLst/>
            <a:gdLst/>
            <a:ahLst/>
            <a:cxnLst/>
            <a:rect l="l" t="t" r="r" b="b"/>
            <a:pathLst>
              <a:path w="1088952" h="1088952">
                <a:moveTo>
                  <a:pt x="0" y="0"/>
                </a:moveTo>
                <a:lnTo>
                  <a:pt x="1088952" y="0"/>
                </a:lnTo>
                <a:lnTo>
                  <a:pt x="1088952" y="1088952"/>
                </a:lnTo>
                <a:lnTo>
                  <a:pt x="0" y="10889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Freeform 66">
            <a:extLst>
              <a:ext uri="{FF2B5EF4-FFF2-40B4-BE49-F238E27FC236}">
                <a16:creationId xmlns:a16="http://schemas.microsoft.com/office/drawing/2014/main" id="{CA46ACB6-F2CD-E1F9-8375-A120F1457C84}"/>
              </a:ext>
            </a:extLst>
          </p:cNvPr>
          <p:cNvSpPr/>
          <p:nvPr/>
        </p:nvSpPr>
        <p:spPr>
          <a:xfrm>
            <a:off x="9185419" y="1499341"/>
            <a:ext cx="1033713" cy="1033713"/>
          </a:xfrm>
          <a:custGeom>
            <a:avLst/>
            <a:gdLst/>
            <a:ahLst/>
            <a:cxnLst/>
            <a:rect l="l" t="t" r="r" b="b"/>
            <a:pathLst>
              <a:path w="1033713" h="1033713">
                <a:moveTo>
                  <a:pt x="0" y="0"/>
                </a:moveTo>
                <a:lnTo>
                  <a:pt x="1033713" y="0"/>
                </a:lnTo>
                <a:lnTo>
                  <a:pt x="1033713" y="1033713"/>
                </a:lnTo>
                <a:lnTo>
                  <a:pt x="0" y="10337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Freeform 67">
            <a:extLst>
              <a:ext uri="{FF2B5EF4-FFF2-40B4-BE49-F238E27FC236}">
                <a16:creationId xmlns:a16="http://schemas.microsoft.com/office/drawing/2014/main" id="{9EBDAFD6-2837-44FD-E8A1-FEA455BB246A}"/>
              </a:ext>
            </a:extLst>
          </p:cNvPr>
          <p:cNvSpPr/>
          <p:nvPr/>
        </p:nvSpPr>
        <p:spPr>
          <a:xfrm>
            <a:off x="5589702" y="5734641"/>
            <a:ext cx="1071918" cy="1071918"/>
          </a:xfrm>
          <a:custGeom>
            <a:avLst/>
            <a:gdLst/>
            <a:ahLst/>
            <a:cxnLst/>
            <a:rect l="l" t="t" r="r" b="b"/>
            <a:pathLst>
              <a:path w="1071918" h="1071918">
                <a:moveTo>
                  <a:pt x="0" y="0"/>
                </a:moveTo>
                <a:lnTo>
                  <a:pt x="1071919" y="0"/>
                </a:lnTo>
                <a:lnTo>
                  <a:pt x="1071919" y="1071918"/>
                </a:lnTo>
                <a:lnTo>
                  <a:pt x="0" y="10719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TextBox 68">
            <a:extLst>
              <a:ext uri="{FF2B5EF4-FFF2-40B4-BE49-F238E27FC236}">
                <a16:creationId xmlns:a16="http://schemas.microsoft.com/office/drawing/2014/main" id="{00B007F5-6A67-0A67-F05D-967E11906FB8}"/>
              </a:ext>
            </a:extLst>
          </p:cNvPr>
          <p:cNvSpPr txBox="1"/>
          <p:nvPr/>
        </p:nvSpPr>
        <p:spPr>
          <a:xfrm>
            <a:off x="1085419" y="446516"/>
            <a:ext cx="16200000" cy="89255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200" b="1" i="0" u="none" strike="noStrike" kern="0" cap="none" spc="0" normalizeH="0" baseline="0" noProof="0" dirty="0">
                <a:ln>
                  <a:noFill/>
                </a:ln>
                <a:solidFill>
                  <a:srgbClr val="002B11"/>
                </a:solidFill>
                <a:effectLst/>
                <a:uLnTx/>
                <a:uFillTx/>
                <a:latin typeface="Poppins Black"/>
                <a:cs typeface="Arial"/>
                <a:sym typeface="Arial"/>
              </a:rPr>
              <a:t>FS Incentives - Examples</a:t>
            </a:r>
          </a:p>
        </p:txBody>
      </p:sp>
      <p:sp>
        <p:nvSpPr>
          <p:cNvPr id="71" name="TextBox 70">
            <a:extLst>
              <a:ext uri="{FF2B5EF4-FFF2-40B4-BE49-F238E27FC236}">
                <a16:creationId xmlns:a16="http://schemas.microsoft.com/office/drawing/2014/main" id="{68886FE1-D53F-8372-EFF8-FDCD7E693C57}"/>
              </a:ext>
            </a:extLst>
          </p:cNvPr>
          <p:cNvSpPr txBox="1"/>
          <p:nvPr/>
        </p:nvSpPr>
        <p:spPr>
          <a:xfrm>
            <a:off x="2544000" y="2661235"/>
            <a:ext cx="4956727" cy="1567865"/>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 property offers small complimentary items like snacks or drinks for reviews.</a:t>
            </a:r>
          </a:p>
        </p:txBody>
      </p:sp>
      <p:sp>
        <p:nvSpPr>
          <p:cNvPr id="72" name="TextBox 71">
            <a:extLst>
              <a:ext uri="{FF2B5EF4-FFF2-40B4-BE49-F238E27FC236}">
                <a16:creationId xmlns:a16="http://schemas.microsoft.com/office/drawing/2014/main" id="{65236066-9898-104B-2982-EC4DD164D7B9}"/>
              </a:ext>
            </a:extLst>
          </p:cNvPr>
          <p:cNvSpPr txBox="1"/>
          <p:nvPr/>
        </p:nvSpPr>
        <p:spPr>
          <a:xfrm>
            <a:off x="9959145" y="2737435"/>
            <a:ext cx="4956727" cy="1567865"/>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 property offers free room upgrades or discounts in exchange for positive reviews. </a:t>
            </a:r>
          </a:p>
        </p:txBody>
      </p:sp>
      <p:sp>
        <p:nvSpPr>
          <p:cNvPr id="73" name="TextBox 72">
            <a:extLst>
              <a:ext uri="{FF2B5EF4-FFF2-40B4-BE49-F238E27FC236}">
                <a16:creationId xmlns:a16="http://schemas.microsoft.com/office/drawing/2014/main" id="{1EFA24C1-6EC1-516E-7CBB-9C61AC180271}"/>
              </a:ext>
            </a:extLst>
          </p:cNvPr>
          <p:cNvSpPr txBox="1"/>
          <p:nvPr/>
        </p:nvSpPr>
        <p:spPr>
          <a:xfrm>
            <a:off x="6500055" y="6743700"/>
            <a:ext cx="4956727" cy="2075696"/>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 property demands guests write positive reviews before allowing check-out or access to booked services. </a:t>
            </a:r>
          </a:p>
        </p:txBody>
      </p:sp>
      <p:sp>
        <p:nvSpPr>
          <p:cNvPr id="76" name="TextBox 75">
            <a:extLst>
              <a:ext uri="{FF2B5EF4-FFF2-40B4-BE49-F238E27FC236}">
                <a16:creationId xmlns:a16="http://schemas.microsoft.com/office/drawing/2014/main" id="{2A94E71B-112A-6FA1-B3B5-E124AA803926}"/>
              </a:ext>
            </a:extLst>
          </p:cNvPr>
          <p:cNvSpPr txBox="1"/>
          <p:nvPr/>
        </p:nvSpPr>
        <p:spPr>
          <a:xfrm>
            <a:off x="533400" y="9867900"/>
            <a:ext cx="7315200" cy="246221"/>
          </a:xfrm>
          <a:prstGeom prst="rect">
            <a:avLst/>
          </a:prstGeom>
          <a:noFill/>
        </p:spPr>
        <p:txBody>
          <a:bodyPr wrap="square" lIns="0" tIns="0" rIns="0" bIns="0" anchor="t">
            <a:spAutoFit/>
          </a:bodyPr>
          <a:lstStyle/>
          <a:p>
            <a:pPr defTabSz="457200">
              <a:defRPr/>
            </a:pPr>
            <a:r>
              <a:rPr sz="1600" spc="50" dirty="0">
                <a:solidFill>
                  <a:srgbClr val="8A8272"/>
                </a:solidFill>
                <a:latin typeface="Poppins" panose="00000500000000000000" pitchFamily="2" charset="0"/>
                <a:cs typeface="Poppins" panose="00000500000000000000" pitchFamily="2" charset="0"/>
              </a:rPr>
              <a:t>T</a:t>
            </a:r>
            <a:r>
              <a:rPr lang="en-US" sz="1600" spc="50" dirty="0">
                <a:solidFill>
                  <a:srgbClr val="8A8272"/>
                </a:solidFill>
                <a:latin typeface="Poppins" panose="00000500000000000000" pitchFamily="2" charset="0"/>
                <a:cs typeface="Poppins" panose="00000500000000000000" pitchFamily="2" charset="0"/>
              </a:rPr>
              <a:t>ripadvisor</a:t>
            </a:r>
            <a:r>
              <a:rPr sz="1600" spc="50" dirty="0">
                <a:solidFill>
                  <a:srgbClr val="8A8272"/>
                </a:solidFill>
                <a:latin typeface="Poppins" panose="00000500000000000000" pitchFamily="2" charset="0"/>
                <a:cs typeface="Poppins" panose="00000500000000000000" pitchFamily="2" charset="0"/>
              </a:rPr>
              <a:t> / F</a:t>
            </a:r>
            <a:r>
              <a:rPr lang="en-US" sz="1600" spc="50" dirty="0">
                <a:solidFill>
                  <a:srgbClr val="8A8272"/>
                </a:solidFill>
                <a:latin typeface="Poppins" panose="00000500000000000000" pitchFamily="2" charset="0"/>
                <a:cs typeface="Poppins" panose="00000500000000000000" pitchFamily="2" charset="0"/>
              </a:rPr>
              <a:t>raud Support</a:t>
            </a:r>
            <a:r>
              <a:rPr sz="1600" spc="50" dirty="0">
                <a:solidFill>
                  <a:srgbClr val="8A8272"/>
                </a:solidFill>
                <a:latin typeface="Poppins" panose="00000500000000000000" pitchFamily="2" charset="0"/>
                <a:cs typeface="Poppins" panose="00000500000000000000" pitchFamily="2" charset="0"/>
              </a:rPr>
              <a:t> / </a:t>
            </a:r>
            <a:r>
              <a:rPr lang="en-US" sz="1600" spc="50" dirty="0">
                <a:solidFill>
                  <a:srgbClr val="8A8272"/>
                </a:solidFill>
                <a:latin typeface="Poppins" panose="00000500000000000000" pitchFamily="2" charset="0"/>
                <a:cs typeface="Poppins" panose="00000500000000000000" pitchFamily="2" charset="0"/>
              </a:rPr>
              <a:t>Examples</a:t>
            </a:r>
            <a:endParaRPr sz="1600" spc="50" dirty="0">
              <a:solidFill>
                <a:srgbClr val="8A8272"/>
              </a:solidFill>
              <a:latin typeface="Poppins" panose="00000500000000000000" pitchFamily="2" charset="0"/>
              <a:cs typeface="Poppins" panose="00000500000000000000" pitchFamily="2" charset="0"/>
            </a:endParaRPr>
          </a:p>
        </p:txBody>
      </p:sp>
      <p:sp>
        <p:nvSpPr>
          <p:cNvPr id="74" name="Action Button: Go Home 73">
            <a:hlinkClick r:id="rId6" action="ppaction://hlinksldjump" highlightClick="1"/>
            <a:extLst>
              <a:ext uri="{FF2B5EF4-FFF2-40B4-BE49-F238E27FC236}">
                <a16:creationId xmlns:a16="http://schemas.microsoft.com/office/drawing/2014/main" id="{4EDCC221-F5F5-CC87-277D-2C46A40CC455}"/>
              </a:ext>
            </a:extLst>
          </p:cNvPr>
          <p:cNvSpPr/>
          <p:nvPr/>
        </p:nvSpPr>
        <p:spPr>
          <a:xfrm>
            <a:off x="17068800" y="9262922"/>
            <a:ext cx="1143000" cy="909778"/>
          </a:xfrm>
          <a:prstGeom prst="actionButtonHom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794136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EAAE9-2DB3-60BC-AFCF-10BB4BAC03D2}"/>
            </a:ext>
          </a:extLst>
        </p:cNvPr>
        <p:cNvGrpSpPr/>
        <p:nvPr/>
      </p:nvGrpSpPr>
      <p:grpSpPr>
        <a:xfrm>
          <a:off x="0" y="0"/>
          <a:ext cx="0" cy="0"/>
          <a:chOff x="0" y="0"/>
          <a:chExt cx="0" cy="0"/>
        </a:xfrm>
      </p:grpSpPr>
      <p:sp>
        <p:nvSpPr>
          <p:cNvPr id="70" name="Freeform 4">
            <a:extLst>
              <a:ext uri="{FF2B5EF4-FFF2-40B4-BE49-F238E27FC236}">
                <a16:creationId xmlns:a16="http://schemas.microsoft.com/office/drawing/2014/main" id="{037858AA-ED1A-A04C-146C-F95B0EBBC0E0}"/>
              </a:ext>
            </a:extLst>
          </p:cNvPr>
          <p:cNvSpPr/>
          <p:nvPr/>
        </p:nvSpPr>
        <p:spPr>
          <a:xfrm rot="17310465">
            <a:off x="12328431" y="3992316"/>
            <a:ext cx="9056866"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5" name="Freeform 4">
            <a:extLst>
              <a:ext uri="{FF2B5EF4-FFF2-40B4-BE49-F238E27FC236}">
                <a16:creationId xmlns:a16="http://schemas.microsoft.com/office/drawing/2014/main" id="{D8CF9445-686F-618B-AB02-915466F3EC89}"/>
              </a:ext>
            </a:extLst>
          </p:cNvPr>
          <p:cNvSpPr/>
          <p:nvPr/>
        </p:nvSpPr>
        <p:spPr>
          <a:xfrm rot="5554844">
            <a:off x="-6561578" y="3184640"/>
            <a:ext cx="12381610"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2" name="Group 2">
            <a:extLst>
              <a:ext uri="{FF2B5EF4-FFF2-40B4-BE49-F238E27FC236}">
                <a16:creationId xmlns:a16="http://schemas.microsoft.com/office/drawing/2014/main" id="{E049C47F-1FBB-A221-2EA0-10E11264EC82}"/>
              </a:ext>
            </a:extLst>
          </p:cNvPr>
          <p:cNvGrpSpPr/>
          <p:nvPr/>
        </p:nvGrpSpPr>
        <p:grpSpPr>
          <a:xfrm>
            <a:off x="2045141" y="1808784"/>
            <a:ext cx="5949039" cy="3804447"/>
            <a:chOff x="0" y="0"/>
            <a:chExt cx="1778700" cy="1137490"/>
          </a:xfrm>
        </p:grpSpPr>
        <p:sp>
          <p:nvSpPr>
            <p:cNvPr id="3" name="Freeform 3">
              <a:extLst>
                <a:ext uri="{FF2B5EF4-FFF2-40B4-BE49-F238E27FC236}">
                  <a16:creationId xmlns:a16="http://schemas.microsoft.com/office/drawing/2014/main" id="{C140AEFC-50F4-7D11-9392-89B29A335199}"/>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37485CDF-E261-9E4C-8695-8A944B5CF7BE}"/>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81A54554-F5D1-210F-4697-4A8E1195C704}"/>
              </a:ext>
            </a:extLst>
          </p:cNvPr>
          <p:cNvGrpSpPr/>
          <p:nvPr/>
        </p:nvGrpSpPr>
        <p:grpSpPr>
          <a:xfrm>
            <a:off x="2265212" y="1988578"/>
            <a:ext cx="5508897" cy="3437667"/>
            <a:chOff x="0" y="0"/>
            <a:chExt cx="1647103" cy="1027826"/>
          </a:xfrm>
        </p:grpSpPr>
        <p:sp>
          <p:nvSpPr>
            <p:cNvPr id="6" name="Freeform 6">
              <a:extLst>
                <a:ext uri="{FF2B5EF4-FFF2-40B4-BE49-F238E27FC236}">
                  <a16:creationId xmlns:a16="http://schemas.microsoft.com/office/drawing/2014/main" id="{87A6657D-C717-C2CC-8465-EA5C463C765D}"/>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F5C7B4EE-9016-A2C5-3B32-86E9C058E8FA}"/>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6CB99722-0924-B914-B8AB-C398E1E05FAF}"/>
              </a:ext>
            </a:extLst>
          </p:cNvPr>
          <p:cNvGrpSpPr/>
          <p:nvPr/>
        </p:nvGrpSpPr>
        <p:grpSpPr>
          <a:xfrm>
            <a:off x="5486400" y="4865645"/>
            <a:ext cx="350910" cy="350910"/>
            <a:chOff x="0" y="0"/>
            <a:chExt cx="812800" cy="812800"/>
          </a:xfrm>
        </p:grpSpPr>
        <p:sp>
          <p:nvSpPr>
            <p:cNvPr id="9" name="Freeform 9">
              <a:extLst>
                <a:ext uri="{FF2B5EF4-FFF2-40B4-BE49-F238E27FC236}">
                  <a16:creationId xmlns:a16="http://schemas.microsoft.com/office/drawing/2014/main" id="{C129D243-1E38-027D-3761-128439C1FB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F2BB44BD-C3A7-5DB1-7812-A90E78198DF2}"/>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13EC3E73-DFFE-E667-E979-F698FBBC9F21}"/>
              </a:ext>
            </a:extLst>
          </p:cNvPr>
          <p:cNvGrpSpPr/>
          <p:nvPr/>
        </p:nvGrpSpPr>
        <p:grpSpPr>
          <a:xfrm>
            <a:off x="5897490" y="4867894"/>
            <a:ext cx="350910" cy="350910"/>
            <a:chOff x="0" y="0"/>
            <a:chExt cx="812800" cy="812800"/>
          </a:xfrm>
        </p:grpSpPr>
        <p:sp>
          <p:nvSpPr>
            <p:cNvPr id="12" name="Freeform 12">
              <a:extLst>
                <a:ext uri="{FF2B5EF4-FFF2-40B4-BE49-F238E27FC236}">
                  <a16:creationId xmlns:a16="http://schemas.microsoft.com/office/drawing/2014/main" id="{FC1726FE-0A44-863D-A9A3-775A5AB95C9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0BE6F6A4-B077-2A03-5255-DD72DD6AF7B2}"/>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5CF757AE-4799-94DE-FC2B-9B265E30C637}"/>
              </a:ext>
            </a:extLst>
          </p:cNvPr>
          <p:cNvGrpSpPr/>
          <p:nvPr/>
        </p:nvGrpSpPr>
        <p:grpSpPr>
          <a:xfrm>
            <a:off x="6735690" y="4872393"/>
            <a:ext cx="350910" cy="350910"/>
            <a:chOff x="0" y="0"/>
            <a:chExt cx="812800" cy="812800"/>
          </a:xfrm>
        </p:grpSpPr>
        <p:sp>
          <p:nvSpPr>
            <p:cNvPr id="15" name="Freeform 15">
              <a:extLst>
                <a:ext uri="{FF2B5EF4-FFF2-40B4-BE49-F238E27FC236}">
                  <a16:creationId xmlns:a16="http://schemas.microsoft.com/office/drawing/2014/main" id="{909A0519-FC8A-4615-96EF-A96FE5F249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B51CB8F1-F2DF-3DA9-FB6E-5C6A3AA1DB12}"/>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B1BC4D02-5866-1F81-68ED-EC1FB00543EA}"/>
              </a:ext>
            </a:extLst>
          </p:cNvPr>
          <p:cNvGrpSpPr/>
          <p:nvPr/>
        </p:nvGrpSpPr>
        <p:grpSpPr>
          <a:xfrm>
            <a:off x="7149817" y="4874643"/>
            <a:ext cx="350910" cy="350910"/>
            <a:chOff x="0" y="0"/>
            <a:chExt cx="812800" cy="812800"/>
          </a:xfrm>
        </p:grpSpPr>
        <p:sp>
          <p:nvSpPr>
            <p:cNvPr id="18" name="Freeform 18">
              <a:extLst>
                <a:ext uri="{FF2B5EF4-FFF2-40B4-BE49-F238E27FC236}">
                  <a16:creationId xmlns:a16="http://schemas.microsoft.com/office/drawing/2014/main" id="{278B96C3-0207-7713-27FC-8A14D6F9CAB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63D36D66-D400-FC7B-3671-3A601AE2F93B}"/>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 name="Group 20">
            <a:extLst>
              <a:ext uri="{FF2B5EF4-FFF2-40B4-BE49-F238E27FC236}">
                <a16:creationId xmlns:a16="http://schemas.microsoft.com/office/drawing/2014/main" id="{7D573200-EC8C-6842-7380-95FDE1F3D89E}"/>
              </a:ext>
            </a:extLst>
          </p:cNvPr>
          <p:cNvGrpSpPr/>
          <p:nvPr/>
        </p:nvGrpSpPr>
        <p:grpSpPr>
          <a:xfrm>
            <a:off x="6324600" y="4870144"/>
            <a:ext cx="350910" cy="350910"/>
            <a:chOff x="0" y="0"/>
            <a:chExt cx="812800" cy="812800"/>
          </a:xfrm>
        </p:grpSpPr>
        <p:sp>
          <p:nvSpPr>
            <p:cNvPr id="21" name="Freeform 21">
              <a:extLst>
                <a:ext uri="{FF2B5EF4-FFF2-40B4-BE49-F238E27FC236}">
                  <a16:creationId xmlns:a16="http://schemas.microsoft.com/office/drawing/2014/main" id="{F48C144A-04AD-FAB3-9FB0-E31CC1901C9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2">
              <a:extLst>
                <a:ext uri="{FF2B5EF4-FFF2-40B4-BE49-F238E27FC236}">
                  <a16:creationId xmlns:a16="http://schemas.microsoft.com/office/drawing/2014/main" id="{F67D50FB-0DDF-F76E-27C3-1C67865099C6}"/>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3" name="Group 23">
            <a:extLst>
              <a:ext uri="{FF2B5EF4-FFF2-40B4-BE49-F238E27FC236}">
                <a16:creationId xmlns:a16="http://schemas.microsoft.com/office/drawing/2014/main" id="{B251C2F4-B0DB-132A-BCA2-DF1B49E4062B}"/>
              </a:ext>
            </a:extLst>
          </p:cNvPr>
          <p:cNvGrpSpPr/>
          <p:nvPr/>
        </p:nvGrpSpPr>
        <p:grpSpPr>
          <a:xfrm>
            <a:off x="9482205" y="1805188"/>
            <a:ext cx="5949039" cy="3804447"/>
            <a:chOff x="0" y="0"/>
            <a:chExt cx="1778700" cy="1137490"/>
          </a:xfrm>
        </p:grpSpPr>
        <p:sp>
          <p:nvSpPr>
            <p:cNvPr id="24" name="Freeform 24">
              <a:extLst>
                <a:ext uri="{FF2B5EF4-FFF2-40B4-BE49-F238E27FC236}">
                  <a16:creationId xmlns:a16="http://schemas.microsoft.com/office/drawing/2014/main" id="{8FB405C8-273F-33B0-64D9-F6331C071D59}"/>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5">
              <a:extLst>
                <a:ext uri="{FF2B5EF4-FFF2-40B4-BE49-F238E27FC236}">
                  <a16:creationId xmlns:a16="http://schemas.microsoft.com/office/drawing/2014/main" id="{DD947355-BB75-FE52-971F-7CAA271EB9AF}"/>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6" name="Group 26">
            <a:extLst>
              <a:ext uri="{FF2B5EF4-FFF2-40B4-BE49-F238E27FC236}">
                <a16:creationId xmlns:a16="http://schemas.microsoft.com/office/drawing/2014/main" id="{7C5C3877-D1D2-19C0-7664-BBC21534FA61}"/>
              </a:ext>
            </a:extLst>
          </p:cNvPr>
          <p:cNvGrpSpPr/>
          <p:nvPr/>
        </p:nvGrpSpPr>
        <p:grpSpPr>
          <a:xfrm>
            <a:off x="9702276" y="1984982"/>
            <a:ext cx="5508897" cy="3437667"/>
            <a:chOff x="0" y="0"/>
            <a:chExt cx="1647103" cy="1027826"/>
          </a:xfrm>
        </p:grpSpPr>
        <p:sp>
          <p:nvSpPr>
            <p:cNvPr id="27" name="Freeform 27">
              <a:extLst>
                <a:ext uri="{FF2B5EF4-FFF2-40B4-BE49-F238E27FC236}">
                  <a16:creationId xmlns:a16="http://schemas.microsoft.com/office/drawing/2014/main" id="{2371DE59-5563-8241-36F9-154E439C964E}"/>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 name="TextBox 28">
              <a:extLst>
                <a:ext uri="{FF2B5EF4-FFF2-40B4-BE49-F238E27FC236}">
                  <a16:creationId xmlns:a16="http://schemas.microsoft.com/office/drawing/2014/main" id="{5F219F29-E23A-96E3-74A7-E44AEF615361}"/>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9" name="Group 29">
            <a:extLst>
              <a:ext uri="{FF2B5EF4-FFF2-40B4-BE49-F238E27FC236}">
                <a16:creationId xmlns:a16="http://schemas.microsoft.com/office/drawing/2014/main" id="{9DC30827-26E6-6D3F-C759-1FD7949673E8}"/>
              </a:ext>
            </a:extLst>
          </p:cNvPr>
          <p:cNvGrpSpPr/>
          <p:nvPr/>
        </p:nvGrpSpPr>
        <p:grpSpPr>
          <a:xfrm>
            <a:off x="12954000" y="4862049"/>
            <a:ext cx="350910" cy="350910"/>
            <a:chOff x="0" y="0"/>
            <a:chExt cx="812800" cy="812800"/>
          </a:xfrm>
        </p:grpSpPr>
        <p:sp>
          <p:nvSpPr>
            <p:cNvPr id="30" name="Freeform 30">
              <a:extLst>
                <a:ext uri="{FF2B5EF4-FFF2-40B4-BE49-F238E27FC236}">
                  <a16:creationId xmlns:a16="http://schemas.microsoft.com/office/drawing/2014/main" id="{21A61918-D784-544C-5A3C-A23B465798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Box 31">
              <a:extLst>
                <a:ext uri="{FF2B5EF4-FFF2-40B4-BE49-F238E27FC236}">
                  <a16:creationId xmlns:a16="http://schemas.microsoft.com/office/drawing/2014/main" id="{5FA5F002-ACDF-1937-9DB2-80BBD62F5080}"/>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2" name="Group 32">
            <a:extLst>
              <a:ext uri="{FF2B5EF4-FFF2-40B4-BE49-F238E27FC236}">
                <a16:creationId xmlns:a16="http://schemas.microsoft.com/office/drawing/2014/main" id="{398230BC-FD3A-EDE8-34AD-FD9AA3F883F7}"/>
              </a:ext>
            </a:extLst>
          </p:cNvPr>
          <p:cNvGrpSpPr/>
          <p:nvPr/>
        </p:nvGrpSpPr>
        <p:grpSpPr>
          <a:xfrm>
            <a:off x="13365090" y="4864299"/>
            <a:ext cx="350910" cy="350910"/>
            <a:chOff x="0" y="0"/>
            <a:chExt cx="812800" cy="812800"/>
          </a:xfrm>
        </p:grpSpPr>
        <p:sp>
          <p:nvSpPr>
            <p:cNvPr id="33" name="Freeform 33">
              <a:extLst>
                <a:ext uri="{FF2B5EF4-FFF2-40B4-BE49-F238E27FC236}">
                  <a16:creationId xmlns:a16="http://schemas.microsoft.com/office/drawing/2014/main" id="{9EFC2CC7-B3AE-6397-0B64-EEA005E0735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Box 34">
              <a:extLst>
                <a:ext uri="{FF2B5EF4-FFF2-40B4-BE49-F238E27FC236}">
                  <a16:creationId xmlns:a16="http://schemas.microsoft.com/office/drawing/2014/main" id="{4135334A-1DB2-9044-684F-E7E0DB7FFB03}"/>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5" name="Group 35">
            <a:extLst>
              <a:ext uri="{FF2B5EF4-FFF2-40B4-BE49-F238E27FC236}">
                <a16:creationId xmlns:a16="http://schemas.microsoft.com/office/drawing/2014/main" id="{E21DF3CB-8A1A-C703-AAAA-688A3490D3C5}"/>
              </a:ext>
            </a:extLst>
          </p:cNvPr>
          <p:cNvGrpSpPr/>
          <p:nvPr/>
        </p:nvGrpSpPr>
        <p:grpSpPr>
          <a:xfrm>
            <a:off x="14203290" y="4868797"/>
            <a:ext cx="350910" cy="350910"/>
            <a:chOff x="0" y="0"/>
            <a:chExt cx="812800" cy="812800"/>
          </a:xfrm>
        </p:grpSpPr>
        <p:sp>
          <p:nvSpPr>
            <p:cNvPr id="36" name="Freeform 36">
              <a:extLst>
                <a:ext uri="{FF2B5EF4-FFF2-40B4-BE49-F238E27FC236}">
                  <a16:creationId xmlns:a16="http://schemas.microsoft.com/office/drawing/2014/main" id="{C3A6E015-09D0-C8CB-2554-2201BBFA2D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Box 37">
              <a:extLst>
                <a:ext uri="{FF2B5EF4-FFF2-40B4-BE49-F238E27FC236}">
                  <a16:creationId xmlns:a16="http://schemas.microsoft.com/office/drawing/2014/main" id="{A2CD34E9-D742-239E-6C01-B0721FEA626F}"/>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8">
            <a:extLst>
              <a:ext uri="{FF2B5EF4-FFF2-40B4-BE49-F238E27FC236}">
                <a16:creationId xmlns:a16="http://schemas.microsoft.com/office/drawing/2014/main" id="{6C1E1B70-20C7-60CA-6F39-8186906606D4}"/>
              </a:ext>
            </a:extLst>
          </p:cNvPr>
          <p:cNvGrpSpPr/>
          <p:nvPr/>
        </p:nvGrpSpPr>
        <p:grpSpPr>
          <a:xfrm>
            <a:off x="14630400" y="4871047"/>
            <a:ext cx="350910" cy="350910"/>
            <a:chOff x="0" y="0"/>
            <a:chExt cx="812800" cy="812800"/>
          </a:xfrm>
        </p:grpSpPr>
        <p:sp>
          <p:nvSpPr>
            <p:cNvPr id="39" name="Freeform 39">
              <a:extLst>
                <a:ext uri="{FF2B5EF4-FFF2-40B4-BE49-F238E27FC236}">
                  <a16:creationId xmlns:a16="http://schemas.microsoft.com/office/drawing/2014/main" id="{782C04D8-CD04-A7E9-9A13-434E3A4733A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Box 40">
              <a:extLst>
                <a:ext uri="{FF2B5EF4-FFF2-40B4-BE49-F238E27FC236}">
                  <a16:creationId xmlns:a16="http://schemas.microsoft.com/office/drawing/2014/main" id="{B5334350-66E8-9A8C-1ABA-925FA0A465C8}"/>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1" name="Group 41">
            <a:extLst>
              <a:ext uri="{FF2B5EF4-FFF2-40B4-BE49-F238E27FC236}">
                <a16:creationId xmlns:a16="http://schemas.microsoft.com/office/drawing/2014/main" id="{7C83BF51-6FBF-730E-A2A9-6298954A3FE5}"/>
              </a:ext>
            </a:extLst>
          </p:cNvPr>
          <p:cNvGrpSpPr/>
          <p:nvPr/>
        </p:nvGrpSpPr>
        <p:grpSpPr>
          <a:xfrm>
            <a:off x="13792200" y="4866548"/>
            <a:ext cx="350910" cy="350910"/>
            <a:chOff x="0" y="0"/>
            <a:chExt cx="812800" cy="812800"/>
          </a:xfrm>
        </p:grpSpPr>
        <p:sp>
          <p:nvSpPr>
            <p:cNvPr id="42" name="Freeform 42">
              <a:extLst>
                <a:ext uri="{FF2B5EF4-FFF2-40B4-BE49-F238E27FC236}">
                  <a16:creationId xmlns:a16="http://schemas.microsoft.com/office/drawing/2014/main" id="{E62EA1BA-3020-6A69-BAB9-2105179167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Box 43">
              <a:extLst>
                <a:ext uri="{FF2B5EF4-FFF2-40B4-BE49-F238E27FC236}">
                  <a16:creationId xmlns:a16="http://schemas.microsoft.com/office/drawing/2014/main" id="{7D999780-D440-3B20-EED6-AA5E78B667F7}"/>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4" name="Group 44">
            <a:extLst>
              <a:ext uri="{FF2B5EF4-FFF2-40B4-BE49-F238E27FC236}">
                <a16:creationId xmlns:a16="http://schemas.microsoft.com/office/drawing/2014/main" id="{290837C5-7FA3-9D7C-8AE6-1B45ECB0BB52}"/>
              </a:ext>
            </a:extLst>
          </p:cNvPr>
          <p:cNvGrpSpPr/>
          <p:nvPr/>
        </p:nvGrpSpPr>
        <p:grpSpPr>
          <a:xfrm>
            <a:off x="5956707" y="5944191"/>
            <a:ext cx="5949039" cy="3804447"/>
            <a:chOff x="0" y="0"/>
            <a:chExt cx="1778700" cy="1137490"/>
          </a:xfrm>
        </p:grpSpPr>
        <p:sp>
          <p:nvSpPr>
            <p:cNvPr id="45" name="Freeform 45">
              <a:extLst>
                <a:ext uri="{FF2B5EF4-FFF2-40B4-BE49-F238E27FC236}">
                  <a16:creationId xmlns:a16="http://schemas.microsoft.com/office/drawing/2014/main" id="{70EFFEC9-CFD4-A61E-694E-33351F9424F6}"/>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Box 46">
              <a:extLst>
                <a:ext uri="{FF2B5EF4-FFF2-40B4-BE49-F238E27FC236}">
                  <a16:creationId xmlns:a16="http://schemas.microsoft.com/office/drawing/2014/main" id="{9B3DF2A1-D758-2420-51A5-1FE5A9E86541}"/>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7" name="Group 47">
            <a:extLst>
              <a:ext uri="{FF2B5EF4-FFF2-40B4-BE49-F238E27FC236}">
                <a16:creationId xmlns:a16="http://schemas.microsoft.com/office/drawing/2014/main" id="{226185E0-D40F-8DFE-019D-34B65BAE368E}"/>
              </a:ext>
            </a:extLst>
          </p:cNvPr>
          <p:cNvGrpSpPr/>
          <p:nvPr/>
        </p:nvGrpSpPr>
        <p:grpSpPr>
          <a:xfrm>
            <a:off x="6176778" y="6123985"/>
            <a:ext cx="5508897" cy="3437667"/>
            <a:chOff x="0" y="0"/>
            <a:chExt cx="1647103" cy="1027826"/>
          </a:xfrm>
        </p:grpSpPr>
        <p:sp>
          <p:nvSpPr>
            <p:cNvPr id="48" name="Freeform 48">
              <a:extLst>
                <a:ext uri="{FF2B5EF4-FFF2-40B4-BE49-F238E27FC236}">
                  <a16:creationId xmlns:a16="http://schemas.microsoft.com/office/drawing/2014/main" id="{11F32984-2E5A-24B1-0A63-259A9F8036DA}"/>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Box 49">
              <a:extLst>
                <a:ext uri="{FF2B5EF4-FFF2-40B4-BE49-F238E27FC236}">
                  <a16:creationId xmlns:a16="http://schemas.microsoft.com/office/drawing/2014/main" id="{FA2D5B3B-FF9A-E5B0-C2D1-8C35F1511CBA}"/>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0" name="Group 50">
            <a:extLst>
              <a:ext uri="{FF2B5EF4-FFF2-40B4-BE49-F238E27FC236}">
                <a16:creationId xmlns:a16="http://schemas.microsoft.com/office/drawing/2014/main" id="{1531C8E4-9636-FB6D-29CB-A34C6A4AC031}"/>
              </a:ext>
            </a:extLst>
          </p:cNvPr>
          <p:cNvGrpSpPr/>
          <p:nvPr/>
        </p:nvGrpSpPr>
        <p:grpSpPr>
          <a:xfrm>
            <a:off x="9372600" y="9001052"/>
            <a:ext cx="350910" cy="350910"/>
            <a:chOff x="0" y="0"/>
            <a:chExt cx="812800" cy="812800"/>
          </a:xfrm>
        </p:grpSpPr>
        <p:sp>
          <p:nvSpPr>
            <p:cNvPr id="51" name="Freeform 51">
              <a:extLst>
                <a:ext uri="{FF2B5EF4-FFF2-40B4-BE49-F238E27FC236}">
                  <a16:creationId xmlns:a16="http://schemas.microsoft.com/office/drawing/2014/main" id="{642E3EBD-D755-BFA1-2AE8-260C419F7E7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Box 52">
              <a:extLst>
                <a:ext uri="{FF2B5EF4-FFF2-40B4-BE49-F238E27FC236}">
                  <a16:creationId xmlns:a16="http://schemas.microsoft.com/office/drawing/2014/main" id="{5CD873A3-1F41-BEAD-3FF4-76D916308999}"/>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3" name="Group 53">
            <a:extLst>
              <a:ext uri="{FF2B5EF4-FFF2-40B4-BE49-F238E27FC236}">
                <a16:creationId xmlns:a16="http://schemas.microsoft.com/office/drawing/2014/main" id="{6032A0D7-D460-7805-1F4F-306DB773481D}"/>
              </a:ext>
            </a:extLst>
          </p:cNvPr>
          <p:cNvGrpSpPr/>
          <p:nvPr/>
        </p:nvGrpSpPr>
        <p:grpSpPr>
          <a:xfrm>
            <a:off x="9783690" y="9003301"/>
            <a:ext cx="350910" cy="350910"/>
            <a:chOff x="0" y="0"/>
            <a:chExt cx="812800" cy="812800"/>
          </a:xfrm>
        </p:grpSpPr>
        <p:sp>
          <p:nvSpPr>
            <p:cNvPr id="54" name="Freeform 54">
              <a:extLst>
                <a:ext uri="{FF2B5EF4-FFF2-40B4-BE49-F238E27FC236}">
                  <a16:creationId xmlns:a16="http://schemas.microsoft.com/office/drawing/2014/main" id="{5D7F6F37-86E8-85D3-1682-A517FA2844B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996A558D-6229-E105-203B-BA797A656956}"/>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F60F29BC-E6DA-B288-37D8-B3642D251425}"/>
              </a:ext>
            </a:extLst>
          </p:cNvPr>
          <p:cNvGrpSpPr/>
          <p:nvPr/>
        </p:nvGrpSpPr>
        <p:grpSpPr>
          <a:xfrm>
            <a:off x="10621890" y="9007800"/>
            <a:ext cx="350910" cy="350910"/>
            <a:chOff x="0" y="0"/>
            <a:chExt cx="812800" cy="812800"/>
          </a:xfrm>
        </p:grpSpPr>
        <p:sp>
          <p:nvSpPr>
            <p:cNvPr id="57" name="Freeform 57">
              <a:extLst>
                <a:ext uri="{FF2B5EF4-FFF2-40B4-BE49-F238E27FC236}">
                  <a16:creationId xmlns:a16="http://schemas.microsoft.com/office/drawing/2014/main" id="{713103AF-8754-D676-6250-F91CC6EEC1B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39A2E82E-AAE6-6AA5-93F3-5D3CB0A4E387}"/>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61FF9241-8BEB-BAC6-6B85-5939AAD2F8A0}"/>
              </a:ext>
            </a:extLst>
          </p:cNvPr>
          <p:cNvGrpSpPr/>
          <p:nvPr/>
        </p:nvGrpSpPr>
        <p:grpSpPr>
          <a:xfrm>
            <a:off x="11049000" y="9010050"/>
            <a:ext cx="350910" cy="350910"/>
            <a:chOff x="0" y="0"/>
            <a:chExt cx="812800" cy="812800"/>
          </a:xfrm>
        </p:grpSpPr>
        <p:sp>
          <p:nvSpPr>
            <p:cNvPr id="60" name="Freeform 60">
              <a:extLst>
                <a:ext uri="{FF2B5EF4-FFF2-40B4-BE49-F238E27FC236}">
                  <a16:creationId xmlns:a16="http://schemas.microsoft.com/office/drawing/2014/main" id="{155967A4-A30D-F4ED-B4A7-E25C82743CE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CEF1F815-DFA5-DCB8-BDC4-4F8A9E919FBA}"/>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943CBAC5-5B84-7294-DBC9-62174DED0F41}"/>
              </a:ext>
            </a:extLst>
          </p:cNvPr>
          <p:cNvGrpSpPr/>
          <p:nvPr/>
        </p:nvGrpSpPr>
        <p:grpSpPr>
          <a:xfrm>
            <a:off x="10210800" y="9005551"/>
            <a:ext cx="350910" cy="350910"/>
            <a:chOff x="0" y="0"/>
            <a:chExt cx="812800" cy="812800"/>
          </a:xfrm>
        </p:grpSpPr>
        <p:sp>
          <p:nvSpPr>
            <p:cNvPr id="63" name="Freeform 63">
              <a:extLst>
                <a:ext uri="{FF2B5EF4-FFF2-40B4-BE49-F238E27FC236}">
                  <a16:creationId xmlns:a16="http://schemas.microsoft.com/office/drawing/2014/main" id="{047B50DF-0A28-4A79-E7CC-E27B31D6C2C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3F7E3EE4-FFCA-B875-83E3-1EA2A1AC2A0C}"/>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5" name="Freeform 65">
            <a:extLst>
              <a:ext uri="{FF2B5EF4-FFF2-40B4-BE49-F238E27FC236}">
                <a16:creationId xmlns:a16="http://schemas.microsoft.com/office/drawing/2014/main" id="{E4E2527F-2C8D-8D3A-CA32-5CA2E3E862CD}"/>
              </a:ext>
            </a:extLst>
          </p:cNvPr>
          <p:cNvSpPr/>
          <p:nvPr/>
        </p:nvSpPr>
        <p:spPr>
          <a:xfrm>
            <a:off x="1720736" y="1444102"/>
            <a:ext cx="1088952" cy="1088952"/>
          </a:xfrm>
          <a:custGeom>
            <a:avLst/>
            <a:gdLst/>
            <a:ahLst/>
            <a:cxnLst/>
            <a:rect l="l" t="t" r="r" b="b"/>
            <a:pathLst>
              <a:path w="1088952" h="1088952">
                <a:moveTo>
                  <a:pt x="0" y="0"/>
                </a:moveTo>
                <a:lnTo>
                  <a:pt x="1088952" y="0"/>
                </a:lnTo>
                <a:lnTo>
                  <a:pt x="1088952" y="1088952"/>
                </a:lnTo>
                <a:lnTo>
                  <a:pt x="0" y="10889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Freeform 66">
            <a:extLst>
              <a:ext uri="{FF2B5EF4-FFF2-40B4-BE49-F238E27FC236}">
                <a16:creationId xmlns:a16="http://schemas.microsoft.com/office/drawing/2014/main" id="{BC30BF12-6BDF-0BDF-A3E2-0886EA035F89}"/>
              </a:ext>
            </a:extLst>
          </p:cNvPr>
          <p:cNvSpPr/>
          <p:nvPr/>
        </p:nvSpPr>
        <p:spPr>
          <a:xfrm>
            <a:off x="9185419" y="1499341"/>
            <a:ext cx="1033713" cy="1033713"/>
          </a:xfrm>
          <a:custGeom>
            <a:avLst/>
            <a:gdLst/>
            <a:ahLst/>
            <a:cxnLst/>
            <a:rect l="l" t="t" r="r" b="b"/>
            <a:pathLst>
              <a:path w="1033713" h="1033713">
                <a:moveTo>
                  <a:pt x="0" y="0"/>
                </a:moveTo>
                <a:lnTo>
                  <a:pt x="1033713" y="0"/>
                </a:lnTo>
                <a:lnTo>
                  <a:pt x="1033713" y="1033713"/>
                </a:lnTo>
                <a:lnTo>
                  <a:pt x="0" y="10337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Freeform 67">
            <a:extLst>
              <a:ext uri="{FF2B5EF4-FFF2-40B4-BE49-F238E27FC236}">
                <a16:creationId xmlns:a16="http://schemas.microsoft.com/office/drawing/2014/main" id="{04DD802F-643E-F1D0-4636-29D2C3DE2C33}"/>
              </a:ext>
            </a:extLst>
          </p:cNvPr>
          <p:cNvSpPr/>
          <p:nvPr/>
        </p:nvSpPr>
        <p:spPr>
          <a:xfrm>
            <a:off x="5589702" y="5734641"/>
            <a:ext cx="1071918" cy="1071918"/>
          </a:xfrm>
          <a:custGeom>
            <a:avLst/>
            <a:gdLst/>
            <a:ahLst/>
            <a:cxnLst/>
            <a:rect l="l" t="t" r="r" b="b"/>
            <a:pathLst>
              <a:path w="1071918" h="1071918">
                <a:moveTo>
                  <a:pt x="0" y="0"/>
                </a:moveTo>
                <a:lnTo>
                  <a:pt x="1071919" y="0"/>
                </a:lnTo>
                <a:lnTo>
                  <a:pt x="1071919" y="1071918"/>
                </a:lnTo>
                <a:lnTo>
                  <a:pt x="0" y="10719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TextBox 68">
            <a:extLst>
              <a:ext uri="{FF2B5EF4-FFF2-40B4-BE49-F238E27FC236}">
                <a16:creationId xmlns:a16="http://schemas.microsoft.com/office/drawing/2014/main" id="{BF33D971-9DB3-CEBD-7036-41723207BAA8}"/>
              </a:ext>
            </a:extLst>
          </p:cNvPr>
          <p:cNvSpPr txBox="1"/>
          <p:nvPr/>
        </p:nvSpPr>
        <p:spPr>
          <a:xfrm>
            <a:off x="1085419" y="446516"/>
            <a:ext cx="16200000" cy="89255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200" b="1" i="0" u="none" strike="noStrike" kern="0" cap="none" spc="0" normalizeH="0" baseline="0" noProof="0" dirty="0">
                <a:ln>
                  <a:noFill/>
                </a:ln>
                <a:solidFill>
                  <a:srgbClr val="002B11"/>
                </a:solidFill>
                <a:effectLst/>
                <a:uLnTx/>
                <a:uFillTx/>
                <a:latin typeface="Poppins Black"/>
                <a:cs typeface="Arial"/>
                <a:sym typeface="Arial"/>
              </a:rPr>
              <a:t>FS Bullying - Examples</a:t>
            </a:r>
          </a:p>
        </p:txBody>
      </p:sp>
      <p:sp>
        <p:nvSpPr>
          <p:cNvPr id="71" name="TextBox 70">
            <a:extLst>
              <a:ext uri="{FF2B5EF4-FFF2-40B4-BE49-F238E27FC236}">
                <a16:creationId xmlns:a16="http://schemas.microsoft.com/office/drawing/2014/main" id="{8DCD4A36-9457-DECF-3A5D-2585076E1EB4}"/>
              </a:ext>
            </a:extLst>
          </p:cNvPr>
          <p:cNvSpPr txBox="1"/>
          <p:nvPr/>
        </p:nvSpPr>
        <p:spPr>
          <a:xfrm>
            <a:off x="2544000" y="2661235"/>
            <a:ext cx="4956727" cy="1567865"/>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An owner sends polite requests to a reviewer asking to reconsider or edit their review. </a:t>
            </a:r>
          </a:p>
        </p:txBody>
      </p:sp>
      <p:sp>
        <p:nvSpPr>
          <p:cNvPr id="72" name="TextBox 71">
            <a:extLst>
              <a:ext uri="{FF2B5EF4-FFF2-40B4-BE49-F238E27FC236}">
                <a16:creationId xmlns:a16="http://schemas.microsoft.com/office/drawing/2014/main" id="{94B21833-8701-EF39-A285-EDD6FB7E1EEB}"/>
              </a:ext>
            </a:extLst>
          </p:cNvPr>
          <p:cNvSpPr txBox="1"/>
          <p:nvPr/>
        </p:nvSpPr>
        <p:spPr>
          <a:xfrm>
            <a:off x="9959145" y="2610604"/>
            <a:ext cx="4956727" cy="2075696"/>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An owner sends multiple aggressive messages demanding the review be removed. </a:t>
            </a:r>
          </a:p>
        </p:txBody>
      </p:sp>
      <p:sp>
        <p:nvSpPr>
          <p:cNvPr id="73" name="TextBox 72">
            <a:extLst>
              <a:ext uri="{FF2B5EF4-FFF2-40B4-BE49-F238E27FC236}">
                <a16:creationId xmlns:a16="http://schemas.microsoft.com/office/drawing/2014/main" id="{18F21C21-6047-BE29-CBC7-F505805E0800}"/>
              </a:ext>
            </a:extLst>
          </p:cNvPr>
          <p:cNvSpPr txBox="1"/>
          <p:nvPr/>
        </p:nvSpPr>
        <p:spPr>
          <a:xfrm>
            <a:off x="6500055" y="6743700"/>
            <a:ext cx="4956727" cy="2075696"/>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An owner uses threatening or harassing language, including personal attacks, to force the reviewer to remove their review. </a:t>
            </a:r>
          </a:p>
        </p:txBody>
      </p:sp>
      <p:sp>
        <p:nvSpPr>
          <p:cNvPr id="76" name="TextBox 75">
            <a:extLst>
              <a:ext uri="{FF2B5EF4-FFF2-40B4-BE49-F238E27FC236}">
                <a16:creationId xmlns:a16="http://schemas.microsoft.com/office/drawing/2014/main" id="{FAC9903D-ABD8-3771-50D9-E4515B6A2222}"/>
              </a:ext>
            </a:extLst>
          </p:cNvPr>
          <p:cNvSpPr txBox="1"/>
          <p:nvPr/>
        </p:nvSpPr>
        <p:spPr>
          <a:xfrm>
            <a:off x="533400" y="9867900"/>
            <a:ext cx="7315200" cy="246221"/>
          </a:xfrm>
          <a:prstGeom prst="rect">
            <a:avLst/>
          </a:prstGeom>
          <a:noFill/>
        </p:spPr>
        <p:txBody>
          <a:bodyPr wrap="square" lIns="0" tIns="0" rIns="0" bIns="0" anchor="t">
            <a:spAutoFit/>
          </a:bodyPr>
          <a:lstStyle/>
          <a:p>
            <a:pPr defTabSz="457200">
              <a:defRPr/>
            </a:pPr>
            <a:r>
              <a:rPr sz="1600" spc="50" dirty="0">
                <a:solidFill>
                  <a:srgbClr val="8A8272"/>
                </a:solidFill>
                <a:latin typeface="Poppins" panose="00000500000000000000" pitchFamily="2" charset="0"/>
                <a:cs typeface="Poppins" panose="00000500000000000000" pitchFamily="2" charset="0"/>
              </a:rPr>
              <a:t>T</a:t>
            </a:r>
            <a:r>
              <a:rPr lang="en-US" sz="1600" spc="50" dirty="0">
                <a:solidFill>
                  <a:srgbClr val="8A8272"/>
                </a:solidFill>
                <a:latin typeface="Poppins" panose="00000500000000000000" pitchFamily="2" charset="0"/>
                <a:cs typeface="Poppins" panose="00000500000000000000" pitchFamily="2" charset="0"/>
              </a:rPr>
              <a:t>ripadvisor</a:t>
            </a:r>
            <a:r>
              <a:rPr sz="1600" spc="50" dirty="0">
                <a:solidFill>
                  <a:srgbClr val="8A8272"/>
                </a:solidFill>
                <a:latin typeface="Poppins" panose="00000500000000000000" pitchFamily="2" charset="0"/>
                <a:cs typeface="Poppins" panose="00000500000000000000" pitchFamily="2" charset="0"/>
              </a:rPr>
              <a:t> / F</a:t>
            </a:r>
            <a:r>
              <a:rPr lang="en-US" sz="1600" spc="50" dirty="0">
                <a:solidFill>
                  <a:srgbClr val="8A8272"/>
                </a:solidFill>
                <a:latin typeface="Poppins" panose="00000500000000000000" pitchFamily="2" charset="0"/>
                <a:cs typeface="Poppins" panose="00000500000000000000" pitchFamily="2" charset="0"/>
              </a:rPr>
              <a:t>raud Support</a:t>
            </a:r>
            <a:r>
              <a:rPr sz="1600" spc="50" dirty="0">
                <a:solidFill>
                  <a:srgbClr val="8A8272"/>
                </a:solidFill>
                <a:latin typeface="Poppins" panose="00000500000000000000" pitchFamily="2" charset="0"/>
                <a:cs typeface="Poppins" panose="00000500000000000000" pitchFamily="2" charset="0"/>
              </a:rPr>
              <a:t> / </a:t>
            </a:r>
            <a:r>
              <a:rPr lang="en-US" sz="1600" spc="50" dirty="0">
                <a:solidFill>
                  <a:srgbClr val="8A8272"/>
                </a:solidFill>
                <a:latin typeface="Poppins" panose="00000500000000000000" pitchFamily="2" charset="0"/>
                <a:cs typeface="Poppins" panose="00000500000000000000" pitchFamily="2" charset="0"/>
              </a:rPr>
              <a:t>Examples</a:t>
            </a:r>
            <a:endParaRPr sz="1600" spc="50" dirty="0">
              <a:solidFill>
                <a:srgbClr val="8A8272"/>
              </a:solidFill>
              <a:latin typeface="Poppins" panose="00000500000000000000" pitchFamily="2" charset="0"/>
              <a:cs typeface="Poppins" panose="00000500000000000000" pitchFamily="2" charset="0"/>
            </a:endParaRPr>
          </a:p>
        </p:txBody>
      </p:sp>
      <p:sp>
        <p:nvSpPr>
          <p:cNvPr id="74" name="Action Button: Go Home 73">
            <a:hlinkClick r:id="rId6" action="ppaction://hlinksldjump" highlightClick="1"/>
            <a:extLst>
              <a:ext uri="{FF2B5EF4-FFF2-40B4-BE49-F238E27FC236}">
                <a16:creationId xmlns:a16="http://schemas.microsoft.com/office/drawing/2014/main" id="{FB86B10E-EE32-1228-E4E0-F7859E50D32C}"/>
              </a:ext>
            </a:extLst>
          </p:cNvPr>
          <p:cNvSpPr/>
          <p:nvPr/>
        </p:nvSpPr>
        <p:spPr>
          <a:xfrm>
            <a:off x="17068800" y="9262922"/>
            <a:ext cx="1143000" cy="909778"/>
          </a:xfrm>
          <a:prstGeom prst="actionButtonHom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47947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4067C-B9DB-E3FA-8836-627B7FE49681}"/>
            </a:ext>
          </a:extLst>
        </p:cNvPr>
        <p:cNvGrpSpPr/>
        <p:nvPr/>
      </p:nvGrpSpPr>
      <p:grpSpPr>
        <a:xfrm>
          <a:off x="0" y="0"/>
          <a:ext cx="0" cy="0"/>
          <a:chOff x="0" y="0"/>
          <a:chExt cx="0" cy="0"/>
        </a:xfrm>
      </p:grpSpPr>
      <p:sp>
        <p:nvSpPr>
          <p:cNvPr id="70" name="Freeform 4">
            <a:extLst>
              <a:ext uri="{FF2B5EF4-FFF2-40B4-BE49-F238E27FC236}">
                <a16:creationId xmlns:a16="http://schemas.microsoft.com/office/drawing/2014/main" id="{FC4E822F-3268-C0F5-1FB0-93A4B52DC6ED}"/>
              </a:ext>
            </a:extLst>
          </p:cNvPr>
          <p:cNvSpPr/>
          <p:nvPr/>
        </p:nvSpPr>
        <p:spPr>
          <a:xfrm rot="17310465">
            <a:off x="12328431" y="3992316"/>
            <a:ext cx="9056866"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5" name="Freeform 4">
            <a:extLst>
              <a:ext uri="{FF2B5EF4-FFF2-40B4-BE49-F238E27FC236}">
                <a16:creationId xmlns:a16="http://schemas.microsoft.com/office/drawing/2014/main" id="{E00385BC-8FC3-EFE5-4129-DD10946EC077}"/>
              </a:ext>
            </a:extLst>
          </p:cNvPr>
          <p:cNvSpPr/>
          <p:nvPr/>
        </p:nvSpPr>
        <p:spPr>
          <a:xfrm rot="5554844">
            <a:off x="-6561578" y="3184640"/>
            <a:ext cx="12381610"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2" name="Group 2">
            <a:extLst>
              <a:ext uri="{FF2B5EF4-FFF2-40B4-BE49-F238E27FC236}">
                <a16:creationId xmlns:a16="http://schemas.microsoft.com/office/drawing/2014/main" id="{C83F12A8-2DD9-1BB7-D4F9-EA44EA70D987}"/>
              </a:ext>
            </a:extLst>
          </p:cNvPr>
          <p:cNvGrpSpPr/>
          <p:nvPr/>
        </p:nvGrpSpPr>
        <p:grpSpPr>
          <a:xfrm>
            <a:off x="2045141" y="1808784"/>
            <a:ext cx="5949039" cy="3804447"/>
            <a:chOff x="0" y="0"/>
            <a:chExt cx="1778700" cy="1137490"/>
          </a:xfrm>
        </p:grpSpPr>
        <p:sp>
          <p:nvSpPr>
            <p:cNvPr id="3" name="Freeform 3">
              <a:extLst>
                <a:ext uri="{FF2B5EF4-FFF2-40B4-BE49-F238E27FC236}">
                  <a16:creationId xmlns:a16="http://schemas.microsoft.com/office/drawing/2014/main" id="{270286C4-62F2-E780-3B4A-DE2DCD64EEA3}"/>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C45686B7-91D3-DB07-37AD-88F5193C721B}"/>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E92865E8-DFCA-036A-3085-8B6C5583F9BE}"/>
              </a:ext>
            </a:extLst>
          </p:cNvPr>
          <p:cNvGrpSpPr/>
          <p:nvPr/>
        </p:nvGrpSpPr>
        <p:grpSpPr>
          <a:xfrm>
            <a:off x="2265212" y="1988578"/>
            <a:ext cx="5508897" cy="3437667"/>
            <a:chOff x="0" y="0"/>
            <a:chExt cx="1647103" cy="1027826"/>
          </a:xfrm>
        </p:grpSpPr>
        <p:sp>
          <p:nvSpPr>
            <p:cNvPr id="6" name="Freeform 6">
              <a:extLst>
                <a:ext uri="{FF2B5EF4-FFF2-40B4-BE49-F238E27FC236}">
                  <a16:creationId xmlns:a16="http://schemas.microsoft.com/office/drawing/2014/main" id="{3D90F639-C793-DC2D-32A9-3D40D9A25B7B}"/>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9461089D-BD53-361F-8CAC-0375E0957C81}"/>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BE918A5A-5ED1-C0B7-2AD0-AE820BF58CD0}"/>
              </a:ext>
            </a:extLst>
          </p:cNvPr>
          <p:cNvGrpSpPr/>
          <p:nvPr/>
        </p:nvGrpSpPr>
        <p:grpSpPr>
          <a:xfrm>
            <a:off x="5486400" y="4865645"/>
            <a:ext cx="350910" cy="350910"/>
            <a:chOff x="0" y="0"/>
            <a:chExt cx="812800" cy="812800"/>
          </a:xfrm>
        </p:grpSpPr>
        <p:sp>
          <p:nvSpPr>
            <p:cNvPr id="9" name="Freeform 9">
              <a:extLst>
                <a:ext uri="{FF2B5EF4-FFF2-40B4-BE49-F238E27FC236}">
                  <a16:creationId xmlns:a16="http://schemas.microsoft.com/office/drawing/2014/main" id="{EA25B570-3C65-AD36-A79A-F7439874429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41EA35A7-52F9-FEEB-E261-F71DF0D1EC09}"/>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06D0EBDF-F8EE-E067-E194-20DACA1226A2}"/>
              </a:ext>
            </a:extLst>
          </p:cNvPr>
          <p:cNvGrpSpPr/>
          <p:nvPr/>
        </p:nvGrpSpPr>
        <p:grpSpPr>
          <a:xfrm>
            <a:off x="5897490" y="4867894"/>
            <a:ext cx="350910" cy="350910"/>
            <a:chOff x="0" y="0"/>
            <a:chExt cx="812800" cy="812800"/>
          </a:xfrm>
        </p:grpSpPr>
        <p:sp>
          <p:nvSpPr>
            <p:cNvPr id="12" name="Freeform 12">
              <a:extLst>
                <a:ext uri="{FF2B5EF4-FFF2-40B4-BE49-F238E27FC236}">
                  <a16:creationId xmlns:a16="http://schemas.microsoft.com/office/drawing/2014/main" id="{54D6E173-10CF-5811-1A6F-A935BAD6EA6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053B6EC8-7A83-1DA1-7F93-F1BB0107A90E}"/>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7D205DC4-743B-3C03-574B-45E51F3C0DAA}"/>
              </a:ext>
            </a:extLst>
          </p:cNvPr>
          <p:cNvGrpSpPr/>
          <p:nvPr/>
        </p:nvGrpSpPr>
        <p:grpSpPr>
          <a:xfrm>
            <a:off x="6735690" y="4872393"/>
            <a:ext cx="350910" cy="350910"/>
            <a:chOff x="0" y="0"/>
            <a:chExt cx="812800" cy="812800"/>
          </a:xfrm>
        </p:grpSpPr>
        <p:sp>
          <p:nvSpPr>
            <p:cNvPr id="15" name="Freeform 15">
              <a:extLst>
                <a:ext uri="{FF2B5EF4-FFF2-40B4-BE49-F238E27FC236}">
                  <a16:creationId xmlns:a16="http://schemas.microsoft.com/office/drawing/2014/main" id="{59F46DC3-FD0A-2B9E-257B-8341A1F91A7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B3F0B90A-8B2D-520A-1E60-8FF09B3D6AA5}"/>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877DFF95-AECB-A136-9C88-6C2C76418ED6}"/>
              </a:ext>
            </a:extLst>
          </p:cNvPr>
          <p:cNvGrpSpPr/>
          <p:nvPr/>
        </p:nvGrpSpPr>
        <p:grpSpPr>
          <a:xfrm>
            <a:off x="7149817" y="4874643"/>
            <a:ext cx="350910" cy="350910"/>
            <a:chOff x="0" y="0"/>
            <a:chExt cx="812800" cy="812800"/>
          </a:xfrm>
        </p:grpSpPr>
        <p:sp>
          <p:nvSpPr>
            <p:cNvPr id="18" name="Freeform 18">
              <a:extLst>
                <a:ext uri="{FF2B5EF4-FFF2-40B4-BE49-F238E27FC236}">
                  <a16:creationId xmlns:a16="http://schemas.microsoft.com/office/drawing/2014/main" id="{07F336D7-A762-6097-2EED-E347757FA00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78ABECF8-A2D6-E40A-26E5-8020EEE73F7D}"/>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 name="Group 20">
            <a:extLst>
              <a:ext uri="{FF2B5EF4-FFF2-40B4-BE49-F238E27FC236}">
                <a16:creationId xmlns:a16="http://schemas.microsoft.com/office/drawing/2014/main" id="{016E7964-EF4D-85CB-6055-FC6BFCEDB375}"/>
              </a:ext>
            </a:extLst>
          </p:cNvPr>
          <p:cNvGrpSpPr/>
          <p:nvPr/>
        </p:nvGrpSpPr>
        <p:grpSpPr>
          <a:xfrm>
            <a:off x="6324600" y="4870144"/>
            <a:ext cx="350910" cy="350910"/>
            <a:chOff x="0" y="0"/>
            <a:chExt cx="812800" cy="812800"/>
          </a:xfrm>
        </p:grpSpPr>
        <p:sp>
          <p:nvSpPr>
            <p:cNvPr id="21" name="Freeform 21">
              <a:extLst>
                <a:ext uri="{FF2B5EF4-FFF2-40B4-BE49-F238E27FC236}">
                  <a16:creationId xmlns:a16="http://schemas.microsoft.com/office/drawing/2014/main" id="{22E1A334-38F0-6F70-4B99-A19CB9CE43A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2">
              <a:extLst>
                <a:ext uri="{FF2B5EF4-FFF2-40B4-BE49-F238E27FC236}">
                  <a16:creationId xmlns:a16="http://schemas.microsoft.com/office/drawing/2014/main" id="{45520D9A-1037-6164-5D80-A1DAEF05350D}"/>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3" name="Group 23">
            <a:extLst>
              <a:ext uri="{FF2B5EF4-FFF2-40B4-BE49-F238E27FC236}">
                <a16:creationId xmlns:a16="http://schemas.microsoft.com/office/drawing/2014/main" id="{E7DB219A-9A2C-EBB4-D6E3-2E4D6B9E1FE1}"/>
              </a:ext>
            </a:extLst>
          </p:cNvPr>
          <p:cNvGrpSpPr/>
          <p:nvPr/>
        </p:nvGrpSpPr>
        <p:grpSpPr>
          <a:xfrm>
            <a:off x="9482205" y="1805188"/>
            <a:ext cx="5949039" cy="3804447"/>
            <a:chOff x="0" y="0"/>
            <a:chExt cx="1778700" cy="1137490"/>
          </a:xfrm>
        </p:grpSpPr>
        <p:sp>
          <p:nvSpPr>
            <p:cNvPr id="24" name="Freeform 24">
              <a:extLst>
                <a:ext uri="{FF2B5EF4-FFF2-40B4-BE49-F238E27FC236}">
                  <a16:creationId xmlns:a16="http://schemas.microsoft.com/office/drawing/2014/main" id="{19FC46B8-96D8-E3BD-9E9E-06B476857950}"/>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5">
              <a:extLst>
                <a:ext uri="{FF2B5EF4-FFF2-40B4-BE49-F238E27FC236}">
                  <a16:creationId xmlns:a16="http://schemas.microsoft.com/office/drawing/2014/main" id="{B1C669BD-D4D3-5A08-42CA-3D890B3C3113}"/>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6" name="Group 26">
            <a:extLst>
              <a:ext uri="{FF2B5EF4-FFF2-40B4-BE49-F238E27FC236}">
                <a16:creationId xmlns:a16="http://schemas.microsoft.com/office/drawing/2014/main" id="{35125187-F53B-2C3D-85CD-67AF07CF8113}"/>
              </a:ext>
            </a:extLst>
          </p:cNvPr>
          <p:cNvGrpSpPr/>
          <p:nvPr/>
        </p:nvGrpSpPr>
        <p:grpSpPr>
          <a:xfrm>
            <a:off x="9702276" y="1984982"/>
            <a:ext cx="5508897" cy="3437667"/>
            <a:chOff x="0" y="0"/>
            <a:chExt cx="1647103" cy="1027826"/>
          </a:xfrm>
        </p:grpSpPr>
        <p:sp>
          <p:nvSpPr>
            <p:cNvPr id="27" name="Freeform 27">
              <a:extLst>
                <a:ext uri="{FF2B5EF4-FFF2-40B4-BE49-F238E27FC236}">
                  <a16:creationId xmlns:a16="http://schemas.microsoft.com/office/drawing/2014/main" id="{6530A182-E6A0-0105-123E-46015AFD9A4D}"/>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 name="TextBox 28">
              <a:extLst>
                <a:ext uri="{FF2B5EF4-FFF2-40B4-BE49-F238E27FC236}">
                  <a16:creationId xmlns:a16="http://schemas.microsoft.com/office/drawing/2014/main" id="{B63BE6DB-AAEB-4D15-9C4E-1835C39F1BBB}"/>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9" name="Group 29">
            <a:extLst>
              <a:ext uri="{FF2B5EF4-FFF2-40B4-BE49-F238E27FC236}">
                <a16:creationId xmlns:a16="http://schemas.microsoft.com/office/drawing/2014/main" id="{7719C68D-8236-296F-329F-6FFC01BC7DB8}"/>
              </a:ext>
            </a:extLst>
          </p:cNvPr>
          <p:cNvGrpSpPr/>
          <p:nvPr/>
        </p:nvGrpSpPr>
        <p:grpSpPr>
          <a:xfrm>
            <a:off x="12954000" y="4862049"/>
            <a:ext cx="350910" cy="350910"/>
            <a:chOff x="0" y="0"/>
            <a:chExt cx="812800" cy="812800"/>
          </a:xfrm>
        </p:grpSpPr>
        <p:sp>
          <p:nvSpPr>
            <p:cNvPr id="30" name="Freeform 30">
              <a:extLst>
                <a:ext uri="{FF2B5EF4-FFF2-40B4-BE49-F238E27FC236}">
                  <a16:creationId xmlns:a16="http://schemas.microsoft.com/office/drawing/2014/main" id="{CF635D25-89D0-8B50-346F-D5BC41F03ED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Box 31">
              <a:extLst>
                <a:ext uri="{FF2B5EF4-FFF2-40B4-BE49-F238E27FC236}">
                  <a16:creationId xmlns:a16="http://schemas.microsoft.com/office/drawing/2014/main" id="{25673E9C-6924-0331-BF19-5F65A16EDE7D}"/>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2" name="Group 32">
            <a:extLst>
              <a:ext uri="{FF2B5EF4-FFF2-40B4-BE49-F238E27FC236}">
                <a16:creationId xmlns:a16="http://schemas.microsoft.com/office/drawing/2014/main" id="{CEFDC05F-7C22-9DC6-EAF9-577B9B89B97D}"/>
              </a:ext>
            </a:extLst>
          </p:cNvPr>
          <p:cNvGrpSpPr/>
          <p:nvPr/>
        </p:nvGrpSpPr>
        <p:grpSpPr>
          <a:xfrm>
            <a:off x="13365090" y="4864299"/>
            <a:ext cx="350910" cy="350910"/>
            <a:chOff x="0" y="0"/>
            <a:chExt cx="812800" cy="812800"/>
          </a:xfrm>
        </p:grpSpPr>
        <p:sp>
          <p:nvSpPr>
            <p:cNvPr id="33" name="Freeform 33">
              <a:extLst>
                <a:ext uri="{FF2B5EF4-FFF2-40B4-BE49-F238E27FC236}">
                  <a16:creationId xmlns:a16="http://schemas.microsoft.com/office/drawing/2014/main" id="{83D746C0-D5D7-C003-A261-1FDDC016429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Box 34">
              <a:extLst>
                <a:ext uri="{FF2B5EF4-FFF2-40B4-BE49-F238E27FC236}">
                  <a16:creationId xmlns:a16="http://schemas.microsoft.com/office/drawing/2014/main" id="{372EE418-8AB2-34F4-9005-FCE6FAD54DC2}"/>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5" name="Group 35">
            <a:extLst>
              <a:ext uri="{FF2B5EF4-FFF2-40B4-BE49-F238E27FC236}">
                <a16:creationId xmlns:a16="http://schemas.microsoft.com/office/drawing/2014/main" id="{29A2CD8E-DE62-40CB-2521-F4C7F39E7723}"/>
              </a:ext>
            </a:extLst>
          </p:cNvPr>
          <p:cNvGrpSpPr/>
          <p:nvPr/>
        </p:nvGrpSpPr>
        <p:grpSpPr>
          <a:xfrm>
            <a:off x="14203290" y="4868797"/>
            <a:ext cx="350910" cy="350910"/>
            <a:chOff x="0" y="0"/>
            <a:chExt cx="812800" cy="812800"/>
          </a:xfrm>
        </p:grpSpPr>
        <p:sp>
          <p:nvSpPr>
            <p:cNvPr id="36" name="Freeform 36">
              <a:extLst>
                <a:ext uri="{FF2B5EF4-FFF2-40B4-BE49-F238E27FC236}">
                  <a16:creationId xmlns:a16="http://schemas.microsoft.com/office/drawing/2014/main" id="{42196D86-0F23-1CB1-35CD-BCD7AA376B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Box 37">
              <a:extLst>
                <a:ext uri="{FF2B5EF4-FFF2-40B4-BE49-F238E27FC236}">
                  <a16:creationId xmlns:a16="http://schemas.microsoft.com/office/drawing/2014/main" id="{55CEEC28-3F92-D620-9A1F-0659C4A33FD9}"/>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8">
            <a:extLst>
              <a:ext uri="{FF2B5EF4-FFF2-40B4-BE49-F238E27FC236}">
                <a16:creationId xmlns:a16="http://schemas.microsoft.com/office/drawing/2014/main" id="{41CF15B6-2B88-7A0E-E327-0A9D165B367C}"/>
              </a:ext>
            </a:extLst>
          </p:cNvPr>
          <p:cNvGrpSpPr/>
          <p:nvPr/>
        </p:nvGrpSpPr>
        <p:grpSpPr>
          <a:xfrm>
            <a:off x="14630400" y="4871047"/>
            <a:ext cx="350910" cy="350910"/>
            <a:chOff x="0" y="0"/>
            <a:chExt cx="812800" cy="812800"/>
          </a:xfrm>
        </p:grpSpPr>
        <p:sp>
          <p:nvSpPr>
            <p:cNvPr id="39" name="Freeform 39">
              <a:extLst>
                <a:ext uri="{FF2B5EF4-FFF2-40B4-BE49-F238E27FC236}">
                  <a16:creationId xmlns:a16="http://schemas.microsoft.com/office/drawing/2014/main" id="{C5DE2C92-74F2-4BA5-5C73-62E93344C3D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Box 40">
              <a:extLst>
                <a:ext uri="{FF2B5EF4-FFF2-40B4-BE49-F238E27FC236}">
                  <a16:creationId xmlns:a16="http://schemas.microsoft.com/office/drawing/2014/main" id="{6817B5FD-A1A5-30E7-6AA6-A571A9D617CA}"/>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1" name="Group 41">
            <a:extLst>
              <a:ext uri="{FF2B5EF4-FFF2-40B4-BE49-F238E27FC236}">
                <a16:creationId xmlns:a16="http://schemas.microsoft.com/office/drawing/2014/main" id="{F0E15CC1-B80B-053C-DE30-4603BA4C23BE}"/>
              </a:ext>
            </a:extLst>
          </p:cNvPr>
          <p:cNvGrpSpPr/>
          <p:nvPr/>
        </p:nvGrpSpPr>
        <p:grpSpPr>
          <a:xfrm>
            <a:off x="13792200" y="4866548"/>
            <a:ext cx="350910" cy="350910"/>
            <a:chOff x="0" y="0"/>
            <a:chExt cx="812800" cy="812800"/>
          </a:xfrm>
        </p:grpSpPr>
        <p:sp>
          <p:nvSpPr>
            <p:cNvPr id="42" name="Freeform 42">
              <a:extLst>
                <a:ext uri="{FF2B5EF4-FFF2-40B4-BE49-F238E27FC236}">
                  <a16:creationId xmlns:a16="http://schemas.microsoft.com/office/drawing/2014/main" id="{49BA1AE0-2779-5B03-C36D-42934DDC12D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Box 43">
              <a:extLst>
                <a:ext uri="{FF2B5EF4-FFF2-40B4-BE49-F238E27FC236}">
                  <a16:creationId xmlns:a16="http://schemas.microsoft.com/office/drawing/2014/main" id="{6026896E-AFCA-EFAC-E330-762F6C474EF2}"/>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4" name="Group 44">
            <a:extLst>
              <a:ext uri="{FF2B5EF4-FFF2-40B4-BE49-F238E27FC236}">
                <a16:creationId xmlns:a16="http://schemas.microsoft.com/office/drawing/2014/main" id="{DB25B5D8-7DD6-B535-FCDB-85912960C4F6}"/>
              </a:ext>
            </a:extLst>
          </p:cNvPr>
          <p:cNvGrpSpPr/>
          <p:nvPr/>
        </p:nvGrpSpPr>
        <p:grpSpPr>
          <a:xfrm>
            <a:off x="5956707" y="5944191"/>
            <a:ext cx="5949039" cy="3804447"/>
            <a:chOff x="0" y="0"/>
            <a:chExt cx="1778700" cy="1137490"/>
          </a:xfrm>
        </p:grpSpPr>
        <p:sp>
          <p:nvSpPr>
            <p:cNvPr id="45" name="Freeform 45">
              <a:extLst>
                <a:ext uri="{FF2B5EF4-FFF2-40B4-BE49-F238E27FC236}">
                  <a16:creationId xmlns:a16="http://schemas.microsoft.com/office/drawing/2014/main" id="{84AD6E8C-9C4D-4459-A700-8BA858C5BF05}"/>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Box 46">
              <a:extLst>
                <a:ext uri="{FF2B5EF4-FFF2-40B4-BE49-F238E27FC236}">
                  <a16:creationId xmlns:a16="http://schemas.microsoft.com/office/drawing/2014/main" id="{02104897-5C6A-9BEA-C40D-26513E2B2807}"/>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7" name="Group 47">
            <a:extLst>
              <a:ext uri="{FF2B5EF4-FFF2-40B4-BE49-F238E27FC236}">
                <a16:creationId xmlns:a16="http://schemas.microsoft.com/office/drawing/2014/main" id="{C0B96ACD-3559-5737-1806-A4BE3EEAE203}"/>
              </a:ext>
            </a:extLst>
          </p:cNvPr>
          <p:cNvGrpSpPr/>
          <p:nvPr/>
        </p:nvGrpSpPr>
        <p:grpSpPr>
          <a:xfrm>
            <a:off x="6176778" y="6123985"/>
            <a:ext cx="5508897" cy="3437667"/>
            <a:chOff x="0" y="0"/>
            <a:chExt cx="1647103" cy="1027826"/>
          </a:xfrm>
        </p:grpSpPr>
        <p:sp>
          <p:nvSpPr>
            <p:cNvPr id="48" name="Freeform 48">
              <a:extLst>
                <a:ext uri="{FF2B5EF4-FFF2-40B4-BE49-F238E27FC236}">
                  <a16:creationId xmlns:a16="http://schemas.microsoft.com/office/drawing/2014/main" id="{F320286B-D0B5-942A-C010-4C4ECFFAF365}"/>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Box 49">
              <a:extLst>
                <a:ext uri="{FF2B5EF4-FFF2-40B4-BE49-F238E27FC236}">
                  <a16:creationId xmlns:a16="http://schemas.microsoft.com/office/drawing/2014/main" id="{60960420-844A-51A2-2E00-7A29BCD445FC}"/>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0" name="Group 50">
            <a:extLst>
              <a:ext uri="{FF2B5EF4-FFF2-40B4-BE49-F238E27FC236}">
                <a16:creationId xmlns:a16="http://schemas.microsoft.com/office/drawing/2014/main" id="{F259F0E6-4A63-9FEA-D54F-308D6B27AA98}"/>
              </a:ext>
            </a:extLst>
          </p:cNvPr>
          <p:cNvGrpSpPr/>
          <p:nvPr/>
        </p:nvGrpSpPr>
        <p:grpSpPr>
          <a:xfrm>
            <a:off x="9372600" y="9001052"/>
            <a:ext cx="350910" cy="350910"/>
            <a:chOff x="0" y="0"/>
            <a:chExt cx="812800" cy="812800"/>
          </a:xfrm>
        </p:grpSpPr>
        <p:sp>
          <p:nvSpPr>
            <p:cNvPr id="51" name="Freeform 51">
              <a:extLst>
                <a:ext uri="{FF2B5EF4-FFF2-40B4-BE49-F238E27FC236}">
                  <a16:creationId xmlns:a16="http://schemas.microsoft.com/office/drawing/2014/main" id="{998E7145-5AFB-DE8E-1066-4AEA97B1975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Box 52">
              <a:extLst>
                <a:ext uri="{FF2B5EF4-FFF2-40B4-BE49-F238E27FC236}">
                  <a16:creationId xmlns:a16="http://schemas.microsoft.com/office/drawing/2014/main" id="{C24227EC-4E26-9A5A-A9BA-0CA20CEF01BC}"/>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3" name="Group 53">
            <a:extLst>
              <a:ext uri="{FF2B5EF4-FFF2-40B4-BE49-F238E27FC236}">
                <a16:creationId xmlns:a16="http://schemas.microsoft.com/office/drawing/2014/main" id="{ECCA04B6-2E3E-1C1E-81C0-521B15569B9B}"/>
              </a:ext>
            </a:extLst>
          </p:cNvPr>
          <p:cNvGrpSpPr/>
          <p:nvPr/>
        </p:nvGrpSpPr>
        <p:grpSpPr>
          <a:xfrm>
            <a:off x="9783690" y="9003301"/>
            <a:ext cx="350910" cy="350910"/>
            <a:chOff x="0" y="0"/>
            <a:chExt cx="812800" cy="812800"/>
          </a:xfrm>
        </p:grpSpPr>
        <p:sp>
          <p:nvSpPr>
            <p:cNvPr id="54" name="Freeform 54">
              <a:extLst>
                <a:ext uri="{FF2B5EF4-FFF2-40B4-BE49-F238E27FC236}">
                  <a16:creationId xmlns:a16="http://schemas.microsoft.com/office/drawing/2014/main" id="{4D1AB955-850F-C2AC-9FDD-B0837C60D37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1CDF7E02-AFE6-C387-0D3C-668AAA294B13}"/>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69C0133F-A6CC-9A0A-0DD4-BE0D64B69F8A}"/>
              </a:ext>
            </a:extLst>
          </p:cNvPr>
          <p:cNvGrpSpPr/>
          <p:nvPr/>
        </p:nvGrpSpPr>
        <p:grpSpPr>
          <a:xfrm>
            <a:off x="10621890" y="9007800"/>
            <a:ext cx="350910" cy="350910"/>
            <a:chOff x="0" y="0"/>
            <a:chExt cx="812800" cy="812800"/>
          </a:xfrm>
        </p:grpSpPr>
        <p:sp>
          <p:nvSpPr>
            <p:cNvPr id="57" name="Freeform 57">
              <a:extLst>
                <a:ext uri="{FF2B5EF4-FFF2-40B4-BE49-F238E27FC236}">
                  <a16:creationId xmlns:a16="http://schemas.microsoft.com/office/drawing/2014/main" id="{4E19E587-35DF-30AE-E32C-BDCC75BB3E8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70DC9834-032E-86E8-6CD7-464DC794E0B4}"/>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AD2B8542-66F9-AD8C-17AD-DC90F6EBEB4B}"/>
              </a:ext>
            </a:extLst>
          </p:cNvPr>
          <p:cNvGrpSpPr/>
          <p:nvPr/>
        </p:nvGrpSpPr>
        <p:grpSpPr>
          <a:xfrm>
            <a:off x="11049000" y="9010050"/>
            <a:ext cx="350910" cy="350910"/>
            <a:chOff x="0" y="0"/>
            <a:chExt cx="812800" cy="812800"/>
          </a:xfrm>
        </p:grpSpPr>
        <p:sp>
          <p:nvSpPr>
            <p:cNvPr id="60" name="Freeform 60">
              <a:extLst>
                <a:ext uri="{FF2B5EF4-FFF2-40B4-BE49-F238E27FC236}">
                  <a16:creationId xmlns:a16="http://schemas.microsoft.com/office/drawing/2014/main" id="{2592038C-DD9E-5C00-E9BB-8836D3E5FA5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77CE3074-D6D8-ABC4-F282-C6E54CA45D1E}"/>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EFB53426-0536-0875-ABA6-7AB5F3845B12}"/>
              </a:ext>
            </a:extLst>
          </p:cNvPr>
          <p:cNvGrpSpPr/>
          <p:nvPr/>
        </p:nvGrpSpPr>
        <p:grpSpPr>
          <a:xfrm>
            <a:off x="10210800" y="9005551"/>
            <a:ext cx="350910" cy="350910"/>
            <a:chOff x="0" y="0"/>
            <a:chExt cx="812800" cy="812800"/>
          </a:xfrm>
        </p:grpSpPr>
        <p:sp>
          <p:nvSpPr>
            <p:cNvPr id="63" name="Freeform 63">
              <a:extLst>
                <a:ext uri="{FF2B5EF4-FFF2-40B4-BE49-F238E27FC236}">
                  <a16:creationId xmlns:a16="http://schemas.microsoft.com/office/drawing/2014/main" id="{129C6CD7-C012-DF6F-4101-52BB12A3AB4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247A92F2-F002-F3A6-1795-0769D0D8A9B6}"/>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5" name="Freeform 65">
            <a:extLst>
              <a:ext uri="{FF2B5EF4-FFF2-40B4-BE49-F238E27FC236}">
                <a16:creationId xmlns:a16="http://schemas.microsoft.com/office/drawing/2014/main" id="{9024663C-A443-27CB-915B-7D453EA44442}"/>
              </a:ext>
            </a:extLst>
          </p:cNvPr>
          <p:cNvSpPr/>
          <p:nvPr/>
        </p:nvSpPr>
        <p:spPr>
          <a:xfrm>
            <a:off x="1720736" y="1444102"/>
            <a:ext cx="1088952" cy="1088952"/>
          </a:xfrm>
          <a:custGeom>
            <a:avLst/>
            <a:gdLst/>
            <a:ahLst/>
            <a:cxnLst/>
            <a:rect l="l" t="t" r="r" b="b"/>
            <a:pathLst>
              <a:path w="1088952" h="1088952">
                <a:moveTo>
                  <a:pt x="0" y="0"/>
                </a:moveTo>
                <a:lnTo>
                  <a:pt x="1088952" y="0"/>
                </a:lnTo>
                <a:lnTo>
                  <a:pt x="1088952" y="1088952"/>
                </a:lnTo>
                <a:lnTo>
                  <a:pt x="0" y="10889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Freeform 66">
            <a:extLst>
              <a:ext uri="{FF2B5EF4-FFF2-40B4-BE49-F238E27FC236}">
                <a16:creationId xmlns:a16="http://schemas.microsoft.com/office/drawing/2014/main" id="{908DCF74-28A0-2882-721A-1C691ABCB22A}"/>
              </a:ext>
            </a:extLst>
          </p:cNvPr>
          <p:cNvSpPr/>
          <p:nvPr/>
        </p:nvSpPr>
        <p:spPr>
          <a:xfrm>
            <a:off x="9185419" y="1499341"/>
            <a:ext cx="1033713" cy="1033713"/>
          </a:xfrm>
          <a:custGeom>
            <a:avLst/>
            <a:gdLst/>
            <a:ahLst/>
            <a:cxnLst/>
            <a:rect l="l" t="t" r="r" b="b"/>
            <a:pathLst>
              <a:path w="1033713" h="1033713">
                <a:moveTo>
                  <a:pt x="0" y="0"/>
                </a:moveTo>
                <a:lnTo>
                  <a:pt x="1033713" y="0"/>
                </a:lnTo>
                <a:lnTo>
                  <a:pt x="1033713" y="1033713"/>
                </a:lnTo>
                <a:lnTo>
                  <a:pt x="0" y="10337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Freeform 67">
            <a:extLst>
              <a:ext uri="{FF2B5EF4-FFF2-40B4-BE49-F238E27FC236}">
                <a16:creationId xmlns:a16="http://schemas.microsoft.com/office/drawing/2014/main" id="{33087C2C-3491-D90E-780C-D9A1B5F5F21F}"/>
              </a:ext>
            </a:extLst>
          </p:cNvPr>
          <p:cNvSpPr/>
          <p:nvPr/>
        </p:nvSpPr>
        <p:spPr>
          <a:xfrm>
            <a:off x="5589702" y="5734641"/>
            <a:ext cx="1071918" cy="1071918"/>
          </a:xfrm>
          <a:custGeom>
            <a:avLst/>
            <a:gdLst/>
            <a:ahLst/>
            <a:cxnLst/>
            <a:rect l="l" t="t" r="r" b="b"/>
            <a:pathLst>
              <a:path w="1071918" h="1071918">
                <a:moveTo>
                  <a:pt x="0" y="0"/>
                </a:moveTo>
                <a:lnTo>
                  <a:pt x="1071919" y="0"/>
                </a:lnTo>
                <a:lnTo>
                  <a:pt x="1071919" y="1071918"/>
                </a:lnTo>
                <a:lnTo>
                  <a:pt x="0" y="10719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TextBox 68">
            <a:extLst>
              <a:ext uri="{FF2B5EF4-FFF2-40B4-BE49-F238E27FC236}">
                <a16:creationId xmlns:a16="http://schemas.microsoft.com/office/drawing/2014/main" id="{93541598-D087-6837-BEE0-9BC0F7B3B0B2}"/>
              </a:ext>
            </a:extLst>
          </p:cNvPr>
          <p:cNvSpPr txBox="1"/>
          <p:nvPr/>
        </p:nvSpPr>
        <p:spPr>
          <a:xfrm>
            <a:off x="1085419" y="446516"/>
            <a:ext cx="16200000" cy="89255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200" b="1" i="0" u="none" strike="noStrike" kern="0" cap="none" spc="0" normalizeH="0" baseline="0" noProof="0" dirty="0">
                <a:ln>
                  <a:noFill/>
                </a:ln>
                <a:solidFill>
                  <a:srgbClr val="002B11"/>
                </a:solidFill>
                <a:effectLst/>
                <a:uLnTx/>
                <a:uFillTx/>
                <a:latin typeface="Poppins Black"/>
                <a:cs typeface="Arial"/>
                <a:sym typeface="Arial"/>
              </a:rPr>
              <a:t>FS Boosting - Examples</a:t>
            </a:r>
          </a:p>
        </p:txBody>
      </p:sp>
      <p:sp>
        <p:nvSpPr>
          <p:cNvPr id="71" name="TextBox 70">
            <a:extLst>
              <a:ext uri="{FF2B5EF4-FFF2-40B4-BE49-F238E27FC236}">
                <a16:creationId xmlns:a16="http://schemas.microsoft.com/office/drawing/2014/main" id="{CB23F0D1-D23A-32DE-1B95-65D3000FAD7B}"/>
              </a:ext>
            </a:extLst>
          </p:cNvPr>
          <p:cNvSpPr txBox="1"/>
          <p:nvPr/>
        </p:nvSpPr>
        <p:spPr>
          <a:xfrm>
            <a:off x="2544000" y="2661235"/>
            <a:ext cx="4956727" cy="1567865"/>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An owner writes a positive review about their property without disclosing affiliation.</a:t>
            </a:r>
          </a:p>
        </p:txBody>
      </p:sp>
      <p:sp>
        <p:nvSpPr>
          <p:cNvPr id="72" name="TextBox 71">
            <a:extLst>
              <a:ext uri="{FF2B5EF4-FFF2-40B4-BE49-F238E27FC236}">
                <a16:creationId xmlns:a16="http://schemas.microsoft.com/office/drawing/2014/main" id="{199E3DBF-9C57-5105-7EDB-DD3D99C464E9}"/>
              </a:ext>
            </a:extLst>
          </p:cNvPr>
          <p:cNvSpPr txBox="1"/>
          <p:nvPr/>
        </p:nvSpPr>
        <p:spPr>
          <a:xfrm>
            <a:off x="10024583" y="2915900"/>
            <a:ext cx="4956727" cy="1567865"/>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An owner or staff writes multiple fake positive reviews to inflate ratings. </a:t>
            </a:r>
          </a:p>
        </p:txBody>
      </p:sp>
      <p:sp>
        <p:nvSpPr>
          <p:cNvPr id="73" name="TextBox 72">
            <a:extLst>
              <a:ext uri="{FF2B5EF4-FFF2-40B4-BE49-F238E27FC236}">
                <a16:creationId xmlns:a16="http://schemas.microsoft.com/office/drawing/2014/main" id="{2943A2F5-9F29-A64F-ED74-6D95DF9CB81B}"/>
              </a:ext>
            </a:extLst>
          </p:cNvPr>
          <p:cNvSpPr txBox="1"/>
          <p:nvPr/>
        </p:nvSpPr>
        <p:spPr>
          <a:xfrm>
            <a:off x="6500055" y="6649204"/>
            <a:ext cx="4956727" cy="2075696"/>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An owner coordinates a network of fake accounts to post numerous fraudulent positive reviews to manipulate ratings. </a:t>
            </a:r>
          </a:p>
        </p:txBody>
      </p:sp>
      <p:sp>
        <p:nvSpPr>
          <p:cNvPr id="76" name="TextBox 75">
            <a:extLst>
              <a:ext uri="{FF2B5EF4-FFF2-40B4-BE49-F238E27FC236}">
                <a16:creationId xmlns:a16="http://schemas.microsoft.com/office/drawing/2014/main" id="{B389F8CD-CB4D-0DF3-D6B2-3C9F071D7825}"/>
              </a:ext>
            </a:extLst>
          </p:cNvPr>
          <p:cNvSpPr txBox="1"/>
          <p:nvPr/>
        </p:nvSpPr>
        <p:spPr>
          <a:xfrm>
            <a:off x="533400" y="9867900"/>
            <a:ext cx="7315200" cy="246221"/>
          </a:xfrm>
          <a:prstGeom prst="rect">
            <a:avLst/>
          </a:prstGeom>
          <a:noFill/>
        </p:spPr>
        <p:txBody>
          <a:bodyPr wrap="square" lIns="0" tIns="0" rIns="0" bIns="0" anchor="t">
            <a:spAutoFit/>
          </a:bodyPr>
          <a:lstStyle/>
          <a:p>
            <a:pPr defTabSz="457200">
              <a:defRPr/>
            </a:pPr>
            <a:r>
              <a:rPr sz="1600" spc="50" dirty="0">
                <a:solidFill>
                  <a:srgbClr val="8A8272"/>
                </a:solidFill>
                <a:latin typeface="Poppins" panose="00000500000000000000" pitchFamily="2" charset="0"/>
                <a:cs typeface="Poppins" panose="00000500000000000000" pitchFamily="2" charset="0"/>
              </a:rPr>
              <a:t>T</a:t>
            </a:r>
            <a:r>
              <a:rPr lang="en-US" sz="1600" spc="50" dirty="0">
                <a:solidFill>
                  <a:srgbClr val="8A8272"/>
                </a:solidFill>
                <a:latin typeface="Poppins" panose="00000500000000000000" pitchFamily="2" charset="0"/>
                <a:cs typeface="Poppins" panose="00000500000000000000" pitchFamily="2" charset="0"/>
              </a:rPr>
              <a:t>ripadvisor</a:t>
            </a:r>
            <a:r>
              <a:rPr sz="1600" spc="50" dirty="0">
                <a:solidFill>
                  <a:srgbClr val="8A8272"/>
                </a:solidFill>
                <a:latin typeface="Poppins" panose="00000500000000000000" pitchFamily="2" charset="0"/>
                <a:cs typeface="Poppins" panose="00000500000000000000" pitchFamily="2" charset="0"/>
              </a:rPr>
              <a:t> / F</a:t>
            </a:r>
            <a:r>
              <a:rPr lang="en-US" sz="1600" spc="50" dirty="0">
                <a:solidFill>
                  <a:srgbClr val="8A8272"/>
                </a:solidFill>
                <a:latin typeface="Poppins" panose="00000500000000000000" pitchFamily="2" charset="0"/>
                <a:cs typeface="Poppins" panose="00000500000000000000" pitchFamily="2" charset="0"/>
              </a:rPr>
              <a:t>raud Support</a:t>
            </a:r>
            <a:r>
              <a:rPr sz="1600" spc="50" dirty="0">
                <a:solidFill>
                  <a:srgbClr val="8A8272"/>
                </a:solidFill>
                <a:latin typeface="Poppins" panose="00000500000000000000" pitchFamily="2" charset="0"/>
                <a:cs typeface="Poppins" panose="00000500000000000000" pitchFamily="2" charset="0"/>
              </a:rPr>
              <a:t> / </a:t>
            </a:r>
            <a:r>
              <a:rPr lang="en-US" sz="1600" spc="50" dirty="0">
                <a:solidFill>
                  <a:srgbClr val="8A8272"/>
                </a:solidFill>
                <a:latin typeface="Poppins" panose="00000500000000000000" pitchFamily="2" charset="0"/>
                <a:cs typeface="Poppins" panose="00000500000000000000" pitchFamily="2" charset="0"/>
              </a:rPr>
              <a:t>Examples</a:t>
            </a:r>
            <a:endParaRPr sz="1600" spc="50" dirty="0">
              <a:solidFill>
                <a:srgbClr val="8A8272"/>
              </a:solidFill>
              <a:latin typeface="Poppins" panose="00000500000000000000" pitchFamily="2" charset="0"/>
              <a:cs typeface="Poppins" panose="00000500000000000000" pitchFamily="2" charset="0"/>
            </a:endParaRPr>
          </a:p>
        </p:txBody>
      </p:sp>
      <p:sp>
        <p:nvSpPr>
          <p:cNvPr id="74" name="Action Button: Go Home 73">
            <a:hlinkClick r:id="rId6" action="ppaction://hlinksldjump" highlightClick="1"/>
            <a:extLst>
              <a:ext uri="{FF2B5EF4-FFF2-40B4-BE49-F238E27FC236}">
                <a16:creationId xmlns:a16="http://schemas.microsoft.com/office/drawing/2014/main" id="{1C4E753F-F720-FFD4-C5A9-D114EBB59D68}"/>
              </a:ext>
            </a:extLst>
          </p:cNvPr>
          <p:cNvSpPr/>
          <p:nvPr/>
        </p:nvSpPr>
        <p:spPr>
          <a:xfrm>
            <a:off x="17068800" y="9262922"/>
            <a:ext cx="1143000" cy="909778"/>
          </a:xfrm>
          <a:prstGeom prst="actionButtonHom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118833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A54E3-A2D8-59E5-3C0F-9D94A568B25D}"/>
            </a:ext>
          </a:extLst>
        </p:cNvPr>
        <p:cNvGrpSpPr/>
        <p:nvPr/>
      </p:nvGrpSpPr>
      <p:grpSpPr>
        <a:xfrm>
          <a:off x="0" y="0"/>
          <a:ext cx="0" cy="0"/>
          <a:chOff x="0" y="0"/>
          <a:chExt cx="0" cy="0"/>
        </a:xfrm>
      </p:grpSpPr>
      <p:sp>
        <p:nvSpPr>
          <p:cNvPr id="70" name="Freeform 4">
            <a:extLst>
              <a:ext uri="{FF2B5EF4-FFF2-40B4-BE49-F238E27FC236}">
                <a16:creationId xmlns:a16="http://schemas.microsoft.com/office/drawing/2014/main" id="{FC9EACA2-997B-106A-5C7B-FFC058177AA6}"/>
              </a:ext>
            </a:extLst>
          </p:cNvPr>
          <p:cNvSpPr/>
          <p:nvPr/>
        </p:nvSpPr>
        <p:spPr>
          <a:xfrm rot="17310465">
            <a:off x="12328431" y="3992316"/>
            <a:ext cx="9056866"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5" name="Freeform 4">
            <a:extLst>
              <a:ext uri="{FF2B5EF4-FFF2-40B4-BE49-F238E27FC236}">
                <a16:creationId xmlns:a16="http://schemas.microsoft.com/office/drawing/2014/main" id="{CB9CBD87-DDE3-071F-2D58-2565BF3E6264}"/>
              </a:ext>
            </a:extLst>
          </p:cNvPr>
          <p:cNvSpPr/>
          <p:nvPr/>
        </p:nvSpPr>
        <p:spPr>
          <a:xfrm rot="5554844">
            <a:off x="-6561578" y="3184640"/>
            <a:ext cx="12381610"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2" name="Group 2">
            <a:extLst>
              <a:ext uri="{FF2B5EF4-FFF2-40B4-BE49-F238E27FC236}">
                <a16:creationId xmlns:a16="http://schemas.microsoft.com/office/drawing/2014/main" id="{EA26E46D-1BD1-D7A4-11E7-D60C4552D25C}"/>
              </a:ext>
            </a:extLst>
          </p:cNvPr>
          <p:cNvGrpSpPr/>
          <p:nvPr/>
        </p:nvGrpSpPr>
        <p:grpSpPr>
          <a:xfrm>
            <a:off x="2045141" y="1808784"/>
            <a:ext cx="5949039" cy="3804447"/>
            <a:chOff x="0" y="0"/>
            <a:chExt cx="1778700" cy="1137490"/>
          </a:xfrm>
        </p:grpSpPr>
        <p:sp>
          <p:nvSpPr>
            <p:cNvPr id="3" name="Freeform 3">
              <a:extLst>
                <a:ext uri="{FF2B5EF4-FFF2-40B4-BE49-F238E27FC236}">
                  <a16:creationId xmlns:a16="http://schemas.microsoft.com/office/drawing/2014/main" id="{91FD456F-2A1E-B83D-C5F5-EFF41B84C918}"/>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A7F7E819-4427-32F2-6D15-4B97241611C9}"/>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B3780998-6AC5-93E6-C12F-A9A6BFD96361}"/>
              </a:ext>
            </a:extLst>
          </p:cNvPr>
          <p:cNvGrpSpPr/>
          <p:nvPr/>
        </p:nvGrpSpPr>
        <p:grpSpPr>
          <a:xfrm>
            <a:off x="2265212" y="1988578"/>
            <a:ext cx="5508897" cy="3437667"/>
            <a:chOff x="0" y="0"/>
            <a:chExt cx="1647103" cy="1027826"/>
          </a:xfrm>
        </p:grpSpPr>
        <p:sp>
          <p:nvSpPr>
            <p:cNvPr id="6" name="Freeform 6">
              <a:extLst>
                <a:ext uri="{FF2B5EF4-FFF2-40B4-BE49-F238E27FC236}">
                  <a16:creationId xmlns:a16="http://schemas.microsoft.com/office/drawing/2014/main" id="{121EA556-0152-1D69-06EB-3C9DD8ADD92B}"/>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BEB92484-42CC-2B92-623A-7866FBEB8467}"/>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0F9A13F5-4A19-6C82-B094-3F0E74011FAB}"/>
              </a:ext>
            </a:extLst>
          </p:cNvPr>
          <p:cNvGrpSpPr/>
          <p:nvPr/>
        </p:nvGrpSpPr>
        <p:grpSpPr>
          <a:xfrm>
            <a:off x="5486400" y="4865645"/>
            <a:ext cx="350910" cy="350910"/>
            <a:chOff x="0" y="0"/>
            <a:chExt cx="812800" cy="812800"/>
          </a:xfrm>
        </p:grpSpPr>
        <p:sp>
          <p:nvSpPr>
            <p:cNvPr id="9" name="Freeform 9">
              <a:extLst>
                <a:ext uri="{FF2B5EF4-FFF2-40B4-BE49-F238E27FC236}">
                  <a16:creationId xmlns:a16="http://schemas.microsoft.com/office/drawing/2014/main" id="{6A6B6E86-B08C-E1DC-BDAF-DCB900BDCF4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D4E1B494-AD3D-E807-1EAE-CFC838372E17}"/>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48407F2B-4A0B-A5D2-B426-6E15B71718C2}"/>
              </a:ext>
            </a:extLst>
          </p:cNvPr>
          <p:cNvGrpSpPr/>
          <p:nvPr/>
        </p:nvGrpSpPr>
        <p:grpSpPr>
          <a:xfrm>
            <a:off x="5897490" y="4867894"/>
            <a:ext cx="350910" cy="350910"/>
            <a:chOff x="0" y="0"/>
            <a:chExt cx="812800" cy="812800"/>
          </a:xfrm>
        </p:grpSpPr>
        <p:sp>
          <p:nvSpPr>
            <p:cNvPr id="12" name="Freeform 12">
              <a:extLst>
                <a:ext uri="{FF2B5EF4-FFF2-40B4-BE49-F238E27FC236}">
                  <a16:creationId xmlns:a16="http://schemas.microsoft.com/office/drawing/2014/main" id="{9756BD26-212A-B3AF-A066-EF93020B3C1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E6CE5648-F0EB-7702-E222-7DF115E7A40E}"/>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192668DE-A6B7-10D4-3E26-1D664CFBD0E6}"/>
              </a:ext>
            </a:extLst>
          </p:cNvPr>
          <p:cNvGrpSpPr/>
          <p:nvPr/>
        </p:nvGrpSpPr>
        <p:grpSpPr>
          <a:xfrm>
            <a:off x="6735690" y="4872393"/>
            <a:ext cx="350910" cy="350910"/>
            <a:chOff x="0" y="0"/>
            <a:chExt cx="812800" cy="812800"/>
          </a:xfrm>
        </p:grpSpPr>
        <p:sp>
          <p:nvSpPr>
            <p:cNvPr id="15" name="Freeform 15">
              <a:extLst>
                <a:ext uri="{FF2B5EF4-FFF2-40B4-BE49-F238E27FC236}">
                  <a16:creationId xmlns:a16="http://schemas.microsoft.com/office/drawing/2014/main" id="{5EF3202B-C133-17EB-7990-6269E4B31E2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AAAE2442-273D-69FE-FEE4-F5B0753E7DD0}"/>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0800BDA3-1D9D-783B-E55C-AA2CB5E329FE}"/>
              </a:ext>
            </a:extLst>
          </p:cNvPr>
          <p:cNvGrpSpPr/>
          <p:nvPr/>
        </p:nvGrpSpPr>
        <p:grpSpPr>
          <a:xfrm>
            <a:off x="7149817" y="4874643"/>
            <a:ext cx="350910" cy="350910"/>
            <a:chOff x="0" y="0"/>
            <a:chExt cx="812800" cy="812800"/>
          </a:xfrm>
        </p:grpSpPr>
        <p:sp>
          <p:nvSpPr>
            <p:cNvPr id="18" name="Freeform 18">
              <a:extLst>
                <a:ext uri="{FF2B5EF4-FFF2-40B4-BE49-F238E27FC236}">
                  <a16:creationId xmlns:a16="http://schemas.microsoft.com/office/drawing/2014/main" id="{58AFC320-B170-702B-0A24-9C571DCD713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7CF37736-71B8-7229-6354-22A11A058121}"/>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 name="Group 20">
            <a:extLst>
              <a:ext uri="{FF2B5EF4-FFF2-40B4-BE49-F238E27FC236}">
                <a16:creationId xmlns:a16="http://schemas.microsoft.com/office/drawing/2014/main" id="{7F367920-CBB8-1BAF-ADE2-1472F0E611CA}"/>
              </a:ext>
            </a:extLst>
          </p:cNvPr>
          <p:cNvGrpSpPr/>
          <p:nvPr/>
        </p:nvGrpSpPr>
        <p:grpSpPr>
          <a:xfrm>
            <a:off x="6324600" y="4870144"/>
            <a:ext cx="350910" cy="350910"/>
            <a:chOff x="0" y="0"/>
            <a:chExt cx="812800" cy="812800"/>
          </a:xfrm>
        </p:grpSpPr>
        <p:sp>
          <p:nvSpPr>
            <p:cNvPr id="21" name="Freeform 21">
              <a:extLst>
                <a:ext uri="{FF2B5EF4-FFF2-40B4-BE49-F238E27FC236}">
                  <a16:creationId xmlns:a16="http://schemas.microsoft.com/office/drawing/2014/main" id="{80E56CF8-D9BA-114E-5D9A-8ACCB53036D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2">
              <a:extLst>
                <a:ext uri="{FF2B5EF4-FFF2-40B4-BE49-F238E27FC236}">
                  <a16:creationId xmlns:a16="http://schemas.microsoft.com/office/drawing/2014/main" id="{49F9B2D0-9A08-3188-DBEC-8BD1A167B122}"/>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3" name="Group 23">
            <a:extLst>
              <a:ext uri="{FF2B5EF4-FFF2-40B4-BE49-F238E27FC236}">
                <a16:creationId xmlns:a16="http://schemas.microsoft.com/office/drawing/2014/main" id="{DC2F84FC-FF9D-016A-8269-E50E9B55B98E}"/>
              </a:ext>
            </a:extLst>
          </p:cNvPr>
          <p:cNvGrpSpPr/>
          <p:nvPr/>
        </p:nvGrpSpPr>
        <p:grpSpPr>
          <a:xfrm>
            <a:off x="9482205" y="1805188"/>
            <a:ext cx="5949039" cy="3804447"/>
            <a:chOff x="0" y="0"/>
            <a:chExt cx="1778700" cy="1137490"/>
          </a:xfrm>
        </p:grpSpPr>
        <p:sp>
          <p:nvSpPr>
            <p:cNvPr id="24" name="Freeform 24">
              <a:extLst>
                <a:ext uri="{FF2B5EF4-FFF2-40B4-BE49-F238E27FC236}">
                  <a16:creationId xmlns:a16="http://schemas.microsoft.com/office/drawing/2014/main" id="{A8EE0618-1198-B868-1F5A-7F72C5FA89C2}"/>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5">
              <a:extLst>
                <a:ext uri="{FF2B5EF4-FFF2-40B4-BE49-F238E27FC236}">
                  <a16:creationId xmlns:a16="http://schemas.microsoft.com/office/drawing/2014/main" id="{F5A56D9A-C813-125D-C39B-9B1D09C46A53}"/>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6" name="Group 26">
            <a:extLst>
              <a:ext uri="{FF2B5EF4-FFF2-40B4-BE49-F238E27FC236}">
                <a16:creationId xmlns:a16="http://schemas.microsoft.com/office/drawing/2014/main" id="{9B6F85F0-706C-9F4F-F620-935C24940432}"/>
              </a:ext>
            </a:extLst>
          </p:cNvPr>
          <p:cNvGrpSpPr/>
          <p:nvPr/>
        </p:nvGrpSpPr>
        <p:grpSpPr>
          <a:xfrm>
            <a:off x="9702276" y="1984982"/>
            <a:ext cx="5508897" cy="3437667"/>
            <a:chOff x="0" y="0"/>
            <a:chExt cx="1647103" cy="1027826"/>
          </a:xfrm>
        </p:grpSpPr>
        <p:sp>
          <p:nvSpPr>
            <p:cNvPr id="27" name="Freeform 27">
              <a:extLst>
                <a:ext uri="{FF2B5EF4-FFF2-40B4-BE49-F238E27FC236}">
                  <a16:creationId xmlns:a16="http://schemas.microsoft.com/office/drawing/2014/main" id="{1DA26472-F05E-0C2A-EC1A-F1B0095D01C9}"/>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 name="TextBox 28">
              <a:extLst>
                <a:ext uri="{FF2B5EF4-FFF2-40B4-BE49-F238E27FC236}">
                  <a16:creationId xmlns:a16="http://schemas.microsoft.com/office/drawing/2014/main" id="{A5D385A9-7091-CAFE-6A16-23D56D13DDA9}"/>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9" name="Group 29">
            <a:extLst>
              <a:ext uri="{FF2B5EF4-FFF2-40B4-BE49-F238E27FC236}">
                <a16:creationId xmlns:a16="http://schemas.microsoft.com/office/drawing/2014/main" id="{1E3225B2-ADAE-5717-9008-F758858A581F}"/>
              </a:ext>
            </a:extLst>
          </p:cNvPr>
          <p:cNvGrpSpPr/>
          <p:nvPr/>
        </p:nvGrpSpPr>
        <p:grpSpPr>
          <a:xfrm>
            <a:off x="12954000" y="4862049"/>
            <a:ext cx="350910" cy="350910"/>
            <a:chOff x="0" y="0"/>
            <a:chExt cx="812800" cy="812800"/>
          </a:xfrm>
        </p:grpSpPr>
        <p:sp>
          <p:nvSpPr>
            <p:cNvPr id="30" name="Freeform 30">
              <a:extLst>
                <a:ext uri="{FF2B5EF4-FFF2-40B4-BE49-F238E27FC236}">
                  <a16:creationId xmlns:a16="http://schemas.microsoft.com/office/drawing/2014/main" id="{FE5C9E59-9E91-B3CC-F2E0-81A278FE53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Box 31">
              <a:extLst>
                <a:ext uri="{FF2B5EF4-FFF2-40B4-BE49-F238E27FC236}">
                  <a16:creationId xmlns:a16="http://schemas.microsoft.com/office/drawing/2014/main" id="{A7C1C6E2-EC01-BDDC-BDE7-4E2B4EA156A7}"/>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2" name="Group 32">
            <a:extLst>
              <a:ext uri="{FF2B5EF4-FFF2-40B4-BE49-F238E27FC236}">
                <a16:creationId xmlns:a16="http://schemas.microsoft.com/office/drawing/2014/main" id="{732F388D-8F00-EF1E-C76A-B2F803C472C5}"/>
              </a:ext>
            </a:extLst>
          </p:cNvPr>
          <p:cNvGrpSpPr/>
          <p:nvPr/>
        </p:nvGrpSpPr>
        <p:grpSpPr>
          <a:xfrm>
            <a:off x="13365090" y="4864299"/>
            <a:ext cx="350910" cy="350910"/>
            <a:chOff x="0" y="0"/>
            <a:chExt cx="812800" cy="812800"/>
          </a:xfrm>
        </p:grpSpPr>
        <p:sp>
          <p:nvSpPr>
            <p:cNvPr id="33" name="Freeform 33">
              <a:extLst>
                <a:ext uri="{FF2B5EF4-FFF2-40B4-BE49-F238E27FC236}">
                  <a16:creationId xmlns:a16="http://schemas.microsoft.com/office/drawing/2014/main" id="{28F89005-CE29-8CDE-2B90-D6A25572FDA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Box 34">
              <a:extLst>
                <a:ext uri="{FF2B5EF4-FFF2-40B4-BE49-F238E27FC236}">
                  <a16:creationId xmlns:a16="http://schemas.microsoft.com/office/drawing/2014/main" id="{1FEF3555-B369-946C-315B-B0AA725C7BC9}"/>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5" name="Group 35">
            <a:extLst>
              <a:ext uri="{FF2B5EF4-FFF2-40B4-BE49-F238E27FC236}">
                <a16:creationId xmlns:a16="http://schemas.microsoft.com/office/drawing/2014/main" id="{8B10AA47-3197-FC2C-CB60-35BC515ADDDB}"/>
              </a:ext>
            </a:extLst>
          </p:cNvPr>
          <p:cNvGrpSpPr/>
          <p:nvPr/>
        </p:nvGrpSpPr>
        <p:grpSpPr>
          <a:xfrm>
            <a:off x="14203290" y="4868797"/>
            <a:ext cx="350910" cy="350910"/>
            <a:chOff x="0" y="0"/>
            <a:chExt cx="812800" cy="812800"/>
          </a:xfrm>
        </p:grpSpPr>
        <p:sp>
          <p:nvSpPr>
            <p:cNvPr id="36" name="Freeform 36">
              <a:extLst>
                <a:ext uri="{FF2B5EF4-FFF2-40B4-BE49-F238E27FC236}">
                  <a16:creationId xmlns:a16="http://schemas.microsoft.com/office/drawing/2014/main" id="{2EA41957-05A4-959D-59CA-B143493772E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Box 37">
              <a:extLst>
                <a:ext uri="{FF2B5EF4-FFF2-40B4-BE49-F238E27FC236}">
                  <a16:creationId xmlns:a16="http://schemas.microsoft.com/office/drawing/2014/main" id="{4BD38871-9F9D-E5B5-541D-2E421B188FD7}"/>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8">
            <a:extLst>
              <a:ext uri="{FF2B5EF4-FFF2-40B4-BE49-F238E27FC236}">
                <a16:creationId xmlns:a16="http://schemas.microsoft.com/office/drawing/2014/main" id="{C23DFD4A-D7E0-7C9A-865E-831111B5E080}"/>
              </a:ext>
            </a:extLst>
          </p:cNvPr>
          <p:cNvGrpSpPr/>
          <p:nvPr/>
        </p:nvGrpSpPr>
        <p:grpSpPr>
          <a:xfrm>
            <a:off x="14630400" y="4871047"/>
            <a:ext cx="350910" cy="350910"/>
            <a:chOff x="0" y="0"/>
            <a:chExt cx="812800" cy="812800"/>
          </a:xfrm>
        </p:grpSpPr>
        <p:sp>
          <p:nvSpPr>
            <p:cNvPr id="39" name="Freeform 39">
              <a:extLst>
                <a:ext uri="{FF2B5EF4-FFF2-40B4-BE49-F238E27FC236}">
                  <a16:creationId xmlns:a16="http://schemas.microsoft.com/office/drawing/2014/main" id="{56E42E90-C61E-3C5A-DBBA-C009253E41A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Box 40">
              <a:extLst>
                <a:ext uri="{FF2B5EF4-FFF2-40B4-BE49-F238E27FC236}">
                  <a16:creationId xmlns:a16="http://schemas.microsoft.com/office/drawing/2014/main" id="{820E461A-DE42-C9C6-587A-995D9442D5B9}"/>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1" name="Group 41">
            <a:extLst>
              <a:ext uri="{FF2B5EF4-FFF2-40B4-BE49-F238E27FC236}">
                <a16:creationId xmlns:a16="http://schemas.microsoft.com/office/drawing/2014/main" id="{01B5C791-8501-CDAD-78A4-4191E43C3946}"/>
              </a:ext>
            </a:extLst>
          </p:cNvPr>
          <p:cNvGrpSpPr/>
          <p:nvPr/>
        </p:nvGrpSpPr>
        <p:grpSpPr>
          <a:xfrm>
            <a:off x="13792200" y="4866548"/>
            <a:ext cx="350910" cy="350910"/>
            <a:chOff x="0" y="0"/>
            <a:chExt cx="812800" cy="812800"/>
          </a:xfrm>
        </p:grpSpPr>
        <p:sp>
          <p:nvSpPr>
            <p:cNvPr id="42" name="Freeform 42">
              <a:extLst>
                <a:ext uri="{FF2B5EF4-FFF2-40B4-BE49-F238E27FC236}">
                  <a16:creationId xmlns:a16="http://schemas.microsoft.com/office/drawing/2014/main" id="{3CA9CCB2-47D4-E0CC-963F-138CC9C3B57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Box 43">
              <a:extLst>
                <a:ext uri="{FF2B5EF4-FFF2-40B4-BE49-F238E27FC236}">
                  <a16:creationId xmlns:a16="http://schemas.microsoft.com/office/drawing/2014/main" id="{87A6C81C-077D-6ECF-97E6-B90D6E983510}"/>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4" name="Group 44">
            <a:extLst>
              <a:ext uri="{FF2B5EF4-FFF2-40B4-BE49-F238E27FC236}">
                <a16:creationId xmlns:a16="http://schemas.microsoft.com/office/drawing/2014/main" id="{04B1705F-6F3D-9606-E328-943528404AB4}"/>
              </a:ext>
            </a:extLst>
          </p:cNvPr>
          <p:cNvGrpSpPr/>
          <p:nvPr/>
        </p:nvGrpSpPr>
        <p:grpSpPr>
          <a:xfrm>
            <a:off x="5956707" y="5944191"/>
            <a:ext cx="5949039" cy="3804447"/>
            <a:chOff x="0" y="0"/>
            <a:chExt cx="1778700" cy="1137490"/>
          </a:xfrm>
        </p:grpSpPr>
        <p:sp>
          <p:nvSpPr>
            <p:cNvPr id="45" name="Freeform 45">
              <a:extLst>
                <a:ext uri="{FF2B5EF4-FFF2-40B4-BE49-F238E27FC236}">
                  <a16:creationId xmlns:a16="http://schemas.microsoft.com/office/drawing/2014/main" id="{93D813E5-006E-8664-580A-25DF0E9C1088}"/>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Box 46">
              <a:extLst>
                <a:ext uri="{FF2B5EF4-FFF2-40B4-BE49-F238E27FC236}">
                  <a16:creationId xmlns:a16="http://schemas.microsoft.com/office/drawing/2014/main" id="{80BC3575-AC7B-EA80-3375-88242876BFE7}"/>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7" name="Group 47">
            <a:extLst>
              <a:ext uri="{FF2B5EF4-FFF2-40B4-BE49-F238E27FC236}">
                <a16:creationId xmlns:a16="http://schemas.microsoft.com/office/drawing/2014/main" id="{2A1B603A-2B25-CFED-578A-33D0EE4B2D77}"/>
              </a:ext>
            </a:extLst>
          </p:cNvPr>
          <p:cNvGrpSpPr/>
          <p:nvPr/>
        </p:nvGrpSpPr>
        <p:grpSpPr>
          <a:xfrm>
            <a:off x="6176778" y="6123985"/>
            <a:ext cx="5508897" cy="3437667"/>
            <a:chOff x="0" y="0"/>
            <a:chExt cx="1647103" cy="1027826"/>
          </a:xfrm>
        </p:grpSpPr>
        <p:sp>
          <p:nvSpPr>
            <p:cNvPr id="48" name="Freeform 48">
              <a:extLst>
                <a:ext uri="{FF2B5EF4-FFF2-40B4-BE49-F238E27FC236}">
                  <a16:creationId xmlns:a16="http://schemas.microsoft.com/office/drawing/2014/main" id="{7AEF8592-5A4D-A715-8985-77692BA8C075}"/>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Box 49">
              <a:extLst>
                <a:ext uri="{FF2B5EF4-FFF2-40B4-BE49-F238E27FC236}">
                  <a16:creationId xmlns:a16="http://schemas.microsoft.com/office/drawing/2014/main" id="{1568DC05-1AF3-EE6E-0227-99268CE57F0B}"/>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0" name="Group 50">
            <a:extLst>
              <a:ext uri="{FF2B5EF4-FFF2-40B4-BE49-F238E27FC236}">
                <a16:creationId xmlns:a16="http://schemas.microsoft.com/office/drawing/2014/main" id="{552A5D6F-E421-78ED-74D1-B58DD4B6F5ED}"/>
              </a:ext>
            </a:extLst>
          </p:cNvPr>
          <p:cNvGrpSpPr/>
          <p:nvPr/>
        </p:nvGrpSpPr>
        <p:grpSpPr>
          <a:xfrm>
            <a:off x="9372600" y="9001052"/>
            <a:ext cx="350910" cy="350910"/>
            <a:chOff x="0" y="0"/>
            <a:chExt cx="812800" cy="812800"/>
          </a:xfrm>
        </p:grpSpPr>
        <p:sp>
          <p:nvSpPr>
            <p:cNvPr id="51" name="Freeform 51">
              <a:extLst>
                <a:ext uri="{FF2B5EF4-FFF2-40B4-BE49-F238E27FC236}">
                  <a16:creationId xmlns:a16="http://schemas.microsoft.com/office/drawing/2014/main" id="{BF854F1E-64E7-A29A-91E4-70CF57CA7D3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Box 52">
              <a:extLst>
                <a:ext uri="{FF2B5EF4-FFF2-40B4-BE49-F238E27FC236}">
                  <a16:creationId xmlns:a16="http://schemas.microsoft.com/office/drawing/2014/main" id="{DEC4AADC-A4BA-E259-9B03-F22D9F2EFE44}"/>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3" name="Group 53">
            <a:extLst>
              <a:ext uri="{FF2B5EF4-FFF2-40B4-BE49-F238E27FC236}">
                <a16:creationId xmlns:a16="http://schemas.microsoft.com/office/drawing/2014/main" id="{82FA2870-88D2-EBB9-2D85-579DCD6823FC}"/>
              </a:ext>
            </a:extLst>
          </p:cNvPr>
          <p:cNvGrpSpPr/>
          <p:nvPr/>
        </p:nvGrpSpPr>
        <p:grpSpPr>
          <a:xfrm>
            <a:off x="9783690" y="9003301"/>
            <a:ext cx="350910" cy="350910"/>
            <a:chOff x="0" y="0"/>
            <a:chExt cx="812800" cy="812800"/>
          </a:xfrm>
        </p:grpSpPr>
        <p:sp>
          <p:nvSpPr>
            <p:cNvPr id="54" name="Freeform 54">
              <a:extLst>
                <a:ext uri="{FF2B5EF4-FFF2-40B4-BE49-F238E27FC236}">
                  <a16:creationId xmlns:a16="http://schemas.microsoft.com/office/drawing/2014/main" id="{79DFF572-59A7-AFB1-7304-85FF0E87E2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949C6E5A-6395-F77C-D6BD-D329A3AF5B4B}"/>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884718CC-00A6-360B-BE39-1F020D3F28C5}"/>
              </a:ext>
            </a:extLst>
          </p:cNvPr>
          <p:cNvGrpSpPr/>
          <p:nvPr/>
        </p:nvGrpSpPr>
        <p:grpSpPr>
          <a:xfrm>
            <a:off x="10621890" y="9007800"/>
            <a:ext cx="350910" cy="350910"/>
            <a:chOff x="0" y="0"/>
            <a:chExt cx="812800" cy="812800"/>
          </a:xfrm>
        </p:grpSpPr>
        <p:sp>
          <p:nvSpPr>
            <p:cNvPr id="57" name="Freeform 57">
              <a:extLst>
                <a:ext uri="{FF2B5EF4-FFF2-40B4-BE49-F238E27FC236}">
                  <a16:creationId xmlns:a16="http://schemas.microsoft.com/office/drawing/2014/main" id="{7B1E25A7-8A7E-A57B-8777-59CE61F6AA1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31DF9DBF-962E-48AC-FB92-7717DDA0B82B}"/>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3E5C80B9-CE89-5E4D-05CF-9B6B84D590AE}"/>
              </a:ext>
            </a:extLst>
          </p:cNvPr>
          <p:cNvGrpSpPr/>
          <p:nvPr/>
        </p:nvGrpSpPr>
        <p:grpSpPr>
          <a:xfrm>
            <a:off x="11049000" y="9010050"/>
            <a:ext cx="350910" cy="350910"/>
            <a:chOff x="0" y="0"/>
            <a:chExt cx="812800" cy="812800"/>
          </a:xfrm>
        </p:grpSpPr>
        <p:sp>
          <p:nvSpPr>
            <p:cNvPr id="60" name="Freeform 60">
              <a:extLst>
                <a:ext uri="{FF2B5EF4-FFF2-40B4-BE49-F238E27FC236}">
                  <a16:creationId xmlns:a16="http://schemas.microsoft.com/office/drawing/2014/main" id="{C2214413-938C-48A5-8E87-D4376DF8C5E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B8843247-EFB2-3BAB-5B1E-F36E801216D0}"/>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4F23F166-6DAB-8590-C9BE-1235A8D543CB}"/>
              </a:ext>
            </a:extLst>
          </p:cNvPr>
          <p:cNvGrpSpPr/>
          <p:nvPr/>
        </p:nvGrpSpPr>
        <p:grpSpPr>
          <a:xfrm>
            <a:off x="10210800" y="9005551"/>
            <a:ext cx="350910" cy="350910"/>
            <a:chOff x="0" y="0"/>
            <a:chExt cx="812800" cy="812800"/>
          </a:xfrm>
        </p:grpSpPr>
        <p:sp>
          <p:nvSpPr>
            <p:cNvPr id="63" name="Freeform 63">
              <a:extLst>
                <a:ext uri="{FF2B5EF4-FFF2-40B4-BE49-F238E27FC236}">
                  <a16:creationId xmlns:a16="http://schemas.microsoft.com/office/drawing/2014/main" id="{1B49EAAA-8860-4115-4C77-DE8465A81A4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14DECE5D-6F83-378B-814A-3374C6217591}"/>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5" name="Freeform 65">
            <a:extLst>
              <a:ext uri="{FF2B5EF4-FFF2-40B4-BE49-F238E27FC236}">
                <a16:creationId xmlns:a16="http://schemas.microsoft.com/office/drawing/2014/main" id="{7BAA4F1B-E523-57F5-437C-0C4F1C247999}"/>
              </a:ext>
            </a:extLst>
          </p:cNvPr>
          <p:cNvSpPr/>
          <p:nvPr/>
        </p:nvSpPr>
        <p:spPr>
          <a:xfrm>
            <a:off x="1720736" y="1444102"/>
            <a:ext cx="1088952" cy="1088952"/>
          </a:xfrm>
          <a:custGeom>
            <a:avLst/>
            <a:gdLst/>
            <a:ahLst/>
            <a:cxnLst/>
            <a:rect l="l" t="t" r="r" b="b"/>
            <a:pathLst>
              <a:path w="1088952" h="1088952">
                <a:moveTo>
                  <a:pt x="0" y="0"/>
                </a:moveTo>
                <a:lnTo>
                  <a:pt x="1088952" y="0"/>
                </a:lnTo>
                <a:lnTo>
                  <a:pt x="1088952" y="1088952"/>
                </a:lnTo>
                <a:lnTo>
                  <a:pt x="0" y="10889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Freeform 66">
            <a:extLst>
              <a:ext uri="{FF2B5EF4-FFF2-40B4-BE49-F238E27FC236}">
                <a16:creationId xmlns:a16="http://schemas.microsoft.com/office/drawing/2014/main" id="{8E37CDD2-A754-41C5-E887-363F7813469E}"/>
              </a:ext>
            </a:extLst>
          </p:cNvPr>
          <p:cNvSpPr/>
          <p:nvPr/>
        </p:nvSpPr>
        <p:spPr>
          <a:xfrm>
            <a:off x="9185419" y="1499341"/>
            <a:ext cx="1033713" cy="1033713"/>
          </a:xfrm>
          <a:custGeom>
            <a:avLst/>
            <a:gdLst/>
            <a:ahLst/>
            <a:cxnLst/>
            <a:rect l="l" t="t" r="r" b="b"/>
            <a:pathLst>
              <a:path w="1033713" h="1033713">
                <a:moveTo>
                  <a:pt x="0" y="0"/>
                </a:moveTo>
                <a:lnTo>
                  <a:pt x="1033713" y="0"/>
                </a:lnTo>
                <a:lnTo>
                  <a:pt x="1033713" y="1033713"/>
                </a:lnTo>
                <a:lnTo>
                  <a:pt x="0" y="10337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Freeform 67">
            <a:extLst>
              <a:ext uri="{FF2B5EF4-FFF2-40B4-BE49-F238E27FC236}">
                <a16:creationId xmlns:a16="http://schemas.microsoft.com/office/drawing/2014/main" id="{9C5959E4-C974-8BBB-E29B-F69C17604119}"/>
              </a:ext>
            </a:extLst>
          </p:cNvPr>
          <p:cNvSpPr/>
          <p:nvPr/>
        </p:nvSpPr>
        <p:spPr>
          <a:xfrm>
            <a:off x="5589702" y="5734641"/>
            <a:ext cx="1071918" cy="1071918"/>
          </a:xfrm>
          <a:custGeom>
            <a:avLst/>
            <a:gdLst/>
            <a:ahLst/>
            <a:cxnLst/>
            <a:rect l="l" t="t" r="r" b="b"/>
            <a:pathLst>
              <a:path w="1071918" h="1071918">
                <a:moveTo>
                  <a:pt x="0" y="0"/>
                </a:moveTo>
                <a:lnTo>
                  <a:pt x="1071919" y="0"/>
                </a:lnTo>
                <a:lnTo>
                  <a:pt x="1071919" y="1071918"/>
                </a:lnTo>
                <a:lnTo>
                  <a:pt x="0" y="10719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TextBox 68">
            <a:extLst>
              <a:ext uri="{FF2B5EF4-FFF2-40B4-BE49-F238E27FC236}">
                <a16:creationId xmlns:a16="http://schemas.microsoft.com/office/drawing/2014/main" id="{A4930421-D4ED-857F-DE41-1E512C645351}"/>
              </a:ext>
            </a:extLst>
          </p:cNvPr>
          <p:cNvSpPr txBox="1"/>
          <p:nvPr/>
        </p:nvSpPr>
        <p:spPr>
          <a:xfrm>
            <a:off x="1085419" y="446516"/>
            <a:ext cx="16200000" cy="89255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200" b="1" i="0" u="none" strike="noStrike" kern="0" cap="none" spc="0" normalizeH="0" baseline="0" noProof="0" dirty="0">
                <a:ln>
                  <a:noFill/>
                </a:ln>
                <a:solidFill>
                  <a:srgbClr val="002B11"/>
                </a:solidFill>
                <a:effectLst/>
                <a:uLnTx/>
                <a:uFillTx/>
                <a:latin typeface="Poppins Black"/>
                <a:cs typeface="Arial"/>
                <a:sym typeface="Arial"/>
              </a:rPr>
              <a:t>FS Reverse Incentives - Examples</a:t>
            </a:r>
          </a:p>
        </p:txBody>
      </p:sp>
      <p:sp>
        <p:nvSpPr>
          <p:cNvPr id="71" name="TextBox 70">
            <a:extLst>
              <a:ext uri="{FF2B5EF4-FFF2-40B4-BE49-F238E27FC236}">
                <a16:creationId xmlns:a16="http://schemas.microsoft.com/office/drawing/2014/main" id="{1AEEA9D1-EE4C-7941-92B9-50BAF85FD640}"/>
              </a:ext>
            </a:extLst>
          </p:cNvPr>
          <p:cNvSpPr txBox="1"/>
          <p:nvPr/>
        </p:nvSpPr>
        <p:spPr>
          <a:xfrm>
            <a:off x="2544000" y="2552700"/>
            <a:ext cx="4956727" cy="2075696"/>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 traveler reports a card in their room reading, "</a:t>
            </a:r>
            <a:r>
              <a:rPr kumimoji="0" lang="en-US" sz="2200" b="0" i="1"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Leave a 5-star review for a free cocktail at the resort bar</a:t>
            </a: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t>
            </a:r>
          </a:p>
        </p:txBody>
      </p:sp>
      <p:sp>
        <p:nvSpPr>
          <p:cNvPr id="72" name="TextBox 71">
            <a:extLst>
              <a:ext uri="{FF2B5EF4-FFF2-40B4-BE49-F238E27FC236}">
                <a16:creationId xmlns:a16="http://schemas.microsoft.com/office/drawing/2014/main" id="{70897BA6-6C38-BCFA-4A4C-B3043C470FB9}"/>
              </a:ext>
            </a:extLst>
          </p:cNvPr>
          <p:cNvSpPr txBox="1"/>
          <p:nvPr/>
        </p:nvSpPr>
        <p:spPr>
          <a:xfrm>
            <a:off x="9978360" y="2517545"/>
            <a:ext cx="4956727" cy="2075696"/>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 tour operator promises a 25% refund on a safari via WhatsApp if the traveler shows proof of a positive review before checkout. </a:t>
            </a:r>
          </a:p>
        </p:txBody>
      </p:sp>
      <p:sp>
        <p:nvSpPr>
          <p:cNvPr id="73" name="TextBox 72">
            <a:extLst>
              <a:ext uri="{FF2B5EF4-FFF2-40B4-BE49-F238E27FC236}">
                <a16:creationId xmlns:a16="http://schemas.microsoft.com/office/drawing/2014/main" id="{FD6913F9-1C9C-830D-9681-AB46A16A5C97}"/>
              </a:ext>
            </a:extLst>
          </p:cNvPr>
          <p:cNvSpPr txBox="1"/>
          <p:nvPr/>
        </p:nvSpPr>
        <p:spPr>
          <a:xfrm>
            <a:off x="6500055" y="6649204"/>
            <a:ext cx="4956727" cy="2075696"/>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 boutique hotel refuses to refund a guest for a broken AC unless they actively post a 5-star rating during their stay. </a:t>
            </a:r>
          </a:p>
        </p:txBody>
      </p:sp>
      <p:sp>
        <p:nvSpPr>
          <p:cNvPr id="76" name="TextBox 75">
            <a:extLst>
              <a:ext uri="{FF2B5EF4-FFF2-40B4-BE49-F238E27FC236}">
                <a16:creationId xmlns:a16="http://schemas.microsoft.com/office/drawing/2014/main" id="{A695E22D-99CD-BB97-AC4D-7FA91B9FCC4B}"/>
              </a:ext>
            </a:extLst>
          </p:cNvPr>
          <p:cNvSpPr txBox="1"/>
          <p:nvPr/>
        </p:nvSpPr>
        <p:spPr>
          <a:xfrm>
            <a:off x="533400" y="9867900"/>
            <a:ext cx="7315200" cy="246221"/>
          </a:xfrm>
          <a:prstGeom prst="rect">
            <a:avLst/>
          </a:prstGeom>
          <a:noFill/>
        </p:spPr>
        <p:txBody>
          <a:bodyPr wrap="square" lIns="0" tIns="0" rIns="0" bIns="0" anchor="t">
            <a:spAutoFit/>
          </a:bodyPr>
          <a:lstStyle/>
          <a:p>
            <a:pPr defTabSz="457200">
              <a:defRPr/>
            </a:pPr>
            <a:r>
              <a:rPr sz="1600" spc="50" dirty="0">
                <a:solidFill>
                  <a:srgbClr val="8A8272"/>
                </a:solidFill>
                <a:latin typeface="Poppins" panose="00000500000000000000" pitchFamily="2" charset="0"/>
                <a:cs typeface="Poppins" panose="00000500000000000000" pitchFamily="2" charset="0"/>
              </a:rPr>
              <a:t>T</a:t>
            </a:r>
            <a:r>
              <a:rPr lang="en-US" sz="1600" spc="50" dirty="0">
                <a:solidFill>
                  <a:srgbClr val="8A8272"/>
                </a:solidFill>
                <a:latin typeface="Poppins" panose="00000500000000000000" pitchFamily="2" charset="0"/>
                <a:cs typeface="Poppins" panose="00000500000000000000" pitchFamily="2" charset="0"/>
              </a:rPr>
              <a:t>ripadvisor</a:t>
            </a:r>
            <a:r>
              <a:rPr sz="1600" spc="50" dirty="0">
                <a:solidFill>
                  <a:srgbClr val="8A8272"/>
                </a:solidFill>
                <a:latin typeface="Poppins" panose="00000500000000000000" pitchFamily="2" charset="0"/>
                <a:cs typeface="Poppins" panose="00000500000000000000" pitchFamily="2" charset="0"/>
              </a:rPr>
              <a:t> / F</a:t>
            </a:r>
            <a:r>
              <a:rPr lang="en-US" sz="1600" spc="50" dirty="0">
                <a:solidFill>
                  <a:srgbClr val="8A8272"/>
                </a:solidFill>
                <a:latin typeface="Poppins" panose="00000500000000000000" pitchFamily="2" charset="0"/>
                <a:cs typeface="Poppins" panose="00000500000000000000" pitchFamily="2" charset="0"/>
              </a:rPr>
              <a:t>raud Support</a:t>
            </a:r>
            <a:r>
              <a:rPr sz="1600" spc="50" dirty="0">
                <a:solidFill>
                  <a:srgbClr val="8A8272"/>
                </a:solidFill>
                <a:latin typeface="Poppins" panose="00000500000000000000" pitchFamily="2" charset="0"/>
                <a:cs typeface="Poppins" panose="00000500000000000000" pitchFamily="2" charset="0"/>
              </a:rPr>
              <a:t> / </a:t>
            </a:r>
            <a:r>
              <a:rPr lang="en-US" sz="1600" spc="50" dirty="0">
                <a:solidFill>
                  <a:srgbClr val="8A8272"/>
                </a:solidFill>
                <a:latin typeface="Poppins" panose="00000500000000000000" pitchFamily="2" charset="0"/>
                <a:cs typeface="Poppins" panose="00000500000000000000" pitchFamily="2" charset="0"/>
              </a:rPr>
              <a:t>Examples</a:t>
            </a:r>
            <a:endParaRPr sz="1600" spc="50" dirty="0">
              <a:solidFill>
                <a:srgbClr val="8A8272"/>
              </a:solidFill>
              <a:latin typeface="Poppins" panose="00000500000000000000" pitchFamily="2" charset="0"/>
              <a:cs typeface="Poppins" panose="00000500000000000000" pitchFamily="2" charset="0"/>
            </a:endParaRPr>
          </a:p>
        </p:txBody>
      </p:sp>
      <p:sp>
        <p:nvSpPr>
          <p:cNvPr id="74" name="Action Button: Go Home 73">
            <a:hlinkClick r:id="rId6" action="ppaction://hlinksldjump" highlightClick="1"/>
            <a:extLst>
              <a:ext uri="{FF2B5EF4-FFF2-40B4-BE49-F238E27FC236}">
                <a16:creationId xmlns:a16="http://schemas.microsoft.com/office/drawing/2014/main" id="{39D354B0-1937-D5BC-21BB-06C5E9CDA019}"/>
              </a:ext>
            </a:extLst>
          </p:cNvPr>
          <p:cNvSpPr/>
          <p:nvPr/>
        </p:nvSpPr>
        <p:spPr>
          <a:xfrm>
            <a:off x="17068800" y="9262922"/>
            <a:ext cx="1143000" cy="909778"/>
          </a:xfrm>
          <a:prstGeom prst="actionButtonHom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7939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7F14E-B5C0-9F33-1CB5-6F95BBCC9917}"/>
            </a:ext>
          </a:extLst>
        </p:cNvPr>
        <p:cNvGrpSpPr/>
        <p:nvPr/>
      </p:nvGrpSpPr>
      <p:grpSpPr>
        <a:xfrm>
          <a:off x="0" y="0"/>
          <a:ext cx="0" cy="0"/>
          <a:chOff x="0" y="0"/>
          <a:chExt cx="0" cy="0"/>
        </a:xfrm>
      </p:grpSpPr>
      <p:sp>
        <p:nvSpPr>
          <p:cNvPr id="70" name="Freeform 4">
            <a:extLst>
              <a:ext uri="{FF2B5EF4-FFF2-40B4-BE49-F238E27FC236}">
                <a16:creationId xmlns:a16="http://schemas.microsoft.com/office/drawing/2014/main" id="{CDC6FCE0-BAE2-0EE3-9AEB-CE31B9FEB10B}"/>
              </a:ext>
            </a:extLst>
          </p:cNvPr>
          <p:cNvSpPr/>
          <p:nvPr/>
        </p:nvSpPr>
        <p:spPr>
          <a:xfrm rot="17310465">
            <a:off x="12328431" y="3992316"/>
            <a:ext cx="9056866"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5" name="Freeform 4">
            <a:extLst>
              <a:ext uri="{FF2B5EF4-FFF2-40B4-BE49-F238E27FC236}">
                <a16:creationId xmlns:a16="http://schemas.microsoft.com/office/drawing/2014/main" id="{1FB1B10A-025D-DFFA-DF1A-47E662401391}"/>
              </a:ext>
            </a:extLst>
          </p:cNvPr>
          <p:cNvSpPr/>
          <p:nvPr/>
        </p:nvSpPr>
        <p:spPr>
          <a:xfrm rot="5554844">
            <a:off x="-6561578" y="3184640"/>
            <a:ext cx="12381610"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2" name="Group 2">
            <a:extLst>
              <a:ext uri="{FF2B5EF4-FFF2-40B4-BE49-F238E27FC236}">
                <a16:creationId xmlns:a16="http://schemas.microsoft.com/office/drawing/2014/main" id="{484C890D-5DE2-361B-324A-099DC381DDED}"/>
              </a:ext>
            </a:extLst>
          </p:cNvPr>
          <p:cNvGrpSpPr/>
          <p:nvPr/>
        </p:nvGrpSpPr>
        <p:grpSpPr>
          <a:xfrm>
            <a:off x="2045141" y="1808784"/>
            <a:ext cx="5949039" cy="3804447"/>
            <a:chOff x="0" y="0"/>
            <a:chExt cx="1778700" cy="1137490"/>
          </a:xfrm>
        </p:grpSpPr>
        <p:sp>
          <p:nvSpPr>
            <p:cNvPr id="3" name="Freeform 3">
              <a:extLst>
                <a:ext uri="{FF2B5EF4-FFF2-40B4-BE49-F238E27FC236}">
                  <a16:creationId xmlns:a16="http://schemas.microsoft.com/office/drawing/2014/main" id="{998DFBFC-46B3-96EA-AFB0-6F9CEBDA5D0A}"/>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2A061C24-77FC-B56E-B126-41A53AE0EED6}"/>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4191AB6C-343B-CF17-4EF2-90EEADD93280}"/>
              </a:ext>
            </a:extLst>
          </p:cNvPr>
          <p:cNvGrpSpPr/>
          <p:nvPr/>
        </p:nvGrpSpPr>
        <p:grpSpPr>
          <a:xfrm>
            <a:off x="2265212" y="1988578"/>
            <a:ext cx="5508897" cy="3437667"/>
            <a:chOff x="0" y="0"/>
            <a:chExt cx="1647103" cy="1027826"/>
          </a:xfrm>
        </p:grpSpPr>
        <p:sp>
          <p:nvSpPr>
            <p:cNvPr id="6" name="Freeform 6">
              <a:extLst>
                <a:ext uri="{FF2B5EF4-FFF2-40B4-BE49-F238E27FC236}">
                  <a16:creationId xmlns:a16="http://schemas.microsoft.com/office/drawing/2014/main" id="{BB94F0B4-909F-1CD9-9DDF-34D96671324A}"/>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00E12BFB-6075-C225-B12A-BAD6A3CA84CE}"/>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F3C6AFA4-5ADD-847F-6894-24636AB078F9}"/>
              </a:ext>
            </a:extLst>
          </p:cNvPr>
          <p:cNvGrpSpPr/>
          <p:nvPr/>
        </p:nvGrpSpPr>
        <p:grpSpPr>
          <a:xfrm>
            <a:off x="5486400" y="4865645"/>
            <a:ext cx="350910" cy="350910"/>
            <a:chOff x="0" y="0"/>
            <a:chExt cx="812800" cy="812800"/>
          </a:xfrm>
        </p:grpSpPr>
        <p:sp>
          <p:nvSpPr>
            <p:cNvPr id="9" name="Freeform 9">
              <a:extLst>
                <a:ext uri="{FF2B5EF4-FFF2-40B4-BE49-F238E27FC236}">
                  <a16:creationId xmlns:a16="http://schemas.microsoft.com/office/drawing/2014/main" id="{FDE8BDB1-8149-4263-7F55-D8DA2B50B91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828B9DD8-4E35-6AD9-6C94-4E39478694B2}"/>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BF50535E-A464-EED2-BD9A-5529943BB21E}"/>
              </a:ext>
            </a:extLst>
          </p:cNvPr>
          <p:cNvGrpSpPr/>
          <p:nvPr/>
        </p:nvGrpSpPr>
        <p:grpSpPr>
          <a:xfrm>
            <a:off x="5897490" y="4867894"/>
            <a:ext cx="350910" cy="350910"/>
            <a:chOff x="0" y="0"/>
            <a:chExt cx="812800" cy="812800"/>
          </a:xfrm>
        </p:grpSpPr>
        <p:sp>
          <p:nvSpPr>
            <p:cNvPr id="12" name="Freeform 12">
              <a:extLst>
                <a:ext uri="{FF2B5EF4-FFF2-40B4-BE49-F238E27FC236}">
                  <a16:creationId xmlns:a16="http://schemas.microsoft.com/office/drawing/2014/main" id="{E3A2B898-898D-66D8-10BB-E7A469B1294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C2D09AC5-2E65-A4C9-8AA6-776C95E146B8}"/>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C87B5493-0895-0ABA-54DB-9C15593DD0DE}"/>
              </a:ext>
            </a:extLst>
          </p:cNvPr>
          <p:cNvGrpSpPr/>
          <p:nvPr/>
        </p:nvGrpSpPr>
        <p:grpSpPr>
          <a:xfrm>
            <a:off x="6735690" y="4872393"/>
            <a:ext cx="350910" cy="350910"/>
            <a:chOff x="0" y="0"/>
            <a:chExt cx="812800" cy="812800"/>
          </a:xfrm>
        </p:grpSpPr>
        <p:sp>
          <p:nvSpPr>
            <p:cNvPr id="15" name="Freeform 15">
              <a:extLst>
                <a:ext uri="{FF2B5EF4-FFF2-40B4-BE49-F238E27FC236}">
                  <a16:creationId xmlns:a16="http://schemas.microsoft.com/office/drawing/2014/main" id="{2C53804E-CC3C-E099-4C5B-788E1714BF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8483B6F6-AA20-891A-4AE2-113E1022F71B}"/>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E1E8E824-D5C3-03E1-FFDF-C4A5DD7E09BC}"/>
              </a:ext>
            </a:extLst>
          </p:cNvPr>
          <p:cNvGrpSpPr/>
          <p:nvPr/>
        </p:nvGrpSpPr>
        <p:grpSpPr>
          <a:xfrm>
            <a:off x="7149817" y="4874643"/>
            <a:ext cx="350910" cy="350910"/>
            <a:chOff x="0" y="0"/>
            <a:chExt cx="812800" cy="812800"/>
          </a:xfrm>
        </p:grpSpPr>
        <p:sp>
          <p:nvSpPr>
            <p:cNvPr id="18" name="Freeform 18">
              <a:extLst>
                <a:ext uri="{FF2B5EF4-FFF2-40B4-BE49-F238E27FC236}">
                  <a16:creationId xmlns:a16="http://schemas.microsoft.com/office/drawing/2014/main" id="{00EE0893-CB3E-BC2B-933B-5298CC1F031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54698679-FB5F-3D4C-1455-BAA0443B5792}"/>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 name="Group 20">
            <a:extLst>
              <a:ext uri="{FF2B5EF4-FFF2-40B4-BE49-F238E27FC236}">
                <a16:creationId xmlns:a16="http://schemas.microsoft.com/office/drawing/2014/main" id="{93E4F916-1EFD-4804-D4B1-4A0032DE13EA}"/>
              </a:ext>
            </a:extLst>
          </p:cNvPr>
          <p:cNvGrpSpPr/>
          <p:nvPr/>
        </p:nvGrpSpPr>
        <p:grpSpPr>
          <a:xfrm>
            <a:off x="6324600" y="4870144"/>
            <a:ext cx="350910" cy="350910"/>
            <a:chOff x="0" y="0"/>
            <a:chExt cx="812800" cy="812800"/>
          </a:xfrm>
        </p:grpSpPr>
        <p:sp>
          <p:nvSpPr>
            <p:cNvPr id="21" name="Freeform 21">
              <a:extLst>
                <a:ext uri="{FF2B5EF4-FFF2-40B4-BE49-F238E27FC236}">
                  <a16:creationId xmlns:a16="http://schemas.microsoft.com/office/drawing/2014/main" id="{DA37E89E-6389-C655-792D-7284093980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2">
              <a:extLst>
                <a:ext uri="{FF2B5EF4-FFF2-40B4-BE49-F238E27FC236}">
                  <a16:creationId xmlns:a16="http://schemas.microsoft.com/office/drawing/2014/main" id="{A1726873-EAE9-EEF8-8482-EC3F57530096}"/>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3" name="Group 23">
            <a:extLst>
              <a:ext uri="{FF2B5EF4-FFF2-40B4-BE49-F238E27FC236}">
                <a16:creationId xmlns:a16="http://schemas.microsoft.com/office/drawing/2014/main" id="{B68F7763-5E65-1376-5A91-782EA09BD3FA}"/>
              </a:ext>
            </a:extLst>
          </p:cNvPr>
          <p:cNvGrpSpPr/>
          <p:nvPr/>
        </p:nvGrpSpPr>
        <p:grpSpPr>
          <a:xfrm>
            <a:off x="9482205" y="1805188"/>
            <a:ext cx="5949039" cy="3804447"/>
            <a:chOff x="0" y="0"/>
            <a:chExt cx="1778700" cy="1137490"/>
          </a:xfrm>
        </p:grpSpPr>
        <p:sp>
          <p:nvSpPr>
            <p:cNvPr id="24" name="Freeform 24">
              <a:extLst>
                <a:ext uri="{FF2B5EF4-FFF2-40B4-BE49-F238E27FC236}">
                  <a16:creationId xmlns:a16="http://schemas.microsoft.com/office/drawing/2014/main" id="{DD9D1D93-8740-5010-2D87-CECAB361D258}"/>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5">
              <a:extLst>
                <a:ext uri="{FF2B5EF4-FFF2-40B4-BE49-F238E27FC236}">
                  <a16:creationId xmlns:a16="http://schemas.microsoft.com/office/drawing/2014/main" id="{BDE54E89-98FF-5802-E763-E1631A641EC5}"/>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6" name="Group 26">
            <a:extLst>
              <a:ext uri="{FF2B5EF4-FFF2-40B4-BE49-F238E27FC236}">
                <a16:creationId xmlns:a16="http://schemas.microsoft.com/office/drawing/2014/main" id="{DA38CF66-8E72-D109-C6EC-9C2630D5FB27}"/>
              </a:ext>
            </a:extLst>
          </p:cNvPr>
          <p:cNvGrpSpPr/>
          <p:nvPr/>
        </p:nvGrpSpPr>
        <p:grpSpPr>
          <a:xfrm>
            <a:off x="9702276" y="1984982"/>
            <a:ext cx="5508897" cy="3437667"/>
            <a:chOff x="0" y="0"/>
            <a:chExt cx="1647103" cy="1027826"/>
          </a:xfrm>
        </p:grpSpPr>
        <p:sp>
          <p:nvSpPr>
            <p:cNvPr id="27" name="Freeform 27">
              <a:extLst>
                <a:ext uri="{FF2B5EF4-FFF2-40B4-BE49-F238E27FC236}">
                  <a16:creationId xmlns:a16="http://schemas.microsoft.com/office/drawing/2014/main" id="{B3FC47DE-CA21-FDB6-B613-6860411984E5}"/>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 name="TextBox 28">
              <a:extLst>
                <a:ext uri="{FF2B5EF4-FFF2-40B4-BE49-F238E27FC236}">
                  <a16:creationId xmlns:a16="http://schemas.microsoft.com/office/drawing/2014/main" id="{9FD1CAEC-D84C-A1E4-FFB1-F12EFF912AAE}"/>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9" name="Group 29">
            <a:extLst>
              <a:ext uri="{FF2B5EF4-FFF2-40B4-BE49-F238E27FC236}">
                <a16:creationId xmlns:a16="http://schemas.microsoft.com/office/drawing/2014/main" id="{628BBE11-CD2E-CBC2-A11D-FD26387BB600}"/>
              </a:ext>
            </a:extLst>
          </p:cNvPr>
          <p:cNvGrpSpPr/>
          <p:nvPr/>
        </p:nvGrpSpPr>
        <p:grpSpPr>
          <a:xfrm>
            <a:off x="12954000" y="4862049"/>
            <a:ext cx="350910" cy="350910"/>
            <a:chOff x="0" y="0"/>
            <a:chExt cx="812800" cy="812800"/>
          </a:xfrm>
        </p:grpSpPr>
        <p:sp>
          <p:nvSpPr>
            <p:cNvPr id="30" name="Freeform 30">
              <a:extLst>
                <a:ext uri="{FF2B5EF4-FFF2-40B4-BE49-F238E27FC236}">
                  <a16:creationId xmlns:a16="http://schemas.microsoft.com/office/drawing/2014/main" id="{EF4EE75B-362D-4AE1-EADF-1D72215BFFB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Box 31">
              <a:extLst>
                <a:ext uri="{FF2B5EF4-FFF2-40B4-BE49-F238E27FC236}">
                  <a16:creationId xmlns:a16="http://schemas.microsoft.com/office/drawing/2014/main" id="{845852A1-DFC5-7D88-25FC-243E1B9B3245}"/>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2" name="Group 32">
            <a:extLst>
              <a:ext uri="{FF2B5EF4-FFF2-40B4-BE49-F238E27FC236}">
                <a16:creationId xmlns:a16="http://schemas.microsoft.com/office/drawing/2014/main" id="{AC410113-7889-D79F-EF71-1C1DE8E2D378}"/>
              </a:ext>
            </a:extLst>
          </p:cNvPr>
          <p:cNvGrpSpPr/>
          <p:nvPr/>
        </p:nvGrpSpPr>
        <p:grpSpPr>
          <a:xfrm>
            <a:off x="13365090" y="4864299"/>
            <a:ext cx="350910" cy="350910"/>
            <a:chOff x="0" y="0"/>
            <a:chExt cx="812800" cy="812800"/>
          </a:xfrm>
        </p:grpSpPr>
        <p:sp>
          <p:nvSpPr>
            <p:cNvPr id="33" name="Freeform 33">
              <a:extLst>
                <a:ext uri="{FF2B5EF4-FFF2-40B4-BE49-F238E27FC236}">
                  <a16:creationId xmlns:a16="http://schemas.microsoft.com/office/drawing/2014/main" id="{F4E6C470-A952-E44F-70FB-2674B249532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Box 34">
              <a:extLst>
                <a:ext uri="{FF2B5EF4-FFF2-40B4-BE49-F238E27FC236}">
                  <a16:creationId xmlns:a16="http://schemas.microsoft.com/office/drawing/2014/main" id="{0DA1CD5B-6AF6-7BC1-FB27-F26CDEA8DFEC}"/>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5" name="Group 35">
            <a:extLst>
              <a:ext uri="{FF2B5EF4-FFF2-40B4-BE49-F238E27FC236}">
                <a16:creationId xmlns:a16="http://schemas.microsoft.com/office/drawing/2014/main" id="{F024DE9B-5CCB-8D30-1F4D-16AF861F92E5}"/>
              </a:ext>
            </a:extLst>
          </p:cNvPr>
          <p:cNvGrpSpPr/>
          <p:nvPr/>
        </p:nvGrpSpPr>
        <p:grpSpPr>
          <a:xfrm>
            <a:off x="14203290" y="4868797"/>
            <a:ext cx="350910" cy="350910"/>
            <a:chOff x="0" y="0"/>
            <a:chExt cx="812800" cy="812800"/>
          </a:xfrm>
        </p:grpSpPr>
        <p:sp>
          <p:nvSpPr>
            <p:cNvPr id="36" name="Freeform 36">
              <a:extLst>
                <a:ext uri="{FF2B5EF4-FFF2-40B4-BE49-F238E27FC236}">
                  <a16:creationId xmlns:a16="http://schemas.microsoft.com/office/drawing/2014/main" id="{0B7E3E60-1364-AABD-71A3-571D4398DA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Box 37">
              <a:extLst>
                <a:ext uri="{FF2B5EF4-FFF2-40B4-BE49-F238E27FC236}">
                  <a16:creationId xmlns:a16="http://schemas.microsoft.com/office/drawing/2014/main" id="{ADF60CAB-1797-F27E-8A2D-1B4BDE85650D}"/>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8">
            <a:extLst>
              <a:ext uri="{FF2B5EF4-FFF2-40B4-BE49-F238E27FC236}">
                <a16:creationId xmlns:a16="http://schemas.microsoft.com/office/drawing/2014/main" id="{3EAB4224-76FB-86E9-8EB7-7867C3A97EEB}"/>
              </a:ext>
            </a:extLst>
          </p:cNvPr>
          <p:cNvGrpSpPr/>
          <p:nvPr/>
        </p:nvGrpSpPr>
        <p:grpSpPr>
          <a:xfrm>
            <a:off x="14630400" y="4871047"/>
            <a:ext cx="350910" cy="350910"/>
            <a:chOff x="0" y="0"/>
            <a:chExt cx="812800" cy="812800"/>
          </a:xfrm>
        </p:grpSpPr>
        <p:sp>
          <p:nvSpPr>
            <p:cNvPr id="39" name="Freeform 39">
              <a:extLst>
                <a:ext uri="{FF2B5EF4-FFF2-40B4-BE49-F238E27FC236}">
                  <a16:creationId xmlns:a16="http://schemas.microsoft.com/office/drawing/2014/main" id="{256F253C-3F4A-65DF-7303-A06653FEDD3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Box 40">
              <a:extLst>
                <a:ext uri="{FF2B5EF4-FFF2-40B4-BE49-F238E27FC236}">
                  <a16:creationId xmlns:a16="http://schemas.microsoft.com/office/drawing/2014/main" id="{B2E81708-3076-7AC0-DF76-33BEA85BBBB3}"/>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1" name="Group 41">
            <a:extLst>
              <a:ext uri="{FF2B5EF4-FFF2-40B4-BE49-F238E27FC236}">
                <a16:creationId xmlns:a16="http://schemas.microsoft.com/office/drawing/2014/main" id="{353DB900-F475-1340-A54E-E18594F5E509}"/>
              </a:ext>
            </a:extLst>
          </p:cNvPr>
          <p:cNvGrpSpPr/>
          <p:nvPr/>
        </p:nvGrpSpPr>
        <p:grpSpPr>
          <a:xfrm>
            <a:off x="13792200" y="4866548"/>
            <a:ext cx="350910" cy="350910"/>
            <a:chOff x="0" y="0"/>
            <a:chExt cx="812800" cy="812800"/>
          </a:xfrm>
        </p:grpSpPr>
        <p:sp>
          <p:nvSpPr>
            <p:cNvPr id="42" name="Freeform 42">
              <a:extLst>
                <a:ext uri="{FF2B5EF4-FFF2-40B4-BE49-F238E27FC236}">
                  <a16:creationId xmlns:a16="http://schemas.microsoft.com/office/drawing/2014/main" id="{45341009-231A-177E-262E-3A49F4859A4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Box 43">
              <a:extLst>
                <a:ext uri="{FF2B5EF4-FFF2-40B4-BE49-F238E27FC236}">
                  <a16:creationId xmlns:a16="http://schemas.microsoft.com/office/drawing/2014/main" id="{5D301C9C-12A2-F528-BE0A-6795268DF2E3}"/>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4" name="Group 44">
            <a:extLst>
              <a:ext uri="{FF2B5EF4-FFF2-40B4-BE49-F238E27FC236}">
                <a16:creationId xmlns:a16="http://schemas.microsoft.com/office/drawing/2014/main" id="{1B27D517-CB89-11E8-01D5-FA1C16218B2F}"/>
              </a:ext>
            </a:extLst>
          </p:cNvPr>
          <p:cNvGrpSpPr/>
          <p:nvPr/>
        </p:nvGrpSpPr>
        <p:grpSpPr>
          <a:xfrm>
            <a:off x="5956707" y="5944191"/>
            <a:ext cx="5949039" cy="3804447"/>
            <a:chOff x="0" y="0"/>
            <a:chExt cx="1778700" cy="1137490"/>
          </a:xfrm>
        </p:grpSpPr>
        <p:sp>
          <p:nvSpPr>
            <p:cNvPr id="45" name="Freeform 45">
              <a:extLst>
                <a:ext uri="{FF2B5EF4-FFF2-40B4-BE49-F238E27FC236}">
                  <a16:creationId xmlns:a16="http://schemas.microsoft.com/office/drawing/2014/main" id="{746F2BCA-04FD-4FBA-EE62-D800E219AEFD}"/>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Box 46">
              <a:extLst>
                <a:ext uri="{FF2B5EF4-FFF2-40B4-BE49-F238E27FC236}">
                  <a16:creationId xmlns:a16="http://schemas.microsoft.com/office/drawing/2014/main" id="{A07EA98E-BB60-F01D-36DA-9061CFEEE1EB}"/>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7" name="Group 47">
            <a:extLst>
              <a:ext uri="{FF2B5EF4-FFF2-40B4-BE49-F238E27FC236}">
                <a16:creationId xmlns:a16="http://schemas.microsoft.com/office/drawing/2014/main" id="{012AB058-8509-D3FD-EEF5-5F0A08201230}"/>
              </a:ext>
            </a:extLst>
          </p:cNvPr>
          <p:cNvGrpSpPr/>
          <p:nvPr/>
        </p:nvGrpSpPr>
        <p:grpSpPr>
          <a:xfrm>
            <a:off x="6176778" y="6123985"/>
            <a:ext cx="5508897" cy="3437667"/>
            <a:chOff x="0" y="0"/>
            <a:chExt cx="1647103" cy="1027826"/>
          </a:xfrm>
        </p:grpSpPr>
        <p:sp>
          <p:nvSpPr>
            <p:cNvPr id="48" name="Freeform 48">
              <a:extLst>
                <a:ext uri="{FF2B5EF4-FFF2-40B4-BE49-F238E27FC236}">
                  <a16:creationId xmlns:a16="http://schemas.microsoft.com/office/drawing/2014/main" id="{D61F4602-0E69-75E8-295F-B0D535D4B902}"/>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Box 49">
              <a:extLst>
                <a:ext uri="{FF2B5EF4-FFF2-40B4-BE49-F238E27FC236}">
                  <a16:creationId xmlns:a16="http://schemas.microsoft.com/office/drawing/2014/main" id="{590D15F5-6C3F-3323-09DA-34B6C6DB5345}"/>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0" name="Group 50">
            <a:extLst>
              <a:ext uri="{FF2B5EF4-FFF2-40B4-BE49-F238E27FC236}">
                <a16:creationId xmlns:a16="http://schemas.microsoft.com/office/drawing/2014/main" id="{005FF877-6CC8-CEB9-0959-BE1486F24C69}"/>
              </a:ext>
            </a:extLst>
          </p:cNvPr>
          <p:cNvGrpSpPr/>
          <p:nvPr/>
        </p:nvGrpSpPr>
        <p:grpSpPr>
          <a:xfrm>
            <a:off x="9372600" y="9001052"/>
            <a:ext cx="350910" cy="350910"/>
            <a:chOff x="0" y="0"/>
            <a:chExt cx="812800" cy="812800"/>
          </a:xfrm>
        </p:grpSpPr>
        <p:sp>
          <p:nvSpPr>
            <p:cNvPr id="51" name="Freeform 51">
              <a:extLst>
                <a:ext uri="{FF2B5EF4-FFF2-40B4-BE49-F238E27FC236}">
                  <a16:creationId xmlns:a16="http://schemas.microsoft.com/office/drawing/2014/main" id="{13861822-6AEC-A3EE-AA32-879555E9D50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Box 52">
              <a:extLst>
                <a:ext uri="{FF2B5EF4-FFF2-40B4-BE49-F238E27FC236}">
                  <a16:creationId xmlns:a16="http://schemas.microsoft.com/office/drawing/2014/main" id="{F77B94D8-53F3-FF5E-FF33-D33AB9937C3E}"/>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3" name="Group 53">
            <a:extLst>
              <a:ext uri="{FF2B5EF4-FFF2-40B4-BE49-F238E27FC236}">
                <a16:creationId xmlns:a16="http://schemas.microsoft.com/office/drawing/2014/main" id="{000F9D60-9471-8655-49BB-15A354027D0B}"/>
              </a:ext>
            </a:extLst>
          </p:cNvPr>
          <p:cNvGrpSpPr/>
          <p:nvPr/>
        </p:nvGrpSpPr>
        <p:grpSpPr>
          <a:xfrm>
            <a:off x="9783690" y="9003301"/>
            <a:ext cx="350910" cy="350910"/>
            <a:chOff x="0" y="0"/>
            <a:chExt cx="812800" cy="812800"/>
          </a:xfrm>
        </p:grpSpPr>
        <p:sp>
          <p:nvSpPr>
            <p:cNvPr id="54" name="Freeform 54">
              <a:extLst>
                <a:ext uri="{FF2B5EF4-FFF2-40B4-BE49-F238E27FC236}">
                  <a16:creationId xmlns:a16="http://schemas.microsoft.com/office/drawing/2014/main" id="{CA81C468-B625-F271-2DB9-24FE5D9D77E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2558F609-8847-325D-57C9-0F8C95942D82}"/>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D7ED47AB-0BC9-400B-62D2-7C5ABF239132}"/>
              </a:ext>
            </a:extLst>
          </p:cNvPr>
          <p:cNvGrpSpPr/>
          <p:nvPr/>
        </p:nvGrpSpPr>
        <p:grpSpPr>
          <a:xfrm>
            <a:off x="10621890" y="9007800"/>
            <a:ext cx="350910" cy="350910"/>
            <a:chOff x="0" y="0"/>
            <a:chExt cx="812800" cy="812800"/>
          </a:xfrm>
        </p:grpSpPr>
        <p:sp>
          <p:nvSpPr>
            <p:cNvPr id="57" name="Freeform 57">
              <a:extLst>
                <a:ext uri="{FF2B5EF4-FFF2-40B4-BE49-F238E27FC236}">
                  <a16:creationId xmlns:a16="http://schemas.microsoft.com/office/drawing/2014/main" id="{9781C299-3EE7-FFEB-D473-58298C32127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70594A4F-7BE3-8B27-63CA-F9F2134AB0BC}"/>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B81E4EBB-5420-91F0-E41D-6F115A2A97AD}"/>
              </a:ext>
            </a:extLst>
          </p:cNvPr>
          <p:cNvGrpSpPr/>
          <p:nvPr/>
        </p:nvGrpSpPr>
        <p:grpSpPr>
          <a:xfrm>
            <a:off x="11049000" y="9010050"/>
            <a:ext cx="350910" cy="350910"/>
            <a:chOff x="0" y="0"/>
            <a:chExt cx="812800" cy="812800"/>
          </a:xfrm>
        </p:grpSpPr>
        <p:sp>
          <p:nvSpPr>
            <p:cNvPr id="60" name="Freeform 60">
              <a:extLst>
                <a:ext uri="{FF2B5EF4-FFF2-40B4-BE49-F238E27FC236}">
                  <a16:creationId xmlns:a16="http://schemas.microsoft.com/office/drawing/2014/main" id="{2EFC7D03-6449-5A47-9426-8645AECAF56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8A936ABE-29C6-CDE3-F963-90E86F0EF49D}"/>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9F26A4A7-C1D4-3DF6-DB7D-A0B39ED0337F}"/>
              </a:ext>
            </a:extLst>
          </p:cNvPr>
          <p:cNvGrpSpPr/>
          <p:nvPr/>
        </p:nvGrpSpPr>
        <p:grpSpPr>
          <a:xfrm>
            <a:off x="10210800" y="9005551"/>
            <a:ext cx="350910" cy="350910"/>
            <a:chOff x="0" y="0"/>
            <a:chExt cx="812800" cy="812800"/>
          </a:xfrm>
        </p:grpSpPr>
        <p:sp>
          <p:nvSpPr>
            <p:cNvPr id="63" name="Freeform 63">
              <a:extLst>
                <a:ext uri="{FF2B5EF4-FFF2-40B4-BE49-F238E27FC236}">
                  <a16:creationId xmlns:a16="http://schemas.microsoft.com/office/drawing/2014/main" id="{17443A59-D69B-4ED8-4C2C-537E2C821BA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C62C6AC3-9CF3-E0A1-90B5-8810C6F455A5}"/>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5" name="Freeform 65">
            <a:extLst>
              <a:ext uri="{FF2B5EF4-FFF2-40B4-BE49-F238E27FC236}">
                <a16:creationId xmlns:a16="http://schemas.microsoft.com/office/drawing/2014/main" id="{12C22FCC-3A12-D89D-A3AF-D53B61BEB75C}"/>
              </a:ext>
            </a:extLst>
          </p:cNvPr>
          <p:cNvSpPr/>
          <p:nvPr/>
        </p:nvSpPr>
        <p:spPr>
          <a:xfrm>
            <a:off x="1720736" y="1444102"/>
            <a:ext cx="1088952" cy="1088952"/>
          </a:xfrm>
          <a:custGeom>
            <a:avLst/>
            <a:gdLst/>
            <a:ahLst/>
            <a:cxnLst/>
            <a:rect l="l" t="t" r="r" b="b"/>
            <a:pathLst>
              <a:path w="1088952" h="1088952">
                <a:moveTo>
                  <a:pt x="0" y="0"/>
                </a:moveTo>
                <a:lnTo>
                  <a:pt x="1088952" y="0"/>
                </a:lnTo>
                <a:lnTo>
                  <a:pt x="1088952" y="1088952"/>
                </a:lnTo>
                <a:lnTo>
                  <a:pt x="0" y="10889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Freeform 66">
            <a:extLst>
              <a:ext uri="{FF2B5EF4-FFF2-40B4-BE49-F238E27FC236}">
                <a16:creationId xmlns:a16="http://schemas.microsoft.com/office/drawing/2014/main" id="{A43E4ACD-3568-1769-7CBF-8294AD25A0D6}"/>
              </a:ext>
            </a:extLst>
          </p:cNvPr>
          <p:cNvSpPr/>
          <p:nvPr/>
        </p:nvSpPr>
        <p:spPr>
          <a:xfrm>
            <a:off x="9185419" y="1499341"/>
            <a:ext cx="1033713" cy="1033713"/>
          </a:xfrm>
          <a:custGeom>
            <a:avLst/>
            <a:gdLst/>
            <a:ahLst/>
            <a:cxnLst/>
            <a:rect l="l" t="t" r="r" b="b"/>
            <a:pathLst>
              <a:path w="1033713" h="1033713">
                <a:moveTo>
                  <a:pt x="0" y="0"/>
                </a:moveTo>
                <a:lnTo>
                  <a:pt x="1033713" y="0"/>
                </a:lnTo>
                <a:lnTo>
                  <a:pt x="1033713" y="1033713"/>
                </a:lnTo>
                <a:lnTo>
                  <a:pt x="0" y="10337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Freeform 67">
            <a:extLst>
              <a:ext uri="{FF2B5EF4-FFF2-40B4-BE49-F238E27FC236}">
                <a16:creationId xmlns:a16="http://schemas.microsoft.com/office/drawing/2014/main" id="{9D9E0975-3015-782A-9701-771119E12E55}"/>
              </a:ext>
            </a:extLst>
          </p:cNvPr>
          <p:cNvSpPr/>
          <p:nvPr/>
        </p:nvSpPr>
        <p:spPr>
          <a:xfrm>
            <a:off x="5589702" y="5734641"/>
            <a:ext cx="1071918" cy="1071918"/>
          </a:xfrm>
          <a:custGeom>
            <a:avLst/>
            <a:gdLst/>
            <a:ahLst/>
            <a:cxnLst/>
            <a:rect l="l" t="t" r="r" b="b"/>
            <a:pathLst>
              <a:path w="1071918" h="1071918">
                <a:moveTo>
                  <a:pt x="0" y="0"/>
                </a:moveTo>
                <a:lnTo>
                  <a:pt x="1071919" y="0"/>
                </a:lnTo>
                <a:lnTo>
                  <a:pt x="1071919" y="1071918"/>
                </a:lnTo>
                <a:lnTo>
                  <a:pt x="0" y="10719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TextBox 68">
            <a:extLst>
              <a:ext uri="{FF2B5EF4-FFF2-40B4-BE49-F238E27FC236}">
                <a16:creationId xmlns:a16="http://schemas.microsoft.com/office/drawing/2014/main" id="{38D8B234-9259-AEFB-B560-B6A86579EF75}"/>
              </a:ext>
            </a:extLst>
          </p:cNvPr>
          <p:cNvSpPr txBox="1"/>
          <p:nvPr/>
        </p:nvSpPr>
        <p:spPr>
          <a:xfrm>
            <a:off x="1085419" y="446516"/>
            <a:ext cx="16200000" cy="89255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200" b="1" i="0" u="none" strike="noStrike" kern="0" cap="none" spc="0" normalizeH="0" baseline="0" noProof="0" dirty="0">
                <a:ln>
                  <a:noFill/>
                </a:ln>
                <a:solidFill>
                  <a:srgbClr val="002B11"/>
                </a:solidFill>
                <a:effectLst/>
                <a:uLnTx/>
                <a:uFillTx/>
                <a:latin typeface="Poppins Black"/>
                <a:cs typeface="Arial"/>
                <a:sym typeface="Arial"/>
              </a:rPr>
              <a:t>FS Review Disputes - Examples</a:t>
            </a:r>
          </a:p>
        </p:txBody>
      </p:sp>
      <p:sp>
        <p:nvSpPr>
          <p:cNvPr id="71" name="TextBox 70">
            <a:extLst>
              <a:ext uri="{FF2B5EF4-FFF2-40B4-BE49-F238E27FC236}">
                <a16:creationId xmlns:a16="http://schemas.microsoft.com/office/drawing/2014/main" id="{1B39986D-3285-C2AB-5648-7E1D4DF71B9A}"/>
              </a:ext>
            </a:extLst>
          </p:cNvPr>
          <p:cNvSpPr txBox="1"/>
          <p:nvPr/>
        </p:nvSpPr>
        <p:spPr>
          <a:xfrm>
            <a:off x="2544000" y="2476500"/>
            <a:ext cx="4956727" cy="2075696"/>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 B&amp;B owner disputes a 2-star review because the traveler complained about rain during their outdoor walking tour. </a:t>
            </a:r>
          </a:p>
        </p:txBody>
      </p:sp>
      <p:sp>
        <p:nvSpPr>
          <p:cNvPr id="72" name="TextBox 71">
            <a:extLst>
              <a:ext uri="{FF2B5EF4-FFF2-40B4-BE49-F238E27FC236}">
                <a16:creationId xmlns:a16="http://schemas.microsoft.com/office/drawing/2014/main" id="{157D7CAC-82BF-FE3D-DA08-B2EEBDBCBBE3}"/>
              </a:ext>
            </a:extLst>
          </p:cNvPr>
          <p:cNvSpPr txBox="1"/>
          <p:nvPr/>
        </p:nvSpPr>
        <p:spPr>
          <a:xfrm>
            <a:off x="9978360" y="2517545"/>
            <a:ext cx="4956727" cy="2075696"/>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 restaurant owner flags a 1-star review written by a direct competitor's head chef located on the same street. </a:t>
            </a:r>
          </a:p>
        </p:txBody>
      </p:sp>
      <p:sp>
        <p:nvSpPr>
          <p:cNvPr id="73" name="TextBox 72">
            <a:extLst>
              <a:ext uri="{FF2B5EF4-FFF2-40B4-BE49-F238E27FC236}">
                <a16:creationId xmlns:a16="http://schemas.microsoft.com/office/drawing/2014/main" id="{61E2672A-C91B-C12D-03CC-5AE4B7944238}"/>
              </a:ext>
            </a:extLst>
          </p:cNvPr>
          <p:cNvSpPr txBox="1"/>
          <p:nvPr/>
        </p:nvSpPr>
        <p:spPr>
          <a:xfrm>
            <a:off x="6512007" y="6344024"/>
            <a:ext cx="4956727" cy="2583528"/>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  resort reports a coordinated review-bombing campaign after a viral social media video, receiving hundreds of fake 1-star reviews from non-travelers. </a:t>
            </a:r>
          </a:p>
        </p:txBody>
      </p:sp>
      <p:sp>
        <p:nvSpPr>
          <p:cNvPr id="76" name="TextBox 75">
            <a:extLst>
              <a:ext uri="{FF2B5EF4-FFF2-40B4-BE49-F238E27FC236}">
                <a16:creationId xmlns:a16="http://schemas.microsoft.com/office/drawing/2014/main" id="{1BF1E61B-8C0F-6BDF-705A-DDF077999D89}"/>
              </a:ext>
            </a:extLst>
          </p:cNvPr>
          <p:cNvSpPr txBox="1"/>
          <p:nvPr/>
        </p:nvSpPr>
        <p:spPr>
          <a:xfrm>
            <a:off x="533400" y="9867900"/>
            <a:ext cx="7315200" cy="246221"/>
          </a:xfrm>
          <a:prstGeom prst="rect">
            <a:avLst/>
          </a:prstGeom>
          <a:noFill/>
        </p:spPr>
        <p:txBody>
          <a:bodyPr wrap="square" lIns="0" tIns="0" rIns="0" bIns="0" anchor="t">
            <a:spAutoFit/>
          </a:bodyPr>
          <a:lstStyle/>
          <a:p>
            <a:pPr defTabSz="457200">
              <a:defRPr/>
            </a:pPr>
            <a:r>
              <a:rPr sz="1600" spc="50" dirty="0">
                <a:solidFill>
                  <a:srgbClr val="8A8272"/>
                </a:solidFill>
                <a:latin typeface="Poppins" panose="00000500000000000000" pitchFamily="2" charset="0"/>
                <a:cs typeface="Poppins" panose="00000500000000000000" pitchFamily="2" charset="0"/>
              </a:rPr>
              <a:t>T</a:t>
            </a:r>
            <a:r>
              <a:rPr lang="en-US" sz="1600" spc="50" dirty="0">
                <a:solidFill>
                  <a:srgbClr val="8A8272"/>
                </a:solidFill>
                <a:latin typeface="Poppins" panose="00000500000000000000" pitchFamily="2" charset="0"/>
                <a:cs typeface="Poppins" panose="00000500000000000000" pitchFamily="2" charset="0"/>
              </a:rPr>
              <a:t>ripadvisor</a:t>
            </a:r>
            <a:r>
              <a:rPr sz="1600" spc="50" dirty="0">
                <a:solidFill>
                  <a:srgbClr val="8A8272"/>
                </a:solidFill>
                <a:latin typeface="Poppins" panose="00000500000000000000" pitchFamily="2" charset="0"/>
                <a:cs typeface="Poppins" panose="00000500000000000000" pitchFamily="2" charset="0"/>
              </a:rPr>
              <a:t> / F</a:t>
            </a:r>
            <a:r>
              <a:rPr lang="en-US" sz="1600" spc="50" dirty="0">
                <a:solidFill>
                  <a:srgbClr val="8A8272"/>
                </a:solidFill>
                <a:latin typeface="Poppins" panose="00000500000000000000" pitchFamily="2" charset="0"/>
                <a:cs typeface="Poppins" panose="00000500000000000000" pitchFamily="2" charset="0"/>
              </a:rPr>
              <a:t>raud Support</a:t>
            </a:r>
            <a:r>
              <a:rPr sz="1600" spc="50" dirty="0">
                <a:solidFill>
                  <a:srgbClr val="8A8272"/>
                </a:solidFill>
                <a:latin typeface="Poppins" panose="00000500000000000000" pitchFamily="2" charset="0"/>
                <a:cs typeface="Poppins" panose="00000500000000000000" pitchFamily="2" charset="0"/>
              </a:rPr>
              <a:t> / </a:t>
            </a:r>
            <a:r>
              <a:rPr lang="en-US" sz="1600" spc="50" dirty="0">
                <a:solidFill>
                  <a:srgbClr val="8A8272"/>
                </a:solidFill>
                <a:latin typeface="Poppins" panose="00000500000000000000" pitchFamily="2" charset="0"/>
                <a:cs typeface="Poppins" panose="00000500000000000000" pitchFamily="2" charset="0"/>
              </a:rPr>
              <a:t>Examples</a:t>
            </a:r>
            <a:endParaRPr sz="1600" spc="50" dirty="0">
              <a:solidFill>
                <a:srgbClr val="8A8272"/>
              </a:solidFill>
              <a:latin typeface="Poppins" panose="00000500000000000000" pitchFamily="2" charset="0"/>
              <a:cs typeface="Poppins" panose="00000500000000000000" pitchFamily="2" charset="0"/>
            </a:endParaRPr>
          </a:p>
        </p:txBody>
      </p:sp>
      <p:sp>
        <p:nvSpPr>
          <p:cNvPr id="74" name="Action Button: Go Home 73">
            <a:hlinkClick r:id="rId6" action="ppaction://hlinksldjump" highlightClick="1"/>
            <a:extLst>
              <a:ext uri="{FF2B5EF4-FFF2-40B4-BE49-F238E27FC236}">
                <a16:creationId xmlns:a16="http://schemas.microsoft.com/office/drawing/2014/main" id="{2515828A-E83F-4589-C574-115EF7B841B3}"/>
              </a:ext>
            </a:extLst>
          </p:cNvPr>
          <p:cNvSpPr/>
          <p:nvPr/>
        </p:nvSpPr>
        <p:spPr>
          <a:xfrm>
            <a:off x="17068800" y="9262922"/>
            <a:ext cx="1143000" cy="909778"/>
          </a:xfrm>
          <a:prstGeom prst="actionButtonHome">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00649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B2D0B-DBC9-BF31-A114-BC5E7A2A3FDD}"/>
            </a:ext>
          </a:extLst>
        </p:cNvPr>
        <p:cNvGrpSpPr/>
        <p:nvPr/>
      </p:nvGrpSpPr>
      <p:grpSpPr>
        <a:xfrm>
          <a:off x="0" y="0"/>
          <a:ext cx="0" cy="0"/>
          <a:chOff x="0" y="0"/>
          <a:chExt cx="0" cy="0"/>
        </a:xfrm>
      </p:grpSpPr>
      <p:sp>
        <p:nvSpPr>
          <p:cNvPr id="70" name="Freeform 4">
            <a:extLst>
              <a:ext uri="{FF2B5EF4-FFF2-40B4-BE49-F238E27FC236}">
                <a16:creationId xmlns:a16="http://schemas.microsoft.com/office/drawing/2014/main" id="{33BCB45C-66FD-1EF1-0B15-91E6F7148F95}"/>
              </a:ext>
            </a:extLst>
          </p:cNvPr>
          <p:cNvSpPr/>
          <p:nvPr/>
        </p:nvSpPr>
        <p:spPr>
          <a:xfrm rot="17310465">
            <a:off x="12328431" y="3992316"/>
            <a:ext cx="9056866"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5" name="Freeform 4">
            <a:extLst>
              <a:ext uri="{FF2B5EF4-FFF2-40B4-BE49-F238E27FC236}">
                <a16:creationId xmlns:a16="http://schemas.microsoft.com/office/drawing/2014/main" id="{C55EDD46-F579-6157-2895-0B2B8FE02136}"/>
              </a:ext>
            </a:extLst>
          </p:cNvPr>
          <p:cNvSpPr/>
          <p:nvPr/>
        </p:nvSpPr>
        <p:spPr>
          <a:xfrm rot="5554844">
            <a:off x="-6561578" y="3184640"/>
            <a:ext cx="12381610" cy="5519100"/>
          </a:xfrm>
          <a:custGeom>
            <a:avLst/>
            <a:gdLst/>
            <a:ahLst/>
            <a:cxnLst/>
            <a:rect l="l" t="t" r="r" b="b"/>
            <a:pathLst>
              <a:path w="7315200" h="3913632">
                <a:moveTo>
                  <a:pt x="0" y="0"/>
                </a:moveTo>
                <a:lnTo>
                  <a:pt x="7315200" y="0"/>
                </a:lnTo>
                <a:lnTo>
                  <a:pt x="7315200" y="3913632"/>
                </a:lnTo>
                <a:lnTo>
                  <a:pt x="0" y="391363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2" name="Group 2">
            <a:extLst>
              <a:ext uri="{FF2B5EF4-FFF2-40B4-BE49-F238E27FC236}">
                <a16:creationId xmlns:a16="http://schemas.microsoft.com/office/drawing/2014/main" id="{95B18E0D-4D6F-AEAA-85C2-829223F6E0F5}"/>
              </a:ext>
            </a:extLst>
          </p:cNvPr>
          <p:cNvGrpSpPr/>
          <p:nvPr/>
        </p:nvGrpSpPr>
        <p:grpSpPr>
          <a:xfrm>
            <a:off x="2045141" y="1808784"/>
            <a:ext cx="5949039" cy="3804447"/>
            <a:chOff x="0" y="0"/>
            <a:chExt cx="1778700" cy="1137490"/>
          </a:xfrm>
        </p:grpSpPr>
        <p:sp>
          <p:nvSpPr>
            <p:cNvPr id="3" name="Freeform 3">
              <a:extLst>
                <a:ext uri="{FF2B5EF4-FFF2-40B4-BE49-F238E27FC236}">
                  <a16:creationId xmlns:a16="http://schemas.microsoft.com/office/drawing/2014/main" id="{2A799265-95AB-5059-E3B4-DF8DC3186F0C}"/>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62CC7ACA-FA49-E4C5-A24D-C03C5D4BD21A}"/>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945802C6-BF92-9786-3F7D-85CE4ABFA244}"/>
              </a:ext>
            </a:extLst>
          </p:cNvPr>
          <p:cNvGrpSpPr/>
          <p:nvPr/>
        </p:nvGrpSpPr>
        <p:grpSpPr>
          <a:xfrm>
            <a:off x="2265212" y="1988578"/>
            <a:ext cx="5508897" cy="3437667"/>
            <a:chOff x="0" y="0"/>
            <a:chExt cx="1647103" cy="1027826"/>
          </a:xfrm>
        </p:grpSpPr>
        <p:sp>
          <p:nvSpPr>
            <p:cNvPr id="6" name="Freeform 6">
              <a:extLst>
                <a:ext uri="{FF2B5EF4-FFF2-40B4-BE49-F238E27FC236}">
                  <a16:creationId xmlns:a16="http://schemas.microsoft.com/office/drawing/2014/main" id="{E85D04BB-728E-E635-5C22-98E5BC4CB1B6}"/>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0202DF53-6A58-7F54-14F8-DF2D1F3B1B1A}"/>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3220D391-87D7-3D8E-0C76-F59E09F9B234}"/>
              </a:ext>
            </a:extLst>
          </p:cNvPr>
          <p:cNvGrpSpPr/>
          <p:nvPr/>
        </p:nvGrpSpPr>
        <p:grpSpPr>
          <a:xfrm>
            <a:off x="5486400" y="4865645"/>
            <a:ext cx="350910" cy="350910"/>
            <a:chOff x="0" y="0"/>
            <a:chExt cx="812800" cy="812800"/>
          </a:xfrm>
        </p:grpSpPr>
        <p:sp>
          <p:nvSpPr>
            <p:cNvPr id="9" name="Freeform 9">
              <a:extLst>
                <a:ext uri="{FF2B5EF4-FFF2-40B4-BE49-F238E27FC236}">
                  <a16:creationId xmlns:a16="http://schemas.microsoft.com/office/drawing/2014/main" id="{B90F197B-238C-9E7C-B17C-036E428BAE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98FB43C7-C817-1E41-6D74-928B3420D6A9}"/>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EE14BF0C-9405-45BA-8447-94DFBD3ECE16}"/>
              </a:ext>
            </a:extLst>
          </p:cNvPr>
          <p:cNvGrpSpPr/>
          <p:nvPr/>
        </p:nvGrpSpPr>
        <p:grpSpPr>
          <a:xfrm>
            <a:off x="5897490" y="4867894"/>
            <a:ext cx="350910" cy="350910"/>
            <a:chOff x="0" y="0"/>
            <a:chExt cx="812800" cy="812800"/>
          </a:xfrm>
        </p:grpSpPr>
        <p:sp>
          <p:nvSpPr>
            <p:cNvPr id="12" name="Freeform 12">
              <a:extLst>
                <a:ext uri="{FF2B5EF4-FFF2-40B4-BE49-F238E27FC236}">
                  <a16:creationId xmlns:a16="http://schemas.microsoft.com/office/drawing/2014/main" id="{1A3BA6B6-542D-DC8E-5030-A993C1785DC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4E88897B-5AA9-C690-1C17-ADF78834EE77}"/>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4CE33902-EC83-850E-787F-6D270364B642}"/>
              </a:ext>
            </a:extLst>
          </p:cNvPr>
          <p:cNvGrpSpPr/>
          <p:nvPr/>
        </p:nvGrpSpPr>
        <p:grpSpPr>
          <a:xfrm>
            <a:off x="6735690" y="4872393"/>
            <a:ext cx="350910" cy="350910"/>
            <a:chOff x="0" y="0"/>
            <a:chExt cx="812800" cy="812800"/>
          </a:xfrm>
        </p:grpSpPr>
        <p:sp>
          <p:nvSpPr>
            <p:cNvPr id="15" name="Freeform 15">
              <a:extLst>
                <a:ext uri="{FF2B5EF4-FFF2-40B4-BE49-F238E27FC236}">
                  <a16:creationId xmlns:a16="http://schemas.microsoft.com/office/drawing/2014/main" id="{4AF88D76-8214-3B72-DE6D-CD5DA606CE6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914216B3-2E7F-393F-62E6-A9DFFA4F2835}"/>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34E1D156-22AB-FCB9-9E67-F89BCDE65002}"/>
              </a:ext>
            </a:extLst>
          </p:cNvPr>
          <p:cNvGrpSpPr/>
          <p:nvPr/>
        </p:nvGrpSpPr>
        <p:grpSpPr>
          <a:xfrm>
            <a:off x="7149817" y="4874643"/>
            <a:ext cx="350910" cy="350910"/>
            <a:chOff x="0" y="0"/>
            <a:chExt cx="812800" cy="812800"/>
          </a:xfrm>
        </p:grpSpPr>
        <p:sp>
          <p:nvSpPr>
            <p:cNvPr id="18" name="Freeform 18">
              <a:extLst>
                <a:ext uri="{FF2B5EF4-FFF2-40B4-BE49-F238E27FC236}">
                  <a16:creationId xmlns:a16="http://schemas.microsoft.com/office/drawing/2014/main" id="{E1F17385-06BE-B147-3CD1-65E159FD487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1A6ED388-BF32-9857-15AD-71DB86012AFB}"/>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 name="Group 20">
            <a:extLst>
              <a:ext uri="{FF2B5EF4-FFF2-40B4-BE49-F238E27FC236}">
                <a16:creationId xmlns:a16="http://schemas.microsoft.com/office/drawing/2014/main" id="{1510437E-413C-F1E1-3C00-255D4DCACF5E}"/>
              </a:ext>
            </a:extLst>
          </p:cNvPr>
          <p:cNvGrpSpPr/>
          <p:nvPr/>
        </p:nvGrpSpPr>
        <p:grpSpPr>
          <a:xfrm>
            <a:off x="6324600" y="4870144"/>
            <a:ext cx="350910" cy="350910"/>
            <a:chOff x="0" y="0"/>
            <a:chExt cx="812800" cy="812800"/>
          </a:xfrm>
        </p:grpSpPr>
        <p:sp>
          <p:nvSpPr>
            <p:cNvPr id="21" name="Freeform 21">
              <a:extLst>
                <a:ext uri="{FF2B5EF4-FFF2-40B4-BE49-F238E27FC236}">
                  <a16:creationId xmlns:a16="http://schemas.microsoft.com/office/drawing/2014/main" id="{11C66FD5-D693-81D3-8422-F6E0FAE2563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2">
              <a:extLst>
                <a:ext uri="{FF2B5EF4-FFF2-40B4-BE49-F238E27FC236}">
                  <a16:creationId xmlns:a16="http://schemas.microsoft.com/office/drawing/2014/main" id="{9E65137F-0F30-799B-B704-7A3F1E475855}"/>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3" name="Group 23">
            <a:extLst>
              <a:ext uri="{FF2B5EF4-FFF2-40B4-BE49-F238E27FC236}">
                <a16:creationId xmlns:a16="http://schemas.microsoft.com/office/drawing/2014/main" id="{A4A523F2-8CBD-E7A6-E20B-09BCCDE5FADD}"/>
              </a:ext>
            </a:extLst>
          </p:cNvPr>
          <p:cNvGrpSpPr/>
          <p:nvPr/>
        </p:nvGrpSpPr>
        <p:grpSpPr>
          <a:xfrm>
            <a:off x="9482205" y="1805188"/>
            <a:ext cx="5949039" cy="3804447"/>
            <a:chOff x="0" y="0"/>
            <a:chExt cx="1778700" cy="1137490"/>
          </a:xfrm>
        </p:grpSpPr>
        <p:sp>
          <p:nvSpPr>
            <p:cNvPr id="24" name="Freeform 24">
              <a:extLst>
                <a:ext uri="{FF2B5EF4-FFF2-40B4-BE49-F238E27FC236}">
                  <a16:creationId xmlns:a16="http://schemas.microsoft.com/office/drawing/2014/main" id="{F1565CA1-6EE4-6002-1EFE-CC4D01715E3B}"/>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5">
              <a:extLst>
                <a:ext uri="{FF2B5EF4-FFF2-40B4-BE49-F238E27FC236}">
                  <a16:creationId xmlns:a16="http://schemas.microsoft.com/office/drawing/2014/main" id="{509B08A8-C547-E8A8-4F26-69DADF32AB61}"/>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6" name="Group 26">
            <a:extLst>
              <a:ext uri="{FF2B5EF4-FFF2-40B4-BE49-F238E27FC236}">
                <a16:creationId xmlns:a16="http://schemas.microsoft.com/office/drawing/2014/main" id="{A3FC3886-5279-8E3F-C680-142AAAA4F95A}"/>
              </a:ext>
            </a:extLst>
          </p:cNvPr>
          <p:cNvGrpSpPr/>
          <p:nvPr/>
        </p:nvGrpSpPr>
        <p:grpSpPr>
          <a:xfrm>
            <a:off x="9702276" y="1984982"/>
            <a:ext cx="5508897" cy="3437667"/>
            <a:chOff x="0" y="0"/>
            <a:chExt cx="1647103" cy="1027826"/>
          </a:xfrm>
        </p:grpSpPr>
        <p:sp>
          <p:nvSpPr>
            <p:cNvPr id="27" name="Freeform 27">
              <a:extLst>
                <a:ext uri="{FF2B5EF4-FFF2-40B4-BE49-F238E27FC236}">
                  <a16:creationId xmlns:a16="http://schemas.microsoft.com/office/drawing/2014/main" id="{0F568BC0-8DF7-BFA9-D11C-76690B25CB4D}"/>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 name="TextBox 28">
              <a:extLst>
                <a:ext uri="{FF2B5EF4-FFF2-40B4-BE49-F238E27FC236}">
                  <a16:creationId xmlns:a16="http://schemas.microsoft.com/office/drawing/2014/main" id="{A1719877-AAE4-5CA8-9517-44E6A566008E}"/>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9" name="Group 29">
            <a:extLst>
              <a:ext uri="{FF2B5EF4-FFF2-40B4-BE49-F238E27FC236}">
                <a16:creationId xmlns:a16="http://schemas.microsoft.com/office/drawing/2014/main" id="{B9D2130C-4979-CF26-56C3-7FB4D9809D8F}"/>
              </a:ext>
            </a:extLst>
          </p:cNvPr>
          <p:cNvGrpSpPr/>
          <p:nvPr/>
        </p:nvGrpSpPr>
        <p:grpSpPr>
          <a:xfrm>
            <a:off x="12954000" y="4862049"/>
            <a:ext cx="350910" cy="350910"/>
            <a:chOff x="0" y="0"/>
            <a:chExt cx="812800" cy="812800"/>
          </a:xfrm>
        </p:grpSpPr>
        <p:sp>
          <p:nvSpPr>
            <p:cNvPr id="30" name="Freeform 30">
              <a:extLst>
                <a:ext uri="{FF2B5EF4-FFF2-40B4-BE49-F238E27FC236}">
                  <a16:creationId xmlns:a16="http://schemas.microsoft.com/office/drawing/2014/main" id="{EDE602A0-4A81-65D0-8C90-B73E832BB79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Box 31">
              <a:extLst>
                <a:ext uri="{FF2B5EF4-FFF2-40B4-BE49-F238E27FC236}">
                  <a16:creationId xmlns:a16="http://schemas.microsoft.com/office/drawing/2014/main" id="{24381738-CAB4-3950-17E4-EC1E09188464}"/>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2" name="Group 32">
            <a:extLst>
              <a:ext uri="{FF2B5EF4-FFF2-40B4-BE49-F238E27FC236}">
                <a16:creationId xmlns:a16="http://schemas.microsoft.com/office/drawing/2014/main" id="{4002F392-2F09-95EA-F67B-E327AA39D5CE}"/>
              </a:ext>
            </a:extLst>
          </p:cNvPr>
          <p:cNvGrpSpPr/>
          <p:nvPr/>
        </p:nvGrpSpPr>
        <p:grpSpPr>
          <a:xfrm>
            <a:off x="13365090" y="4864299"/>
            <a:ext cx="350910" cy="350910"/>
            <a:chOff x="0" y="0"/>
            <a:chExt cx="812800" cy="812800"/>
          </a:xfrm>
        </p:grpSpPr>
        <p:sp>
          <p:nvSpPr>
            <p:cNvPr id="33" name="Freeform 33">
              <a:extLst>
                <a:ext uri="{FF2B5EF4-FFF2-40B4-BE49-F238E27FC236}">
                  <a16:creationId xmlns:a16="http://schemas.microsoft.com/office/drawing/2014/main" id="{F3970670-040E-A8B6-2377-861530C2FC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Box 34">
              <a:extLst>
                <a:ext uri="{FF2B5EF4-FFF2-40B4-BE49-F238E27FC236}">
                  <a16:creationId xmlns:a16="http://schemas.microsoft.com/office/drawing/2014/main" id="{FF6C9155-2365-B654-E487-27D39ACD3F03}"/>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5" name="Group 35">
            <a:extLst>
              <a:ext uri="{FF2B5EF4-FFF2-40B4-BE49-F238E27FC236}">
                <a16:creationId xmlns:a16="http://schemas.microsoft.com/office/drawing/2014/main" id="{0976982D-6E64-CAE9-24ED-B410008AB869}"/>
              </a:ext>
            </a:extLst>
          </p:cNvPr>
          <p:cNvGrpSpPr/>
          <p:nvPr/>
        </p:nvGrpSpPr>
        <p:grpSpPr>
          <a:xfrm>
            <a:off x="14203290" y="4868797"/>
            <a:ext cx="350910" cy="350910"/>
            <a:chOff x="0" y="0"/>
            <a:chExt cx="812800" cy="812800"/>
          </a:xfrm>
        </p:grpSpPr>
        <p:sp>
          <p:nvSpPr>
            <p:cNvPr id="36" name="Freeform 36">
              <a:extLst>
                <a:ext uri="{FF2B5EF4-FFF2-40B4-BE49-F238E27FC236}">
                  <a16:creationId xmlns:a16="http://schemas.microsoft.com/office/drawing/2014/main" id="{F944C873-B6B1-9D44-0812-D4C83A2514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Box 37">
              <a:extLst>
                <a:ext uri="{FF2B5EF4-FFF2-40B4-BE49-F238E27FC236}">
                  <a16:creationId xmlns:a16="http://schemas.microsoft.com/office/drawing/2014/main" id="{FDA76B6C-874A-3566-AD65-F40D3D83B57C}"/>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8" name="Group 38">
            <a:extLst>
              <a:ext uri="{FF2B5EF4-FFF2-40B4-BE49-F238E27FC236}">
                <a16:creationId xmlns:a16="http://schemas.microsoft.com/office/drawing/2014/main" id="{F972E4DC-0027-CE0C-EB82-7072898A4A7B}"/>
              </a:ext>
            </a:extLst>
          </p:cNvPr>
          <p:cNvGrpSpPr/>
          <p:nvPr/>
        </p:nvGrpSpPr>
        <p:grpSpPr>
          <a:xfrm>
            <a:off x="14630400" y="4871047"/>
            <a:ext cx="350910" cy="350910"/>
            <a:chOff x="0" y="0"/>
            <a:chExt cx="812800" cy="812800"/>
          </a:xfrm>
        </p:grpSpPr>
        <p:sp>
          <p:nvSpPr>
            <p:cNvPr id="39" name="Freeform 39">
              <a:extLst>
                <a:ext uri="{FF2B5EF4-FFF2-40B4-BE49-F238E27FC236}">
                  <a16:creationId xmlns:a16="http://schemas.microsoft.com/office/drawing/2014/main" id="{B5EF2BC9-04EA-5919-ACD8-BBBDDE07907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Box 40">
              <a:extLst>
                <a:ext uri="{FF2B5EF4-FFF2-40B4-BE49-F238E27FC236}">
                  <a16:creationId xmlns:a16="http://schemas.microsoft.com/office/drawing/2014/main" id="{CE444775-C2D1-D98D-D331-46A575B846BA}"/>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1" name="Group 41">
            <a:extLst>
              <a:ext uri="{FF2B5EF4-FFF2-40B4-BE49-F238E27FC236}">
                <a16:creationId xmlns:a16="http://schemas.microsoft.com/office/drawing/2014/main" id="{5A95B021-F0C4-7C58-F40C-30B4C4892477}"/>
              </a:ext>
            </a:extLst>
          </p:cNvPr>
          <p:cNvGrpSpPr/>
          <p:nvPr/>
        </p:nvGrpSpPr>
        <p:grpSpPr>
          <a:xfrm>
            <a:off x="13792200" y="4866548"/>
            <a:ext cx="350910" cy="350910"/>
            <a:chOff x="0" y="0"/>
            <a:chExt cx="812800" cy="812800"/>
          </a:xfrm>
        </p:grpSpPr>
        <p:sp>
          <p:nvSpPr>
            <p:cNvPr id="42" name="Freeform 42">
              <a:extLst>
                <a:ext uri="{FF2B5EF4-FFF2-40B4-BE49-F238E27FC236}">
                  <a16:creationId xmlns:a16="http://schemas.microsoft.com/office/drawing/2014/main" id="{90F638A4-E831-2901-17EB-8548D7F88FF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Box 43">
              <a:extLst>
                <a:ext uri="{FF2B5EF4-FFF2-40B4-BE49-F238E27FC236}">
                  <a16:creationId xmlns:a16="http://schemas.microsoft.com/office/drawing/2014/main" id="{3520798F-D555-544F-E047-0AD278D92D63}"/>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4" name="Group 44">
            <a:extLst>
              <a:ext uri="{FF2B5EF4-FFF2-40B4-BE49-F238E27FC236}">
                <a16:creationId xmlns:a16="http://schemas.microsoft.com/office/drawing/2014/main" id="{59C95F2C-4A46-DD22-5D8D-EBAC1DE2C615}"/>
              </a:ext>
            </a:extLst>
          </p:cNvPr>
          <p:cNvGrpSpPr/>
          <p:nvPr/>
        </p:nvGrpSpPr>
        <p:grpSpPr>
          <a:xfrm>
            <a:off x="5956707" y="5944191"/>
            <a:ext cx="5949039" cy="3804447"/>
            <a:chOff x="0" y="0"/>
            <a:chExt cx="1778700" cy="1137490"/>
          </a:xfrm>
        </p:grpSpPr>
        <p:sp>
          <p:nvSpPr>
            <p:cNvPr id="45" name="Freeform 45">
              <a:extLst>
                <a:ext uri="{FF2B5EF4-FFF2-40B4-BE49-F238E27FC236}">
                  <a16:creationId xmlns:a16="http://schemas.microsoft.com/office/drawing/2014/main" id="{3D07AA08-EF9C-FEAA-5556-273F3E6568B6}"/>
                </a:ext>
              </a:extLst>
            </p:cNvPr>
            <p:cNvSpPr/>
            <p:nvPr/>
          </p:nvSpPr>
          <p:spPr>
            <a:xfrm>
              <a:off x="0" y="0"/>
              <a:ext cx="1778701" cy="1137490"/>
            </a:xfrm>
            <a:custGeom>
              <a:avLst/>
              <a:gdLst/>
              <a:ahLst/>
              <a:cxnLst/>
              <a:rect l="l" t="t" r="r" b="b"/>
              <a:pathLst>
                <a:path w="1778701" h="1137490">
                  <a:moveTo>
                    <a:pt x="0" y="0"/>
                  </a:moveTo>
                  <a:lnTo>
                    <a:pt x="1778701" y="0"/>
                  </a:lnTo>
                  <a:lnTo>
                    <a:pt x="1778701" y="1137490"/>
                  </a:lnTo>
                  <a:lnTo>
                    <a:pt x="0" y="1137490"/>
                  </a:lnTo>
                  <a:close/>
                </a:path>
              </a:pathLst>
            </a:custGeom>
            <a:solidFill>
              <a:srgbClr val="00BF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Box 46">
              <a:extLst>
                <a:ext uri="{FF2B5EF4-FFF2-40B4-BE49-F238E27FC236}">
                  <a16:creationId xmlns:a16="http://schemas.microsoft.com/office/drawing/2014/main" id="{8D5DDC6D-2F31-41E2-D5BD-F330B79CBFD1}"/>
                </a:ext>
              </a:extLst>
            </p:cNvPr>
            <p:cNvSpPr txBox="1"/>
            <p:nvPr/>
          </p:nvSpPr>
          <p:spPr>
            <a:xfrm>
              <a:off x="0" y="-47625"/>
              <a:ext cx="1778700" cy="118511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7" name="Group 47">
            <a:extLst>
              <a:ext uri="{FF2B5EF4-FFF2-40B4-BE49-F238E27FC236}">
                <a16:creationId xmlns:a16="http://schemas.microsoft.com/office/drawing/2014/main" id="{36096E12-F885-A7EC-E827-EDBA7DFFCA49}"/>
              </a:ext>
            </a:extLst>
          </p:cNvPr>
          <p:cNvGrpSpPr/>
          <p:nvPr/>
        </p:nvGrpSpPr>
        <p:grpSpPr>
          <a:xfrm>
            <a:off x="6176778" y="6123985"/>
            <a:ext cx="5508897" cy="3437667"/>
            <a:chOff x="0" y="0"/>
            <a:chExt cx="1647103" cy="1027826"/>
          </a:xfrm>
        </p:grpSpPr>
        <p:sp>
          <p:nvSpPr>
            <p:cNvPr id="48" name="Freeform 48">
              <a:extLst>
                <a:ext uri="{FF2B5EF4-FFF2-40B4-BE49-F238E27FC236}">
                  <a16:creationId xmlns:a16="http://schemas.microsoft.com/office/drawing/2014/main" id="{103AB26B-A808-0A54-F7DF-770E73807FC4}"/>
                </a:ext>
              </a:extLst>
            </p:cNvPr>
            <p:cNvSpPr/>
            <p:nvPr/>
          </p:nvSpPr>
          <p:spPr>
            <a:xfrm>
              <a:off x="0" y="0"/>
              <a:ext cx="1647103" cy="1027826"/>
            </a:xfrm>
            <a:custGeom>
              <a:avLst/>
              <a:gdLst/>
              <a:ahLst/>
              <a:cxnLst/>
              <a:rect l="l" t="t" r="r" b="b"/>
              <a:pathLst>
                <a:path w="1647103" h="1027826">
                  <a:moveTo>
                    <a:pt x="71673" y="0"/>
                  </a:moveTo>
                  <a:lnTo>
                    <a:pt x="1575430" y="0"/>
                  </a:lnTo>
                  <a:cubicBezTo>
                    <a:pt x="1615014" y="0"/>
                    <a:pt x="1647103" y="32089"/>
                    <a:pt x="1647103" y="71673"/>
                  </a:cubicBezTo>
                  <a:lnTo>
                    <a:pt x="1647103" y="956154"/>
                  </a:lnTo>
                  <a:cubicBezTo>
                    <a:pt x="1647103" y="995737"/>
                    <a:pt x="1615014" y="1027826"/>
                    <a:pt x="1575430" y="1027826"/>
                  </a:cubicBezTo>
                  <a:lnTo>
                    <a:pt x="71673" y="1027826"/>
                  </a:lnTo>
                  <a:cubicBezTo>
                    <a:pt x="32089" y="1027826"/>
                    <a:pt x="0" y="995737"/>
                    <a:pt x="0" y="956154"/>
                  </a:cubicBezTo>
                  <a:lnTo>
                    <a:pt x="0" y="71673"/>
                  </a:lnTo>
                  <a:cubicBezTo>
                    <a:pt x="0" y="32089"/>
                    <a:pt x="32089" y="0"/>
                    <a:pt x="7167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Box 49">
              <a:extLst>
                <a:ext uri="{FF2B5EF4-FFF2-40B4-BE49-F238E27FC236}">
                  <a16:creationId xmlns:a16="http://schemas.microsoft.com/office/drawing/2014/main" id="{FB32A96E-6857-FDD9-7447-4207325FA36F}"/>
                </a:ext>
              </a:extLst>
            </p:cNvPr>
            <p:cNvSpPr txBox="1"/>
            <p:nvPr/>
          </p:nvSpPr>
          <p:spPr>
            <a:xfrm>
              <a:off x="0" y="-47625"/>
              <a:ext cx="1647103" cy="1075451"/>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0" name="Group 50">
            <a:extLst>
              <a:ext uri="{FF2B5EF4-FFF2-40B4-BE49-F238E27FC236}">
                <a16:creationId xmlns:a16="http://schemas.microsoft.com/office/drawing/2014/main" id="{6BF6E365-FF38-1367-018B-4472821213DF}"/>
              </a:ext>
            </a:extLst>
          </p:cNvPr>
          <p:cNvGrpSpPr/>
          <p:nvPr/>
        </p:nvGrpSpPr>
        <p:grpSpPr>
          <a:xfrm>
            <a:off x="9372600" y="9001052"/>
            <a:ext cx="350910" cy="350910"/>
            <a:chOff x="0" y="0"/>
            <a:chExt cx="812800" cy="812800"/>
          </a:xfrm>
        </p:grpSpPr>
        <p:sp>
          <p:nvSpPr>
            <p:cNvPr id="51" name="Freeform 51">
              <a:extLst>
                <a:ext uri="{FF2B5EF4-FFF2-40B4-BE49-F238E27FC236}">
                  <a16:creationId xmlns:a16="http://schemas.microsoft.com/office/drawing/2014/main" id="{3682F594-5A09-B120-6D88-2C03C9CF131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Box 52">
              <a:extLst>
                <a:ext uri="{FF2B5EF4-FFF2-40B4-BE49-F238E27FC236}">
                  <a16:creationId xmlns:a16="http://schemas.microsoft.com/office/drawing/2014/main" id="{D9FECC8F-B0B9-5376-2C1A-D8775ACAE6BC}"/>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3" name="Group 53">
            <a:extLst>
              <a:ext uri="{FF2B5EF4-FFF2-40B4-BE49-F238E27FC236}">
                <a16:creationId xmlns:a16="http://schemas.microsoft.com/office/drawing/2014/main" id="{83E0AFC5-05CF-55D0-C699-FD98D268EA9D}"/>
              </a:ext>
            </a:extLst>
          </p:cNvPr>
          <p:cNvGrpSpPr/>
          <p:nvPr/>
        </p:nvGrpSpPr>
        <p:grpSpPr>
          <a:xfrm>
            <a:off x="9783690" y="9003301"/>
            <a:ext cx="350910" cy="350910"/>
            <a:chOff x="0" y="0"/>
            <a:chExt cx="812800" cy="812800"/>
          </a:xfrm>
        </p:grpSpPr>
        <p:sp>
          <p:nvSpPr>
            <p:cNvPr id="54" name="Freeform 54">
              <a:extLst>
                <a:ext uri="{FF2B5EF4-FFF2-40B4-BE49-F238E27FC236}">
                  <a16:creationId xmlns:a16="http://schemas.microsoft.com/office/drawing/2014/main" id="{8224C459-0BA5-1178-F074-EE178B3B76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83AC135A-BBED-3D93-379E-9F2C4FC1E5C4}"/>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5D0DA79C-2BBD-784F-DFFA-2EC7CCF97427}"/>
              </a:ext>
            </a:extLst>
          </p:cNvPr>
          <p:cNvGrpSpPr/>
          <p:nvPr/>
        </p:nvGrpSpPr>
        <p:grpSpPr>
          <a:xfrm>
            <a:off x="10621890" y="9007800"/>
            <a:ext cx="350910" cy="350910"/>
            <a:chOff x="0" y="0"/>
            <a:chExt cx="812800" cy="812800"/>
          </a:xfrm>
        </p:grpSpPr>
        <p:sp>
          <p:nvSpPr>
            <p:cNvPr id="57" name="Freeform 57">
              <a:extLst>
                <a:ext uri="{FF2B5EF4-FFF2-40B4-BE49-F238E27FC236}">
                  <a16:creationId xmlns:a16="http://schemas.microsoft.com/office/drawing/2014/main" id="{B2966F77-1CB0-947E-0DED-D72985E2057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72D8F706-2508-BFFA-CBEA-202F346D622B}"/>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9B8D2471-5F67-E1F8-B99E-C4548FBEA66C}"/>
              </a:ext>
            </a:extLst>
          </p:cNvPr>
          <p:cNvGrpSpPr/>
          <p:nvPr/>
        </p:nvGrpSpPr>
        <p:grpSpPr>
          <a:xfrm>
            <a:off x="11049000" y="9010050"/>
            <a:ext cx="350910" cy="350910"/>
            <a:chOff x="0" y="0"/>
            <a:chExt cx="812800" cy="812800"/>
          </a:xfrm>
        </p:grpSpPr>
        <p:sp>
          <p:nvSpPr>
            <p:cNvPr id="60" name="Freeform 60">
              <a:extLst>
                <a:ext uri="{FF2B5EF4-FFF2-40B4-BE49-F238E27FC236}">
                  <a16:creationId xmlns:a16="http://schemas.microsoft.com/office/drawing/2014/main" id="{4AF2F92E-E92B-76EC-7249-DC7A0617431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BDD55A3E-70C5-48DC-5189-63144DF1E262}"/>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BC3D6A40-B839-CB8E-5B28-1FAC36686D1D}"/>
              </a:ext>
            </a:extLst>
          </p:cNvPr>
          <p:cNvGrpSpPr/>
          <p:nvPr/>
        </p:nvGrpSpPr>
        <p:grpSpPr>
          <a:xfrm>
            <a:off x="10210800" y="9005551"/>
            <a:ext cx="350910" cy="350910"/>
            <a:chOff x="0" y="0"/>
            <a:chExt cx="812800" cy="812800"/>
          </a:xfrm>
        </p:grpSpPr>
        <p:sp>
          <p:nvSpPr>
            <p:cNvPr id="63" name="Freeform 63">
              <a:extLst>
                <a:ext uri="{FF2B5EF4-FFF2-40B4-BE49-F238E27FC236}">
                  <a16:creationId xmlns:a16="http://schemas.microsoft.com/office/drawing/2014/main" id="{ED0DF44D-8032-22BE-0E45-00B77E9E978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C04B855F-3248-C6F5-03F4-E2793800ED24}"/>
                </a:ext>
              </a:extLst>
            </p:cNvPr>
            <p:cNvSpPr txBox="1"/>
            <p:nvPr/>
          </p:nvSpPr>
          <p:spPr>
            <a:xfrm>
              <a:off x="76200" y="28575"/>
              <a:ext cx="660400" cy="708025"/>
            </a:xfrm>
            <a:prstGeom prst="rect">
              <a:avLst/>
            </a:prstGeom>
          </p:spPr>
          <p:txBody>
            <a:bodyPr lIns="31778" tIns="31778" rIns="31778" bIns="31778"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5" name="Freeform 65">
            <a:extLst>
              <a:ext uri="{FF2B5EF4-FFF2-40B4-BE49-F238E27FC236}">
                <a16:creationId xmlns:a16="http://schemas.microsoft.com/office/drawing/2014/main" id="{DF0FEB77-09C0-93DC-5AF8-E4A30B9C6262}"/>
              </a:ext>
            </a:extLst>
          </p:cNvPr>
          <p:cNvSpPr/>
          <p:nvPr/>
        </p:nvSpPr>
        <p:spPr>
          <a:xfrm>
            <a:off x="1720736" y="1444102"/>
            <a:ext cx="1088952" cy="1088952"/>
          </a:xfrm>
          <a:custGeom>
            <a:avLst/>
            <a:gdLst/>
            <a:ahLst/>
            <a:cxnLst/>
            <a:rect l="l" t="t" r="r" b="b"/>
            <a:pathLst>
              <a:path w="1088952" h="1088952">
                <a:moveTo>
                  <a:pt x="0" y="0"/>
                </a:moveTo>
                <a:lnTo>
                  <a:pt x="1088952" y="0"/>
                </a:lnTo>
                <a:lnTo>
                  <a:pt x="1088952" y="1088952"/>
                </a:lnTo>
                <a:lnTo>
                  <a:pt x="0" y="10889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Freeform 66">
            <a:extLst>
              <a:ext uri="{FF2B5EF4-FFF2-40B4-BE49-F238E27FC236}">
                <a16:creationId xmlns:a16="http://schemas.microsoft.com/office/drawing/2014/main" id="{8F2F855E-641D-CA02-7BA0-0EA73E82FCDB}"/>
              </a:ext>
            </a:extLst>
          </p:cNvPr>
          <p:cNvSpPr/>
          <p:nvPr/>
        </p:nvSpPr>
        <p:spPr>
          <a:xfrm>
            <a:off x="9185419" y="1499341"/>
            <a:ext cx="1033713" cy="1033713"/>
          </a:xfrm>
          <a:custGeom>
            <a:avLst/>
            <a:gdLst/>
            <a:ahLst/>
            <a:cxnLst/>
            <a:rect l="l" t="t" r="r" b="b"/>
            <a:pathLst>
              <a:path w="1033713" h="1033713">
                <a:moveTo>
                  <a:pt x="0" y="0"/>
                </a:moveTo>
                <a:lnTo>
                  <a:pt x="1033713" y="0"/>
                </a:lnTo>
                <a:lnTo>
                  <a:pt x="1033713" y="1033713"/>
                </a:lnTo>
                <a:lnTo>
                  <a:pt x="0" y="10337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Freeform 67">
            <a:extLst>
              <a:ext uri="{FF2B5EF4-FFF2-40B4-BE49-F238E27FC236}">
                <a16:creationId xmlns:a16="http://schemas.microsoft.com/office/drawing/2014/main" id="{96271DA3-0978-F3D1-2E6F-2219396A8A31}"/>
              </a:ext>
            </a:extLst>
          </p:cNvPr>
          <p:cNvSpPr/>
          <p:nvPr/>
        </p:nvSpPr>
        <p:spPr>
          <a:xfrm>
            <a:off x="5589702" y="5734641"/>
            <a:ext cx="1071918" cy="1071918"/>
          </a:xfrm>
          <a:custGeom>
            <a:avLst/>
            <a:gdLst/>
            <a:ahLst/>
            <a:cxnLst/>
            <a:rect l="l" t="t" r="r" b="b"/>
            <a:pathLst>
              <a:path w="1071918" h="1071918">
                <a:moveTo>
                  <a:pt x="0" y="0"/>
                </a:moveTo>
                <a:lnTo>
                  <a:pt x="1071919" y="0"/>
                </a:lnTo>
                <a:lnTo>
                  <a:pt x="1071919" y="1071918"/>
                </a:lnTo>
                <a:lnTo>
                  <a:pt x="0" y="10719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TextBox 68">
            <a:extLst>
              <a:ext uri="{FF2B5EF4-FFF2-40B4-BE49-F238E27FC236}">
                <a16:creationId xmlns:a16="http://schemas.microsoft.com/office/drawing/2014/main" id="{14C2A1D2-9FC9-EE84-3112-67EAF178B1AE}"/>
              </a:ext>
            </a:extLst>
          </p:cNvPr>
          <p:cNvSpPr txBox="1"/>
          <p:nvPr/>
        </p:nvSpPr>
        <p:spPr>
          <a:xfrm>
            <a:off x="1085419" y="446516"/>
            <a:ext cx="16200000" cy="89255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200" b="1" i="0" u="none" strike="noStrike" kern="0" cap="none" spc="0" normalizeH="0" baseline="0" noProof="0" dirty="0">
                <a:ln>
                  <a:noFill/>
                </a:ln>
                <a:solidFill>
                  <a:srgbClr val="002B11"/>
                </a:solidFill>
                <a:effectLst/>
                <a:uLnTx/>
                <a:uFillTx/>
                <a:latin typeface="Poppins Black"/>
                <a:cs typeface="Arial"/>
                <a:sym typeface="Arial"/>
              </a:rPr>
              <a:t>FS Status of My Review - Examples</a:t>
            </a:r>
          </a:p>
        </p:txBody>
      </p:sp>
      <p:sp>
        <p:nvSpPr>
          <p:cNvPr id="71" name="TextBox 70">
            <a:extLst>
              <a:ext uri="{FF2B5EF4-FFF2-40B4-BE49-F238E27FC236}">
                <a16:creationId xmlns:a16="http://schemas.microsoft.com/office/drawing/2014/main" id="{3A2AE4FC-7B40-3DF2-406D-E79E3B50EAE2}"/>
              </a:ext>
            </a:extLst>
          </p:cNvPr>
          <p:cNvSpPr txBox="1"/>
          <p:nvPr/>
        </p:nvSpPr>
        <p:spPr>
          <a:xfrm>
            <a:off x="2544000" y="2476500"/>
            <a:ext cx="4956727" cy="2075696"/>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 traveler asks why their review of a local cafe posted this morning is still showing as "Pending Moderation." </a:t>
            </a:r>
          </a:p>
        </p:txBody>
      </p:sp>
      <p:sp>
        <p:nvSpPr>
          <p:cNvPr id="72" name="TextBox 71">
            <a:extLst>
              <a:ext uri="{FF2B5EF4-FFF2-40B4-BE49-F238E27FC236}">
                <a16:creationId xmlns:a16="http://schemas.microsoft.com/office/drawing/2014/main" id="{49FD7C45-75F3-9EB5-CCD7-986B6FD764C2}"/>
              </a:ext>
            </a:extLst>
          </p:cNvPr>
          <p:cNvSpPr txBox="1"/>
          <p:nvPr/>
        </p:nvSpPr>
        <p:spPr>
          <a:xfrm>
            <a:off x="9978360" y="2517545"/>
            <a:ext cx="4956727" cy="2075696"/>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 high-tier community member wonders why all five reviews from their recent trip to Rome are blocked by the automated filter.</a:t>
            </a:r>
          </a:p>
        </p:txBody>
      </p:sp>
      <p:sp>
        <p:nvSpPr>
          <p:cNvPr id="73" name="TextBox 72">
            <a:extLst>
              <a:ext uri="{FF2B5EF4-FFF2-40B4-BE49-F238E27FC236}">
                <a16:creationId xmlns:a16="http://schemas.microsoft.com/office/drawing/2014/main" id="{456D310B-D4A8-1C68-1509-8BA9395A2ECC}"/>
              </a:ext>
            </a:extLst>
          </p:cNvPr>
          <p:cNvSpPr txBox="1"/>
          <p:nvPr/>
        </p:nvSpPr>
        <p:spPr>
          <a:xfrm>
            <a:off x="6512007" y="6344024"/>
            <a:ext cx="4956727" cy="2583528"/>
          </a:xfrm>
          <a:prstGeom prst="rect">
            <a:avLst/>
          </a:prstGeom>
          <a:noFill/>
        </p:spPr>
        <p:txBody>
          <a:bodyPr wrap="square" anchor="t">
            <a:spAutoFit/>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An active destination reviewer submits an urgent ticket because their entire review history has vanished, and new posts are instantly rejected. </a:t>
            </a:r>
          </a:p>
        </p:txBody>
      </p:sp>
      <p:sp>
        <p:nvSpPr>
          <p:cNvPr id="76" name="TextBox 75">
            <a:extLst>
              <a:ext uri="{FF2B5EF4-FFF2-40B4-BE49-F238E27FC236}">
                <a16:creationId xmlns:a16="http://schemas.microsoft.com/office/drawing/2014/main" id="{7EEF3A9F-75AB-FF90-2459-86D366D5399E}"/>
              </a:ext>
            </a:extLst>
          </p:cNvPr>
          <p:cNvSpPr txBox="1"/>
          <p:nvPr/>
        </p:nvSpPr>
        <p:spPr>
          <a:xfrm>
            <a:off x="533400" y="9867900"/>
            <a:ext cx="7315200" cy="246221"/>
          </a:xfrm>
          <a:prstGeom prst="rect">
            <a:avLst/>
          </a:prstGeom>
          <a:noFill/>
        </p:spPr>
        <p:txBody>
          <a:bodyPr wrap="square" lIns="0" tIns="0" rIns="0" bIns="0" anchor="t">
            <a:spAutoFit/>
          </a:bodyPr>
          <a:lstStyle/>
          <a:p>
            <a:pPr defTabSz="457200">
              <a:defRPr/>
            </a:pPr>
            <a:r>
              <a:rPr sz="1600" spc="50" dirty="0">
                <a:solidFill>
                  <a:srgbClr val="8A8272"/>
                </a:solidFill>
                <a:latin typeface="Poppins" panose="00000500000000000000" pitchFamily="2" charset="0"/>
                <a:cs typeface="Poppins" panose="00000500000000000000" pitchFamily="2" charset="0"/>
              </a:rPr>
              <a:t>T</a:t>
            </a:r>
            <a:r>
              <a:rPr lang="en-US" sz="1600" spc="50" dirty="0">
                <a:solidFill>
                  <a:srgbClr val="8A8272"/>
                </a:solidFill>
                <a:latin typeface="Poppins" panose="00000500000000000000" pitchFamily="2" charset="0"/>
                <a:cs typeface="Poppins" panose="00000500000000000000" pitchFamily="2" charset="0"/>
              </a:rPr>
              <a:t>ripadvisor</a:t>
            </a:r>
            <a:r>
              <a:rPr sz="1600" spc="50" dirty="0">
                <a:solidFill>
                  <a:srgbClr val="8A8272"/>
                </a:solidFill>
                <a:latin typeface="Poppins" panose="00000500000000000000" pitchFamily="2" charset="0"/>
                <a:cs typeface="Poppins" panose="00000500000000000000" pitchFamily="2" charset="0"/>
              </a:rPr>
              <a:t> / F</a:t>
            </a:r>
            <a:r>
              <a:rPr lang="en-US" sz="1600" spc="50" dirty="0">
                <a:solidFill>
                  <a:srgbClr val="8A8272"/>
                </a:solidFill>
                <a:latin typeface="Poppins" panose="00000500000000000000" pitchFamily="2" charset="0"/>
                <a:cs typeface="Poppins" panose="00000500000000000000" pitchFamily="2" charset="0"/>
              </a:rPr>
              <a:t>raud Support</a:t>
            </a:r>
            <a:r>
              <a:rPr sz="1600" spc="50" dirty="0">
                <a:solidFill>
                  <a:srgbClr val="8A8272"/>
                </a:solidFill>
                <a:latin typeface="Poppins" panose="00000500000000000000" pitchFamily="2" charset="0"/>
                <a:cs typeface="Poppins" panose="00000500000000000000" pitchFamily="2" charset="0"/>
              </a:rPr>
              <a:t> / </a:t>
            </a:r>
            <a:r>
              <a:rPr lang="en-US" sz="1600" spc="50" dirty="0">
                <a:solidFill>
                  <a:srgbClr val="8A8272"/>
                </a:solidFill>
                <a:latin typeface="Poppins" panose="00000500000000000000" pitchFamily="2" charset="0"/>
                <a:cs typeface="Poppins" panose="00000500000000000000" pitchFamily="2" charset="0"/>
              </a:rPr>
              <a:t>Examples</a:t>
            </a:r>
            <a:endParaRPr sz="1600" spc="50" dirty="0">
              <a:solidFill>
                <a:srgbClr val="8A8272"/>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040271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8F3504CB-2E36-910C-5E0A-8D0DE484BD17}"/>
              </a:ext>
            </a:extLst>
          </p:cNvPr>
          <p:cNvSpPr/>
          <p:nvPr/>
        </p:nvSpPr>
        <p:spPr>
          <a:xfrm rot="15210863">
            <a:off x="-5033667" y="2546521"/>
            <a:ext cx="7440314" cy="6183818"/>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pic>
        <p:nvPicPr>
          <p:cNvPr id="3" name="Picture 2">
            <a:extLst>
              <a:ext uri="{FF2B5EF4-FFF2-40B4-BE49-F238E27FC236}">
                <a16:creationId xmlns:a16="http://schemas.microsoft.com/office/drawing/2014/main" id="{6C0CE226-5C55-C714-6746-47CE852C87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4100" y="1193800"/>
            <a:ext cx="13639800" cy="9093200"/>
          </a:xfrm>
          <a:prstGeom prst="rect">
            <a:avLst/>
          </a:prstGeom>
        </p:spPr>
      </p:pic>
      <p:sp>
        <p:nvSpPr>
          <p:cNvPr id="5" name="TextBox 4">
            <a:extLst>
              <a:ext uri="{FF2B5EF4-FFF2-40B4-BE49-F238E27FC236}">
                <a16:creationId xmlns:a16="http://schemas.microsoft.com/office/drawing/2014/main" id="{91F64B34-103A-AEC4-902B-3A9D0D322DEB}"/>
              </a:ext>
            </a:extLst>
          </p:cNvPr>
          <p:cNvSpPr txBox="1"/>
          <p:nvPr/>
        </p:nvSpPr>
        <p:spPr>
          <a:xfrm>
            <a:off x="1044000" y="571500"/>
            <a:ext cx="16200000" cy="89255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200" b="1" i="0" u="none" strike="noStrike" kern="0" cap="none" spc="0" normalizeH="0" baseline="0" noProof="0" dirty="0">
                <a:ln>
                  <a:noFill/>
                </a:ln>
                <a:solidFill>
                  <a:srgbClr val="002B11"/>
                </a:solidFill>
                <a:effectLst/>
                <a:uLnTx/>
                <a:uFillTx/>
                <a:latin typeface="Poppins Black"/>
                <a:cs typeface="Arial"/>
                <a:sym typeface="Arial"/>
              </a:rPr>
              <a:t>Refer to the ‘</a:t>
            </a:r>
            <a:r>
              <a:rPr kumimoji="0" lang="en-US" sz="5200" b="1" i="0" u="none" strike="noStrike" kern="0" cap="none" spc="0" normalizeH="0" baseline="0" noProof="0" dirty="0">
                <a:ln>
                  <a:noFill/>
                </a:ln>
                <a:effectLst/>
                <a:uLnTx/>
                <a:uFillTx/>
                <a:latin typeface="Poppins Black"/>
                <a:cs typeface="Arial"/>
                <a:sym typeface="Arial"/>
                <a:hlinkClick r:id="rId4">
                  <a:extLst>
                    <a:ext uri="{A12FA001-AC4F-418D-AE19-62706E023703}">
                      <ahyp:hlinkClr xmlns:ahyp="http://schemas.microsoft.com/office/drawing/2018/hyperlinkcolor" val="tx"/>
                    </a:ext>
                  </a:extLst>
                </a:hlinkClick>
              </a:rPr>
              <a:t>Glossary</a:t>
            </a:r>
            <a:r>
              <a:rPr kumimoji="0" lang="en-US" sz="5200" b="1" i="0" u="none" strike="noStrike" kern="0" cap="none" spc="0" normalizeH="0" baseline="0" noProof="0" dirty="0">
                <a:ln>
                  <a:noFill/>
                </a:ln>
                <a:solidFill>
                  <a:srgbClr val="002B11"/>
                </a:solidFill>
                <a:effectLst/>
                <a:uLnTx/>
                <a:uFillTx/>
                <a:latin typeface="Poppins Black"/>
                <a:cs typeface="Arial"/>
                <a:sym typeface="Arial"/>
              </a:rPr>
              <a:t>’ for Abbreviations</a:t>
            </a:r>
          </a:p>
        </p:txBody>
      </p:sp>
      <p:sp>
        <p:nvSpPr>
          <p:cNvPr id="7" name="TextBox 6">
            <a:extLst>
              <a:ext uri="{FF2B5EF4-FFF2-40B4-BE49-F238E27FC236}">
                <a16:creationId xmlns:a16="http://schemas.microsoft.com/office/drawing/2014/main" id="{90E2930F-A0A7-F08C-83B2-0CD00DB74B91}"/>
              </a:ext>
            </a:extLst>
          </p:cNvPr>
          <p:cNvSpPr txBox="1"/>
          <p:nvPr/>
        </p:nvSpPr>
        <p:spPr>
          <a:xfrm>
            <a:off x="533400" y="9867900"/>
            <a:ext cx="7315200" cy="246221"/>
          </a:xfrm>
          <a:prstGeom prst="rect">
            <a:avLst/>
          </a:prstGeom>
          <a:noFill/>
        </p:spPr>
        <p:txBody>
          <a:bodyPr wrap="square" lIns="0" tIns="0" rIns="0" bIns="0" anchor="t">
            <a:spAutoFit/>
          </a:bodyPr>
          <a:lstStyle/>
          <a:p>
            <a:pPr defTabSz="457200">
              <a:defRPr/>
            </a:pPr>
            <a:r>
              <a:rPr sz="1600" spc="50" dirty="0">
                <a:solidFill>
                  <a:srgbClr val="8A8272"/>
                </a:solidFill>
                <a:latin typeface="Poppins" panose="00000500000000000000" pitchFamily="2" charset="0"/>
                <a:cs typeface="Poppins" panose="00000500000000000000" pitchFamily="2" charset="0"/>
              </a:rPr>
              <a:t>T</a:t>
            </a:r>
            <a:r>
              <a:rPr lang="en-US" sz="1600" spc="50" dirty="0">
                <a:solidFill>
                  <a:srgbClr val="8A8272"/>
                </a:solidFill>
                <a:latin typeface="Poppins" panose="00000500000000000000" pitchFamily="2" charset="0"/>
                <a:cs typeface="Poppins" panose="00000500000000000000" pitchFamily="2" charset="0"/>
              </a:rPr>
              <a:t>ripadvisor</a:t>
            </a:r>
            <a:r>
              <a:rPr sz="1600" spc="50" dirty="0">
                <a:solidFill>
                  <a:srgbClr val="8A8272"/>
                </a:solidFill>
                <a:latin typeface="Poppins" panose="00000500000000000000" pitchFamily="2" charset="0"/>
                <a:cs typeface="Poppins" panose="00000500000000000000" pitchFamily="2" charset="0"/>
              </a:rPr>
              <a:t> / F</a:t>
            </a:r>
            <a:r>
              <a:rPr lang="en-US" sz="1600" spc="50" dirty="0">
                <a:solidFill>
                  <a:srgbClr val="8A8272"/>
                </a:solidFill>
                <a:latin typeface="Poppins" panose="00000500000000000000" pitchFamily="2" charset="0"/>
                <a:cs typeface="Poppins" panose="00000500000000000000" pitchFamily="2" charset="0"/>
              </a:rPr>
              <a:t>raud Support</a:t>
            </a:r>
            <a:r>
              <a:rPr sz="1600" spc="50" dirty="0">
                <a:solidFill>
                  <a:srgbClr val="8A8272"/>
                </a:solidFill>
                <a:latin typeface="Poppins" panose="00000500000000000000" pitchFamily="2" charset="0"/>
                <a:cs typeface="Poppins" panose="00000500000000000000" pitchFamily="2" charset="0"/>
              </a:rPr>
              <a:t> /</a:t>
            </a:r>
            <a:r>
              <a:rPr lang="en-US" sz="1600" spc="50" dirty="0">
                <a:solidFill>
                  <a:srgbClr val="8A8272"/>
                </a:solidFill>
                <a:latin typeface="Poppins" panose="00000500000000000000" pitchFamily="2" charset="0"/>
                <a:cs typeface="Poppins" panose="00000500000000000000" pitchFamily="2" charset="0"/>
              </a:rPr>
              <a:t>Glossary</a:t>
            </a:r>
            <a:endParaRPr sz="1600" spc="50" dirty="0">
              <a:solidFill>
                <a:srgbClr val="8A8272"/>
              </a:solidFill>
              <a:latin typeface="Poppins" panose="00000500000000000000" pitchFamily="2" charset="0"/>
              <a:cs typeface="Poppins" panose="00000500000000000000" pitchFamily="2" charset="0"/>
            </a:endParaRPr>
          </a:p>
        </p:txBody>
      </p:sp>
      <p:sp>
        <p:nvSpPr>
          <p:cNvPr id="10" name="Freeform 8">
            <a:extLst>
              <a:ext uri="{FF2B5EF4-FFF2-40B4-BE49-F238E27FC236}">
                <a16:creationId xmlns:a16="http://schemas.microsoft.com/office/drawing/2014/main" id="{A8C37536-0A2B-D92C-13FD-55F599928B0D}"/>
              </a:ext>
            </a:extLst>
          </p:cNvPr>
          <p:cNvSpPr/>
          <p:nvPr/>
        </p:nvSpPr>
        <p:spPr>
          <a:xfrm rot="2930891">
            <a:off x="15915026" y="1896303"/>
            <a:ext cx="7440314" cy="6183818"/>
          </a:xfrm>
          <a:custGeom>
            <a:avLst/>
            <a:gdLst/>
            <a:ahLst/>
            <a:cxnLst/>
            <a:rect l="l" t="t" r="r" b="b"/>
            <a:pathLst>
              <a:path w="4597542" h="4114800">
                <a:moveTo>
                  <a:pt x="0" y="0"/>
                </a:moveTo>
                <a:lnTo>
                  <a:pt x="4597542" y="0"/>
                </a:lnTo>
                <a:lnTo>
                  <a:pt x="4597542"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extLst>
      <p:ext uri="{BB962C8B-B14F-4D97-AF65-F5344CB8AC3E}">
        <p14:creationId xmlns:p14="http://schemas.microsoft.com/office/powerpoint/2010/main" val="565347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A2E12-248F-380C-A605-1B057BF3F0C2}"/>
            </a:ext>
          </a:extLst>
        </p:cNvPr>
        <p:cNvGrpSpPr/>
        <p:nvPr/>
      </p:nvGrpSpPr>
      <p:grpSpPr>
        <a:xfrm>
          <a:off x="0" y="0"/>
          <a:ext cx="0" cy="0"/>
          <a:chOff x="0" y="0"/>
          <a:chExt cx="0" cy="0"/>
        </a:xfrm>
      </p:grpSpPr>
      <p:sp>
        <p:nvSpPr>
          <p:cNvPr id="54" name="Freeform 3">
            <a:extLst>
              <a:ext uri="{FF2B5EF4-FFF2-40B4-BE49-F238E27FC236}">
                <a16:creationId xmlns:a16="http://schemas.microsoft.com/office/drawing/2014/main" id="{59D91F4C-5EE1-F8DE-5E74-09FD2EB1ED41}"/>
              </a:ext>
            </a:extLst>
          </p:cNvPr>
          <p:cNvSpPr/>
          <p:nvPr/>
        </p:nvSpPr>
        <p:spPr>
          <a:xfrm>
            <a:off x="9038639" y="-571500"/>
            <a:ext cx="17789434" cy="15765053"/>
          </a:xfrm>
          <a:custGeom>
            <a:avLst/>
            <a:gdLst/>
            <a:ahLst/>
            <a:cxnLst/>
            <a:rect l="l" t="t" r="r" b="b"/>
            <a:pathLst>
              <a:path w="12070084" h="12130738">
                <a:moveTo>
                  <a:pt x="0" y="0"/>
                </a:moveTo>
                <a:lnTo>
                  <a:pt x="12070084" y="0"/>
                </a:lnTo>
                <a:lnTo>
                  <a:pt x="12070084" y="12130738"/>
                </a:lnTo>
                <a:lnTo>
                  <a:pt x="0" y="1213073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2">
            <a:extLst>
              <a:ext uri="{FF2B5EF4-FFF2-40B4-BE49-F238E27FC236}">
                <a16:creationId xmlns:a16="http://schemas.microsoft.com/office/drawing/2014/main" id="{278FFBE1-F582-4B5B-0EBA-814E8424FE8A}"/>
              </a:ext>
            </a:extLst>
          </p:cNvPr>
          <p:cNvSpPr txBox="1"/>
          <p:nvPr/>
        </p:nvSpPr>
        <p:spPr>
          <a:xfrm>
            <a:off x="1000000" y="1300000"/>
            <a:ext cx="16200000" cy="89255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200" b="1" i="0" u="none" strike="noStrike" kern="0" cap="none" spc="0" normalizeH="0" baseline="0" noProof="0" dirty="0">
                <a:ln>
                  <a:noFill/>
                </a:ln>
                <a:solidFill>
                  <a:srgbClr val="002B11"/>
                </a:solidFill>
                <a:effectLst/>
                <a:uLnTx/>
                <a:uFillTx/>
                <a:latin typeface="Poppins Black"/>
                <a:cs typeface="Arial"/>
                <a:sym typeface="Arial"/>
              </a:rPr>
              <a:t>Case Types Handled: FPS</a:t>
            </a:r>
            <a:endParaRPr kumimoji="0" sz="5200" b="1" i="0" u="none" strike="noStrike" kern="0" cap="none" spc="0" normalizeH="0" baseline="0" noProof="0" dirty="0">
              <a:ln>
                <a:noFill/>
              </a:ln>
              <a:solidFill>
                <a:srgbClr val="002B11"/>
              </a:solidFill>
              <a:effectLst/>
              <a:uLnTx/>
              <a:uFillTx/>
              <a:latin typeface="Poppins Black"/>
              <a:cs typeface="Arial"/>
              <a:sym typeface="Arial"/>
            </a:endParaRPr>
          </a:p>
        </p:txBody>
      </p:sp>
      <p:grpSp>
        <p:nvGrpSpPr>
          <p:cNvPr id="4" name="Group 3">
            <a:extLst>
              <a:ext uri="{FF2B5EF4-FFF2-40B4-BE49-F238E27FC236}">
                <a16:creationId xmlns:a16="http://schemas.microsoft.com/office/drawing/2014/main" id="{1EFCBEE7-DD69-E591-1774-78E0894BD509}"/>
              </a:ext>
            </a:extLst>
          </p:cNvPr>
          <p:cNvGrpSpPr/>
          <p:nvPr/>
        </p:nvGrpSpPr>
        <p:grpSpPr>
          <a:xfrm>
            <a:off x="1142955" y="2695413"/>
            <a:ext cx="5319600" cy="5969924"/>
            <a:chOff x="984760" y="2171700"/>
            <a:chExt cx="3928437" cy="4304269"/>
          </a:xfrm>
          <a:effectLst>
            <a:outerShdw blurRad="50800" dist="38100" dir="5400000" algn="t" rotWithShape="0">
              <a:prstClr val="black">
                <a:alpha val="40000"/>
              </a:prstClr>
            </a:outerShdw>
          </a:effectLst>
        </p:grpSpPr>
        <p:grpSp>
          <p:nvGrpSpPr>
            <p:cNvPr id="5" name="Group 3">
              <a:extLst>
                <a:ext uri="{FF2B5EF4-FFF2-40B4-BE49-F238E27FC236}">
                  <a16:creationId xmlns:a16="http://schemas.microsoft.com/office/drawing/2014/main" id="{728AEA41-E223-8C3A-D243-FC5198BD41BC}"/>
                </a:ext>
              </a:extLst>
            </p:cNvPr>
            <p:cNvGrpSpPr/>
            <p:nvPr/>
          </p:nvGrpSpPr>
          <p:grpSpPr>
            <a:xfrm>
              <a:off x="984760" y="2171700"/>
              <a:ext cx="3928437" cy="4304269"/>
              <a:chOff x="0" y="0"/>
              <a:chExt cx="1528996" cy="1299371"/>
            </a:xfrm>
          </p:grpSpPr>
          <p:sp>
            <p:nvSpPr>
              <p:cNvPr id="11" name="Freeform 4">
                <a:extLst>
                  <a:ext uri="{FF2B5EF4-FFF2-40B4-BE49-F238E27FC236}">
                    <a16:creationId xmlns:a16="http://schemas.microsoft.com/office/drawing/2014/main" id="{2D4B0CF3-C96C-2C0A-D0A8-228BD2FAC4E7}"/>
                  </a:ext>
                </a:extLst>
              </p:cNvPr>
              <p:cNvSpPr/>
              <p:nvPr/>
            </p:nvSpPr>
            <p:spPr>
              <a:xfrm>
                <a:off x="0" y="0"/>
                <a:ext cx="1528996" cy="1299371"/>
              </a:xfrm>
              <a:custGeom>
                <a:avLst/>
                <a:gdLst/>
                <a:ahLst/>
                <a:cxnLst/>
                <a:rect l="l" t="t" r="r" b="b"/>
                <a:pathLst>
                  <a:path w="1528996" h="1299371">
                    <a:moveTo>
                      <a:pt x="77080" y="0"/>
                    </a:moveTo>
                    <a:lnTo>
                      <a:pt x="1451916" y="0"/>
                    </a:lnTo>
                    <a:cubicBezTo>
                      <a:pt x="1472359" y="0"/>
                      <a:pt x="1491965" y="8121"/>
                      <a:pt x="1506420" y="22576"/>
                    </a:cubicBezTo>
                    <a:cubicBezTo>
                      <a:pt x="1520875" y="37032"/>
                      <a:pt x="1528996" y="56637"/>
                      <a:pt x="1528996" y="77080"/>
                    </a:cubicBezTo>
                    <a:lnTo>
                      <a:pt x="1528996" y="1222291"/>
                    </a:lnTo>
                    <a:cubicBezTo>
                      <a:pt x="1528996" y="1242734"/>
                      <a:pt x="1520875" y="1262340"/>
                      <a:pt x="1506420" y="1276795"/>
                    </a:cubicBezTo>
                    <a:cubicBezTo>
                      <a:pt x="1491965" y="1291250"/>
                      <a:pt x="1472359" y="1299371"/>
                      <a:pt x="1451916" y="1299371"/>
                    </a:cubicBezTo>
                    <a:lnTo>
                      <a:pt x="77080" y="1299371"/>
                    </a:lnTo>
                    <a:cubicBezTo>
                      <a:pt x="56637" y="1299371"/>
                      <a:pt x="37032" y="1291250"/>
                      <a:pt x="22576" y="1276795"/>
                    </a:cubicBezTo>
                    <a:cubicBezTo>
                      <a:pt x="8121" y="1262340"/>
                      <a:pt x="0" y="1242734"/>
                      <a:pt x="0" y="1222291"/>
                    </a:cubicBezTo>
                    <a:lnTo>
                      <a:pt x="0" y="77080"/>
                    </a:lnTo>
                    <a:cubicBezTo>
                      <a:pt x="0" y="56637"/>
                      <a:pt x="8121" y="37032"/>
                      <a:pt x="22576" y="22576"/>
                    </a:cubicBezTo>
                    <a:cubicBezTo>
                      <a:pt x="37032" y="8121"/>
                      <a:pt x="56637" y="0"/>
                      <a:pt x="77080" y="0"/>
                    </a:cubicBezTo>
                    <a:close/>
                  </a:path>
                </a:pathLst>
              </a:custGeom>
              <a:solidFill>
                <a:srgbClr val="00EB5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extBox 5">
                <a:extLst>
                  <a:ext uri="{FF2B5EF4-FFF2-40B4-BE49-F238E27FC236}">
                    <a16:creationId xmlns:a16="http://schemas.microsoft.com/office/drawing/2014/main" id="{8D419965-CD3F-42EE-84AB-357664BB5D25}"/>
                  </a:ext>
                </a:extLst>
              </p:cNvPr>
              <p:cNvSpPr txBox="1"/>
              <p:nvPr/>
            </p:nvSpPr>
            <p:spPr>
              <a:xfrm>
                <a:off x="0" y="-47625"/>
                <a:ext cx="1528996" cy="1346996"/>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6">
              <a:extLst>
                <a:ext uri="{FF2B5EF4-FFF2-40B4-BE49-F238E27FC236}">
                  <a16:creationId xmlns:a16="http://schemas.microsoft.com/office/drawing/2014/main" id="{4B610FF2-D8C7-18CE-6D64-E83E19F9312A}"/>
                </a:ext>
              </a:extLst>
            </p:cNvPr>
            <p:cNvGrpSpPr/>
            <p:nvPr/>
          </p:nvGrpSpPr>
          <p:grpSpPr>
            <a:xfrm>
              <a:off x="1147517" y="2354486"/>
              <a:ext cx="3602924" cy="3938696"/>
              <a:chOff x="0" y="0"/>
              <a:chExt cx="1402303" cy="1189012"/>
            </a:xfrm>
          </p:grpSpPr>
          <p:sp>
            <p:nvSpPr>
              <p:cNvPr id="9" name="Freeform 7">
                <a:extLst>
                  <a:ext uri="{FF2B5EF4-FFF2-40B4-BE49-F238E27FC236}">
                    <a16:creationId xmlns:a16="http://schemas.microsoft.com/office/drawing/2014/main" id="{9E20FB0F-A4B2-4E0C-0A89-3C8B5AE501B1}"/>
                  </a:ext>
                </a:extLst>
              </p:cNvPr>
              <p:cNvSpPr/>
              <p:nvPr/>
            </p:nvSpPr>
            <p:spPr>
              <a:xfrm>
                <a:off x="0" y="0"/>
                <a:ext cx="1402303" cy="1189012"/>
              </a:xfrm>
              <a:custGeom>
                <a:avLst/>
                <a:gdLst/>
                <a:ahLst/>
                <a:cxnLst/>
                <a:rect l="l" t="t" r="r" b="b"/>
                <a:pathLst>
                  <a:path w="1402303" h="1189012">
                    <a:moveTo>
                      <a:pt x="84044" y="0"/>
                    </a:moveTo>
                    <a:lnTo>
                      <a:pt x="1318259" y="0"/>
                    </a:lnTo>
                    <a:cubicBezTo>
                      <a:pt x="1340548" y="0"/>
                      <a:pt x="1361925" y="8855"/>
                      <a:pt x="1377687" y="24616"/>
                    </a:cubicBezTo>
                    <a:cubicBezTo>
                      <a:pt x="1393448" y="40377"/>
                      <a:pt x="1402303" y="61754"/>
                      <a:pt x="1402303" y="84044"/>
                    </a:cubicBezTo>
                    <a:lnTo>
                      <a:pt x="1402303" y="1104968"/>
                    </a:lnTo>
                    <a:cubicBezTo>
                      <a:pt x="1402303" y="1151384"/>
                      <a:pt x="1364675" y="1189012"/>
                      <a:pt x="1318259" y="1189012"/>
                    </a:cubicBezTo>
                    <a:lnTo>
                      <a:pt x="84044" y="1189012"/>
                    </a:lnTo>
                    <a:cubicBezTo>
                      <a:pt x="37628" y="1189012"/>
                      <a:pt x="0" y="1151384"/>
                      <a:pt x="0" y="1104968"/>
                    </a:cubicBezTo>
                    <a:lnTo>
                      <a:pt x="0" y="84044"/>
                    </a:lnTo>
                    <a:cubicBezTo>
                      <a:pt x="0" y="37628"/>
                      <a:pt x="37628" y="0"/>
                      <a:pt x="84044" y="0"/>
                    </a:cubicBezTo>
                    <a:close/>
                  </a:path>
                </a:pathLst>
              </a:custGeom>
              <a:solidFill>
                <a:srgbClr val="FFFF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8">
                <a:extLst>
                  <a:ext uri="{FF2B5EF4-FFF2-40B4-BE49-F238E27FC236}">
                    <a16:creationId xmlns:a16="http://schemas.microsoft.com/office/drawing/2014/main" id="{853F484D-B7F0-42E8-E1EE-C1FF760EFA5D}"/>
                  </a:ext>
                </a:extLst>
              </p:cNvPr>
              <p:cNvSpPr txBox="1"/>
              <p:nvPr/>
            </p:nvSpPr>
            <p:spPr>
              <a:xfrm>
                <a:off x="0" y="-47625"/>
                <a:ext cx="1402303" cy="1236637"/>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grpSp>
      </p:grpSp>
      <p:sp>
        <p:nvSpPr>
          <p:cNvPr id="16" name="TextBox 15">
            <a:extLst>
              <a:ext uri="{FF2B5EF4-FFF2-40B4-BE49-F238E27FC236}">
                <a16:creationId xmlns:a16="http://schemas.microsoft.com/office/drawing/2014/main" id="{C71C1229-632E-4756-32D8-6509DD7AFBF5}"/>
              </a:ext>
            </a:extLst>
          </p:cNvPr>
          <p:cNvSpPr txBox="1"/>
          <p:nvPr/>
        </p:nvSpPr>
        <p:spPr>
          <a:xfrm>
            <a:off x="1763527" y="4247089"/>
            <a:ext cx="4478636" cy="1107996"/>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Conversation stemming from Fraud letters sent by Tripadvisor to owners.</a:t>
            </a:r>
            <a:endParaRPr kumimoji="0" sz="2200" b="0"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grpSp>
        <p:nvGrpSpPr>
          <p:cNvPr id="17" name="Group 16">
            <a:extLst>
              <a:ext uri="{FF2B5EF4-FFF2-40B4-BE49-F238E27FC236}">
                <a16:creationId xmlns:a16="http://schemas.microsoft.com/office/drawing/2014/main" id="{85D22E99-EB66-64D3-5117-AE2697F847F8}"/>
              </a:ext>
            </a:extLst>
          </p:cNvPr>
          <p:cNvGrpSpPr/>
          <p:nvPr/>
        </p:nvGrpSpPr>
        <p:grpSpPr>
          <a:xfrm>
            <a:off x="6795699" y="2730121"/>
            <a:ext cx="5319600" cy="5969924"/>
            <a:chOff x="984760" y="2171700"/>
            <a:chExt cx="3928437" cy="4304269"/>
          </a:xfrm>
          <a:effectLst>
            <a:outerShdw blurRad="50800" dist="38100" dir="5400000" algn="t" rotWithShape="0">
              <a:prstClr val="black">
                <a:alpha val="40000"/>
              </a:prstClr>
            </a:outerShdw>
          </a:effectLst>
        </p:grpSpPr>
        <p:grpSp>
          <p:nvGrpSpPr>
            <p:cNvPr id="18" name="Group 3">
              <a:extLst>
                <a:ext uri="{FF2B5EF4-FFF2-40B4-BE49-F238E27FC236}">
                  <a16:creationId xmlns:a16="http://schemas.microsoft.com/office/drawing/2014/main" id="{05D37F4E-B6CC-F86B-B203-BA45EFCD85D2}"/>
                </a:ext>
              </a:extLst>
            </p:cNvPr>
            <p:cNvGrpSpPr/>
            <p:nvPr/>
          </p:nvGrpSpPr>
          <p:grpSpPr>
            <a:xfrm>
              <a:off x="984760" y="2171700"/>
              <a:ext cx="3928437" cy="4304269"/>
              <a:chOff x="0" y="0"/>
              <a:chExt cx="1528996" cy="1299371"/>
            </a:xfrm>
          </p:grpSpPr>
          <p:sp>
            <p:nvSpPr>
              <p:cNvPr id="22" name="Freeform 4">
                <a:extLst>
                  <a:ext uri="{FF2B5EF4-FFF2-40B4-BE49-F238E27FC236}">
                    <a16:creationId xmlns:a16="http://schemas.microsoft.com/office/drawing/2014/main" id="{8C76574C-28EC-E6EA-4F28-42156112F49B}"/>
                  </a:ext>
                </a:extLst>
              </p:cNvPr>
              <p:cNvSpPr/>
              <p:nvPr/>
            </p:nvSpPr>
            <p:spPr>
              <a:xfrm>
                <a:off x="0" y="0"/>
                <a:ext cx="1528996" cy="1299371"/>
              </a:xfrm>
              <a:custGeom>
                <a:avLst/>
                <a:gdLst/>
                <a:ahLst/>
                <a:cxnLst/>
                <a:rect l="l" t="t" r="r" b="b"/>
                <a:pathLst>
                  <a:path w="1528996" h="1299371">
                    <a:moveTo>
                      <a:pt x="77080" y="0"/>
                    </a:moveTo>
                    <a:lnTo>
                      <a:pt x="1451916" y="0"/>
                    </a:lnTo>
                    <a:cubicBezTo>
                      <a:pt x="1472359" y="0"/>
                      <a:pt x="1491965" y="8121"/>
                      <a:pt x="1506420" y="22576"/>
                    </a:cubicBezTo>
                    <a:cubicBezTo>
                      <a:pt x="1520875" y="37032"/>
                      <a:pt x="1528996" y="56637"/>
                      <a:pt x="1528996" y="77080"/>
                    </a:cubicBezTo>
                    <a:lnTo>
                      <a:pt x="1528996" y="1222291"/>
                    </a:lnTo>
                    <a:cubicBezTo>
                      <a:pt x="1528996" y="1242734"/>
                      <a:pt x="1520875" y="1262340"/>
                      <a:pt x="1506420" y="1276795"/>
                    </a:cubicBezTo>
                    <a:cubicBezTo>
                      <a:pt x="1491965" y="1291250"/>
                      <a:pt x="1472359" y="1299371"/>
                      <a:pt x="1451916" y="1299371"/>
                    </a:cubicBezTo>
                    <a:lnTo>
                      <a:pt x="77080" y="1299371"/>
                    </a:lnTo>
                    <a:cubicBezTo>
                      <a:pt x="56637" y="1299371"/>
                      <a:pt x="37032" y="1291250"/>
                      <a:pt x="22576" y="1276795"/>
                    </a:cubicBezTo>
                    <a:cubicBezTo>
                      <a:pt x="8121" y="1262340"/>
                      <a:pt x="0" y="1242734"/>
                      <a:pt x="0" y="1222291"/>
                    </a:cubicBezTo>
                    <a:lnTo>
                      <a:pt x="0" y="77080"/>
                    </a:lnTo>
                    <a:cubicBezTo>
                      <a:pt x="0" y="56637"/>
                      <a:pt x="8121" y="37032"/>
                      <a:pt x="22576" y="22576"/>
                    </a:cubicBezTo>
                    <a:cubicBezTo>
                      <a:pt x="37032" y="8121"/>
                      <a:pt x="56637" y="0"/>
                      <a:pt x="77080" y="0"/>
                    </a:cubicBezTo>
                    <a:close/>
                  </a:path>
                </a:pathLst>
              </a:custGeom>
              <a:solidFill>
                <a:srgbClr val="D95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 name="TextBox 5">
                <a:extLst>
                  <a:ext uri="{FF2B5EF4-FFF2-40B4-BE49-F238E27FC236}">
                    <a16:creationId xmlns:a16="http://schemas.microsoft.com/office/drawing/2014/main" id="{CBC0B7A5-12A7-1584-21FB-A5D12B63DF8B}"/>
                  </a:ext>
                </a:extLst>
              </p:cNvPr>
              <p:cNvSpPr txBox="1"/>
              <p:nvPr/>
            </p:nvSpPr>
            <p:spPr>
              <a:xfrm>
                <a:off x="0" y="-47625"/>
                <a:ext cx="1528996" cy="1346996"/>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6">
              <a:extLst>
                <a:ext uri="{FF2B5EF4-FFF2-40B4-BE49-F238E27FC236}">
                  <a16:creationId xmlns:a16="http://schemas.microsoft.com/office/drawing/2014/main" id="{A410B42B-FC9A-9739-8872-2459F434DF39}"/>
                </a:ext>
              </a:extLst>
            </p:cNvPr>
            <p:cNvGrpSpPr/>
            <p:nvPr/>
          </p:nvGrpSpPr>
          <p:grpSpPr>
            <a:xfrm>
              <a:off x="1147517" y="2354486"/>
              <a:ext cx="3602924" cy="3938696"/>
              <a:chOff x="0" y="0"/>
              <a:chExt cx="1402303" cy="1189012"/>
            </a:xfrm>
          </p:grpSpPr>
          <p:sp>
            <p:nvSpPr>
              <p:cNvPr id="20" name="Freeform 7">
                <a:extLst>
                  <a:ext uri="{FF2B5EF4-FFF2-40B4-BE49-F238E27FC236}">
                    <a16:creationId xmlns:a16="http://schemas.microsoft.com/office/drawing/2014/main" id="{0401EB6C-E99A-3C8D-B181-5F9E169F41A8}"/>
                  </a:ext>
                </a:extLst>
              </p:cNvPr>
              <p:cNvSpPr/>
              <p:nvPr/>
            </p:nvSpPr>
            <p:spPr>
              <a:xfrm>
                <a:off x="0" y="0"/>
                <a:ext cx="1402303" cy="1189012"/>
              </a:xfrm>
              <a:custGeom>
                <a:avLst/>
                <a:gdLst/>
                <a:ahLst/>
                <a:cxnLst/>
                <a:rect l="l" t="t" r="r" b="b"/>
                <a:pathLst>
                  <a:path w="1402303" h="1189012">
                    <a:moveTo>
                      <a:pt x="84044" y="0"/>
                    </a:moveTo>
                    <a:lnTo>
                      <a:pt x="1318259" y="0"/>
                    </a:lnTo>
                    <a:cubicBezTo>
                      <a:pt x="1340548" y="0"/>
                      <a:pt x="1361925" y="8855"/>
                      <a:pt x="1377687" y="24616"/>
                    </a:cubicBezTo>
                    <a:cubicBezTo>
                      <a:pt x="1393448" y="40377"/>
                      <a:pt x="1402303" y="61754"/>
                      <a:pt x="1402303" y="84044"/>
                    </a:cubicBezTo>
                    <a:lnTo>
                      <a:pt x="1402303" y="1104968"/>
                    </a:lnTo>
                    <a:cubicBezTo>
                      <a:pt x="1402303" y="1151384"/>
                      <a:pt x="1364675" y="1189012"/>
                      <a:pt x="1318259" y="1189012"/>
                    </a:cubicBezTo>
                    <a:lnTo>
                      <a:pt x="84044" y="1189012"/>
                    </a:lnTo>
                    <a:cubicBezTo>
                      <a:pt x="37628" y="1189012"/>
                      <a:pt x="0" y="1151384"/>
                      <a:pt x="0" y="1104968"/>
                    </a:cubicBezTo>
                    <a:lnTo>
                      <a:pt x="0" y="84044"/>
                    </a:lnTo>
                    <a:cubicBezTo>
                      <a:pt x="0" y="37628"/>
                      <a:pt x="37628" y="0"/>
                      <a:pt x="84044" y="0"/>
                    </a:cubicBezTo>
                    <a:close/>
                  </a:path>
                </a:pathLst>
              </a:custGeom>
              <a:solidFill>
                <a:srgbClr val="FFFF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Box 8">
                <a:extLst>
                  <a:ext uri="{FF2B5EF4-FFF2-40B4-BE49-F238E27FC236}">
                    <a16:creationId xmlns:a16="http://schemas.microsoft.com/office/drawing/2014/main" id="{D5A5B488-AA29-0F50-641A-09E0B871C1CE}"/>
                  </a:ext>
                </a:extLst>
              </p:cNvPr>
              <p:cNvSpPr txBox="1"/>
              <p:nvPr/>
            </p:nvSpPr>
            <p:spPr>
              <a:xfrm>
                <a:off x="0" y="-47625"/>
                <a:ext cx="1402303" cy="1236637"/>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25" name="TextBox 24">
            <a:extLst>
              <a:ext uri="{FF2B5EF4-FFF2-40B4-BE49-F238E27FC236}">
                <a16:creationId xmlns:a16="http://schemas.microsoft.com/office/drawing/2014/main" id="{102D22AD-91D8-42C4-A57E-1A5DF59BCBE9}"/>
              </a:ext>
            </a:extLst>
          </p:cNvPr>
          <p:cNvSpPr txBox="1"/>
          <p:nvPr/>
        </p:nvSpPr>
        <p:spPr>
          <a:xfrm>
            <a:off x="7974820" y="3324421"/>
            <a:ext cx="3146208" cy="523220"/>
          </a:xfrm>
          <a:prstGeom prst="rect">
            <a:avLst/>
          </a:prstGeom>
          <a:noFill/>
        </p:spPr>
        <p:txBody>
          <a:bodyPr wrap="square" anchor="t">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Warning Letters</a:t>
            </a:r>
            <a:endParaRPr kumimoji="0" sz="2800" b="1"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sp>
        <p:nvSpPr>
          <p:cNvPr id="27" name="TextBox 26">
            <a:extLst>
              <a:ext uri="{FF2B5EF4-FFF2-40B4-BE49-F238E27FC236}">
                <a16:creationId xmlns:a16="http://schemas.microsoft.com/office/drawing/2014/main" id="{1C7405BC-F432-1D63-CE99-D843D75B2207}"/>
              </a:ext>
            </a:extLst>
          </p:cNvPr>
          <p:cNvSpPr txBox="1"/>
          <p:nvPr/>
        </p:nvSpPr>
        <p:spPr>
          <a:xfrm>
            <a:off x="7295313" y="4247089"/>
            <a:ext cx="4599594" cy="1446550"/>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Discussion concerning Tripadvisor’s warning letters and fraud notices sent to owners.</a:t>
            </a:r>
            <a:endParaRPr kumimoji="0" sz="2200" b="0"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grpSp>
        <p:nvGrpSpPr>
          <p:cNvPr id="28" name="Group 27">
            <a:extLst>
              <a:ext uri="{FF2B5EF4-FFF2-40B4-BE49-F238E27FC236}">
                <a16:creationId xmlns:a16="http://schemas.microsoft.com/office/drawing/2014/main" id="{09E9DB37-5516-CB79-6D31-A6D6EEBAB5A6}"/>
              </a:ext>
            </a:extLst>
          </p:cNvPr>
          <p:cNvGrpSpPr/>
          <p:nvPr/>
        </p:nvGrpSpPr>
        <p:grpSpPr>
          <a:xfrm>
            <a:off x="12344400" y="2725893"/>
            <a:ext cx="5319600" cy="5969924"/>
            <a:chOff x="984760" y="2171700"/>
            <a:chExt cx="3928437" cy="4304269"/>
          </a:xfrm>
          <a:effectLst>
            <a:outerShdw blurRad="50800" dist="38100" dir="5400000" algn="t" rotWithShape="0">
              <a:prstClr val="black">
                <a:alpha val="40000"/>
              </a:prstClr>
            </a:outerShdw>
          </a:effectLst>
        </p:grpSpPr>
        <p:grpSp>
          <p:nvGrpSpPr>
            <p:cNvPr id="29" name="Group 3">
              <a:extLst>
                <a:ext uri="{FF2B5EF4-FFF2-40B4-BE49-F238E27FC236}">
                  <a16:creationId xmlns:a16="http://schemas.microsoft.com/office/drawing/2014/main" id="{7EF2BA0D-D3D5-7F19-9697-548C88ED6C5B}"/>
                </a:ext>
              </a:extLst>
            </p:cNvPr>
            <p:cNvGrpSpPr/>
            <p:nvPr/>
          </p:nvGrpSpPr>
          <p:grpSpPr>
            <a:xfrm>
              <a:off x="984760" y="2171700"/>
              <a:ext cx="3928437" cy="4304269"/>
              <a:chOff x="0" y="0"/>
              <a:chExt cx="1528996" cy="1299371"/>
            </a:xfrm>
          </p:grpSpPr>
          <p:sp>
            <p:nvSpPr>
              <p:cNvPr id="34" name="Freeform 4">
                <a:extLst>
                  <a:ext uri="{FF2B5EF4-FFF2-40B4-BE49-F238E27FC236}">
                    <a16:creationId xmlns:a16="http://schemas.microsoft.com/office/drawing/2014/main" id="{8A5894F9-89D9-A80E-7169-0033BEC716E5}"/>
                  </a:ext>
                </a:extLst>
              </p:cNvPr>
              <p:cNvSpPr/>
              <p:nvPr/>
            </p:nvSpPr>
            <p:spPr>
              <a:xfrm>
                <a:off x="0" y="0"/>
                <a:ext cx="1528996" cy="1299371"/>
              </a:xfrm>
              <a:custGeom>
                <a:avLst/>
                <a:gdLst/>
                <a:ahLst/>
                <a:cxnLst/>
                <a:rect l="l" t="t" r="r" b="b"/>
                <a:pathLst>
                  <a:path w="1528996" h="1299371">
                    <a:moveTo>
                      <a:pt x="77080" y="0"/>
                    </a:moveTo>
                    <a:lnTo>
                      <a:pt x="1451916" y="0"/>
                    </a:lnTo>
                    <a:cubicBezTo>
                      <a:pt x="1472359" y="0"/>
                      <a:pt x="1491965" y="8121"/>
                      <a:pt x="1506420" y="22576"/>
                    </a:cubicBezTo>
                    <a:cubicBezTo>
                      <a:pt x="1520875" y="37032"/>
                      <a:pt x="1528996" y="56637"/>
                      <a:pt x="1528996" y="77080"/>
                    </a:cubicBezTo>
                    <a:lnTo>
                      <a:pt x="1528996" y="1222291"/>
                    </a:lnTo>
                    <a:cubicBezTo>
                      <a:pt x="1528996" y="1242734"/>
                      <a:pt x="1520875" y="1262340"/>
                      <a:pt x="1506420" y="1276795"/>
                    </a:cubicBezTo>
                    <a:cubicBezTo>
                      <a:pt x="1491965" y="1291250"/>
                      <a:pt x="1472359" y="1299371"/>
                      <a:pt x="1451916" y="1299371"/>
                    </a:cubicBezTo>
                    <a:lnTo>
                      <a:pt x="77080" y="1299371"/>
                    </a:lnTo>
                    <a:cubicBezTo>
                      <a:pt x="56637" y="1299371"/>
                      <a:pt x="37032" y="1291250"/>
                      <a:pt x="22576" y="1276795"/>
                    </a:cubicBezTo>
                    <a:cubicBezTo>
                      <a:pt x="8121" y="1262340"/>
                      <a:pt x="0" y="1242734"/>
                      <a:pt x="0" y="1222291"/>
                    </a:cubicBezTo>
                    <a:lnTo>
                      <a:pt x="0" y="77080"/>
                    </a:lnTo>
                    <a:cubicBezTo>
                      <a:pt x="0" y="56637"/>
                      <a:pt x="8121" y="37032"/>
                      <a:pt x="22576" y="22576"/>
                    </a:cubicBezTo>
                    <a:cubicBezTo>
                      <a:pt x="37032" y="8121"/>
                      <a:pt x="56637" y="0"/>
                      <a:pt x="77080" y="0"/>
                    </a:cubicBezTo>
                    <a:close/>
                  </a:path>
                </a:pathLst>
              </a:custGeom>
              <a:solidFill>
                <a:srgbClr val="CFFF2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6" name="TextBox 5">
                <a:extLst>
                  <a:ext uri="{FF2B5EF4-FFF2-40B4-BE49-F238E27FC236}">
                    <a16:creationId xmlns:a16="http://schemas.microsoft.com/office/drawing/2014/main" id="{5CA0D489-D38B-8DCE-568D-57F7A15EEB78}"/>
                  </a:ext>
                </a:extLst>
              </p:cNvPr>
              <p:cNvSpPr txBox="1"/>
              <p:nvPr/>
            </p:nvSpPr>
            <p:spPr>
              <a:xfrm>
                <a:off x="0" y="-47625"/>
                <a:ext cx="1528996" cy="1346996"/>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0" name="Group 6">
              <a:extLst>
                <a:ext uri="{FF2B5EF4-FFF2-40B4-BE49-F238E27FC236}">
                  <a16:creationId xmlns:a16="http://schemas.microsoft.com/office/drawing/2014/main" id="{CF63800D-F6CF-C38B-F2BA-2A3A57024EA5}"/>
                </a:ext>
              </a:extLst>
            </p:cNvPr>
            <p:cNvGrpSpPr/>
            <p:nvPr/>
          </p:nvGrpSpPr>
          <p:grpSpPr>
            <a:xfrm>
              <a:off x="1147517" y="2354486"/>
              <a:ext cx="3602924" cy="3938696"/>
              <a:chOff x="0" y="0"/>
              <a:chExt cx="1402303" cy="1189012"/>
            </a:xfrm>
          </p:grpSpPr>
          <p:sp>
            <p:nvSpPr>
              <p:cNvPr id="31" name="Freeform 7">
                <a:extLst>
                  <a:ext uri="{FF2B5EF4-FFF2-40B4-BE49-F238E27FC236}">
                    <a16:creationId xmlns:a16="http://schemas.microsoft.com/office/drawing/2014/main" id="{616655EF-775D-5DBC-93BE-2FDBF853D0B6}"/>
                  </a:ext>
                </a:extLst>
              </p:cNvPr>
              <p:cNvSpPr/>
              <p:nvPr/>
            </p:nvSpPr>
            <p:spPr>
              <a:xfrm>
                <a:off x="0" y="0"/>
                <a:ext cx="1402303" cy="1189012"/>
              </a:xfrm>
              <a:custGeom>
                <a:avLst/>
                <a:gdLst/>
                <a:ahLst/>
                <a:cxnLst/>
                <a:rect l="l" t="t" r="r" b="b"/>
                <a:pathLst>
                  <a:path w="1402303" h="1189012">
                    <a:moveTo>
                      <a:pt x="84044" y="0"/>
                    </a:moveTo>
                    <a:lnTo>
                      <a:pt x="1318259" y="0"/>
                    </a:lnTo>
                    <a:cubicBezTo>
                      <a:pt x="1340548" y="0"/>
                      <a:pt x="1361925" y="8855"/>
                      <a:pt x="1377687" y="24616"/>
                    </a:cubicBezTo>
                    <a:cubicBezTo>
                      <a:pt x="1393448" y="40377"/>
                      <a:pt x="1402303" y="61754"/>
                      <a:pt x="1402303" y="84044"/>
                    </a:cubicBezTo>
                    <a:lnTo>
                      <a:pt x="1402303" y="1104968"/>
                    </a:lnTo>
                    <a:cubicBezTo>
                      <a:pt x="1402303" y="1151384"/>
                      <a:pt x="1364675" y="1189012"/>
                      <a:pt x="1318259" y="1189012"/>
                    </a:cubicBezTo>
                    <a:lnTo>
                      <a:pt x="84044" y="1189012"/>
                    </a:lnTo>
                    <a:cubicBezTo>
                      <a:pt x="37628" y="1189012"/>
                      <a:pt x="0" y="1151384"/>
                      <a:pt x="0" y="1104968"/>
                    </a:cubicBezTo>
                    <a:lnTo>
                      <a:pt x="0" y="84044"/>
                    </a:lnTo>
                    <a:cubicBezTo>
                      <a:pt x="0" y="37628"/>
                      <a:pt x="37628" y="0"/>
                      <a:pt x="84044" y="0"/>
                    </a:cubicBezTo>
                    <a:close/>
                  </a:path>
                </a:pathLst>
              </a:custGeom>
              <a:solidFill>
                <a:srgbClr val="FFFFFF"/>
              </a:solidFill>
              <a:effectLst>
                <a:outerShdw blurRad="50800" dist="381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Box 8">
                <a:extLst>
                  <a:ext uri="{FF2B5EF4-FFF2-40B4-BE49-F238E27FC236}">
                    <a16:creationId xmlns:a16="http://schemas.microsoft.com/office/drawing/2014/main" id="{5883E792-661A-DB54-61B6-3B033724C3CE}"/>
                  </a:ext>
                </a:extLst>
              </p:cNvPr>
              <p:cNvSpPr txBox="1"/>
              <p:nvPr/>
            </p:nvSpPr>
            <p:spPr>
              <a:xfrm>
                <a:off x="0" y="-47625"/>
                <a:ext cx="1402303" cy="1236637"/>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40" name="TextBox 39">
            <a:extLst>
              <a:ext uri="{FF2B5EF4-FFF2-40B4-BE49-F238E27FC236}">
                <a16:creationId xmlns:a16="http://schemas.microsoft.com/office/drawing/2014/main" id="{2999AB4C-20E1-DED7-F37D-E85AFD06C729}"/>
              </a:ext>
            </a:extLst>
          </p:cNvPr>
          <p:cNvSpPr txBox="1"/>
          <p:nvPr/>
        </p:nvSpPr>
        <p:spPr>
          <a:xfrm>
            <a:off x="12904200" y="3324421"/>
            <a:ext cx="4200000" cy="523220"/>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General CI Questions</a:t>
            </a:r>
            <a:endParaRPr kumimoji="0" sz="2800" b="1"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sp>
        <p:nvSpPr>
          <p:cNvPr id="44" name="TextBox 43">
            <a:extLst>
              <a:ext uri="{FF2B5EF4-FFF2-40B4-BE49-F238E27FC236}">
                <a16:creationId xmlns:a16="http://schemas.microsoft.com/office/drawing/2014/main" id="{F4BCD560-A0D7-BE82-81CE-DB0B3A94B314}"/>
              </a:ext>
            </a:extLst>
          </p:cNvPr>
          <p:cNvSpPr txBox="1"/>
          <p:nvPr/>
        </p:nvSpPr>
        <p:spPr>
          <a:xfrm>
            <a:off x="12772250" y="4174249"/>
            <a:ext cx="4539408" cy="1446550"/>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2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Inquiries regarding the removal of rankings, awards, or guest reviews due to fraudulent activity</a:t>
            </a:r>
            <a:endParaRPr kumimoji="0" sz="2200" b="0"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pic>
        <p:nvPicPr>
          <p:cNvPr id="47" name="Picture 46">
            <a:extLst>
              <a:ext uri="{FF2B5EF4-FFF2-40B4-BE49-F238E27FC236}">
                <a16:creationId xmlns:a16="http://schemas.microsoft.com/office/drawing/2014/main" id="{55B870D6-10F8-D6CC-7527-E252328664D7}"/>
              </a:ext>
            </a:extLst>
          </p:cNvPr>
          <p:cNvPicPr>
            <a:picLocks noChangeAspect="1"/>
          </p:cNvPicPr>
          <p:nvPr/>
        </p:nvPicPr>
        <p:blipFill>
          <a:blip r:embed="rId3"/>
          <a:srcRect r="73259" b="49727"/>
          <a:stretch>
            <a:fillRect/>
          </a:stretch>
        </p:blipFill>
        <p:spPr>
          <a:xfrm>
            <a:off x="2245033" y="4994581"/>
            <a:ext cx="2750810" cy="3447714"/>
          </a:xfrm>
          <a:prstGeom prst="rect">
            <a:avLst/>
          </a:prstGeom>
        </p:spPr>
      </p:pic>
      <p:pic>
        <p:nvPicPr>
          <p:cNvPr id="48" name="Picture 47">
            <a:extLst>
              <a:ext uri="{FF2B5EF4-FFF2-40B4-BE49-F238E27FC236}">
                <a16:creationId xmlns:a16="http://schemas.microsoft.com/office/drawing/2014/main" id="{77641A40-CC3F-C0BC-F79D-CF7A6F069AAE}"/>
              </a:ext>
            </a:extLst>
          </p:cNvPr>
          <p:cNvPicPr>
            <a:picLocks noChangeAspect="1"/>
          </p:cNvPicPr>
          <p:nvPr/>
        </p:nvPicPr>
        <p:blipFill>
          <a:blip r:embed="rId3"/>
          <a:srcRect l="24301" t="3445" r="49942" b="50191"/>
          <a:stretch>
            <a:fillRect/>
          </a:stretch>
        </p:blipFill>
        <p:spPr>
          <a:xfrm>
            <a:off x="8018390" y="5232207"/>
            <a:ext cx="2649610" cy="3179608"/>
          </a:xfrm>
          <a:prstGeom prst="rect">
            <a:avLst/>
          </a:prstGeom>
        </p:spPr>
      </p:pic>
      <p:pic>
        <p:nvPicPr>
          <p:cNvPr id="50" name="Picture 49">
            <a:extLst>
              <a:ext uri="{FF2B5EF4-FFF2-40B4-BE49-F238E27FC236}">
                <a16:creationId xmlns:a16="http://schemas.microsoft.com/office/drawing/2014/main" id="{F3E03CE0-9A23-74F6-E1EA-1D4D19532E84}"/>
              </a:ext>
            </a:extLst>
          </p:cNvPr>
          <p:cNvPicPr>
            <a:picLocks noChangeAspect="1"/>
          </p:cNvPicPr>
          <p:nvPr/>
        </p:nvPicPr>
        <p:blipFill>
          <a:blip r:embed="rId4"/>
          <a:srcRect l="40062" t="51495" r="42848" b="6455"/>
          <a:stretch>
            <a:fillRect/>
          </a:stretch>
        </p:blipFill>
        <p:spPr>
          <a:xfrm>
            <a:off x="13672170" y="5503578"/>
            <a:ext cx="2246860" cy="2764122"/>
          </a:xfrm>
          <a:prstGeom prst="rect">
            <a:avLst/>
          </a:prstGeom>
        </p:spPr>
      </p:pic>
      <p:sp>
        <p:nvSpPr>
          <p:cNvPr id="15" name="TextBox 14">
            <a:extLst>
              <a:ext uri="{FF2B5EF4-FFF2-40B4-BE49-F238E27FC236}">
                <a16:creationId xmlns:a16="http://schemas.microsoft.com/office/drawing/2014/main" id="{1C919F34-01C7-600E-654B-3DA66CE87774}"/>
              </a:ext>
            </a:extLst>
          </p:cNvPr>
          <p:cNvSpPr txBox="1"/>
          <p:nvPr/>
        </p:nvSpPr>
        <p:spPr>
          <a:xfrm>
            <a:off x="2460634" y="3324421"/>
            <a:ext cx="2594531" cy="523220"/>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Fraud Letters</a:t>
            </a:r>
            <a:endParaRPr kumimoji="0" sz="2800" b="1" i="0" u="none" strike="noStrike" kern="0" cap="none" spc="0" normalizeH="0" baseline="0" noProof="0" dirty="0">
              <a:ln>
                <a:noFill/>
              </a:ln>
              <a:solidFill>
                <a:srgbClr val="002B11"/>
              </a:solidFill>
              <a:effectLst/>
              <a:uLnTx/>
              <a:uFillTx/>
              <a:latin typeface="Poppins" panose="00000500000000000000" pitchFamily="2" charset="0"/>
              <a:cs typeface="Poppins" panose="00000500000000000000" pitchFamily="2" charset="0"/>
              <a:sym typeface="Arial"/>
            </a:endParaRPr>
          </a:p>
        </p:txBody>
      </p:sp>
      <p:sp>
        <p:nvSpPr>
          <p:cNvPr id="6" name="TextBox 5">
            <a:extLst>
              <a:ext uri="{FF2B5EF4-FFF2-40B4-BE49-F238E27FC236}">
                <a16:creationId xmlns:a16="http://schemas.microsoft.com/office/drawing/2014/main" id="{947E8DB5-F223-3A61-6931-1977C82307F8}"/>
              </a:ext>
            </a:extLst>
          </p:cNvPr>
          <p:cNvSpPr txBox="1"/>
          <p:nvPr/>
        </p:nvSpPr>
        <p:spPr>
          <a:xfrm>
            <a:off x="533400" y="9867900"/>
            <a:ext cx="7315200" cy="24622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T</a:t>
            </a:r>
            <a:r>
              <a:rPr kumimoji="0" lang="en-US"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ripadvisor</a:t>
            </a:r>
            <a:r>
              <a:rPr kumimoji="0"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 / F</a:t>
            </a:r>
            <a:r>
              <a:rPr kumimoji="0" lang="en-US"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raud Support</a:t>
            </a:r>
            <a:r>
              <a:rPr kumimoji="0"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rPr>
              <a:t> / </a:t>
            </a:r>
            <a:r>
              <a:rPr lang="en-US" sz="1600" spc="50" dirty="0">
                <a:solidFill>
                  <a:srgbClr val="8A8272"/>
                </a:solidFill>
                <a:latin typeface="Poppins" panose="00000500000000000000" pitchFamily="2" charset="0"/>
                <a:cs typeface="Poppins" panose="00000500000000000000" pitchFamily="2" charset="0"/>
              </a:rPr>
              <a:t>Case Types Handled</a:t>
            </a:r>
            <a:endParaRPr kumimoji="0" sz="1600" b="0" i="0" u="none" strike="noStrike" kern="1200" cap="none" spc="50" normalizeH="0" baseline="0" noProof="0" dirty="0">
              <a:ln>
                <a:noFill/>
              </a:ln>
              <a:solidFill>
                <a:srgbClr val="8A8272"/>
              </a:solidFill>
              <a:effectLst/>
              <a:uLnTx/>
              <a:uFillTx/>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786390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930FA-D23D-CA02-3A37-666E0B86622B}"/>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69DE7AE-AE00-C656-F3E5-D668ADCDE4DB}"/>
              </a:ext>
            </a:extLst>
          </p:cNvPr>
          <p:cNvGrpSpPr/>
          <p:nvPr/>
        </p:nvGrpSpPr>
        <p:grpSpPr>
          <a:xfrm>
            <a:off x="969764" y="647700"/>
            <a:ext cx="7356874" cy="1169551"/>
            <a:chOff x="969764" y="1646154"/>
            <a:chExt cx="7356874" cy="1169551"/>
          </a:xfrm>
        </p:grpSpPr>
        <p:sp>
          <p:nvSpPr>
            <p:cNvPr id="4" name="TextBox 3">
              <a:extLst>
                <a:ext uri="{FF2B5EF4-FFF2-40B4-BE49-F238E27FC236}">
                  <a16:creationId xmlns:a16="http://schemas.microsoft.com/office/drawing/2014/main" id="{E085385C-6E9E-9F65-C526-1F8CAFEDA252}"/>
                </a:ext>
              </a:extLst>
            </p:cNvPr>
            <p:cNvSpPr txBox="1"/>
            <p:nvPr/>
          </p:nvSpPr>
          <p:spPr>
            <a:xfrm>
              <a:off x="1163838" y="1646154"/>
              <a:ext cx="7162800" cy="1169551"/>
            </a:xfrm>
            <a:prstGeom prst="rect">
              <a:avLst/>
            </a:prstGeom>
            <a:noFill/>
          </p:spPr>
          <p:txBody>
            <a:bodyPr wrap="square" rtlCol="0">
              <a:spAutoFit/>
            </a:bodyPr>
            <a:lstStyle/>
            <a:p>
              <a:r>
                <a:rPr lang="en-US" sz="7000" dirty="0">
                  <a:latin typeface="Poppins Black" panose="00000A00000000000000" pitchFamily="2" charset="0"/>
                  <a:cs typeface="Poppins Black" panose="00000A00000000000000" pitchFamily="2" charset="0"/>
                </a:rPr>
                <a:t>One Last Case</a:t>
              </a:r>
            </a:p>
          </p:txBody>
        </p:sp>
        <p:pic>
          <p:nvPicPr>
            <p:cNvPr id="6" name="Picture 5">
              <a:extLst>
                <a:ext uri="{FF2B5EF4-FFF2-40B4-BE49-F238E27FC236}">
                  <a16:creationId xmlns:a16="http://schemas.microsoft.com/office/drawing/2014/main" id="{469F6882-C264-676C-4170-1636C46713F4}"/>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69764" y="1811433"/>
              <a:ext cx="956074" cy="955099"/>
            </a:xfrm>
            <a:prstGeom prst="rect">
              <a:avLst/>
            </a:prstGeom>
          </p:spPr>
        </p:pic>
      </p:grpSp>
      <p:sp>
        <p:nvSpPr>
          <p:cNvPr id="10" name="TextBox 9">
            <a:extLst>
              <a:ext uri="{FF2B5EF4-FFF2-40B4-BE49-F238E27FC236}">
                <a16:creationId xmlns:a16="http://schemas.microsoft.com/office/drawing/2014/main" id="{46306AAA-DC31-381C-68C8-F05469B2C81B}"/>
              </a:ext>
            </a:extLst>
          </p:cNvPr>
          <p:cNvSpPr txBox="1"/>
          <p:nvPr/>
        </p:nvSpPr>
        <p:spPr>
          <a:xfrm>
            <a:off x="1348080" y="1768078"/>
            <a:ext cx="15970156" cy="707886"/>
          </a:xfrm>
          <a:prstGeom prst="rect">
            <a:avLst/>
          </a:prstGeom>
          <a:noFill/>
        </p:spPr>
        <p:txBody>
          <a:bodyPr wrap="square" rtlCol="0">
            <a:spAutoFit/>
          </a:bodyPr>
          <a:lstStyle/>
          <a:p>
            <a:r>
              <a:rPr lang="en-US" sz="4000" dirty="0">
                <a:latin typeface="Poppins" panose="00000500000000000000" pitchFamily="2" charset="0"/>
                <a:cs typeface="Poppins" panose="00000500000000000000" pitchFamily="2" charset="0"/>
              </a:rPr>
              <a:t>Follow </a:t>
            </a:r>
            <a:r>
              <a:rPr lang="en-US" sz="4000" b="1" dirty="0">
                <a:latin typeface="Poppins" panose="00000500000000000000" pitchFamily="2" charset="0"/>
                <a:cs typeface="Poppins" panose="00000500000000000000" pitchFamily="2" charset="0"/>
              </a:rPr>
              <a:t>officer Ollie </a:t>
            </a:r>
            <a:r>
              <a:rPr lang="en-US" sz="4000" dirty="0">
                <a:latin typeface="Poppins" panose="00000500000000000000" pitchFamily="2" charset="0"/>
                <a:cs typeface="Poppins" panose="00000500000000000000" pitchFamily="2" charset="0"/>
              </a:rPr>
              <a:t>along for the last adventure of the day!</a:t>
            </a:r>
            <a:endParaRPr lang="en-US" sz="4000" b="1" dirty="0">
              <a:latin typeface="Poppins" panose="000005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9DF826AB-F44E-01D1-4E27-86E1380CC852}"/>
              </a:ext>
            </a:extLst>
          </p:cNvPr>
          <p:cNvSpPr txBox="1"/>
          <p:nvPr/>
        </p:nvSpPr>
        <p:spPr>
          <a:xfrm>
            <a:off x="1413388" y="2475964"/>
            <a:ext cx="15526532" cy="1060034"/>
          </a:xfrm>
          <a:prstGeom prst="rect">
            <a:avLst/>
          </a:prstGeom>
          <a:noFill/>
        </p:spPr>
        <p:txBody>
          <a:bodyPr wrap="square" rtlCol="0">
            <a:spAutoFit/>
          </a:bodyPr>
          <a:lstStyle/>
          <a:p>
            <a:pPr>
              <a:lnSpc>
                <a:spcPct val="150000"/>
              </a:lnSpc>
            </a:pPr>
            <a:r>
              <a:rPr lang="en-US" sz="2200" dirty="0">
                <a:latin typeface="Poppins" panose="00000500000000000000" pitchFamily="2" charset="0"/>
                <a:cs typeface="Poppins" panose="00000500000000000000" pitchFamily="2" charset="0"/>
              </a:rPr>
              <a:t>Unlock the case file by answering few simple questions, all based on the knowledge you have gained so far. Each right answer will get you closer to your end goal while the </a:t>
            </a:r>
            <a:r>
              <a:rPr lang="en-US" sz="2200" b="1" dirty="0">
                <a:latin typeface="Poppins" panose="00000500000000000000" pitchFamily="2" charset="0"/>
                <a:cs typeface="Poppins" panose="00000500000000000000" pitchFamily="2" charset="0"/>
              </a:rPr>
              <a:t>‘hints’  </a:t>
            </a:r>
            <a:r>
              <a:rPr lang="en-US" sz="2200" dirty="0">
                <a:latin typeface="Poppins" panose="00000500000000000000" pitchFamily="2" charset="0"/>
                <a:cs typeface="Poppins" panose="00000500000000000000" pitchFamily="2" charset="0"/>
              </a:rPr>
              <a:t>provide you an extra boost!</a:t>
            </a:r>
            <a:endParaRPr lang="en-US" sz="2200" b="1" dirty="0">
              <a:latin typeface="Poppins" panose="00000500000000000000" pitchFamily="2" charset="0"/>
              <a:cs typeface="Poppins" panose="00000500000000000000" pitchFamily="2" charset="0"/>
            </a:endParaRPr>
          </a:p>
        </p:txBody>
      </p:sp>
      <p:grpSp>
        <p:nvGrpSpPr>
          <p:cNvPr id="18" name="Group 17">
            <a:extLst>
              <a:ext uri="{FF2B5EF4-FFF2-40B4-BE49-F238E27FC236}">
                <a16:creationId xmlns:a16="http://schemas.microsoft.com/office/drawing/2014/main" id="{6693B560-699E-9173-D342-33528715628A}"/>
              </a:ext>
            </a:extLst>
          </p:cNvPr>
          <p:cNvGrpSpPr/>
          <p:nvPr/>
        </p:nvGrpSpPr>
        <p:grpSpPr>
          <a:xfrm>
            <a:off x="13642482" y="6302367"/>
            <a:ext cx="3297438" cy="1119752"/>
            <a:chOff x="12323562" y="7844106"/>
            <a:chExt cx="3297438" cy="1119752"/>
          </a:xfrm>
        </p:grpSpPr>
        <p:sp>
          <p:nvSpPr>
            <p:cNvPr id="13" name="Rectangle: Rounded Corners 12">
              <a:extLst>
                <a:ext uri="{FF2B5EF4-FFF2-40B4-BE49-F238E27FC236}">
                  <a16:creationId xmlns:a16="http://schemas.microsoft.com/office/drawing/2014/main" id="{35702D34-19C1-5B53-C548-BE45A632A657}"/>
                </a:ext>
              </a:extLst>
            </p:cNvPr>
            <p:cNvSpPr/>
            <p:nvPr/>
          </p:nvSpPr>
          <p:spPr>
            <a:xfrm>
              <a:off x="12323562" y="7844106"/>
              <a:ext cx="3200400" cy="1077158"/>
            </a:xfrm>
            <a:prstGeom prst="roundRect">
              <a:avLst/>
            </a:prstGeom>
            <a:solidFill>
              <a:srgbClr val="002B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FF41081F-B689-1AD8-4A19-B9B111794658}"/>
                </a:ext>
              </a:extLst>
            </p:cNvPr>
            <p:cNvSpPr/>
            <p:nvPr/>
          </p:nvSpPr>
          <p:spPr>
            <a:xfrm>
              <a:off x="12420600" y="7886700"/>
              <a:ext cx="3200400" cy="1077158"/>
            </a:xfrm>
            <a:prstGeom prst="round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06FD1D3-3B43-F15C-41A7-828C0E41E763}"/>
                </a:ext>
              </a:extLst>
            </p:cNvPr>
            <p:cNvSpPr txBox="1"/>
            <p:nvPr/>
          </p:nvSpPr>
          <p:spPr>
            <a:xfrm>
              <a:off x="13411200" y="8071336"/>
              <a:ext cx="2112762" cy="707886"/>
            </a:xfrm>
            <a:prstGeom prst="rect">
              <a:avLst/>
            </a:prstGeom>
            <a:noFill/>
          </p:spPr>
          <p:txBody>
            <a:bodyPr wrap="square" rtlCol="0">
              <a:spAutoFit/>
            </a:bodyPr>
            <a:lstStyle/>
            <a:p>
              <a:r>
                <a:rPr lang="en-US" sz="4000" b="1" dirty="0">
                  <a:solidFill>
                    <a:srgbClr val="002B11"/>
                  </a:solidFill>
                  <a:latin typeface="Poppins" panose="00000500000000000000" pitchFamily="2" charset="0"/>
                  <a:cs typeface="Poppins" panose="00000500000000000000" pitchFamily="2" charset="0"/>
                  <a:hlinkClick r:id="rId4">
                    <a:extLst>
                      <a:ext uri="{A12FA001-AC4F-418D-AE19-62706E023703}">
                        <ahyp:hlinkClr xmlns:ahyp="http://schemas.microsoft.com/office/drawing/2018/hyperlinkcolor" val="tx"/>
                      </a:ext>
                    </a:extLst>
                  </a:hlinkClick>
                </a:rPr>
                <a:t>Unlock</a:t>
              </a:r>
              <a:endParaRPr lang="en-US" sz="4000" b="1" dirty="0">
                <a:solidFill>
                  <a:srgbClr val="002B11"/>
                </a:solidFill>
                <a:latin typeface="Poppins" panose="00000500000000000000" pitchFamily="2" charset="0"/>
                <a:cs typeface="Poppins" panose="00000500000000000000" pitchFamily="2" charset="0"/>
              </a:endParaRPr>
            </a:p>
          </p:txBody>
        </p:sp>
        <p:pic>
          <p:nvPicPr>
            <p:cNvPr id="17" name="Graphic 16" descr="Lock with solid fill">
              <a:extLst>
                <a:ext uri="{FF2B5EF4-FFF2-40B4-BE49-F238E27FC236}">
                  <a16:creationId xmlns:a16="http://schemas.microsoft.com/office/drawing/2014/main" id="{8C5052DD-68DD-42D7-5097-B94ABF05C80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703314" y="8028742"/>
              <a:ext cx="707886" cy="707886"/>
            </a:xfrm>
            <a:prstGeom prst="rect">
              <a:avLst/>
            </a:prstGeom>
          </p:spPr>
        </p:pic>
      </p:grpSp>
      <p:pic>
        <p:nvPicPr>
          <p:cNvPr id="20" name="Picture 19">
            <a:extLst>
              <a:ext uri="{FF2B5EF4-FFF2-40B4-BE49-F238E27FC236}">
                <a16:creationId xmlns:a16="http://schemas.microsoft.com/office/drawing/2014/main" id="{4D67EA6B-A3C1-1D94-1428-15D5EFAADE68}"/>
              </a:ext>
            </a:extLst>
          </p:cNvPr>
          <p:cNvPicPr>
            <a:picLocks noChangeAspect="1"/>
          </p:cNvPicPr>
          <p:nvPr/>
        </p:nvPicPr>
        <p:blipFill>
          <a:blip r:embed="rId6"/>
          <a:stretch>
            <a:fillRect/>
          </a:stretch>
        </p:blipFill>
        <p:spPr>
          <a:xfrm>
            <a:off x="3557880" y="3715539"/>
            <a:ext cx="8771900" cy="6250813"/>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890997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ECF60-6954-5DDA-5B61-85E7746EC11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228AFC3-B113-D386-F1F1-EFC6B9C110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9" y="1"/>
            <a:ext cx="18278282" cy="10286998"/>
          </a:xfrm>
          <a:prstGeom prst="rect">
            <a:avLst/>
          </a:prstGeom>
        </p:spPr>
      </p:pic>
    </p:spTree>
    <p:extLst>
      <p:ext uri="{BB962C8B-B14F-4D97-AF65-F5344CB8AC3E}">
        <p14:creationId xmlns:p14="http://schemas.microsoft.com/office/powerpoint/2010/main" val="2186573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10530</TotalTime>
  <Words>836</Words>
  <Application>Microsoft Office PowerPoint</Application>
  <PresentationFormat>Custom</PresentationFormat>
  <Paragraphs>86</Paragraphs>
  <Slides>15</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Poppins Black</vt:lpstr>
      <vt:lpstr>Aptos</vt:lpstr>
      <vt:lpstr>Calibri</vt:lpstr>
      <vt:lpstr>Arial</vt:lpstr>
      <vt:lpstr>Poppins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GTS Focus</dc:title>
  <dc:creator>harikrishnan.b@sutherlandglobal.com</dc:creator>
  <cp:lastModifiedBy>Anoop Krishnan</cp:lastModifiedBy>
  <cp:revision>85</cp:revision>
  <dcterms:created xsi:type="dcterms:W3CDTF">2006-08-16T00:00:00Z</dcterms:created>
  <dcterms:modified xsi:type="dcterms:W3CDTF">2026-08-21T15:44:31Z</dcterms:modified>
  <dc:identifier>DAHJphC7R98</dc:identifier>
</cp:coreProperties>
</file>