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5.xml" ContentType="application/vnd.openxmlformats-officedocument.them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heme/theme6.xml" ContentType="application/vnd.openxmlformats-officedocument.them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1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3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4.xml" ContentType="application/vnd.openxmlformats-officedocument.presentationml.notesSlide+xml"/>
  <Override PartName="/ppt/tags/tag100.xml" ContentType="application/vnd.openxmlformats-officedocument.presentationml.tags+xml"/>
  <Override PartName="/ppt/notesSlides/notesSlide5.xml" ContentType="application/vnd.openxmlformats-officedocument.presentationml.notesSlide+xml"/>
  <Override PartName="/ppt/tags/tag10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4" r:id="rId3"/>
    <p:sldMasterId id="2147483686" r:id="rId4"/>
    <p:sldMasterId id="2147483698" r:id="rId5"/>
  </p:sldMasterIdLst>
  <p:notesMasterIdLst>
    <p:notesMasterId r:id="rId19"/>
  </p:notesMasterIdLst>
  <p:sldIdLst>
    <p:sldId id="257" r:id="rId6"/>
    <p:sldId id="269" r:id="rId7"/>
    <p:sldId id="270" r:id="rId8"/>
    <p:sldId id="271" r:id="rId9"/>
    <p:sldId id="274" r:id="rId10"/>
    <p:sldId id="280" r:id="rId11"/>
    <p:sldId id="273" r:id="rId12"/>
    <p:sldId id="278" r:id="rId13"/>
    <p:sldId id="272" r:id="rId14"/>
    <p:sldId id="276" r:id="rId15"/>
    <p:sldId id="285" r:id="rId16"/>
    <p:sldId id="256" r:id="rId17"/>
    <p:sldId id="268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4B0F5-8B39-47DB-88A1-2A5B7792E13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3AA48-91BB-4E37-A918-0958363D8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1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1592D-8EE0-E5BC-EEC1-04AE1C7B0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B7B04-A200-14AD-7257-4B3DE2AFC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34F3F-79E1-B183-FA4E-CF71A0EF9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5780C-4578-4B8B-BE1A-8025D5F3E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0A9D68-6679-4E6F-8FB7-607D310385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97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F8BAB-8EBE-6ABC-0773-A8953F90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877C2-8B45-1F5F-2694-23B630A2B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497DF-E01B-56EE-17A3-14CD9A7A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Could you share your initiatives for employee well-being? Additionally, which wellness models do you utilize out of Employee Assistance Programs (EAP) with in-house support, solely in-house resources, Wellness-as-a-Service 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WaaS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), or any other approach?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64FCF-7709-498A-36B6-5719E4781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475FD5-6418-41E3-BFAC-6FF52A6464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279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56FA-0F96-D16B-A8A8-9D85D5D8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660AD-9AF5-A1F5-6376-DED3443A5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1D6BC-04A4-2D41-C8AB-E7E825A4F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92310-5864-877B-B1BA-B2D1F2AAD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C7EBB3-FE6E-4D8B-999B-4E30A90F61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849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908D2-367F-E6AB-BD06-2C55FFB0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FE656-D724-2819-EA85-1DFFBDDEA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9D3FF-E368-3FFC-098F-5C24517A0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1AF0C-D2FC-C5BB-EA27-14B841E86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0A9D68-6679-4E6F-8FB7-607D310385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025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4.emf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oleObject" Target="../embeddings/oleObject2.bin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3.xml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9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9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microsoft.com/office/2007/relationships/hdphoto" Target="../media/hdphoto1.wdp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3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openxmlformats.org/officeDocument/2006/relationships/image" Target="../media/image4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4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5.xml"/><Relationship Id="rId5" Type="http://schemas.openxmlformats.org/officeDocument/2006/relationships/image" Target="../media/image11.png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48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6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7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8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9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0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6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7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8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9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70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7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7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7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7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7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7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7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78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79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80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8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8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8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8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8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86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8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158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283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53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8157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9338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9890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4885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6080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658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238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3299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681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63D8BD4-AA8F-3C77-FE27-CB641A175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013" y="6342538"/>
            <a:ext cx="385277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lnSpc>
                <a:spcPct val="90000"/>
              </a:lnSpc>
              <a:spcBef>
                <a:spcPts val="300"/>
              </a:spcBef>
              <a:defRPr lang="en-US" sz="900" b="0" i="0" smtClean="0">
                <a:solidFill>
                  <a:schemeClr val="tx2"/>
                </a:solidFill>
                <a:effectLst/>
              </a:defRPr>
            </a:lvl1pPr>
          </a:lstStyle>
          <a:p>
            <a:r>
              <a:rPr lang="en-PH" dirty="0"/>
              <a:t>/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lang="en-PH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49121A1-943D-7D8B-8740-BE8EF819B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3" y="6342538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lnSpc>
                <a:spcPct val="90000"/>
              </a:lnSpc>
              <a:spcBef>
                <a:spcPts val="300"/>
              </a:spcBef>
              <a:defRPr sz="9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BB0AB1C-B8B2-D89A-7919-6DA1537E83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350" y="312329"/>
            <a:ext cx="11485746" cy="942309"/>
          </a:xfrm>
        </p:spPr>
        <p:txBody>
          <a:bodyPr anchor="t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842970F-D7A2-5214-0FF2-D46193D130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167" y="914576"/>
            <a:ext cx="11485562" cy="306388"/>
          </a:xfrm>
        </p:spPr>
        <p:txBody>
          <a:bodyPr anchor="ctr">
            <a:noAutofit/>
          </a:bodyPr>
          <a:lstStyle>
            <a:lvl1pPr marL="0" indent="0" algn="l">
              <a:buNone/>
              <a:defRPr sz="2000" b="0" baseline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</a:t>
            </a:r>
          </a:p>
          <a:p>
            <a:pPr lvl="0"/>
            <a:endParaRPr lang="en-PH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41F5DB8-48F7-5304-7C4A-FF0F248FB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83" y="1254638"/>
            <a:ext cx="11485746" cy="5045633"/>
          </a:xfrm>
        </p:spPr>
        <p:txBody>
          <a:bodyPr>
            <a:normAutofit/>
          </a:bodyPr>
          <a:lstStyle>
            <a:lvl1pPr>
              <a:spcBef>
                <a:spcPts val="300"/>
              </a:spcBef>
              <a:buClr>
                <a:schemeClr val="accent4"/>
              </a:buClr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300"/>
              </a:spcBef>
              <a:buClr>
                <a:schemeClr val="accent4"/>
              </a:buClr>
              <a:defRPr sz="1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300"/>
              </a:spcBef>
              <a:buClr>
                <a:schemeClr val="accent4"/>
              </a:buClr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300"/>
              </a:spcBef>
              <a:buClr>
                <a:schemeClr val="accent4"/>
              </a:buClr>
              <a:defRPr sz="12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300"/>
              </a:spcBef>
              <a:buClr>
                <a:schemeClr val="accent4"/>
              </a:buClr>
              <a:defRPr sz="12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E04B58-82D8-A3A8-3E99-911C7CB97D59}"/>
              </a:ext>
            </a:extLst>
          </p:cNvPr>
          <p:cNvCxnSpPr>
            <a:cxnSpLocks/>
          </p:cNvCxnSpPr>
          <p:nvPr userDrawn="1"/>
        </p:nvCxnSpPr>
        <p:spPr>
          <a:xfrm>
            <a:off x="11377138" y="6342538"/>
            <a:ext cx="0" cy="37490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67692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Pr>
        <a:gradFill>
          <a:gsLst>
            <a:gs pos="43000">
              <a:schemeClr val="accent1">
                <a:lumMod val="75000"/>
              </a:schemeClr>
            </a:gs>
            <a:gs pos="100000">
              <a:schemeClr val="accent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B966228C-E05F-E1D1-4B42-D296FDA1DD34}"/>
              </a:ext>
            </a:extLst>
          </p:cNvPr>
          <p:cNvSpPr/>
          <p:nvPr userDrawn="1"/>
        </p:nvSpPr>
        <p:spPr>
          <a:xfrm>
            <a:off x="368301" y="396833"/>
            <a:ext cx="590967" cy="6064334"/>
          </a:xfrm>
          <a:custGeom>
            <a:avLst/>
            <a:gdLst/>
            <a:ahLst/>
            <a:cxnLst/>
            <a:rect l="l" t="t" r="r" b="b"/>
            <a:pathLst>
              <a:path w="124950" h="1282202">
                <a:moveTo>
                  <a:pt x="62475" y="0"/>
                </a:moveTo>
                <a:lnTo>
                  <a:pt x="62475" y="0"/>
                </a:lnTo>
                <a:cubicBezTo>
                  <a:pt x="79045" y="0"/>
                  <a:pt x="94935" y="6582"/>
                  <a:pt x="106652" y="18299"/>
                </a:cubicBezTo>
                <a:cubicBezTo>
                  <a:pt x="118368" y="30015"/>
                  <a:pt x="124950" y="45906"/>
                  <a:pt x="124950" y="62475"/>
                </a:cubicBezTo>
                <a:lnTo>
                  <a:pt x="124950" y="1219727"/>
                </a:lnTo>
                <a:cubicBezTo>
                  <a:pt x="124950" y="1254231"/>
                  <a:pt x="96979" y="1282202"/>
                  <a:pt x="62475" y="1282202"/>
                </a:cubicBezTo>
                <a:lnTo>
                  <a:pt x="62475" y="1282202"/>
                </a:lnTo>
                <a:cubicBezTo>
                  <a:pt x="45906" y="1282202"/>
                  <a:pt x="30015" y="1275620"/>
                  <a:pt x="18299" y="1263904"/>
                </a:cubicBezTo>
                <a:cubicBezTo>
                  <a:pt x="6582" y="1252187"/>
                  <a:pt x="0" y="1236296"/>
                  <a:pt x="0" y="1219727"/>
                </a:cubicBezTo>
                <a:lnTo>
                  <a:pt x="0" y="62475"/>
                </a:lnTo>
                <a:cubicBezTo>
                  <a:pt x="0" y="27971"/>
                  <a:pt x="27971" y="0"/>
                  <a:pt x="62475" y="0"/>
                </a:cubicBezTo>
                <a:close/>
              </a:path>
            </a:pathLst>
          </a:custGeom>
          <a:gradFill rotWithShape="1">
            <a:gsLst>
              <a:gs pos="0">
                <a:srgbClr val="2F014B">
                  <a:alpha val="15000"/>
                </a:srgbClr>
              </a:gs>
              <a:gs pos="100000">
                <a:srgbClr val="1A131E">
                  <a:alpha val="15000"/>
                </a:srgbClr>
              </a:gs>
            </a:gsLst>
            <a:lin ang="0"/>
          </a:gradFill>
          <a:ln w="6350" cap="sq">
            <a:solidFill>
              <a:schemeClr val="bg1">
                <a:lumMod val="95000"/>
                <a:alpha val="14902"/>
              </a:schemeClr>
            </a:solidFill>
            <a:prstDash val="solid"/>
            <a:miter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38D7A244-A4B1-A566-0393-D5F227AF6A12}"/>
              </a:ext>
            </a:extLst>
          </p:cNvPr>
          <p:cNvSpPr txBox="1"/>
          <p:nvPr userDrawn="1"/>
        </p:nvSpPr>
        <p:spPr>
          <a:xfrm>
            <a:off x="368301" y="216634"/>
            <a:ext cx="590967" cy="6244533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EBA0150B-1141-B80E-2F70-06EC4CE472B1}"/>
              </a:ext>
            </a:extLst>
          </p:cNvPr>
          <p:cNvSpPr/>
          <p:nvPr userDrawn="1"/>
        </p:nvSpPr>
        <p:spPr>
          <a:xfrm>
            <a:off x="522158" y="677433"/>
            <a:ext cx="274905" cy="274905"/>
          </a:xfrm>
          <a:custGeom>
            <a:avLst/>
            <a:gdLst/>
            <a:ahLst/>
            <a:cxnLst/>
            <a:rect l="l" t="t" r="r" b="b"/>
            <a:pathLst>
              <a:path w="412357" h="412357">
                <a:moveTo>
                  <a:pt x="0" y="0"/>
                </a:moveTo>
                <a:lnTo>
                  <a:pt x="412357" y="0"/>
                </a:lnTo>
                <a:lnTo>
                  <a:pt x="412357" y="412357"/>
                </a:lnTo>
                <a:lnTo>
                  <a:pt x="0" y="41235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4D630C1C-88D6-E284-A3B9-102E98D659E6}"/>
              </a:ext>
            </a:extLst>
          </p:cNvPr>
          <p:cNvSpPr/>
          <p:nvPr userDrawn="1"/>
        </p:nvSpPr>
        <p:spPr>
          <a:xfrm>
            <a:off x="522158" y="5921055"/>
            <a:ext cx="274905" cy="274905"/>
          </a:xfrm>
          <a:custGeom>
            <a:avLst/>
            <a:gdLst/>
            <a:ahLst/>
            <a:cxnLst/>
            <a:rect l="l" t="t" r="r" b="b"/>
            <a:pathLst>
              <a:path w="412357" h="412357">
                <a:moveTo>
                  <a:pt x="0" y="0"/>
                </a:moveTo>
                <a:lnTo>
                  <a:pt x="412357" y="0"/>
                </a:lnTo>
                <a:lnTo>
                  <a:pt x="412357" y="412357"/>
                </a:lnTo>
                <a:lnTo>
                  <a:pt x="0" y="41235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51970B3-A1A6-74B5-03B5-523DD8011B74}"/>
              </a:ext>
            </a:extLst>
          </p:cNvPr>
          <p:cNvGrpSpPr/>
          <p:nvPr userDrawn="1"/>
        </p:nvGrpSpPr>
        <p:grpSpPr>
          <a:xfrm>
            <a:off x="7095494" y="1022743"/>
            <a:ext cx="5096506" cy="4812514"/>
            <a:chOff x="7210479" y="988716"/>
            <a:chExt cx="4981521" cy="4703936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742AE65A-A57D-F47D-5EAA-809D6DB918B8}"/>
                </a:ext>
              </a:extLst>
            </p:cNvPr>
            <p:cNvSpPr/>
            <p:nvPr userDrawn="1"/>
          </p:nvSpPr>
          <p:spPr>
            <a:xfrm>
              <a:off x="7322887" y="988716"/>
              <a:ext cx="4869113" cy="4647384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chemeClr val="accent3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0C938945-91DF-C927-1028-D47DEBFB55D1}"/>
                </a:ext>
              </a:extLst>
            </p:cNvPr>
            <p:cNvSpPr/>
            <p:nvPr userDrawn="1"/>
          </p:nvSpPr>
          <p:spPr>
            <a:xfrm>
              <a:off x="7388634" y="1051469"/>
              <a:ext cx="4737621" cy="4521878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C22AAE2-6DE5-B4B5-A25B-D763FA180B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97" r="16597"/>
            <a:stretch/>
          </p:blipFill>
          <p:spPr>
            <a:xfrm>
              <a:off x="7603580" y="1168134"/>
              <a:ext cx="4307726" cy="4288546"/>
            </a:xfrm>
            <a:custGeom>
              <a:avLst/>
              <a:gdLst>
                <a:gd name="connsiteX0" fmla="*/ 1483303 w 2966606"/>
                <a:gd name="connsiteY0" fmla="*/ 15 h 2953398"/>
                <a:gd name="connsiteX1" fmla="*/ 2767664 w 2966606"/>
                <a:gd name="connsiteY1" fmla="*/ 736445 h 2953398"/>
                <a:gd name="connsiteX2" fmla="*/ 2767664 w 2966606"/>
                <a:gd name="connsiteY2" fmla="*/ 2216955 h 2953398"/>
                <a:gd name="connsiteX3" fmla="*/ 1483303 w 2966606"/>
                <a:gd name="connsiteY3" fmla="*/ 2953384 h 2953398"/>
                <a:gd name="connsiteX4" fmla="*/ 198942 w 2966606"/>
                <a:gd name="connsiteY4" fmla="*/ 2216955 h 2953398"/>
                <a:gd name="connsiteX5" fmla="*/ 198942 w 2966606"/>
                <a:gd name="connsiteY5" fmla="*/ 736445 h 2953398"/>
                <a:gd name="connsiteX6" fmla="*/ 1483303 w 2966606"/>
                <a:gd name="connsiteY6" fmla="*/ 15 h 295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66606" h="2953398">
                  <a:moveTo>
                    <a:pt x="1483303" y="15"/>
                  </a:moveTo>
                  <a:cubicBezTo>
                    <a:pt x="2012445" y="-2351"/>
                    <a:pt x="2502408" y="278585"/>
                    <a:pt x="2767664" y="736445"/>
                  </a:cubicBezTo>
                  <a:cubicBezTo>
                    <a:pt x="3032920" y="1194305"/>
                    <a:pt x="3032920" y="1759095"/>
                    <a:pt x="2767664" y="2216955"/>
                  </a:cubicBezTo>
                  <a:cubicBezTo>
                    <a:pt x="2502408" y="2674815"/>
                    <a:pt x="2012445" y="2955750"/>
                    <a:pt x="1483303" y="2953384"/>
                  </a:cubicBezTo>
                  <a:cubicBezTo>
                    <a:pt x="954162" y="2955750"/>
                    <a:pt x="464199" y="2674815"/>
                    <a:pt x="198942" y="2216955"/>
                  </a:cubicBezTo>
                  <a:cubicBezTo>
                    <a:pt x="-66314" y="1759095"/>
                    <a:pt x="-66314" y="1194305"/>
                    <a:pt x="198942" y="736445"/>
                  </a:cubicBezTo>
                  <a:cubicBezTo>
                    <a:pt x="464199" y="278585"/>
                    <a:pt x="954162" y="-2351"/>
                    <a:pt x="1483303" y="15"/>
                  </a:cubicBezTo>
                  <a:close/>
                </a:path>
              </a:pathLst>
            </a:custGeom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19000"/>
                </a:prstClr>
              </a:outerShdw>
            </a:effectLst>
          </p:spPr>
        </p:pic>
        <p:sp>
          <p:nvSpPr>
            <p:cNvPr id="16" name="TextBox 20">
              <a:extLst>
                <a:ext uri="{FF2B5EF4-FFF2-40B4-BE49-F238E27FC236}">
                  <a16:creationId xmlns:a16="http://schemas.microsoft.com/office/drawing/2014/main" id="{A9736C61-1DB4-30A0-9FE4-887E8C107BA4}"/>
                </a:ext>
              </a:extLst>
            </p:cNvPr>
            <p:cNvSpPr txBox="1"/>
            <p:nvPr/>
          </p:nvSpPr>
          <p:spPr>
            <a:xfrm rot="5400000">
              <a:off x="7265677" y="4106632"/>
              <a:ext cx="1530822" cy="16412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9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7" name="AutoShape 22">
            <a:extLst>
              <a:ext uri="{FF2B5EF4-FFF2-40B4-BE49-F238E27FC236}">
                <a16:creationId xmlns:a16="http://schemas.microsoft.com/office/drawing/2014/main" id="{958CCA4F-FB77-5C52-B665-6D63CE1FC186}"/>
              </a:ext>
            </a:extLst>
          </p:cNvPr>
          <p:cNvSpPr/>
          <p:nvPr userDrawn="1"/>
        </p:nvSpPr>
        <p:spPr>
          <a:xfrm flipH="1" flipV="1">
            <a:off x="663784" y="1097280"/>
            <a:ext cx="0" cy="914400"/>
          </a:xfrm>
          <a:prstGeom prst="line">
            <a:avLst/>
          </a:prstGeom>
          <a:ln w="9525" cap="flat">
            <a:solidFill>
              <a:schemeClr val="accent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04244455-6D67-7F5E-B86A-83F1C518635A}"/>
              </a:ext>
            </a:extLst>
          </p:cNvPr>
          <p:cNvSpPr txBox="1">
            <a:spLocks/>
          </p:cNvSpPr>
          <p:nvPr userDrawn="1"/>
        </p:nvSpPr>
        <p:spPr>
          <a:xfrm>
            <a:off x="1319257" y="1146772"/>
            <a:ext cx="6014859" cy="8061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defTabSz="609630">
              <a:spcBef>
                <a:spcPts val="600"/>
              </a:spcBef>
              <a:spcAft>
                <a:spcPts val="600"/>
              </a:spcAft>
              <a:defRPr/>
            </a:pPr>
            <a:endParaRPr lang="en-US" sz="11500" b="1" spc="300" dirty="0">
              <a:solidFill>
                <a:schemeClr val="accent3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40" name="Freeform 19">
            <a:extLst>
              <a:ext uri="{FF2B5EF4-FFF2-40B4-BE49-F238E27FC236}">
                <a16:creationId xmlns:a16="http://schemas.microsoft.com/office/drawing/2014/main" id="{89D63560-220C-3F95-D30F-269C49A226F4}"/>
              </a:ext>
            </a:extLst>
          </p:cNvPr>
          <p:cNvSpPr/>
          <p:nvPr userDrawn="1"/>
        </p:nvSpPr>
        <p:spPr>
          <a:xfrm rot="5400000">
            <a:off x="3949697" y="-338034"/>
            <a:ext cx="734867" cy="73486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  <a:alpha val="24000"/>
                </a:schemeClr>
              </a:gs>
              <a:gs pos="0">
                <a:schemeClr val="accent4">
                  <a:alpha val="21000"/>
                </a:schemeClr>
              </a:gs>
            </a:gsLst>
            <a:lin ang="2700000" scaled="1"/>
          </a:gra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Freeform 19">
            <a:extLst>
              <a:ext uri="{FF2B5EF4-FFF2-40B4-BE49-F238E27FC236}">
                <a16:creationId xmlns:a16="http://schemas.microsoft.com/office/drawing/2014/main" id="{8A846EAF-2BD3-627C-9A88-F4C59095B7A7}"/>
              </a:ext>
            </a:extLst>
          </p:cNvPr>
          <p:cNvSpPr/>
          <p:nvPr userDrawn="1"/>
        </p:nvSpPr>
        <p:spPr>
          <a:xfrm rot="5400000">
            <a:off x="11983596" y="83698"/>
            <a:ext cx="416808" cy="41680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  <a:alpha val="24000"/>
                </a:schemeClr>
              </a:gs>
              <a:gs pos="0">
                <a:schemeClr val="accent4">
                  <a:alpha val="21000"/>
                </a:schemeClr>
              </a:gs>
            </a:gsLst>
            <a:lin ang="2700000" scaled="1"/>
          </a:gra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Freeform 19">
            <a:extLst>
              <a:ext uri="{FF2B5EF4-FFF2-40B4-BE49-F238E27FC236}">
                <a16:creationId xmlns:a16="http://schemas.microsoft.com/office/drawing/2014/main" id="{CCC6717D-E997-7F09-AA04-1C2C9800B272}"/>
              </a:ext>
            </a:extLst>
          </p:cNvPr>
          <p:cNvSpPr/>
          <p:nvPr userDrawn="1"/>
        </p:nvSpPr>
        <p:spPr>
          <a:xfrm rot="5400000">
            <a:off x="4317131" y="6417286"/>
            <a:ext cx="867931" cy="867931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43000"/>
                </a:schemeClr>
              </a:gs>
              <a:gs pos="100000">
                <a:schemeClr val="accent4">
                  <a:alpha val="21000"/>
                </a:schemeClr>
              </a:gs>
            </a:gsLst>
            <a:lin ang="2700000" scaled="1"/>
          </a:gra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Freeform 19">
            <a:extLst>
              <a:ext uri="{FF2B5EF4-FFF2-40B4-BE49-F238E27FC236}">
                <a16:creationId xmlns:a16="http://schemas.microsoft.com/office/drawing/2014/main" id="{FFEE4C4D-692A-748B-629D-C236CB8E224B}"/>
              </a:ext>
            </a:extLst>
          </p:cNvPr>
          <p:cNvSpPr/>
          <p:nvPr userDrawn="1"/>
        </p:nvSpPr>
        <p:spPr>
          <a:xfrm rot="5400000">
            <a:off x="-199311" y="262188"/>
            <a:ext cx="415245" cy="41524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43000"/>
                </a:schemeClr>
              </a:gs>
              <a:gs pos="100000">
                <a:schemeClr val="accent4">
                  <a:alpha val="21000"/>
                </a:schemeClr>
              </a:gs>
            </a:gsLst>
            <a:lin ang="2700000" scaled="1"/>
          </a:gra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Freeform 19">
            <a:extLst>
              <a:ext uri="{FF2B5EF4-FFF2-40B4-BE49-F238E27FC236}">
                <a16:creationId xmlns:a16="http://schemas.microsoft.com/office/drawing/2014/main" id="{59E6DFEF-8963-86F0-A9D2-C388E4416450}"/>
              </a:ext>
            </a:extLst>
          </p:cNvPr>
          <p:cNvSpPr/>
          <p:nvPr userDrawn="1"/>
        </p:nvSpPr>
        <p:spPr>
          <a:xfrm rot="5400000">
            <a:off x="11106140" y="5699727"/>
            <a:ext cx="717559" cy="71755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flip="none" rotWithShape="1">
            <a:gsLst>
              <a:gs pos="99000">
                <a:schemeClr val="accent1">
                  <a:lumMod val="60000"/>
                  <a:lumOff val="40000"/>
                  <a:alpha val="45000"/>
                </a:schemeClr>
              </a:gs>
              <a:gs pos="0">
                <a:schemeClr val="accent4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Freeform 19">
            <a:extLst>
              <a:ext uri="{FF2B5EF4-FFF2-40B4-BE49-F238E27FC236}">
                <a16:creationId xmlns:a16="http://schemas.microsoft.com/office/drawing/2014/main" id="{38F63B3B-CE0D-C130-7784-E2D016F1C95C}"/>
              </a:ext>
            </a:extLst>
          </p:cNvPr>
          <p:cNvSpPr/>
          <p:nvPr userDrawn="1"/>
        </p:nvSpPr>
        <p:spPr>
          <a:xfrm rot="5400000">
            <a:off x="6872649" y="714894"/>
            <a:ext cx="319818" cy="31981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chemeClr val="bg1">
              <a:alpha val="7000"/>
            </a:scheme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Freeform 19">
            <a:extLst>
              <a:ext uri="{FF2B5EF4-FFF2-40B4-BE49-F238E27FC236}">
                <a16:creationId xmlns:a16="http://schemas.microsoft.com/office/drawing/2014/main" id="{0008A126-06CC-E53B-2D26-C2D3FB0DCF82}"/>
              </a:ext>
            </a:extLst>
          </p:cNvPr>
          <p:cNvSpPr/>
          <p:nvPr userDrawn="1"/>
        </p:nvSpPr>
        <p:spPr>
          <a:xfrm rot="5400000">
            <a:off x="1206912" y="5811360"/>
            <a:ext cx="247146" cy="24714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chemeClr val="bg1">
              <a:alpha val="7000"/>
            </a:scheme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AutoShape 22">
            <a:extLst>
              <a:ext uri="{FF2B5EF4-FFF2-40B4-BE49-F238E27FC236}">
                <a16:creationId xmlns:a16="http://schemas.microsoft.com/office/drawing/2014/main" id="{1E5220A5-F470-CF6C-9C4A-0C566EC1E2B8}"/>
              </a:ext>
            </a:extLst>
          </p:cNvPr>
          <p:cNvSpPr/>
          <p:nvPr userDrawn="1"/>
        </p:nvSpPr>
        <p:spPr>
          <a:xfrm flipH="1" flipV="1">
            <a:off x="663784" y="4785327"/>
            <a:ext cx="0" cy="914400"/>
          </a:xfrm>
          <a:prstGeom prst="line">
            <a:avLst/>
          </a:prstGeom>
          <a:ln w="9525" cap="flat">
            <a:solidFill>
              <a:schemeClr val="accent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1418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984" y="279400"/>
            <a:ext cx="11174316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984" y="1295401"/>
            <a:ext cx="11174316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Shape 728"/>
          <p:cNvPicPr preferRelativeResize="0"/>
          <p:nvPr userDrawn="1"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98087" y="6278398"/>
            <a:ext cx="447956" cy="44795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865" y="862013"/>
            <a:ext cx="11169435" cy="347662"/>
          </a:xfrm>
        </p:spPr>
        <p:txBody>
          <a:bodyPr>
            <a:noAutofit/>
          </a:bodyPr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0315E8-5437-4FCE-8EB4-451686255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9984" y="6129337"/>
            <a:ext cx="5784754" cy="189218"/>
          </a:xfrm>
        </p:spPr>
        <p:txBody>
          <a:bodyPr lIns="0"/>
          <a:lstStyle>
            <a:lvl1pPr marL="0" indent="0">
              <a:buNone/>
              <a:defRPr sz="800" b="0" i="1" baseline="0"/>
            </a:lvl1pPr>
            <a:lvl2pPr>
              <a:defRPr sz="800" b="0" i="1" baseline="0"/>
            </a:lvl2pPr>
            <a:lvl3pPr>
              <a:defRPr sz="800" b="0" i="1" baseline="0"/>
            </a:lvl3pPr>
            <a:lvl4pPr>
              <a:defRPr sz="800" b="0" i="1" baseline="0"/>
            </a:lvl4pPr>
            <a:lvl5pPr>
              <a:defRPr sz="800" b="0" i="1" baseline="0"/>
            </a:lvl5pPr>
          </a:lstStyle>
          <a:p>
            <a:pPr lvl="0"/>
            <a:r>
              <a:rPr lang="en-US" dirty="0"/>
              <a:t>Source: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474EB-6BE3-F87A-046B-C82AF2777C45}"/>
              </a:ext>
            </a:extLst>
          </p:cNvPr>
          <p:cNvSpPr txBox="1">
            <a:spLocks/>
          </p:cNvSpPr>
          <p:nvPr userDrawn="1"/>
        </p:nvSpPr>
        <p:spPr>
          <a:xfrm>
            <a:off x="593913" y="6326468"/>
            <a:ext cx="385277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// © 2026 Sutherland Global Services, Inc. All Rights Reserved.	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170DED5-0E76-D867-AF87-071A26322FF6}"/>
              </a:ext>
            </a:extLst>
          </p:cNvPr>
          <p:cNvSpPr txBox="1">
            <a:spLocks/>
          </p:cNvSpPr>
          <p:nvPr userDrawn="1"/>
        </p:nvSpPr>
        <p:spPr>
          <a:xfrm>
            <a:off x="369984" y="6323387"/>
            <a:ext cx="365123" cy="3712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DCA4D-B942-BC47-92B6-393DE0C995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690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wo colleagues planning on board with sticky notes">
            <a:extLst>
              <a:ext uri="{FF2B5EF4-FFF2-40B4-BE49-F238E27FC236}">
                <a16:creationId xmlns:a16="http://schemas.microsoft.com/office/drawing/2014/main" id="{F329BBB8-98F9-CE5F-DE80-B7EA068C7F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983" t="12850" r="33" b="16425"/>
          <a:stretch>
            <a:fillRect/>
          </a:stretch>
        </p:blipFill>
        <p:spPr>
          <a:xfrm flipH="1">
            <a:off x="-4" y="0"/>
            <a:ext cx="12192004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47D358-A10E-7391-C642-F691D17D9805}"/>
              </a:ext>
            </a:extLst>
          </p:cNvPr>
          <p:cNvSpPr/>
          <p:nvPr userDrawn="1"/>
        </p:nvSpPr>
        <p:spPr>
          <a:xfrm rot="10800000" flipH="1" flipV="1">
            <a:off x="0" y="0"/>
            <a:ext cx="12191999" cy="6857999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51000">
                <a:schemeClr val="accent1">
                  <a:lumMod val="5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8A7FBF-9C8A-48A5-FECE-C73ECB4F52D7}"/>
              </a:ext>
            </a:extLst>
          </p:cNvPr>
          <p:cNvSpPr/>
          <p:nvPr userDrawn="1"/>
        </p:nvSpPr>
        <p:spPr>
          <a:xfrm>
            <a:off x="-2" y="-2"/>
            <a:ext cx="12191999" cy="6858002"/>
          </a:xfrm>
          <a:prstGeom prst="rect">
            <a:avLst/>
          </a:prstGeom>
          <a:gradFill flip="none" rotWithShape="1">
            <a:gsLst>
              <a:gs pos="14700">
                <a:srgbClr val="26235D">
                  <a:alpha val="62000"/>
                </a:srgbClr>
              </a:gs>
              <a:gs pos="0">
                <a:schemeClr val="accent1">
                  <a:alpha val="34000"/>
                </a:schemeClr>
              </a:gs>
              <a:gs pos="30000">
                <a:schemeClr val="accent1">
                  <a:alpha val="48000"/>
                </a:schemeClr>
              </a:gs>
              <a:gs pos="79021">
                <a:schemeClr val="accent1">
                  <a:lumMod val="75000"/>
                </a:schemeClr>
              </a:gs>
              <a:gs pos="58000">
                <a:schemeClr val="accent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227B40-3467-A7F3-4D4F-190ADF1EFEC7}"/>
              </a:ext>
            </a:extLst>
          </p:cNvPr>
          <p:cNvSpPr/>
          <p:nvPr userDrawn="1"/>
        </p:nvSpPr>
        <p:spPr>
          <a:xfrm rot="10800000">
            <a:off x="1" y="-1"/>
            <a:ext cx="12191999" cy="6858002"/>
          </a:xfrm>
          <a:prstGeom prst="rect">
            <a:avLst/>
          </a:prstGeom>
          <a:gradFill flip="none" rotWithShape="1">
            <a:gsLst>
              <a:gs pos="64000">
                <a:schemeClr val="tx1">
                  <a:alpha val="54000"/>
                </a:schemeClr>
              </a:gs>
              <a:gs pos="0">
                <a:schemeClr val="accent1">
                  <a:lumMod val="5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984" y="279400"/>
            <a:ext cx="11174316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984" y="1295401"/>
            <a:ext cx="11174316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865" y="862013"/>
            <a:ext cx="11169435" cy="347662"/>
          </a:xfrm>
        </p:spPr>
        <p:txBody>
          <a:bodyPr>
            <a:noAutofit/>
          </a:bodyPr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0315E8-5437-4FCE-8EB4-451686255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9984" y="6129337"/>
            <a:ext cx="5784754" cy="189218"/>
          </a:xfrm>
        </p:spPr>
        <p:txBody>
          <a:bodyPr lIns="0"/>
          <a:lstStyle>
            <a:lvl1pPr marL="0" indent="0">
              <a:buNone/>
              <a:defRPr sz="800" b="0" i="1" baseline="0"/>
            </a:lvl1pPr>
            <a:lvl2pPr>
              <a:defRPr sz="800" b="0" i="1" baseline="0"/>
            </a:lvl2pPr>
            <a:lvl3pPr>
              <a:defRPr sz="800" b="0" i="1" baseline="0"/>
            </a:lvl3pPr>
            <a:lvl4pPr>
              <a:defRPr sz="800" b="0" i="1" baseline="0"/>
            </a:lvl4pPr>
            <a:lvl5pPr>
              <a:defRPr sz="800" b="0" i="1" baseline="0"/>
            </a:lvl5pPr>
          </a:lstStyle>
          <a:p>
            <a:pPr lvl="0"/>
            <a:r>
              <a:rPr lang="en-US" dirty="0"/>
              <a:t>Source: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474EB-6BE3-F87A-046B-C82AF2777C45}"/>
              </a:ext>
            </a:extLst>
          </p:cNvPr>
          <p:cNvSpPr txBox="1">
            <a:spLocks/>
          </p:cNvSpPr>
          <p:nvPr userDrawn="1"/>
        </p:nvSpPr>
        <p:spPr>
          <a:xfrm>
            <a:off x="593913" y="6326468"/>
            <a:ext cx="385277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170DED5-0E76-D867-AF87-071A26322FF6}"/>
              </a:ext>
            </a:extLst>
          </p:cNvPr>
          <p:cNvSpPr txBox="1">
            <a:spLocks/>
          </p:cNvSpPr>
          <p:nvPr userDrawn="1"/>
        </p:nvSpPr>
        <p:spPr>
          <a:xfrm>
            <a:off x="369984" y="6323387"/>
            <a:ext cx="365123" cy="3712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DCA4D-B942-BC47-92B6-393DE0C995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14" name="Shape 728">
            <a:extLst>
              <a:ext uri="{FF2B5EF4-FFF2-40B4-BE49-F238E27FC236}">
                <a16:creationId xmlns:a16="http://schemas.microsoft.com/office/drawing/2014/main" id="{39AE77BA-71D4-9D86-1647-F547AE78D025}"/>
              </a:ext>
            </a:extLst>
          </p:cNvPr>
          <p:cNvPicPr preferRelativeResize="0"/>
          <p:nvPr userDrawn="1"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2108" y="197217"/>
            <a:ext cx="447956" cy="44795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3020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984" y="279400"/>
            <a:ext cx="11174316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984" y="1295401"/>
            <a:ext cx="11174316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865" y="862013"/>
            <a:ext cx="11169435" cy="347662"/>
          </a:xfrm>
        </p:spPr>
        <p:txBody>
          <a:bodyPr>
            <a:noAutofit/>
          </a:bodyPr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0315E8-5437-4FCE-8EB4-451686255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9984" y="6129337"/>
            <a:ext cx="5784754" cy="189218"/>
          </a:xfrm>
        </p:spPr>
        <p:txBody>
          <a:bodyPr lIns="0"/>
          <a:lstStyle>
            <a:lvl1pPr marL="0" indent="0">
              <a:buNone/>
              <a:defRPr sz="800" b="0" i="1" baseline="0"/>
            </a:lvl1pPr>
            <a:lvl2pPr>
              <a:defRPr sz="800" b="0" i="1" baseline="0"/>
            </a:lvl2pPr>
            <a:lvl3pPr>
              <a:defRPr sz="800" b="0" i="1" baseline="0"/>
            </a:lvl3pPr>
            <a:lvl4pPr>
              <a:defRPr sz="800" b="0" i="1" baseline="0"/>
            </a:lvl4pPr>
            <a:lvl5pPr>
              <a:defRPr sz="800" b="0" i="1" baseline="0"/>
            </a:lvl5pPr>
          </a:lstStyle>
          <a:p>
            <a:pPr lvl="0"/>
            <a:r>
              <a:rPr lang="en-US" dirty="0"/>
              <a:t>Source: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474EB-6BE3-F87A-046B-C82AF2777C45}"/>
              </a:ext>
            </a:extLst>
          </p:cNvPr>
          <p:cNvSpPr txBox="1">
            <a:spLocks/>
          </p:cNvSpPr>
          <p:nvPr userDrawn="1"/>
        </p:nvSpPr>
        <p:spPr>
          <a:xfrm>
            <a:off x="593913" y="6326468"/>
            <a:ext cx="385277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// ©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2026 Ontivuss Inc. All Rights Reserved.	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170DED5-0E76-D867-AF87-071A26322FF6}"/>
              </a:ext>
            </a:extLst>
          </p:cNvPr>
          <p:cNvSpPr txBox="1">
            <a:spLocks/>
          </p:cNvSpPr>
          <p:nvPr userDrawn="1"/>
        </p:nvSpPr>
        <p:spPr>
          <a:xfrm>
            <a:off x="369984" y="6323387"/>
            <a:ext cx="365123" cy="3712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DCA4D-B942-BC47-92B6-393DE0C995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904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st t &amp; c">
    <p:bg>
      <p:bgPr>
        <a:gradFill flip="none" rotWithShape="1">
          <a:gsLst>
            <a:gs pos="67000">
              <a:schemeClr val="accent1"/>
            </a:gs>
            <a:gs pos="10000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842" y="279400"/>
            <a:ext cx="11174316" cy="587375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1283" y="862013"/>
            <a:ext cx="11169435" cy="347662"/>
          </a:xfrm>
        </p:spPr>
        <p:txBody>
          <a:bodyPr>
            <a:no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474EB-6BE3-F87A-046B-C82AF2777C45}"/>
              </a:ext>
            </a:extLst>
          </p:cNvPr>
          <p:cNvSpPr txBox="1">
            <a:spLocks/>
          </p:cNvSpPr>
          <p:nvPr userDrawn="1"/>
        </p:nvSpPr>
        <p:spPr>
          <a:xfrm>
            <a:off x="593913" y="6291918"/>
            <a:ext cx="385277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// © 2026 Ontivuss Inc. All Rights Reserved.	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170DED5-0E76-D867-AF87-071A26322FF6}"/>
              </a:ext>
            </a:extLst>
          </p:cNvPr>
          <p:cNvSpPr txBox="1">
            <a:spLocks/>
          </p:cNvSpPr>
          <p:nvPr userDrawn="1"/>
        </p:nvSpPr>
        <p:spPr>
          <a:xfrm>
            <a:off x="369984" y="6288837"/>
            <a:ext cx="365123" cy="3712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DCA4D-B942-BC47-92B6-393DE0C995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0238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5">
            <a:extLst>
              <a:ext uri="{FF2B5EF4-FFF2-40B4-BE49-F238E27FC236}">
                <a16:creationId xmlns:a16="http://schemas.microsoft.com/office/drawing/2014/main" id="{3B9E8808-ADBE-4DE3-9B92-0DF283BA25F1}"/>
              </a:ext>
            </a:extLst>
          </p:cNvPr>
          <p:cNvSpPr/>
          <p:nvPr userDrawn="1"/>
        </p:nvSpPr>
        <p:spPr>
          <a:xfrm>
            <a:off x="0" y="1"/>
            <a:ext cx="4851400" cy="6858000"/>
          </a:xfrm>
          <a:custGeom>
            <a:avLst/>
            <a:gdLst/>
            <a:ahLst/>
            <a:cxnLst/>
            <a:rect l="l" t="t" r="r" b="b"/>
            <a:pathLst>
              <a:path w="1834252" h="2912752">
                <a:moveTo>
                  <a:pt x="0" y="0"/>
                </a:moveTo>
                <a:lnTo>
                  <a:pt x="1834252" y="0"/>
                </a:lnTo>
                <a:lnTo>
                  <a:pt x="1834252" y="2912752"/>
                </a:lnTo>
                <a:lnTo>
                  <a:pt x="0" y="2912752"/>
                </a:lnTo>
                <a:close/>
              </a:path>
            </a:pathLst>
          </a:custGeom>
          <a:gradFill flip="none" rotWithShape="1">
            <a:gsLst>
              <a:gs pos="39000">
                <a:schemeClr val="accent1"/>
              </a:gs>
              <a:gs pos="100000">
                <a:schemeClr val="accent4"/>
              </a:gs>
            </a:gsLst>
            <a:lin ang="2700000" scaled="1"/>
            <a:tileRect/>
          </a:grad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42E8009-2382-22FF-A2D2-DD8CE2C1378C}"/>
              </a:ext>
            </a:extLst>
          </p:cNvPr>
          <p:cNvSpPr/>
          <p:nvPr userDrawn="1"/>
        </p:nvSpPr>
        <p:spPr>
          <a:xfrm>
            <a:off x="0" y="3386072"/>
            <a:ext cx="4597560" cy="3471929"/>
          </a:xfrm>
          <a:custGeom>
            <a:avLst/>
            <a:gdLst>
              <a:gd name="connsiteX0" fmla="*/ 1103812 w 4597560"/>
              <a:gd name="connsiteY0" fmla="*/ 0 h 3471929"/>
              <a:gd name="connsiteX1" fmla="*/ 4593580 w 4597560"/>
              <a:gd name="connsiteY1" fmla="*/ 3314497 h 3471929"/>
              <a:gd name="connsiteX2" fmla="*/ 4597560 w 4597560"/>
              <a:gd name="connsiteY2" fmla="*/ 3471929 h 3471929"/>
              <a:gd name="connsiteX3" fmla="*/ 0 w 4597560"/>
              <a:gd name="connsiteY3" fmla="*/ 3471929 h 3471929"/>
              <a:gd name="connsiteX4" fmla="*/ 0 w 4597560"/>
              <a:gd name="connsiteY4" fmla="*/ 181470 h 3471929"/>
              <a:gd name="connsiteX5" fmla="*/ 95544 w 4597560"/>
              <a:gd name="connsiteY5" fmla="*/ 147664 h 3471929"/>
              <a:gd name="connsiteX6" fmla="*/ 1103812 w 4597560"/>
              <a:gd name="connsiteY6" fmla="*/ 0 h 347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7560" h="3471929">
                <a:moveTo>
                  <a:pt x="1103812" y="0"/>
                </a:moveTo>
                <a:cubicBezTo>
                  <a:pt x="2973360" y="0"/>
                  <a:pt x="4499991" y="1468208"/>
                  <a:pt x="4593580" y="3314497"/>
                </a:cubicBezTo>
                <a:lnTo>
                  <a:pt x="4597560" y="3471929"/>
                </a:lnTo>
                <a:lnTo>
                  <a:pt x="0" y="3471929"/>
                </a:lnTo>
                <a:lnTo>
                  <a:pt x="0" y="181470"/>
                </a:lnTo>
                <a:lnTo>
                  <a:pt x="95544" y="147664"/>
                </a:lnTo>
                <a:cubicBezTo>
                  <a:pt x="414787" y="51617"/>
                  <a:pt x="753272" y="0"/>
                  <a:pt x="1103812" y="0"/>
                </a:cubicBezTo>
                <a:close/>
              </a:path>
            </a:pathLst>
          </a:custGeom>
          <a:gradFill>
            <a:gsLst>
              <a:gs pos="100000">
                <a:schemeClr val="accent3">
                  <a:alpha val="15000"/>
                </a:schemeClr>
              </a:gs>
              <a:gs pos="31000">
                <a:schemeClr val="accent4">
                  <a:alpha val="18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38" y="365125"/>
            <a:ext cx="10901362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0315E8-5437-4FCE-8EB4-451686255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700" y="5976650"/>
            <a:ext cx="5507038" cy="208555"/>
          </a:xfrm>
        </p:spPr>
        <p:txBody>
          <a:bodyPr lIns="0"/>
          <a:lstStyle>
            <a:lvl1pPr marL="0" indent="0">
              <a:buNone/>
              <a:defRPr sz="800" b="0" i="1" baseline="0"/>
            </a:lvl1pPr>
            <a:lvl2pPr>
              <a:defRPr sz="800" b="0" i="1" baseline="0"/>
            </a:lvl2pPr>
            <a:lvl3pPr>
              <a:defRPr sz="800" b="0" i="1" baseline="0"/>
            </a:lvl3pPr>
            <a:lvl4pPr>
              <a:defRPr sz="800" b="0" i="1" baseline="0"/>
            </a:lvl4pPr>
            <a:lvl5pPr>
              <a:defRPr sz="800" b="0" i="1" baseline="0"/>
            </a:lvl5pPr>
          </a:lstStyle>
          <a:p>
            <a:pPr lvl="0"/>
            <a:r>
              <a:rPr lang="en-US" dirty="0"/>
              <a:t>Source: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474EB-6BE3-F87A-046B-C82AF2777C45}"/>
              </a:ext>
            </a:extLst>
          </p:cNvPr>
          <p:cNvSpPr txBox="1">
            <a:spLocks/>
          </p:cNvSpPr>
          <p:nvPr userDrawn="1"/>
        </p:nvSpPr>
        <p:spPr>
          <a:xfrm>
            <a:off x="632013" y="6180046"/>
            <a:ext cx="385277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// ©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170DED5-0E76-D867-AF87-071A26322FF6}"/>
              </a:ext>
            </a:extLst>
          </p:cNvPr>
          <p:cNvSpPr txBox="1">
            <a:spLocks/>
          </p:cNvSpPr>
          <p:nvPr userDrawn="1"/>
        </p:nvSpPr>
        <p:spPr>
          <a:xfrm>
            <a:off x="369984" y="6176965"/>
            <a:ext cx="365123" cy="3712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DCA4D-B942-BC47-92B6-393DE0C995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5579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212360B-0EB7-4F75-BAF6-274AB652A1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2014" y="6334060"/>
            <a:ext cx="4610546" cy="317462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lang="en-US" dirty="0">
              <a:solidFill>
                <a:srgbClr val="6E797C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B74C95-DAAC-4BC9-AF5B-80AAA4E09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3" y="6321749"/>
            <a:ext cx="365123" cy="371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2C3D9-8C51-0194-C666-26177568C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09750"/>
            <a:ext cx="11534775" cy="490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C734B4C-3995-4B71-23F5-56EA8BF4FB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799" y="865188"/>
            <a:ext cx="11534775" cy="3714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1715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216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  <p15:guide id="9" pos="3998">
          <p15:clr>
            <a:srgbClr val="FBAE40"/>
          </p15:clr>
        </p15:guide>
        <p15:guide id="10" pos="37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38" y="365125"/>
            <a:ext cx="10901362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1E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8" y="1295401"/>
            <a:ext cx="10901362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947738"/>
            <a:ext cx="10896600" cy="347662"/>
          </a:xfr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11CCA-9C73-F3B2-2896-3956A595F61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C6BA8-3CEA-0A17-81DE-8C876AB96E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C6CDCA4D-B942-BC47-92B6-393DE0C995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37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Y-Texture">
    <p:bg>
      <p:bgPr>
        <a:blipFill dpi="0" rotWithShape="1">
          <a:blip r:embed="rId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1CA45D-5451-6E9C-1E70-7A2453D14C07}"/>
              </a:ext>
            </a:extLst>
          </p:cNvPr>
          <p:cNvSpPr/>
          <p:nvPr userDrawn="1"/>
        </p:nvSpPr>
        <p:spPr>
          <a:xfrm>
            <a:off x="0" y="-3571"/>
            <a:ext cx="12192000" cy="6865142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52F0C8-339D-090B-A4B1-59C96161D477}"/>
              </a:ext>
            </a:extLst>
          </p:cNvPr>
          <p:cNvSpPr/>
          <p:nvPr userDrawn="1"/>
        </p:nvSpPr>
        <p:spPr>
          <a:xfrm>
            <a:off x="0" y="-3571"/>
            <a:ext cx="12192000" cy="68651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2000">
                <a:schemeClr val="accent1">
                  <a:alpha val="46000"/>
                </a:schemeClr>
              </a:gs>
              <a:gs pos="100000">
                <a:schemeClr val="accent1">
                  <a:alpha val="48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09D2A7A-B09F-D6F6-5343-33C3A41CB0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4360" y="1530350"/>
            <a:ext cx="7238393" cy="3811585"/>
          </a:xfrm>
          <a:prstGeom prst="rect">
            <a:avLst/>
          </a:prstGeom>
        </p:spPr>
        <p:txBody>
          <a:bodyPr lIns="0" anchor="ctr"/>
          <a:lstStyle>
            <a:lvl1pPr marL="114300" indent="0">
              <a:lnSpc>
                <a:spcPct val="90000"/>
              </a:lnSpc>
              <a:buNone/>
              <a:defRPr sz="6600" b="1" i="0">
                <a:ln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defRPr>
                <a:ln>
                  <a:noFill/>
                </a:ln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pic>
        <p:nvPicPr>
          <p:cNvPr id="11" name="Google Shape;169;p17">
            <a:extLst>
              <a:ext uri="{FF2B5EF4-FFF2-40B4-BE49-F238E27FC236}">
                <a16:creationId xmlns:a16="http://schemas.microsoft.com/office/drawing/2014/main" id="{11B1AA80-A78A-1C93-41E3-C31E4C9A30A9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765174" y="724997"/>
            <a:ext cx="3184074" cy="486634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0613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38" y="365125"/>
            <a:ext cx="10901362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1E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947738"/>
            <a:ext cx="10896600" cy="347662"/>
          </a:xfr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0315E8-5437-4FCE-8EB4-451686255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700" y="5976650"/>
            <a:ext cx="5507038" cy="208555"/>
          </a:xfrm>
        </p:spPr>
        <p:txBody>
          <a:bodyPr lIns="0"/>
          <a:lstStyle>
            <a:lvl1pPr marL="0" indent="0">
              <a:buNone/>
              <a:defRPr sz="800" b="0" i="1" baseline="0"/>
            </a:lvl1pPr>
            <a:lvl2pPr>
              <a:defRPr sz="800" b="0" i="1" baseline="0"/>
            </a:lvl2pPr>
            <a:lvl3pPr>
              <a:defRPr sz="800" b="0" i="1" baseline="0"/>
            </a:lvl3pPr>
            <a:lvl4pPr>
              <a:defRPr sz="800" b="0" i="1" baseline="0"/>
            </a:lvl4pPr>
            <a:lvl5pPr>
              <a:defRPr sz="800" b="0" i="1" baseline="0"/>
            </a:lvl5pPr>
          </a:lstStyle>
          <a:p>
            <a:pPr lvl="0"/>
            <a:r>
              <a:rPr lang="en-US" dirty="0"/>
              <a:t>Source: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834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98230-1F79-4114-6113-2DD805A4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Google Shape;22;p3">
            <a:extLst>
              <a:ext uri="{FF2B5EF4-FFF2-40B4-BE49-F238E27FC236}">
                <a16:creationId xmlns:a16="http://schemas.microsoft.com/office/drawing/2014/main" id="{64D291A8-08C3-8FD5-D512-63400E0A9E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8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5B1F73A-6DAE-61F7-4469-29BC95066F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DAD715B-2828-C2FB-7693-7ADD5D23F409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215320" y="1062755"/>
            <a:ext cx="11753603" cy="5120640"/>
          </a:xfrm>
        </p:spPr>
        <p:txBody>
          <a:bodyPr>
            <a:normAutofit/>
          </a:bodyPr>
          <a:lstStyle>
            <a:lvl1pPr marL="2286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E625B77-5648-6FDB-D459-EA75A792B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60362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Pr>
        <a:gradFill>
          <a:gsLst>
            <a:gs pos="43000">
              <a:schemeClr val="accent1">
                <a:lumMod val="75000"/>
              </a:schemeClr>
            </a:gs>
            <a:gs pos="100000">
              <a:schemeClr val="accent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B966228C-E05F-E1D1-4B42-D296FDA1DD34}"/>
              </a:ext>
            </a:extLst>
          </p:cNvPr>
          <p:cNvSpPr/>
          <p:nvPr userDrawn="1"/>
        </p:nvSpPr>
        <p:spPr>
          <a:xfrm>
            <a:off x="368301" y="396833"/>
            <a:ext cx="590967" cy="6064334"/>
          </a:xfrm>
          <a:custGeom>
            <a:avLst/>
            <a:gdLst/>
            <a:ahLst/>
            <a:cxnLst/>
            <a:rect l="l" t="t" r="r" b="b"/>
            <a:pathLst>
              <a:path w="124950" h="1282202">
                <a:moveTo>
                  <a:pt x="62475" y="0"/>
                </a:moveTo>
                <a:lnTo>
                  <a:pt x="62475" y="0"/>
                </a:lnTo>
                <a:cubicBezTo>
                  <a:pt x="79045" y="0"/>
                  <a:pt x="94935" y="6582"/>
                  <a:pt x="106652" y="18299"/>
                </a:cubicBezTo>
                <a:cubicBezTo>
                  <a:pt x="118368" y="30015"/>
                  <a:pt x="124950" y="45906"/>
                  <a:pt x="124950" y="62475"/>
                </a:cubicBezTo>
                <a:lnTo>
                  <a:pt x="124950" y="1219727"/>
                </a:lnTo>
                <a:cubicBezTo>
                  <a:pt x="124950" y="1254231"/>
                  <a:pt x="96979" y="1282202"/>
                  <a:pt x="62475" y="1282202"/>
                </a:cubicBezTo>
                <a:lnTo>
                  <a:pt x="62475" y="1282202"/>
                </a:lnTo>
                <a:cubicBezTo>
                  <a:pt x="45906" y="1282202"/>
                  <a:pt x="30015" y="1275620"/>
                  <a:pt x="18299" y="1263904"/>
                </a:cubicBezTo>
                <a:cubicBezTo>
                  <a:pt x="6582" y="1252187"/>
                  <a:pt x="0" y="1236296"/>
                  <a:pt x="0" y="1219727"/>
                </a:cubicBezTo>
                <a:lnTo>
                  <a:pt x="0" y="62475"/>
                </a:lnTo>
                <a:cubicBezTo>
                  <a:pt x="0" y="27971"/>
                  <a:pt x="27971" y="0"/>
                  <a:pt x="62475" y="0"/>
                </a:cubicBezTo>
                <a:close/>
              </a:path>
            </a:pathLst>
          </a:custGeom>
          <a:gradFill rotWithShape="1">
            <a:gsLst>
              <a:gs pos="0">
                <a:srgbClr val="2F014B">
                  <a:alpha val="15000"/>
                </a:srgbClr>
              </a:gs>
              <a:gs pos="100000">
                <a:srgbClr val="1A131E">
                  <a:alpha val="15000"/>
                </a:srgbClr>
              </a:gs>
            </a:gsLst>
            <a:lin ang="0"/>
          </a:gradFill>
          <a:ln w="6350" cap="sq">
            <a:solidFill>
              <a:schemeClr val="bg1">
                <a:lumMod val="95000"/>
                <a:alpha val="14902"/>
              </a:schemeClr>
            </a:solidFill>
            <a:prstDash val="solid"/>
            <a:miter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38D7A244-A4B1-A566-0393-D5F227AF6A12}"/>
              </a:ext>
            </a:extLst>
          </p:cNvPr>
          <p:cNvSpPr txBox="1"/>
          <p:nvPr userDrawn="1"/>
        </p:nvSpPr>
        <p:spPr>
          <a:xfrm>
            <a:off x="368301" y="216634"/>
            <a:ext cx="590967" cy="6244533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EBA0150B-1141-B80E-2F70-06EC4CE472B1}"/>
              </a:ext>
            </a:extLst>
          </p:cNvPr>
          <p:cNvSpPr/>
          <p:nvPr userDrawn="1"/>
        </p:nvSpPr>
        <p:spPr>
          <a:xfrm>
            <a:off x="522158" y="677433"/>
            <a:ext cx="274905" cy="274905"/>
          </a:xfrm>
          <a:custGeom>
            <a:avLst/>
            <a:gdLst/>
            <a:ahLst/>
            <a:cxnLst/>
            <a:rect l="l" t="t" r="r" b="b"/>
            <a:pathLst>
              <a:path w="412357" h="412357">
                <a:moveTo>
                  <a:pt x="0" y="0"/>
                </a:moveTo>
                <a:lnTo>
                  <a:pt x="412357" y="0"/>
                </a:lnTo>
                <a:lnTo>
                  <a:pt x="412357" y="412357"/>
                </a:lnTo>
                <a:lnTo>
                  <a:pt x="0" y="41235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4D630C1C-88D6-E284-A3B9-102E98D659E6}"/>
              </a:ext>
            </a:extLst>
          </p:cNvPr>
          <p:cNvSpPr/>
          <p:nvPr userDrawn="1"/>
        </p:nvSpPr>
        <p:spPr>
          <a:xfrm>
            <a:off x="522158" y="5921055"/>
            <a:ext cx="274905" cy="274905"/>
          </a:xfrm>
          <a:custGeom>
            <a:avLst/>
            <a:gdLst/>
            <a:ahLst/>
            <a:cxnLst/>
            <a:rect l="l" t="t" r="r" b="b"/>
            <a:pathLst>
              <a:path w="412357" h="412357">
                <a:moveTo>
                  <a:pt x="0" y="0"/>
                </a:moveTo>
                <a:lnTo>
                  <a:pt x="412357" y="0"/>
                </a:lnTo>
                <a:lnTo>
                  <a:pt x="412357" y="412357"/>
                </a:lnTo>
                <a:lnTo>
                  <a:pt x="0" y="41235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3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51970B3-A1A6-74B5-03B5-523DD8011B74}"/>
              </a:ext>
            </a:extLst>
          </p:cNvPr>
          <p:cNvGrpSpPr/>
          <p:nvPr userDrawn="1"/>
        </p:nvGrpSpPr>
        <p:grpSpPr>
          <a:xfrm>
            <a:off x="7095494" y="1022743"/>
            <a:ext cx="5096506" cy="4812514"/>
            <a:chOff x="7210479" y="988716"/>
            <a:chExt cx="4981521" cy="4703936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742AE65A-A57D-F47D-5EAA-809D6DB918B8}"/>
                </a:ext>
              </a:extLst>
            </p:cNvPr>
            <p:cNvSpPr/>
            <p:nvPr userDrawn="1"/>
          </p:nvSpPr>
          <p:spPr>
            <a:xfrm>
              <a:off x="7322887" y="988716"/>
              <a:ext cx="4869113" cy="4647384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chemeClr val="accent3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0C938945-91DF-C927-1028-D47DEBFB55D1}"/>
                </a:ext>
              </a:extLst>
            </p:cNvPr>
            <p:cNvSpPr/>
            <p:nvPr userDrawn="1"/>
          </p:nvSpPr>
          <p:spPr>
            <a:xfrm>
              <a:off x="7388634" y="1051469"/>
              <a:ext cx="4737621" cy="4521878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C22AAE2-6DE5-B4B5-A25B-D763FA180B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97" r="16597"/>
            <a:stretch/>
          </p:blipFill>
          <p:spPr>
            <a:xfrm>
              <a:off x="7603580" y="1168134"/>
              <a:ext cx="4307726" cy="4288546"/>
            </a:xfrm>
            <a:custGeom>
              <a:avLst/>
              <a:gdLst>
                <a:gd name="connsiteX0" fmla="*/ 1483303 w 2966606"/>
                <a:gd name="connsiteY0" fmla="*/ 15 h 2953398"/>
                <a:gd name="connsiteX1" fmla="*/ 2767664 w 2966606"/>
                <a:gd name="connsiteY1" fmla="*/ 736445 h 2953398"/>
                <a:gd name="connsiteX2" fmla="*/ 2767664 w 2966606"/>
                <a:gd name="connsiteY2" fmla="*/ 2216955 h 2953398"/>
                <a:gd name="connsiteX3" fmla="*/ 1483303 w 2966606"/>
                <a:gd name="connsiteY3" fmla="*/ 2953384 h 2953398"/>
                <a:gd name="connsiteX4" fmla="*/ 198942 w 2966606"/>
                <a:gd name="connsiteY4" fmla="*/ 2216955 h 2953398"/>
                <a:gd name="connsiteX5" fmla="*/ 198942 w 2966606"/>
                <a:gd name="connsiteY5" fmla="*/ 736445 h 2953398"/>
                <a:gd name="connsiteX6" fmla="*/ 1483303 w 2966606"/>
                <a:gd name="connsiteY6" fmla="*/ 15 h 295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66606" h="2953398">
                  <a:moveTo>
                    <a:pt x="1483303" y="15"/>
                  </a:moveTo>
                  <a:cubicBezTo>
                    <a:pt x="2012445" y="-2351"/>
                    <a:pt x="2502408" y="278585"/>
                    <a:pt x="2767664" y="736445"/>
                  </a:cubicBezTo>
                  <a:cubicBezTo>
                    <a:pt x="3032920" y="1194305"/>
                    <a:pt x="3032920" y="1759095"/>
                    <a:pt x="2767664" y="2216955"/>
                  </a:cubicBezTo>
                  <a:cubicBezTo>
                    <a:pt x="2502408" y="2674815"/>
                    <a:pt x="2012445" y="2955750"/>
                    <a:pt x="1483303" y="2953384"/>
                  </a:cubicBezTo>
                  <a:cubicBezTo>
                    <a:pt x="954162" y="2955750"/>
                    <a:pt x="464199" y="2674815"/>
                    <a:pt x="198942" y="2216955"/>
                  </a:cubicBezTo>
                  <a:cubicBezTo>
                    <a:pt x="-66314" y="1759095"/>
                    <a:pt x="-66314" y="1194305"/>
                    <a:pt x="198942" y="736445"/>
                  </a:cubicBezTo>
                  <a:cubicBezTo>
                    <a:pt x="464199" y="278585"/>
                    <a:pt x="954162" y="-2351"/>
                    <a:pt x="1483303" y="15"/>
                  </a:cubicBezTo>
                  <a:close/>
                </a:path>
              </a:pathLst>
            </a:custGeom>
            <a:ln w="28575">
              <a:solidFill>
                <a:schemeClr val="bg1">
                  <a:lumMod val="8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19000"/>
                </a:prstClr>
              </a:outerShdw>
            </a:effectLst>
          </p:spPr>
        </p:pic>
        <p:sp>
          <p:nvSpPr>
            <p:cNvPr id="16" name="TextBox 20">
              <a:extLst>
                <a:ext uri="{FF2B5EF4-FFF2-40B4-BE49-F238E27FC236}">
                  <a16:creationId xmlns:a16="http://schemas.microsoft.com/office/drawing/2014/main" id="{A9736C61-1DB4-30A0-9FE4-887E8C107BA4}"/>
                </a:ext>
              </a:extLst>
            </p:cNvPr>
            <p:cNvSpPr txBox="1"/>
            <p:nvPr/>
          </p:nvSpPr>
          <p:spPr>
            <a:xfrm rot="5400000">
              <a:off x="7265677" y="4106632"/>
              <a:ext cx="1530822" cy="16412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9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7" name="AutoShape 22">
            <a:extLst>
              <a:ext uri="{FF2B5EF4-FFF2-40B4-BE49-F238E27FC236}">
                <a16:creationId xmlns:a16="http://schemas.microsoft.com/office/drawing/2014/main" id="{958CCA4F-FB77-5C52-B665-6D63CE1FC186}"/>
              </a:ext>
            </a:extLst>
          </p:cNvPr>
          <p:cNvSpPr/>
          <p:nvPr userDrawn="1"/>
        </p:nvSpPr>
        <p:spPr>
          <a:xfrm flipH="1" flipV="1">
            <a:off x="663784" y="1097280"/>
            <a:ext cx="0" cy="914400"/>
          </a:xfrm>
          <a:prstGeom prst="line">
            <a:avLst/>
          </a:prstGeom>
          <a:ln w="9525" cap="flat">
            <a:solidFill>
              <a:schemeClr val="accent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20C96A7-7EFA-59EE-85BC-4B6BE91C8F5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571231" y="3210189"/>
            <a:ext cx="2470031" cy="376629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04244455-6D67-7F5E-B86A-83F1C518635A}"/>
              </a:ext>
            </a:extLst>
          </p:cNvPr>
          <p:cNvSpPr txBox="1">
            <a:spLocks/>
          </p:cNvSpPr>
          <p:nvPr userDrawn="1"/>
        </p:nvSpPr>
        <p:spPr>
          <a:xfrm>
            <a:off x="1319257" y="1146772"/>
            <a:ext cx="6014859" cy="80610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defTabSz="609630">
              <a:spcBef>
                <a:spcPts val="600"/>
              </a:spcBef>
              <a:spcAft>
                <a:spcPts val="600"/>
              </a:spcAft>
              <a:defRPr/>
            </a:pPr>
            <a:endParaRPr lang="en-US" sz="11500" b="1" spc="300" dirty="0">
              <a:solidFill>
                <a:schemeClr val="accent3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40" name="Freeform 19">
            <a:extLst>
              <a:ext uri="{FF2B5EF4-FFF2-40B4-BE49-F238E27FC236}">
                <a16:creationId xmlns:a16="http://schemas.microsoft.com/office/drawing/2014/main" id="{89D63560-220C-3F95-D30F-269C49A226F4}"/>
              </a:ext>
            </a:extLst>
          </p:cNvPr>
          <p:cNvSpPr/>
          <p:nvPr userDrawn="1"/>
        </p:nvSpPr>
        <p:spPr>
          <a:xfrm rot="5400000">
            <a:off x="3949697" y="-338034"/>
            <a:ext cx="734867" cy="73486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  <a:alpha val="24000"/>
                </a:schemeClr>
              </a:gs>
              <a:gs pos="0">
                <a:schemeClr val="accent4">
                  <a:alpha val="21000"/>
                </a:schemeClr>
              </a:gs>
            </a:gsLst>
            <a:lin ang="2700000" scaled="1"/>
          </a:gra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Freeform 19">
            <a:extLst>
              <a:ext uri="{FF2B5EF4-FFF2-40B4-BE49-F238E27FC236}">
                <a16:creationId xmlns:a16="http://schemas.microsoft.com/office/drawing/2014/main" id="{8A846EAF-2BD3-627C-9A88-F4C59095B7A7}"/>
              </a:ext>
            </a:extLst>
          </p:cNvPr>
          <p:cNvSpPr/>
          <p:nvPr userDrawn="1"/>
        </p:nvSpPr>
        <p:spPr>
          <a:xfrm rot="5400000">
            <a:off x="11983596" y="83698"/>
            <a:ext cx="416808" cy="41680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  <a:alpha val="24000"/>
                </a:schemeClr>
              </a:gs>
              <a:gs pos="0">
                <a:schemeClr val="accent4">
                  <a:alpha val="21000"/>
                </a:schemeClr>
              </a:gs>
            </a:gsLst>
            <a:lin ang="2700000" scaled="1"/>
          </a:gra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Freeform 19">
            <a:extLst>
              <a:ext uri="{FF2B5EF4-FFF2-40B4-BE49-F238E27FC236}">
                <a16:creationId xmlns:a16="http://schemas.microsoft.com/office/drawing/2014/main" id="{CCC6717D-E997-7F09-AA04-1C2C9800B272}"/>
              </a:ext>
            </a:extLst>
          </p:cNvPr>
          <p:cNvSpPr/>
          <p:nvPr userDrawn="1"/>
        </p:nvSpPr>
        <p:spPr>
          <a:xfrm rot="5400000">
            <a:off x="4317131" y="6417286"/>
            <a:ext cx="867931" cy="867931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43000"/>
                </a:schemeClr>
              </a:gs>
              <a:gs pos="100000">
                <a:schemeClr val="accent4">
                  <a:alpha val="21000"/>
                </a:schemeClr>
              </a:gs>
            </a:gsLst>
            <a:lin ang="2700000" scaled="1"/>
          </a:gra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Freeform 19">
            <a:extLst>
              <a:ext uri="{FF2B5EF4-FFF2-40B4-BE49-F238E27FC236}">
                <a16:creationId xmlns:a16="http://schemas.microsoft.com/office/drawing/2014/main" id="{FFEE4C4D-692A-748B-629D-C236CB8E224B}"/>
              </a:ext>
            </a:extLst>
          </p:cNvPr>
          <p:cNvSpPr/>
          <p:nvPr userDrawn="1"/>
        </p:nvSpPr>
        <p:spPr>
          <a:xfrm rot="5400000">
            <a:off x="-199311" y="262188"/>
            <a:ext cx="415245" cy="41524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  <a:alpha val="43000"/>
                </a:schemeClr>
              </a:gs>
              <a:gs pos="100000">
                <a:schemeClr val="accent4">
                  <a:alpha val="21000"/>
                </a:schemeClr>
              </a:gs>
            </a:gsLst>
            <a:lin ang="2700000" scaled="1"/>
          </a:gra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4" name="Freeform 19">
            <a:extLst>
              <a:ext uri="{FF2B5EF4-FFF2-40B4-BE49-F238E27FC236}">
                <a16:creationId xmlns:a16="http://schemas.microsoft.com/office/drawing/2014/main" id="{59E6DFEF-8963-86F0-A9D2-C388E4416450}"/>
              </a:ext>
            </a:extLst>
          </p:cNvPr>
          <p:cNvSpPr/>
          <p:nvPr userDrawn="1"/>
        </p:nvSpPr>
        <p:spPr>
          <a:xfrm rot="5400000">
            <a:off x="11106140" y="5699727"/>
            <a:ext cx="717559" cy="717559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flip="none" rotWithShape="1">
            <a:gsLst>
              <a:gs pos="99000">
                <a:schemeClr val="accent1">
                  <a:lumMod val="60000"/>
                  <a:lumOff val="40000"/>
                  <a:alpha val="45000"/>
                </a:schemeClr>
              </a:gs>
              <a:gs pos="0">
                <a:schemeClr val="accent4">
                  <a:lumMod val="60000"/>
                  <a:lumOff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Freeform 19">
            <a:extLst>
              <a:ext uri="{FF2B5EF4-FFF2-40B4-BE49-F238E27FC236}">
                <a16:creationId xmlns:a16="http://schemas.microsoft.com/office/drawing/2014/main" id="{38F63B3B-CE0D-C130-7784-E2D016F1C95C}"/>
              </a:ext>
            </a:extLst>
          </p:cNvPr>
          <p:cNvSpPr/>
          <p:nvPr userDrawn="1"/>
        </p:nvSpPr>
        <p:spPr>
          <a:xfrm rot="5400000">
            <a:off x="6872649" y="714894"/>
            <a:ext cx="319818" cy="31981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chemeClr val="bg1">
              <a:alpha val="7000"/>
            </a:scheme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Freeform 19">
            <a:extLst>
              <a:ext uri="{FF2B5EF4-FFF2-40B4-BE49-F238E27FC236}">
                <a16:creationId xmlns:a16="http://schemas.microsoft.com/office/drawing/2014/main" id="{0008A126-06CC-E53B-2D26-C2D3FB0DCF82}"/>
              </a:ext>
            </a:extLst>
          </p:cNvPr>
          <p:cNvSpPr/>
          <p:nvPr userDrawn="1"/>
        </p:nvSpPr>
        <p:spPr>
          <a:xfrm rot="5400000">
            <a:off x="1206912" y="5811360"/>
            <a:ext cx="247146" cy="24714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chemeClr val="bg1">
              <a:alpha val="7000"/>
            </a:schemeClr>
          </a:solidFill>
          <a:ln w="38100" cap="sq">
            <a:noFill/>
            <a:prstDash val="solid"/>
            <a:miter/>
          </a:ln>
        </p:spPr>
        <p:txBody>
          <a:bodyPr/>
          <a:lstStyle/>
          <a:p>
            <a:pPr lvl="0" defTabSz="609630"/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AutoShape 22">
            <a:extLst>
              <a:ext uri="{FF2B5EF4-FFF2-40B4-BE49-F238E27FC236}">
                <a16:creationId xmlns:a16="http://schemas.microsoft.com/office/drawing/2014/main" id="{1E5220A5-F470-CF6C-9C4A-0C566EC1E2B8}"/>
              </a:ext>
            </a:extLst>
          </p:cNvPr>
          <p:cNvSpPr/>
          <p:nvPr userDrawn="1"/>
        </p:nvSpPr>
        <p:spPr>
          <a:xfrm flipH="1" flipV="1">
            <a:off x="663784" y="4785327"/>
            <a:ext cx="0" cy="914400"/>
          </a:xfrm>
          <a:prstGeom prst="line">
            <a:avLst/>
          </a:prstGeom>
          <a:ln w="9525" cap="flat">
            <a:solidFill>
              <a:schemeClr val="accent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93744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984" y="279400"/>
            <a:ext cx="11174316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984" y="1295401"/>
            <a:ext cx="11174316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Shape 728"/>
          <p:cNvPicPr preferRelativeResize="0"/>
          <p:nvPr userDrawn="1"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98087" y="6278398"/>
            <a:ext cx="447956" cy="44795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865" y="862013"/>
            <a:ext cx="11169435" cy="347662"/>
          </a:xfrm>
        </p:spPr>
        <p:txBody>
          <a:bodyPr>
            <a:noAutofit/>
          </a:bodyPr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0315E8-5437-4FCE-8EB4-451686255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9984" y="6129337"/>
            <a:ext cx="5784754" cy="189218"/>
          </a:xfrm>
        </p:spPr>
        <p:txBody>
          <a:bodyPr lIns="0"/>
          <a:lstStyle>
            <a:lvl1pPr marL="0" indent="0">
              <a:buNone/>
              <a:defRPr sz="800" b="0" i="1" baseline="0"/>
            </a:lvl1pPr>
            <a:lvl2pPr>
              <a:defRPr sz="800" b="0" i="1" baseline="0"/>
            </a:lvl2pPr>
            <a:lvl3pPr>
              <a:defRPr sz="800" b="0" i="1" baseline="0"/>
            </a:lvl3pPr>
            <a:lvl4pPr>
              <a:defRPr sz="800" b="0" i="1" baseline="0"/>
            </a:lvl4pPr>
            <a:lvl5pPr>
              <a:defRPr sz="800" b="0" i="1" baseline="0"/>
            </a:lvl5pPr>
          </a:lstStyle>
          <a:p>
            <a:pPr lvl="0"/>
            <a:r>
              <a:rPr lang="en-US" dirty="0"/>
              <a:t>Source: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474EB-6BE3-F87A-046B-C82AF2777C45}"/>
              </a:ext>
            </a:extLst>
          </p:cNvPr>
          <p:cNvSpPr txBox="1">
            <a:spLocks/>
          </p:cNvSpPr>
          <p:nvPr userDrawn="1"/>
        </p:nvSpPr>
        <p:spPr>
          <a:xfrm>
            <a:off x="593913" y="6326468"/>
            <a:ext cx="385277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// © 2026 Sutherland Global Services, Inc. All Rights Reserved.	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170DED5-0E76-D867-AF87-071A26322FF6}"/>
              </a:ext>
            </a:extLst>
          </p:cNvPr>
          <p:cNvSpPr txBox="1">
            <a:spLocks/>
          </p:cNvSpPr>
          <p:nvPr userDrawn="1"/>
        </p:nvSpPr>
        <p:spPr>
          <a:xfrm>
            <a:off x="369984" y="6323387"/>
            <a:ext cx="365123" cy="3712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DCA4D-B942-BC47-92B6-393DE0C995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14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wo colleagues planning on board with sticky notes">
            <a:extLst>
              <a:ext uri="{FF2B5EF4-FFF2-40B4-BE49-F238E27FC236}">
                <a16:creationId xmlns:a16="http://schemas.microsoft.com/office/drawing/2014/main" id="{F329BBB8-98F9-CE5F-DE80-B7EA068C7F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983" t="12850" r="33" b="16425"/>
          <a:stretch>
            <a:fillRect/>
          </a:stretch>
        </p:blipFill>
        <p:spPr>
          <a:xfrm flipH="1">
            <a:off x="-4" y="0"/>
            <a:ext cx="12192004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47D358-A10E-7391-C642-F691D17D9805}"/>
              </a:ext>
            </a:extLst>
          </p:cNvPr>
          <p:cNvSpPr/>
          <p:nvPr userDrawn="1"/>
        </p:nvSpPr>
        <p:spPr>
          <a:xfrm rot="10800000" flipH="1" flipV="1">
            <a:off x="0" y="0"/>
            <a:ext cx="12191999" cy="6857999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51000">
                <a:schemeClr val="accent1">
                  <a:lumMod val="5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8A7FBF-9C8A-48A5-FECE-C73ECB4F52D7}"/>
              </a:ext>
            </a:extLst>
          </p:cNvPr>
          <p:cNvSpPr/>
          <p:nvPr userDrawn="1"/>
        </p:nvSpPr>
        <p:spPr>
          <a:xfrm>
            <a:off x="-2" y="-2"/>
            <a:ext cx="12191999" cy="6858002"/>
          </a:xfrm>
          <a:prstGeom prst="rect">
            <a:avLst/>
          </a:prstGeom>
          <a:gradFill flip="none" rotWithShape="1">
            <a:gsLst>
              <a:gs pos="14700">
                <a:srgbClr val="26235D">
                  <a:alpha val="62000"/>
                </a:srgbClr>
              </a:gs>
              <a:gs pos="0">
                <a:schemeClr val="accent1">
                  <a:alpha val="34000"/>
                </a:schemeClr>
              </a:gs>
              <a:gs pos="30000">
                <a:schemeClr val="accent1">
                  <a:alpha val="48000"/>
                </a:schemeClr>
              </a:gs>
              <a:gs pos="79021">
                <a:schemeClr val="accent1">
                  <a:lumMod val="75000"/>
                </a:schemeClr>
              </a:gs>
              <a:gs pos="58000">
                <a:schemeClr val="accent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227B40-3467-A7F3-4D4F-190ADF1EFEC7}"/>
              </a:ext>
            </a:extLst>
          </p:cNvPr>
          <p:cNvSpPr/>
          <p:nvPr userDrawn="1"/>
        </p:nvSpPr>
        <p:spPr>
          <a:xfrm rot="10800000">
            <a:off x="1" y="-1"/>
            <a:ext cx="12191999" cy="6858002"/>
          </a:xfrm>
          <a:prstGeom prst="rect">
            <a:avLst/>
          </a:prstGeom>
          <a:gradFill flip="none" rotWithShape="1">
            <a:gsLst>
              <a:gs pos="64000">
                <a:schemeClr val="tx1">
                  <a:alpha val="54000"/>
                </a:schemeClr>
              </a:gs>
              <a:gs pos="0">
                <a:schemeClr val="accent1">
                  <a:lumMod val="5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984" y="279400"/>
            <a:ext cx="11174316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984" y="1295401"/>
            <a:ext cx="11174316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865" y="862013"/>
            <a:ext cx="11169435" cy="347662"/>
          </a:xfrm>
        </p:spPr>
        <p:txBody>
          <a:bodyPr>
            <a:noAutofit/>
          </a:bodyPr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0315E8-5437-4FCE-8EB4-451686255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9984" y="6129337"/>
            <a:ext cx="5784754" cy="189218"/>
          </a:xfrm>
        </p:spPr>
        <p:txBody>
          <a:bodyPr lIns="0"/>
          <a:lstStyle>
            <a:lvl1pPr marL="0" indent="0">
              <a:buNone/>
              <a:defRPr sz="800" b="0" i="1" baseline="0"/>
            </a:lvl1pPr>
            <a:lvl2pPr>
              <a:defRPr sz="800" b="0" i="1" baseline="0"/>
            </a:lvl2pPr>
            <a:lvl3pPr>
              <a:defRPr sz="800" b="0" i="1" baseline="0"/>
            </a:lvl3pPr>
            <a:lvl4pPr>
              <a:defRPr sz="800" b="0" i="1" baseline="0"/>
            </a:lvl4pPr>
            <a:lvl5pPr>
              <a:defRPr sz="800" b="0" i="1" baseline="0"/>
            </a:lvl5pPr>
          </a:lstStyle>
          <a:p>
            <a:pPr lvl="0"/>
            <a:r>
              <a:rPr lang="en-US" dirty="0"/>
              <a:t>Source: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474EB-6BE3-F87A-046B-C82AF2777C45}"/>
              </a:ext>
            </a:extLst>
          </p:cNvPr>
          <p:cNvSpPr txBox="1">
            <a:spLocks/>
          </p:cNvSpPr>
          <p:nvPr userDrawn="1"/>
        </p:nvSpPr>
        <p:spPr>
          <a:xfrm>
            <a:off x="593913" y="6326468"/>
            <a:ext cx="385277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// © 2026 Sutherland Global Services, Inc. All Rights Reserved.	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170DED5-0E76-D867-AF87-071A26322FF6}"/>
              </a:ext>
            </a:extLst>
          </p:cNvPr>
          <p:cNvSpPr txBox="1">
            <a:spLocks/>
          </p:cNvSpPr>
          <p:nvPr userDrawn="1"/>
        </p:nvSpPr>
        <p:spPr>
          <a:xfrm>
            <a:off x="369984" y="6323387"/>
            <a:ext cx="365123" cy="3712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DCA4D-B942-BC47-92B6-393DE0C995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14" name="Shape 728">
            <a:extLst>
              <a:ext uri="{FF2B5EF4-FFF2-40B4-BE49-F238E27FC236}">
                <a16:creationId xmlns:a16="http://schemas.microsoft.com/office/drawing/2014/main" id="{39AE77BA-71D4-9D86-1647-F547AE78D025}"/>
              </a:ext>
            </a:extLst>
          </p:cNvPr>
          <p:cNvPicPr preferRelativeResize="0"/>
          <p:nvPr userDrawn="1"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2108" y="197217"/>
            <a:ext cx="447956" cy="4479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622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984" y="279400"/>
            <a:ext cx="11174316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984" y="1295401"/>
            <a:ext cx="11174316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865" y="862013"/>
            <a:ext cx="11169435" cy="347662"/>
          </a:xfrm>
        </p:spPr>
        <p:txBody>
          <a:bodyPr>
            <a:noAutofit/>
          </a:bodyPr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0315E8-5437-4FCE-8EB4-451686255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9984" y="6129337"/>
            <a:ext cx="5784754" cy="189218"/>
          </a:xfrm>
        </p:spPr>
        <p:txBody>
          <a:bodyPr lIns="0"/>
          <a:lstStyle>
            <a:lvl1pPr marL="0" indent="0">
              <a:buNone/>
              <a:defRPr sz="800" b="0" i="1" baseline="0"/>
            </a:lvl1pPr>
            <a:lvl2pPr>
              <a:defRPr sz="800" b="0" i="1" baseline="0"/>
            </a:lvl2pPr>
            <a:lvl3pPr>
              <a:defRPr sz="800" b="0" i="1" baseline="0"/>
            </a:lvl3pPr>
            <a:lvl4pPr>
              <a:defRPr sz="800" b="0" i="1" baseline="0"/>
            </a:lvl4pPr>
            <a:lvl5pPr>
              <a:defRPr sz="800" b="0" i="1" baseline="0"/>
            </a:lvl5pPr>
          </a:lstStyle>
          <a:p>
            <a:pPr lvl="0"/>
            <a:r>
              <a:rPr lang="en-US" dirty="0"/>
              <a:t>Source: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474EB-6BE3-F87A-046B-C82AF2777C45}"/>
              </a:ext>
            </a:extLst>
          </p:cNvPr>
          <p:cNvSpPr txBox="1">
            <a:spLocks/>
          </p:cNvSpPr>
          <p:nvPr userDrawn="1"/>
        </p:nvSpPr>
        <p:spPr>
          <a:xfrm>
            <a:off x="593913" y="6326468"/>
            <a:ext cx="385277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// © 2026 Sutherland Global Services, Inc. All Rights Reserved.	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170DED5-0E76-D867-AF87-071A26322FF6}"/>
              </a:ext>
            </a:extLst>
          </p:cNvPr>
          <p:cNvSpPr txBox="1">
            <a:spLocks/>
          </p:cNvSpPr>
          <p:nvPr userDrawn="1"/>
        </p:nvSpPr>
        <p:spPr>
          <a:xfrm>
            <a:off x="369984" y="6323387"/>
            <a:ext cx="365123" cy="3712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DCA4D-B942-BC47-92B6-393DE0C995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1027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st t &amp; c">
    <p:bg>
      <p:bgPr>
        <a:gradFill flip="none" rotWithShape="1">
          <a:gsLst>
            <a:gs pos="67000">
              <a:schemeClr val="accent1"/>
            </a:gs>
            <a:gs pos="10000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842" y="279400"/>
            <a:ext cx="11174316" cy="587375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Shape 728"/>
          <p:cNvPicPr preferRelativeResize="0"/>
          <p:nvPr userDrawn="1"/>
        </p:nvPicPr>
        <p:blipFill rotWithShape="1">
          <a:blip r:embed="rId5" cstate="screen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36372" y="6288837"/>
            <a:ext cx="371287" cy="37128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1283" y="862013"/>
            <a:ext cx="11169435" cy="347662"/>
          </a:xfrm>
        </p:spPr>
        <p:txBody>
          <a:bodyPr>
            <a:no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474EB-6BE3-F87A-046B-C82AF2777C45}"/>
              </a:ext>
            </a:extLst>
          </p:cNvPr>
          <p:cNvSpPr txBox="1">
            <a:spLocks/>
          </p:cNvSpPr>
          <p:nvPr userDrawn="1"/>
        </p:nvSpPr>
        <p:spPr>
          <a:xfrm>
            <a:off x="593913" y="6291918"/>
            <a:ext cx="385277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// © 2026 Sutherland Global Services, Inc. All Rights Reserved.	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170DED5-0E76-D867-AF87-071A26322FF6}"/>
              </a:ext>
            </a:extLst>
          </p:cNvPr>
          <p:cNvSpPr txBox="1">
            <a:spLocks/>
          </p:cNvSpPr>
          <p:nvPr userDrawn="1"/>
        </p:nvSpPr>
        <p:spPr>
          <a:xfrm>
            <a:off x="369984" y="6288837"/>
            <a:ext cx="365123" cy="3712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DCA4D-B942-BC47-92B6-393DE0C995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559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5">
            <a:extLst>
              <a:ext uri="{FF2B5EF4-FFF2-40B4-BE49-F238E27FC236}">
                <a16:creationId xmlns:a16="http://schemas.microsoft.com/office/drawing/2014/main" id="{3B9E8808-ADBE-4DE3-9B92-0DF283BA25F1}"/>
              </a:ext>
            </a:extLst>
          </p:cNvPr>
          <p:cNvSpPr/>
          <p:nvPr userDrawn="1"/>
        </p:nvSpPr>
        <p:spPr>
          <a:xfrm>
            <a:off x="0" y="1"/>
            <a:ext cx="4851400" cy="6858000"/>
          </a:xfrm>
          <a:custGeom>
            <a:avLst/>
            <a:gdLst/>
            <a:ahLst/>
            <a:cxnLst/>
            <a:rect l="l" t="t" r="r" b="b"/>
            <a:pathLst>
              <a:path w="1834252" h="2912752">
                <a:moveTo>
                  <a:pt x="0" y="0"/>
                </a:moveTo>
                <a:lnTo>
                  <a:pt x="1834252" y="0"/>
                </a:lnTo>
                <a:lnTo>
                  <a:pt x="1834252" y="2912752"/>
                </a:lnTo>
                <a:lnTo>
                  <a:pt x="0" y="2912752"/>
                </a:lnTo>
                <a:close/>
              </a:path>
            </a:pathLst>
          </a:custGeom>
          <a:gradFill flip="none" rotWithShape="1">
            <a:gsLst>
              <a:gs pos="39000">
                <a:schemeClr val="accent1"/>
              </a:gs>
              <a:gs pos="100000">
                <a:schemeClr val="accent4"/>
              </a:gs>
            </a:gsLst>
            <a:lin ang="2700000" scaled="1"/>
            <a:tileRect/>
          </a:grad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42E8009-2382-22FF-A2D2-DD8CE2C1378C}"/>
              </a:ext>
            </a:extLst>
          </p:cNvPr>
          <p:cNvSpPr/>
          <p:nvPr userDrawn="1"/>
        </p:nvSpPr>
        <p:spPr>
          <a:xfrm>
            <a:off x="0" y="3386072"/>
            <a:ext cx="4597560" cy="3471929"/>
          </a:xfrm>
          <a:custGeom>
            <a:avLst/>
            <a:gdLst>
              <a:gd name="connsiteX0" fmla="*/ 1103812 w 4597560"/>
              <a:gd name="connsiteY0" fmla="*/ 0 h 3471929"/>
              <a:gd name="connsiteX1" fmla="*/ 4593580 w 4597560"/>
              <a:gd name="connsiteY1" fmla="*/ 3314497 h 3471929"/>
              <a:gd name="connsiteX2" fmla="*/ 4597560 w 4597560"/>
              <a:gd name="connsiteY2" fmla="*/ 3471929 h 3471929"/>
              <a:gd name="connsiteX3" fmla="*/ 0 w 4597560"/>
              <a:gd name="connsiteY3" fmla="*/ 3471929 h 3471929"/>
              <a:gd name="connsiteX4" fmla="*/ 0 w 4597560"/>
              <a:gd name="connsiteY4" fmla="*/ 181470 h 3471929"/>
              <a:gd name="connsiteX5" fmla="*/ 95544 w 4597560"/>
              <a:gd name="connsiteY5" fmla="*/ 147664 h 3471929"/>
              <a:gd name="connsiteX6" fmla="*/ 1103812 w 4597560"/>
              <a:gd name="connsiteY6" fmla="*/ 0 h 3471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7560" h="3471929">
                <a:moveTo>
                  <a:pt x="1103812" y="0"/>
                </a:moveTo>
                <a:cubicBezTo>
                  <a:pt x="2973360" y="0"/>
                  <a:pt x="4499991" y="1468208"/>
                  <a:pt x="4593580" y="3314497"/>
                </a:cubicBezTo>
                <a:lnTo>
                  <a:pt x="4597560" y="3471929"/>
                </a:lnTo>
                <a:lnTo>
                  <a:pt x="0" y="3471929"/>
                </a:lnTo>
                <a:lnTo>
                  <a:pt x="0" y="181470"/>
                </a:lnTo>
                <a:lnTo>
                  <a:pt x="95544" y="147664"/>
                </a:lnTo>
                <a:cubicBezTo>
                  <a:pt x="414787" y="51617"/>
                  <a:pt x="753272" y="0"/>
                  <a:pt x="1103812" y="0"/>
                </a:cubicBezTo>
                <a:close/>
              </a:path>
            </a:pathLst>
          </a:custGeom>
          <a:gradFill>
            <a:gsLst>
              <a:gs pos="100000">
                <a:schemeClr val="accent3">
                  <a:alpha val="15000"/>
                </a:schemeClr>
              </a:gs>
              <a:gs pos="31000">
                <a:schemeClr val="accent4">
                  <a:alpha val="18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38" y="365125"/>
            <a:ext cx="10901362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Shape 728"/>
          <p:cNvPicPr preferRelativeResize="0"/>
          <p:nvPr userDrawn="1"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79066" y="5947534"/>
            <a:ext cx="576663" cy="57666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0315E8-5437-4FCE-8EB4-451686255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700" y="5976650"/>
            <a:ext cx="5507038" cy="208555"/>
          </a:xfrm>
        </p:spPr>
        <p:txBody>
          <a:bodyPr lIns="0"/>
          <a:lstStyle>
            <a:lvl1pPr marL="0" indent="0">
              <a:buNone/>
              <a:defRPr sz="800" b="0" i="1" baseline="0"/>
            </a:lvl1pPr>
            <a:lvl2pPr>
              <a:defRPr sz="800" b="0" i="1" baseline="0"/>
            </a:lvl2pPr>
            <a:lvl3pPr>
              <a:defRPr sz="800" b="0" i="1" baseline="0"/>
            </a:lvl3pPr>
            <a:lvl4pPr>
              <a:defRPr sz="800" b="0" i="1" baseline="0"/>
            </a:lvl4pPr>
            <a:lvl5pPr>
              <a:defRPr sz="800" b="0" i="1" baseline="0"/>
            </a:lvl5pPr>
          </a:lstStyle>
          <a:p>
            <a:pPr lvl="0"/>
            <a:r>
              <a:rPr lang="en-US" dirty="0"/>
              <a:t>Source: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474EB-6BE3-F87A-046B-C82AF2777C45}"/>
              </a:ext>
            </a:extLst>
          </p:cNvPr>
          <p:cNvSpPr txBox="1">
            <a:spLocks/>
          </p:cNvSpPr>
          <p:nvPr userDrawn="1"/>
        </p:nvSpPr>
        <p:spPr>
          <a:xfrm>
            <a:off x="632013" y="6180046"/>
            <a:ext cx="385277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// © 2025 Sutherland Global Services, Inc. All Rights Reserved.	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170DED5-0E76-D867-AF87-071A26322FF6}"/>
              </a:ext>
            </a:extLst>
          </p:cNvPr>
          <p:cNvSpPr txBox="1">
            <a:spLocks/>
          </p:cNvSpPr>
          <p:nvPr userDrawn="1"/>
        </p:nvSpPr>
        <p:spPr>
          <a:xfrm>
            <a:off x="369984" y="6176965"/>
            <a:ext cx="365123" cy="3712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DCA4D-B942-BC47-92B6-393DE0C995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888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212360B-0EB7-4F75-BAF6-274AB652A1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32014" y="6334059"/>
            <a:ext cx="3858100" cy="346667"/>
          </a:xfrm>
        </p:spPr>
        <p:txBody>
          <a:bodyPr/>
          <a:lstStyle/>
          <a:p>
            <a:r>
              <a:rPr lang="en-US" dirty="0">
                <a:solidFill>
                  <a:srgbClr val="6E797C"/>
                </a:solidFill>
              </a:rPr>
              <a:t>©2026 Sutherland, Inc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B74C95-DAAC-4BC9-AF5B-80AAA4E09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3" y="6321749"/>
            <a:ext cx="365123" cy="371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6" name="Shape 728">
            <a:extLst>
              <a:ext uri="{FF2B5EF4-FFF2-40B4-BE49-F238E27FC236}">
                <a16:creationId xmlns:a16="http://schemas.microsoft.com/office/drawing/2014/main" id="{6B5D3202-BB21-47CB-B6B0-FBAF72480E81}"/>
              </a:ext>
            </a:extLst>
          </p:cNvPr>
          <p:cNvPicPr preferRelativeResize="0"/>
          <p:nvPr userDrawn="1"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0534" y="6105358"/>
            <a:ext cx="540378" cy="5461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2C3D9-8C51-0194-C666-26177568C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09750"/>
            <a:ext cx="11534775" cy="490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C734B4C-3995-4B71-23F5-56EA8BF4FB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4799" y="865188"/>
            <a:ext cx="11534775" cy="3714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2336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216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  <p15:guide id="9" pos="3998">
          <p15:clr>
            <a:srgbClr val="FBAE40"/>
          </p15:clr>
        </p15:guide>
        <p15:guide id="10" pos="370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38" y="365125"/>
            <a:ext cx="10901362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1E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38" y="1295401"/>
            <a:ext cx="10901362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947738"/>
            <a:ext cx="10896600" cy="347662"/>
          </a:xfr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11CCA-9C73-F3B2-2896-3956A595F61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// © 2025  Sutherland Global Services, Inc. All Rights Reserved.	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C6BA8-3CEA-0A17-81DE-8C876AB96E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C6CDCA4D-B942-BC47-92B6-393DE0C9950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8465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Y-Texture">
    <p:bg>
      <p:bgPr>
        <a:blipFill dpi="0" rotWithShape="1">
          <a:blip r:embed="rId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1CA45D-5451-6E9C-1E70-7A2453D14C07}"/>
              </a:ext>
            </a:extLst>
          </p:cNvPr>
          <p:cNvSpPr/>
          <p:nvPr userDrawn="1"/>
        </p:nvSpPr>
        <p:spPr>
          <a:xfrm>
            <a:off x="0" y="-3571"/>
            <a:ext cx="12192000" cy="6865142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52F0C8-339D-090B-A4B1-59C96161D477}"/>
              </a:ext>
            </a:extLst>
          </p:cNvPr>
          <p:cNvSpPr/>
          <p:nvPr userDrawn="1"/>
        </p:nvSpPr>
        <p:spPr>
          <a:xfrm>
            <a:off x="0" y="-3571"/>
            <a:ext cx="12192000" cy="68651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2000">
                <a:schemeClr val="accent1">
                  <a:alpha val="46000"/>
                </a:schemeClr>
              </a:gs>
              <a:gs pos="100000">
                <a:schemeClr val="accent1">
                  <a:alpha val="48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09D2A7A-B09F-D6F6-5343-33C3A41CB0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4360" y="1530350"/>
            <a:ext cx="7238393" cy="3811585"/>
          </a:xfrm>
          <a:prstGeom prst="rect">
            <a:avLst/>
          </a:prstGeom>
        </p:spPr>
        <p:txBody>
          <a:bodyPr lIns="0" anchor="ctr"/>
          <a:lstStyle>
            <a:lvl1pPr marL="114300" indent="0">
              <a:lnSpc>
                <a:spcPct val="90000"/>
              </a:lnSpc>
              <a:buNone/>
              <a:defRPr sz="6600" b="1" i="0">
                <a:ln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defRPr>
                <a:ln>
                  <a:noFill/>
                </a:ln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30452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38" y="365125"/>
            <a:ext cx="10901362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1E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947738"/>
            <a:ext cx="10896600" cy="347662"/>
          </a:xfr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0315E8-5437-4FCE-8EB4-451686255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700" y="5976650"/>
            <a:ext cx="5507038" cy="208555"/>
          </a:xfrm>
        </p:spPr>
        <p:txBody>
          <a:bodyPr lIns="0"/>
          <a:lstStyle>
            <a:lvl1pPr marL="0" indent="0">
              <a:buNone/>
              <a:defRPr sz="800" b="0" i="1" baseline="0"/>
            </a:lvl1pPr>
            <a:lvl2pPr>
              <a:defRPr sz="800" b="0" i="1" baseline="0"/>
            </a:lvl2pPr>
            <a:lvl3pPr>
              <a:defRPr sz="800" b="0" i="1" baseline="0"/>
            </a:lvl3pPr>
            <a:lvl4pPr>
              <a:defRPr sz="800" b="0" i="1" baseline="0"/>
            </a:lvl4pPr>
            <a:lvl5pPr>
              <a:defRPr sz="800" b="0" i="1" baseline="0"/>
            </a:lvl5pPr>
          </a:lstStyle>
          <a:p>
            <a:pPr lvl="0"/>
            <a:r>
              <a:rPr lang="en-US" dirty="0"/>
              <a:t>Source: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4750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98230-1F79-4114-6113-2DD805A4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Google Shape;22;p3">
            <a:extLst>
              <a:ext uri="{FF2B5EF4-FFF2-40B4-BE49-F238E27FC236}">
                <a16:creationId xmlns:a16="http://schemas.microsoft.com/office/drawing/2014/main" id="{64D291A8-08C3-8FD5-D512-63400E0A9E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8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5B1F73A-6DAE-61F7-4469-29BC95066F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DAD715B-2828-C2FB-7693-7ADD5D23F409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215320" y="1062755"/>
            <a:ext cx="11753603" cy="5120640"/>
          </a:xfrm>
        </p:spPr>
        <p:txBody>
          <a:bodyPr>
            <a:normAutofit/>
          </a:bodyPr>
          <a:lstStyle>
            <a:lvl1pPr marL="2286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E625B77-5648-6FDB-D459-EA75A792B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© 2026 Sutherland Global Services, Inc. All Rights Reserved.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75151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98230-1F79-4114-6113-2DD805A4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Google Shape;22;p3">
            <a:extLst>
              <a:ext uri="{FF2B5EF4-FFF2-40B4-BE49-F238E27FC236}">
                <a16:creationId xmlns:a16="http://schemas.microsoft.com/office/drawing/2014/main" id="{64D291A8-08C3-8FD5-D512-63400E0A9E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8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5B1F73A-6DAE-61F7-4469-29BC95066F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DAD715B-2828-C2FB-7693-7ADD5D23F409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215320" y="1062755"/>
            <a:ext cx="11753603" cy="5120640"/>
          </a:xfrm>
        </p:spPr>
        <p:txBody>
          <a:bodyPr>
            <a:normAutofit/>
          </a:bodyPr>
          <a:lstStyle>
            <a:lvl1pPr marL="2286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E625B77-5648-6FDB-D459-EA75A792B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lang="en-PH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1841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98230-1F79-4114-6113-2DD805A4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Google Shape;22;p3">
            <a:extLst>
              <a:ext uri="{FF2B5EF4-FFF2-40B4-BE49-F238E27FC236}">
                <a16:creationId xmlns:a16="http://schemas.microsoft.com/office/drawing/2014/main" id="{64D291A8-08C3-8FD5-D512-63400E0A9E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8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DAD715B-2828-C2FB-7693-7ADD5D23F409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215320" y="1062755"/>
            <a:ext cx="11753603" cy="5120640"/>
          </a:xfrm>
        </p:spPr>
        <p:txBody>
          <a:bodyPr>
            <a:normAutofit/>
          </a:bodyPr>
          <a:lstStyle>
            <a:lvl1pPr marL="2286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2E2B7F6-25C0-E8ED-55E8-3FDFCE130C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B6FACD-CAEF-5CFC-8709-8AFBF14C3B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08888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4670B-B6C8-9EC2-AFEB-C4AF0AA4B40C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219454" y="1060704"/>
            <a:ext cx="5760720" cy="4994085"/>
          </a:xfrm>
        </p:spPr>
        <p:txBody>
          <a:bodyPr>
            <a:normAutofit/>
          </a:bodyPr>
          <a:lstStyle>
            <a:lvl1pPr marL="0" indent="0" algn="ctr">
              <a:buClr>
                <a:schemeClr val="accent4"/>
              </a:buClr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Preview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DD1D46-139C-4117-72FA-54085943D5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08201" y="1060704"/>
            <a:ext cx="5760720" cy="4994085"/>
          </a:xfrm>
        </p:spPr>
        <p:txBody>
          <a:bodyPr>
            <a:normAutofit/>
          </a:bodyPr>
          <a:lstStyle>
            <a:lvl1pPr marL="0" indent="0" algn="ctr">
              <a:buClr>
                <a:schemeClr val="accent4"/>
              </a:buClr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Preview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75794F-1472-2F8C-EBB7-56C3E092F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Google Shape;22;p3">
            <a:extLst>
              <a:ext uri="{FF2B5EF4-FFF2-40B4-BE49-F238E27FC236}">
                <a16:creationId xmlns:a16="http://schemas.microsoft.com/office/drawing/2014/main" id="{F226F535-4C41-893B-D35D-C2761B9302E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8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D146366-308F-4559-A5D3-A5CBEF7603E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E1B202F-D944-D878-B7C7-CBFD16974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83693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7CCA-1CBB-D076-A639-B3A53905B3A6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310571" y="1060703"/>
            <a:ext cx="5760720" cy="4187571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DD3924E-8917-9C3A-EC16-57ECBFFE0F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08203" y="1060703"/>
            <a:ext cx="5760720" cy="4187571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66EC2D6-DE0F-0D66-0436-62B692551D3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10571" y="5344188"/>
            <a:ext cx="5760720" cy="7629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3E0BBE5-40AD-B1DE-648E-802C60BECE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08203" y="5343525"/>
            <a:ext cx="5760720" cy="7629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E1DC7-0063-23AD-F848-D0E456E39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DF26D741-D323-E99C-E588-DD71D7DE96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987E85-DE8E-EE83-9215-E5A78A6621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6DC8D71-4A35-1098-D068-220F3520D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40175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45AC9-2FE1-5E84-42E5-C56CD32A1319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10571" y="1060704"/>
            <a:ext cx="3749040" cy="4297680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F59C2C-55FE-BF3B-CCF8-E22BD0E08B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24033" y="1060704"/>
            <a:ext cx="3749040" cy="4297680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9CEC50C-C1A7-E766-5A5C-EA0DA33511D0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8148129" y="1060704"/>
            <a:ext cx="3749040" cy="4297680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levelz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C34D49E-0D43-7AA8-2E9D-854E8D858563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310571" y="5459279"/>
            <a:ext cx="3749040" cy="666847"/>
          </a:xfrm>
        </p:spPr>
        <p:txBody>
          <a:bodyPr anchor="ctr">
            <a:normAutofit/>
          </a:bodyPr>
          <a:lstStyle>
            <a:lvl1pPr marL="0" indent="0" algn="ctr">
              <a:buClr>
                <a:schemeClr val="accent4"/>
              </a:buClr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4E8BFE9-2B35-59D5-EBF1-3A12CED82D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24033" y="5459279"/>
            <a:ext cx="3749040" cy="666847"/>
          </a:xfrm>
        </p:spPr>
        <p:txBody>
          <a:bodyPr anchor="ctr">
            <a:normAutofit/>
          </a:bodyPr>
          <a:lstStyle>
            <a:lvl1pPr marL="0" indent="0" algn="ctr">
              <a:buClr>
                <a:schemeClr val="accent4"/>
              </a:buClr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F21D3EE-363F-1ACF-52E6-BCF91F3FD98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48129" y="5459279"/>
            <a:ext cx="3749040" cy="666847"/>
          </a:xfrm>
        </p:spPr>
        <p:txBody>
          <a:bodyPr anchor="ctr">
            <a:normAutofit/>
          </a:bodyPr>
          <a:lstStyle>
            <a:lvl1pPr marL="0" indent="0" algn="ctr">
              <a:buClr>
                <a:schemeClr val="accent4"/>
              </a:buClr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009FFCE-9186-98FC-F9D8-70B9EB209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6" y="293027"/>
            <a:ext cx="11762575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911ED0E-FAB2-EE92-E1C2-1A68C44C0F3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6" y="731874"/>
            <a:ext cx="11649456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01021A-BA96-DA8C-50DE-D328BA3AF1B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9421EDD-B079-945D-C77B-090668AEB4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64534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6133242-6454-58D2-F6F1-3063411454F3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310570" y="1060704"/>
            <a:ext cx="2834640" cy="4276288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299FF25-6EF2-BD34-8677-13014C5D445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51808" y="1060704"/>
            <a:ext cx="2834640" cy="4276288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EFF2BF-3DDA-05D2-C837-A8FC87B56001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6193046" y="1060704"/>
            <a:ext cx="2834640" cy="4276288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levelz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140EAFF-814D-E981-3622-45BF045E64A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134283" y="1060704"/>
            <a:ext cx="2834640" cy="4276288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levelz</a:t>
            </a:r>
            <a:endParaRPr lang="en-US" dirty="0"/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5589876C-A28D-82A7-D70D-F0B763C5BCA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11150" y="5465100"/>
            <a:ext cx="2834640" cy="641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EEF46513-5845-7AB3-527C-59E9FF21D32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93238" y="5465100"/>
            <a:ext cx="2834640" cy="641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71805831-39CA-6B2F-7FAC-6D78C67DCDD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252194" y="5465100"/>
            <a:ext cx="2834640" cy="641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F00FEA9-A9EF-695F-EA52-FEFDF18A46F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134283" y="5465100"/>
            <a:ext cx="2834640" cy="641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1770DE-8AB2-8E8F-006C-0B17770F6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94B074D6-BEB9-7FCB-633B-8DA7447E69F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F421C29-496E-C0CA-8D11-F844EF9FC3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5463735-45A2-D845-808C-4118018BF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C5C7C5">
                    <a:lumMod val="75000"/>
                  </a:srgbClr>
                </a:solidFill>
                <a:latin typeface="Arial" panose="020B0604020202020204"/>
              </a:rPr>
              <a:t>//© 2026 Ontivuss Inc. All Rights Reserved.	</a:t>
            </a:r>
            <a:r>
              <a:rPr lang="en-US" dirty="0"/>
              <a:t>.	</a:t>
            </a:r>
            <a:endParaRPr lang="en-PH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61694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45AC9-2FE1-5E84-42E5-C56CD32A1319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10571" y="1060704"/>
            <a:ext cx="3749040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F59C2C-55FE-BF3B-CCF8-E22BD0E08B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46698" y="1060704"/>
            <a:ext cx="7822223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F5D2017-242F-8DB6-1732-F0DAC3D7C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6CD67FEE-5156-9090-8281-19EEC0D11EF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8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9475432-ECAC-D05A-AFE7-59A40F6025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C52176D-C93D-ADA2-7492-AEA044981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14480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D075AE0-BCE0-7C2E-F18D-39442B37BBF8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219457" y="1060704"/>
            <a:ext cx="9147828" cy="4992624"/>
          </a:xfrm>
        </p:spPr>
        <p:txBody>
          <a:bodyPr>
            <a:normAutofit/>
          </a:bodyPr>
          <a:lstStyle>
            <a:lvl1pPr>
              <a:spcBef>
                <a:spcPts val="300"/>
              </a:spcBef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300"/>
              </a:spcBef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300"/>
              </a:spcBef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300"/>
              </a:spcBef>
              <a:buClr>
                <a:schemeClr val="accent4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300"/>
              </a:spcBef>
              <a:buClr>
                <a:schemeClr val="accent4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5989B5-D40F-A9AE-B1E4-68BCBD66709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462977" y="1060704"/>
            <a:ext cx="2505945" cy="4989382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Clr>
                <a:schemeClr val="accent4"/>
              </a:buClr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300"/>
              </a:spcBef>
              <a:buClr>
                <a:schemeClr val="accent4"/>
              </a:buClr>
              <a:defRPr sz="1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300"/>
              </a:spcBef>
              <a:buClr>
                <a:schemeClr val="accent4"/>
              </a:buClr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300"/>
              </a:spcBef>
              <a:buClr>
                <a:schemeClr val="accent4"/>
              </a:buClr>
              <a:defRPr sz="12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300"/>
              </a:spcBef>
              <a:buClr>
                <a:schemeClr val="accent4"/>
              </a:buClr>
              <a:defRPr sz="12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8519DC0-D2E8-053D-6AA4-EEA775CA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3CD00E21-617B-5DD8-38B0-07C5A64135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8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652AA81-05B0-ECEC-3931-E88247B488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0EF0F-286F-C6B5-7975-FEA6EA531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99521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45AC9-2FE1-5E84-42E5-C56CD32A1319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10571" y="1060704"/>
            <a:ext cx="7818120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F59C2C-55FE-BF3B-CCF8-E22BD0E08B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19883" y="1060703"/>
            <a:ext cx="3749040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7669069-41C5-2511-D440-52B8C3F4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FF087114-FE99-5EE4-9450-B6DCA443A4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28EB0EA-7C0B-09D4-F2CE-5B3A5A170BB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7D9A9D2-AA27-0DA5-A934-0A3E4BFA5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3905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45AC9-2FE1-5E84-42E5-C56CD32A1319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10571" y="1060704"/>
            <a:ext cx="7818120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F59C2C-55FE-BF3B-CCF8-E22BD0E08B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09050" y="293027"/>
            <a:ext cx="3749040" cy="2428908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B16818-38A6-CD80-EE80-5D7ABDD7C013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09050" y="2829340"/>
            <a:ext cx="3749040" cy="3223988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3731B44-101F-80F5-2B24-4C24CD747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7921814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153F518-599E-428D-74DD-C47B884AB8C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7818120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618BFC-DF7B-8865-A84F-E0FC0BE615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743054-34EE-96FA-F98B-795E7562E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lang="en-PH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74141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E45AC9-2FE1-5E84-42E5-C56CD32A1319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10571" y="1060704"/>
            <a:ext cx="7818120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8F59C2C-55FE-BF3B-CCF8-E22BD0E08B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19883" y="1060704"/>
            <a:ext cx="3749040" cy="2290526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B16818-38A6-CD80-EE80-5D7ABDD7C013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19883" y="3440497"/>
            <a:ext cx="3749040" cy="2609589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467239E-E8BB-3873-D536-DD8B4695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Google Shape;22;p3">
            <a:extLst>
              <a:ext uri="{FF2B5EF4-FFF2-40B4-BE49-F238E27FC236}">
                <a16:creationId xmlns:a16="http://schemas.microsoft.com/office/drawing/2014/main" id="{3755B302-DF6C-C29E-C780-9B8C672FBB6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AC52C5D-D35C-AA11-3039-BA0E3594C9D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E68371-A877-D34B-9D2B-F756871D9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lang="en-PH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18882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7C24-DC7A-3DBD-5C68-C325865AB5C1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310571" y="1060703"/>
            <a:ext cx="3734878" cy="2468880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75F6E66-7227-77F1-228D-5F30AA652E6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72308" y="1060703"/>
            <a:ext cx="3734878" cy="2468880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CA29C66-1E0B-70AC-C82C-4A4CDCCAE2C0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8234045" y="1060703"/>
            <a:ext cx="3734878" cy="2468880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levelz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53B81A0-1439-EDB2-914A-2EE82B38A168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310571" y="3662628"/>
            <a:ext cx="3734878" cy="2468880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E53BA10-1039-DECD-1C02-CDD6B6D77ED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2308" y="3662628"/>
            <a:ext cx="3734878" cy="2468880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7119006-FCD2-D2DD-FFDE-DC7349BB570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4045" y="3662628"/>
            <a:ext cx="3734878" cy="2468880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levelz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2B15E-4A22-BE12-8E62-EE0D0686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750BE01-64EA-42E8-715D-51B4AC4094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46B661-7674-CD09-B0D9-053D2E47EC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6163949-D262-8338-F1F3-AA15A1EB7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69039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7C24-DC7A-3DBD-5C68-C325865AB5C1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310571" y="1060703"/>
            <a:ext cx="3749040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75F6E66-7227-77F1-228D-5F30AA652E6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65227" y="1060703"/>
            <a:ext cx="3749040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CA29C66-1E0B-70AC-C82C-4A4CDCCAE2C0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8219883" y="1060703"/>
            <a:ext cx="3749040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levelz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E0362-2E00-ECA8-14EC-B805E4557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BBCC6212-DC6A-8530-BB4F-DDD06E6FAF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202BFBF-1724-8014-1F94-DA3206EB53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91FB7D0-6369-720D-FF0B-CA9C0B3F0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lang="en-PH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377269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76BD35A-F68B-CA58-B4EC-1B22AB210AF4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308522" y="1060704"/>
            <a:ext cx="2834640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B149824-BC7C-59D8-E575-C2C7A2D793A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50442" y="1060704"/>
            <a:ext cx="2834640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4DA028-A985-4A52-FEC9-D0215D7EA5EC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6192362" y="1060704"/>
            <a:ext cx="2834640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levelz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5634639-DDEA-6C97-4928-7A4689538A9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134283" y="1060704"/>
            <a:ext cx="2834640" cy="499262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levelz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03B75F8-AD96-3019-DF46-1B1EC559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12B90CCE-9060-182A-C339-A281D280315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064AB4-36AB-1C2F-7544-13256411DB3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EFCFB45-A939-E47D-F7D1-C20A3FEFF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419930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C98C-6E9A-BF60-FC95-895614B5B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22;p3">
            <a:extLst>
              <a:ext uri="{FF2B5EF4-FFF2-40B4-BE49-F238E27FC236}">
                <a16:creationId xmlns:a16="http://schemas.microsoft.com/office/drawing/2014/main" id="{DE5BAA38-F2EB-4B2F-BEFA-FDFDD192A3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FAF8BDE-F843-2D80-B2AC-E23F6753D6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E6448-E08E-73CE-8254-252457787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23095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C98C-6E9A-BF60-FC95-895614B5B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22;p3">
            <a:extLst>
              <a:ext uri="{FF2B5EF4-FFF2-40B4-BE49-F238E27FC236}">
                <a16:creationId xmlns:a16="http://schemas.microsoft.com/office/drawing/2014/main" id="{DE5BAA38-F2EB-4B2F-BEFA-FDFDD192A3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8DE23C-8FDF-64C1-8988-D6ED0E6B9C7C}"/>
              </a:ext>
            </a:extLst>
          </p:cNvPr>
          <p:cNvSpPr/>
          <p:nvPr userDrawn="1"/>
        </p:nvSpPr>
        <p:spPr>
          <a:xfrm>
            <a:off x="6872074" y="3993406"/>
            <a:ext cx="4440693" cy="1338839"/>
          </a:xfrm>
          <a:prstGeom prst="rect">
            <a:avLst/>
          </a:prstGeom>
          <a:gradFill>
            <a:gsLst>
              <a:gs pos="58000">
                <a:schemeClr val="accent1"/>
              </a:gs>
              <a:gs pos="100000">
                <a:schemeClr val="accent4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4E14FE-6323-6D62-69C2-FC2CF9D57CCC}"/>
              </a:ext>
            </a:extLst>
          </p:cNvPr>
          <p:cNvSpPr/>
          <p:nvPr userDrawn="1"/>
        </p:nvSpPr>
        <p:spPr>
          <a:xfrm>
            <a:off x="6872074" y="2124413"/>
            <a:ext cx="4440693" cy="1338839"/>
          </a:xfrm>
          <a:prstGeom prst="rect">
            <a:avLst/>
          </a:prstGeom>
          <a:gradFill flip="none" rotWithShape="1">
            <a:gsLst>
              <a:gs pos="58000">
                <a:schemeClr val="accent1"/>
              </a:gs>
              <a:gs pos="10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30444-C558-9F08-5250-52FB7A2F9599}"/>
              </a:ext>
            </a:extLst>
          </p:cNvPr>
          <p:cNvSpPr/>
          <p:nvPr userDrawn="1"/>
        </p:nvSpPr>
        <p:spPr>
          <a:xfrm>
            <a:off x="879234" y="3993406"/>
            <a:ext cx="4440693" cy="1338839"/>
          </a:xfrm>
          <a:prstGeom prst="rect">
            <a:avLst/>
          </a:prstGeom>
          <a:gradFill>
            <a:gsLst>
              <a:gs pos="58000">
                <a:schemeClr val="accent1"/>
              </a:gs>
              <a:gs pos="100000">
                <a:schemeClr val="accent4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00691C-26E8-FE7D-1DD1-B88A0B637895}"/>
              </a:ext>
            </a:extLst>
          </p:cNvPr>
          <p:cNvSpPr/>
          <p:nvPr userDrawn="1"/>
        </p:nvSpPr>
        <p:spPr>
          <a:xfrm>
            <a:off x="879234" y="2124413"/>
            <a:ext cx="4440693" cy="1338839"/>
          </a:xfrm>
          <a:prstGeom prst="rect">
            <a:avLst/>
          </a:prstGeom>
          <a:gradFill flip="none" rotWithShape="1">
            <a:gsLst>
              <a:gs pos="58000">
                <a:schemeClr val="accent1"/>
              </a:gs>
              <a:gs pos="100000">
                <a:schemeClr val="accent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1BAAE58-1923-122A-DB5E-32C858A8EC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42793" y="2004764"/>
            <a:ext cx="1578551" cy="157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51"/>
            </a:lvl1pPr>
          </a:lstStyle>
          <a:p>
            <a:endParaRPr lang="en-US" dirty="0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C15EA652-9180-552A-3CD5-4E68EA18E52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70655" y="2004763"/>
            <a:ext cx="1578551" cy="157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51"/>
            </a:lvl1pPr>
          </a:lstStyle>
          <a:p>
            <a:endParaRPr lang="en-US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BDB50964-F8FB-9D08-D802-C92832870C0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70655" y="3874061"/>
            <a:ext cx="1578551" cy="157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51"/>
            </a:lvl1pPr>
          </a:lstStyle>
          <a:p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D6E752B7-5E4B-BB8F-53B2-4898FD1DC4F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42793" y="3874061"/>
            <a:ext cx="1578551" cy="15781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051"/>
            </a:lvl1pPr>
          </a:lstStyle>
          <a:p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E83B4B-34FB-2A35-8D2A-101DB47270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64271" y="4455860"/>
            <a:ext cx="3378521" cy="80315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D023D83-3D21-668F-C52E-0C6643DEEF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64270" y="2583424"/>
            <a:ext cx="3378521" cy="80315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720F519-689A-C754-1B54-A3E254FF22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64272" y="4068419"/>
            <a:ext cx="3378521" cy="387441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C45922C-1452-1953-26A0-91A0106BAC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4271" y="2195983"/>
            <a:ext cx="3378521" cy="387441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56F5967-F196-DBF7-23EA-409FE753FFB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49206" y="4455860"/>
            <a:ext cx="3378521" cy="803153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2067774-E365-9E46-00D5-B15896B663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49205" y="2583424"/>
            <a:ext cx="3378521" cy="803153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163EEC9-6CAD-68C1-17C3-AD42A4A794F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49207" y="4068419"/>
            <a:ext cx="3378521" cy="387441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F4DC0FE-F022-3A97-16F0-4082B2F960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849206" y="2195983"/>
            <a:ext cx="3378521" cy="387441"/>
          </a:xfrm>
        </p:spPr>
        <p:txBody>
          <a:bodyPr>
            <a:noAutofit/>
          </a:bodyPr>
          <a:lstStyle>
            <a:lvl1pPr marL="0" indent="0" algn="r"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3C83176-6149-CB54-4E4A-C857EB5179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06044450-0589-BA94-944D-06940628D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C5C7C5">
                    <a:lumMod val="75000"/>
                  </a:srgbClr>
                </a:solidFill>
                <a:latin typeface="Arial" panose="020B0604020202020204"/>
              </a:rPr>
              <a:t>//© 2026 Ontivuss Inc. All Rights Reserved.	</a:t>
            </a:r>
            <a:endParaRPr lang="en-PH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54646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C98C-6E9A-BF60-FC95-895614B5B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8977" y="293027"/>
            <a:ext cx="6411919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22;p3">
            <a:extLst>
              <a:ext uri="{FF2B5EF4-FFF2-40B4-BE49-F238E27FC236}">
                <a16:creationId xmlns:a16="http://schemas.microsoft.com/office/drawing/2014/main" id="{DE5BAA38-F2EB-4B2F-BEFA-FDFDD192A3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692099" y="731874"/>
            <a:ext cx="6296862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8B445606-7AC0-8DCF-A19E-E460B87EB0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327768" cy="6236208"/>
          </a:xfrm>
          <a:prstGeom prst="rect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36B7F85-FFAF-FD2C-B1E6-A3DC09C0DB6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578977" y="1060704"/>
            <a:ext cx="6389946" cy="517550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levelz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54AD60-807C-840B-6A18-066B16D24E1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2316839-F211-BA46-9E77-8C8D32BF5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06962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8B445606-7AC0-8DCF-A19E-E460B87EB0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7758" y="0"/>
            <a:ext cx="3274242" cy="6236208"/>
          </a:xfrm>
          <a:prstGeom prst="rect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2C2F9C-E385-F9E8-DA95-DC74843E651B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10570" y="1060704"/>
            <a:ext cx="8385155" cy="517550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85B42-C542-1B0F-EA80-6FB4C59A3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8488848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Google Shape;22;p3">
            <a:extLst>
              <a:ext uri="{FF2B5EF4-FFF2-40B4-BE49-F238E27FC236}">
                <a16:creationId xmlns:a16="http://schemas.microsoft.com/office/drawing/2014/main" id="{969C6B0B-329B-E5D6-BA09-999FA38C864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8375726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2FE366D-E102-1F3C-CE18-DE742F49A6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BF4E2A7-9631-A631-FE8A-09E773FE9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56325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8B445606-7AC0-8DCF-A19E-E460B87EB0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78140" y="1060704"/>
            <a:ext cx="4213860" cy="5175504"/>
          </a:xfrm>
          <a:prstGeom prst="rect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2C2F9C-E385-F9E8-DA95-DC74843E651B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10571" y="1060704"/>
            <a:ext cx="7541840" cy="517550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AAB10-119C-6232-02AE-C850A4CB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22;p3">
            <a:extLst>
              <a:ext uri="{FF2B5EF4-FFF2-40B4-BE49-F238E27FC236}">
                <a16:creationId xmlns:a16="http://schemas.microsoft.com/office/drawing/2014/main" id="{52051504-F5AC-DBEF-E2BE-7292D7B5F5A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CFA7C3-B380-229F-F8B3-D8ADA784F4E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47C3BDD-9C65-AE8A-2CCA-D8830DBB8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© 2026 Sutherland Global Services, Inc. All Rights Reserved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64381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FCABE9B-D6E9-2DC9-8F18-585EA2C0298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4729" y="1276839"/>
            <a:ext cx="2265850" cy="21437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28BA4437-8C30-B485-5232-6854605599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14729" y="3538932"/>
            <a:ext cx="2265850" cy="21437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FF653D24-E358-BBA3-3967-38B75890943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008864" y="3538932"/>
            <a:ext cx="2265850" cy="21437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DB720C5-E4EA-0950-85A9-BCF9E808384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02998" y="3538932"/>
            <a:ext cx="2265850" cy="21437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86B900B3-D0D8-6B2F-4C14-3CA5316F37A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2998" y="1276839"/>
            <a:ext cx="2265850" cy="21437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FDC2CD-1D5E-6E84-88EF-735FEAE303DE}"/>
              </a:ext>
            </a:extLst>
          </p:cNvPr>
          <p:cNvSpPr/>
          <p:nvPr userDrawn="1"/>
        </p:nvSpPr>
        <p:spPr>
          <a:xfrm rot="5400000">
            <a:off x="7069460" y="1216110"/>
            <a:ext cx="2143797" cy="2265259"/>
          </a:xfrm>
          <a:prstGeom prst="rect">
            <a:avLst/>
          </a:prstGeom>
          <a:gradFill flip="none" rotWithShape="1">
            <a:gsLst>
              <a:gs pos="100000">
                <a:srgbClr val="8D1F58"/>
              </a:gs>
              <a:gs pos="100000">
                <a:schemeClr val="accent4"/>
              </a:gs>
              <a:gs pos="64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01B3AD7-E11C-A372-779E-6212BA7E15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085234" y="1344914"/>
            <a:ext cx="2128594" cy="197881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0E565FA-44A4-DF9E-AC4D-0CD93435422F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215321" y="1276840"/>
            <a:ext cx="3965073" cy="4757342"/>
          </a:xfrm>
        </p:spPr>
        <p:txBody>
          <a:bodyPr>
            <a:normAutofit/>
          </a:bodyPr>
          <a:lstStyle>
            <a:lvl1pPr marL="2286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9946483-8EF9-C74A-2E3C-34D76DCE5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Google Shape;22;p3">
            <a:extLst>
              <a:ext uri="{FF2B5EF4-FFF2-40B4-BE49-F238E27FC236}">
                <a16:creationId xmlns:a16="http://schemas.microsoft.com/office/drawing/2014/main" id="{59C09E36-DB94-38B2-499F-00281283584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A5111D7-A7AC-0B11-A63D-4E2C16A57A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E2722AF-3DF4-99F4-7864-D6ED59B67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532543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EA42C8-6666-E988-B40F-37AFF94FE725}"/>
              </a:ext>
            </a:extLst>
          </p:cNvPr>
          <p:cNvSpPr/>
          <p:nvPr userDrawn="1"/>
        </p:nvSpPr>
        <p:spPr>
          <a:xfrm>
            <a:off x="-1" y="0"/>
            <a:ext cx="12192001" cy="3429000"/>
          </a:xfrm>
          <a:prstGeom prst="rect">
            <a:avLst/>
          </a:prstGeom>
          <a:gradFill flip="none" rotWithShape="1">
            <a:gsLst>
              <a:gs pos="100000">
                <a:srgbClr val="861F58"/>
              </a:gs>
              <a:gs pos="73000">
                <a:schemeClr val="accent1"/>
              </a:gs>
              <a:gs pos="100000">
                <a:schemeClr val="accent4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300"/>
              </a:spcBef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6DD924-C85C-55A8-8184-78E0D3DD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83" y="514350"/>
            <a:ext cx="11485746" cy="2381249"/>
          </a:xfrm>
        </p:spPr>
        <p:txBody>
          <a:bodyPr anchor="ctr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771D72D-7D4B-85B3-F0A2-3C3687F04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83" y="3530600"/>
            <a:ext cx="11485746" cy="241693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2F1E9E1-27A7-4C01-7591-40E39C9883B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05DAB2A-007C-EAEF-D66D-4499F0BD0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lang="en-PH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93609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29B3C4D-A70E-C5D0-FD88-E681845A9D83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329071" y="0"/>
            <a:ext cx="11486210" cy="6082748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Clr>
                <a:schemeClr val="accent4"/>
              </a:buClr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D7AB36D-6140-4BFA-42DC-A5C13757F6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F061F21-C6A9-05FF-1E2B-0176512FD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38418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29B3C4D-A70E-C5D0-FD88-E681845A9D83}"/>
              </a:ext>
            </a:extLst>
          </p:cNvPr>
          <p:cNvSpPr>
            <a:spLocks noGrp="1"/>
          </p:cNvSpPr>
          <p:nvPr>
            <p:ph idx="35"/>
          </p:nvPr>
        </p:nvSpPr>
        <p:spPr>
          <a:xfrm>
            <a:off x="0" y="-1"/>
            <a:ext cx="12192000" cy="6106449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Clr>
                <a:schemeClr val="accent4"/>
              </a:buClr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AA17C2C-785B-7242-96A9-4A0D739825A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9B41080-93D0-107B-802A-1C7861A50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292409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DAD715B-2828-C2FB-7693-7ADD5D23F409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215321" y="1926940"/>
            <a:ext cx="3451071" cy="4107241"/>
          </a:xfrm>
        </p:spPr>
        <p:txBody>
          <a:bodyPr>
            <a:normAutofit/>
          </a:bodyPr>
          <a:lstStyle>
            <a:lvl1pPr marL="2286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5DD62-BFB0-6822-5872-50D0DBE01BA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6392" y="0"/>
            <a:ext cx="8525608" cy="610711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78F242-78EA-3D54-4F17-302CEB67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3459515" cy="1066646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endParaRPr lang="en-US" dirty="0"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9B9411FB-BDA7-703D-CA7E-13411D5FF6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1359672"/>
            <a:ext cx="3426243" cy="567267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C3633DD-9EE0-1F6F-9F83-BF6D78FB28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DC8EE88-D3E1-523C-E11C-84663EF82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6212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5DD62-BFB0-6822-5872-50D0DBE01BA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095462"/>
            <a:ext cx="12192000" cy="5011652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4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F11A0-DC2F-1D06-5F26-AF503C96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BA7AB1F8-6736-6D62-3C7E-2EDD3426722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8CEC78-8823-7C99-390F-D923FA4D32B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C635947-776D-CB09-AE71-094EE056E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©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270865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7C981E0-C1D4-9FBF-846D-57F14610F8C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88311" y="1291472"/>
            <a:ext cx="5655045" cy="233961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FDECED7-DC5A-D0E7-CA61-B7729C74608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188311" y="3691756"/>
            <a:ext cx="5655045" cy="233961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12DC38CB-8D0B-3983-74B7-684F6E6A89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45062" y="1291472"/>
            <a:ext cx="5655045" cy="233961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5022E531-5FE9-0BFE-9B19-C432F080F7A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45062" y="3691756"/>
            <a:ext cx="5655045" cy="233961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07924-3516-74C9-2AC2-19A682D5D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Google Shape;22;p3">
            <a:extLst>
              <a:ext uri="{FF2B5EF4-FFF2-40B4-BE49-F238E27FC236}">
                <a16:creationId xmlns:a16="http://schemas.microsoft.com/office/drawing/2014/main" id="{ED4D0CE0-62E3-F23F-5009-E6C7A242C5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66ACB3-B7EA-402B-EAB3-A63437B392C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6BDBC-E48F-5CD0-74A9-BB0541A5C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254697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B7BC98B-021E-B4A1-3922-634A642577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355023" y="1291472"/>
            <a:ext cx="3526375" cy="2295144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A34277B-1560-423F-0C12-DC6C12412242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47573" y="1291472"/>
            <a:ext cx="3526375" cy="2295144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3DDD6A5E-5F47-AF81-30CF-51B5372C553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355023" y="3781396"/>
            <a:ext cx="3526375" cy="2295144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99B8908E-1412-0D6C-F8A0-657A39536F4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47573" y="3781396"/>
            <a:ext cx="3526375" cy="2295144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5F45CAA2-7C33-B3B1-FDE9-3C018D4D5948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253523" y="1291472"/>
            <a:ext cx="3526375" cy="2295144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99202F7-A833-0289-493D-A372C0CBD3EB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253523" y="3781396"/>
            <a:ext cx="3526375" cy="2295144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34233-072C-6EFF-6E3D-FF4CF73D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75BCDFDF-CFCA-EEE0-0F6B-612A609FA8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135508-9F00-910B-008D-182FE9ED0C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9B15B45-32DF-6DB8-DA46-DB55A863E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r>
              <a:rPr lang="en-PH" dirty="0"/>
              <a:t>	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677407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CEC0CFD-22F3-0855-977A-8CF0FBC75E4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7567" y="1487314"/>
            <a:ext cx="2779984" cy="19077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7C981E0-C1D4-9FBF-846D-57F14610F8C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51715" y="1487314"/>
            <a:ext cx="2779984" cy="19077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096CFF21-54D0-CBE7-45C0-77C37ED2037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217567" y="3784858"/>
            <a:ext cx="2779984" cy="19077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FDECED7-DC5A-D0E7-CA61-B7729C74608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151715" y="3784858"/>
            <a:ext cx="2779984" cy="19077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12DC38CB-8D0B-3983-74B7-684F6E6A89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83419" y="1487314"/>
            <a:ext cx="2779984" cy="19077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5022E531-5FE9-0BFE-9B19-C432F080F7A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83419" y="3784858"/>
            <a:ext cx="2779984" cy="19077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9ABF1176-700F-6738-B15B-2A3EE6D65C5E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085864" y="1487314"/>
            <a:ext cx="2779984" cy="19077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ABF968A-AAB6-64F1-4F74-CC8E0A0115D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085864" y="3784858"/>
            <a:ext cx="2779984" cy="19077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A8B1C27-A593-7F94-78F1-5F9C7560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436D79DE-BFE1-0368-9139-0431E5D0B0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999" y="731874"/>
            <a:ext cx="11648924" cy="274320"/>
          </a:xfrm>
          <a:prstGeom prst="rect">
            <a:avLst/>
          </a:prstGeom>
        </p:spPr>
        <p:txBody>
          <a:bodyPr spcFirstLastPara="1" wrap="square" lIns="0" tIns="0" rIns="0" bIns="45700" anchor="ctr" anchorCtr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Proxima Nova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4C8172A-76F4-0A7B-BBBC-A2E8ACF1C32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DEE79F-3450-AE6D-8208-A4E7B4EFA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lang="en-PH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967685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98C79129-9956-B814-7752-DDE032941A9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7567" y="763350"/>
            <a:ext cx="2779984" cy="1747323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F1F64B4F-85E9-8B83-2E60-CAFECB16AB5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51715" y="763350"/>
            <a:ext cx="2779984" cy="1747323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FB5BB1D2-EC06-20C6-2EDD-18A4473FA69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217567" y="2578014"/>
            <a:ext cx="2779984" cy="1747323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D5C47752-A066-B77F-175D-C3FDA8ACB18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151715" y="2578014"/>
            <a:ext cx="2779984" cy="1747323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3B76806C-DC7F-6719-030C-25CF70A3747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83419" y="763350"/>
            <a:ext cx="2779984" cy="1747323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70029B1D-DA89-F2F8-5A04-EACC8B22051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83419" y="2578014"/>
            <a:ext cx="2779984" cy="1747323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D3518775-BA9F-1A07-A380-F71C73F2C10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085864" y="763350"/>
            <a:ext cx="2779984" cy="1747323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6" name="Picture Placeholder 3">
            <a:extLst>
              <a:ext uri="{FF2B5EF4-FFF2-40B4-BE49-F238E27FC236}">
                <a16:creationId xmlns:a16="http://schemas.microsoft.com/office/drawing/2014/main" id="{66DF01E1-FA50-63C9-61E3-40F485BD60FF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085864" y="2578014"/>
            <a:ext cx="2779984" cy="1747323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7" name="Picture Placeholder 3">
            <a:extLst>
              <a:ext uri="{FF2B5EF4-FFF2-40B4-BE49-F238E27FC236}">
                <a16:creationId xmlns:a16="http://schemas.microsoft.com/office/drawing/2014/main" id="{7CB29F69-19E7-8DD8-6F4C-3893F4A91F7F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217567" y="4392678"/>
            <a:ext cx="2779984" cy="1747323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E6B1A732-74AC-6744-1234-8C2008F50A4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51715" y="4392678"/>
            <a:ext cx="2779984" cy="1747323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2E46AF7F-2786-F754-5191-2380ECD6797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283419" y="4392678"/>
            <a:ext cx="2779984" cy="1747323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50" name="Picture Placeholder 3">
            <a:extLst>
              <a:ext uri="{FF2B5EF4-FFF2-40B4-BE49-F238E27FC236}">
                <a16:creationId xmlns:a16="http://schemas.microsoft.com/office/drawing/2014/main" id="{EE913589-3C0A-711C-C42B-FB6C51A6882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085864" y="4392678"/>
            <a:ext cx="2779984" cy="1747323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67C40-E1F0-A58C-B474-B3ABCE35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77" y="293027"/>
            <a:ext cx="11762046" cy="45720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4C314CD-98D5-6955-67BB-5C4AB505046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848" y="6330391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562DC6-0A3A-E259-DC8C-F06D2BB96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lang="en-PH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903170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Y-conceptual">
    <p:bg>
      <p:bgPr>
        <a:blipFill dpi="0" rotWithShape="1">
          <a:blip r:embed="rId3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5AFB2EC-A898-674C-E003-97C2965E553B}"/>
              </a:ext>
            </a:extLst>
          </p:cNvPr>
          <p:cNvSpPr/>
          <p:nvPr userDrawn="1"/>
        </p:nvSpPr>
        <p:spPr>
          <a:xfrm>
            <a:off x="0" y="7142"/>
            <a:ext cx="12192000" cy="6858000"/>
          </a:xfrm>
          <a:prstGeom prst="rect">
            <a:avLst/>
          </a:prstGeom>
          <a:gradFill flip="none" rotWithShape="1">
            <a:gsLst>
              <a:gs pos="45000">
                <a:schemeClr val="accent1">
                  <a:alpha val="6000"/>
                </a:schemeClr>
              </a:gs>
              <a:gs pos="12000">
                <a:schemeClr val="accent1">
                  <a:lumMod val="50000"/>
                  <a:alpha val="7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371AF6-99D4-A797-38B1-87F1C12CA73C}"/>
              </a:ext>
            </a:extLst>
          </p:cNvPr>
          <p:cNvSpPr/>
          <p:nvPr userDrawn="1"/>
        </p:nvSpPr>
        <p:spPr>
          <a:xfrm>
            <a:off x="1" y="4438436"/>
            <a:ext cx="12192000" cy="241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DB7F393-A622-268E-DE0A-03B390C0D3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76804" y="4572000"/>
            <a:ext cx="7238393" cy="1634515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114300" indent="0" algn="ctr">
              <a:lnSpc>
                <a:spcPct val="90000"/>
              </a:lnSpc>
              <a:buNone/>
              <a:defRPr sz="4000" b="1" i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defRPr>
                <a:ln>
                  <a:noFill/>
                </a:ln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918118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-Texture">
    <p:bg>
      <p:bgPr>
        <a:blipFill dpi="0" rotWithShape="1">
          <a:blip r:embed="rId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1CA45D-5451-6E9C-1E70-7A2453D14C07}"/>
              </a:ext>
            </a:extLst>
          </p:cNvPr>
          <p:cNvSpPr/>
          <p:nvPr userDrawn="1"/>
        </p:nvSpPr>
        <p:spPr>
          <a:xfrm>
            <a:off x="0" y="-3571"/>
            <a:ext cx="12192000" cy="6865142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52F0C8-339D-090B-A4B1-59C96161D477}"/>
              </a:ext>
            </a:extLst>
          </p:cNvPr>
          <p:cNvSpPr/>
          <p:nvPr userDrawn="1"/>
        </p:nvSpPr>
        <p:spPr>
          <a:xfrm>
            <a:off x="0" y="-3571"/>
            <a:ext cx="12192000" cy="68651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2000">
                <a:schemeClr val="accent1">
                  <a:alpha val="46000"/>
                </a:schemeClr>
              </a:gs>
              <a:gs pos="100000">
                <a:schemeClr val="accent1">
                  <a:alpha val="48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09D2A7A-B09F-D6F6-5343-33C3A41CB0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4360" y="1530350"/>
            <a:ext cx="7238393" cy="3811585"/>
          </a:xfrm>
          <a:prstGeom prst="rect">
            <a:avLst/>
          </a:prstGeom>
        </p:spPr>
        <p:txBody>
          <a:bodyPr lIns="0" anchor="ctr"/>
          <a:lstStyle>
            <a:lvl1pPr marL="114300" indent="0">
              <a:lnSpc>
                <a:spcPct val="90000"/>
              </a:lnSpc>
              <a:buNone/>
              <a:defRPr sz="6600" b="1" i="0">
                <a:ln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defRPr>
                <a:ln>
                  <a:noFill/>
                </a:ln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70251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Y-Texture">
    <p:bg>
      <p:bgPr>
        <a:blipFill dpi="0" rotWithShape="1">
          <a:blip r:embed="rId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46B0051-3CFB-803D-7B77-8DE5A65AFF07}"/>
              </a:ext>
            </a:extLst>
          </p:cNvPr>
          <p:cNvSpPr/>
          <p:nvPr userDrawn="1"/>
        </p:nvSpPr>
        <p:spPr>
          <a:xfrm>
            <a:off x="0" y="-3571"/>
            <a:ext cx="12192000" cy="68651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94000"/>
                </a:schemeClr>
              </a:gs>
              <a:gs pos="52000">
                <a:schemeClr val="accent1">
                  <a:alpha val="46000"/>
                </a:schemeClr>
              </a:gs>
              <a:gs pos="100000">
                <a:schemeClr val="accent1">
                  <a:alpha val="48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7E5162-F579-597D-9558-E6B2734DF6DA}"/>
              </a:ext>
            </a:extLst>
          </p:cNvPr>
          <p:cNvSpPr/>
          <p:nvPr userDrawn="1"/>
        </p:nvSpPr>
        <p:spPr>
          <a:xfrm>
            <a:off x="1" y="4438436"/>
            <a:ext cx="12192000" cy="241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0519A92-0F76-54BF-6E14-4927152D2C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76804" y="4572000"/>
            <a:ext cx="7238393" cy="1634515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114300" indent="0" algn="ctr">
              <a:lnSpc>
                <a:spcPct val="90000"/>
              </a:lnSpc>
              <a:buNone/>
              <a:defRPr sz="4000" b="1" i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defRPr>
                <a:ln>
                  <a:noFill/>
                </a:ln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052580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Y-Textur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5BE7030-0EEF-E244-44FF-2CDCDDAB92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4360" y="1530350"/>
            <a:ext cx="7238393" cy="3811585"/>
          </a:xfrm>
          <a:prstGeom prst="rect">
            <a:avLst/>
          </a:prstGeom>
        </p:spPr>
        <p:txBody>
          <a:bodyPr lIns="0" anchor="ctr"/>
          <a:lstStyle>
            <a:lvl1pPr marL="114300" indent="0">
              <a:lnSpc>
                <a:spcPct val="90000"/>
              </a:lnSpc>
              <a:buNone/>
              <a:defRPr sz="6600" b="1" i="0">
                <a:ln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defRPr>
                <a:ln>
                  <a:noFill/>
                </a:ln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442528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Y-Textur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6D716E-968C-5C90-76CF-8DC5ACA62A19}"/>
              </a:ext>
            </a:extLst>
          </p:cNvPr>
          <p:cNvSpPr/>
          <p:nvPr userDrawn="1"/>
        </p:nvSpPr>
        <p:spPr>
          <a:xfrm>
            <a:off x="1" y="4438436"/>
            <a:ext cx="12192000" cy="241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E2AECC-31F7-B23F-BA44-C044204EF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76804" y="4572000"/>
            <a:ext cx="7238393" cy="1634515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114300" indent="0" algn="ctr">
              <a:lnSpc>
                <a:spcPct val="90000"/>
              </a:lnSpc>
              <a:buNone/>
              <a:defRPr sz="4000" b="1" i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n>
                  <a:noFill/>
                </a:ln>
                <a:solidFill>
                  <a:schemeClr val="bg1"/>
                </a:solidFill>
              </a:defRPr>
            </a:lvl2pPr>
            <a:lvl3pPr>
              <a:defRPr>
                <a:ln>
                  <a:noFill/>
                </a:ln>
                <a:solidFill>
                  <a:schemeClr val="bg1"/>
                </a:solidFill>
              </a:defRPr>
            </a:lvl3pPr>
            <a:lvl4pPr>
              <a:defRPr>
                <a:ln>
                  <a:noFill/>
                </a:ln>
                <a:solidFill>
                  <a:schemeClr val="bg1"/>
                </a:solidFill>
              </a:defRPr>
            </a:lvl4pPr>
            <a:lvl5pPr>
              <a:defRPr>
                <a:ln>
                  <a:noFill/>
                </a:ln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39090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est t &amp;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7B2E4-C66C-4404-AC9D-D1F0EA3E8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7B2E4-C66C-4404-AC9D-D1F0EA3E8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984" y="279400"/>
            <a:ext cx="11174316" cy="58737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984" y="1295401"/>
            <a:ext cx="11174316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B17C7E1-1927-467B-9ABD-DE01EEAE5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4865" y="862013"/>
            <a:ext cx="11169435" cy="347662"/>
          </a:xfrm>
        </p:spPr>
        <p:txBody>
          <a:bodyPr>
            <a:noAutofit/>
          </a:bodyPr>
          <a:lstStyle>
            <a:lvl1pPr marL="0" indent="0">
              <a:buNone/>
              <a:defRPr sz="18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0315E8-5437-4FCE-8EB4-451686255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9984" y="6129337"/>
            <a:ext cx="5784754" cy="189218"/>
          </a:xfrm>
        </p:spPr>
        <p:txBody>
          <a:bodyPr lIns="0"/>
          <a:lstStyle>
            <a:lvl1pPr marL="0" indent="0">
              <a:buNone/>
              <a:defRPr sz="800" b="0" i="1" baseline="0"/>
            </a:lvl1pPr>
            <a:lvl2pPr>
              <a:defRPr sz="800" b="0" i="1" baseline="0"/>
            </a:lvl2pPr>
            <a:lvl3pPr>
              <a:defRPr sz="800" b="0" i="1" baseline="0"/>
            </a:lvl3pPr>
            <a:lvl4pPr>
              <a:defRPr sz="800" b="0" i="1" baseline="0"/>
            </a:lvl4pPr>
            <a:lvl5pPr>
              <a:defRPr sz="800" b="0" i="1" baseline="0"/>
            </a:lvl5pPr>
          </a:lstStyle>
          <a:p>
            <a:pPr lvl="0"/>
            <a:r>
              <a:rPr lang="en-US" dirty="0"/>
              <a:t>Source: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474EB-6BE3-F87A-046B-C82AF2777C45}"/>
              </a:ext>
            </a:extLst>
          </p:cNvPr>
          <p:cNvSpPr txBox="1">
            <a:spLocks/>
          </p:cNvSpPr>
          <p:nvPr userDrawn="1"/>
        </p:nvSpPr>
        <p:spPr>
          <a:xfrm>
            <a:off x="593913" y="6291918"/>
            <a:ext cx="385277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170DED5-0E76-D867-AF87-071A26322FF6}"/>
              </a:ext>
            </a:extLst>
          </p:cNvPr>
          <p:cNvSpPr txBox="1">
            <a:spLocks/>
          </p:cNvSpPr>
          <p:nvPr userDrawn="1"/>
        </p:nvSpPr>
        <p:spPr>
          <a:xfrm>
            <a:off x="369984" y="6288837"/>
            <a:ext cx="365123" cy="371287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DCA4D-B942-BC47-92B6-393DE0C995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C5C7C5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0054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5">
          <p15:clr>
            <a:srgbClr val="FBAE40"/>
          </p15:clr>
        </p15:guide>
        <p15:guide id="3" pos="7272">
          <p15:clr>
            <a:srgbClr val="FBAE40"/>
          </p15:clr>
        </p15:guide>
        <p15:guide id="4" orient="horz" pos="360">
          <p15:clr>
            <a:srgbClr val="FBAE40"/>
          </p15:clr>
        </p15:guide>
        <p15:guide id="5" orient="horz" pos="600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391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st t &amp; c">
  <p:cSld name="best t &amp; c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42939" y="365125"/>
            <a:ext cx="10901200" cy="5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E60"/>
              </a:buClr>
              <a:buSzPts val="2100"/>
              <a:buFont typeface="Arial"/>
              <a:buNone/>
              <a:defRPr sz="2800" b="1">
                <a:solidFill>
                  <a:srgbClr val="001E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42939" y="1295401"/>
            <a:ext cx="10901200" cy="46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1219170" lvl="1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E1B54"/>
              </a:buClr>
              <a:buSzPts val="1400"/>
              <a:buChar char="○"/>
              <a:defRPr/>
            </a:lvl2pPr>
            <a:lvl3pPr marL="1828754" lvl="2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438339" lvl="3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E1B54"/>
              </a:buClr>
              <a:buSzPts val="1400"/>
              <a:buChar char="●"/>
              <a:defRPr/>
            </a:lvl4pPr>
            <a:lvl5pPr marL="3047924" lvl="4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3657509" lvl="5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632013" y="6176963"/>
            <a:ext cx="3852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dirty="0"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369983" y="6176963"/>
            <a:ext cx="365200" cy="3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l">
              <a:spcBef>
                <a:spcPts val="0"/>
              </a:spcBef>
              <a:buNone/>
              <a:defRPr sz="9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9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9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9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9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9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9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9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93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2"/>
          </p:nvPr>
        </p:nvSpPr>
        <p:spPr>
          <a:xfrm>
            <a:off x="647700" y="947739"/>
            <a:ext cx="10896800" cy="3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0"/>
            </a:lvl1pPr>
            <a:lvl2pPr marL="1219170" lvl="1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E1B54"/>
              </a:buClr>
              <a:buSzPts val="1400"/>
              <a:buChar char="○"/>
              <a:defRPr/>
            </a:lvl2pPr>
            <a:lvl3pPr marL="1828754" lvl="2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438339" lvl="3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E1B54"/>
              </a:buClr>
              <a:buSzPts val="1400"/>
              <a:buChar char="●"/>
              <a:defRPr/>
            </a:lvl4pPr>
            <a:lvl5pPr marL="3047924" lvl="4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3657509" lvl="5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3"/>
          </p:nvPr>
        </p:nvSpPr>
        <p:spPr>
          <a:xfrm>
            <a:off x="647700" y="5976651"/>
            <a:ext cx="5507200" cy="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 b="0" i="1"/>
            </a:lvl1pPr>
            <a:lvl2pPr marL="1219170" lvl="1" indent="-35559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E1B54"/>
              </a:buClr>
              <a:buSzPts val="600"/>
              <a:buChar char="○"/>
              <a:defRPr sz="800" b="0" i="1"/>
            </a:lvl2pPr>
            <a:lvl3pPr marL="1828754" lvl="2" indent="-35559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"/>
              <a:buChar char="■"/>
              <a:defRPr sz="800" b="0" i="1"/>
            </a:lvl3pPr>
            <a:lvl4pPr marL="2438339" lvl="3" indent="-35559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E1B54"/>
              </a:buClr>
              <a:buSzPts val="600"/>
              <a:buChar char="●"/>
              <a:defRPr sz="800" b="0" i="1"/>
            </a:lvl4pPr>
            <a:lvl5pPr marL="3047924" lvl="4" indent="-35559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00"/>
              <a:buChar char="○"/>
              <a:defRPr sz="800" b="0" i="1"/>
            </a:lvl5pPr>
            <a:lvl6pPr marL="3657509" lvl="5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0025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304">
          <p15:clr>
            <a:srgbClr val="FBAE40"/>
          </p15:clr>
        </p15:guide>
        <p15:guide id="3" pos="5454">
          <p15:clr>
            <a:srgbClr val="FBAE40"/>
          </p15:clr>
        </p15:guide>
        <p15:guide id="4" orient="horz" pos="270">
          <p15:clr>
            <a:srgbClr val="FBAE40"/>
          </p15:clr>
        </p15:guide>
        <p15:guide id="5" orient="horz" pos="450">
          <p15:clr>
            <a:srgbClr val="FBAE40"/>
          </p15:clr>
        </p15:guide>
        <p15:guide id="6" orient="horz" pos="612">
          <p15:clr>
            <a:srgbClr val="FBAE40"/>
          </p15:clr>
        </p15:guide>
        <p15:guide id="7" orient="horz" pos="2808">
          <p15:clr>
            <a:srgbClr val="FBAE40"/>
          </p15:clr>
        </p15:guide>
        <p15:guide id="8" orient="horz" pos="29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ags" Target="../tags/tag1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5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ags" Target="../tags/tag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ags" Target="../tags/tag1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ags" Target="../tags/tag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ags" Target="../tags/tag38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38" Type="http://schemas.openxmlformats.org/officeDocument/2006/relationships/tags" Target="../tags/tag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theme" Target="../theme/theme5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70.xml"/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4"/>
    </p:custDataLst>
    <p:extLst>
      <p:ext uri="{BB962C8B-B14F-4D97-AF65-F5344CB8AC3E}">
        <p14:creationId xmlns:p14="http://schemas.microsoft.com/office/powerpoint/2010/main" val="367115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5" r:id="rId12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5F5957-4FAA-C539-7CEB-58365BC9B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013" y="6342538"/>
            <a:ext cx="385277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lnSpc>
                <a:spcPct val="90000"/>
              </a:lnSpc>
              <a:spcBef>
                <a:spcPts val="300"/>
              </a:spcBef>
              <a:defRPr lang="en-US" sz="900" b="0" i="0" smtClean="0">
                <a:solidFill>
                  <a:schemeClr val="tx2"/>
                </a:solidFill>
                <a:effectLst/>
              </a:defRPr>
            </a:lvl1pPr>
          </a:lstStyle>
          <a:p>
            <a:r>
              <a:rPr lang="en-PH" dirty="0"/>
              <a:t>//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DB3FF-C4FA-CC45-9117-E05AF626D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3" y="6342538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lnSpc>
                <a:spcPct val="90000"/>
              </a:lnSpc>
              <a:spcBef>
                <a:spcPts val="300"/>
              </a:spcBef>
              <a:defRPr sz="9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3"/>
    </p:custDataLst>
    <p:extLst>
      <p:ext uri="{BB962C8B-B14F-4D97-AF65-F5344CB8AC3E}">
        <p14:creationId xmlns:p14="http://schemas.microsoft.com/office/powerpoint/2010/main" val="380258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accent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accent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accent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accent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accent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4D20BCC9-ECB1-4E23-B744-DC7599D4026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70" imgH="469" progId="TCLayout.ActiveDocument.1">
                  <p:embed/>
                </p:oleObj>
              </mc:Choice>
              <mc:Fallback>
                <p:oleObj name="think-cell Slide" r:id="rId16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4D20BCC9-ECB1-4E23-B744-DC7599D402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B8F5F01-C38A-4A04-A936-4F93EC413CA6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0" i="0" baseline="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2227442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DE1B54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rgbClr val="DE1B54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4D20BCC9-ECB1-4E23-B744-DC7599D4026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70" imgH="469" progId="TCLayout.ActiveDocument.1">
                  <p:embed/>
                </p:oleObj>
              </mc:Choice>
              <mc:Fallback>
                <p:oleObj name="think-cell Slide" r:id="rId15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4D20BCC9-ECB1-4E23-B744-DC7599D402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B8F5F01-C38A-4A04-A936-4F93EC413CA6}"/>
              </a:ext>
            </a:extLst>
          </p:cNvPr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0" i="0" baseline="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210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DE1B54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rgbClr val="DE1B54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001BD6-42BF-D113-4AD5-CAEBD4119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EE166-5658-E8A5-1C73-50CDAC097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97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6F68BE8-8E86-1F05-8FCF-EB6730691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848" y="6308838"/>
            <a:ext cx="52315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635F5DC-C901-D507-0889-BA8BD5890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1337" y="6519251"/>
            <a:ext cx="3594242" cy="2880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800" b="0" i="0" smtClean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 dirty="0"/>
              <a:t>//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C5C7C5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© 2026 Ontivuss Inc. All Rights Reserved.	</a:t>
            </a:r>
            <a:endParaRPr lang="en-PH" dirty="0"/>
          </a:p>
        </p:txBody>
      </p:sp>
    </p:spTree>
    <p:custDataLst>
      <p:tags r:id="rId38"/>
    </p:custDataLst>
    <p:extLst>
      <p:ext uri="{BB962C8B-B14F-4D97-AF65-F5344CB8AC3E}">
        <p14:creationId xmlns:p14="http://schemas.microsoft.com/office/powerpoint/2010/main" val="3137341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4"/>
        </a:buClr>
        <a:buSzPct val="9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9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0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6.png"/><Relationship Id="rId3" Type="http://schemas.openxmlformats.org/officeDocument/2006/relationships/notesSlide" Target="../notesSlides/notesSlide1.xml"/><Relationship Id="rId7" Type="http://schemas.microsoft.com/office/2007/relationships/hdphoto" Target="../media/hdphoto4.wdp"/><Relationship Id="rId12" Type="http://schemas.openxmlformats.org/officeDocument/2006/relationships/slide" Target="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1.xml"/><Relationship Id="rId6" Type="http://schemas.openxmlformats.org/officeDocument/2006/relationships/image" Target="../media/image18.png"/><Relationship Id="rId11" Type="http://schemas.microsoft.com/office/2007/relationships/hdphoto" Target="../media/hdphoto5.wdp"/><Relationship Id="rId5" Type="http://schemas.microsoft.com/office/2007/relationships/hdphoto" Target="../media/hdphoto3.wdp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9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www.magnific.com/icon/categorization_17230493#fromView=search&amp;page=1&amp;position=46&amp;uuid=345f726f-9962-4e05-8555-7720c9735720" TargetMode="Externa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93.xml"/><Relationship Id="rId6" Type="http://schemas.openxmlformats.org/officeDocument/2006/relationships/hyperlink" Target="https://www.magnific.com/icon/productivity_11518801#fromView=search&amp;page=1&amp;position=9&amp;uuid=fde5861d-4fd2-4f11-a15d-8085d44669b4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7.sv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94.xml"/><Relationship Id="rId6" Type="http://schemas.microsoft.com/office/2007/relationships/hdphoto" Target="../media/hdphoto6.wdp"/><Relationship Id="rId11" Type="http://schemas.openxmlformats.org/officeDocument/2006/relationships/image" Target="../media/image30.svg"/><Relationship Id="rId5" Type="http://schemas.openxmlformats.org/officeDocument/2006/relationships/image" Target="../media/image26.png"/><Relationship Id="rId10" Type="http://schemas.openxmlformats.org/officeDocument/2006/relationships/slide" Target="slide5.xml"/><Relationship Id="rId4" Type="http://schemas.openxmlformats.org/officeDocument/2006/relationships/hyperlink" Target="https://www.magnific.com/free-vector/organic-flat-people-meditating-illustration_13297280.htm#fromView=search&amp;page=1&amp;position=32&amp;uuid=4224c374-91f0-4c67-aa02-063c208f6a49&amp;query=wellness" TargetMode="External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slide" Target="slide10.xml"/><Relationship Id="rId7" Type="http://schemas.openxmlformats.org/officeDocument/2006/relationships/hyperlink" Target="https://www.magnific.com/icon/analysis_1376472#fromView=search&amp;page=1&amp;position=13&amp;uuid=ff83f644-8caa-428c-9c3a-b5976f1d4efe" TargetMode="External"/><Relationship Id="rId12" Type="http://schemas.microsoft.com/office/2007/relationships/hdphoto" Target="../media/hdphoto9.wdp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95.xml"/><Relationship Id="rId6" Type="http://schemas.microsoft.com/office/2007/relationships/hdphoto" Target="../media/hdphoto7.wdp"/><Relationship Id="rId11" Type="http://schemas.openxmlformats.org/officeDocument/2006/relationships/image" Target="../media/image33.png"/><Relationship Id="rId5" Type="http://schemas.openxmlformats.org/officeDocument/2006/relationships/image" Target="../media/image31.png"/><Relationship Id="rId10" Type="http://schemas.openxmlformats.org/officeDocument/2006/relationships/hyperlink" Target="https://www.magnific.com/icon/analysis_8473828#fromView=search&amp;page=1&amp;position=0&amp;uuid=742599b7-c38a-4d37-a5ff-dc6a7d7f2bd8" TargetMode="External"/><Relationship Id="rId4" Type="http://schemas.openxmlformats.org/officeDocument/2006/relationships/hyperlink" Target="https://www.magnific.com/icon/monitor_12567004#fromView=search&amp;page=1&amp;position=9&amp;uuid=e064443a-0ee7-48ca-b855-a158e3d7720c" TargetMode="External"/><Relationship Id="rId9" Type="http://schemas.microsoft.com/office/2007/relationships/hdphoto" Target="../media/hdphoto8.wdp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hyperlink" Target="https://www.magnific.com/icon/political-party_18279017#fromView=search&amp;page=1&amp;position=5&amp;uuid=189970a9-ce88-4a2a-a1c3-21ea2bb64879" TargetMode="External"/><Relationship Id="rId26" Type="http://schemas.microsoft.com/office/2007/relationships/hdphoto" Target="../media/hdphoto13.wdp"/><Relationship Id="rId3" Type="http://schemas.openxmlformats.org/officeDocument/2006/relationships/notesSlide" Target="../notesSlides/notesSlide3.xml"/><Relationship Id="rId21" Type="http://schemas.openxmlformats.org/officeDocument/2006/relationships/hyperlink" Target="https://www.magnific.com/icon/scalability_18700044#fromView=search&amp;page=1&amp;position=6&amp;uuid=81a23708-2a5a-4757-bc95-bfaa468ef759" TargetMode="External"/><Relationship Id="rId34" Type="http://schemas.openxmlformats.org/officeDocument/2006/relationships/image" Target="../media/image52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microsoft.com/office/2007/relationships/hdphoto" Target="../media/hdphoto10.wdp"/><Relationship Id="rId25" Type="http://schemas.openxmlformats.org/officeDocument/2006/relationships/image" Target="../media/image48.png"/><Relationship Id="rId33" Type="http://schemas.openxmlformats.org/officeDocument/2006/relationships/hyperlink" Target="https://www.magnific.com/icon/workflow_18218161#fromView=search&amp;page=1&amp;position=27&amp;uuid=11a9e597-490a-40a7-b21b-b61b16d324ef" TargetMode="External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45.png"/><Relationship Id="rId20" Type="http://schemas.microsoft.com/office/2007/relationships/hdphoto" Target="../media/hdphoto11.wdp"/><Relationship Id="rId29" Type="http://schemas.openxmlformats.org/officeDocument/2006/relationships/hyperlink" Target="https://www.magnific.com/icon/team_477857#fromView=search&amp;page=1&amp;position=2&amp;uuid=6086bb30-1c8e-4cf6-bb51-ed0f5bf0a3cb" TargetMode="External"/><Relationship Id="rId1" Type="http://schemas.openxmlformats.org/officeDocument/2006/relationships/tags" Target="../tags/tag96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hyperlink" Target="https://www.magnific.com/icon/quality_3500835#fromView=search&amp;page=1&amp;position=6&amp;uuid=e3a2d90d-d871-47ef-9c5b-0a1083d9ef35" TargetMode="External"/><Relationship Id="rId32" Type="http://schemas.openxmlformats.org/officeDocument/2006/relationships/image" Target="../media/image51.png"/><Relationship Id="rId5" Type="http://schemas.openxmlformats.org/officeDocument/2006/relationships/image" Target="../media/image35.svg"/><Relationship Id="rId15" Type="http://schemas.openxmlformats.org/officeDocument/2006/relationships/hyperlink" Target="https://www.magnific.com/icon/global-network_5477346#fromView=search&amp;page=1&amp;position=10&amp;uuid=9feda4b9-1f42-4864-81a0-52c651e3620e" TargetMode="External"/><Relationship Id="rId23" Type="http://schemas.microsoft.com/office/2007/relationships/hdphoto" Target="../media/hdphoto12.wdp"/><Relationship Id="rId28" Type="http://schemas.openxmlformats.org/officeDocument/2006/relationships/image" Target="../media/image49.png"/><Relationship Id="rId10" Type="http://schemas.openxmlformats.org/officeDocument/2006/relationships/image" Target="../media/image40.png"/><Relationship Id="rId19" Type="http://schemas.openxmlformats.org/officeDocument/2006/relationships/image" Target="../media/image46.png"/><Relationship Id="rId31" Type="http://schemas.openxmlformats.org/officeDocument/2006/relationships/hyperlink" Target="https://www.magnific.com/icon/workflow_8450101#fromView=search&amp;page=1&amp;position=5&amp;uuid=9d348861-a802-4393-8474-b5ce0fe2227c" TargetMode="External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47.png"/><Relationship Id="rId27" Type="http://schemas.openxmlformats.org/officeDocument/2006/relationships/hyperlink" Target="https://www.magnific.com/icon/box_2953828#fromView=search&amp;page=1&amp;position=8&amp;uuid=52a4df48-c986-42bd-a3f5-7006f6983d07" TargetMode="External"/><Relationship Id="rId30" Type="http://schemas.openxmlformats.org/officeDocument/2006/relationships/image" Target="../media/image50.png"/><Relationship Id="rId8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svg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66.svg"/><Relationship Id="rId1" Type="http://schemas.openxmlformats.org/officeDocument/2006/relationships/tags" Target="../tags/tag9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sv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jp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98.xml"/><Relationship Id="rId6" Type="http://schemas.openxmlformats.org/officeDocument/2006/relationships/image" Target="../media/image72.png"/><Relationship Id="rId11" Type="http://schemas.openxmlformats.org/officeDocument/2006/relationships/image" Target="../media/image77.jpg"/><Relationship Id="rId5" Type="http://schemas.openxmlformats.org/officeDocument/2006/relationships/image" Target="../media/image71.png"/><Relationship Id="rId10" Type="http://schemas.openxmlformats.org/officeDocument/2006/relationships/image" Target="../media/image76.svg"/><Relationship Id="rId4" Type="http://schemas.openxmlformats.org/officeDocument/2006/relationships/image" Target="../media/image70.png"/><Relationship Id="rId9" Type="http://schemas.openxmlformats.org/officeDocument/2006/relationships/image" Target="../media/image75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3.sv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99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10" Type="http://schemas.openxmlformats.org/officeDocument/2006/relationships/image" Target="../media/image86.svg"/><Relationship Id="rId4" Type="http://schemas.openxmlformats.org/officeDocument/2006/relationships/image" Target="../media/image80.png"/><Relationship Id="rId9" Type="http://schemas.openxmlformats.org/officeDocument/2006/relationships/image" Target="../media/image8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0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slideLayout" Target="../slideLayouts/slideLayout69.xml"/><Relationship Id="rId1" Type="http://schemas.openxmlformats.org/officeDocument/2006/relationships/tags" Target="../tags/tag10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2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D04323-F4D3-962A-2203-B1DA2A2F8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5A21ED-69A7-DC3D-4AAC-78C85F2AEA1C}"/>
              </a:ext>
            </a:extLst>
          </p:cNvPr>
          <p:cNvSpPr/>
          <p:nvPr/>
        </p:nvSpPr>
        <p:spPr>
          <a:xfrm flipH="1" flipV="1">
            <a:off x="-4350301" y="-826483"/>
            <a:ext cx="12226177" cy="9877464"/>
          </a:xfrm>
          <a:custGeom>
            <a:avLst/>
            <a:gdLst/>
            <a:ahLst/>
            <a:cxnLst/>
            <a:rect l="l" t="t" r="r" b="b"/>
            <a:pathLst>
              <a:path w="18339266" h="14816196">
                <a:moveTo>
                  <a:pt x="18339266" y="14816196"/>
                </a:moveTo>
                <a:lnTo>
                  <a:pt x="0" y="14816196"/>
                </a:lnTo>
                <a:lnTo>
                  <a:pt x="0" y="0"/>
                </a:lnTo>
                <a:lnTo>
                  <a:pt x="18339266" y="0"/>
                </a:lnTo>
                <a:lnTo>
                  <a:pt x="18339266" y="14816196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506" t="-33077" r="-10350" b="-23149"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81EE8D4-1B18-B538-94B2-DAEEDFF3631D}"/>
              </a:ext>
            </a:extLst>
          </p:cNvPr>
          <p:cNvSpPr/>
          <p:nvPr/>
        </p:nvSpPr>
        <p:spPr>
          <a:xfrm>
            <a:off x="685800" y="1558299"/>
            <a:ext cx="3668698" cy="3910878"/>
          </a:xfrm>
          <a:custGeom>
            <a:avLst/>
            <a:gdLst/>
            <a:ahLst/>
            <a:cxnLst/>
            <a:rect l="l" t="t" r="r" b="b"/>
            <a:pathLst>
              <a:path w="5503047" h="5866317">
                <a:moveTo>
                  <a:pt x="0" y="0"/>
                </a:moveTo>
                <a:lnTo>
                  <a:pt x="5503047" y="0"/>
                </a:lnTo>
                <a:lnTo>
                  <a:pt x="5503047" y="5866316"/>
                </a:lnTo>
                <a:lnTo>
                  <a:pt x="0" y="5866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F50C0F-624C-0A56-D2E4-1C891B2AF648}"/>
              </a:ext>
            </a:extLst>
          </p:cNvPr>
          <p:cNvGrpSpPr/>
          <p:nvPr/>
        </p:nvGrpSpPr>
        <p:grpSpPr>
          <a:xfrm rot="-10800000">
            <a:off x="4651993" y="1411074"/>
            <a:ext cx="2362603" cy="628595"/>
            <a:chOff x="0" y="0"/>
            <a:chExt cx="840065" cy="2235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1A6C2AB-EEF7-43A1-1BD7-FBD32ECCAC33}"/>
                </a:ext>
              </a:extLst>
            </p:cNvPr>
            <p:cNvSpPr/>
            <p:nvPr/>
          </p:nvSpPr>
          <p:spPr>
            <a:xfrm>
              <a:off x="0" y="0"/>
              <a:ext cx="840065" cy="223508"/>
            </a:xfrm>
            <a:custGeom>
              <a:avLst/>
              <a:gdLst/>
              <a:ahLst/>
              <a:cxnLst/>
              <a:rect l="l" t="t" r="r" b="b"/>
              <a:pathLst>
                <a:path w="840065" h="223508">
                  <a:moveTo>
                    <a:pt x="111754" y="0"/>
                  </a:moveTo>
                  <a:lnTo>
                    <a:pt x="728311" y="0"/>
                  </a:lnTo>
                  <a:cubicBezTo>
                    <a:pt x="790031" y="0"/>
                    <a:pt x="840065" y="50034"/>
                    <a:pt x="840065" y="111754"/>
                  </a:cubicBezTo>
                  <a:lnTo>
                    <a:pt x="840065" y="111754"/>
                  </a:lnTo>
                  <a:cubicBezTo>
                    <a:pt x="840065" y="173474"/>
                    <a:pt x="790031" y="223508"/>
                    <a:pt x="728311" y="223508"/>
                  </a:cubicBezTo>
                  <a:lnTo>
                    <a:pt x="111754" y="223508"/>
                  </a:lnTo>
                  <a:cubicBezTo>
                    <a:pt x="50034" y="223508"/>
                    <a:pt x="0" y="173474"/>
                    <a:pt x="0" y="111754"/>
                  </a:cubicBezTo>
                  <a:lnTo>
                    <a:pt x="0" y="111754"/>
                  </a:lnTo>
                  <a:cubicBezTo>
                    <a:pt x="0" y="50034"/>
                    <a:pt x="50034" y="0"/>
                    <a:pt x="1117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5BFD1">
                    <a:alpha val="100000"/>
                  </a:srgbClr>
                </a:gs>
                <a:gs pos="100000">
                  <a:srgbClr val="8628A2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9BBD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9B384FD-7E5D-C367-5A32-B8DEFF458526}"/>
                </a:ext>
              </a:extLst>
            </p:cNvPr>
            <p:cNvSpPr txBox="1"/>
            <p:nvPr/>
          </p:nvSpPr>
          <p:spPr>
            <a:xfrm>
              <a:off x="0" y="19050"/>
              <a:ext cx="840065" cy="2044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9BBD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E9FCA47-6213-1FEF-1189-772760384305}"/>
              </a:ext>
            </a:extLst>
          </p:cNvPr>
          <p:cNvSpPr txBox="1"/>
          <p:nvPr/>
        </p:nvSpPr>
        <p:spPr>
          <a:xfrm>
            <a:off x="4727203" y="2270824"/>
            <a:ext cx="782152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koto"/>
                <a:ea typeface="Mokoto"/>
                <a:cs typeface="Mokoto"/>
                <a:sym typeface="Mokoto"/>
              </a:rPr>
              <a:t>INVESTOR’S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D5A596C-D178-2292-081F-597C4B21839F}"/>
              </a:ext>
            </a:extLst>
          </p:cNvPr>
          <p:cNvSpPr txBox="1"/>
          <p:nvPr/>
        </p:nvSpPr>
        <p:spPr>
          <a:xfrm>
            <a:off x="4727203" y="2880401"/>
            <a:ext cx="478965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35BFD1"/>
                </a:solidFill>
                <a:effectLst/>
                <a:uLnTx/>
                <a:uFillTx/>
                <a:latin typeface="Mokoto"/>
                <a:ea typeface="Mokoto"/>
                <a:cs typeface="Mokoto"/>
                <a:sym typeface="Mokoto"/>
              </a:rPr>
              <a:t>PRESENTATION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F0A5D67-4E4D-E0A8-F7E6-B7EE3F1EF1E3}"/>
              </a:ext>
            </a:extLst>
          </p:cNvPr>
          <p:cNvSpPr txBox="1"/>
          <p:nvPr/>
        </p:nvSpPr>
        <p:spPr>
          <a:xfrm>
            <a:off x="4767702" y="4131300"/>
            <a:ext cx="6037143" cy="26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Sept 2026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02EABFB-E8D7-B605-16BC-33F2BF7B3E7D}"/>
              </a:ext>
            </a:extLst>
          </p:cNvPr>
          <p:cNvSpPr txBox="1"/>
          <p:nvPr/>
        </p:nvSpPr>
        <p:spPr>
          <a:xfrm>
            <a:off x="5051171" y="1572760"/>
            <a:ext cx="1564247" cy="30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6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ONTIVUSS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AAE1F23-6F3A-B0AE-B999-1A8680A5F17F}"/>
              </a:ext>
            </a:extLst>
          </p:cNvPr>
          <p:cNvSpPr/>
          <p:nvPr/>
        </p:nvSpPr>
        <p:spPr>
          <a:xfrm rot="-3959256">
            <a:off x="10155480" y="178648"/>
            <a:ext cx="1101329" cy="1461942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0" y="0"/>
                </a:moveTo>
                <a:lnTo>
                  <a:pt x="1651995" y="0"/>
                </a:lnTo>
                <a:lnTo>
                  <a:pt x="1651995" y="2192913"/>
                </a:lnTo>
                <a:lnTo>
                  <a:pt x="0" y="21929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10468A8-CA81-900B-39F1-E41E20F0C1ED}"/>
              </a:ext>
            </a:extLst>
          </p:cNvPr>
          <p:cNvSpPr/>
          <p:nvPr/>
        </p:nvSpPr>
        <p:spPr>
          <a:xfrm rot="-9584614">
            <a:off x="9871272" y="1119260"/>
            <a:ext cx="369557" cy="490562"/>
          </a:xfrm>
          <a:custGeom>
            <a:avLst/>
            <a:gdLst/>
            <a:ahLst/>
            <a:cxnLst/>
            <a:rect l="l" t="t" r="r" b="b"/>
            <a:pathLst>
              <a:path w="554335" h="735843">
                <a:moveTo>
                  <a:pt x="0" y="0"/>
                </a:moveTo>
                <a:lnTo>
                  <a:pt x="554335" y="0"/>
                </a:lnTo>
                <a:lnTo>
                  <a:pt x="554335" y="735843"/>
                </a:lnTo>
                <a:lnTo>
                  <a:pt x="0" y="735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A8DBEAC-C27D-79CF-A3BB-137F965DA565}"/>
              </a:ext>
            </a:extLst>
          </p:cNvPr>
          <p:cNvSpPr/>
          <p:nvPr/>
        </p:nvSpPr>
        <p:spPr>
          <a:xfrm rot="-8756295" flipH="1">
            <a:off x="914628" y="5978470"/>
            <a:ext cx="1101329" cy="1461942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1651994" y="0"/>
                </a:moveTo>
                <a:lnTo>
                  <a:pt x="0" y="0"/>
                </a:lnTo>
                <a:lnTo>
                  <a:pt x="0" y="2192913"/>
                </a:lnTo>
                <a:lnTo>
                  <a:pt x="1651994" y="2192913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DE560FC-9209-0840-FC1F-E2BFE546ACA4}"/>
              </a:ext>
            </a:extLst>
          </p:cNvPr>
          <p:cNvSpPr/>
          <p:nvPr/>
        </p:nvSpPr>
        <p:spPr>
          <a:xfrm rot="-4901525" flipH="1">
            <a:off x="1390183" y="5269605"/>
            <a:ext cx="344980" cy="457938"/>
          </a:xfrm>
          <a:custGeom>
            <a:avLst/>
            <a:gdLst/>
            <a:ahLst/>
            <a:cxnLst/>
            <a:rect l="l" t="t" r="r" b="b"/>
            <a:pathLst>
              <a:path w="517470" h="686907">
                <a:moveTo>
                  <a:pt x="517469" y="0"/>
                </a:moveTo>
                <a:lnTo>
                  <a:pt x="0" y="0"/>
                </a:lnTo>
                <a:lnTo>
                  <a:pt x="0" y="686906"/>
                </a:lnTo>
                <a:lnTo>
                  <a:pt x="517469" y="686906"/>
                </a:lnTo>
                <a:lnTo>
                  <a:pt x="517469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9919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BACAF-3F04-7E2A-4981-1253CBF5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69AA102A-DA35-C13C-3990-67AE33CAD55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85648" y="2"/>
            <a:ext cx="5606352" cy="2423733"/>
          </a:xfrm>
          <a:prstGeom prst="rect">
            <a:avLst/>
          </a:prstGeom>
        </p:spPr>
      </p:pic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4B138036-7C40-F5D4-33D4-F0200D5F6C92}"/>
              </a:ext>
            </a:extLst>
          </p:cNvPr>
          <p:cNvSpPr/>
          <p:nvPr/>
        </p:nvSpPr>
        <p:spPr>
          <a:xfrm rot="10800000">
            <a:off x="7764209" y="2065403"/>
            <a:ext cx="481056" cy="218387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6D491B8-E3FB-263F-F08B-62F3D9A8E0BB}"/>
              </a:ext>
            </a:extLst>
          </p:cNvPr>
          <p:cNvSpPr>
            <a:spLocks/>
          </p:cNvSpPr>
          <p:nvPr/>
        </p:nvSpPr>
        <p:spPr>
          <a:xfrm>
            <a:off x="-29912" y="1"/>
            <a:ext cx="8117111" cy="2423733"/>
          </a:xfrm>
          <a:custGeom>
            <a:avLst/>
            <a:gdLst>
              <a:gd name="connsiteX0" fmla="*/ 0 w 8974771"/>
              <a:gd name="connsiteY0" fmla="*/ 0 h 2679826"/>
              <a:gd name="connsiteX1" fmla="*/ 7488753 w 8974771"/>
              <a:gd name="connsiteY1" fmla="*/ 0 h 2679826"/>
              <a:gd name="connsiteX2" fmla="*/ 8974771 w 8974771"/>
              <a:gd name="connsiteY2" fmla="*/ 2679826 h 2679826"/>
              <a:gd name="connsiteX3" fmla="*/ 0 w 8974771"/>
              <a:gd name="connsiteY3" fmla="*/ 2679826 h 267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74771" h="2679826">
                <a:moveTo>
                  <a:pt x="0" y="0"/>
                </a:moveTo>
                <a:lnTo>
                  <a:pt x="7488753" y="0"/>
                </a:lnTo>
                <a:lnTo>
                  <a:pt x="8974771" y="2679826"/>
                </a:lnTo>
                <a:lnTo>
                  <a:pt x="0" y="2679826"/>
                </a:lnTo>
                <a:close/>
              </a:path>
            </a:pathLst>
          </a:custGeom>
          <a:gradFill flip="none" rotWithShape="1">
            <a:gsLst>
              <a:gs pos="61000">
                <a:schemeClr val="tx1"/>
              </a:gs>
              <a:gs pos="80000">
                <a:srgbClr val="41BED1"/>
              </a:gs>
              <a:gs pos="99000">
                <a:srgbClr val="7030A0"/>
              </a:gs>
            </a:gsLst>
            <a:lin ang="4800000" scaled="0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8452BF-B43A-8EC4-2C41-3D44A2ABD58B}"/>
              </a:ext>
            </a:extLst>
          </p:cNvPr>
          <p:cNvSpPr/>
          <p:nvPr/>
        </p:nvSpPr>
        <p:spPr>
          <a:xfrm>
            <a:off x="548382" y="1568342"/>
            <a:ext cx="7300217" cy="501103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27432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Light" panose="020B0403020202020204" pitchFamily="34" charset="0"/>
                <a:ea typeface="+mn-ea"/>
                <a:cs typeface="+mn-cs"/>
              </a:rPr>
              <a:t>AI- Enabled, Tailored processes to ensure we set the process up for success</a:t>
            </a:r>
          </a:p>
        </p:txBody>
      </p:sp>
      <p:sp>
        <p:nvSpPr>
          <p:cNvPr id="60" name="Parallelogram 59">
            <a:extLst>
              <a:ext uri="{FF2B5EF4-FFF2-40B4-BE49-F238E27FC236}">
                <a16:creationId xmlns:a16="http://schemas.microsoft.com/office/drawing/2014/main" id="{9C31A5D0-98A7-6BB9-878F-77347B155C17}"/>
              </a:ext>
            </a:extLst>
          </p:cNvPr>
          <p:cNvSpPr/>
          <p:nvPr/>
        </p:nvSpPr>
        <p:spPr>
          <a:xfrm rot="10800000" flipH="1">
            <a:off x="7619999" y="1568341"/>
            <a:ext cx="625265" cy="501103"/>
          </a:xfrm>
          <a:prstGeom prst="parallelogram">
            <a:avLst>
              <a:gd name="adj" fmla="val 44475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274320" tIns="45720" rIns="91440" bIns="45720" rtlCol="0" anchor="ctr">
            <a:normAutofit fontScale="7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 panose="020B0403020202020204" pitchFamily="34" charset="0"/>
              <a:ea typeface="+mn-ea"/>
              <a:cs typeface="+mn-cs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3DD86F55-7214-6941-10D6-A2729DA3E9A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spc="100" dirty="0">
                <a:ln>
                  <a:solidFill>
                    <a:srgbClr val="FFFFFF"/>
                  </a:solidFill>
                </a:ln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rPr>
              <a:t>Ontivuss Overview</a:t>
            </a:r>
            <a:endParaRPr kumimoji="0" lang="en-US" sz="3600" b="1" i="0" u="none" strike="noStrike" kern="1200" cap="none" spc="100" normalizeH="0" baseline="0" noProof="0" dirty="0">
              <a:ln>
                <a:solidFill>
                  <a:srgbClr val="FFFFFF"/>
                </a:solidFill>
              </a:ln>
              <a:solidFill>
                <a:schemeClr val="bg1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F1C7A7D-CB7D-E803-D01F-4A4EF69DBDD4}"/>
              </a:ext>
            </a:extLst>
          </p:cNvPr>
          <p:cNvGrpSpPr/>
          <p:nvPr/>
        </p:nvGrpSpPr>
        <p:grpSpPr>
          <a:xfrm>
            <a:off x="642938" y="2689430"/>
            <a:ext cx="8352533" cy="3254170"/>
            <a:chOff x="642938" y="2964928"/>
            <a:chExt cx="8352533" cy="392409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ECCE55B-A584-590E-22D8-B667ADFE8A21}"/>
                </a:ext>
              </a:extLst>
            </p:cNvPr>
            <p:cNvCxnSpPr>
              <a:cxnSpLocks/>
            </p:cNvCxnSpPr>
            <p:nvPr/>
          </p:nvCxnSpPr>
          <p:spPr>
            <a:xfrm>
              <a:off x="6204359" y="2964928"/>
              <a:ext cx="0" cy="3924096"/>
            </a:xfrm>
            <a:prstGeom prst="line">
              <a:avLst/>
            </a:prstGeom>
            <a:noFill/>
            <a:ln w="19050" cap="rnd" cmpd="sng" algn="ctr">
              <a:solidFill>
                <a:srgbClr val="000000">
                  <a:lumMod val="50000"/>
                  <a:lumOff val="50000"/>
                </a:srgbClr>
              </a:solidFill>
              <a:prstDash val="sysDot"/>
              <a:miter lim="800000"/>
              <a:tailEnd type="oval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331ECA2-D77A-31C3-40D1-BB7E3EECE11E}"/>
                </a:ext>
              </a:extLst>
            </p:cNvPr>
            <p:cNvCxnSpPr>
              <a:cxnSpLocks/>
            </p:cNvCxnSpPr>
            <p:nvPr/>
          </p:nvCxnSpPr>
          <p:spPr>
            <a:xfrm>
              <a:off x="642938" y="2964928"/>
              <a:ext cx="0" cy="3924096"/>
            </a:xfrm>
            <a:prstGeom prst="line">
              <a:avLst/>
            </a:prstGeom>
            <a:noFill/>
            <a:ln w="19050" cap="rnd" cmpd="sng" algn="ctr">
              <a:solidFill>
                <a:srgbClr val="000000">
                  <a:lumMod val="50000"/>
                  <a:lumOff val="50000"/>
                </a:srgbClr>
              </a:solidFill>
              <a:prstDash val="sysDot"/>
              <a:miter lim="800000"/>
              <a:tailEnd type="oval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CF75631-45E0-454D-72FC-DA49A2BFE34E}"/>
                </a:ext>
              </a:extLst>
            </p:cNvPr>
            <p:cNvCxnSpPr>
              <a:cxnSpLocks/>
            </p:cNvCxnSpPr>
            <p:nvPr/>
          </p:nvCxnSpPr>
          <p:spPr>
            <a:xfrm>
              <a:off x="3427684" y="2964928"/>
              <a:ext cx="0" cy="3924096"/>
            </a:xfrm>
            <a:prstGeom prst="line">
              <a:avLst/>
            </a:prstGeom>
            <a:noFill/>
            <a:ln w="19050" cap="rnd" cmpd="sng" algn="ctr">
              <a:solidFill>
                <a:srgbClr val="000000">
                  <a:lumMod val="50000"/>
                  <a:lumOff val="50000"/>
                </a:srgbClr>
              </a:solidFill>
              <a:prstDash val="sysDot"/>
              <a:miter lim="800000"/>
              <a:tailEnd type="oval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26ECA11-AA39-4446-4BD2-FDD9D4DC4E93}"/>
                </a:ext>
              </a:extLst>
            </p:cNvPr>
            <p:cNvCxnSpPr>
              <a:cxnSpLocks/>
            </p:cNvCxnSpPr>
            <p:nvPr/>
          </p:nvCxnSpPr>
          <p:spPr>
            <a:xfrm>
              <a:off x="8995471" y="2964928"/>
              <a:ext cx="0" cy="3924096"/>
            </a:xfrm>
            <a:prstGeom prst="line">
              <a:avLst/>
            </a:prstGeom>
            <a:noFill/>
            <a:ln w="19050" cap="rnd" cmpd="sng" algn="ctr">
              <a:solidFill>
                <a:srgbClr val="000000">
                  <a:lumMod val="50000"/>
                  <a:lumOff val="50000"/>
                </a:srgbClr>
              </a:solidFill>
              <a:prstDash val="sysDot"/>
              <a:miter lim="800000"/>
              <a:tailEnd type="oval"/>
            </a:ln>
            <a:effectLst/>
          </p:spPr>
        </p:cxnSp>
      </p:grp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D744FE17-5C9B-A519-7B81-1D19213502CE}"/>
              </a:ext>
            </a:extLst>
          </p:cNvPr>
          <p:cNvSpPr/>
          <p:nvPr/>
        </p:nvSpPr>
        <p:spPr>
          <a:xfrm>
            <a:off x="1021015" y="2595421"/>
            <a:ext cx="2170751" cy="931897"/>
          </a:xfrm>
          <a:prstGeom prst="flowChartAlternateProcess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lIns="640080" rIns="0" rtlCol="0" anchor="ctr"/>
          <a:lstStyle/>
          <a:p>
            <a:pPr marL="0" marR="0" lvl="0" indent="0" algn="l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52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Calibri" panose="020F0502020204030204" pitchFamily="34" charset="0"/>
              <a:cs typeface="+mn-cs"/>
            </a:endParaRP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418C0FE7-DA91-F7EA-7576-F07D89301176}"/>
              </a:ext>
            </a:extLst>
          </p:cNvPr>
          <p:cNvSpPr/>
          <p:nvPr/>
        </p:nvSpPr>
        <p:spPr>
          <a:xfrm rot="10800000" flipH="1">
            <a:off x="642939" y="2689431"/>
            <a:ext cx="907330" cy="743880"/>
          </a:xfrm>
          <a:prstGeom prst="homePlate">
            <a:avLst>
              <a:gd name="adj" fmla="val 27119"/>
            </a:avLst>
          </a:prstGeom>
          <a:solidFill>
            <a:srgbClr val="762A7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78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DCAC02AD-83A0-B132-C2D6-DE5393DDDEF0}"/>
              </a:ext>
            </a:extLst>
          </p:cNvPr>
          <p:cNvSpPr/>
          <p:nvPr/>
        </p:nvSpPr>
        <p:spPr>
          <a:xfrm rot="10800000" flipH="1">
            <a:off x="1417073" y="2891109"/>
            <a:ext cx="180214" cy="340520"/>
          </a:xfrm>
          <a:prstGeom prst="chevron">
            <a:avLst>
              <a:gd name="adj" fmla="val 52511"/>
            </a:avLst>
          </a:prstGeom>
          <a:solidFill>
            <a:srgbClr val="D57DE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78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907D1AD5-2340-8CE4-FC5A-411AE312202A}"/>
              </a:ext>
            </a:extLst>
          </p:cNvPr>
          <p:cNvSpPr/>
          <p:nvPr/>
        </p:nvSpPr>
        <p:spPr>
          <a:xfrm>
            <a:off x="3805192" y="2595421"/>
            <a:ext cx="2170751" cy="931897"/>
          </a:xfrm>
          <a:prstGeom prst="flowChartAlternateProcess">
            <a:avLst/>
          </a:prstGeom>
          <a:noFill/>
          <a:ln w="12700" cap="flat" cmpd="sng" algn="ctr">
            <a:solidFill>
              <a:schemeClr val="accent5"/>
            </a:solidFill>
            <a:prstDash val="solid"/>
            <a:miter lim="800000"/>
          </a:ln>
          <a:effectLst/>
        </p:spPr>
        <p:txBody>
          <a:bodyPr lIns="640080" rIns="0" rtlCol="0" anchor="ctr"/>
          <a:lstStyle/>
          <a:p>
            <a:pPr marL="0" marR="0" lvl="0" indent="0" algn="l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52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Calibri" panose="020F0502020204030204" pitchFamily="34" charset="0"/>
              <a:cs typeface="+mn-cs"/>
            </a:endParaRP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46EB166E-CCE1-4653-F301-181035C9F4F7}"/>
              </a:ext>
            </a:extLst>
          </p:cNvPr>
          <p:cNvSpPr/>
          <p:nvPr/>
        </p:nvSpPr>
        <p:spPr>
          <a:xfrm rot="10800000" flipH="1">
            <a:off x="3427115" y="2689430"/>
            <a:ext cx="907330" cy="743880"/>
          </a:xfrm>
          <a:prstGeom prst="homePlate">
            <a:avLst>
              <a:gd name="adj" fmla="val 25915"/>
            </a:avLst>
          </a:prstGeom>
          <a:solidFill>
            <a:srgbClr val="82D1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78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0069C514-72C0-6C1F-7E82-ABC4FEE5A3BF}"/>
              </a:ext>
            </a:extLst>
          </p:cNvPr>
          <p:cNvSpPr/>
          <p:nvPr/>
        </p:nvSpPr>
        <p:spPr>
          <a:xfrm rot="10800000" flipH="1">
            <a:off x="4192151" y="2891109"/>
            <a:ext cx="180214" cy="340520"/>
          </a:xfrm>
          <a:prstGeom prst="chevron">
            <a:avLst>
              <a:gd name="adj" fmla="val 52511"/>
            </a:avLst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78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CB74AFD5-483F-C30A-E061-A977CDE8ABCA}"/>
              </a:ext>
            </a:extLst>
          </p:cNvPr>
          <p:cNvSpPr/>
          <p:nvPr/>
        </p:nvSpPr>
        <p:spPr>
          <a:xfrm>
            <a:off x="6589370" y="2595421"/>
            <a:ext cx="2170751" cy="931897"/>
          </a:xfrm>
          <a:prstGeom prst="flowChartAlternateProcess">
            <a:avLst/>
          </a:prstGeom>
          <a:solidFill>
            <a:schemeClr val="bg1">
              <a:alpha val="50000"/>
            </a:schemeClr>
          </a:solidFill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lIns="640080" rIns="0" rtlCol="0" anchor="ctr"/>
          <a:lstStyle/>
          <a:p>
            <a:pPr marL="0" marR="0" lvl="0" indent="0" algn="l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52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Calibri" panose="020F0502020204030204" pitchFamily="34" charset="0"/>
              <a:cs typeface="+mn-cs"/>
            </a:endParaRPr>
          </a:p>
        </p:txBody>
      </p:sp>
      <p:sp>
        <p:nvSpPr>
          <p:cNvPr id="24" name="Arrow: Pentagon 23">
            <a:extLst>
              <a:ext uri="{FF2B5EF4-FFF2-40B4-BE49-F238E27FC236}">
                <a16:creationId xmlns:a16="http://schemas.microsoft.com/office/drawing/2014/main" id="{E4079778-7D4F-4D0A-09A7-1FCCB9EF0C2C}"/>
              </a:ext>
            </a:extLst>
          </p:cNvPr>
          <p:cNvSpPr/>
          <p:nvPr/>
        </p:nvSpPr>
        <p:spPr>
          <a:xfrm rot="10800000" flipH="1">
            <a:off x="6211292" y="2689431"/>
            <a:ext cx="907330" cy="743880"/>
          </a:xfrm>
          <a:prstGeom prst="homePlate">
            <a:avLst>
              <a:gd name="adj" fmla="val 24711"/>
            </a:avLst>
          </a:prstGeom>
          <a:solidFill>
            <a:srgbClr val="F8CF1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78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CA8365F4-65FF-A358-2E96-F4C1D256351D}"/>
              </a:ext>
            </a:extLst>
          </p:cNvPr>
          <p:cNvSpPr/>
          <p:nvPr/>
        </p:nvSpPr>
        <p:spPr>
          <a:xfrm rot="10800000" flipH="1">
            <a:off x="6976371" y="2891109"/>
            <a:ext cx="180214" cy="340520"/>
          </a:xfrm>
          <a:prstGeom prst="chevron">
            <a:avLst>
              <a:gd name="adj" fmla="val 52511"/>
            </a:avLst>
          </a:prstGeom>
          <a:solidFill>
            <a:srgbClr val="CCA60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78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Flowchart: Alternate Process 33">
            <a:extLst>
              <a:ext uri="{FF2B5EF4-FFF2-40B4-BE49-F238E27FC236}">
                <a16:creationId xmlns:a16="http://schemas.microsoft.com/office/drawing/2014/main" id="{3AC3D5E5-15B5-6BF9-C16A-05360DFF21BA}"/>
              </a:ext>
            </a:extLst>
          </p:cNvPr>
          <p:cNvSpPr/>
          <p:nvPr/>
        </p:nvSpPr>
        <p:spPr>
          <a:xfrm>
            <a:off x="9373549" y="2595421"/>
            <a:ext cx="2170751" cy="931897"/>
          </a:xfrm>
          <a:prstGeom prst="flowChartAlternateProcess">
            <a:avLst/>
          </a:prstGeom>
          <a:noFill/>
          <a:ln w="12700" cap="flat" cmpd="sng" algn="ctr">
            <a:solidFill>
              <a:schemeClr val="accent2">
                <a:lumMod val="50000"/>
              </a:schemeClr>
            </a:solidFill>
            <a:prstDash val="solid"/>
            <a:miter lim="800000"/>
          </a:ln>
          <a:effectLst/>
        </p:spPr>
        <p:txBody>
          <a:bodyPr lIns="640080" rIns="0" rtlCol="0" anchor="ctr"/>
          <a:lstStyle/>
          <a:p>
            <a:pPr marL="0" marR="0" lvl="0" indent="0" algn="l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52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Calibri" panose="020F0502020204030204" pitchFamily="34" charset="0"/>
              <a:cs typeface="+mn-cs"/>
            </a:endParaRPr>
          </a:p>
        </p:txBody>
      </p:sp>
      <p:sp>
        <p:nvSpPr>
          <p:cNvPr id="45" name="Arrow: Pentagon 44">
            <a:extLst>
              <a:ext uri="{FF2B5EF4-FFF2-40B4-BE49-F238E27FC236}">
                <a16:creationId xmlns:a16="http://schemas.microsoft.com/office/drawing/2014/main" id="{96469A0E-7156-869E-1820-8FFBC0172450}"/>
              </a:ext>
            </a:extLst>
          </p:cNvPr>
          <p:cNvSpPr/>
          <p:nvPr/>
        </p:nvSpPr>
        <p:spPr>
          <a:xfrm rot="10800000" flipH="1">
            <a:off x="8995471" y="2689429"/>
            <a:ext cx="907330" cy="743881"/>
          </a:xfrm>
          <a:prstGeom prst="homePlate">
            <a:avLst>
              <a:gd name="adj" fmla="val 27119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78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F7F4E64A-CB5C-C5F8-3B55-1EE7E94C90E0}"/>
              </a:ext>
            </a:extLst>
          </p:cNvPr>
          <p:cNvSpPr/>
          <p:nvPr/>
        </p:nvSpPr>
        <p:spPr>
          <a:xfrm rot="10800000" flipH="1">
            <a:off x="9762594" y="2891109"/>
            <a:ext cx="180214" cy="340520"/>
          </a:xfrm>
          <a:prstGeom prst="chevron">
            <a:avLst>
              <a:gd name="adj" fmla="val 52511"/>
            </a:avLst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016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78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7205C4B0-7014-F4EE-CAD3-69FFB53A2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92599" y="2820713"/>
            <a:ext cx="500200" cy="5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>
            <a:extLst>
              <a:ext uri="{FF2B5EF4-FFF2-40B4-BE49-F238E27FC236}">
                <a16:creationId xmlns:a16="http://schemas.microsoft.com/office/drawing/2014/main" id="{5F71A360-415D-27CC-5DCC-81E04B781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39928" y="2796034"/>
            <a:ext cx="502920" cy="50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8">
            <a:extLst>
              <a:ext uri="{FF2B5EF4-FFF2-40B4-BE49-F238E27FC236}">
                <a16:creationId xmlns:a16="http://schemas.microsoft.com/office/drawing/2014/main" id="{1ECB77A2-C116-F007-8EBD-DB66E1E04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364243" y="2796034"/>
            <a:ext cx="502920" cy="50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10">
            <a:extLst>
              <a:ext uri="{FF2B5EF4-FFF2-40B4-BE49-F238E27FC236}">
                <a16:creationId xmlns:a16="http://schemas.microsoft.com/office/drawing/2014/main" id="{B1882539-B24D-7100-0857-AF202139D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68425" y="2785025"/>
            <a:ext cx="502920" cy="50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58E808-515A-C43E-5DF2-E14501D4159E}"/>
              </a:ext>
            </a:extLst>
          </p:cNvPr>
          <p:cNvSpPr txBox="1"/>
          <p:nvPr/>
        </p:nvSpPr>
        <p:spPr>
          <a:xfrm>
            <a:off x="702526" y="6310920"/>
            <a:ext cx="61108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*Set-up and associated cost to be discussed separately</a:t>
            </a:r>
          </a:p>
        </p:txBody>
      </p:sp>
      <p:sp>
        <p:nvSpPr>
          <p:cNvPr id="16" name="TextBox 15">
            <a:hlinkClick r:id="rId12" action="ppaction://hlinksldjump"/>
            <a:extLst>
              <a:ext uri="{FF2B5EF4-FFF2-40B4-BE49-F238E27FC236}">
                <a16:creationId xmlns:a16="http://schemas.microsoft.com/office/drawing/2014/main" id="{6104A9C1-FDCD-7768-990C-D635F7B56D9F}"/>
              </a:ext>
            </a:extLst>
          </p:cNvPr>
          <p:cNvSpPr txBox="1"/>
          <p:nvPr/>
        </p:nvSpPr>
        <p:spPr>
          <a:xfrm>
            <a:off x="9963874" y="6548250"/>
            <a:ext cx="1299298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  <a:hlinkClick r:id="rId12" action="ppaction://hlinksldjump"/>
              </a:rPr>
              <a:t>&lt;&lt;Back to main slide</a:t>
            </a:r>
            <a:endParaRPr kumimoji="0" lang="en-US" sz="933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001BB75-A475-E766-3DB1-43CACD3E15C6}"/>
              </a:ext>
            </a:extLst>
          </p:cNvPr>
          <p:cNvSpPr/>
          <p:nvPr/>
        </p:nvSpPr>
        <p:spPr>
          <a:xfrm>
            <a:off x="9523913" y="187260"/>
            <a:ext cx="2159245" cy="40396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WIP</a:t>
            </a:r>
          </a:p>
        </p:txBody>
      </p:sp>
      <p:sp>
        <p:nvSpPr>
          <p:cNvPr id="26" name="Freeform 13">
            <a:extLst>
              <a:ext uri="{FF2B5EF4-FFF2-40B4-BE49-F238E27FC236}">
                <a16:creationId xmlns:a16="http://schemas.microsoft.com/office/drawing/2014/main" id="{177A0BD9-D2C6-AF1B-F7BF-C10BA53580DE}"/>
              </a:ext>
            </a:extLst>
          </p:cNvPr>
          <p:cNvSpPr/>
          <p:nvPr/>
        </p:nvSpPr>
        <p:spPr>
          <a:xfrm rot="-8756295" flipH="1">
            <a:off x="6790239" y="53441"/>
            <a:ext cx="1101329" cy="1461942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1651994" y="0"/>
                </a:moveTo>
                <a:lnTo>
                  <a:pt x="0" y="0"/>
                </a:lnTo>
                <a:lnTo>
                  <a:pt x="0" y="2192913"/>
                </a:lnTo>
                <a:lnTo>
                  <a:pt x="1651994" y="2192913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249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711B5-DF71-0B36-AC03-7CE0CDCFF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6B5715-EEC9-0F38-2F9A-AE8F4E0031DA}"/>
              </a:ext>
            </a:extLst>
          </p:cNvPr>
          <p:cNvSpPr/>
          <p:nvPr/>
        </p:nvSpPr>
        <p:spPr>
          <a:xfrm>
            <a:off x="0" y="0"/>
            <a:ext cx="12192000" cy="1182511"/>
          </a:xfrm>
          <a:prstGeom prst="rect">
            <a:avLst/>
          </a:prstGeom>
          <a:gradFill flip="none" rotWithShape="1">
            <a:gsLst>
              <a:gs pos="50000">
                <a:schemeClr val="tx1"/>
              </a:gs>
              <a:gs pos="79000">
                <a:srgbClr val="7030A0"/>
              </a:gs>
              <a:gs pos="100000">
                <a:srgbClr val="41BED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0E8EB-0411-0F00-4957-0D368893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42" y="210820"/>
            <a:ext cx="11174316" cy="925071"/>
          </a:xfrm>
        </p:spPr>
        <p:txBody>
          <a:bodyPr>
            <a:normAutofit/>
          </a:bodyPr>
          <a:lstStyle/>
          <a:p>
            <a:pPr>
              <a:tabLst>
                <a:tab pos="3143250" algn="l"/>
              </a:tabLst>
            </a:pPr>
            <a:r>
              <a:rPr lang="en-US" sz="3600" dirty="0">
                <a:solidFill>
                  <a:schemeClr val="bg1"/>
                </a:solidFill>
                <a:latin typeface="+mj-lt"/>
              </a:rPr>
              <a:t>Mercure at a Glance</a:t>
            </a:r>
            <a:endParaRPr lang="en-US" sz="3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4D539F-8F6F-4EB0-A1CF-1D523F0DF4C2}"/>
              </a:ext>
            </a:extLst>
          </p:cNvPr>
          <p:cNvSpPr/>
          <p:nvPr/>
        </p:nvSpPr>
        <p:spPr>
          <a:xfrm>
            <a:off x="9523913" y="187260"/>
            <a:ext cx="2159245" cy="40396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WIP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17585434-2905-F6C5-893B-3E609F6607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7089" y="1253468"/>
            <a:ext cx="11331595" cy="473682"/>
          </a:xfrm>
        </p:spPr>
        <p:txBody>
          <a:bodyPr/>
          <a:lstStyle/>
          <a:p>
            <a:pPr algn="ctr"/>
            <a:r>
              <a:rPr lang="en-US" sz="2000" b="1" dirty="0">
                <a:solidFill>
                  <a:schemeClr val="accent4"/>
                </a:solidFill>
              </a:rPr>
              <a:t>Getting the Foundation Right Wins Half the Battle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7F2E767-4C77-EE3D-34FD-038ADD89E535}"/>
              </a:ext>
            </a:extLst>
          </p:cNvPr>
          <p:cNvSpPr/>
          <p:nvPr/>
        </p:nvSpPr>
        <p:spPr>
          <a:xfrm>
            <a:off x="3519353" y="2331020"/>
            <a:ext cx="5594167" cy="301314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 Mercure Video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043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7030A0"/>
            </a:gs>
            <a:gs pos="91500">
              <a:srgbClr val="215F69"/>
            </a:gs>
            <a:gs pos="82000">
              <a:schemeClr val="tx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68D23-42EA-744F-3528-9D2C5809B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BCF8223-4001-A6AF-EE24-72EF5693B9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</a:pPr>
            <a:r>
              <a:rPr lang="en-US" sz="4800" b="1" dirty="0">
                <a:solidFill>
                  <a:schemeClr val="bg1"/>
                </a:solidFill>
              </a:rPr>
              <a:t>Built to Solve </a:t>
            </a:r>
            <a:br>
              <a:rPr lang="en-US" sz="48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What</a:t>
            </a:r>
            <a:r>
              <a:rPr lang="en-US" sz="3600" b="1" dirty="0">
                <a:solidFill>
                  <a:schemeClr val="accent3"/>
                </a:solidFill>
              </a:rPr>
              <a:t> </a:t>
            </a:r>
            <a:r>
              <a:rPr lang="en-US" sz="3600" b="1" dirty="0">
                <a:gradFill>
                  <a:gsLst>
                    <a:gs pos="52000">
                      <a:schemeClr val="accent3"/>
                    </a:gs>
                    <a:gs pos="83000">
                      <a:schemeClr val="accent4"/>
                    </a:gs>
                  </a:gsLst>
                  <a:path path="circle">
                    <a:fillToRect r="100000" b="100000"/>
                  </a:path>
                </a:gradFill>
              </a:rPr>
              <a:t>Matters Most.</a:t>
            </a:r>
          </a:p>
          <a:p>
            <a:endParaRPr lang="en-US" sz="2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A80368-7F56-3965-1C62-BCC7EED322C9}"/>
              </a:ext>
            </a:extLst>
          </p:cNvPr>
          <p:cNvCxnSpPr>
            <a:cxnSpLocks/>
          </p:cNvCxnSpPr>
          <p:nvPr/>
        </p:nvCxnSpPr>
        <p:spPr>
          <a:xfrm>
            <a:off x="3110768" y="2591656"/>
            <a:ext cx="0" cy="321743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3A9BA9-3528-0712-C7FC-97F13EE5980C}"/>
              </a:ext>
            </a:extLst>
          </p:cNvPr>
          <p:cNvCxnSpPr>
            <a:cxnSpLocks/>
          </p:cNvCxnSpPr>
          <p:nvPr/>
        </p:nvCxnSpPr>
        <p:spPr>
          <a:xfrm>
            <a:off x="6264036" y="2591656"/>
            <a:ext cx="0" cy="321743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774B86-8864-E90B-48BE-0B09EFEE27A5}"/>
              </a:ext>
            </a:extLst>
          </p:cNvPr>
          <p:cNvCxnSpPr>
            <a:cxnSpLocks/>
          </p:cNvCxnSpPr>
          <p:nvPr/>
        </p:nvCxnSpPr>
        <p:spPr>
          <a:xfrm>
            <a:off x="9379616" y="2591656"/>
            <a:ext cx="0" cy="321743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910B2F-ACB1-1A5F-261D-E83ED24D0074}"/>
              </a:ext>
            </a:extLst>
          </p:cNvPr>
          <p:cNvGrpSpPr/>
          <p:nvPr/>
        </p:nvGrpSpPr>
        <p:grpSpPr>
          <a:xfrm>
            <a:off x="628345" y="2789504"/>
            <a:ext cx="2252877" cy="2907110"/>
            <a:chOff x="725881" y="2704160"/>
            <a:chExt cx="2252877" cy="290711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A4420FF-1889-756F-43B3-02B98BD91020}"/>
                </a:ext>
              </a:extLst>
            </p:cNvPr>
            <p:cNvSpPr txBox="1"/>
            <p:nvPr/>
          </p:nvSpPr>
          <p:spPr>
            <a:xfrm flipH="1">
              <a:off x="725881" y="3758695"/>
              <a:ext cx="2252877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E79BB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IMPLEMENTATION COST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62CA2B6-B121-18D4-D0BD-38B482C96DC7}"/>
                </a:ext>
              </a:extLst>
            </p:cNvPr>
            <p:cNvCxnSpPr>
              <a:cxnSpLocks/>
            </p:cNvCxnSpPr>
            <p:nvPr/>
          </p:nvCxnSpPr>
          <p:spPr>
            <a:xfrm>
              <a:off x="725882" y="4556450"/>
              <a:ext cx="488731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30C0D8-B051-4DBA-88E8-4132A1DD295B}"/>
                </a:ext>
              </a:extLst>
            </p:cNvPr>
            <p:cNvSpPr txBox="1"/>
            <p:nvPr/>
          </p:nvSpPr>
          <p:spPr>
            <a:xfrm>
              <a:off x="725882" y="4872606"/>
              <a:ext cx="216687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Targets ~50% lower cost versus traditional SI led implementations.</a:t>
              </a:r>
            </a:p>
          </p:txBody>
        </p:sp>
        <p:pic>
          <p:nvPicPr>
            <p:cNvPr id="1028" name="Picture 4" descr="Categorization icon">
              <a:hlinkClick r:id="rId3"/>
              <a:extLst>
                <a:ext uri="{FF2B5EF4-FFF2-40B4-BE49-F238E27FC236}">
                  <a16:creationId xmlns:a16="http://schemas.microsoft.com/office/drawing/2014/main" id="{521B9459-5341-2669-0D2C-F63F5548D0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882" y="2704160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3ED684F-387A-D982-1CA4-BD63621ECDE3}"/>
              </a:ext>
            </a:extLst>
          </p:cNvPr>
          <p:cNvGrpSpPr/>
          <p:nvPr/>
        </p:nvGrpSpPr>
        <p:grpSpPr>
          <a:xfrm>
            <a:off x="3426311" y="2789504"/>
            <a:ext cx="2522181" cy="3122553"/>
            <a:chOff x="3426311" y="2618816"/>
            <a:chExt cx="2522181" cy="312255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1293338-AEE1-EF3E-A22D-EB78E3A330A0}"/>
                </a:ext>
              </a:extLst>
            </p:cNvPr>
            <p:cNvSpPr txBox="1"/>
            <p:nvPr/>
          </p:nvSpPr>
          <p:spPr>
            <a:xfrm flipH="1">
              <a:off x="3426311" y="3673351"/>
              <a:ext cx="2137726" cy="64633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DE1B54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COMPRESS TIME TO VALUE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B6842F0-AA57-6478-8EE6-5BE37964F9BC}"/>
                </a:ext>
              </a:extLst>
            </p:cNvPr>
            <p:cNvCxnSpPr>
              <a:cxnSpLocks/>
            </p:cNvCxnSpPr>
            <p:nvPr/>
          </p:nvCxnSpPr>
          <p:spPr>
            <a:xfrm>
              <a:off x="3426312" y="4471106"/>
              <a:ext cx="488731" cy="0"/>
            </a:xfrm>
            <a:prstGeom prst="line">
              <a:avLst/>
            </a:prstGeom>
            <a:ln w="38100">
              <a:solidFill>
                <a:srgbClr val="DE1B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1D57114-B8DB-AB96-AC4D-6B78E06E8A90}"/>
                </a:ext>
              </a:extLst>
            </p:cNvPr>
            <p:cNvSpPr txBox="1"/>
            <p:nvPr/>
          </p:nvSpPr>
          <p:spPr>
            <a:xfrm>
              <a:off x="3426312" y="4787262"/>
              <a:ext cx="252218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Targets requirements, design &amp; configuration in ~45 days vs. traditional 8-12-month timelines.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51F1E58-A9FD-8C88-633D-CD55C7BE2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26312" y="2618816"/>
              <a:ext cx="640080" cy="640080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4D2ECE-F750-24D2-C5EF-67539FCE259D}"/>
              </a:ext>
            </a:extLst>
          </p:cNvPr>
          <p:cNvCxnSpPr>
            <a:cxnSpLocks/>
          </p:cNvCxnSpPr>
          <p:nvPr/>
        </p:nvCxnSpPr>
        <p:spPr>
          <a:xfrm>
            <a:off x="489549" y="2133597"/>
            <a:ext cx="778877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F7353E-01BF-5229-756D-238E636338B2}"/>
              </a:ext>
            </a:extLst>
          </p:cNvPr>
          <p:cNvGrpSpPr/>
          <p:nvPr/>
        </p:nvGrpSpPr>
        <p:grpSpPr>
          <a:xfrm>
            <a:off x="6579580" y="2789504"/>
            <a:ext cx="2484492" cy="3122553"/>
            <a:chOff x="6222574" y="2704160"/>
            <a:chExt cx="2484492" cy="3122553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905E49A-F22A-3593-C584-A363CDA710C1}"/>
                </a:ext>
              </a:extLst>
            </p:cNvPr>
            <p:cNvSpPr txBox="1"/>
            <p:nvPr/>
          </p:nvSpPr>
          <p:spPr>
            <a:xfrm flipH="1">
              <a:off x="6222574" y="3606376"/>
              <a:ext cx="2391892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9900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AUTOMATES IMPLEMENTATION COMPLEXITY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261D8A9-8003-BB5F-37FC-58430AD2D088}"/>
                </a:ext>
              </a:extLst>
            </p:cNvPr>
            <p:cNvCxnSpPr>
              <a:cxnSpLocks/>
            </p:cNvCxnSpPr>
            <p:nvPr/>
          </p:nvCxnSpPr>
          <p:spPr>
            <a:xfrm>
              <a:off x="6222574" y="4556450"/>
              <a:ext cx="488731" cy="0"/>
            </a:xfrm>
            <a:prstGeom prst="line">
              <a:avLst/>
            </a:prstGeom>
            <a:ln w="381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6FD1504-3218-0161-7DE4-F2A43BE13EA6}"/>
                </a:ext>
              </a:extLst>
            </p:cNvPr>
            <p:cNvSpPr txBox="1"/>
            <p:nvPr/>
          </p:nvSpPr>
          <p:spPr>
            <a:xfrm>
              <a:off x="6222574" y="4872606"/>
              <a:ext cx="248449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Uses AI-driven requirements, design &amp; configuration agents to reduce manual implementation effort.</a:t>
              </a:r>
            </a:p>
          </p:txBody>
        </p:sp>
        <p:pic>
          <p:nvPicPr>
            <p:cNvPr id="1032" name="Picture 8" descr="Productivity icon">
              <a:hlinkClick r:id="rId6"/>
              <a:extLst>
                <a:ext uri="{FF2B5EF4-FFF2-40B4-BE49-F238E27FC236}">
                  <a16:creationId xmlns:a16="http://schemas.microsoft.com/office/drawing/2014/main" id="{65A2F317-5D9B-7A4E-9312-51D9E7F804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2574" y="2704160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5DCBFC-858C-847C-1E1F-921645C444D7}"/>
              </a:ext>
            </a:extLst>
          </p:cNvPr>
          <p:cNvGrpSpPr/>
          <p:nvPr/>
        </p:nvGrpSpPr>
        <p:grpSpPr>
          <a:xfrm>
            <a:off x="9695161" y="2789504"/>
            <a:ext cx="2258784" cy="3122553"/>
            <a:chOff x="9280633" y="2704160"/>
            <a:chExt cx="2258784" cy="3122553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DF2D34C-28E6-0163-AE57-5F388A8E132A}"/>
                </a:ext>
              </a:extLst>
            </p:cNvPr>
            <p:cNvSpPr txBox="1"/>
            <p:nvPr/>
          </p:nvSpPr>
          <p:spPr>
            <a:xfrm flipH="1">
              <a:off x="9280633" y="3639800"/>
              <a:ext cx="2079893" cy="92333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4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CREATES REPEATABLE MODEL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4B96151-EE2D-7EB7-318F-0D7A6325BFFB}"/>
                </a:ext>
              </a:extLst>
            </p:cNvPr>
            <p:cNvCxnSpPr>
              <a:cxnSpLocks/>
            </p:cNvCxnSpPr>
            <p:nvPr/>
          </p:nvCxnSpPr>
          <p:spPr>
            <a:xfrm>
              <a:off x="9280634" y="4556450"/>
              <a:ext cx="488731" cy="0"/>
            </a:xfrm>
            <a:prstGeom prst="lin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BC2988D-8DA9-D6C9-D863-E5D4E47E19B7}"/>
                </a:ext>
              </a:extLst>
            </p:cNvPr>
            <p:cNvSpPr txBox="1"/>
            <p:nvPr/>
          </p:nvSpPr>
          <p:spPr>
            <a:xfrm>
              <a:off x="9280634" y="4872606"/>
              <a:ext cx="225878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Reusable orchestration framework designed to scale across CRM, ERP &amp; HRMS platforms.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4E55D6B-12D1-9A7B-72DC-6A1283D97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280634" y="2704160"/>
              <a:ext cx="640080" cy="640080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9325C2F5-409A-F20A-143F-A4BE513C4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MERCURE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269C47-BAC3-1B23-3D4C-D3CFB3188252}"/>
              </a:ext>
            </a:extLst>
          </p:cNvPr>
          <p:cNvSpPr/>
          <p:nvPr/>
        </p:nvSpPr>
        <p:spPr>
          <a:xfrm>
            <a:off x="9273562" y="242268"/>
            <a:ext cx="2159245" cy="40396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Completed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0383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DCA30-2D99-F0A3-919D-FAEE7839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Organic flat people meditating illustration">
            <a:hlinkClick r:id="rId4"/>
            <a:extLst>
              <a:ext uri="{FF2B5EF4-FFF2-40B4-BE49-F238E27FC236}">
                <a16:creationId xmlns:a16="http://schemas.microsoft.com/office/drawing/2014/main" id="{CACE8C3C-2DEA-8094-4E93-B154D3147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9324" r="90541">
                        <a14:foregroundMark x1="9459" y1="65811" x2="9459" y2="84865"/>
                        <a14:foregroundMark x1="90000" y1="71486" x2="90541" y2="832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2351" y="2328530"/>
            <a:ext cx="1817408" cy="181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4031FED-07CE-546D-7AB3-CF0C3600D0C6}"/>
              </a:ext>
            </a:extLst>
          </p:cNvPr>
          <p:cNvCxnSpPr>
            <a:cxnSpLocks/>
          </p:cNvCxnSpPr>
          <p:nvPr/>
        </p:nvCxnSpPr>
        <p:spPr>
          <a:xfrm>
            <a:off x="4185574" y="3632635"/>
            <a:ext cx="2108341" cy="0"/>
          </a:xfrm>
          <a:prstGeom prst="line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prstDash val="sysDot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CE2EE37-F911-B017-E00E-88DBD3C8E82F}"/>
              </a:ext>
            </a:extLst>
          </p:cNvPr>
          <p:cNvCxnSpPr>
            <a:cxnSpLocks/>
          </p:cNvCxnSpPr>
          <p:nvPr/>
        </p:nvCxnSpPr>
        <p:spPr>
          <a:xfrm>
            <a:off x="9118517" y="3631902"/>
            <a:ext cx="1188487" cy="1467"/>
          </a:xfrm>
          <a:prstGeom prst="line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prstDash val="sysDot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05F399C-9C0D-5203-8FF8-B5B0E57A3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Road to </a:t>
            </a:r>
            <a:r>
              <a:rPr lang="en-US" dirty="0">
                <a:solidFill>
                  <a:schemeClr val="accent4"/>
                </a:solidFill>
                <a:latin typeface="+mj-lt"/>
              </a:rPr>
              <a:t>Commercial Impact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7325124-1512-6533-FBAD-2FBC001178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Strategic capital deployment from technical completion to scalable market readiness</a:t>
            </a:r>
            <a:endParaRPr lang="en-US" dirty="0">
              <a:latin typeface="+mj-lt"/>
            </a:endParaRPr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7BAE71D1-FEB3-2F5F-F8EF-983734974CA2}"/>
              </a:ext>
            </a:extLst>
          </p:cNvPr>
          <p:cNvSpPr/>
          <p:nvPr/>
        </p:nvSpPr>
        <p:spPr>
          <a:xfrm>
            <a:off x="260496" y="4588152"/>
            <a:ext cx="2322572" cy="136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Requirements/design + platform-specific configuration agents</a:t>
            </a:r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ABBAD425-A4F0-4733-A903-9D95378CFB6E}"/>
              </a:ext>
            </a:extLst>
          </p:cNvPr>
          <p:cNvSpPr/>
          <p:nvPr/>
        </p:nvSpPr>
        <p:spPr>
          <a:xfrm>
            <a:off x="2942791" y="4588152"/>
            <a:ext cx="2468064" cy="136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Repeated CRM architecture and question-set validation</a:t>
            </a:r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90887CB3-A2FE-F673-4B9A-5BE0888CD320}"/>
              </a:ext>
            </a:extLst>
          </p:cNvPr>
          <p:cNvSpPr/>
          <p:nvPr/>
        </p:nvSpPr>
        <p:spPr>
          <a:xfrm>
            <a:off x="5692865" y="4539035"/>
            <a:ext cx="2104208" cy="136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Two real customer implementations to validate the model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B1176AF-2914-8AB7-5730-AE62A4C137CC}"/>
              </a:ext>
            </a:extLst>
          </p:cNvPr>
          <p:cNvGrpSpPr/>
          <p:nvPr/>
        </p:nvGrpSpPr>
        <p:grpSpPr>
          <a:xfrm>
            <a:off x="8564281" y="1822121"/>
            <a:ext cx="1499170" cy="1905740"/>
            <a:chOff x="7584228" y="2093511"/>
            <a:chExt cx="1499170" cy="1905740"/>
          </a:xfrm>
          <a:solidFill>
            <a:schemeClr val="accent3"/>
          </a:solidFill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DD0EBC7-766A-8827-74BF-384009C13A59}"/>
                </a:ext>
              </a:extLst>
            </p:cNvPr>
            <p:cNvSpPr/>
            <p:nvPr/>
          </p:nvSpPr>
          <p:spPr>
            <a:xfrm>
              <a:off x="7584228" y="2093511"/>
              <a:ext cx="1499170" cy="14991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3DDB232A-4F8B-3E70-285B-4BA4B5FD713A}"/>
                </a:ext>
              </a:extLst>
            </p:cNvPr>
            <p:cNvSpPr/>
            <p:nvPr/>
          </p:nvSpPr>
          <p:spPr>
            <a:xfrm rot="10800000">
              <a:off x="8206044" y="3582819"/>
              <a:ext cx="255538" cy="22029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BB7A4F9-4C77-F720-F610-ED4C1DFB8A1D}"/>
                </a:ext>
              </a:extLst>
            </p:cNvPr>
            <p:cNvSpPr/>
            <p:nvPr/>
          </p:nvSpPr>
          <p:spPr>
            <a:xfrm>
              <a:off x="8237854" y="3807333"/>
              <a:ext cx="191918" cy="191918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1D9BAED-BAA0-95AB-DB3B-83E60F179836}"/>
              </a:ext>
            </a:extLst>
          </p:cNvPr>
          <p:cNvGrpSpPr/>
          <p:nvPr/>
        </p:nvGrpSpPr>
        <p:grpSpPr>
          <a:xfrm>
            <a:off x="3427238" y="1822121"/>
            <a:ext cx="1499170" cy="1905740"/>
            <a:chOff x="3058153" y="2093511"/>
            <a:chExt cx="1499170" cy="1905740"/>
          </a:xfrm>
          <a:solidFill>
            <a:schemeClr val="accent4"/>
          </a:solidFill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EEE7D8D-2FDF-E6F8-7CD1-E80AF4237781}"/>
                </a:ext>
              </a:extLst>
            </p:cNvPr>
            <p:cNvSpPr/>
            <p:nvPr/>
          </p:nvSpPr>
          <p:spPr>
            <a:xfrm>
              <a:off x="3058153" y="2093511"/>
              <a:ext cx="1499170" cy="14991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467F7D08-B277-C3A7-1759-A229DC00A855}"/>
                </a:ext>
              </a:extLst>
            </p:cNvPr>
            <p:cNvSpPr/>
            <p:nvPr/>
          </p:nvSpPr>
          <p:spPr>
            <a:xfrm rot="10800000">
              <a:off x="3679970" y="3582819"/>
              <a:ext cx="255538" cy="22029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215A66F-916F-4ACE-CD67-F5BE866229E9}"/>
                </a:ext>
              </a:extLst>
            </p:cNvPr>
            <p:cNvSpPr/>
            <p:nvPr/>
          </p:nvSpPr>
          <p:spPr>
            <a:xfrm>
              <a:off x="3711779" y="3807333"/>
              <a:ext cx="191918" cy="191918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FC80C99-6D24-1A6D-1365-601B6E946050}"/>
              </a:ext>
            </a:extLst>
          </p:cNvPr>
          <p:cNvGrpSpPr/>
          <p:nvPr/>
        </p:nvGrpSpPr>
        <p:grpSpPr>
          <a:xfrm>
            <a:off x="672197" y="1822121"/>
            <a:ext cx="1499170" cy="1905740"/>
            <a:chOff x="784562" y="2093511"/>
            <a:chExt cx="1499170" cy="1905740"/>
          </a:xfrm>
          <a:solidFill>
            <a:schemeClr val="accent1"/>
          </a:solidFill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1385C52-F0E1-DDDC-7EA5-159616C7B4E5}"/>
                </a:ext>
              </a:extLst>
            </p:cNvPr>
            <p:cNvSpPr/>
            <p:nvPr/>
          </p:nvSpPr>
          <p:spPr>
            <a:xfrm>
              <a:off x="784562" y="2093511"/>
              <a:ext cx="1499170" cy="14991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D05A4233-44AF-FBB8-4F0D-724A4BDAC38F}"/>
                </a:ext>
              </a:extLst>
            </p:cNvPr>
            <p:cNvSpPr/>
            <p:nvPr/>
          </p:nvSpPr>
          <p:spPr>
            <a:xfrm rot="10800000">
              <a:off x="1406378" y="3582819"/>
              <a:ext cx="255538" cy="22029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E18CC45-5AFE-A05D-BCB0-DAEFBB3C056B}"/>
                </a:ext>
              </a:extLst>
            </p:cNvPr>
            <p:cNvSpPr/>
            <p:nvPr/>
          </p:nvSpPr>
          <p:spPr>
            <a:xfrm>
              <a:off x="1438188" y="3807333"/>
              <a:ext cx="191918" cy="191918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88A3769-F79D-31CD-D4D6-45CF749D00A7}"/>
              </a:ext>
            </a:extLst>
          </p:cNvPr>
          <p:cNvCxnSpPr>
            <a:cxnSpLocks/>
          </p:cNvCxnSpPr>
          <p:nvPr/>
        </p:nvCxnSpPr>
        <p:spPr>
          <a:xfrm>
            <a:off x="1621344" y="3632635"/>
            <a:ext cx="2018052" cy="0"/>
          </a:xfrm>
          <a:prstGeom prst="line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prstDash val="sysDot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B51CB81-8DE8-04C8-5A45-D56E3F12F169}"/>
              </a:ext>
            </a:extLst>
          </p:cNvPr>
          <p:cNvSpPr/>
          <p:nvPr/>
        </p:nvSpPr>
        <p:spPr>
          <a:xfrm>
            <a:off x="252607" y="3640147"/>
            <a:ext cx="232257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35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35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COMPLETE SALESFORCE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64DA36-0060-C483-A062-AF759AC06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88224" y="2056569"/>
            <a:ext cx="1038052" cy="1038052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EBF0089B-41B1-C772-42D5-3EAA44D29117}"/>
              </a:ext>
            </a:extLst>
          </p:cNvPr>
          <p:cNvGrpSpPr/>
          <p:nvPr/>
        </p:nvGrpSpPr>
        <p:grpSpPr>
          <a:xfrm>
            <a:off x="6009150" y="1827519"/>
            <a:ext cx="1499170" cy="1894945"/>
            <a:chOff x="5273478" y="2098909"/>
            <a:chExt cx="1499170" cy="1894945"/>
          </a:xfrm>
          <a:solidFill>
            <a:schemeClr val="accent2"/>
          </a:solidFill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BF0AA9F-966E-F77C-892D-35CB66216121}"/>
                </a:ext>
              </a:extLst>
            </p:cNvPr>
            <p:cNvSpPr/>
            <p:nvPr/>
          </p:nvSpPr>
          <p:spPr>
            <a:xfrm>
              <a:off x="5273478" y="2098909"/>
              <a:ext cx="1499170" cy="149917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A3809368-707F-4BBE-E75E-F19E12BD57EA}"/>
                </a:ext>
              </a:extLst>
            </p:cNvPr>
            <p:cNvSpPr/>
            <p:nvPr/>
          </p:nvSpPr>
          <p:spPr>
            <a:xfrm rot="10800000">
              <a:off x="5895294" y="3577422"/>
              <a:ext cx="255538" cy="22029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82EB9EA-6665-AEAE-2700-13B1D18299E9}"/>
                </a:ext>
              </a:extLst>
            </p:cNvPr>
            <p:cNvSpPr/>
            <p:nvPr/>
          </p:nvSpPr>
          <p:spPr>
            <a:xfrm>
              <a:off x="5927104" y="3801936"/>
              <a:ext cx="191918" cy="191918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52" name="Graphic 51">
            <a:extLst>
              <a:ext uri="{FF2B5EF4-FFF2-40B4-BE49-F238E27FC236}">
                <a16:creationId xmlns:a16="http://schemas.microsoft.com/office/drawing/2014/main" id="{1FE63C3D-701E-948E-02D3-03E4945D91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3979" y="2189837"/>
            <a:ext cx="809512" cy="809512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9784906D-56F9-3557-A1B5-5D44B0982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10791" y="2200046"/>
            <a:ext cx="807371" cy="807371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CE9F25C-3E8A-5697-F365-739C5063C5C4}"/>
              </a:ext>
            </a:extLst>
          </p:cNvPr>
          <p:cNvCxnSpPr>
            <a:cxnSpLocks/>
          </p:cNvCxnSpPr>
          <p:nvPr/>
        </p:nvCxnSpPr>
        <p:spPr>
          <a:xfrm>
            <a:off x="7000316" y="3632635"/>
            <a:ext cx="1905365" cy="0"/>
          </a:xfrm>
          <a:prstGeom prst="line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prstDash val="sysDot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0D71B31-587D-C370-22E6-A3C95CAA9825}"/>
              </a:ext>
            </a:extLst>
          </p:cNvPr>
          <p:cNvCxnSpPr>
            <a:cxnSpLocks/>
          </p:cNvCxnSpPr>
          <p:nvPr/>
        </p:nvCxnSpPr>
        <p:spPr>
          <a:xfrm>
            <a:off x="509170" y="3632635"/>
            <a:ext cx="815997" cy="0"/>
          </a:xfrm>
          <a:prstGeom prst="line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prstDash val="sysDot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D2F52839-DA5D-AE4F-FCA4-4C217EF7869E}"/>
              </a:ext>
            </a:extLst>
          </p:cNvPr>
          <p:cNvSpPr/>
          <p:nvPr/>
        </p:nvSpPr>
        <p:spPr>
          <a:xfrm>
            <a:off x="3015537" y="3915106"/>
            <a:ext cx="23225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E1B5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VALIDATE WITH EXPERTS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3576CCA-E844-60A5-D707-1A81ADAD3C1B}"/>
              </a:ext>
            </a:extLst>
          </p:cNvPr>
          <p:cNvSpPr/>
          <p:nvPr/>
        </p:nvSpPr>
        <p:spPr>
          <a:xfrm>
            <a:off x="5508148" y="3976861"/>
            <a:ext cx="24448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35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DEPLOY PILOTS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6D04BCE-F02F-B633-F608-D97D3110DBE7}"/>
              </a:ext>
            </a:extLst>
          </p:cNvPr>
          <p:cNvSpPr/>
          <p:nvPr/>
        </p:nvSpPr>
        <p:spPr>
          <a:xfrm>
            <a:off x="7895494" y="3976861"/>
            <a:ext cx="28367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E1B5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EXPAND CRM</a:t>
            </a:r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67119371-E665-016E-C2EA-65301F6A5BCD}"/>
              </a:ext>
            </a:extLst>
          </p:cNvPr>
          <p:cNvSpPr/>
          <p:nvPr/>
        </p:nvSpPr>
        <p:spPr>
          <a:xfrm>
            <a:off x="8079084" y="4536550"/>
            <a:ext cx="2469564" cy="1334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Begin Dynamics and Oracle CRM end-to-end development</a:t>
            </a:r>
          </a:p>
        </p:txBody>
      </p:sp>
      <p:sp>
        <p:nvSpPr>
          <p:cNvPr id="3" name="TextBox 2">
            <a:hlinkClick r:id="rId10" action="ppaction://hlinksldjump"/>
            <a:extLst>
              <a:ext uri="{FF2B5EF4-FFF2-40B4-BE49-F238E27FC236}">
                <a16:creationId xmlns:a16="http://schemas.microsoft.com/office/drawing/2014/main" id="{90EAA331-835D-589E-9F68-131E5B160EAA}"/>
              </a:ext>
            </a:extLst>
          </p:cNvPr>
          <p:cNvSpPr txBox="1"/>
          <p:nvPr/>
        </p:nvSpPr>
        <p:spPr>
          <a:xfrm>
            <a:off x="10630353" y="6420011"/>
            <a:ext cx="1299298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10" action="ppaction://hlinksldjump"/>
              </a:rPr>
              <a:t>&lt;&lt;Back to main slide</a:t>
            </a:r>
            <a:endParaRPr kumimoji="0" lang="en-US" sz="933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Graphic 5" descr="Stopwatch 75% outline">
            <a:extLst>
              <a:ext uri="{FF2B5EF4-FFF2-40B4-BE49-F238E27FC236}">
                <a16:creationId xmlns:a16="http://schemas.microsoft.com/office/drawing/2014/main" id="{1B435751-77C9-1FEA-124D-7ED3BB6978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4867" y="2061401"/>
            <a:ext cx="1038052" cy="10380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6D421E-91A5-3529-89B1-3FE0A80EADE6}"/>
              </a:ext>
            </a:extLst>
          </p:cNvPr>
          <p:cNvSpPr txBox="1"/>
          <p:nvPr/>
        </p:nvSpPr>
        <p:spPr>
          <a:xfrm>
            <a:off x="369984" y="5774603"/>
            <a:ext cx="110351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Second-round financing preparation begins by Month 12, well ahead of the initial funding horizon.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315182B-DC2D-3F5A-DA62-4087A51F37EE}"/>
              </a:ext>
            </a:extLst>
          </p:cNvPr>
          <p:cNvSpPr/>
          <p:nvPr/>
        </p:nvSpPr>
        <p:spPr>
          <a:xfrm>
            <a:off x="9216210" y="187260"/>
            <a:ext cx="2159245" cy="40396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Completed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6779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1000">
              <a:schemeClr val="accent1">
                <a:lumMod val="50000"/>
              </a:schemeClr>
            </a:gs>
            <a:gs pos="0">
              <a:srgbClr val="7030A0"/>
            </a:gs>
            <a:gs pos="8000">
              <a:srgbClr val="41BED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2BA26-B298-7A9A-734F-F21C55ED6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38">
            <a:extLst>
              <a:ext uri="{FF2B5EF4-FFF2-40B4-BE49-F238E27FC236}">
                <a16:creationId xmlns:a16="http://schemas.microsoft.com/office/drawing/2014/main" id="{1275BDDA-D313-F3BE-C394-4A08068C2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84" y="279400"/>
            <a:ext cx="11174316" cy="58737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Our Three-Tiered </a:t>
            </a:r>
            <a:r>
              <a:rPr lang="en-US" dirty="0">
                <a:solidFill>
                  <a:schemeClr val="accent3"/>
                </a:solidFill>
              </a:rPr>
              <a:t>Pilot Framework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6EB20CE-5B09-34C8-DD75-C22A42018E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865" y="862013"/>
            <a:ext cx="11169435" cy="347662"/>
          </a:xfrm>
        </p:spPr>
        <p:txBody>
          <a:bodyPr/>
          <a:lstStyle/>
          <a:p>
            <a:pPr algn="ctr"/>
            <a:r>
              <a:rPr lang="en-US" sz="1600" b="1" dirty="0">
                <a:solidFill>
                  <a:schemeClr val="accent5"/>
                </a:solidFill>
              </a:rPr>
              <a:t>The goal: prove the full operating model in real customer environments before optimizing for revenue.</a:t>
            </a:r>
          </a:p>
        </p:txBody>
      </p:sp>
      <p:sp>
        <p:nvSpPr>
          <p:cNvPr id="10" name="TextBox 9">
            <a:hlinkClick r:id="rId3" action="ppaction://hlinksldjump"/>
            <a:extLst>
              <a:ext uri="{FF2B5EF4-FFF2-40B4-BE49-F238E27FC236}">
                <a16:creationId xmlns:a16="http://schemas.microsoft.com/office/drawing/2014/main" id="{187E3D85-EAA0-45A9-0D8F-0533B697A665}"/>
              </a:ext>
            </a:extLst>
          </p:cNvPr>
          <p:cNvSpPr txBox="1"/>
          <p:nvPr/>
        </p:nvSpPr>
        <p:spPr>
          <a:xfrm>
            <a:off x="10756354" y="6460651"/>
            <a:ext cx="1299298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  <a:hlinkClick r:id="rId3" action="ppaction://hlinksldjump"/>
              </a:rPr>
              <a:t>&lt;&lt;Back to main slide</a:t>
            </a:r>
            <a:endParaRPr kumimoji="0" lang="en-US" sz="933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47683B-362E-BE59-CE1C-13D8F3A5F920}"/>
              </a:ext>
            </a:extLst>
          </p:cNvPr>
          <p:cNvSpPr/>
          <p:nvPr/>
        </p:nvSpPr>
        <p:spPr>
          <a:xfrm>
            <a:off x="1173861" y="1589539"/>
            <a:ext cx="2683073" cy="4482497"/>
          </a:xfrm>
          <a:prstGeom prst="roundRect">
            <a:avLst>
              <a:gd name="adj" fmla="val 6090"/>
            </a:avLst>
          </a:prstGeom>
          <a:gradFill>
            <a:gsLst>
              <a:gs pos="33000">
                <a:schemeClr val="tx1">
                  <a:alpha val="20000"/>
                </a:schemeClr>
              </a:gs>
              <a:gs pos="0">
                <a:schemeClr val="accent1">
                  <a:lumMod val="60000"/>
                  <a:lumOff val="40000"/>
                  <a:alpha val="38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0A79853-66CA-94E9-A7C1-5F8E186083CA}"/>
              </a:ext>
            </a:extLst>
          </p:cNvPr>
          <p:cNvSpPr/>
          <p:nvPr/>
        </p:nvSpPr>
        <p:spPr>
          <a:xfrm>
            <a:off x="1300657" y="1933510"/>
            <a:ext cx="924650" cy="9246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AD2FB1-4415-6ABB-67CD-4DE8F35F1334}"/>
              </a:ext>
            </a:extLst>
          </p:cNvPr>
          <p:cNvSpPr txBox="1"/>
          <p:nvPr/>
        </p:nvSpPr>
        <p:spPr>
          <a:xfrm>
            <a:off x="2430826" y="2211169"/>
            <a:ext cx="15783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35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TECHNICAL 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35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35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PROOF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283262-E69C-6A57-B8E8-C94EAF87AC8C}"/>
              </a:ext>
            </a:extLst>
          </p:cNvPr>
          <p:cNvSpPr txBox="1"/>
          <p:nvPr/>
        </p:nvSpPr>
        <p:spPr>
          <a:xfrm>
            <a:off x="1397935" y="3254636"/>
            <a:ext cx="23839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End-to-End Execution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Validation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FD0DDDB-FD51-36EC-BF0B-CBAADADC38FA}"/>
              </a:ext>
            </a:extLst>
          </p:cNvPr>
          <p:cNvCxnSpPr>
            <a:cxnSpLocks/>
          </p:cNvCxnSpPr>
          <p:nvPr/>
        </p:nvCxnSpPr>
        <p:spPr>
          <a:xfrm>
            <a:off x="1482268" y="3897397"/>
            <a:ext cx="779037" cy="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536E05E-333C-9276-9DF8-CA3D147556AD}"/>
              </a:ext>
            </a:extLst>
          </p:cNvPr>
          <p:cNvGrpSpPr/>
          <p:nvPr/>
        </p:nvGrpSpPr>
        <p:grpSpPr>
          <a:xfrm>
            <a:off x="4513336" y="1593914"/>
            <a:ext cx="2683073" cy="4482497"/>
            <a:chOff x="3239331" y="1678860"/>
            <a:chExt cx="2683073" cy="4482497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E2321F28-CA57-84D6-5CBB-06B9E2688586}"/>
                </a:ext>
              </a:extLst>
            </p:cNvPr>
            <p:cNvSpPr/>
            <p:nvPr/>
          </p:nvSpPr>
          <p:spPr>
            <a:xfrm>
              <a:off x="3239331" y="1678860"/>
              <a:ext cx="2683073" cy="4482497"/>
            </a:xfrm>
            <a:prstGeom prst="roundRect">
              <a:avLst>
                <a:gd name="adj" fmla="val 6090"/>
              </a:avLst>
            </a:prstGeom>
            <a:gradFill>
              <a:gsLst>
                <a:gs pos="33000">
                  <a:schemeClr val="tx1">
                    <a:alpha val="20000"/>
                  </a:schemeClr>
                </a:gs>
                <a:gs pos="0">
                  <a:schemeClr val="accent4">
                    <a:lumMod val="44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7F6BC0F-832B-516C-6C04-93EAA10A6231}"/>
                </a:ext>
              </a:extLst>
            </p:cNvPr>
            <p:cNvSpPr/>
            <p:nvPr/>
          </p:nvSpPr>
          <p:spPr>
            <a:xfrm>
              <a:off x="3366747" y="2022831"/>
              <a:ext cx="924650" cy="9246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5DB90E-C543-A9E9-6F55-9C46B1A25366}"/>
                </a:ext>
              </a:extLst>
            </p:cNvPr>
            <p:cNvSpPr txBox="1"/>
            <p:nvPr/>
          </p:nvSpPr>
          <p:spPr>
            <a:xfrm>
              <a:off x="4315156" y="2289200"/>
              <a:ext cx="15397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DE1B54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OPERATING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DE1B54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DE1B54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PROOF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C67D10-3D6A-BBCB-80EA-D73F2FC3D63D}"/>
                </a:ext>
              </a:extLst>
            </p:cNvPr>
            <p:cNvSpPr txBox="1"/>
            <p:nvPr/>
          </p:nvSpPr>
          <p:spPr>
            <a:xfrm>
              <a:off x="3402842" y="4162680"/>
              <a:ext cx="235604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Can Ontivuss deliver with a repeatable process and manageable </a:t>
              </a:r>
              <a:b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human oversight?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2112282-73E0-A953-D06A-36CBC4B21FF0}"/>
                </a:ext>
              </a:extLst>
            </p:cNvPr>
            <p:cNvCxnSpPr>
              <a:cxnSpLocks/>
            </p:cNvCxnSpPr>
            <p:nvPr/>
          </p:nvCxnSpPr>
          <p:spPr>
            <a:xfrm>
              <a:off x="3498824" y="3986718"/>
              <a:ext cx="779037" cy="0"/>
            </a:xfrm>
            <a:prstGeom prst="line">
              <a:avLst/>
            </a:prstGeom>
            <a:ln w="9525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E859937-E5CB-8791-092B-D7D82640C5C0}"/>
              </a:ext>
            </a:extLst>
          </p:cNvPr>
          <p:cNvGrpSpPr/>
          <p:nvPr/>
        </p:nvGrpSpPr>
        <p:grpSpPr>
          <a:xfrm>
            <a:off x="8031245" y="1656565"/>
            <a:ext cx="2683073" cy="4482497"/>
            <a:chOff x="6257944" y="1678860"/>
            <a:chExt cx="2683073" cy="4482497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0A3AD852-EF9A-81D5-DC19-4356D37ED3E0}"/>
                </a:ext>
              </a:extLst>
            </p:cNvPr>
            <p:cNvSpPr/>
            <p:nvPr/>
          </p:nvSpPr>
          <p:spPr>
            <a:xfrm>
              <a:off x="6257944" y="1678860"/>
              <a:ext cx="2683073" cy="4482497"/>
            </a:xfrm>
            <a:prstGeom prst="roundRect">
              <a:avLst>
                <a:gd name="adj" fmla="val 6090"/>
              </a:avLst>
            </a:prstGeom>
            <a:gradFill>
              <a:gsLst>
                <a:gs pos="33000">
                  <a:schemeClr val="tx1">
                    <a:alpha val="20000"/>
                  </a:schemeClr>
                </a:gs>
                <a:gs pos="0">
                  <a:schemeClr val="accent2">
                    <a:lumMod val="75000"/>
                    <a:alpha val="64000"/>
                  </a:schemeClr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96B20F5-8F1E-037F-5D22-50228D131015}"/>
                </a:ext>
              </a:extLst>
            </p:cNvPr>
            <p:cNvSpPr/>
            <p:nvPr/>
          </p:nvSpPr>
          <p:spPr>
            <a:xfrm>
              <a:off x="6371639" y="2022831"/>
              <a:ext cx="924650" cy="924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47DBEAF-1C2F-0979-6987-13294E5092E1}"/>
                </a:ext>
              </a:extLst>
            </p:cNvPr>
            <p:cNvSpPr txBox="1"/>
            <p:nvPr/>
          </p:nvSpPr>
          <p:spPr>
            <a:xfrm>
              <a:off x="7330618" y="2271479"/>
              <a:ext cx="16103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E79BB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ECONOMIC PROOF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5323B1F-D1B2-6081-7213-EF6D88C21E21}"/>
                </a:ext>
              </a:extLst>
            </p:cNvPr>
            <p:cNvCxnSpPr>
              <a:cxnSpLocks/>
            </p:cNvCxnSpPr>
            <p:nvPr/>
          </p:nvCxnSpPr>
          <p:spPr>
            <a:xfrm>
              <a:off x="6566791" y="3986718"/>
              <a:ext cx="779037" cy="0"/>
            </a:xfrm>
            <a:prstGeom prst="line">
              <a:avLst/>
            </a:prstGeom>
            <a:ln w="9525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D2B262D-92D2-C837-4B6F-20D1EBC2004B}"/>
              </a:ext>
            </a:extLst>
          </p:cNvPr>
          <p:cNvSpPr txBox="1"/>
          <p:nvPr/>
        </p:nvSpPr>
        <p:spPr>
          <a:xfrm>
            <a:off x="1300657" y="6060488"/>
            <a:ext cx="9954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Pilot outputs become the evidence base for pricing, speed claims, customer value, and the next financing round.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46" name="Picture 6" descr="Monitor icon">
            <a:hlinkClick r:id="rId4"/>
            <a:extLst>
              <a:ext uri="{FF2B5EF4-FFF2-40B4-BE49-F238E27FC236}">
                <a16:creationId xmlns:a16="http://schemas.microsoft.com/office/drawing/2014/main" id="{8DFA6617-1936-2F3C-FAF5-7DC3AA781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6937" y="2212533"/>
            <a:ext cx="500656" cy="50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Analysis icon">
            <a:hlinkClick r:id="rId7"/>
            <a:extLst>
              <a:ext uri="{FF2B5EF4-FFF2-40B4-BE49-F238E27FC236}">
                <a16:creationId xmlns:a16="http://schemas.microsoft.com/office/drawing/2014/main" id="{51ABA76E-50FA-E36B-A088-2BFC43B72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508" y="2186647"/>
            <a:ext cx="500656" cy="50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Analysis icon">
            <a:hlinkClick r:id="rId10"/>
            <a:extLst>
              <a:ext uri="{FF2B5EF4-FFF2-40B4-BE49-F238E27FC236}">
                <a16:creationId xmlns:a16="http://schemas.microsoft.com/office/drawing/2014/main" id="{90EE111E-6832-7B20-F469-D80F6363C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428" y="2204254"/>
            <a:ext cx="500656" cy="50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9D0FF9-6253-DE0C-37D4-62A59AAB070B}"/>
              </a:ext>
            </a:extLst>
          </p:cNvPr>
          <p:cNvSpPr txBox="1"/>
          <p:nvPr/>
        </p:nvSpPr>
        <p:spPr>
          <a:xfrm>
            <a:off x="4676846" y="3173477"/>
            <a:ext cx="2452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Operational Scalability Validation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957049-D6C2-E109-3FC3-A5FD373BCDC4}"/>
              </a:ext>
            </a:extLst>
          </p:cNvPr>
          <p:cNvSpPr txBox="1"/>
          <p:nvPr/>
        </p:nvSpPr>
        <p:spPr>
          <a:xfrm>
            <a:off x="1425872" y="4132617"/>
            <a:ext cx="23560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 the agents reliably move from SME input to design to configured Salesforce instance?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3D2A41-1D0D-8127-5F38-32BAC44645AF}"/>
              </a:ext>
            </a:extLst>
          </p:cNvPr>
          <p:cNvSpPr txBox="1"/>
          <p:nvPr/>
        </p:nvSpPr>
        <p:spPr>
          <a:xfrm>
            <a:off x="8127507" y="3160079"/>
            <a:ext cx="2452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Cost &amp; Speed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Validation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B7C559-8D37-C818-D3EE-2D37450592D0}"/>
              </a:ext>
            </a:extLst>
          </p:cNvPr>
          <p:cNvSpPr txBox="1"/>
          <p:nvPr/>
        </p:nvSpPr>
        <p:spPr>
          <a:xfrm>
            <a:off x="8231473" y="4108418"/>
            <a:ext cx="23560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 the model materially improve implementation time and cost versus the traditional SI approach?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DDD929A-2808-927E-822F-F100C6340B24}"/>
              </a:ext>
            </a:extLst>
          </p:cNvPr>
          <p:cNvSpPr/>
          <p:nvPr/>
        </p:nvSpPr>
        <p:spPr>
          <a:xfrm>
            <a:off x="9662771" y="193481"/>
            <a:ext cx="2159245" cy="40396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Completed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0593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F0B98-ED97-4477-26CF-8067AA6F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38">
            <a:extLst>
              <a:ext uri="{FF2B5EF4-FFF2-40B4-BE49-F238E27FC236}">
                <a16:creationId xmlns:a16="http://schemas.microsoft.com/office/drawing/2014/main" id="{54B6AB21-623C-A044-2462-A10027022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85" y="279400"/>
            <a:ext cx="10326589" cy="5873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Our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chemeClr val="accent4"/>
                </a:solidFill>
                <a:latin typeface="+mj-lt"/>
              </a:rPr>
              <a:t>Roadmap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8F8C1B-E3FC-5CCE-C025-5EB557AB4E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+mj-lt"/>
              </a:rPr>
              <a:t>A scalable, people-powered and tech-enabled operating model designed for quality, speed and trust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4DAB74-8560-7E0C-342A-2D50B75836A1}"/>
              </a:ext>
            </a:extLst>
          </p:cNvPr>
          <p:cNvSpPr/>
          <p:nvPr/>
        </p:nvSpPr>
        <p:spPr>
          <a:xfrm>
            <a:off x="507871" y="1337202"/>
            <a:ext cx="2560320" cy="1893939"/>
          </a:xfrm>
          <a:prstGeom prst="roundRect">
            <a:avLst>
              <a:gd name="adj" fmla="val 764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495A62-6A65-C208-6F1C-B6CDD3B9AF5D}"/>
              </a:ext>
            </a:extLst>
          </p:cNvPr>
          <p:cNvSpPr/>
          <p:nvPr/>
        </p:nvSpPr>
        <p:spPr>
          <a:xfrm>
            <a:off x="3393527" y="1337202"/>
            <a:ext cx="2560320" cy="1893939"/>
          </a:xfrm>
          <a:prstGeom prst="roundRect">
            <a:avLst>
              <a:gd name="adj" fmla="val 764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BEB50D5-B18C-2867-F44A-9B672BAC056E}"/>
              </a:ext>
            </a:extLst>
          </p:cNvPr>
          <p:cNvSpPr/>
          <p:nvPr/>
        </p:nvSpPr>
        <p:spPr>
          <a:xfrm>
            <a:off x="6319308" y="1337202"/>
            <a:ext cx="2560320" cy="1893939"/>
          </a:xfrm>
          <a:prstGeom prst="roundRect">
            <a:avLst>
              <a:gd name="adj" fmla="val 764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1D6EF9C-011D-7978-EC01-D6D89BE52E40}"/>
              </a:ext>
            </a:extLst>
          </p:cNvPr>
          <p:cNvSpPr/>
          <p:nvPr/>
        </p:nvSpPr>
        <p:spPr>
          <a:xfrm>
            <a:off x="9187814" y="1337202"/>
            <a:ext cx="2560320" cy="1893939"/>
          </a:xfrm>
          <a:prstGeom prst="roundRect">
            <a:avLst>
              <a:gd name="adj" fmla="val 764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818D100-DBD9-2D13-23DA-F5B1B3D8D51C}"/>
              </a:ext>
            </a:extLst>
          </p:cNvPr>
          <p:cNvSpPr/>
          <p:nvPr/>
        </p:nvSpPr>
        <p:spPr>
          <a:xfrm>
            <a:off x="417333" y="1428433"/>
            <a:ext cx="2743200" cy="4627562"/>
          </a:xfrm>
          <a:prstGeom prst="roundRect">
            <a:avLst>
              <a:gd name="adj" fmla="val 7640"/>
            </a:avLst>
          </a:prstGeom>
          <a:solidFill>
            <a:srgbClr val="EDECF8"/>
          </a:solidFill>
          <a:ln>
            <a:noFill/>
          </a:ln>
          <a:effectLst>
            <a:outerShdw blurRad="63500" sx="102000" sy="102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A9895F0-9C76-2CC1-5469-240488786124}"/>
              </a:ext>
            </a:extLst>
          </p:cNvPr>
          <p:cNvSpPr/>
          <p:nvPr/>
        </p:nvSpPr>
        <p:spPr>
          <a:xfrm>
            <a:off x="3302087" y="1449388"/>
            <a:ext cx="2743200" cy="4627562"/>
          </a:xfrm>
          <a:prstGeom prst="roundRect">
            <a:avLst>
              <a:gd name="adj" fmla="val 7640"/>
            </a:avLst>
          </a:prstGeom>
          <a:solidFill>
            <a:srgbClr val="FDE9EF"/>
          </a:solidFill>
          <a:ln>
            <a:noFill/>
          </a:ln>
          <a:effectLst>
            <a:outerShdw blurRad="63500" sx="102000" sy="102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F0FF95E-B3CD-EDC1-56AD-7C7AF8E512B9}"/>
              </a:ext>
            </a:extLst>
          </p:cNvPr>
          <p:cNvSpPr/>
          <p:nvPr/>
        </p:nvSpPr>
        <p:spPr>
          <a:xfrm>
            <a:off x="6227868" y="1449388"/>
            <a:ext cx="2743200" cy="4627562"/>
          </a:xfrm>
          <a:prstGeom prst="roundRect">
            <a:avLst>
              <a:gd name="adj" fmla="val 7640"/>
            </a:avLst>
          </a:prstGeom>
          <a:solidFill>
            <a:srgbClr val="EFF5FB"/>
          </a:solidFill>
          <a:ln>
            <a:noFill/>
          </a:ln>
          <a:effectLst>
            <a:outerShdw blurRad="63500" sx="102000" sy="102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437B4EB-0975-B2C4-055A-98FD5259C1EB}"/>
              </a:ext>
            </a:extLst>
          </p:cNvPr>
          <p:cNvSpPr/>
          <p:nvPr/>
        </p:nvSpPr>
        <p:spPr>
          <a:xfrm>
            <a:off x="9096374" y="1449388"/>
            <a:ext cx="2743200" cy="4627562"/>
          </a:xfrm>
          <a:prstGeom prst="roundRect">
            <a:avLst>
              <a:gd name="adj" fmla="val 7640"/>
            </a:avLst>
          </a:prstGeom>
          <a:solidFill>
            <a:srgbClr val="FFF7EF"/>
          </a:solidFill>
          <a:ln>
            <a:noFill/>
          </a:ln>
          <a:effectLst>
            <a:outerShdw blurRad="63500" sx="102000" sy="102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649EA5F-147E-CD7D-84AC-7F854918656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l="14159" r="3742" b="24582"/>
          <a:stretch>
            <a:fillRect/>
          </a:stretch>
        </p:blipFill>
        <p:spPr>
          <a:xfrm>
            <a:off x="415401" y="2731437"/>
            <a:ext cx="2781300" cy="151608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A19C4AB-6BBE-BA9B-F865-AD5FC36A1A2E}"/>
              </a:ext>
            </a:extLst>
          </p:cNvPr>
          <p:cNvSpPr txBox="1"/>
          <p:nvPr/>
        </p:nvSpPr>
        <p:spPr>
          <a:xfrm>
            <a:off x="676901" y="2265416"/>
            <a:ext cx="2166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6235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DELIVERY LOCATIONS</a:t>
            </a:r>
          </a:p>
        </p:txBody>
      </p:sp>
      <p:pic>
        <p:nvPicPr>
          <p:cNvPr id="44" name="Graphic 43" descr="Marker with solid fill">
            <a:extLst>
              <a:ext uri="{FF2B5EF4-FFF2-40B4-BE49-F238E27FC236}">
                <a16:creationId xmlns:a16="http://schemas.microsoft.com/office/drawing/2014/main" id="{787511FF-C1CB-2A1F-E2CC-1218471756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3926" y="3404927"/>
            <a:ext cx="177173" cy="177173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C2BE6590-B7F3-988D-3B1F-0C3141AE2535}"/>
              </a:ext>
            </a:extLst>
          </p:cNvPr>
          <p:cNvSpPr txBox="1"/>
          <p:nvPr/>
        </p:nvSpPr>
        <p:spPr>
          <a:xfrm>
            <a:off x="524826" y="4364278"/>
            <a:ext cx="2421174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7475" marR="0" lvl="0" indent="-117475" algn="l" defTabSz="121917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India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: Chennai</a:t>
            </a:r>
          </a:p>
          <a:p>
            <a:pPr marL="117475" marR="0" lvl="0" indent="-117475" algn="l" defTabSz="121917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Strong English Language &amp; IT presence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preserving capital efficiency.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0254D1-769B-CA27-8FA3-3DE5719991B5}"/>
              </a:ext>
            </a:extLst>
          </p:cNvPr>
          <p:cNvSpPr txBox="1"/>
          <p:nvPr/>
        </p:nvSpPr>
        <p:spPr>
          <a:xfrm>
            <a:off x="3813965" y="2265416"/>
            <a:ext cx="1651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E1B5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PEOPLE &amp; TEAM</a:t>
            </a:r>
          </a:p>
        </p:txBody>
      </p:sp>
      <p:sp>
        <p:nvSpPr>
          <p:cNvPr id="50" name="Rectangle: Top Corners Rounded 49">
            <a:extLst>
              <a:ext uri="{FF2B5EF4-FFF2-40B4-BE49-F238E27FC236}">
                <a16:creationId xmlns:a16="http://schemas.microsoft.com/office/drawing/2014/main" id="{05B3FF21-DB44-E5AF-7EB9-339C69062340}"/>
              </a:ext>
            </a:extLst>
          </p:cNvPr>
          <p:cNvSpPr/>
          <p:nvPr/>
        </p:nvSpPr>
        <p:spPr>
          <a:xfrm flipV="1">
            <a:off x="403731" y="5486400"/>
            <a:ext cx="2743200" cy="773430"/>
          </a:xfrm>
          <a:prstGeom prst="round2SameRect">
            <a:avLst>
              <a:gd name="adj1" fmla="val 36207"/>
              <a:gd name="adj2" fmla="val 0"/>
            </a:avLst>
          </a:prstGeom>
          <a:solidFill>
            <a:srgbClr val="001A4E"/>
          </a:soli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ectangle: Top Corners Rounded 50">
            <a:extLst>
              <a:ext uri="{FF2B5EF4-FFF2-40B4-BE49-F238E27FC236}">
                <a16:creationId xmlns:a16="http://schemas.microsoft.com/office/drawing/2014/main" id="{D9F91532-7891-39D9-BCD3-285541DEAA31}"/>
              </a:ext>
            </a:extLst>
          </p:cNvPr>
          <p:cNvSpPr/>
          <p:nvPr/>
        </p:nvSpPr>
        <p:spPr>
          <a:xfrm flipV="1">
            <a:off x="3302087" y="5486400"/>
            <a:ext cx="2743200" cy="773430"/>
          </a:xfrm>
          <a:prstGeom prst="round2SameRect">
            <a:avLst>
              <a:gd name="adj1" fmla="val 39943"/>
              <a:gd name="adj2" fmla="val 0"/>
            </a:avLst>
          </a:prstGeom>
          <a:solidFill>
            <a:schemeClr val="accent4"/>
          </a:soli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Rectangle: Top Corners Rounded 51">
            <a:extLst>
              <a:ext uri="{FF2B5EF4-FFF2-40B4-BE49-F238E27FC236}">
                <a16:creationId xmlns:a16="http://schemas.microsoft.com/office/drawing/2014/main" id="{0C0BC71B-140C-4021-C1C1-1E767B355C06}"/>
              </a:ext>
            </a:extLst>
          </p:cNvPr>
          <p:cNvSpPr/>
          <p:nvPr/>
        </p:nvSpPr>
        <p:spPr>
          <a:xfrm flipV="1">
            <a:off x="6227868" y="5486400"/>
            <a:ext cx="2743200" cy="773430"/>
          </a:xfrm>
          <a:prstGeom prst="round2SameRect">
            <a:avLst>
              <a:gd name="adj1" fmla="val 40805"/>
              <a:gd name="adj2" fmla="val 0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F4A2C08B-A340-5424-FC47-C7C32C7FA228}"/>
              </a:ext>
            </a:extLst>
          </p:cNvPr>
          <p:cNvSpPr/>
          <p:nvPr/>
        </p:nvSpPr>
        <p:spPr>
          <a:xfrm flipV="1">
            <a:off x="9096374" y="5486400"/>
            <a:ext cx="2743200" cy="773430"/>
          </a:xfrm>
          <a:prstGeom prst="round2SameRect">
            <a:avLst>
              <a:gd name="adj1" fmla="val 40805"/>
              <a:gd name="adj2" fmla="val 0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2FA253-53DA-94A7-01E2-7E02CEF8669C}"/>
              </a:ext>
            </a:extLst>
          </p:cNvPr>
          <p:cNvSpPr txBox="1"/>
          <p:nvPr/>
        </p:nvSpPr>
        <p:spPr>
          <a:xfrm>
            <a:off x="4142966" y="3115328"/>
            <a:ext cx="1379505" cy="45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6 Experienced Consultants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34B011-E9FD-AE7C-A801-F0F362E12133}"/>
              </a:ext>
            </a:extLst>
          </p:cNvPr>
          <p:cNvSpPr txBox="1"/>
          <p:nvPr/>
        </p:nvSpPr>
        <p:spPr>
          <a:xfrm>
            <a:off x="4155336" y="3978927"/>
            <a:ext cx="1817436" cy="640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Planning Allowance 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B26A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~$185K–$200K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 </a:t>
            </a:r>
            <a:b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</a:b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3DB9FC-252F-370B-7E93-421C3101A2B6}"/>
              </a:ext>
            </a:extLst>
          </p:cNvPr>
          <p:cNvSpPr txBox="1"/>
          <p:nvPr/>
        </p:nvSpPr>
        <p:spPr>
          <a:xfrm>
            <a:off x="4155336" y="4656334"/>
            <a:ext cx="1518438" cy="45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Dedicated Leadership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2F93EBA-5504-4CD2-C6E2-505B2EB578E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12524" y="3116776"/>
            <a:ext cx="365760" cy="36576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B3A246D-F70A-B33F-69B4-835D2ED0695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12524" y="4669750"/>
            <a:ext cx="365760" cy="36576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0468C06-404A-4E92-6877-03B4AED0318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12524" y="3881763"/>
            <a:ext cx="365760" cy="365760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8E7E766-E9C4-A553-9C1E-4590D32B4F5C}"/>
              </a:ext>
            </a:extLst>
          </p:cNvPr>
          <p:cNvCxnSpPr/>
          <p:nvPr/>
        </p:nvCxnSpPr>
        <p:spPr>
          <a:xfrm>
            <a:off x="3579568" y="3667024"/>
            <a:ext cx="21031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A9DB341-2769-79F4-73D0-23DF77A23611}"/>
              </a:ext>
            </a:extLst>
          </p:cNvPr>
          <p:cNvCxnSpPr/>
          <p:nvPr/>
        </p:nvCxnSpPr>
        <p:spPr>
          <a:xfrm>
            <a:off x="3579568" y="4492524"/>
            <a:ext cx="21031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829C3B7-2420-2B70-170C-FAB61EA4CC64}"/>
              </a:ext>
            </a:extLst>
          </p:cNvPr>
          <p:cNvSpPr txBox="1"/>
          <p:nvPr/>
        </p:nvSpPr>
        <p:spPr>
          <a:xfrm>
            <a:off x="6860885" y="2874255"/>
            <a:ext cx="1945456" cy="82355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R="0" lvl="0" indent="0" defTabSz="1219170" fontAlgn="auto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  <a:t>Months 0–3  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</a:b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  <a:t>6 consultants focused on CRM architecture validation &amp; development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83C2E65-F29D-0A93-4461-94E3CC8E46E9}"/>
              </a:ext>
            </a:extLst>
          </p:cNvPr>
          <p:cNvCxnSpPr>
            <a:cxnSpLocks/>
          </p:cNvCxnSpPr>
          <p:nvPr/>
        </p:nvCxnSpPr>
        <p:spPr>
          <a:xfrm>
            <a:off x="6592034" y="3707238"/>
            <a:ext cx="21031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4A3A4A6-CC7C-88ED-36F0-FF8FD69FA034}"/>
              </a:ext>
            </a:extLst>
          </p:cNvPr>
          <p:cNvCxnSpPr>
            <a:cxnSpLocks/>
          </p:cNvCxnSpPr>
          <p:nvPr/>
        </p:nvCxnSpPr>
        <p:spPr>
          <a:xfrm>
            <a:off x="6547908" y="4754936"/>
            <a:ext cx="21031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FB7524AE-F373-031A-BF45-E9B970EDC7F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42037" y="2981760"/>
            <a:ext cx="365760" cy="365760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0EF86196-8DD3-C0F1-E119-BB81ED5FC1DD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42037" y="3964481"/>
            <a:ext cx="365760" cy="36576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7965571F-8A2A-BCA9-7126-85F862AB5B2F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96268" y="4972367"/>
            <a:ext cx="316344" cy="274320"/>
          </a:xfrm>
          <a:prstGeom prst="rect">
            <a:avLst/>
          </a:prstGeom>
        </p:spPr>
      </p:pic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085475E-DA30-96B1-D9B1-8E94244FC335}"/>
              </a:ext>
            </a:extLst>
          </p:cNvPr>
          <p:cNvCxnSpPr>
            <a:cxnSpLocks/>
          </p:cNvCxnSpPr>
          <p:nvPr/>
        </p:nvCxnSpPr>
        <p:spPr>
          <a:xfrm>
            <a:off x="9369611" y="4725617"/>
            <a:ext cx="2286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B8566263-F4C7-7CC5-429F-C04C8CEB16C7}"/>
              </a:ext>
            </a:extLst>
          </p:cNvPr>
          <p:cNvSpPr txBox="1"/>
          <p:nvPr/>
        </p:nvSpPr>
        <p:spPr>
          <a:xfrm>
            <a:off x="6592034" y="2265416"/>
            <a:ext cx="18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E79BB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OPERATING SCALE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277AF97-0D4F-50C3-AECB-06E6C9C03509}"/>
              </a:ext>
            </a:extLst>
          </p:cNvPr>
          <p:cNvSpPr txBox="1"/>
          <p:nvPr/>
        </p:nvSpPr>
        <p:spPr>
          <a:xfrm>
            <a:off x="9430386" y="2173752"/>
            <a:ext cx="2225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99F42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QUALITY FRAMEWORK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BB21CED7-D316-4F17-183B-FE3922D58BCA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30999" y="2981760"/>
            <a:ext cx="361336" cy="36576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7D9CA071-6D50-92E4-A753-24938EB8FDC7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185066" y="4003266"/>
            <a:ext cx="392852" cy="365760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3717F6D0-2CCB-4CD6-D111-518E257ED32E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11775" y="4997404"/>
            <a:ext cx="399784" cy="365760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05ED0547-4B59-2B02-73CA-2F0A58754A70}"/>
              </a:ext>
            </a:extLst>
          </p:cNvPr>
          <p:cNvSpPr txBox="1"/>
          <p:nvPr/>
        </p:nvSpPr>
        <p:spPr>
          <a:xfrm>
            <a:off x="1030213" y="5660749"/>
            <a:ext cx="2279025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Strategically located.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</a:b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Globally Connected.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766E821-7621-C24E-43F8-38ADEB580E96}"/>
              </a:ext>
            </a:extLst>
          </p:cNvPr>
          <p:cNvSpPr txBox="1"/>
          <p:nvPr/>
        </p:nvSpPr>
        <p:spPr>
          <a:xfrm>
            <a:off x="3938829" y="5660749"/>
            <a:ext cx="2279025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Experienced team.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</a:b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Built for success.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007618E-A957-5C11-BB61-E83EBA927566}"/>
              </a:ext>
            </a:extLst>
          </p:cNvPr>
          <p:cNvSpPr txBox="1"/>
          <p:nvPr/>
        </p:nvSpPr>
        <p:spPr>
          <a:xfrm>
            <a:off x="6809313" y="5660749"/>
            <a:ext cx="2279025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Structured. Scalable.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</a:b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Always On.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42B896D-D5EE-245D-E562-CDAA14DD74D8}"/>
              </a:ext>
            </a:extLst>
          </p:cNvPr>
          <p:cNvSpPr txBox="1"/>
          <p:nvPr/>
        </p:nvSpPr>
        <p:spPr>
          <a:xfrm>
            <a:off x="9576644" y="5660749"/>
            <a:ext cx="2279025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Quality you can measure.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</a:b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  <a:sym typeface="Arial"/>
              </a:rPr>
              <a:t>Outcomes you can measure.</a:t>
            </a:r>
          </a:p>
        </p:txBody>
      </p:sp>
      <p:pic>
        <p:nvPicPr>
          <p:cNvPr id="1026" name="Picture 2" descr="Global network icon">
            <a:hlinkClick r:id="rId15"/>
            <a:extLst>
              <a:ext uri="{FF2B5EF4-FFF2-40B4-BE49-F238E27FC236}">
                <a16:creationId xmlns:a16="http://schemas.microsoft.com/office/drawing/2014/main" id="{B8241EF9-416E-5393-0093-C1BEABE27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54" y="5690235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litical party icon">
            <a:hlinkClick r:id="rId18"/>
            <a:extLst>
              <a:ext uri="{FF2B5EF4-FFF2-40B4-BE49-F238E27FC236}">
                <a16:creationId xmlns:a16="http://schemas.microsoft.com/office/drawing/2014/main" id="{D859F489-2F4A-C6F3-CFE7-004D49F4F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81" y="5690235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calability icon">
            <a:hlinkClick r:id="rId21"/>
            <a:extLst>
              <a:ext uri="{FF2B5EF4-FFF2-40B4-BE49-F238E27FC236}">
                <a16:creationId xmlns:a16="http://schemas.microsoft.com/office/drawing/2014/main" id="{8154069C-F460-D73E-ED3A-1775F026E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757" y="5690235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Quality icon">
            <a:hlinkClick r:id="rId24"/>
            <a:extLst>
              <a:ext uri="{FF2B5EF4-FFF2-40B4-BE49-F238E27FC236}">
                <a16:creationId xmlns:a16="http://schemas.microsoft.com/office/drawing/2014/main" id="{C8301652-071D-3683-CBBA-043602837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612" y="5690235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ox icon">
            <a:hlinkClick r:id="rId27"/>
            <a:extLst>
              <a:ext uri="{FF2B5EF4-FFF2-40B4-BE49-F238E27FC236}">
                <a16:creationId xmlns:a16="http://schemas.microsoft.com/office/drawing/2014/main" id="{01957F25-DEEF-2B65-5016-155593E08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085" y="1554264"/>
            <a:ext cx="505892" cy="50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eam icon">
            <a:hlinkClick r:id="rId29"/>
            <a:extLst>
              <a:ext uri="{FF2B5EF4-FFF2-40B4-BE49-F238E27FC236}">
                <a16:creationId xmlns:a16="http://schemas.microsoft.com/office/drawing/2014/main" id="{C8608EF7-47A1-75F1-E589-DE3069906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741" y="1554264"/>
            <a:ext cx="505892" cy="50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Workflow icon">
            <a:hlinkClick r:id="rId31"/>
            <a:extLst>
              <a:ext uri="{FF2B5EF4-FFF2-40B4-BE49-F238E27FC236}">
                <a16:creationId xmlns:a16="http://schemas.microsoft.com/office/drawing/2014/main" id="{4808C9B9-6827-36A1-DD51-029F3404D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522" y="1554264"/>
            <a:ext cx="505892" cy="50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Workflow icon">
            <a:hlinkClick r:id="rId33"/>
            <a:extLst>
              <a:ext uri="{FF2B5EF4-FFF2-40B4-BE49-F238E27FC236}">
                <a16:creationId xmlns:a16="http://schemas.microsoft.com/office/drawing/2014/main" id="{2379E8F4-D057-5252-9333-65F50F334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5028" y="1554264"/>
            <a:ext cx="505892" cy="50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AAE54B9-AA14-840C-4BEE-E55B754732F8}"/>
              </a:ext>
            </a:extLst>
          </p:cNvPr>
          <p:cNvCxnSpPr>
            <a:cxnSpLocks/>
          </p:cNvCxnSpPr>
          <p:nvPr/>
        </p:nvCxnSpPr>
        <p:spPr>
          <a:xfrm>
            <a:off x="581158" y="2676307"/>
            <a:ext cx="241374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D03ED6-8965-4D54-E1C0-ACB09E88782B}"/>
              </a:ext>
            </a:extLst>
          </p:cNvPr>
          <p:cNvCxnSpPr>
            <a:cxnSpLocks/>
          </p:cNvCxnSpPr>
          <p:nvPr/>
        </p:nvCxnSpPr>
        <p:spPr>
          <a:xfrm>
            <a:off x="3466814" y="2676307"/>
            <a:ext cx="241374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A16A0A-27AF-B5A6-87AE-5854FA6A710F}"/>
              </a:ext>
            </a:extLst>
          </p:cNvPr>
          <p:cNvCxnSpPr>
            <a:cxnSpLocks/>
          </p:cNvCxnSpPr>
          <p:nvPr/>
        </p:nvCxnSpPr>
        <p:spPr>
          <a:xfrm>
            <a:off x="6392595" y="2676307"/>
            <a:ext cx="241374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5E1D91-E466-260B-01A3-DC4395A6339F}"/>
              </a:ext>
            </a:extLst>
          </p:cNvPr>
          <p:cNvCxnSpPr>
            <a:cxnSpLocks/>
          </p:cNvCxnSpPr>
          <p:nvPr/>
        </p:nvCxnSpPr>
        <p:spPr>
          <a:xfrm>
            <a:off x="9261101" y="2676307"/>
            <a:ext cx="241374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3A78-F156-318F-773B-B26BF8D9B829}"/>
              </a:ext>
            </a:extLst>
          </p:cNvPr>
          <p:cNvCxnSpPr/>
          <p:nvPr/>
        </p:nvCxnSpPr>
        <p:spPr>
          <a:xfrm>
            <a:off x="9311640" y="3707238"/>
            <a:ext cx="21031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BD94BA9-1A45-1ED2-0BA7-38E695A126D0}"/>
              </a:ext>
            </a:extLst>
          </p:cNvPr>
          <p:cNvSpPr txBox="1"/>
          <p:nvPr/>
        </p:nvSpPr>
        <p:spPr>
          <a:xfrm>
            <a:off x="6874625" y="3911527"/>
            <a:ext cx="2279024" cy="9005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R="0" lvl="0" indent="0" defTabSz="1219170" fontAlgn="auto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  <a:t>Months 4–6 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</a:b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  <a:t>Transition resources toward</a:t>
            </a:r>
            <a:b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</a:b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  <a:t>Build, Configure &amp; Expand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</a:endParaRPr>
          </a:p>
          <a:p>
            <a:pPr marL="0" marR="0" lvl="0" indent="0" algn="l" defTabSz="121917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0273D2-3810-B732-4AA9-AD93EB522029}"/>
              </a:ext>
            </a:extLst>
          </p:cNvPr>
          <p:cNvSpPr txBox="1"/>
          <p:nvPr/>
        </p:nvSpPr>
        <p:spPr>
          <a:xfrm>
            <a:off x="6875791" y="4828452"/>
            <a:ext cx="2279024" cy="7176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R="0" lvl="0" indent="0" defTabSz="1219170" fontAlgn="auto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  <a:t>Months 6+ </a:t>
            </a: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</a:b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  <a:t>Scale with 3+ Core FTEs</a:t>
            </a:r>
          </a:p>
          <a:p>
            <a:pPr marL="0" marR="0" lvl="0" indent="0" algn="l" defTabSz="121917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3D6EA20-0A8B-CB85-51EE-854DC59FEEFF}"/>
              </a:ext>
            </a:extLst>
          </p:cNvPr>
          <p:cNvSpPr/>
          <p:nvPr/>
        </p:nvSpPr>
        <p:spPr>
          <a:xfrm>
            <a:off x="9135405" y="196678"/>
            <a:ext cx="2159245" cy="403968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554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1CB69-7B28-2258-D750-A5AFDAA5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38">
            <a:extLst>
              <a:ext uri="{FF2B5EF4-FFF2-40B4-BE49-F238E27FC236}">
                <a16:creationId xmlns:a16="http://schemas.microsoft.com/office/drawing/2014/main" id="{60D80023-E83E-F389-CF55-CA1E7923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Why Ontivuss as your</a:t>
            </a:r>
            <a:r>
              <a:rPr lang="en-US" dirty="0"/>
              <a:t> </a:t>
            </a:r>
            <a:r>
              <a:rPr lang="en-US" dirty="0">
                <a:solidFill>
                  <a:schemeClr val="accent4"/>
                </a:solidFill>
              </a:rPr>
              <a:t>Preferred Partner?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96C93C11-C7CD-80D5-3D73-DEDCCC4BD7AB}"/>
              </a:ext>
            </a:extLst>
          </p:cNvPr>
          <p:cNvSpPr/>
          <p:nvPr/>
        </p:nvSpPr>
        <p:spPr>
          <a:xfrm>
            <a:off x="923016" y="1197761"/>
            <a:ext cx="2118197" cy="1887792"/>
          </a:xfrm>
          <a:prstGeom prst="round2SameRect">
            <a:avLst>
              <a:gd name="adj1" fmla="val 17339"/>
              <a:gd name="adj2" fmla="val 0"/>
            </a:avLst>
          </a:prstGeom>
          <a:gradFill flip="none" rotWithShape="1">
            <a:gsLst>
              <a:gs pos="96000">
                <a:srgbClr val="7030A0"/>
              </a:gs>
              <a:gs pos="82000">
                <a:srgbClr val="41BED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: Top Corners One Rounded and One Snipped 2">
            <a:extLst>
              <a:ext uri="{FF2B5EF4-FFF2-40B4-BE49-F238E27FC236}">
                <a16:creationId xmlns:a16="http://schemas.microsoft.com/office/drawing/2014/main" id="{884651B5-B8E6-604F-A280-3C55BEE45AF3}"/>
              </a:ext>
            </a:extLst>
          </p:cNvPr>
          <p:cNvSpPr/>
          <p:nvPr/>
        </p:nvSpPr>
        <p:spPr>
          <a:xfrm>
            <a:off x="480973" y="1197760"/>
            <a:ext cx="2560239" cy="2292321"/>
          </a:xfrm>
          <a:prstGeom prst="snipRoundRect">
            <a:avLst>
              <a:gd name="adj1" fmla="val 17071"/>
              <a:gd name="adj2" fmla="val 33432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3500" sx="102000" sy="102000" algn="ctr" rotWithShape="0">
              <a:schemeClr val="tx1">
                <a:lumMod val="75000"/>
                <a:lumOff val="2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EF582-CE21-7E0B-1BF9-B8125B09EF45}"/>
              </a:ext>
            </a:extLst>
          </p:cNvPr>
          <p:cNvSpPr txBox="1"/>
          <p:nvPr/>
        </p:nvSpPr>
        <p:spPr>
          <a:xfrm>
            <a:off x="643616" y="132926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7F1A39-C7DA-08F3-C21F-DC10D10F8C20}"/>
              </a:ext>
            </a:extLst>
          </p:cNvPr>
          <p:cNvCxnSpPr/>
          <p:nvPr/>
        </p:nvCxnSpPr>
        <p:spPr>
          <a:xfrm>
            <a:off x="695635" y="1637044"/>
            <a:ext cx="2794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FDB522C7-91A1-85EC-AA7F-EA6A3514A19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88052" y="1435530"/>
            <a:ext cx="546081" cy="7609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F85340-AAB2-9503-6020-DB141F38810B}"/>
              </a:ext>
            </a:extLst>
          </p:cNvPr>
          <p:cNvSpPr txBox="1"/>
          <p:nvPr/>
        </p:nvSpPr>
        <p:spPr>
          <a:xfrm>
            <a:off x="890758" y="2204081"/>
            <a:ext cx="1740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LEGALLY OWNED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97637E-E607-894F-C170-FB80F756CEFC}"/>
              </a:ext>
            </a:extLst>
          </p:cNvPr>
          <p:cNvSpPr txBox="1"/>
          <p:nvPr/>
        </p:nvSpPr>
        <p:spPr>
          <a:xfrm>
            <a:off x="1074421" y="2918981"/>
            <a:ext cx="1394934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100% by Founder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DC33CA8-6A70-5689-CB62-F828F583ADC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0735" y="2952468"/>
            <a:ext cx="221438" cy="210024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0B28CB9-8564-E4CE-DF3F-18BE7B901DAE}"/>
              </a:ext>
            </a:extLst>
          </p:cNvPr>
          <p:cNvCxnSpPr>
            <a:cxnSpLocks/>
          </p:cNvCxnSpPr>
          <p:nvPr/>
        </p:nvCxnSpPr>
        <p:spPr>
          <a:xfrm>
            <a:off x="1026982" y="2696033"/>
            <a:ext cx="148981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: Top Corners Rounded 106">
            <a:extLst>
              <a:ext uri="{FF2B5EF4-FFF2-40B4-BE49-F238E27FC236}">
                <a16:creationId xmlns:a16="http://schemas.microsoft.com/office/drawing/2014/main" id="{C06EB1A5-14C7-F00B-44C7-52DEBD692F9E}"/>
              </a:ext>
            </a:extLst>
          </p:cNvPr>
          <p:cNvSpPr/>
          <p:nvPr/>
        </p:nvSpPr>
        <p:spPr>
          <a:xfrm>
            <a:off x="3709657" y="1197761"/>
            <a:ext cx="2118197" cy="1887792"/>
          </a:xfrm>
          <a:prstGeom prst="round2SameRect">
            <a:avLst>
              <a:gd name="adj1" fmla="val 17339"/>
              <a:gd name="adj2" fmla="val 0"/>
            </a:avLst>
          </a:prstGeom>
          <a:gradFill flip="none" rotWithShape="1">
            <a:gsLst>
              <a:gs pos="96000">
                <a:srgbClr val="7030A0"/>
              </a:gs>
              <a:gs pos="82000">
                <a:srgbClr val="41BED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9" name="Rectangle: Top Corners One Rounded and One Snipped 108">
            <a:extLst>
              <a:ext uri="{FF2B5EF4-FFF2-40B4-BE49-F238E27FC236}">
                <a16:creationId xmlns:a16="http://schemas.microsoft.com/office/drawing/2014/main" id="{5F98EAED-9B31-34C0-C811-B2B624914D68}"/>
              </a:ext>
            </a:extLst>
          </p:cNvPr>
          <p:cNvSpPr/>
          <p:nvPr/>
        </p:nvSpPr>
        <p:spPr>
          <a:xfrm>
            <a:off x="3267614" y="1197760"/>
            <a:ext cx="2560239" cy="2292321"/>
          </a:xfrm>
          <a:prstGeom prst="snipRoundRect">
            <a:avLst>
              <a:gd name="adj1" fmla="val 17071"/>
              <a:gd name="adj2" fmla="val 33432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3500" sx="102000" sy="102000" algn="ctr" rotWithShape="0">
              <a:schemeClr val="tx1">
                <a:lumMod val="75000"/>
                <a:lumOff val="2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3990A88-C5B8-7DF0-5994-40B003517E0A}"/>
              </a:ext>
            </a:extLst>
          </p:cNvPr>
          <p:cNvSpPr txBox="1"/>
          <p:nvPr/>
        </p:nvSpPr>
        <p:spPr>
          <a:xfrm>
            <a:off x="3430257" y="132926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02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D33DA1D-DEE1-8535-413B-5A4487C4C31E}"/>
              </a:ext>
            </a:extLst>
          </p:cNvPr>
          <p:cNvCxnSpPr/>
          <p:nvPr/>
        </p:nvCxnSpPr>
        <p:spPr>
          <a:xfrm>
            <a:off x="3482276" y="1637044"/>
            <a:ext cx="2794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ED840D85-6D8F-0FCE-7E2A-867BCA7D10F6}"/>
              </a:ext>
            </a:extLst>
          </p:cNvPr>
          <p:cNvSpPr txBox="1"/>
          <p:nvPr/>
        </p:nvSpPr>
        <p:spPr>
          <a:xfrm>
            <a:off x="3554343" y="2223903"/>
            <a:ext cx="1946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2D3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EQUITY EVOLUTION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6616C73-D055-A45D-A1D1-10DF4E611DF2}"/>
              </a:ext>
            </a:extLst>
          </p:cNvPr>
          <p:cNvSpPr txBox="1"/>
          <p:nvPr/>
        </p:nvSpPr>
        <p:spPr>
          <a:xfrm>
            <a:off x="3701014" y="2764256"/>
            <a:ext cx="1923475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Planned 50/50 Transition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Upon CTO Onboarding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C296E54-EE3B-921D-4B23-600EB674CAD0}"/>
              </a:ext>
            </a:extLst>
          </p:cNvPr>
          <p:cNvCxnSpPr>
            <a:cxnSpLocks/>
          </p:cNvCxnSpPr>
          <p:nvPr/>
        </p:nvCxnSpPr>
        <p:spPr>
          <a:xfrm>
            <a:off x="3813695" y="2696033"/>
            <a:ext cx="148981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: Top Corners Rounded 130">
            <a:extLst>
              <a:ext uri="{FF2B5EF4-FFF2-40B4-BE49-F238E27FC236}">
                <a16:creationId xmlns:a16="http://schemas.microsoft.com/office/drawing/2014/main" id="{ABE489D8-97E1-13C1-5DF2-B8D6A7C91DDE}"/>
              </a:ext>
            </a:extLst>
          </p:cNvPr>
          <p:cNvSpPr/>
          <p:nvPr/>
        </p:nvSpPr>
        <p:spPr>
          <a:xfrm>
            <a:off x="6496298" y="1197761"/>
            <a:ext cx="2118197" cy="1887792"/>
          </a:xfrm>
          <a:prstGeom prst="round2SameRect">
            <a:avLst>
              <a:gd name="adj1" fmla="val 17339"/>
              <a:gd name="adj2" fmla="val 0"/>
            </a:avLst>
          </a:prstGeom>
          <a:gradFill flip="none" rotWithShape="1">
            <a:gsLst>
              <a:gs pos="96000">
                <a:srgbClr val="7030A0"/>
              </a:gs>
              <a:gs pos="82000">
                <a:srgbClr val="41BED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2" name="Rectangle: Top Corners One Rounded and One Snipped 131">
            <a:extLst>
              <a:ext uri="{FF2B5EF4-FFF2-40B4-BE49-F238E27FC236}">
                <a16:creationId xmlns:a16="http://schemas.microsoft.com/office/drawing/2014/main" id="{F2A8F05E-C2AD-B31A-EB0A-14B10B76BD64}"/>
              </a:ext>
            </a:extLst>
          </p:cNvPr>
          <p:cNvSpPr/>
          <p:nvPr/>
        </p:nvSpPr>
        <p:spPr>
          <a:xfrm>
            <a:off x="6054255" y="1168411"/>
            <a:ext cx="2560239" cy="2292321"/>
          </a:xfrm>
          <a:prstGeom prst="snipRoundRect">
            <a:avLst>
              <a:gd name="adj1" fmla="val 17071"/>
              <a:gd name="adj2" fmla="val 33432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3500" sx="102000" sy="102000" algn="ctr" rotWithShape="0">
              <a:schemeClr val="tx1">
                <a:lumMod val="75000"/>
                <a:lumOff val="2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1918F12-42DE-93C0-FF4C-3B88C29DA155}"/>
              </a:ext>
            </a:extLst>
          </p:cNvPr>
          <p:cNvSpPr txBox="1"/>
          <p:nvPr/>
        </p:nvSpPr>
        <p:spPr>
          <a:xfrm>
            <a:off x="6216898" y="132926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03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24E6C05-3B85-D9CE-3ACB-ECD54E727533}"/>
              </a:ext>
            </a:extLst>
          </p:cNvPr>
          <p:cNvCxnSpPr/>
          <p:nvPr/>
        </p:nvCxnSpPr>
        <p:spPr>
          <a:xfrm>
            <a:off x="6268917" y="1637044"/>
            <a:ext cx="2794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BE297D87-FC12-275C-FA2D-D6C1B3D0BE0E}"/>
              </a:ext>
            </a:extLst>
          </p:cNvPr>
          <p:cNvSpPr txBox="1"/>
          <p:nvPr/>
        </p:nvSpPr>
        <p:spPr>
          <a:xfrm>
            <a:off x="6172034" y="2256988"/>
            <a:ext cx="2380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FINANCIAL FOUNDATION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FD51A6A-3AF6-68D6-3234-DC4EB28CA3EC}"/>
              </a:ext>
            </a:extLst>
          </p:cNvPr>
          <p:cNvSpPr txBox="1"/>
          <p:nvPr/>
        </p:nvSpPr>
        <p:spPr>
          <a:xfrm>
            <a:off x="6638413" y="2753181"/>
            <a:ext cx="1833964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Banking established,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bookkeeping underway,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zero external liabilities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3310E56-4794-7A0D-83E6-EF1AF9C84AE2}"/>
              </a:ext>
            </a:extLst>
          </p:cNvPr>
          <p:cNvCxnSpPr>
            <a:cxnSpLocks/>
          </p:cNvCxnSpPr>
          <p:nvPr/>
        </p:nvCxnSpPr>
        <p:spPr>
          <a:xfrm>
            <a:off x="6496298" y="2706193"/>
            <a:ext cx="148981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: Top Corners Rounded 140">
            <a:extLst>
              <a:ext uri="{FF2B5EF4-FFF2-40B4-BE49-F238E27FC236}">
                <a16:creationId xmlns:a16="http://schemas.microsoft.com/office/drawing/2014/main" id="{772AD17C-C3E9-F3F0-7892-CBDC0756D285}"/>
              </a:ext>
            </a:extLst>
          </p:cNvPr>
          <p:cNvSpPr/>
          <p:nvPr/>
        </p:nvSpPr>
        <p:spPr>
          <a:xfrm>
            <a:off x="9282939" y="1197761"/>
            <a:ext cx="2118197" cy="1887792"/>
          </a:xfrm>
          <a:prstGeom prst="round2SameRect">
            <a:avLst>
              <a:gd name="adj1" fmla="val 17339"/>
              <a:gd name="adj2" fmla="val 0"/>
            </a:avLst>
          </a:prstGeom>
          <a:gradFill flip="none" rotWithShape="1">
            <a:gsLst>
              <a:gs pos="96000">
                <a:srgbClr val="7030A0"/>
              </a:gs>
              <a:gs pos="82000">
                <a:srgbClr val="41BED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2" name="Rectangle: Top Corners One Rounded and One Snipped 141">
            <a:extLst>
              <a:ext uri="{FF2B5EF4-FFF2-40B4-BE49-F238E27FC236}">
                <a16:creationId xmlns:a16="http://schemas.microsoft.com/office/drawing/2014/main" id="{63A315FE-E875-6559-8625-DB16CC2BAF12}"/>
              </a:ext>
            </a:extLst>
          </p:cNvPr>
          <p:cNvSpPr/>
          <p:nvPr/>
        </p:nvSpPr>
        <p:spPr>
          <a:xfrm>
            <a:off x="8840896" y="1197760"/>
            <a:ext cx="2560239" cy="2292321"/>
          </a:xfrm>
          <a:prstGeom prst="snipRoundRect">
            <a:avLst>
              <a:gd name="adj1" fmla="val 17071"/>
              <a:gd name="adj2" fmla="val 33432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3500" sx="102000" sy="102000" algn="ctr" rotWithShape="0">
              <a:schemeClr val="tx1">
                <a:lumMod val="75000"/>
                <a:lumOff val="2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41E670B-1B8B-85E7-9400-76DD84975441}"/>
              </a:ext>
            </a:extLst>
          </p:cNvPr>
          <p:cNvSpPr txBox="1"/>
          <p:nvPr/>
        </p:nvSpPr>
        <p:spPr>
          <a:xfrm>
            <a:off x="9003539" y="132926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04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712CD3DC-BF3D-A3B1-00E9-7CFC29ADC751}"/>
              </a:ext>
            </a:extLst>
          </p:cNvPr>
          <p:cNvCxnSpPr/>
          <p:nvPr/>
        </p:nvCxnSpPr>
        <p:spPr>
          <a:xfrm>
            <a:off x="9055558" y="1637044"/>
            <a:ext cx="2794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3F036CB7-0250-9C3F-1EE3-00FAE843CFFD}"/>
              </a:ext>
            </a:extLst>
          </p:cNvPr>
          <p:cNvSpPr txBox="1"/>
          <p:nvPr/>
        </p:nvSpPr>
        <p:spPr>
          <a:xfrm>
            <a:off x="9321122" y="2235349"/>
            <a:ext cx="1577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IP PROTECTION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DD8BB45-CA9A-1E40-B3CE-1DF1DA8436A1}"/>
              </a:ext>
            </a:extLst>
          </p:cNvPr>
          <p:cNvSpPr txBox="1"/>
          <p:nvPr/>
        </p:nvSpPr>
        <p:spPr>
          <a:xfrm>
            <a:off x="9184445" y="2712785"/>
            <a:ext cx="2164375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Consultant confidentiality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&amp; work-product assignments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 place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DDB9513-4762-9D59-FAAD-A1639972D0EC}"/>
              </a:ext>
            </a:extLst>
          </p:cNvPr>
          <p:cNvCxnSpPr>
            <a:cxnSpLocks/>
          </p:cNvCxnSpPr>
          <p:nvPr/>
        </p:nvCxnSpPr>
        <p:spPr>
          <a:xfrm>
            <a:off x="9257644" y="2696033"/>
            <a:ext cx="148981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: Top Corners Rounded 150">
            <a:extLst>
              <a:ext uri="{FF2B5EF4-FFF2-40B4-BE49-F238E27FC236}">
                <a16:creationId xmlns:a16="http://schemas.microsoft.com/office/drawing/2014/main" id="{72BB207F-7917-B993-C816-61AE740543AB}"/>
              </a:ext>
            </a:extLst>
          </p:cNvPr>
          <p:cNvSpPr/>
          <p:nvPr/>
        </p:nvSpPr>
        <p:spPr>
          <a:xfrm>
            <a:off x="923015" y="3744031"/>
            <a:ext cx="2118197" cy="1887792"/>
          </a:xfrm>
          <a:prstGeom prst="round2SameRect">
            <a:avLst>
              <a:gd name="adj1" fmla="val 17339"/>
              <a:gd name="adj2" fmla="val 0"/>
            </a:avLst>
          </a:prstGeom>
          <a:gradFill flip="none" rotWithShape="1">
            <a:gsLst>
              <a:gs pos="96000">
                <a:srgbClr val="7030A0"/>
              </a:gs>
              <a:gs pos="82000">
                <a:srgbClr val="41BED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2" name="Rectangle: Top Corners One Rounded and One Snipped 151">
            <a:extLst>
              <a:ext uri="{FF2B5EF4-FFF2-40B4-BE49-F238E27FC236}">
                <a16:creationId xmlns:a16="http://schemas.microsoft.com/office/drawing/2014/main" id="{EE5B209A-D9DA-E6BE-A2FD-D66293938DDE}"/>
              </a:ext>
            </a:extLst>
          </p:cNvPr>
          <p:cNvSpPr/>
          <p:nvPr/>
        </p:nvSpPr>
        <p:spPr>
          <a:xfrm>
            <a:off x="480972" y="3744030"/>
            <a:ext cx="2560239" cy="2292321"/>
          </a:xfrm>
          <a:prstGeom prst="snipRoundRect">
            <a:avLst>
              <a:gd name="adj1" fmla="val 17071"/>
              <a:gd name="adj2" fmla="val 33432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3500" sx="102000" sy="102000" algn="ctr" rotWithShape="0">
              <a:schemeClr val="tx1">
                <a:lumMod val="75000"/>
                <a:lumOff val="2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D8E7F7A-2B84-BD1A-E915-B09558016512}"/>
              </a:ext>
            </a:extLst>
          </p:cNvPr>
          <p:cNvSpPr txBox="1"/>
          <p:nvPr/>
        </p:nvSpPr>
        <p:spPr>
          <a:xfrm>
            <a:off x="643615" y="387553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05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0156F0EA-3613-8F69-1AB6-022ED57268AC}"/>
              </a:ext>
            </a:extLst>
          </p:cNvPr>
          <p:cNvCxnSpPr/>
          <p:nvPr/>
        </p:nvCxnSpPr>
        <p:spPr>
          <a:xfrm>
            <a:off x="695634" y="4183314"/>
            <a:ext cx="2794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89E1F8D4-8FE3-8ED3-7A84-65A25DA88368}"/>
              </a:ext>
            </a:extLst>
          </p:cNvPr>
          <p:cNvSpPr txBox="1"/>
          <p:nvPr/>
        </p:nvSpPr>
        <p:spPr>
          <a:xfrm>
            <a:off x="551962" y="4752048"/>
            <a:ext cx="2132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OWNERSHIP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34881FC-6290-C8AD-434B-149143A92CF2}"/>
              </a:ext>
            </a:extLst>
          </p:cNvPr>
          <p:cNvSpPr txBox="1"/>
          <p:nvPr/>
        </p:nvSpPr>
        <p:spPr>
          <a:xfrm>
            <a:off x="1109697" y="5324892"/>
            <a:ext cx="168214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Formalize founder ownership &amp; vesting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6913BBFC-9F87-C01A-4BB7-4F14F4B60261}"/>
              </a:ext>
            </a:extLst>
          </p:cNvPr>
          <p:cNvCxnSpPr>
            <a:cxnSpLocks/>
          </p:cNvCxnSpPr>
          <p:nvPr/>
        </p:nvCxnSpPr>
        <p:spPr>
          <a:xfrm>
            <a:off x="979543" y="5110770"/>
            <a:ext cx="148981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: Top Corners Rounded 160">
            <a:extLst>
              <a:ext uri="{FF2B5EF4-FFF2-40B4-BE49-F238E27FC236}">
                <a16:creationId xmlns:a16="http://schemas.microsoft.com/office/drawing/2014/main" id="{D4122467-1B34-3E64-E1DA-F0342BC540D9}"/>
              </a:ext>
            </a:extLst>
          </p:cNvPr>
          <p:cNvSpPr/>
          <p:nvPr/>
        </p:nvSpPr>
        <p:spPr>
          <a:xfrm>
            <a:off x="3709656" y="3744031"/>
            <a:ext cx="2118197" cy="1887792"/>
          </a:xfrm>
          <a:prstGeom prst="round2SameRect">
            <a:avLst>
              <a:gd name="adj1" fmla="val 17339"/>
              <a:gd name="adj2" fmla="val 0"/>
            </a:avLst>
          </a:prstGeom>
          <a:gradFill flip="none" rotWithShape="1">
            <a:gsLst>
              <a:gs pos="96000">
                <a:srgbClr val="7030A0"/>
              </a:gs>
              <a:gs pos="82000">
                <a:srgbClr val="41BED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2" name="Rectangle: Top Corners One Rounded and One Snipped 161">
            <a:extLst>
              <a:ext uri="{FF2B5EF4-FFF2-40B4-BE49-F238E27FC236}">
                <a16:creationId xmlns:a16="http://schemas.microsoft.com/office/drawing/2014/main" id="{B441F97C-6795-4C32-0E9F-B22A76F11FC8}"/>
              </a:ext>
            </a:extLst>
          </p:cNvPr>
          <p:cNvSpPr/>
          <p:nvPr/>
        </p:nvSpPr>
        <p:spPr>
          <a:xfrm>
            <a:off x="3267613" y="3744030"/>
            <a:ext cx="2560239" cy="2292321"/>
          </a:xfrm>
          <a:prstGeom prst="snipRoundRect">
            <a:avLst>
              <a:gd name="adj1" fmla="val 17071"/>
              <a:gd name="adj2" fmla="val 33432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3500" sx="102000" sy="102000" algn="ctr" rotWithShape="0">
              <a:schemeClr val="tx1">
                <a:lumMod val="75000"/>
                <a:lumOff val="2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7862073-7EC9-3CE3-0B1E-EC365D245D5E}"/>
              </a:ext>
            </a:extLst>
          </p:cNvPr>
          <p:cNvSpPr txBox="1"/>
          <p:nvPr/>
        </p:nvSpPr>
        <p:spPr>
          <a:xfrm>
            <a:off x="3430256" y="387553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06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9CF6CBF1-492C-CBB0-A7CA-9DE4C829CAE5}"/>
              </a:ext>
            </a:extLst>
          </p:cNvPr>
          <p:cNvCxnSpPr/>
          <p:nvPr/>
        </p:nvCxnSpPr>
        <p:spPr>
          <a:xfrm>
            <a:off x="3482275" y="4183314"/>
            <a:ext cx="2794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6B8B8080-068D-3BE3-7A0C-1B65E8040B26}"/>
              </a:ext>
            </a:extLst>
          </p:cNvPr>
          <p:cNvSpPr txBox="1"/>
          <p:nvPr/>
        </p:nvSpPr>
        <p:spPr>
          <a:xfrm>
            <a:off x="3906768" y="5325977"/>
            <a:ext cx="182953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Define decision rights &amp; departure provisions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95212734-11DE-93D0-57A1-A4C2FFCAC41B}"/>
              </a:ext>
            </a:extLst>
          </p:cNvPr>
          <p:cNvCxnSpPr>
            <a:cxnSpLocks/>
          </p:cNvCxnSpPr>
          <p:nvPr/>
        </p:nvCxnSpPr>
        <p:spPr>
          <a:xfrm>
            <a:off x="3789129" y="5110770"/>
            <a:ext cx="148981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: Top Corners Rounded 170">
            <a:extLst>
              <a:ext uri="{FF2B5EF4-FFF2-40B4-BE49-F238E27FC236}">
                <a16:creationId xmlns:a16="http://schemas.microsoft.com/office/drawing/2014/main" id="{2070D03E-2212-B3D4-F839-2C03B2CCB442}"/>
              </a:ext>
            </a:extLst>
          </p:cNvPr>
          <p:cNvSpPr/>
          <p:nvPr/>
        </p:nvSpPr>
        <p:spPr>
          <a:xfrm>
            <a:off x="6496297" y="3744031"/>
            <a:ext cx="2118197" cy="1887792"/>
          </a:xfrm>
          <a:prstGeom prst="round2SameRect">
            <a:avLst>
              <a:gd name="adj1" fmla="val 17339"/>
              <a:gd name="adj2" fmla="val 0"/>
            </a:avLst>
          </a:prstGeom>
          <a:gradFill flip="none" rotWithShape="1">
            <a:gsLst>
              <a:gs pos="96000">
                <a:srgbClr val="7030A0"/>
              </a:gs>
              <a:gs pos="82000">
                <a:srgbClr val="41BED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2" name="Rectangle: Top Corners One Rounded and One Snipped 171">
            <a:extLst>
              <a:ext uri="{FF2B5EF4-FFF2-40B4-BE49-F238E27FC236}">
                <a16:creationId xmlns:a16="http://schemas.microsoft.com/office/drawing/2014/main" id="{3770B1FB-8B75-F8B0-A0E5-C06E985F6597}"/>
              </a:ext>
            </a:extLst>
          </p:cNvPr>
          <p:cNvSpPr/>
          <p:nvPr/>
        </p:nvSpPr>
        <p:spPr>
          <a:xfrm>
            <a:off x="6054254" y="3744030"/>
            <a:ext cx="2560239" cy="2292321"/>
          </a:xfrm>
          <a:prstGeom prst="snipRoundRect">
            <a:avLst>
              <a:gd name="adj1" fmla="val 17071"/>
              <a:gd name="adj2" fmla="val 33432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3500" sx="102000" sy="102000" algn="ctr" rotWithShape="0">
              <a:schemeClr val="tx1">
                <a:lumMod val="75000"/>
                <a:lumOff val="2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58E2536-1600-EF3B-BFE2-3EF1F91D37A0}"/>
              </a:ext>
            </a:extLst>
          </p:cNvPr>
          <p:cNvSpPr txBox="1"/>
          <p:nvPr/>
        </p:nvSpPr>
        <p:spPr>
          <a:xfrm>
            <a:off x="6216897" y="387553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07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43EEA86-01FD-ED85-D8B2-B241057D1824}"/>
              </a:ext>
            </a:extLst>
          </p:cNvPr>
          <p:cNvCxnSpPr/>
          <p:nvPr/>
        </p:nvCxnSpPr>
        <p:spPr>
          <a:xfrm>
            <a:off x="6268916" y="4183314"/>
            <a:ext cx="2794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EDFE9710-B1DD-1148-08F3-AB4EA1151007}"/>
              </a:ext>
            </a:extLst>
          </p:cNvPr>
          <p:cNvSpPr txBox="1"/>
          <p:nvPr/>
        </p:nvSpPr>
        <p:spPr>
          <a:xfrm>
            <a:off x="6531583" y="4721870"/>
            <a:ext cx="17166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RECONCILIATION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D71A5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8E4D5453-7BBE-106F-4F20-AF2C69E85573}"/>
              </a:ext>
            </a:extLst>
          </p:cNvPr>
          <p:cNvCxnSpPr>
            <a:cxnSpLocks/>
          </p:cNvCxnSpPr>
          <p:nvPr/>
        </p:nvCxnSpPr>
        <p:spPr>
          <a:xfrm>
            <a:off x="6664774" y="5110770"/>
            <a:ext cx="148981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Rectangle: Top Corners Rounded 180">
            <a:extLst>
              <a:ext uri="{FF2B5EF4-FFF2-40B4-BE49-F238E27FC236}">
                <a16:creationId xmlns:a16="http://schemas.microsoft.com/office/drawing/2014/main" id="{5EFEB5AE-FC68-F313-25DA-00434EE06E0F}"/>
              </a:ext>
            </a:extLst>
          </p:cNvPr>
          <p:cNvSpPr/>
          <p:nvPr/>
        </p:nvSpPr>
        <p:spPr>
          <a:xfrm>
            <a:off x="9282938" y="3744031"/>
            <a:ext cx="2118197" cy="1887792"/>
          </a:xfrm>
          <a:prstGeom prst="round2SameRect">
            <a:avLst>
              <a:gd name="adj1" fmla="val 17339"/>
              <a:gd name="adj2" fmla="val 0"/>
            </a:avLst>
          </a:prstGeom>
          <a:gradFill flip="none" rotWithShape="1">
            <a:gsLst>
              <a:gs pos="96000">
                <a:srgbClr val="7030A0"/>
              </a:gs>
              <a:gs pos="82000">
                <a:srgbClr val="41BED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2" name="Rectangle: Top Corners One Rounded and One Snipped 181">
            <a:extLst>
              <a:ext uri="{FF2B5EF4-FFF2-40B4-BE49-F238E27FC236}">
                <a16:creationId xmlns:a16="http://schemas.microsoft.com/office/drawing/2014/main" id="{FCD10C18-9790-5E74-53DB-95E86B735B2F}"/>
              </a:ext>
            </a:extLst>
          </p:cNvPr>
          <p:cNvSpPr/>
          <p:nvPr/>
        </p:nvSpPr>
        <p:spPr>
          <a:xfrm>
            <a:off x="8840895" y="3744030"/>
            <a:ext cx="2560239" cy="2292321"/>
          </a:xfrm>
          <a:prstGeom prst="snipRoundRect">
            <a:avLst>
              <a:gd name="adj1" fmla="val 17071"/>
              <a:gd name="adj2" fmla="val 33432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3500" sx="102000" sy="102000" algn="ctr" rotWithShape="0">
              <a:schemeClr val="tx1">
                <a:lumMod val="75000"/>
                <a:lumOff val="25000"/>
                <a:alpha val="3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9202B36-D983-582E-6875-9606F81E0EB5}"/>
              </a:ext>
            </a:extLst>
          </p:cNvPr>
          <p:cNvSpPr txBox="1"/>
          <p:nvPr/>
        </p:nvSpPr>
        <p:spPr>
          <a:xfrm>
            <a:off x="9003538" y="387553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08</a:t>
            </a: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61F4CD47-02BC-328D-4AA3-1FCF4E31FC3C}"/>
              </a:ext>
            </a:extLst>
          </p:cNvPr>
          <p:cNvCxnSpPr/>
          <p:nvPr/>
        </p:nvCxnSpPr>
        <p:spPr>
          <a:xfrm>
            <a:off x="9055557" y="4183314"/>
            <a:ext cx="2794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B144280A-3DDA-6FDB-47E1-57EF039396FC}"/>
              </a:ext>
            </a:extLst>
          </p:cNvPr>
          <p:cNvSpPr txBox="1"/>
          <p:nvPr/>
        </p:nvSpPr>
        <p:spPr>
          <a:xfrm>
            <a:off x="9297712" y="4667941"/>
            <a:ext cx="17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LEGAL READINESS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0C647F3-C44B-75D1-07DD-01B2DEFC8A1A}"/>
              </a:ext>
            </a:extLst>
          </p:cNvPr>
          <p:cNvSpPr txBox="1"/>
          <p:nvPr/>
        </p:nvSpPr>
        <p:spPr>
          <a:xfrm>
            <a:off x="9246482" y="5301664"/>
            <a:ext cx="2059474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Secure CTO IP &amp; establish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venture-ready structure.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72ACCCAC-F9E0-6BCB-E997-1A735650EC02}"/>
              </a:ext>
            </a:extLst>
          </p:cNvPr>
          <p:cNvCxnSpPr>
            <a:cxnSpLocks/>
          </p:cNvCxnSpPr>
          <p:nvPr/>
        </p:nvCxnSpPr>
        <p:spPr>
          <a:xfrm>
            <a:off x="9334942" y="5214482"/>
            <a:ext cx="148981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Picture 192">
            <a:extLst>
              <a:ext uri="{FF2B5EF4-FFF2-40B4-BE49-F238E27FC236}">
                <a16:creationId xmlns:a16="http://schemas.microsoft.com/office/drawing/2014/main" id="{50700F2D-D5C2-F160-A219-FA0985F3D02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98223" y="2862665"/>
            <a:ext cx="346069" cy="332960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3F917A5F-FC5B-D335-7137-68E39070061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52117" y="2862597"/>
            <a:ext cx="408963" cy="332961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DD9D07A8-EF55-1DB6-4443-1BEB1FA30AA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43404" y="2957660"/>
            <a:ext cx="248558" cy="213050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D9761CD8-FFC8-8333-C3AD-CDF20DDEAA9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74375" y="1433345"/>
            <a:ext cx="893278" cy="770735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56EA4BD3-34D2-A5D2-1CEF-064427AF9E77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7265" y="5449028"/>
            <a:ext cx="279400" cy="285370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E575F9C8-A420-EEBF-9316-7F062F228203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41715" y="3922420"/>
            <a:ext cx="806644" cy="780435"/>
          </a:xfrm>
          <a:prstGeom prst="rect">
            <a:avLst/>
          </a:prstGeom>
        </p:spPr>
      </p:pic>
      <p:pic>
        <p:nvPicPr>
          <p:cNvPr id="211" name="Picture 210">
            <a:extLst>
              <a:ext uri="{FF2B5EF4-FFF2-40B4-BE49-F238E27FC236}">
                <a16:creationId xmlns:a16="http://schemas.microsoft.com/office/drawing/2014/main" id="{2359D357-7976-B4B2-F07F-894D00AEC321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36923" y="3923465"/>
            <a:ext cx="730979" cy="679729"/>
          </a:xfrm>
          <a:prstGeom prst="rect">
            <a:avLst/>
          </a:prstGeom>
        </p:spPr>
      </p:pic>
      <p:pic>
        <p:nvPicPr>
          <p:cNvPr id="213" name="Picture 212">
            <a:extLst>
              <a:ext uri="{FF2B5EF4-FFF2-40B4-BE49-F238E27FC236}">
                <a16:creationId xmlns:a16="http://schemas.microsoft.com/office/drawing/2014/main" id="{6F1B131C-A9EA-8F6D-E664-4D22ADC34AFB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54608" y="5396293"/>
            <a:ext cx="279873" cy="264880"/>
          </a:xfrm>
          <a:prstGeom prst="rect">
            <a:avLst/>
          </a:prstGeom>
        </p:spPr>
      </p:pic>
      <p:pic>
        <p:nvPicPr>
          <p:cNvPr id="215" name="Picture 214">
            <a:extLst>
              <a:ext uri="{FF2B5EF4-FFF2-40B4-BE49-F238E27FC236}">
                <a16:creationId xmlns:a16="http://schemas.microsoft.com/office/drawing/2014/main" id="{421A8C78-DBE5-E543-7493-04BCFBAE5F16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74375" y="3923467"/>
            <a:ext cx="893278" cy="734280"/>
          </a:xfrm>
          <a:prstGeom prst="rect">
            <a:avLst/>
          </a:prstGeom>
        </p:spPr>
      </p:pic>
      <p:pic>
        <p:nvPicPr>
          <p:cNvPr id="217" name="Picture 216">
            <a:extLst>
              <a:ext uri="{FF2B5EF4-FFF2-40B4-BE49-F238E27FC236}">
                <a16:creationId xmlns:a16="http://schemas.microsoft.com/office/drawing/2014/main" id="{BC93188F-95D7-6698-123D-E17AEEF3D6B0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57268" y="5382640"/>
            <a:ext cx="324282" cy="292186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7E73D3-C3C2-2971-DECC-0B823014E9F4}"/>
              </a:ext>
            </a:extLst>
          </p:cNvPr>
          <p:cNvSpPr/>
          <p:nvPr/>
        </p:nvSpPr>
        <p:spPr>
          <a:xfrm>
            <a:off x="9273562" y="242268"/>
            <a:ext cx="2159245" cy="40396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Completed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8B5E522F-B8A0-D197-3F14-E364912966C4}"/>
              </a:ext>
            </a:extLst>
          </p:cNvPr>
          <p:cNvGrpSpPr/>
          <p:nvPr/>
        </p:nvGrpSpPr>
        <p:grpSpPr>
          <a:xfrm rot="16200000">
            <a:off x="-651663" y="2248198"/>
            <a:ext cx="1752580" cy="371859"/>
            <a:chOff x="0" y="0"/>
            <a:chExt cx="840065" cy="223508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A6A05460-4BD2-3E6E-EAF3-7599100D0879}"/>
                </a:ext>
              </a:extLst>
            </p:cNvPr>
            <p:cNvSpPr/>
            <p:nvPr/>
          </p:nvSpPr>
          <p:spPr>
            <a:xfrm>
              <a:off x="0" y="0"/>
              <a:ext cx="840065" cy="223508"/>
            </a:xfrm>
            <a:custGeom>
              <a:avLst/>
              <a:gdLst/>
              <a:ahLst/>
              <a:cxnLst/>
              <a:rect l="l" t="t" r="r" b="b"/>
              <a:pathLst>
                <a:path w="840065" h="223508">
                  <a:moveTo>
                    <a:pt x="111754" y="0"/>
                  </a:moveTo>
                  <a:lnTo>
                    <a:pt x="728311" y="0"/>
                  </a:lnTo>
                  <a:cubicBezTo>
                    <a:pt x="790031" y="0"/>
                    <a:pt x="840065" y="50034"/>
                    <a:pt x="840065" y="111754"/>
                  </a:cubicBezTo>
                  <a:lnTo>
                    <a:pt x="840065" y="111754"/>
                  </a:lnTo>
                  <a:cubicBezTo>
                    <a:pt x="840065" y="173474"/>
                    <a:pt x="790031" y="223508"/>
                    <a:pt x="728311" y="223508"/>
                  </a:cubicBezTo>
                  <a:lnTo>
                    <a:pt x="111754" y="223508"/>
                  </a:lnTo>
                  <a:cubicBezTo>
                    <a:pt x="50034" y="223508"/>
                    <a:pt x="0" y="173474"/>
                    <a:pt x="0" y="111754"/>
                  </a:cubicBezTo>
                  <a:lnTo>
                    <a:pt x="0" y="111754"/>
                  </a:lnTo>
                  <a:cubicBezTo>
                    <a:pt x="0" y="50034"/>
                    <a:pt x="50034" y="0"/>
                    <a:pt x="1117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5BFD1">
                    <a:alpha val="100000"/>
                  </a:srgbClr>
                </a:gs>
                <a:gs pos="100000">
                  <a:srgbClr val="8628A2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ct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CURRENT</a:t>
              </a:r>
            </a:p>
          </p:txBody>
        </p:sp>
        <p:sp>
          <p:nvSpPr>
            <p:cNvPr id="19" name="TextBox 6">
              <a:extLst>
                <a:ext uri="{FF2B5EF4-FFF2-40B4-BE49-F238E27FC236}">
                  <a16:creationId xmlns:a16="http://schemas.microsoft.com/office/drawing/2014/main" id="{98BE25FD-2C0D-48EB-FD12-52CE21D98D25}"/>
                </a:ext>
              </a:extLst>
            </p:cNvPr>
            <p:cNvSpPr txBox="1"/>
            <p:nvPr/>
          </p:nvSpPr>
          <p:spPr>
            <a:xfrm>
              <a:off x="0" y="19050"/>
              <a:ext cx="840065" cy="2044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9BBD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F6BB8165-140C-E7E8-29F7-1535FEDC4AC5}"/>
              </a:ext>
            </a:extLst>
          </p:cNvPr>
          <p:cNvGrpSpPr/>
          <p:nvPr/>
        </p:nvGrpSpPr>
        <p:grpSpPr>
          <a:xfrm rot="16200000">
            <a:off x="-772891" y="4806499"/>
            <a:ext cx="1968846" cy="357153"/>
            <a:chOff x="-59972" y="8840"/>
            <a:chExt cx="943728" cy="214669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240B18C8-714D-830F-303A-E6411937D4B9}"/>
                </a:ext>
              </a:extLst>
            </p:cNvPr>
            <p:cNvSpPr/>
            <p:nvPr/>
          </p:nvSpPr>
          <p:spPr>
            <a:xfrm>
              <a:off x="-59972" y="8840"/>
              <a:ext cx="943728" cy="214669"/>
            </a:xfrm>
            <a:custGeom>
              <a:avLst/>
              <a:gdLst/>
              <a:ahLst/>
              <a:cxnLst/>
              <a:rect l="l" t="t" r="r" b="b"/>
              <a:pathLst>
                <a:path w="840065" h="223508">
                  <a:moveTo>
                    <a:pt x="111754" y="0"/>
                  </a:moveTo>
                  <a:lnTo>
                    <a:pt x="728311" y="0"/>
                  </a:lnTo>
                  <a:cubicBezTo>
                    <a:pt x="790031" y="0"/>
                    <a:pt x="840065" y="50034"/>
                    <a:pt x="840065" y="111754"/>
                  </a:cubicBezTo>
                  <a:lnTo>
                    <a:pt x="840065" y="111754"/>
                  </a:lnTo>
                  <a:cubicBezTo>
                    <a:pt x="840065" y="173474"/>
                    <a:pt x="790031" y="223508"/>
                    <a:pt x="728311" y="223508"/>
                  </a:cubicBezTo>
                  <a:lnTo>
                    <a:pt x="111754" y="223508"/>
                  </a:lnTo>
                  <a:cubicBezTo>
                    <a:pt x="50034" y="223508"/>
                    <a:pt x="0" y="173474"/>
                    <a:pt x="0" y="111754"/>
                  </a:cubicBezTo>
                  <a:lnTo>
                    <a:pt x="0" y="111754"/>
                  </a:lnTo>
                  <a:cubicBezTo>
                    <a:pt x="0" y="50034"/>
                    <a:pt x="50034" y="0"/>
                    <a:pt x="1117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5BFD1">
                    <a:alpha val="100000"/>
                  </a:srgbClr>
                </a:gs>
                <a:gs pos="100000">
                  <a:srgbClr val="8628A2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ct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BEFORE EX-CAPITAL</a:t>
              </a:r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990294AB-2840-10A4-B8AF-DAD60909260C}"/>
                </a:ext>
              </a:extLst>
            </p:cNvPr>
            <p:cNvSpPr txBox="1"/>
            <p:nvPr/>
          </p:nvSpPr>
          <p:spPr>
            <a:xfrm>
              <a:off x="0" y="19050"/>
              <a:ext cx="840065" cy="2044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9BBD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26" name="Graphic 25" descr="Supply And Demand with solid fill">
            <a:extLst>
              <a:ext uri="{FF2B5EF4-FFF2-40B4-BE49-F238E27FC236}">
                <a16:creationId xmlns:a16="http://schemas.microsoft.com/office/drawing/2014/main" id="{EE774988-FB95-8D5C-E5EF-FBA1FFF2C6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77352" y="1325414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5D4A95D-4508-B8CF-7876-738E8BCBD7B8}"/>
              </a:ext>
            </a:extLst>
          </p:cNvPr>
          <p:cNvSpPr txBox="1"/>
          <p:nvPr/>
        </p:nvSpPr>
        <p:spPr>
          <a:xfrm>
            <a:off x="3414744" y="4752048"/>
            <a:ext cx="2132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GOVERNANCE</a:t>
            </a:r>
          </a:p>
        </p:txBody>
      </p:sp>
      <p:pic>
        <p:nvPicPr>
          <p:cNvPr id="30" name="Graphic 29" descr="Security camera with solid fill">
            <a:extLst>
              <a:ext uri="{FF2B5EF4-FFF2-40B4-BE49-F238E27FC236}">
                <a16:creationId xmlns:a16="http://schemas.microsoft.com/office/drawing/2014/main" id="{6EC2B07B-4ECA-A50D-57B0-803F5BCD6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75236" y="3895569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8736153-8A56-E128-EE5D-68524D63A5D1}"/>
              </a:ext>
            </a:extLst>
          </p:cNvPr>
          <p:cNvSpPr txBox="1"/>
          <p:nvPr/>
        </p:nvSpPr>
        <p:spPr>
          <a:xfrm>
            <a:off x="6590300" y="5283369"/>
            <a:ext cx="21552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Document founder-funded development costs</a:t>
            </a:r>
          </a:p>
        </p:txBody>
      </p:sp>
      <p:pic>
        <p:nvPicPr>
          <p:cNvPr id="34" name="Graphic 33" descr="Coins with solid fill">
            <a:extLst>
              <a:ext uri="{FF2B5EF4-FFF2-40B4-BE49-F238E27FC236}">
                <a16:creationId xmlns:a16="http://schemas.microsoft.com/office/drawing/2014/main" id="{5A41DBA6-7EDD-4D09-4FA4-6CCB7C6C9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77173" y="1531615"/>
            <a:ext cx="790729" cy="790729"/>
          </a:xfrm>
          <a:prstGeom prst="rect">
            <a:avLst/>
          </a:prstGeom>
        </p:spPr>
      </p:pic>
      <p:pic>
        <p:nvPicPr>
          <p:cNvPr id="38" name="Graphic 37" descr="Checklist with solid fill">
            <a:extLst>
              <a:ext uri="{FF2B5EF4-FFF2-40B4-BE49-F238E27FC236}">
                <a16:creationId xmlns:a16="http://schemas.microsoft.com/office/drawing/2014/main" id="{8ABEA47B-A39B-CD38-B520-A5374540F6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34228" y="5382703"/>
            <a:ext cx="351695" cy="3516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8772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1FE3-BF5E-6044-1F88-D8DD5E0C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801BB1-4AFB-04D4-9ED8-59C8539E4004}"/>
              </a:ext>
            </a:extLst>
          </p:cNvPr>
          <p:cNvSpPr/>
          <p:nvPr/>
        </p:nvSpPr>
        <p:spPr>
          <a:xfrm>
            <a:off x="0" y="6002592"/>
            <a:ext cx="12192000" cy="405871"/>
          </a:xfrm>
          <a:prstGeom prst="rect">
            <a:avLst/>
          </a:prstGeom>
          <a:solidFill>
            <a:srgbClr val="FCE4EB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F96278-A4AA-AD45-F9EE-D9F17C49455D}"/>
              </a:ext>
            </a:extLst>
          </p:cNvPr>
          <p:cNvSpPr/>
          <p:nvPr/>
        </p:nvSpPr>
        <p:spPr>
          <a:xfrm>
            <a:off x="0" y="4931567"/>
            <a:ext cx="12192000" cy="10880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Title 38">
            <a:extLst>
              <a:ext uri="{FF2B5EF4-FFF2-40B4-BE49-F238E27FC236}">
                <a16:creationId xmlns:a16="http://schemas.microsoft.com/office/drawing/2014/main" id="{5681A1FE-9B45-A9C8-809F-E7D1B3A8E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Commercial</a:t>
            </a:r>
            <a:r>
              <a:rPr lang="en-US" dirty="0"/>
              <a:t> </a:t>
            </a:r>
            <a:r>
              <a:rPr lang="en-US" dirty="0">
                <a:solidFill>
                  <a:schemeClr val="accent4"/>
                </a:solidFill>
              </a:rPr>
              <a:t>Proof Point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2C9E9AF-1F34-7E9D-72BC-7A03F287FC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From Automation to Implementation: Making </a:t>
            </a:r>
            <a:r>
              <a:rPr lang="en-US" b="1" dirty="0"/>
              <a:t>Mercury</a:t>
            </a:r>
            <a:r>
              <a:rPr lang="en-US" dirty="0"/>
              <a:t> Salesforce-Ready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CE49C575-E8C7-B00F-7B2B-E924CBA9ACD4}"/>
              </a:ext>
            </a:extLst>
          </p:cNvPr>
          <p:cNvSpPr/>
          <p:nvPr/>
        </p:nvSpPr>
        <p:spPr>
          <a:xfrm>
            <a:off x="468111" y="1339933"/>
            <a:ext cx="3317788" cy="3372216"/>
          </a:xfrm>
          <a:prstGeom prst="round2Same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90BF6691-3D08-1950-42A4-ABCF75A8A6A8}"/>
              </a:ext>
            </a:extLst>
          </p:cNvPr>
          <p:cNvSpPr/>
          <p:nvPr/>
        </p:nvSpPr>
        <p:spPr>
          <a:xfrm>
            <a:off x="590219" y="2959056"/>
            <a:ext cx="3096602" cy="1745679"/>
          </a:xfrm>
          <a:prstGeom prst="round2SameRect">
            <a:avLst/>
          </a:prstGeom>
          <a:solidFill>
            <a:srgbClr val="FCE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F624BE86-F922-FF95-6B54-06809F9CB0BF}"/>
              </a:ext>
            </a:extLst>
          </p:cNvPr>
          <p:cNvSpPr/>
          <p:nvPr/>
        </p:nvSpPr>
        <p:spPr>
          <a:xfrm>
            <a:off x="4565278" y="1349146"/>
            <a:ext cx="3317788" cy="3372216"/>
          </a:xfrm>
          <a:prstGeom prst="round2Same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E0458BF6-FFF4-5E45-62C7-F1DA88DC5E2B}"/>
              </a:ext>
            </a:extLst>
          </p:cNvPr>
          <p:cNvSpPr/>
          <p:nvPr/>
        </p:nvSpPr>
        <p:spPr>
          <a:xfrm>
            <a:off x="4640296" y="2959056"/>
            <a:ext cx="3096602" cy="1745679"/>
          </a:xfrm>
          <a:prstGeom prst="round2SameRect">
            <a:avLst/>
          </a:prstGeom>
          <a:solidFill>
            <a:srgbClr val="DCDB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44A4B8A3-2595-854E-85A3-725C64A73C84}"/>
              </a:ext>
            </a:extLst>
          </p:cNvPr>
          <p:cNvSpPr/>
          <p:nvPr/>
        </p:nvSpPr>
        <p:spPr>
          <a:xfrm>
            <a:off x="8521910" y="1391513"/>
            <a:ext cx="3317788" cy="3372216"/>
          </a:xfrm>
          <a:prstGeom prst="round2Same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08A70874-E4AE-3024-C075-F8B05FECA41E}"/>
              </a:ext>
            </a:extLst>
          </p:cNvPr>
          <p:cNvSpPr/>
          <p:nvPr/>
        </p:nvSpPr>
        <p:spPr>
          <a:xfrm>
            <a:off x="8676808" y="2905266"/>
            <a:ext cx="3096602" cy="1745679"/>
          </a:xfrm>
          <a:prstGeom prst="round2SameRect">
            <a:avLst/>
          </a:prstGeom>
          <a:solidFill>
            <a:srgbClr val="E4EE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D050AE-789B-6DB9-4A74-A4DD28D84F1E}"/>
              </a:ext>
            </a:extLst>
          </p:cNvPr>
          <p:cNvSpPr txBox="1"/>
          <p:nvPr/>
        </p:nvSpPr>
        <p:spPr>
          <a:xfrm>
            <a:off x="5660247" y="3512230"/>
            <a:ext cx="1056700" cy="918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SCALE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2D4401F-5BE6-F04B-3355-9311F9A3AF7B}"/>
              </a:ext>
            </a:extLst>
          </p:cNvPr>
          <p:cNvCxnSpPr>
            <a:cxnSpLocks/>
          </p:cNvCxnSpPr>
          <p:nvPr/>
        </p:nvCxnSpPr>
        <p:spPr>
          <a:xfrm>
            <a:off x="479626" y="4734864"/>
            <a:ext cx="3317788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ED016B9-3B26-E712-AA94-66A4AB29A369}"/>
              </a:ext>
            </a:extLst>
          </p:cNvPr>
          <p:cNvCxnSpPr>
            <a:cxnSpLocks/>
          </p:cNvCxnSpPr>
          <p:nvPr/>
        </p:nvCxnSpPr>
        <p:spPr>
          <a:xfrm>
            <a:off x="4529703" y="4734864"/>
            <a:ext cx="3317788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5DCDA92-62B5-CE22-1A34-BAC42D155B33}"/>
              </a:ext>
            </a:extLst>
          </p:cNvPr>
          <p:cNvCxnSpPr>
            <a:cxnSpLocks/>
          </p:cNvCxnSpPr>
          <p:nvPr/>
        </p:nvCxnSpPr>
        <p:spPr>
          <a:xfrm>
            <a:off x="8521910" y="4734864"/>
            <a:ext cx="3317788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E0DF3CD-5C26-BD58-6E61-1B598D60C8F1}"/>
              </a:ext>
            </a:extLst>
          </p:cNvPr>
          <p:cNvSpPr/>
          <p:nvPr/>
        </p:nvSpPr>
        <p:spPr>
          <a:xfrm>
            <a:off x="445741" y="5049426"/>
            <a:ext cx="2012758" cy="84233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E9726D0-F2AE-04BF-0C53-AE5CCBB5366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8516" y="5247649"/>
            <a:ext cx="432778" cy="44589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B36F37C-D2F2-8831-D118-FC255DD7DA9B}"/>
              </a:ext>
            </a:extLst>
          </p:cNvPr>
          <p:cNvSpPr txBox="1"/>
          <p:nvPr/>
        </p:nvSpPr>
        <p:spPr>
          <a:xfrm>
            <a:off x="1165974" y="5239763"/>
            <a:ext cx="130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End-to-End 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Solution Ready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D4AAB76-1836-BA7F-084B-0948AB850A25}"/>
              </a:ext>
            </a:extLst>
          </p:cNvPr>
          <p:cNvSpPr/>
          <p:nvPr/>
        </p:nvSpPr>
        <p:spPr>
          <a:xfrm>
            <a:off x="5034819" y="5049426"/>
            <a:ext cx="2012758" cy="84233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6" name="Picture 55" descr="Shape&#10;&#10;Description automatically generated with low confidence">
            <a:extLst>
              <a:ext uri="{FF2B5EF4-FFF2-40B4-BE49-F238E27FC236}">
                <a16:creationId xmlns:a16="http://schemas.microsoft.com/office/drawing/2014/main" id="{4A893B88-0908-8C1C-3279-3C82F371AFD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2453" y="5237075"/>
            <a:ext cx="467040" cy="46704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3DDB4920-ABCC-2D7D-7644-D8D0C0CEFC2B}"/>
              </a:ext>
            </a:extLst>
          </p:cNvPr>
          <p:cNvSpPr txBox="1"/>
          <p:nvPr/>
        </p:nvSpPr>
        <p:spPr>
          <a:xfrm>
            <a:off x="5883164" y="5147430"/>
            <a:ext cx="1204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Technical Performance Proven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95A62A5-E277-40AB-0BB3-1D25BB70D1DD}"/>
              </a:ext>
            </a:extLst>
          </p:cNvPr>
          <p:cNvSpPr/>
          <p:nvPr/>
        </p:nvSpPr>
        <p:spPr>
          <a:xfrm>
            <a:off x="7369113" y="5049426"/>
            <a:ext cx="2086353" cy="84233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1" name="Picture 2" descr="Leadership ">
            <a:extLst>
              <a:ext uri="{FF2B5EF4-FFF2-40B4-BE49-F238E27FC236}">
                <a16:creationId xmlns:a16="http://schemas.microsoft.com/office/drawing/2014/main" id="{A2338505-3C56-02CF-E711-51B53F414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322" y="5245580"/>
            <a:ext cx="450031" cy="450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27AD533-2594-EE8A-8353-862C9896A19C}"/>
              </a:ext>
            </a:extLst>
          </p:cNvPr>
          <p:cNvSpPr txBox="1"/>
          <p:nvPr/>
        </p:nvSpPr>
        <p:spPr>
          <a:xfrm>
            <a:off x="8041780" y="5239423"/>
            <a:ext cx="1452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Implementation Model Validated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6ED1814-014E-3147-3795-6565C746B127}"/>
              </a:ext>
            </a:extLst>
          </p:cNvPr>
          <p:cNvSpPr/>
          <p:nvPr/>
        </p:nvSpPr>
        <p:spPr>
          <a:xfrm>
            <a:off x="9806700" y="5049426"/>
            <a:ext cx="2012758" cy="84233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6356F6C2-6DD9-69B5-AA87-A9E53428177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51924" y="5222064"/>
            <a:ext cx="487818" cy="516941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215DC7C3-D309-DDCA-B612-D6BDE78F7F18}"/>
              </a:ext>
            </a:extLst>
          </p:cNvPr>
          <p:cNvSpPr txBox="1"/>
          <p:nvPr/>
        </p:nvSpPr>
        <p:spPr>
          <a:xfrm>
            <a:off x="10607925" y="5147430"/>
            <a:ext cx="1212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Customer Value Demonstrated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4069A95-3E4D-4D13-F1EE-7F3710545836}"/>
              </a:ext>
            </a:extLst>
          </p:cNvPr>
          <p:cNvSpPr/>
          <p:nvPr/>
        </p:nvSpPr>
        <p:spPr>
          <a:xfrm>
            <a:off x="2740280" y="5049426"/>
            <a:ext cx="2012758" cy="84233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3E8294-9E5B-1592-D682-783F6154BDDE}"/>
              </a:ext>
            </a:extLst>
          </p:cNvPr>
          <p:cNvSpPr txBox="1"/>
          <p:nvPr/>
        </p:nvSpPr>
        <p:spPr>
          <a:xfrm>
            <a:off x="3507851" y="5175670"/>
            <a:ext cx="1255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Customer Environment Test-Ready</a:t>
            </a:r>
          </a:p>
        </p:txBody>
      </p:sp>
      <p:pic>
        <p:nvPicPr>
          <p:cNvPr id="67" name="Picture 66" descr="Shape&#10;&#10;Description automatically generated with low confidence">
            <a:extLst>
              <a:ext uri="{FF2B5EF4-FFF2-40B4-BE49-F238E27FC236}">
                <a16:creationId xmlns:a16="http://schemas.microsoft.com/office/drawing/2014/main" id="{86559790-F092-6A12-805E-F5E2F179A14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4028" y="5160940"/>
            <a:ext cx="619313" cy="6193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8B915F-CF7C-AD5C-D8F8-60DA50F12F0E}"/>
              </a:ext>
            </a:extLst>
          </p:cNvPr>
          <p:cNvSpPr txBox="1"/>
          <p:nvPr/>
        </p:nvSpPr>
        <p:spPr>
          <a:xfrm>
            <a:off x="493150" y="6080274"/>
            <a:ext cx="833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Advance Mercury from Design Automation to Validated End-to-End Salesforce Implementation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ACCC1F7-B229-5E4C-9B28-DBAE3A9817C6}"/>
              </a:ext>
            </a:extLst>
          </p:cNvPr>
          <p:cNvSpPr/>
          <p:nvPr/>
        </p:nvSpPr>
        <p:spPr>
          <a:xfrm>
            <a:off x="1662548" y="2618574"/>
            <a:ext cx="928914" cy="9184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Graphic 7" descr="Coins outline">
            <a:extLst>
              <a:ext uri="{FF2B5EF4-FFF2-40B4-BE49-F238E27FC236}">
                <a16:creationId xmlns:a16="http://schemas.microsoft.com/office/drawing/2014/main" id="{D9A59C39-8735-0A37-47BF-89D2FE70D7F9}"/>
              </a:ext>
            </a:extLst>
          </p:cNvPr>
          <p:cNvPicPr>
            <a:picLocks noChangeAspect="1"/>
          </p:cNvPicPr>
          <p:nvPr/>
        </p:nvPicPr>
        <p:blipFill>
          <a:blip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86095" y="2673556"/>
            <a:ext cx="755444" cy="7554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93C50E-C40F-2D9D-3EA0-496721720A68}"/>
              </a:ext>
            </a:extLst>
          </p:cNvPr>
          <p:cNvSpPr txBox="1"/>
          <p:nvPr/>
        </p:nvSpPr>
        <p:spPr>
          <a:xfrm>
            <a:off x="1096726" y="3583397"/>
            <a:ext cx="2060565" cy="496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CAPITAL NEED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BA18CD-6ECC-DBB5-B67F-37892C588C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8130" y="1481104"/>
            <a:ext cx="1680933" cy="1148265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6B728500-3CCB-3FE6-6048-98445B9C0EC7}"/>
              </a:ext>
            </a:extLst>
          </p:cNvPr>
          <p:cNvSpPr/>
          <p:nvPr/>
        </p:nvSpPr>
        <p:spPr>
          <a:xfrm>
            <a:off x="5724139" y="2551608"/>
            <a:ext cx="928914" cy="9184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4" name="Graphic 13" descr="Bar graph with upward trend with solid fill">
            <a:extLst>
              <a:ext uri="{FF2B5EF4-FFF2-40B4-BE49-F238E27FC236}">
                <a16:creationId xmlns:a16="http://schemas.microsoft.com/office/drawing/2014/main" id="{5707F996-BEC5-70B9-2A02-B77ACE4316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74067" y="2624972"/>
            <a:ext cx="829060" cy="8290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E194454-36D7-EE83-C9A9-238698B56F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2513" y="1477221"/>
            <a:ext cx="1680933" cy="107438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E004F3B-00EC-FB7F-B91A-5D1EAE4F8A54}"/>
              </a:ext>
            </a:extLst>
          </p:cNvPr>
          <p:cNvSpPr txBox="1"/>
          <p:nvPr/>
        </p:nvSpPr>
        <p:spPr>
          <a:xfrm>
            <a:off x="4361240" y="4020940"/>
            <a:ext cx="3598859" cy="739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Build. Validate. Commercialize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15 Months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C458DBD-F1AE-88E7-C592-67124DE149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59896" y="1437412"/>
            <a:ext cx="1628796" cy="120365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602EC74-1B0C-FA94-DC16-EF2DCBF1A5DB}"/>
              </a:ext>
            </a:extLst>
          </p:cNvPr>
          <p:cNvSpPr txBox="1"/>
          <p:nvPr/>
        </p:nvSpPr>
        <p:spPr>
          <a:xfrm>
            <a:off x="9747545" y="3505265"/>
            <a:ext cx="939681" cy="918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PILOT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60F82F1-0E10-BB8D-7C19-604E7BE4CA4E}"/>
              </a:ext>
            </a:extLst>
          </p:cNvPr>
          <p:cNvSpPr/>
          <p:nvPr/>
        </p:nvSpPr>
        <p:spPr>
          <a:xfrm>
            <a:off x="9716347" y="2576038"/>
            <a:ext cx="928914" cy="91843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DD2F7EA-1CFD-4BC6-3042-218CAA2072F6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lum bright="70000" contrast="-70000"/>
          </a:blip>
          <a:stretch>
            <a:fillRect/>
          </a:stretch>
        </p:blipFill>
        <p:spPr>
          <a:xfrm>
            <a:off x="9897642" y="2735550"/>
            <a:ext cx="573897" cy="580982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6466BA4D-D06F-5E61-847A-DAD561390A58}"/>
              </a:ext>
            </a:extLst>
          </p:cNvPr>
          <p:cNvSpPr txBox="1"/>
          <p:nvPr/>
        </p:nvSpPr>
        <p:spPr>
          <a:xfrm>
            <a:off x="8451507" y="3988679"/>
            <a:ext cx="3598859" cy="739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From Capability to Proof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 Pilots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E93B807-157A-C323-D618-FA3A7B7C2AB9}"/>
              </a:ext>
            </a:extLst>
          </p:cNvPr>
          <p:cNvSpPr txBox="1"/>
          <p:nvPr/>
        </p:nvSpPr>
        <p:spPr>
          <a:xfrm>
            <a:off x="369984" y="4020940"/>
            <a:ext cx="3598859" cy="739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External Capital Requirement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$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1.5 M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61993F29-49AD-F776-06CC-4FC8DBEBE1FE}"/>
              </a:ext>
            </a:extLst>
          </p:cNvPr>
          <p:cNvSpPr/>
          <p:nvPr/>
        </p:nvSpPr>
        <p:spPr>
          <a:xfrm>
            <a:off x="9216210" y="187260"/>
            <a:ext cx="2159245" cy="40396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Completed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0652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185D4-10B4-BA80-26F6-1E7591FA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66">
            <a:extLst>
              <a:ext uri="{FF2B5EF4-FFF2-40B4-BE49-F238E27FC236}">
                <a16:creationId xmlns:a16="http://schemas.microsoft.com/office/drawing/2014/main" id="{911C7275-AE85-E39A-DDBE-E32A45230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84" y="279400"/>
            <a:ext cx="11174316" cy="587375"/>
          </a:xfrm>
        </p:spPr>
        <p:txBody>
          <a:bodyPr>
            <a:normAutofit/>
          </a:bodyPr>
          <a:lstStyle/>
          <a:p>
            <a:r>
              <a:rPr lang="en-US" dirty="0"/>
              <a:t>Fueling the Build: </a:t>
            </a:r>
            <a:r>
              <a:rPr lang="en-US" dirty="0">
                <a:solidFill>
                  <a:schemeClr val="accent4"/>
                </a:solidFill>
              </a:rPr>
              <a:t>Where Capital Creates Value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A8B6783-1250-A310-3181-D502BD8C26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865" y="862013"/>
            <a:ext cx="11169435" cy="347662"/>
          </a:xfrm>
        </p:spPr>
        <p:txBody>
          <a:bodyPr/>
          <a:lstStyle/>
          <a:p>
            <a:r>
              <a:rPr lang="en-US" dirty="0"/>
              <a:t>Prioritizing product development while maintaining a lean, focused operating model.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4B917E-4EAF-073A-FB27-3F6F4524E33B}"/>
              </a:ext>
            </a:extLst>
          </p:cNvPr>
          <p:cNvGrpSpPr/>
          <p:nvPr/>
        </p:nvGrpSpPr>
        <p:grpSpPr>
          <a:xfrm>
            <a:off x="743634" y="1445493"/>
            <a:ext cx="2802263" cy="2398645"/>
            <a:chOff x="317055" y="1401858"/>
            <a:chExt cx="2802263" cy="2398645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0D20394-1770-061C-21E0-80AE34C4E1E8}"/>
                </a:ext>
              </a:extLst>
            </p:cNvPr>
            <p:cNvSpPr/>
            <p:nvPr/>
          </p:nvSpPr>
          <p:spPr>
            <a:xfrm>
              <a:off x="317055" y="1401858"/>
              <a:ext cx="2802263" cy="2360771"/>
            </a:xfrm>
            <a:prstGeom prst="roundRect">
              <a:avLst>
                <a:gd name="adj" fmla="val 6047"/>
              </a:avLst>
            </a:prstGeom>
            <a:solidFill>
              <a:srgbClr val="DFDFF5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64A2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388BC32-E1EA-9B47-6802-2404EFC91CC5}"/>
                </a:ext>
              </a:extLst>
            </p:cNvPr>
            <p:cNvSpPr txBox="1"/>
            <p:nvPr/>
          </p:nvSpPr>
          <p:spPr>
            <a:xfrm>
              <a:off x="362954" y="2185671"/>
              <a:ext cx="2756364" cy="823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6235D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AI &amp; software development</a:t>
              </a:r>
            </a:p>
            <a:p>
              <a:pPr marL="0" marR="0" lvl="0" indent="0" algn="l" defTabSz="914400" rtl="0" eaLnBrk="1" fontAlgn="auto" latinLnBrk="0" hangingPunct="1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35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1A03665-F8BE-6C22-6CF0-4D476AA88DE3}"/>
                </a:ext>
              </a:extLst>
            </p:cNvPr>
            <p:cNvCxnSpPr>
              <a:cxnSpLocks/>
            </p:cNvCxnSpPr>
            <p:nvPr/>
          </p:nvCxnSpPr>
          <p:spPr>
            <a:xfrm>
              <a:off x="464600" y="2839341"/>
              <a:ext cx="483149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7B7A4A1-726A-A412-4C33-5417FC1714F1}"/>
                </a:ext>
              </a:extLst>
            </p:cNvPr>
            <p:cNvSpPr txBox="1"/>
            <p:nvPr/>
          </p:nvSpPr>
          <p:spPr>
            <a:xfrm>
              <a:off x="362953" y="2969506"/>
              <a:ext cx="26424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Core engineering, agent development, platform build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5DCD78-AC31-D566-AF8D-D8087F15BACE}"/>
              </a:ext>
            </a:extLst>
          </p:cNvPr>
          <p:cNvGrpSpPr/>
          <p:nvPr/>
        </p:nvGrpSpPr>
        <p:grpSpPr>
          <a:xfrm>
            <a:off x="4226938" y="1449388"/>
            <a:ext cx="2802263" cy="2398645"/>
            <a:chOff x="3291500" y="1401858"/>
            <a:chExt cx="2802263" cy="239864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A3440E3-B173-183D-2F1C-ED3A862122DC}"/>
                </a:ext>
              </a:extLst>
            </p:cNvPr>
            <p:cNvSpPr/>
            <p:nvPr/>
          </p:nvSpPr>
          <p:spPr>
            <a:xfrm>
              <a:off x="3291500" y="1401858"/>
              <a:ext cx="2802263" cy="2360771"/>
            </a:xfrm>
            <a:prstGeom prst="roundRect">
              <a:avLst>
                <a:gd name="adj" fmla="val 6047"/>
              </a:avLst>
            </a:prstGeom>
            <a:solidFill>
              <a:srgbClr val="FEE3E7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64A2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3E1B52-1EE9-7667-DEC4-7CA11A17090F}"/>
                </a:ext>
              </a:extLst>
            </p:cNvPr>
            <p:cNvSpPr txBox="1"/>
            <p:nvPr/>
          </p:nvSpPr>
          <p:spPr>
            <a:xfrm>
              <a:off x="3422073" y="1559559"/>
              <a:ext cx="466184" cy="390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DE1B54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7ECCA2D-0915-3903-30C7-6AB3E4196DCA}"/>
                </a:ext>
              </a:extLst>
            </p:cNvPr>
            <p:cNvSpPr txBox="1"/>
            <p:nvPr/>
          </p:nvSpPr>
          <p:spPr>
            <a:xfrm>
              <a:off x="3358922" y="2185670"/>
              <a:ext cx="2194978" cy="823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DE1B54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CRM architecture validation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E1B5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74A87AE-76FE-57C1-5139-FD6DC57914C3}"/>
                </a:ext>
              </a:extLst>
            </p:cNvPr>
            <p:cNvCxnSpPr>
              <a:cxnSpLocks/>
            </p:cNvCxnSpPr>
            <p:nvPr/>
          </p:nvCxnSpPr>
          <p:spPr>
            <a:xfrm>
              <a:off x="3460569" y="2839341"/>
              <a:ext cx="483149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CECD2CA-E48C-3FA9-391D-C5857025BEF4}"/>
                </a:ext>
              </a:extLst>
            </p:cNvPr>
            <p:cNvSpPr txBox="1"/>
            <p:nvPr/>
          </p:nvSpPr>
          <p:spPr>
            <a:xfrm>
              <a:off x="3358922" y="2969506"/>
              <a:ext cx="26424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Senior experts validating questions, logic, and outputs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16A49B3-3E31-8521-4CD8-BE0F40271871}"/>
              </a:ext>
            </a:extLst>
          </p:cNvPr>
          <p:cNvGrpSpPr/>
          <p:nvPr/>
        </p:nvGrpSpPr>
        <p:grpSpPr>
          <a:xfrm>
            <a:off x="5894498" y="1421681"/>
            <a:ext cx="4700868" cy="3208834"/>
            <a:chOff x="4344059" y="1401858"/>
            <a:chExt cx="4700868" cy="320883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C74B0FF-50C8-D22E-E4EA-A01E17D0B1A9}"/>
                </a:ext>
              </a:extLst>
            </p:cNvPr>
            <p:cNvSpPr/>
            <p:nvPr/>
          </p:nvSpPr>
          <p:spPr>
            <a:xfrm>
              <a:off x="6227225" y="1401858"/>
              <a:ext cx="2802263" cy="2360771"/>
            </a:xfrm>
            <a:prstGeom prst="roundRect">
              <a:avLst>
                <a:gd name="adj" fmla="val 6047"/>
              </a:avLst>
            </a:prstGeom>
            <a:solidFill>
              <a:srgbClr val="E5EFF9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64A2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66D9B9-B63F-EA5A-6BED-6C9371A6D2A9}"/>
                </a:ext>
              </a:extLst>
            </p:cNvPr>
            <p:cNvSpPr txBox="1"/>
            <p:nvPr/>
          </p:nvSpPr>
          <p:spPr>
            <a:xfrm>
              <a:off x="6315639" y="1559559"/>
              <a:ext cx="466184" cy="390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E79BB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0C744DB-8E45-BC66-96C9-AC0EFA1D6D08}"/>
                </a:ext>
              </a:extLst>
            </p:cNvPr>
            <p:cNvSpPr txBox="1"/>
            <p:nvPr/>
          </p:nvSpPr>
          <p:spPr>
            <a:xfrm>
              <a:off x="6300200" y="2185671"/>
              <a:ext cx="25955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5304A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Product / QA / Tooling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206B73C-1954-F7B0-24E3-33CF04797850}"/>
                </a:ext>
              </a:extLst>
            </p:cNvPr>
            <p:cNvCxnSpPr>
              <a:cxnSpLocks/>
            </p:cNvCxnSpPr>
            <p:nvPr/>
          </p:nvCxnSpPr>
          <p:spPr>
            <a:xfrm>
              <a:off x="6401847" y="2839341"/>
              <a:ext cx="483149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7A53205-230F-900C-E978-EC256145BB37}"/>
                </a:ext>
              </a:extLst>
            </p:cNvPr>
            <p:cNvSpPr txBox="1"/>
            <p:nvPr/>
          </p:nvSpPr>
          <p:spPr>
            <a:xfrm>
              <a:off x="6315639" y="2905380"/>
              <a:ext cx="27292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Quality assurance, cloud, AI, API, and software tooling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FD16B9A-841C-02FF-2D40-562856DFF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344059" y="4096233"/>
              <a:ext cx="594840" cy="51445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99AC700-99D3-7D48-EC75-D3836C6A3619}"/>
              </a:ext>
            </a:extLst>
          </p:cNvPr>
          <p:cNvGrpSpPr/>
          <p:nvPr/>
        </p:nvGrpSpPr>
        <p:grpSpPr>
          <a:xfrm>
            <a:off x="709626" y="4077481"/>
            <a:ext cx="2802263" cy="2360771"/>
            <a:chOff x="9161914" y="1401858"/>
            <a:chExt cx="2802263" cy="236077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F9E9CCE-E4CE-C6E8-DDB7-AB342E902045}"/>
                </a:ext>
              </a:extLst>
            </p:cNvPr>
            <p:cNvSpPr/>
            <p:nvPr/>
          </p:nvSpPr>
          <p:spPr>
            <a:xfrm>
              <a:off x="9161914" y="1401858"/>
              <a:ext cx="2802263" cy="2360771"/>
            </a:xfrm>
            <a:prstGeom prst="roundRect">
              <a:avLst>
                <a:gd name="adj" fmla="val 6047"/>
              </a:avLst>
            </a:prstGeom>
            <a:solidFill>
              <a:srgbClr val="FEEFE3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64A2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FA827D9-5089-69B8-67D0-92A9FBF5B6C9}"/>
                </a:ext>
              </a:extLst>
            </p:cNvPr>
            <p:cNvSpPr txBox="1"/>
            <p:nvPr/>
          </p:nvSpPr>
          <p:spPr>
            <a:xfrm>
              <a:off x="9267995" y="1559559"/>
              <a:ext cx="466184" cy="390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99F42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4A41E33-1475-515E-0500-85D1989B0D51}"/>
                </a:ext>
              </a:extLst>
            </p:cNvPr>
            <p:cNvSpPr txBox="1"/>
            <p:nvPr/>
          </p:nvSpPr>
          <p:spPr>
            <a:xfrm>
              <a:off x="9267995" y="2185671"/>
              <a:ext cx="2257990" cy="336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99F42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Legal / IP / Finance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8F71AA2-EF30-730A-0B72-7E9A12F9C109}"/>
                </a:ext>
              </a:extLst>
            </p:cNvPr>
            <p:cNvCxnSpPr>
              <a:cxnSpLocks/>
            </p:cNvCxnSpPr>
            <p:nvPr/>
          </p:nvCxnSpPr>
          <p:spPr>
            <a:xfrm>
              <a:off x="9369642" y="2839341"/>
              <a:ext cx="483149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963A0B6-005D-A7B6-C998-70B00442C0E9}"/>
                </a:ext>
              </a:extLst>
            </p:cNvPr>
            <p:cNvSpPr txBox="1"/>
            <p:nvPr/>
          </p:nvSpPr>
          <p:spPr>
            <a:xfrm>
              <a:off x="9267995" y="2904865"/>
              <a:ext cx="26424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Corporate structure, IP protection, bookkeeping, investor readiness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EDC9566-DA8D-8BEC-0E93-F92C9A0205B0}"/>
              </a:ext>
            </a:extLst>
          </p:cNvPr>
          <p:cNvGrpSpPr/>
          <p:nvPr/>
        </p:nvGrpSpPr>
        <p:grpSpPr>
          <a:xfrm>
            <a:off x="4170766" y="4128184"/>
            <a:ext cx="2802263" cy="2360771"/>
            <a:chOff x="1553675" y="3980391"/>
            <a:chExt cx="2802263" cy="236077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458DE20-1952-BD95-C641-99DBCFB58697}"/>
                </a:ext>
              </a:extLst>
            </p:cNvPr>
            <p:cNvSpPr/>
            <p:nvPr/>
          </p:nvSpPr>
          <p:spPr>
            <a:xfrm>
              <a:off x="1553675" y="3980391"/>
              <a:ext cx="2802263" cy="2360771"/>
            </a:xfrm>
            <a:prstGeom prst="roundRect">
              <a:avLst>
                <a:gd name="adj" fmla="val 6047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64A2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2418D7-FE94-2621-FB8F-ACC7EF66BCEF}"/>
                </a:ext>
              </a:extLst>
            </p:cNvPr>
            <p:cNvSpPr txBox="1"/>
            <p:nvPr/>
          </p:nvSpPr>
          <p:spPr>
            <a:xfrm>
              <a:off x="1700329" y="4103563"/>
              <a:ext cx="466184" cy="390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49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162B246-3C9A-FC07-C1DB-CA58E73DA581}"/>
                </a:ext>
              </a:extLst>
            </p:cNvPr>
            <p:cNvSpPr txBox="1"/>
            <p:nvPr/>
          </p:nvSpPr>
          <p:spPr>
            <a:xfrm>
              <a:off x="1668659" y="4752148"/>
              <a:ext cx="1851789" cy="5799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4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Pilot Execution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CC049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7566278-21FE-DA66-92A6-24BE863545B3}"/>
                </a:ext>
              </a:extLst>
            </p:cNvPr>
            <p:cNvCxnSpPr/>
            <p:nvPr/>
          </p:nvCxnSpPr>
          <p:spPr>
            <a:xfrm>
              <a:off x="1770306" y="5418598"/>
              <a:ext cx="483149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DC2724E-8B28-F325-4BF9-B8B85F5AC2CF}"/>
                </a:ext>
              </a:extLst>
            </p:cNvPr>
            <p:cNvSpPr txBox="1"/>
            <p:nvPr/>
          </p:nvSpPr>
          <p:spPr>
            <a:xfrm>
              <a:off x="1668659" y="5508578"/>
              <a:ext cx="22750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Customer support, on-site work, testing/UAT assistance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71E14E-F96A-F9C6-BE9A-455B08471798}"/>
              </a:ext>
            </a:extLst>
          </p:cNvPr>
          <p:cNvGrpSpPr/>
          <p:nvPr/>
        </p:nvGrpSpPr>
        <p:grpSpPr>
          <a:xfrm>
            <a:off x="7799638" y="4081279"/>
            <a:ext cx="2849825" cy="2360771"/>
            <a:chOff x="4568912" y="3980391"/>
            <a:chExt cx="2849825" cy="236077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D12C850-C511-6843-EC4F-18061B903399}"/>
                </a:ext>
              </a:extLst>
            </p:cNvPr>
            <p:cNvSpPr/>
            <p:nvPr/>
          </p:nvSpPr>
          <p:spPr>
            <a:xfrm>
              <a:off x="4568912" y="3980391"/>
              <a:ext cx="2802263" cy="2360771"/>
            </a:xfrm>
            <a:prstGeom prst="roundRect">
              <a:avLst>
                <a:gd name="adj" fmla="val 6047"/>
              </a:avLst>
            </a:prstGeom>
            <a:solidFill>
              <a:schemeClr val="accent6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64A2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FC6A07-A80E-AA05-AC7F-11FA2802B1B8}"/>
                </a:ext>
              </a:extLst>
            </p:cNvPr>
            <p:cNvSpPr txBox="1"/>
            <p:nvPr/>
          </p:nvSpPr>
          <p:spPr>
            <a:xfrm>
              <a:off x="4704577" y="4103563"/>
              <a:ext cx="466184" cy="390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06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953A0764-C14A-FD32-D4BF-76DE6A62E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21984" y="4041481"/>
              <a:ext cx="512579" cy="514458"/>
            </a:xfrm>
            <a:prstGeom prst="rect">
              <a:avLst/>
            </a:prstGeom>
          </p:spPr>
        </p:pic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6B126896-DD74-6AA8-96FB-BEEBCEF25741}"/>
                </a:ext>
              </a:extLst>
            </p:cNvPr>
            <p:cNvSpPr txBox="1"/>
            <p:nvPr/>
          </p:nvSpPr>
          <p:spPr>
            <a:xfrm>
              <a:off x="4689449" y="4780621"/>
              <a:ext cx="2270305" cy="823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Limited GTM preparation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CD50A58-4ABF-5564-5518-60CC0EBDFE42}"/>
                </a:ext>
              </a:extLst>
            </p:cNvPr>
            <p:cNvCxnSpPr/>
            <p:nvPr/>
          </p:nvCxnSpPr>
          <p:spPr>
            <a:xfrm>
              <a:off x="4791097" y="5431736"/>
              <a:ext cx="483149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D7C002C-9E6F-5F90-9245-15CC8E47C08B}"/>
                </a:ext>
              </a:extLst>
            </p:cNvPr>
            <p:cNvSpPr txBox="1"/>
            <p:nvPr/>
          </p:nvSpPr>
          <p:spPr>
            <a:xfrm>
              <a:off x="4689449" y="5508578"/>
              <a:ext cx="27292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Early business development &amp; commercialization readiness</a:t>
              </a:r>
            </a:p>
          </p:txBody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472DFB-BCCB-5CC3-AEAD-8284206EA5AA}"/>
              </a:ext>
            </a:extLst>
          </p:cNvPr>
          <p:cNvSpPr/>
          <p:nvPr/>
        </p:nvSpPr>
        <p:spPr>
          <a:xfrm>
            <a:off x="9216210" y="187260"/>
            <a:ext cx="2159245" cy="40396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A1A89-E6C1-CA2E-15DB-7EE5BC394A15}"/>
              </a:ext>
            </a:extLst>
          </p:cNvPr>
          <p:cNvSpPr txBox="1"/>
          <p:nvPr/>
        </p:nvSpPr>
        <p:spPr>
          <a:xfrm>
            <a:off x="743634" y="1527697"/>
            <a:ext cx="466184" cy="3902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6235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01</a:t>
            </a:r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599B2097-42D8-B30F-D0E5-7988354CFBF7}"/>
              </a:ext>
            </a:extLst>
          </p:cNvPr>
          <p:cNvSpPr/>
          <p:nvPr/>
        </p:nvSpPr>
        <p:spPr>
          <a:xfrm>
            <a:off x="1281891" y="6539659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304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Development and engineering remain the dominant use of proceeds.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9" name="Graphic 38" descr="Internet Of Things with solid fill">
            <a:extLst>
              <a:ext uri="{FF2B5EF4-FFF2-40B4-BE49-F238E27FC236}">
                <a16:creationId xmlns:a16="http://schemas.microsoft.com/office/drawing/2014/main" id="{AE087E21-2113-06F5-E6B4-299A37E3E0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1745" y="1456077"/>
            <a:ext cx="760641" cy="760641"/>
          </a:xfrm>
          <a:prstGeom prst="rect">
            <a:avLst/>
          </a:prstGeom>
        </p:spPr>
      </p:pic>
      <p:pic>
        <p:nvPicPr>
          <p:cNvPr id="41" name="Graphic 40" descr="Greek Temple with solid fill">
            <a:extLst>
              <a:ext uri="{FF2B5EF4-FFF2-40B4-BE49-F238E27FC236}">
                <a16:creationId xmlns:a16="http://schemas.microsoft.com/office/drawing/2014/main" id="{EE086D4D-2FDA-D25B-288D-D6A0BFFDE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5630" y="1476996"/>
            <a:ext cx="581935" cy="581935"/>
          </a:xfrm>
          <a:prstGeom prst="rect">
            <a:avLst/>
          </a:prstGeom>
        </p:spPr>
      </p:pic>
      <p:pic>
        <p:nvPicPr>
          <p:cNvPr id="53" name="Graphic 52" descr="Gavel with solid fill">
            <a:extLst>
              <a:ext uri="{FF2B5EF4-FFF2-40B4-BE49-F238E27FC236}">
                <a16:creationId xmlns:a16="http://schemas.microsoft.com/office/drawing/2014/main" id="{2F8F676D-3706-EA5C-BB75-B5E605797C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47895" y="4095049"/>
            <a:ext cx="670560" cy="670560"/>
          </a:xfrm>
          <a:prstGeom prst="rect">
            <a:avLst/>
          </a:prstGeom>
        </p:spPr>
      </p:pic>
      <p:pic>
        <p:nvPicPr>
          <p:cNvPr id="58" name="Graphic 57" descr="Gears with solid fill">
            <a:extLst>
              <a:ext uri="{FF2B5EF4-FFF2-40B4-BE49-F238E27FC236}">
                <a16:creationId xmlns:a16="http://schemas.microsoft.com/office/drawing/2014/main" id="{2E2FB636-F59C-E807-68E3-12357B184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9101" y="1449388"/>
            <a:ext cx="617057" cy="617057"/>
          </a:xfrm>
          <a:prstGeom prst="rect">
            <a:avLst/>
          </a:prstGeom>
        </p:spPr>
      </p:pic>
      <p:pic>
        <p:nvPicPr>
          <p:cNvPr id="63" name="Graphic 62" descr="Pilot female with solid fill">
            <a:extLst>
              <a:ext uri="{FF2B5EF4-FFF2-40B4-BE49-F238E27FC236}">
                <a16:creationId xmlns:a16="http://schemas.microsoft.com/office/drawing/2014/main" id="{0CAC46B5-FF86-F33B-66E1-2A9B670810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2599" y="4166058"/>
            <a:ext cx="652785" cy="6527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60790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2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BA8968-82AC-21D5-D5E9-C8A660A71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2ABF62-9AFF-2D92-B1E2-7A64BE6CE52B}"/>
              </a:ext>
            </a:extLst>
          </p:cNvPr>
          <p:cNvSpPr/>
          <p:nvPr/>
        </p:nvSpPr>
        <p:spPr>
          <a:xfrm flipH="1" flipV="1">
            <a:off x="-4350301" y="-826483"/>
            <a:ext cx="12226177" cy="9877464"/>
          </a:xfrm>
          <a:custGeom>
            <a:avLst/>
            <a:gdLst/>
            <a:ahLst/>
            <a:cxnLst/>
            <a:rect l="l" t="t" r="r" b="b"/>
            <a:pathLst>
              <a:path w="18339266" h="14816196">
                <a:moveTo>
                  <a:pt x="18339266" y="14816196"/>
                </a:moveTo>
                <a:lnTo>
                  <a:pt x="0" y="14816196"/>
                </a:lnTo>
                <a:lnTo>
                  <a:pt x="0" y="0"/>
                </a:lnTo>
                <a:lnTo>
                  <a:pt x="18339266" y="0"/>
                </a:lnTo>
                <a:lnTo>
                  <a:pt x="18339266" y="14816196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506" t="-33077" r="-10350" b="-23149"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42A8C41-8C5F-68D9-7599-F6F92F67DE5A}"/>
              </a:ext>
            </a:extLst>
          </p:cNvPr>
          <p:cNvSpPr/>
          <p:nvPr/>
        </p:nvSpPr>
        <p:spPr>
          <a:xfrm>
            <a:off x="685800" y="1558299"/>
            <a:ext cx="3668698" cy="3910878"/>
          </a:xfrm>
          <a:custGeom>
            <a:avLst/>
            <a:gdLst/>
            <a:ahLst/>
            <a:cxnLst/>
            <a:rect l="l" t="t" r="r" b="b"/>
            <a:pathLst>
              <a:path w="5503047" h="5866317">
                <a:moveTo>
                  <a:pt x="0" y="0"/>
                </a:moveTo>
                <a:lnTo>
                  <a:pt x="5503047" y="0"/>
                </a:lnTo>
                <a:lnTo>
                  <a:pt x="5503047" y="5866316"/>
                </a:lnTo>
                <a:lnTo>
                  <a:pt x="0" y="5866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136C092-5E7C-06FB-6487-566166A8F7B1}"/>
              </a:ext>
            </a:extLst>
          </p:cNvPr>
          <p:cNvGrpSpPr/>
          <p:nvPr/>
        </p:nvGrpSpPr>
        <p:grpSpPr>
          <a:xfrm rot="-10800000">
            <a:off x="5067973" y="2492329"/>
            <a:ext cx="3374986" cy="813966"/>
            <a:chOff x="0" y="9593"/>
            <a:chExt cx="876483" cy="2235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5C083C3-66E5-63C8-A647-F4B2082A42F0}"/>
                </a:ext>
              </a:extLst>
            </p:cNvPr>
            <p:cNvSpPr/>
            <p:nvPr/>
          </p:nvSpPr>
          <p:spPr>
            <a:xfrm>
              <a:off x="36418" y="9593"/>
              <a:ext cx="840065" cy="223508"/>
            </a:xfrm>
            <a:custGeom>
              <a:avLst/>
              <a:gdLst/>
              <a:ahLst/>
              <a:cxnLst/>
              <a:rect l="l" t="t" r="r" b="b"/>
              <a:pathLst>
                <a:path w="840065" h="223508">
                  <a:moveTo>
                    <a:pt x="111754" y="0"/>
                  </a:moveTo>
                  <a:lnTo>
                    <a:pt x="728311" y="0"/>
                  </a:lnTo>
                  <a:cubicBezTo>
                    <a:pt x="790031" y="0"/>
                    <a:pt x="840065" y="50034"/>
                    <a:pt x="840065" y="111754"/>
                  </a:cubicBezTo>
                  <a:lnTo>
                    <a:pt x="840065" y="111754"/>
                  </a:lnTo>
                  <a:cubicBezTo>
                    <a:pt x="840065" y="173474"/>
                    <a:pt x="790031" y="223508"/>
                    <a:pt x="728311" y="223508"/>
                  </a:cubicBezTo>
                  <a:lnTo>
                    <a:pt x="111754" y="223508"/>
                  </a:lnTo>
                  <a:cubicBezTo>
                    <a:pt x="50034" y="223508"/>
                    <a:pt x="0" y="173474"/>
                    <a:pt x="0" y="111754"/>
                  </a:cubicBezTo>
                  <a:lnTo>
                    <a:pt x="0" y="111754"/>
                  </a:lnTo>
                  <a:cubicBezTo>
                    <a:pt x="0" y="50034"/>
                    <a:pt x="50034" y="0"/>
                    <a:pt x="1117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5BFD1">
                    <a:alpha val="100000"/>
                  </a:srgbClr>
                </a:gs>
                <a:gs pos="100000">
                  <a:srgbClr val="8628A2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9BBD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633AD2F-6C4B-78A1-D9A8-DC620BD739EF}"/>
                </a:ext>
              </a:extLst>
            </p:cNvPr>
            <p:cNvSpPr txBox="1"/>
            <p:nvPr/>
          </p:nvSpPr>
          <p:spPr>
            <a:xfrm>
              <a:off x="0" y="19050"/>
              <a:ext cx="840065" cy="2044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9BBD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9153A60-03C1-FB8F-9C85-15844E7E09E2}"/>
              </a:ext>
            </a:extLst>
          </p:cNvPr>
          <p:cNvSpPr txBox="1"/>
          <p:nvPr/>
        </p:nvSpPr>
        <p:spPr>
          <a:xfrm>
            <a:off x="4778003" y="3429000"/>
            <a:ext cx="782152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koto"/>
                <a:ea typeface="Mokoto"/>
                <a:cs typeface="Mokoto"/>
                <a:sym typeface="Mokoto"/>
              </a:rPr>
              <a:t>APPENDIX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B57581F-6483-06DA-4841-5AC976A65089}"/>
              </a:ext>
            </a:extLst>
          </p:cNvPr>
          <p:cNvSpPr txBox="1"/>
          <p:nvPr/>
        </p:nvSpPr>
        <p:spPr>
          <a:xfrm>
            <a:off x="5934200" y="2782957"/>
            <a:ext cx="1564247" cy="30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6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ONTIVUSS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9949FFE-7660-81BA-3912-479DEF0B9943}"/>
              </a:ext>
            </a:extLst>
          </p:cNvPr>
          <p:cNvSpPr/>
          <p:nvPr/>
        </p:nvSpPr>
        <p:spPr>
          <a:xfrm rot="-3959256">
            <a:off x="10155480" y="178648"/>
            <a:ext cx="1101329" cy="1461942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0" y="0"/>
                </a:moveTo>
                <a:lnTo>
                  <a:pt x="1651995" y="0"/>
                </a:lnTo>
                <a:lnTo>
                  <a:pt x="1651995" y="2192913"/>
                </a:lnTo>
                <a:lnTo>
                  <a:pt x="0" y="21929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940E770-B690-B1C7-03E8-5161248A4288}"/>
              </a:ext>
            </a:extLst>
          </p:cNvPr>
          <p:cNvSpPr/>
          <p:nvPr/>
        </p:nvSpPr>
        <p:spPr>
          <a:xfrm rot="-9584614">
            <a:off x="9871272" y="1119260"/>
            <a:ext cx="369557" cy="490562"/>
          </a:xfrm>
          <a:custGeom>
            <a:avLst/>
            <a:gdLst/>
            <a:ahLst/>
            <a:cxnLst/>
            <a:rect l="l" t="t" r="r" b="b"/>
            <a:pathLst>
              <a:path w="554335" h="735843">
                <a:moveTo>
                  <a:pt x="0" y="0"/>
                </a:moveTo>
                <a:lnTo>
                  <a:pt x="554335" y="0"/>
                </a:lnTo>
                <a:lnTo>
                  <a:pt x="554335" y="735843"/>
                </a:lnTo>
                <a:lnTo>
                  <a:pt x="0" y="735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0F5C085-CA5F-1A80-79B6-8F9B72682DA5}"/>
              </a:ext>
            </a:extLst>
          </p:cNvPr>
          <p:cNvSpPr/>
          <p:nvPr/>
        </p:nvSpPr>
        <p:spPr>
          <a:xfrm rot="-8756295" flipH="1">
            <a:off x="914628" y="5978470"/>
            <a:ext cx="1101329" cy="1461942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1651994" y="0"/>
                </a:moveTo>
                <a:lnTo>
                  <a:pt x="0" y="0"/>
                </a:lnTo>
                <a:lnTo>
                  <a:pt x="0" y="2192913"/>
                </a:lnTo>
                <a:lnTo>
                  <a:pt x="1651994" y="2192913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A5E62F5-3928-DAC1-F13B-CC94E747531A}"/>
              </a:ext>
            </a:extLst>
          </p:cNvPr>
          <p:cNvSpPr/>
          <p:nvPr/>
        </p:nvSpPr>
        <p:spPr>
          <a:xfrm rot="-4901525" flipH="1">
            <a:off x="1390183" y="5269605"/>
            <a:ext cx="344980" cy="457938"/>
          </a:xfrm>
          <a:custGeom>
            <a:avLst/>
            <a:gdLst/>
            <a:ahLst/>
            <a:cxnLst/>
            <a:rect l="l" t="t" r="r" b="b"/>
            <a:pathLst>
              <a:path w="517470" h="686907">
                <a:moveTo>
                  <a:pt x="517469" y="0"/>
                </a:moveTo>
                <a:lnTo>
                  <a:pt x="0" y="0"/>
                </a:lnTo>
                <a:lnTo>
                  <a:pt x="0" y="686906"/>
                </a:lnTo>
                <a:lnTo>
                  <a:pt x="517469" y="686906"/>
                </a:lnTo>
                <a:lnTo>
                  <a:pt x="517469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7168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Compelling economics, delivered by a lean, complementary team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commercial hypothesis: major cost and cycle-time compression, priced against the value we replace — not like a low-cost point SaaS tool.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E6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 lower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cost vs. traditional SI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E6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26280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days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design, and Salesforce configuration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 of SI cost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pricing hypothesis, milestone-based payments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LEADERSHIP WITH COMPLEMENTARY ROLES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3959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Founder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389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· fundraising · enterprise relationships · go-to-market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37947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EFE9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526280" y="3959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/ AI Partner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389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architecture · platform architecture · agent development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37947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46720" y="379476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275320" y="39593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CFO / Advisor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4389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planning · controls · investor readiness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DF1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48640" y="53949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working targets — the two pilots must validate them before they are presented as proven results.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Presentation | Step 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6172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appendix for full detail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5402">
              <a:srgbClr val="000000"/>
            </a:gs>
            <a:gs pos="100000">
              <a:srgbClr val="7030A0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1DFC1174-1D7A-6AC3-884E-63B54D90CAC4}"/>
              </a:ext>
            </a:extLst>
          </p:cNvPr>
          <p:cNvSpPr/>
          <p:nvPr/>
        </p:nvSpPr>
        <p:spPr>
          <a:xfrm>
            <a:off x="7860528" y="471179"/>
            <a:ext cx="3668698" cy="3910878"/>
          </a:xfrm>
          <a:custGeom>
            <a:avLst/>
            <a:gdLst/>
            <a:ahLst/>
            <a:cxnLst/>
            <a:rect l="l" t="t" r="r" b="b"/>
            <a:pathLst>
              <a:path w="5503047" h="5866317">
                <a:moveTo>
                  <a:pt x="0" y="0"/>
                </a:moveTo>
                <a:lnTo>
                  <a:pt x="5503047" y="0"/>
                </a:lnTo>
                <a:lnTo>
                  <a:pt x="5503047" y="5866316"/>
                </a:lnTo>
                <a:lnTo>
                  <a:pt x="0" y="5866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3D3DA5-355D-8132-6EEA-B4073B28C7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8404" y="2747542"/>
            <a:ext cx="7238393" cy="163451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Thank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you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AA4B69-ED1B-0AE2-FEBD-7265687257F0}"/>
              </a:ext>
            </a:extLst>
          </p:cNvPr>
          <p:cNvGrpSpPr/>
          <p:nvPr/>
        </p:nvGrpSpPr>
        <p:grpSpPr>
          <a:xfrm rot="-10800000">
            <a:off x="4072873" y="4845154"/>
            <a:ext cx="2362603" cy="628595"/>
            <a:chOff x="0" y="0"/>
            <a:chExt cx="840065" cy="223508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0ABF90-6D70-9D4C-275E-FB31304F9CCF}"/>
                </a:ext>
              </a:extLst>
            </p:cNvPr>
            <p:cNvSpPr/>
            <p:nvPr/>
          </p:nvSpPr>
          <p:spPr>
            <a:xfrm>
              <a:off x="0" y="0"/>
              <a:ext cx="840065" cy="223508"/>
            </a:xfrm>
            <a:custGeom>
              <a:avLst/>
              <a:gdLst/>
              <a:ahLst/>
              <a:cxnLst/>
              <a:rect l="l" t="t" r="r" b="b"/>
              <a:pathLst>
                <a:path w="840065" h="223508">
                  <a:moveTo>
                    <a:pt x="111754" y="0"/>
                  </a:moveTo>
                  <a:lnTo>
                    <a:pt x="728311" y="0"/>
                  </a:lnTo>
                  <a:cubicBezTo>
                    <a:pt x="790031" y="0"/>
                    <a:pt x="840065" y="50034"/>
                    <a:pt x="840065" y="111754"/>
                  </a:cubicBezTo>
                  <a:lnTo>
                    <a:pt x="840065" y="111754"/>
                  </a:lnTo>
                  <a:cubicBezTo>
                    <a:pt x="840065" y="173474"/>
                    <a:pt x="790031" y="223508"/>
                    <a:pt x="728311" y="223508"/>
                  </a:cubicBezTo>
                  <a:lnTo>
                    <a:pt x="111754" y="223508"/>
                  </a:lnTo>
                  <a:cubicBezTo>
                    <a:pt x="50034" y="223508"/>
                    <a:pt x="0" y="173474"/>
                    <a:pt x="0" y="111754"/>
                  </a:cubicBezTo>
                  <a:lnTo>
                    <a:pt x="0" y="111754"/>
                  </a:lnTo>
                  <a:cubicBezTo>
                    <a:pt x="0" y="50034"/>
                    <a:pt x="50034" y="0"/>
                    <a:pt x="11175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5BFD1">
                    <a:alpha val="100000"/>
                  </a:srgbClr>
                </a:gs>
                <a:gs pos="100000">
                  <a:srgbClr val="8628A2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9BBD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2A33229-F5FB-3A60-4AD0-8C1B368BA546}"/>
                </a:ext>
              </a:extLst>
            </p:cNvPr>
            <p:cNvSpPr txBox="1"/>
            <p:nvPr/>
          </p:nvSpPr>
          <p:spPr>
            <a:xfrm>
              <a:off x="0" y="19050"/>
              <a:ext cx="840065" cy="2044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0" marR="0" lvl="0" indent="0" algn="ctr" defTabSz="609630" rtl="0" eaLnBrk="1" fontAlgn="auto" latinLnBrk="0" hangingPunct="1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9BBD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10">
            <a:extLst>
              <a:ext uri="{FF2B5EF4-FFF2-40B4-BE49-F238E27FC236}">
                <a16:creationId xmlns:a16="http://schemas.microsoft.com/office/drawing/2014/main" id="{4DF7BE9A-67B7-6AE7-8C8B-9AA4B95409BE}"/>
              </a:ext>
            </a:extLst>
          </p:cNvPr>
          <p:cNvSpPr txBox="1"/>
          <p:nvPr/>
        </p:nvSpPr>
        <p:spPr>
          <a:xfrm>
            <a:off x="4472051" y="5006840"/>
            <a:ext cx="1564247" cy="30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22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66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ONTIVUSS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6A0CAEB-AFFA-E9F5-41BE-0F854E6AB371}"/>
              </a:ext>
            </a:extLst>
          </p:cNvPr>
          <p:cNvSpPr/>
          <p:nvPr/>
        </p:nvSpPr>
        <p:spPr>
          <a:xfrm rot="13540978">
            <a:off x="10749541" y="4114183"/>
            <a:ext cx="1101329" cy="1461942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0" y="0"/>
                </a:moveTo>
                <a:lnTo>
                  <a:pt x="1651995" y="0"/>
                </a:lnTo>
                <a:lnTo>
                  <a:pt x="1651995" y="2192913"/>
                </a:lnTo>
                <a:lnTo>
                  <a:pt x="0" y="2192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A6B189BE-886C-AC98-47C0-AEAD0988C3FA}"/>
              </a:ext>
            </a:extLst>
          </p:cNvPr>
          <p:cNvSpPr/>
          <p:nvPr/>
        </p:nvSpPr>
        <p:spPr>
          <a:xfrm rot="13540978">
            <a:off x="11134705" y="5132470"/>
            <a:ext cx="347116" cy="737055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0" y="0"/>
                </a:moveTo>
                <a:lnTo>
                  <a:pt x="1651995" y="0"/>
                </a:lnTo>
                <a:lnTo>
                  <a:pt x="1651995" y="2192913"/>
                </a:lnTo>
                <a:lnTo>
                  <a:pt x="0" y="2192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013827E3-2A2E-A715-AE61-6290374F8577}"/>
              </a:ext>
            </a:extLst>
          </p:cNvPr>
          <p:cNvSpPr/>
          <p:nvPr/>
        </p:nvSpPr>
        <p:spPr>
          <a:xfrm rot="2674415">
            <a:off x="104556" y="4356618"/>
            <a:ext cx="2171073" cy="2403770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0" y="0"/>
                </a:moveTo>
                <a:lnTo>
                  <a:pt x="1651995" y="0"/>
                </a:lnTo>
                <a:lnTo>
                  <a:pt x="1651995" y="2192913"/>
                </a:lnTo>
                <a:lnTo>
                  <a:pt x="0" y="2192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49161BC8-6EF9-CD95-EBF3-616961EB5BF7}"/>
              </a:ext>
            </a:extLst>
          </p:cNvPr>
          <p:cNvSpPr/>
          <p:nvPr/>
        </p:nvSpPr>
        <p:spPr>
          <a:xfrm rot="18963660">
            <a:off x="1653473" y="5767096"/>
            <a:ext cx="347116" cy="737055"/>
          </a:xfrm>
          <a:custGeom>
            <a:avLst/>
            <a:gdLst/>
            <a:ahLst/>
            <a:cxnLst/>
            <a:rect l="l" t="t" r="r" b="b"/>
            <a:pathLst>
              <a:path w="1651994" h="2192913">
                <a:moveTo>
                  <a:pt x="0" y="0"/>
                </a:moveTo>
                <a:lnTo>
                  <a:pt x="1651995" y="0"/>
                </a:lnTo>
                <a:lnTo>
                  <a:pt x="1651995" y="2192913"/>
                </a:lnTo>
                <a:lnTo>
                  <a:pt x="0" y="2192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65467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J1v.RYC4wJJEPffZxsVB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J1v.RYC4wJJEPffZxsVB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8_Office Theme">
  <a:themeElements>
    <a:clrScheme name="Custom 15">
      <a:dk1>
        <a:srgbClr val="000000"/>
      </a:dk1>
      <a:lt1>
        <a:srgbClr val="FFFFFF"/>
      </a:lt1>
      <a:dk2>
        <a:srgbClr val="C5C7C5"/>
      </a:dk2>
      <a:lt2>
        <a:srgbClr val="6E797C"/>
      </a:lt2>
      <a:accent1>
        <a:srgbClr val="26235D"/>
      </a:accent1>
      <a:accent2>
        <a:srgbClr val="2E79BB"/>
      </a:accent2>
      <a:accent3>
        <a:srgbClr val="F99F42"/>
      </a:accent3>
      <a:accent4>
        <a:srgbClr val="DE1B54"/>
      </a:accent4>
      <a:accent5>
        <a:srgbClr val="6CC049"/>
      </a:accent5>
      <a:accent6>
        <a:srgbClr val="F7D752"/>
      </a:accent6>
      <a:hlink>
        <a:srgbClr val="2E79BB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>
            <a:alpha val="10196"/>
          </a:srgbClr>
        </a:solidFill>
        <a:ln>
          <a:noFill/>
        </a:ln>
      </a:spPr>
      <a:bodyPr rtlCol="0" anchor="ctr"/>
      <a:lstStyle>
        <a:defPPr algn="ctr">
          <a:defRPr dirty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6_Office Theme">
  <a:themeElements>
    <a:clrScheme name="Sutherland Colors">
      <a:dk1>
        <a:srgbClr val="000000"/>
      </a:dk1>
      <a:lt1>
        <a:srgbClr val="FFFFFF"/>
      </a:lt1>
      <a:dk2>
        <a:srgbClr val="C5C7C5"/>
      </a:dk2>
      <a:lt2>
        <a:srgbClr val="6E797C"/>
      </a:lt2>
      <a:accent1>
        <a:srgbClr val="26235D"/>
      </a:accent1>
      <a:accent2>
        <a:srgbClr val="2E79BB"/>
      </a:accent2>
      <a:accent3>
        <a:srgbClr val="F99F42"/>
      </a:accent3>
      <a:accent4>
        <a:srgbClr val="DE1B54"/>
      </a:accent4>
      <a:accent5>
        <a:srgbClr val="6CC049"/>
      </a:accent5>
      <a:accent6>
        <a:srgbClr val="FFFFFF"/>
      </a:accent6>
      <a:hlink>
        <a:srgbClr val="2E79BB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7_Office Theme">
  <a:themeElements>
    <a:clrScheme name="Sutherland Colors">
      <a:dk1>
        <a:srgbClr val="000000"/>
      </a:dk1>
      <a:lt1>
        <a:srgbClr val="FFFFFF"/>
      </a:lt1>
      <a:dk2>
        <a:srgbClr val="C5C7C5"/>
      </a:dk2>
      <a:lt2>
        <a:srgbClr val="6E797C"/>
      </a:lt2>
      <a:accent1>
        <a:srgbClr val="26235D"/>
      </a:accent1>
      <a:accent2>
        <a:srgbClr val="2E79BB"/>
      </a:accent2>
      <a:accent3>
        <a:srgbClr val="F99F42"/>
      </a:accent3>
      <a:accent4>
        <a:srgbClr val="DE1B54"/>
      </a:accent4>
      <a:accent5>
        <a:srgbClr val="6CC049"/>
      </a:accent5>
      <a:accent6>
        <a:srgbClr val="FFFFFF"/>
      </a:accent6>
      <a:hlink>
        <a:srgbClr val="2E79BB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Custom 5">
      <a:dk1>
        <a:srgbClr val="2C3546"/>
      </a:dk1>
      <a:lt1>
        <a:sysClr val="window" lastClr="FFFFFF"/>
      </a:lt1>
      <a:dk2>
        <a:srgbClr val="6E797C"/>
      </a:dk2>
      <a:lt2>
        <a:srgbClr val="C5C7C5"/>
      </a:lt2>
      <a:accent1>
        <a:srgbClr val="26235D"/>
      </a:accent1>
      <a:accent2>
        <a:srgbClr val="2E79BB"/>
      </a:accent2>
      <a:accent3>
        <a:srgbClr val="F99F42"/>
      </a:accent3>
      <a:accent4>
        <a:srgbClr val="DE1B54"/>
      </a:accent4>
      <a:accent5>
        <a:srgbClr val="6CC049"/>
      </a:accent5>
      <a:accent6>
        <a:srgbClr val="F7D752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895</Words>
  <Application>Microsoft Office PowerPoint</Application>
  <PresentationFormat>Widescreen</PresentationFormat>
  <Paragraphs>165</Paragraphs>
  <Slides>13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Aptos</vt:lpstr>
      <vt:lpstr>Arial</vt:lpstr>
      <vt:lpstr>Calibri</vt:lpstr>
      <vt:lpstr>Helvetica</vt:lpstr>
      <vt:lpstr>Helvetica Light</vt:lpstr>
      <vt:lpstr>Mokoto</vt:lpstr>
      <vt:lpstr>Poppins</vt:lpstr>
      <vt:lpstr>Poppins Bold</vt:lpstr>
      <vt:lpstr>Proxima Nova</vt:lpstr>
      <vt:lpstr>Wingdings</vt:lpstr>
      <vt:lpstr>1_Office Theme</vt:lpstr>
      <vt:lpstr>8_Office Theme</vt:lpstr>
      <vt:lpstr>26_Office Theme</vt:lpstr>
      <vt:lpstr>27_Office Theme</vt:lpstr>
      <vt:lpstr>3_Office Theme</vt:lpstr>
      <vt:lpstr>think-cell Slide</vt:lpstr>
      <vt:lpstr>PowerPoint Presentation</vt:lpstr>
      <vt:lpstr>Ontivuss Overview</vt:lpstr>
      <vt:lpstr>Mercure at a Glance</vt:lpstr>
      <vt:lpstr>MERCURE</vt:lpstr>
      <vt:lpstr>Road to Commercial Impact</vt:lpstr>
      <vt:lpstr>Our Three-Tiered Pilot Framework</vt:lpstr>
      <vt:lpstr>Our Roadmap</vt:lpstr>
      <vt:lpstr>Why Ontivuss as your Preferred Partner?</vt:lpstr>
      <vt:lpstr>Commercial Proof Point</vt:lpstr>
      <vt:lpstr>Fueling the Build: Where Capital Creates Value</vt:lpstr>
      <vt:lpstr>PowerPoint Presentation</vt:lpstr>
      <vt:lpstr>PowerPoint Presentation</vt:lpstr>
      <vt:lpstr>PowerPoint Presentation</vt:lpstr>
    </vt:vector>
  </TitlesOfParts>
  <Company>Sutherland Global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Sandhya Jobbin</dc:creator>
  <cp:lastModifiedBy>Sandhya Jobbin</cp:lastModifiedBy>
  <cp:revision>1</cp:revision>
  <dcterms:created xsi:type="dcterms:W3CDTF">2026-09-23T23:29:38Z</dcterms:created>
  <dcterms:modified xsi:type="dcterms:W3CDTF">2026-09-24T00:00:45Z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B244A951-ECBE-4D62-A613-94886630A65B</vt:lpwstr>
  </property>
  <property fmtid="{D5CDD505-2E9C-101B-9397-08002B2CF9AE}" pid="3" name="ArticulatePath">
    <vt:lpwstr>Presentation2</vt:lpwstr>
  </property>
</Properties>
</file>