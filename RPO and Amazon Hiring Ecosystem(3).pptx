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9" r:id="rId3"/>
    <p:sldId id="278" r:id="rId4"/>
    <p:sldId id="271" r:id="rId5"/>
    <p:sldId id="270" r:id="rId6"/>
    <p:sldId id="279" r:id="rId7"/>
    <p:sldId id="261" r:id="rId8"/>
    <p:sldId id="264" r:id="rId9"/>
    <p:sldId id="272" r:id="rId10"/>
    <p:sldId id="274" r:id="rId11"/>
    <p:sldId id="275" r:id="rId12"/>
    <p:sldId id="277" r:id="rId13"/>
    <p:sldId id="260" r:id="rId14"/>
    <p:sldId id="267" r:id="rId15"/>
  </p:sldIdLst>
  <p:sldSz cx="18288000" cy="10287000"/>
  <p:notesSz cx="6858000" cy="9144000"/>
  <p:embeddedFontLs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Poppins Bold" panose="00000800000000000000" charset="0"/>
      <p:regular r:id="rId20"/>
      <p:bold r:id="rId21"/>
    </p:embeddedFont>
    <p:embeddedFont>
      <p:font typeface="Stinger Fit" panose="020B0604020202020204" charset="0"/>
      <p:regular r:id="rId22"/>
    </p:embeddedFont>
    <p:embeddedFont>
      <p:font typeface="Stinger Fit Bold" panose="020B0604020202020204" charset="0"/>
      <p:regular r:id="rId23"/>
    </p:embeddedFont>
    <p:embeddedFont>
      <p:font typeface="Work Sans" pitchFamily="2" charset="0"/>
      <p:regular r:id="rId24"/>
      <p:bold r:id="rId25"/>
    </p:embeddedFont>
    <p:embeddedFont>
      <p:font typeface="Work Sans Bold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6C11A8E-7F97-A9B0-7978-64992AE3A534}" name="Anoop Krishnan" initials="AK" userId="S::krianoop1@sutherlandglobal.com::d8b92c01-3fb0-438b-a2d5-df9468c67a5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4702"/>
    <a:srgbClr val="FF9A43"/>
    <a:srgbClr val="FFFFFB"/>
    <a:srgbClr val="F999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622" autoAdjust="0"/>
  </p:normalViewPr>
  <p:slideViewPr>
    <p:cSldViewPr>
      <p:cViewPr varScale="1">
        <p:scale>
          <a:sx n="50" d="100"/>
          <a:sy n="50" d="100"/>
        </p:scale>
        <p:origin x="811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Relationship Id="rId9" Type="http://schemas.openxmlformats.org/officeDocument/2006/relationships/image" Target="../media/image2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28.svg"/><Relationship Id="rId7" Type="http://schemas.openxmlformats.org/officeDocument/2006/relationships/image" Target="../media/image30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9.png"/><Relationship Id="rId4" Type="http://schemas.openxmlformats.org/officeDocument/2006/relationships/image" Target="../media/image19.svg"/><Relationship Id="rId9" Type="http://schemas.openxmlformats.org/officeDocument/2006/relationships/image" Target="../media/image3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38215"/>
            <a:ext cx="18288000" cy="3761566"/>
            <a:chOff x="0" y="0"/>
            <a:chExt cx="4816593" cy="99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90700"/>
            </a:xfrm>
            <a:custGeom>
              <a:avLst/>
              <a:gdLst/>
              <a:ahLst/>
              <a:cxnLst/>
              <a:rect l="l" t="t" r="r" b="b"/>
              <a:pathLst>
                <a:path w="4816592" h="990700">
                  <a:moveTo>
                    <a:pt x="0" y="0"/>
                  </a:moveTo>
                  <a:lnTo>
                    <a:pt x="4816592" y="0"/>
                  </a:lnTo>
                  <a:lnTo>
                    <a:pt x="4816592" y="990700"/>
                  </a:lnTo>
                  <a:lnTo>
                    <a:pt x="0" y="990700"/>
                  </a:lnTo>
                  <a:close/>
                </a:path>
              </a:pathLst>
            </a:custGeom>
            <a:solidFill>
              <a:srgbClr val="E65E0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104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69701"/>
            <a:ext cx="18288000" cy="194834"/>
            <a:chOff x="0" y="0"/>
            <a:chExt cx="4816593" cy="513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1314"/>
            </a:xfrm>
            <a:custGeom>
              <a:avLst/>
              <a:gdLst/>
              <a:ahLst/>
              <a:cxnLst/>
              <a:rect l="l" t="t" r="r" b="b"/>
              <a:pathLst>
                <a:path w="4816592" h="51314">
                  <a:moveTo>
                    <a:pt x="0" y="0"/>
                  </a:moveTo>
                  <a:lnTo>
                    <a:pt x="4816592" y="0"/>
                  </a:lnTo>
                  <a:lnTo>
                    <a:pt x="4816592" y="51314"/>
                  </a:lnTo>
                  <a:lnTo>
                    <a:pt x="0" y="51314"/>
                  </a:lnTo>
                  <a:close/>
                </a:path>
              </a:pathLst>
            </a:custGeom>
            <a:solidFill>
              <a:srgbClr val="E65E0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816593" cy="108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189785" y="5561598"/>
            <a:ext cx="4952166" cy="4114800"/>
          </a:xfrm>
          <a:custGeom>
            <a:avLst/>
            <a:gdLst/>
            <a:ahLst/>
            <a:cxnLst/>
            <a:rect l="l" t="t" r="r" b="b"/>
            <a:pathLst>
              <a:path w="4952166" h="4114800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flipH="1">
            <a:off x="1585725" y="5561598"/>
            <a:ext cx="5588000" cy="4114800"/>
          </a:xfrm>
          <a:custGeom>
            <a:avLst/>
            <a:gdLst/>
            <a:ahLst/>
            <a:cxnLst/>
            <a:rect l="l" t="t" r="r" b="b"/>
            <a:pathLst>
              <a:path w="5588000" h="4114800">
                <a:moveTo>
                  <a:pt x="5588000" y="0"/>
                </a:moveTo>
                <a:lnTo>
                  <a:pt x="0" y="0"/>
                </a:lnTo>
                <a:lnTo>
                  <a:pt x="0" y="4114800"/>
                </a:lnTo>
                <a:lnTo>
                  <a:pt x="5588000" y="4114800"/>
                </a:lnTo>
                <a:lnTo>
                  <a:pt x="55880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6011585" y="6689095"/>
            <a:ext cx="6264830" cy="3098243"/>
          </a:xfrm>
          <a:custGeom>
            <a:avLst/>
            <a:gdLst/>
            <a:ahLst/>
            <a:cxnLst/>
            <a:rect l="l" t="t" r="r" b="b"/>
            <a:pathLst>
              <a:path w="6264830" h="3098243">
                <a:moveTo>
                  <a:pt x="0" y="0"/>
                </a:moveTo>
                <a:lnTo>
                  <a:pt x="6264830" y="0"/>
                </a:lnTo>
                <a:lnTo>
                  <a:pt x="6264830" y="3098243"/>
                </a:lnTo>
                <a:lnTo>
                  <a:pt x="0" y="30982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585725" y="1156700"/>
            <a:ext cx="15561902" cy="348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 dirty="0">
                <a:solidFill>
                  <a:srgbClr val="1A2526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RPO AND AMAZON HIRING ECOSYSTEM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0F855-F6CD-60C1-E402-F43128C52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4EA0A94-C117-5054-2CA8-137C964E671F}"/>
              </a:ext>
            </a:extLst>
          </p:cNvPr>
          <p:cNvSpPr/>
          <p:nvPr/>
        </p:nvSpPr>
        <p:spPr>
          <a:xfrm rot="-6767116">
            <a:off x="14936737" y="-133292"/>
            <a:ext cx="3854383" cy="3016055"/>
          </a:xfrm>
          <a:custGeom>
            <a:avLst/>
            <a:gdLst/>
            <a:ahLst/>
            <a:cxnLst/>
            <a:rect l="l" t="t" r="r" b="b"/>
            <a:pathLst>
              <a:path w="3854383" h="3016055">
                <a:moveTo>
                  <a:pt x="0" y="0"/>
                </a:moveTo>
                <a:lnTo>
                  <a:pt x="3854383" y="0"/>
                </a:lnTo>
                <a:lnTo>
                  <a:pt x="3854383" y="3016055"/>
                </a:lnTo>
                <a:lnTo>
                  <a:pt x="0" y="3016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54A665E-46FE-9F1E-A67C-5E9C4397F697}"/>
              </a:ext>
            </a:extLst>
          </p:cNvPr>
          <p:cNvSpPr/>
          <p:nvPr/>
        </p:nvSpPr>
        <p:spPr>
          <a:xfrm>
            <a:off x="-1741756" y="2723926"/>
            <a:ext cx="1952772" cy="3004264"/>
          </a:xfrm>
          <a:custGeom>
            <a:avLst/>
            <a:gdLst/>
            <a:ahLst/>
            <a:cxnLst/>
            <a:rect l="l" t="t" r="r" b="b"/>
            <a:pathLst>
              <a:path w="1952772" h="3004264">
                <a:moveTo>
                  <a:pt x="0" y="0"/>
                </a:moveTo>
                <a:lnTo>
                  <a:pt x="1952771" y="0"/>
                </a:lnTo>
                <a:lnTo>
                  <a:pt x="1952771" y="3004264"/>
                </a:lnTo>
                <a:lnTo>
                  <a:pt x="0" y="3004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84BD13F-BE00-0AAE-7FD0-3977A22785F2}"/>
              </a:ext>
            </a:extLst>
          </p:cNvPr>
          <p:cNvSpPr/>
          <p:nvPr/>
        </p:nvSpPr>
        <p:spPr>
          <a:xfrm rot="10485944">
            <a:off x="13229871" y="7642222"/>
            <a:ext cx="5583125" cy="4368795"/>
          </a:xfrm>
          <a:custGeom>
            <a:avLst/>
            <a:gdLst/>
            <a:ahLst/>
            <a:cxnLst/>
            <a:rect l="l" t="t" r="r" b="b"/>
            <a:pathLst>
              <a:path w="5583125" h="4368795">
                <a:moveTo>
                  <a:pt x="0" y="0"/>
                </a:moveTo>
                <a:lnTo>
                  <a:pt x="5583125" y="0"/>
                </a:lnTo>
                <a:lnTo>
                  <a:pt x="5583125" y="4368795"/>
                </a:lnTo>
                <a:lnTo>
                  <a:pt x="0" y="43687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BCADE14-B6B2-88B2-3624-66B995C6C7BA}"/>
              </a:ext>
            </a:extLst>
          </p:cNvPr>
          <p:cNvSpPr/>
          <p:nvPr/>
        </p:nvSpPr>
        <p:spPr>
          <a:xfrm>
            <a:off x="7293478" y="9318295"/>
            <a:ext cx="1464695" cy="366174"/>
          </a:xfrm>
          <a:custGeom>
            <a:avLst/>
            <a:gdLst/>
            <a:ahLst/>
            <a:cxnLst/>
            <a:rect l="l" t="t" r="r" b="b"/>
            <a:pathLst>
              <a:path w="1464695" h="366174">
                <a:moveTo>
                  <a:pt x="0" y="0"/>
                </a:moveTo>
                <a:lnTo>
                  <a:pt x="1464695" y="0"/>
                </a:lnTo>
                <a:lnTo>
                  <a:pt x="1464695" y="366173"/>
                </a:lnTo>
                <a:lnTo>
                  <a:pt x="0" y="3661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3F267D5-1628-3C6E-6872-33DFA1F33FD6}"/>
              </a:ext>
            </a:extLst>
          </p:cNvPr>
          <p:cNvSpPr/>
          <p:nvPr/>
        </p:nvSpPr>
        <p:spPr>
          <a:xfrm>
            <a:off x="9828111" y="687352"/>
            <a:ext cx="1365394" cy="341348"/>
          </a:xfrm>
          <a:custGeom>
            <a:avLst/>
            <a:gdLst/>
            <a:ahLst/>
            <a:cxnLst/>
            <a:rect l="l" t="t" r="r" b="b"/>
            <a:pathLst>
              <a:path w="1365394" h="341348">
                <a:moveTo>
                  <a:pt x="0" y="0"/>
                </a:moveTo>
                <a:lnTo>
                  <a:pt x="1365394" y="0"/>
                </a:lnTo>
                <a:lnTo>
                  <a:pt x="1365394" y="341348"/>
                </a:lnTo>
                <a:lnTo>
                  <a:pt x="0" y="3413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6B26F32-FC8A-8B15-75A2-9DFABC081903}"/>
              </a:ext>
            </a:extLst>
          </p:cNvPr>
          <p:cNvSpPr/>
          <p:nvPr/>
        </p:nvSpPr>
        <p:spPr>
          <a:xfrm>
            <a:off x="10647879" y="1598679"/>
            <a:ext cx="7571463" cy="7089642"/>
          </a:xfrm>
          <a:custGeom>
            <a:avLst/>
            <a:gdLst/>
            <a:ahLst/>
            <a:cxnLst/>
            <a:rect l="l" t="t" r="r" b="b"/>
            <a:pathLst>
              <a:path w="7571463" h="7089642">
                <a:moveTo>
                  <a:pt x="0" y="0"/>
                </a:moveTo>
                <a:lnTo>
                  <a:pt x="7571463" y="0"/>
                </a:lnTo>
                <a:lnTo>
                  <a:pt x="7571463" y="7089642"/>
                </a:lnTo>
                <a:lnTo>
                  <a:pt x="0" y="70896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EFB3FC1-A014-0B6E-14A1-D7BE998E9EAF}"/>
              </a:ext>
            </a:extLst>
          </p:cNvPr>
          <p:cNvSpPr txBox="1"/>
          <p:nvPr/>
        </p:nvSpPr>
        <p:spPr>
          <a:xfrm>
            <a:off x="357822" y="2095500"/>
            <a:ext cx="10143251" cy="5791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 b="1" dirty="0">
                <a:solidFill>
                  <a:srgbClr val="1A2526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What is Recruitment Process Outsourcing?</a:t>
            </a:r>
          </a:p>
        </p:txBody>
      </p:sp>
    </p:spTree>
    <p:extLst>
      <p:ext uri="{BB962C8B-B14F-4D97-AF65-F5344CB8AC3E}">
        <p14:creationId xmlns:p14="http://schemas.microsoft.com/office/powerpoint/2010/main" val="229724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100"/>
            <a:ext cx="20574000" cy="10287000"/>
            <a:chOff x="0" y="0"/>
            <a:chExt cx="27432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71600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42284" y="289533"/>
            <a:ext cx="17830102" cy="9691390"/>
            <a:chOff x="0" y="0"/>
            <a:chExt cx="4695994" cy="25524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95994" cy="2552465"/>
            </a:xfrm>
            <a:custGeom>
              <a:avLst/>
              <a:gdLst/>
              <a:ahLst/>
              <a:cxnLst/>
              <a:rect l="l" t="t" r="r" b="b"/>
              <a:pathLst>
                <a:path w="4695994" h="2552465">
                  <a:moveTo>
                    <a:pt x="22144" y="0"/>
                  </a:moveTo>
                  <a:lnTo>
                    <a:pt x="4673850" y="0"/>
                  </a:lnTo>
                  <a:cubicBezTo>
                    <a:pt x="4686079" y="0"/>
                    <a:pt x="4695994" y="9914"/>
                    <a:pt x="4695994" y="22144"/>
                  </a:cubicBezTo>
                  <a:lnTo>
                    <a:pt x="4695994" y="2530321"/>
                  </a:lnTo>
                  <a:cubicBezTo>
                    <a:pt x="4695994" y="2536194"/>
                    <a:pt x="4693661" y="2541826"/>
                    <a:pt x="4689508" y="2545979"/>
                  </a:cubicBezTo>
                  <a:cubicBezTo>
                    <a:pt x="4685355" y="2550132"/>
                    <a:pt x="4679722" y="2552465"/>
                    <a:pt x="4673850" y="2552465"/>
                  </a:cubicBezTo>
                  <a:lnTo>
                    <a:pt x="22144" y="2552465"/>
                  </a:lnTo>
                  <a:cubicBezTo>
                    <a:pt x="9914" y="2552465"/>
                    <a:pt x="0" y="2542551"/>
                    <a:pt x="0" y="2530321"/>
                  </a:cubicBezTo>
                  <a:lnTo>
                    <a:pt x="0" y="22144"/>
                  </a:lnTo>
                  <a:cubicBezTo>
                    <a:pt x="0" y="16271"/>
                    <a:pt x="2333" y="10639"/>
                    <a:pt x="6486" y="6486"/>
                  </a:cubicBezTo>
                  <a:cubicBezTo>
                    <a:pt x="10639" y="2333"/>
                    <a:pt x="16271" y="0"/>
                    <a:pt x="22144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4695994" cy="2571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358969" y="5159598"/>
            <a:ext cx="5748706" cy="3041913"/>
            <a:chOff x="0" y="0"/>
            <a:chExt cx="7664941" cy="36909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64941" cy="3690983"/>
            </a:xfrm>
            <a:custGeom>
              <a:avLst/>
              <a:gdLst/>
              <a:ahLst/>
              <a:cxnLst/>
              <a:rect l="l" t="t" r="r" b="b"/>
              <a:pathLst>
                <a:path w="7664941" h="3690983">
                  <a:moveTo>
                    <a:pt x="0" y="0"/>
                  </a:moveTo>
                  <a:lnTo>
                    <a:pt x="7664941" y="0"/>
                  </a:lnTo>
                  <a:lnTo>
                    <a:pt x="7664941" y="3690983"/>
                  </a:lnTo>
                  <a:lnTo>
                    <a:pt x="0" y="36909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30" r="-3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6504" y="1156419"/>
              <a:ext cx="7188222" cy="201662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2700" dirty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The RPO team does resume screening, pre-qualification, and compliance checks to filter suitable candidates efficiently.</a:t>
              </a:r>
              <a:endParaRPr lang="en-US" sz="2700" dirty="0">
                <a:ea typeface="Calibri"/>
                <a:cs typeface="Calibri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58856" y="431781"/>
              <a:ext cx="1544307" cy="7402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75"/>
                </a:lnSpc>
              </a:pPr>
              <a:r>
                <a:rPr lang="en-US" sz="3268" b="1">
                  <a:solidFill>
                    <a:srgbClr val="000000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RPO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8873" y="4660388"/>
            <a:ext cx="4443210" cy="3643432"/>
            <a:chOff x="0" y="0"/>
            <a:chExt cx="5924280" cy="485791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24280" cy="4857910"/>
            </a:xfrm>
            <a:custGeom>
              <a:avLst/>
              <a:gdLst/>
              <a:ahLst/>
              <a:cxnLst/>
              <a:rect l="l" t="t" r="r" b="b"/>
              <a:pathLst>
                <a:path w="5924280" h="4857910">
                  <a:moveTo>
                    <a:pt x="0" y="0"/>
                  </a:moveTo>
                  <a:lnTo>
                    <a:pt x="5924280" y="0"/>
                  </a:lnTo>
                  <a:lnTo>
                    <a:pt x="5924280" y="4857910"/>
                  </a:lnTo>
                  <a:lnTo>
                    <a:pt x="0" y="4857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08411" y="34925"/>
              <a:ext cx="2058337" cy="609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812"/>
                </a:lnSpc>
                <a:spcBef>
                  <a:spcPct val="0"/>
                </a:spcBef>
              </a:pPr>
              <a:r>
                <a:rPr lang="en-US" sz="2723" b="1" u="none" strike="noStrike">
                  <a:solidFill>
                    <a:srgbClr val="000000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Scenario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2781" y="1244744"/>
              <a:ext cx="5557255" cy="27699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2700" dirty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Amazon faces a hiring surge with thousands of applications overwhelming its HR team</a:t>
              </a:r>
              <a:r>
                <a:rPr lang="en-US" sz="2700" u="none" strike="noStrike" dirty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.</a:t>
              </a:r>
              <a:endParaRPr lang="en-US" dirty="0">
                <a:ea typeface="Calibri"/>
                <a:cs typeface="Calibri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079022" y="3973991"/>
            <a:ext cx="4394872" cy="5755121"/>
            <a:chOff x="0" y="0"/>
            <a:chExt cx="5859829" cy="767349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857629" cy="7673495"/>
            </a:xfrm>
            <a:custGeom>
              <a:avLst/>
              <a:gdLst/>
              <a:ahLst/>
              <a:cxnLst/>
              <a:rect l="l" t="t" r="r" b="b"/>
              <a:pathLst>
                <a:path w="5857629" h="7673495">
                  <a:moveTo>
                    <a:pt x="0" y="0"/>
                  </a:moveTo>
                  <a:lnTo>
                    <a:pt x="5857629" y="0"/>
                  </a:lnTo>
                  <a:lnTo>
                    <a:pt x="5857629" y="7673495"/>
                  </a:lnTo>
                  <a:lnTo>
                    <a:pt x="0" y="7673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1596" y="1796060"/>
              <a:ext cx="5518233" cy="40066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811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Amazon hires faster, gets better-quality candidates</a:t>
              </a:r>
              <a:r>
                <a:rPr lang="en-US" sz="2700" u="none" strike="noStrike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, and </a:t>
              </a:r>
              <a:r>
                <a:rPr lang="en-US" sz="270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scales recruitment smoothly without overloading internal HR</a:t>
              </a:r>
              <a:r>
                <a:rPr lang="en-US" sz="2700" u="none" strike="noStrike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.</a:t>
              </a:r>
              <a:endParaRPr lang="en-US" sz="270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10754" y="306307"/>
              <a:ext cx="2058337" cy="609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812"/>
                </a:lnSpc>
                <a:spcBef>
                  <a:spcPct val="0"/>
                </a:spcBef>
              </a:pPr>
              <a:r>
                <a:rPr lang="en-US" sz="2723" b="1">
                  <a:solidFill>
                    <a:srgbClr val="000000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Result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5640467" y="6112657"/>
            <a:ext cx="514147" cy="738894"/>
          </a:xfrm>
          <a:custGeom>
            <a:avLst/>
            <a:gdLst/>
            <a:ahLst/>
            <a:cxnLst/>
            <a:rect l="l" t="t" r="r" b="b"/>
            <a:pathLst>
              <a:path w="514147" h="738894">
                <a:moveTo>
                  <a:pt x="0" y="0"/>
                </a:moveTo>
                <a:lnTo>
                  <a:pt x="514147" y="0"/>
                </a:lnTo>
                <a:lnTo>
                  <a:pt x="514147" y="738894"/>
                </a:lnTo>
                <a:lnTo>
                  <a:pt x="0" y="7388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809033" y="2103916"/>
            <a:ext cx="16956637" cy="175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RPO is a strategic partnership where Amazon brings in a specialized firm to manage all or part of its hiring process. </a:t>
            </a: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RPO follows the </a:t>
            </a:r>
            <a:r>
              <a:rPr lang="en-US" sz="2499" b="1" u="none" strike="noStrik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"One Team" </a:t>
            </a:r>
            <a:r>
              <a:rPr lang="en-US" sz="2499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approach, where the recruiters belong to an RPO partner, they work inside Amazon’s systems, follow Amazon’s culture, and represent the Amazon brand.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258034" y="995198"/>
            <a:ext cx="11172466" cy="764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r>
              <a:rPr lang="en-US" sz="4399" b="1" u="none" strike="noStrike" dirty="0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Recruitment Process Outsourcing</a:t>
            </a:r>
          </a:p>
        </p:txBody>
      </p:sp>
      <p:sp>
        <p:nvSpPr>
          <p:cNvPr id="24" name="Freeform 24"/>
          <p:cNvSpPr/>
          <p:nvPr/>
        </p:nvSpPr>
        <p:spPr>
          <a:xfrm>
            <a:off x="12364850" y="6112657"/>
            <a:ext cx="514147" cy="738894"/>
          </a:xfrm>
          <a:custGeom>
            <a:avLst/>
            <a:gdLst/>
            <a:ahLst/>
            <a:cxnLst/>
            <a:rect l="l" t="t" r="r" b="b"/>
            <a:pathLst>
              <a:path w="514147" h="738894">
                <a:moveTo>
                  <a:pt x="0" y="0"/>
                </a:moveTo>
                <a:lnTo>
                  <a:pt x="514147" y="0"/>
                </a:lnTo>
                <a:lnTo>
                  <a:pt x="514147" y="738894"/>
                </a:lnTo>
                <a:lnTo>
                  <a:pt x="0" y="7388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83178-E3B1-D074-B293-DDE65C115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B058CE2-A4C5-BEE2-CFD2-83735D05A00B}"/>
              </a:ext>
            </a:extLst>
          </p:cNvPr>
          <p:cNvSpPr/>
          <p:nvPr/>
        </p:nvSpPr>
        <p:spPr>
          <a:xfrm rot="-6767116">
            <a:off x="14936737" y="-133292"/>
            <a:ext cx="3854383" cy="3016055"/>
          </a:xfrm>
          <a:custGeom>
            <a:avLst/>
            <a:gdLst/>
            <a:ahLst/>
            <a:cxnLst/>
            <a:rect l="l" t="t" r="r" b="b"/>
            <a:pathLst>
              <a:path w="3854383" h="3016055">
                <a:moveTo>
                  <a:pt x="0" y="0"/>
                </a:moveTo>
                <a:lnTo>
                  <a:pt x="3854383" y="0"/>
                </a:lnTo>
                <a:lnTo>
                  <a:pt x="3854383" y="3016055"/>
                </a:lnTo>
                <a:lnTo>
                  <a:pt x="0" y="3016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693B3B2-90A8-45A8-6D21-EB0138B5C9AD}"/>
              </a:ext>
            </a:extLst>
          </p:cNvPr>
          <p:cNvSpPr/>
          <p:nvPr/>
        </p:nvSpPr>
        <p:spPr>
          <a:xfrm>
            <a:off x="-1741756" y="2723926"/>
            <a:ext cx="1952772" cy="3004264"/>
          </a:xfrm>
          <a:custGeom>
            <a:avLst/>
            <a:gdLst/>
            <a:ahLst/>
            <a:cxnLst/>
            <a:rect l="l" t="t" r="r" b="b"/>
            <a:pathLst>
              <a:path w="1952772" h="3004264">
                <a:moveTo>
                  <a:pt x="0" y="0"/>
                </a:moveTo>
                <a:lnTo>
                  <a:pt x="1952771" y="0"/>
                </a:lnTo>
                <a:lnTo>
                  <a:pt x="1952771" y="3004264"/>
                </a:lnTo>
                <a:lnTo>
                  <a:pt x="0" y="3004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3F6823F-8682-0306-6F5B-AC46485AC8EE}"/>
              </a:ext>
            </a:extLst>
          </p:cNvPr>
          <p:cNvSpPr/>
          <p:nvPr/>
        </p:nvSpPr>
        <p:spPr>
          <a:xfrm rot="10485944">
            <a:off x="13229871" y="7642222"/>
            <a:ext cx="5583125" cy="4368795"/>
          </a:xfrm>
          <a:custGeom>
            <a:avLst/>
            <a:gdLst/>
            <a:ahLst/>
            <a:cxnLst/>
            <a:rect l="l" t="t" r="r" b="b"/>
            <a:pathLst>
              <a:path w="5583125" h="4368795">
                <a:moveTo>
                  <a:pt x="0" y="0"/>
                </a:moveTo>
                <a:lnTo>
                  <a:pt x="5583125" y="0"/>
                </a:lnTo>
                <a:lnTo>
                  <a:pt x="5583125" y="4368795"/>
                </a:lnTo>
                <a:lnTo>
                  <a:pt x="0" y="43687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0425A41-EDF0-562D-9F47-9BAC08499137}"/>
              </a:ext>
            </a:extLst>
          </p:cNvPr>
          <p:cNvSpPr/>
          <p:nvPr/>
        </p:nvSpPr>
        <p:spPr>
          <a:xfrm>
            <a:off x="7293478" y="9318295"/>
            <a:ext cx="1464695" cy="366174"/>
          </a:xfrm>
          <a:custGeom>
            <a:avLst/>
            <a:gdLst/>
            <a:ahLst/>
            <a:cxnLst/>
            <a:rect l="l" t="t" r="r" b="b"/>
            <a:pathLst>
              <a:path w="1464695" h="366174">
                <a:moveTo>
                  <a:pt x="0" y="0"/>
                </a:moveTo>
                <a:lnTo>
                  <a:pt x="1464695" y="0"/>
                </a:lnTo>
                <a:lnTo>
                  <a:pt x="1464695" y="366173"/>
                </a:lnTo>
                <a:lnTo>
                  <a:pt x="0" y="3661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65C2EE7-9845-85F7-5024-346E79D2E60F}"/>
              </a:ext>
            </a:extLst>
          </p:cNvPr>
          <p:cNvSpPr/>
          <p:nvPr/>
        </p:nvSpPr>
        <p:spPr>
          <a:xfrm>
            <a:off x="9828111" y="687352"/>
            <a:ext cx="1365394" cy="341348"/>
          </a:xfrm>
          <a:custGeom>
            <a:avLst/>
            <a:gdLst/>
            <a:ahLst/>
            <a:cxnLst/>
            <a:rect l="l" t="t" r="r" b="b"/>
            <a:pathLst>
              <a:path w="1365394" h="341348">
                <a:moveTo>
                  <a:pt x="0" y="0"/>
                </a:moveTo>
                <a:lnTo>
                  <a:pt x="1365394" y="0"/>
                </a:lnTo>
                <a:lnTo>
                  <a:pt x="1365394" y="341348"/>
                </a:lnTo>
                <a:lnTo>
                  <a:pt x="0" y="3413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40221F8-0E39-7DB1-37C9-BC56F7728504}"/>
              </a:ext>
            </a:extLst>
          </p:cNvPr>
          <p:cNvSpPr/>
          <p:nvPr/>
        </p:nvSpPr>
        <p:spPr>
          <a:xfrm>
            <a:off x="10647879" y="1598679"/>
            <a:ext cx="7571463" cy="7089642"/>
          </a:xfrm>
          <a:custGeom>
            <a:avLst/>
            <a:gdLst/>
            <a:ahLst/>
            <a:cxnLst/>
            <a:rect l="l" t="t" r="r" b="b"/>
            <a:pathLst>
              <a:path w="7571463" h="7089642">
                <a:moveTo>
                  <a:pt x="0" y="0"/>
                </a:moveTo>
                <a:lnTo>
                  <a:pt x="7571463" y="0"/>
                </a:lnTo>
                <a:lnTo>
                  <a:pt x="7571463" y="7089642"/>
                </a:lnTo>
                <a:lnTo>
                  <a:pt x="0" y="70896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088A1ED-9B00-C7B7-E3E0-B2A837996AE2}"/>
              </a:ext>
            </a:extLst>
          </p:cNvPr>
          <p:cNvSpPr txBox="1"/>
          <p:nvPr/>
        </p:nvSpPr>
        <p:spPr>
          <a:xfrm>
            <a:off x="506487" y="3735422"/>
            <a:ext cx="10143251" cy="2816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 b="1" dirty="0">
                <a:solidFill>
                  <a:srgbClr val="1A2526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Why Amazon uses RPO?</a:t>
            </a:r>
          </a:p>
        </p:txBody>
      </p:sp>
    </p:spTree>
    <p:extLst>
      <p:ext uri="{BB962C8B-B14F-4D97-AF65-F5344CB8AC3E}">
        <p14:creationId xmlns:p14="http://schemas.microsoft.com/office/powerpoint/2010/main" val="3643281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4311CD-13A2-F287-3BAF-AB8F1D2B2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095B19-285D-4BCB-3871-FA4E759ED2AC}"/>
              </a:ext>
            </a:extLst>
          </p:cNvPr>
          <p:cNvGrpSpPr/>
          <p:nvPr/>
        </p:nvGrpSpPr>
        <p:grpSpPr>
          <a:xfrm>
            <a:off x="0" y="38100"/>
            <a:ext cx="20574000" cy="10287000"/>
            <a:chOff x="0" y="0"/>
            <a:chExt cx="27432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59DE190-1A3A-728E-19BF-58E708531C9D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DC26968-2DE0-099F-600B-F7DED87B352C}"/>
                </a:ext>
              </a:extLst>
            </p:cNvPr>
            <p:cNvSpPr/>
            <p:nvPr/>
          </p:nvSpPr>
          <p:spPr>
            <a:xfrm>
              <a:off x="1371600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E83047C-E080-6037-7CF0-9E64CE59DBD3}"/>
              </a:ext>
            </a:extLst>
          </p:cNvPr>
          <p:cNvGrpSpPr/>
          <p:nvPr/>
        </p:nvGrpSpPr>
        <p:grpSpPr>
          <a:xfrm>
            <a:off x="242284" y="289533"/>
            <a:ext cx="17830102" cy="9691390"/>
            <a:chOff x="0" y="0"/>
            <a:chExt cx="4695994" cy="255246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0896AE1-E8BD-73A2-67BE-C78734856F31}"/>
                </a:ext>
              </a:extLst>
            </p:cNvPr>
            <p:cNvSpPr/>
            <p:nvPr/>
          </p:nvSpPr>
          <p:spPr>
            <a:xfrm>
              <a:off x="0" y="0"/>
              <a:ext cx="4695994" cy="2552465"/>
            </a:xfrm>
            <a:custGeom>
              <a:avLst/>
              <a:gdLst/>
              <a:ahLst/>
              <a:cxnLst/>
              <a:rect l="l" t="t" r="r" b="b"/>
              <a:pathLst>
                <a:path w="4695994" h="2552465">
                  <a:moveTo>
                    <a:pt x="22144" y="0"/>
                  </a:moveTo>
                  <a:lnTo>
                    <a:pt x="4673850" y="0"/>
                  </a:lnTo>
                  <a:cubicBezTo>
                    <a:pt x="4686079" y="0"/>
                    <a:pt x="4695994" y="9914"/>
                    <a:pt x="4695994" y="22144"/>
                  </a:cubicBezTo>
                  <a:lnTo>
                    <a:pt x="4695994" y="2530321"/>
                  </a:lnTo>
                  <a:cubicBezTo>
                    <a:pt x="4695994" y="2536194"/>
                    <a:pt x="4693661" y="2541826"/>
                    <a:pt x="4689508" y="2545979"/>
                  </a:cubicBezTo>
                  <a:cubicBezTo>
                    <a:pt x="4685355" y="2550132"/>
                    <a:pt x="4679722" y="2552465"/>
                    <a:pt x="4673850" y="2552465"/>
                  </a:cubicBezTo>
                  <a:lnTo>
                    <a:pt x="22144" y="2552465"/>
                  </a:lnTo>
                  <a:cubicBezTo>
                    <a:pt x="9914" y="2552465"/>
                    <a:pt x="0" y="2542551"/>
                    <a:pt x="0" y="2530321"/>
                  </a:cubicBezTo>
                  <a:lnTo>
                    <a:pt x="0" y="22144"/>
                  </a:lnTo>
                  <a:cubicBezTo>
                    <a:pt x="0" y="16271"/>
                    <a:pt x="2333" y="10639"/>
                    <a:pt x="6486" y="6486"/>
                  </a:cubicBezTo>
                  <a:cubicBezTo>
                    <a:pt x="10639" y="2333"/>
                    <a:pt x="16271" y="0"/>
                    <a:pt x="22144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92AD2D2-8C0F-F38E-5157-9313DBCDB9DB}"/>
                </a:ext>
              </a:extLst>
            </p:cNvPr>
            <p:cNvSpPr txBox="1"/>
            <p:nvPr/>
          </p:nvSpPr>
          <p:spPr>
            <a:xfrm>
              <a:off x="0" y="-19050"/>
              <a:ext cx="4695994" cy="2571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20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A6A0CB73-23DF-4DE3-A8E0-032CE68CC2E3}"/>
              </a:ext>
            </a:extLst>
          </p:cNvPr>
          <p:cNvSpPr/>
          <p:nvPr/>
        </p:nvSpPr>
        <p:spPr>
          <a:xfrm>
            <a:off x="14905440" y="8254826"/>
            <a:ext cx="3140276" cy="1898186"/>
          </a:xfrm>
          <a:custGeom>
            <a:avLst/>
            <a:gdLst/>
            <a:ahLst/>
            <a:cxnLst/>
            <a:rect l="l" t="t" r="r" b="b"/>
            <a:pathLst>
              <a:path w="3381589" h="2150634">
                <a:moveTo>
                  <a:pt x="3381589" y="0"/>
                </a:moveTo>
                <a:lnTo>
                  <a:pt x="0" y="0"/>
                </a:lnTo>
                <a:lnTo>
                  <a:pt x="0" y="2150634"/>
                </a:lnTo>
                <a:lnTo>
                  <a:pt x="3381589" y="2150634"/>
                </a:lnTo>
                <a:lnTo>
                  <a:pt x="33815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6DFE9D7-9318-88A7-C8DC-DB41245DA5E0}"/>
              </a:ext>
            </a:extLst>
          </p:cNvPr>
          <p:cNvGrpSpPr/>
          <p:nvPr/>
        </p:nvGrpSpPr>
        <p:grpSpPr>
          <a:xfrm>
            <a:off x="600758" y="2302263"/>
            <a:ext cx="4120595" cy="5457778"/>
            <a:chOff x="576888" y="1849431"/>
            <a:chExt cx="4120595" cy="5457778"/>
          </a:xfrm>
        </p:grpSpPr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B13E9117-982A-7034-FF02-DBD166600194}"/>
                </a:ext>
              </a:extLst>
            </p:cNvPr>
            <p:cNvSpPr/>
            <p:nvPr/>
          </p:nvSpPr>
          <p:spPr>
            <a:xfrm>
              <a:off x="870990" y="1849431"/>
              <a:ext cx="3470798" cy="3235560"/>
            </a:xfrm>
            <a:custGeom>
              <a:avLst/>
              <a:gdLst/>
              <a:ahLst/>
              <a:cxnLst/>
              <a:rect l="l" t="t" r="r" b="b"/>
              <a:pathLst>
                <a:path w="3726778" h="3516723">
                  <a:moveTo>
                    <a:pt x="0" y="0"/>
                  </a:moveTo>
                  <a:lnTo>
                    <a:pt x="3726778" y="0"/>
                  </a:lnTo>
                  <a:lnTo>
                    <a:pt x="3726778" y="3516723"/>
                  </a:lnTo>
                  <a:lnTo>
                    <a:pt x="0" y="3516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7C0F991C-0C8E-F0B3-C843-7B30E21EE6F8}"/>
                </a:ext>
              </a:extLst>
            </p:cNvPr>
            <p:cNvSpPr txBox="1"/>
            <p:nvPr/>
          </p:nvSpPr>
          <p:spPr>
            <a:xfrm>
              <a:off x="576888" y="5284485"/>
              <a:ext cx="3726451" cy="490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56"/>
                </a:lnSpc>
                <a:spcBef>
                  <a:spcPct val="0"/>
                </a:spcBef>
              </a:pPr>
              <a:r>
                <a:rPr lang="en-US" sz="2826" b="1">
                  <a:solidFill>
                    <a:srgbClr val="1A2526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Scalability</a:t>
              </a:r>
            </a:p>
          </p:txBody>
        </p:sp>
        <p:sp>
          <p:nvSpPr>
            <p:cNvPr id="28" name="TextBox 13">
              <a:extLst>
                <a:ext uri="{FF2B5EF4-FFF2-40B4-BE49-F238E27FC236}">
                  <a16:creationId xmlns:a16="http://schemas.microsoft.com/office/drawing/2014/main" id="{69E140E6-8005-957B-6315-E314B2249E83}"/>
                </a:ext>
              </a:extLst>
            </p:cNvPr>
            <p:cNvSpPr txBox="1"/>
            <p:nvPr/>
          </p:nvSpPr>
          <p:spPr>
            <a:xfrm>
              <a:off x="576888" y="6029872"/>
              <a:ext cx="4120595" cy="12773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437"/>
                </a:lnSpc>
                <a:spcBef>
                  <a:spcPct val="0"/>
                </a:spcBef>
              </a:pPr>
              <a:r>
                <a:rPr lang="en-US" sz="2455" dirty="0">
                  <a:solidFill>
                    <a:srgbClr val="1A2526"/>
                  </a:solidFill>
                  <a:latin typeface="Work Sans"/>
                  <a:ea typeface="Work Sans"/>
                  <a:cs typeface="Work Sans"/>
                  <a:sym typeface="Work Sans"/>
                </a:rPr>
                <a:t>Rapidly hiring thousands for peak seasons (like Prime Day).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45FB8EB-6B7B-D09D-C447-1FBE746C6C26}"/>
              </a:ext>
            </a:extLst>
          </p:cNvPr>
          <p:cNvGrpSpPr/>
          <p:nvPr/>
        </p:nvGrpSpPr>
        <p:grpSpPr>
          <a:xfrm>
            <a:off x="4942156" y="2431077"/>
            <a:ext cx="3763146" cy="5764981"/>
            <a:chOff x="4942156" y="2431077"/>
            <a:chExt cx="3763146" cy="5764981"/>
          </a:xfrm>
        </p:grpSpPr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263B259C-3693-5F03-57FC-04EC930DDCEC}"/>
                </a:ext>
              </a:extLst>
            </p:cNvPr>
            <p:cNvSpPr/>
            <p:nvPr/>
          </p:nvSpPr>
          <p:spPr>
            <a:xfrm>
              <a:off x="5114222" y="2431077"/>
              <a:ext cx="3237141" cy="2977932"/>
            </a:xfrm>
            <a:custGeom>
              <a:avLst/>
              <a:gdLst/>
              <a:ahLst/>
              <a:cxnLst/>
              <a:rect l="l" t="t" r="r" b="b"/>
              <a:pathLst>
                <a:path w="3383038" h="3155452">
                  <a:moveTo>
                    <a:pt x="0" y="0"/>
                  </a:moveTo>
                  <a:lnTo>
                    <a:pt x="3383038" y="0"/>
                  </a:lnTo>
                  <a:lnTo>
                    <a:pt x="3383038" y="3155452"/>
                  </a:lnTo>
                  <a:lnTo>
                    <a:pt x="0" y="3155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11">
              <a:extLst>
                <a:ext uri="{FF2B5EF4-FFF2-40B4-BE49-F238E27FC236}">
                  <a16:creationId xmlns:a16="http://schemas.microsoft.com/office/drawing/2014/main" id="{7D04162D-28D7-F7B4-CD9C-3A2E0F00356B}"/>
                </a:ext>
              </a:extLst>
            </p:cNvPr>
            <p:cNvSpPr txBox="1"/>
            <p:nvPr/>
          </p:nvSpPr>
          <p:spPr>
            <a:xfrm>
              <a:off x="5159466" y="5737317"/>
              <a:ext cx="3451773" cy="492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56"/>
                </a:lnSpc>
                <a:spcBef>
                  <a:spcPct val="0"/>
                </a:spcBef>
              </a:pPr>
              <a:r>
                <a:rPr lang="en-US" sz="2826" b="1" u="none" strike="noStrike" dirty="0">
                  <a:solidFill>
                    <a:srgbClr val="1A2526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Speed: </a:t>
              </a:r>
            </a:p>
          </p:txBody>
        </p:sp>
        <p:sp>
          <p:nvSpPr>
            <p:cNvPr id="32" name="TextBox 14">
              <a:extLst>
                <a:ext uri="{FF2B5EF4-FFF2-40B4-BE49-F238E27FC236}">
                  <a16:creationId xmlns:a16="http://schemas.microsoft.com/office/drawing/2014/main" id="{4C54B8ED-88E0-8C3E-C5FA-A4AEBD487391}"/>
                </a:ext>
              </a:extLst>
            </p:cNvPr>
            <p:cNvSpPr txBox="1"/>
            <p:nvPr/>
          </p:nvSpPr>
          <p:spPr>
            <a:xfrm>
              <a:off x="4942156" y="6482704"/>
              <a:ext cx="3763146" cy="17133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437"/>
                </a:lnSpc>
                <a:spcBef>
                  <a:spcPct val="0"/>
                </a:spcBef>
              </a:pPr>
              <a:r>
                <a:rPr lang="en-US" sz="2455" u="none" strike="noStrike" dirty="0">
                  <a:solidFill>
                    <a:srgbClr val="1A2526"/>
                  </a:solidFill>
                  <a:latin typeface="Work Sans"/>
                  <a:ea typeface="Work Sans"/>
                  <a:cs typeface="Work Sans"/>
                  <a:sym typeface="Work Sans"/>
                </a:rPr>
                <a:t>Specialized teams focused solely on filling specific roles quickly.</a:t>
              </a:r>
            </a:p>
            <a:p>
              <a:pPr marL="0" lvl="0" indent="0" algn="ctr">
                <a:lnSpc>
                  <a:spcPts val="3437"/>
                </a:lnSpc>
                <a:spcBef>
                  <a:spcPct val="0"/>
                </a:spcBef>
              </a:pPr>
              <a:endParaRPr lang="en-US" sz="2455" u="none" strike="noStrike" dirty="0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1D1D9B7-54AA-2FCE-4AAC-AF1FE5E72BD7}"/>
              </a:ext>
            </a:extLst>
          </p:cNvPr>
          <p:cNvGrpSpPr/>
          <p:nvPr/>
        </p:nvGrpSpPr>
        <p:grpSpPr>
          <a:xfrm>
            <a:off x="9207278" y="2431077"/>
            <a:ext cx="4432522" cy="5328963"/>
            <a:chOff x="9207278" y="2431077"/>
            <a:chExt cx="4432522" cy="5328963"/>
          </a:xfrm>
        </p:grpSpPr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9AD71724-5A7A-474A-8E4F-814B5736A6DE}"/>
                </a:ext>
              </a:extLst>
            </p:cNvPr>
            <p:cNvSpPr/>
            <p:nvPr/>
          </p:nvSpPr>
          <p:spPr>
            <a:xfrm>
              <a:off x="9495180" y="2431077"/>
              <a:ext cx="3657600" cy="2657273"/>
            </a:xfrm>
            <a:custGeom>
              <a:avLst/>
              <a:gdLst/>
              <a:ahLst/>
              <a:cxnLst/>
              <a:rect l="l" t="t" r="r" b="b"/>
              <a:pathLst>
                <a:path w="4000589" h="2800412">
                  <a:moveTo>
                    <a:pt x="0" y="0"/>
                  </a:moveTo>
                  <a:lnTo>
                    <a:pt x="4000589" y="0"/>
                  </a:lnTo>
                  <a:lnTo>
                    <a:pt x="4000589" y="2800413"/>
                  </a:lnTo>
                  <a:lnTo>
                    <a:pt x="0" y="2800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12">
              <a:extLst>
                <a:ext uri="{FF2B5EF4-FFF2-40B4-BE49-F238E27FC236}">
                  <a16:creationId xmlns:a16="http://schemas.microsoft.com/office/drawing/2014/main" id="{63DF7D11-6293-B23D-8265-3474E84F5ACB}"/>
                </a:ext>
              </a:extLst>
            </p:cNvPr>
            <p:cNvSpPr txBox="1"/>
            <p:nvPr/>
          </p:nvSpPr>
          <p:spPr>
            <a:xfrm>
              <a:off x="9207278" y="5713428"/>
              <a:ext cx="4432522" cy="4953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56"/>
                </a:lnSpc>
                <a:spcBef>
                  <a:spcPct val="0"/>
                </a:spcBef>
              </a:pPr>
              <a:r>
                <a:rPr lang="en-US" sz="2826" b="1" u="none" strike="noStrike" dirty="0">
                  <a:solidFill>
                    <a:srgbClr val="1A2526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Candidate Experience:</a:t>
              </a:r>
            </a:p>
          </p:txBody>
        </p:sp>
        <p:sp>
          <p:nvSpPr>
            <p:cNvPr id="36" name="TextBox 15">
              <a:extLst>
                <a:ext uri="{FF2B5EF4-FFF2-40B4-BE49-F238E27FC236}">
                  <a16:creationId xmlns:a16="http://schemas.microsoft.com/office/drawing/2014/main" id="{9103AAF9-ADAD-D6A7-DA0E-E34E8C8F4609}"/>
                </a:ext>
              </a:extLst>
            </p:cNvPr>
            <p:cNvSpPr txBox="1"/>
            <p:nvPr/>
          </p:nvSpPr>
          <p:spPr>
            <a:xfrm>
              <a:off x="9397900" y="6482703"/>
              <a:ext cx="4051278" cy="12773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437"/>
                </a:lnSpc>
                <a:spcBef>
                  <a:spcPct val="0"/>
                </a:spcBef>
              </a:pPr>
              <a:r>
                <a:rPr lang="en-US" sz="2455" u="none" strike="noStrike" dirty="0">
                  <a:solidFill>
                    <a:srgbClr val="1A2526"/>
                  </a:solidFill>
                  <a:latin typeface="Work Sans"/>
                  <a:ea typeface="Work Sans"/>
                  <a:cs typeface="Work Sans"/>
                  <a:sym typeface="Work Sans"/>
                </a:rPr>
                <a:t> Dedicated recruiters ensure every applicant gets a response.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126DE55-424F-0DD7-552D-CC2465BCD1C1}"/>
              </a:ext>
            </a:extLst>
          </p:cNvPr>
          <p:cNvGrpSpPr/>
          <p:nvPr/>
        </p:nvGrpSpPr>
        <p:grpSpPr>
          <a:xfrm>
            <a:off x="13256891" y="2431077"/>
            <a:ext cx="4432522" cy="5764980"/>
            <a:chOff x="13256891" y="2431077"/>
            <a:chExt cx="4432522" cy="5764980"/>
          </a:xfrm>
        </p:grpSpPr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5EDD331F-5FB6-EE32-EA03-F045874896CA}"/>
                </a:ext>
              </a:extLst>
            </p:cNvPr>
            <p:cNvSpPr/>
            <p:nvPr/>
          </p:nvSpPr>
          <p:spPr>
            <a:xfrm>
              <a:off x="13642378" y="2431077"/>
              <a:ext cx="3657600" cy="2874465"/>
            </a:xfrm>
            <a:custGeom>
              <a:avLst/>
              <a:gdLst/>
              <a:ahLst/>
              <a:cxnLst/>
              <a:rect l="l" t="t" r="r" b="b"/>
              <a:pathLst>
                <a:path w="4371975" h="3100128">
                  <a:moveTo>
                    <a:pt x="0" y="0"/>
                  </a:moveTo>
                  <a:lnTo>
                    <a:pt x="4371974" y="0"/>
                  </a:lnTo>
                  <a:lnTo>
                    <a:pt x="4371974" y="3100128"/>
                  </a:lnTo>
                  <a:lnTo>
                    <a:pt x="0" y="3100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16">
              <a:extLst>
                <a:ext uri="{FF2B5EF4-FFF2-40B4-BE49-F238E27FC236}">
                  <a16:creationId xmlns:a16="http://schemas.microsoft.com/office/drawing/2014/main" id="{915541C2-0FF7-D4D4-D78E-9ABFB6998CF4}"/>
                </a:ext>
              </a:extLst>
            </p:cNvPr>
            <p:cNvSpPr txBox="1"/>
            <p:nvPr/>
          </p:nvSpPr>
          <p:spPr>
            <a:xfrm>
              <a:off x="13256891" y="5703467"/>
              <a:ext cx="4432522" cy="4953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56"/>
                </a:lnSpc>
                <a:spcBef>
                  <a:spcPct val="0"/>
                </a:spcBef>
              </a:pPr>
              <a:r>
                <a:rPr lang="en-US" sz="2826" b="1" u="none" strike="noStrike" dirty="0">
                  <a:solidFill>
                    <a:srgbClr val="1A2526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Focus: </a:t>
              </a:r>
            </a:p>
          </p:txBody>
        </p:sp>
        <p:sp>
          <p:nvSpPr>
            <p:cNvPr id="40" name="TextBox 17">
              <a:extLst>
                <a:ext uri="{FF2B5EF4-FFF2-40B4-BE49-F238E27FC236}">
                  <a16:creationId xmlns:a16="http://schemas.microsoft.com/office/drawing/2014/main" id="{EE01F3E5-FC4A-1084-FCB9-1CA520ABD794}"/>
                </a:ext>
              </a:extLst>
            </p:cNvPr>
            <p:cNvSpPr txBox="1"/>
            <p:nvPr/>
          </p:nvSpPr>
          <p:spPr>
            <a:xfrm>
              <a:off x="13567222" y="6482703"/>
              <a:ext cx="3850324" cy="17133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437"/>
                </a:lnSpc>
                <a:spcBef>
                  <a:spcPct val="0"/>
                </a:spcBef>
              </a:pPr>
              <a:r>
                <a:rPr lang="en-US" sz="2455" u="none" strike="noStrike" dirty="0">
                  <a:solidFill>
                    <a:srgbClr val="1A2526"/>
                  </a:solidFill>
                  <a:latin typeface="Work Sans"/>
                  <a:ea typeface="Work Sans"/>
                  <a:cs typeface="Work Sans"/>
                  <a:sym typeface="Work Sans"/>
                </a:rPr>
                <a:t>Allows internal HR to focus on long-term corporate strategy.</a:t>
              </a:r>
            </a:p>
            <a:p>
              <a:pPr marL="0" lvl="0" indent="0" algn="ctr">
                <a:lnSpc>
                  <a:spcPts val="3437"/>
                </a:lnSpc>
                <a:spcBef>
                  <a:spcPct val="0"/>
                </a:spcBef>
              </a:pPr>
              <a:endParaRPr lang="en-US" sz="2455" u="none" strike="noStrike" dirty="0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4956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5E0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D72713-5687-952C-62D3-A13CA0652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BEEEA6C6-C7A8-BE60-58F9-6CC61B368D56}"/>
              </a:ext>
            </a:extLst>
          </p:cNvPr>
          <p:cNvGrpSpPr/>
          <p:nvPr/>
        </p:nvGrpSpPr>
        <p:grpSpPr>
          <a:xfrm>
            <a:off x="4807876" y="3032566"/>
            <a:ext cx="4099356" cy="6406918"/>
            <a:chOff x="4807876" y="3032566"/>
            <a:chExt cx="4099356" cy="6406918"/>
          </a:xfrm>
        </p:grpSpPr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5D67B5D7-59E7-2631-3B09-C824464284D9}"/>
                </a:ext>
              </a:extLst>
            </p:cNvPr>
            <p:cNvGrpSpPr/>
            <p:nvPr/>
          </p:nvGrpSpPr>
          <p:grpSpPr>
            <a:xfrm>
              <a:off x="4807876" y="7469475"/>
              <a:ext cx="4099356" cy="1970009"/>
              <a:chOff x="0" y="0"/>
              <a:chExt cx="5465808" cy="2626679"/>
            </a:xfrm>
          </p:grpSpPr>
          <p:grpSp>
            <p:nvGrpSpPr>
              <p:cNvPr id="9" name="Group 9">
                <a:extLst>
                  <a:ext uri="{FF2B5EF4-FFF2-40B4-BE49-F238E27FC236}">
                    <a16:creationId xmlns:a16="http://schemas.microsoft.com/office/drawing/2014/main" id="{28970B45-D585-1B86-6846-2A26EFEA1979}"/>
                  </a:ext>
                </a:extLst>
              </p:cNvPr>
              <p:cNvGrpSpPr/>
              <p:nvPr/>
            </p:nvGrpSpPr>
            <p:grpSpPr>
              <a:xfrm>
                <a:off x="0" y="0"/>
                <a:ext cx="5465808" cy="2626679"/>
                <a:chOff x="0" y="0"/>
                <a:chExt cx="1079666" cy="518850"/>
              </a:xfrm>
            </p:grpSpPr>
            <p:sp>
              <p:nvSpPr>
                <p:cNvPr id="10" name="Freeform 10">
                  <a:extLst>
                    <a:ext uri="{FF2B5EF4-FFF2-40B4-BE49-F238E27FC236}">
                      <a16:creationId xmlns:a16="http://schemas.microsoft.com/office/drawing/2014/main" id="{76ADFA23-5CEC-F89F-0AF9-FF49F28E8E2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79666" cy="51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666" h="518850">
                      <a:moveTo>
                        <a:pt x="96317" y="0"/>
                      </a:moveTo>
                      <a:lnTo>
                        <a:pt x="983349" y="0"/>
                      </a:lnTo>
                      <a:cubicBezTo>
                        <a:pt x="1036543" y="0"/>
                        <a:pt x="1079666" y="43123"/>
                        <a:pt x="1079666" y="96317"/>
                      </a:cubicBezTo>
                      <a:lnTo>
                        <a:pt x="1079666" y="422533"/>
                      </a:lnTo>
                      <a:cubicBezTo>
                        <a:pt x="1079666" y="448078"/>
                        <a:pt x="1069518" y="472577"/>
                        <a:pt x="1051455" y="490639"/>
                      </a:cubicBezTo>
                      <a:cubicBezTo>
                        <a:pt x="1033392" y="508702"/>
                        <a:pt x="1008893" y="518850"/>
                        <a:pt x="983349" y="518850"/>
                      </a:cubicBezTo>
                      <a:lnTo>
                        <a:pt x="96317" y="518850"/>
                      </a:lnTo>
                      <a:cubicBezTo>
                        <a:pt x="70772" y="518850"/>
                        <a:pt x="46274" y="508702"/>
                        <a:pt x="28211" y="490639"/>
                      </a:cubicBezTo>
                      <a:cubicBezTo>
                        <a:pt x="10148" y="472577"/>
                        <a:pt x="0" y="448078"/>
                        <a:pt x="0" y="422533"/>
                      </a:cubicBezTo>
                      <a:lnTo>
                        <a:pt x="0" y="96317"/>
                      </a:lnTo>
                      <a:cubicBezTo>
                        <a:pt x="0" y="70772"/>
                        <a:pt x="10148" y="46274"/>
                        <a:pt x="28211" y="28211"/>
                      </a:cubicBezTo>
                      <a:cubicBezTo>
                        <a:pt x="46274" y="10148"/>
                        <a:pt x="70772" y="0"/>
                        <a:pt x="96317" y="0"/>
                      </a:cubicBezTo>
                      <a:close/>
                    </a:path>
                  </a:pathLst>
                </a:custGeom>
                <a:solidFill>
                  <a:srgbClr val="FFFFFB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" name="TextBox 11">
                  <a:extLst>
                    <a:ext uri="{FF2B5EF4-FFF2-40B4-BE49-F238E27FC236}">
                      <a16:creationId xmlns:a16="http://schemas.microsoft.com/office/drawing/2014/main" id="{9FB5693B-E00A-8BCE-CF6F-B8EF1C27A149}"/>
                    </a:ext>
                  </a:extLst>
                </p:cNvPr>
                <p:cNvSpPr txBox="1"/>
                <p:nvPr/>
              </p:nvSpPr>
              <p:spPr>
                <a:xfrm>
                  <a:off x="0" y="-47625"/>
                  <a:ext cx="1079666" cy="56647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499"/>
                    </a:lnSpc>
                  </a:pPr>
                  <a:endParaRPr/>
                </a:p>
              </p:txBody>
            </p:sp>
          </p:grp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607B906E-0F8B-FFE2-2FCB-9B20D2175929}"/>
                  </a:ext>
                </a:extLst>
              </p:cNvPr>
              <p:cNvSpPr txBox="1"/>
              <p:nvPr/>
            </p:nvSpPr>
            <p:spPr>
              <a:xfrm>
                <a:off x="234647" y="431748"/>
                <a:ext cx="4996515" cy="175201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499"/>
                  </a:lnSpc>
                  <a:spcBef>
                    <a:spcPct val="0"/>
                  </a:spcBef>
                </a:pPr>
                <a:r>
                  <a:rPr lang="en-US" sz="2499" b="1" dirty="0">
                    <a:solidFill>
                      <a:srgbClr val="000000"/>
                    </a:solidFill>
                    <a:latin typeface="Work Sans Bold"/>
                    <a:ea typeface="Work Sans Bold"/>
                    <a:cs typeface="Work Sans Bold"/>
                    <a:sym typeface="Work Sans Bold"/>
                  </a:rPr>
                  <a:t>Screening: </a:t>
                </a:r>
                <a:r>
                  <a:rPr lang="en-US" sz="2499" dirty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First-level check to assess their basic qualifications.</a:t>
                </a:r>
              </a:p>
            </p:txBody>
          </p:sp>
        </p:grp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84220CD5-BA3F-2DB8-311C-A5BBF7D99933}"/>
                </a:ext>
              </a:extLst>
            </p:cNvPr>
            <p:cNvSpPr/>
            <p:nvPr/>
          </p:nvSpPr>
          <p:spPr>
            <a:xfrm>
              <a:off x="4807876" y="4810581"/>
              <a:ext cx="4099356" cy="2332906"/>
            </a:xfrm>
            <a:custGeom>
              <a:avLst/>
              <a:gdLst/>
              <a:ahLst/>
              <a:cxnLst/>
              <a:rect l="l" t="t" r="r" b="b"/>
              <a:pathLst>
                <a:path w="4099356" h="2332906">
                  <a:moveTo>
                    <a:pt x="0" y="0"/>
                  </a:moveTo>
                  <a:lnTo>
                    <a:pt x="4099356" y="0"/>
                  </a:lnTo>
                  <a:lnTo>
                    <a:pt x="4099356" y="2332906"/>
                  </a:lnTo>
                  <a:lnTo>
                    <a:pt x="0" y="2332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4F7268AF-AFC1-6DA1-8FF9-41586BD9A202}"/>
                </a:ext>
              </a:extLst>
            </p:cNvPr>
            <p:cNvSpPr/>
            <p:nvPr/>
          </p:nvSpPr>
          <p:spPr>
            <a:xfrm>
              <a:off x="6139725" y="3032566"/>
              <a:ext cx="1435657" cy="1454164"/>
            </a:xfrm>
            <a:custGeom>
              <a:avLst/>
              <a:gdLst/>
              <a:ahLst/>
              <a:cxnLst/>
              <a:rect l="l" t="t" r="r" b="b"/>
              <a:pathLst>
                <a:path w="1435657" h="1454164">
                  <a:moveTo>
                    <a:pt x="0" y="0"/>
                  </a:moveTo>
                  <a:lnTo>
                    <a:pt x="1435657" y="0"/>
                  </a:lnTo>
                  <a:lnTo>
                    <a:pt x="1435657" y="1454165"/>
                  </a:lnTo>
                  <a:lnTo>
                    <a:pt x="0" y="1454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4CF83BF-6B3F-71A6-ED51-481A06B733A0}"/>
              </a:ext>
            </a:extLst>
          </p:cNvPr>
          <p:cNvGrpSpPr/>
          <p:nvPr/>
        </p:nvGrpSpPr>
        <p:grpSpPr>
          <a:xfrm>
            <a:off x="13831538" y="2550260"/>
            <a:ext cx="4265725" cy="7561078"/>
            <a:chOff x="13831538" y="2550260"/>
            <a:chExt cx="4265725" cy="7561078"/>
          </a:xfrm>
        </p:grpSpPr>
        <p:sp>
          <p:nvSpPr>
            <p:cNvPr id="2" name="Freeform 2">
              <a:extLst>
                <a:ext uri="{FF2B5EF4-FFF2-40B4-BE49-F238E27FC236}">
                  <a16:creationId xmlns:a16="http://schemas.microsoft.com/office/drawing/2014/main" id="{A9878584-1A68-5BAD-9FED-C8C9E9CF1767}"/>
                </a:ext>
              </a:extLst>
            </p:cNvPr>
            <p:cNvSpPr/>
            <p:nvPr/>
          </p:nvSpPr>
          <p:spPr>
            <a:xfrm>
              <a:off x="14452965" y="4387642"/>
              <a:ext cx="2806335" cy="2811447"/>
            </a:xfrm>
            <a:custGeom>
              <a:avLst/>
              <a:gdLst/>
              <a:ahLst/>
              <a:cxnLst/>
              <a:rect l="l" t="t" r="r" b="b"/>
              <a:pathLst>
                <a:path w="2806335" h="2811447">
                  <a:moveTo>
                    <a:pt x="0" y="0"/>
                  </a:moveTo>
                  <a:lnTo>
                    <a:pt x="2806335" y="0"/>
                  </a:lnTo>
                  <a:lnTo>
                    <a:pt x="2806335" y="2811447"/>
                  </a:lnTo>
                  <a:lnTo>
                    <a:pt x="0" y="2811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61E79A3C-17DA-1D7F-7FA7-65EDB26CE49B}"/>
                </a:ext>
              </a:extLst>
            </p:cNvPr>
            <p:cNvGrpSpPr/>
            <p:nvPr/>
          </p:nvGrpSpPr>
          <p:grpSpPr>
            <a:xfrm>
              <a:off x="13831538" y="7399562"/>
              <a:ext cx="4265725" cy="2711776"/>
              <a:chOff x="0" y="-241101"/>
              <a:chExt cx="5687633" cy="3615701"/>
            </a:xfrm>
          </p:grpSpPr>
          <p:grpSp>
            <p:nvGrpSpPr>
              <p:cNvPr id="20" name="Group 20">
                <a:extLst>
                  <a:ext uri="{FF2B5EF4-FFF2-40B4-BE49-F238E27FC236}">
                    <a16:creationId xmlns:a16="http://schemas.microsoft.com/office/drawing/2014/main" id="{328D1E08-7FA7-3CA2-3BB2-4C1813517A28}"/>
                  </a:ext>
                </a:extLst>
              </p:cNvPr>
              <p:cNvGrpSpPr/>
              <p:nvPr/>
            </p:nvGrpSpPr>
            <p:grpSpPr>
              <a:xfrm>
                <a:off x="0" y="-241101"/>
                <a:ext cx="5687633" cy="3615701"/>
                <a:chOff x="0" y="-47625"/>
                <a:chExt cx="1123483" cy="714213"/>
              </a:xfrm>
            </p:grpSpPr>
            <p:sp>
              <p:nvSpPr>
                <p:cNvPr id="21" name="Freeform 21">
                  <a:extLst>
                    <a:ext uri="{FF2B5EF4-FFF2-40B4-BE49-F238E27FC236}">
                      <a16:creationId xmlns:a16="http://schemas.microsoft.com/office/drawing/2014/main" id="{97165EAB-03F0-2BA2-E6F1-6E413ACC957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23483" cy="666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3483" h="613788">
                      <a:moveTo>
                        <a:pt x="92561" y="0"/>
                      </a:moveTo>
                      <a:lnTo>
                        <a:pt x="1030922" y="0"/>
                      </a:lnTo>
                      <a:cubicBezTo>
                        <a:pt x="1082042" y="0"/>
                        <a:pt x="1123483" y="41441"/>
                        <a:pt x="1123483" y="92561"/>
                      </a:cubicBezTo>
                      <a:lnTo>
                        <a:pt x="1123483" y="521227"/>
                      </a:lnTo>
                      <a:cubicBezTo>
                        <a:pt x="1123483" y="572347"/>
                        <a:pt x="1082042" y="613788"/>
                        <a:pt x="1030922" y="613788"/>
                      </a:cubicBezTo>
                      <a:lnTo>
                        <a:pt x="92561" y="613788"/>
                      </a:lnTo>
                      <a:cubicBezTo>
                        <a:pt x="41441" y="613788"/>
                        <a:pt x="0" y="572347"/>
                        <a:pt x="0" y="521227"/>
                      </a:cubicBezTo>
                      <a:lnTo>
                        <a:pt x="0" y="92561"/>
                      </a:lnTo>
                      <a:cubicBezTo>
                        <a:pt x="0" y="41441"/>
                        <a:pt x="41441" y="0"/>
                        <a:pt x="92561" y="0"/>
                      </a:cubicBezTo>
                      <a:close/>
                    </a:path>
                  </a:pathLst>
                </a:custGeom>
                <a:solidFill>
                  <a:srgbClr val="FFFFFB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TextBox 22">
                  <a:extLst>
                    <a:ext uri="{FF2B5EF4-FFF2-40B4-BE49-F238E27FC236}">
                      <a16:creationId xmlns:a16="http://schemas.microsoft.com/office/drawing/2014/main" id="{930F0171-1917-151F-8B2B-2CB1F898723C}"/>
                    </a:ext>
                  </a:extLst>
                </p:cNvPr>
                <p:cNvSpPr txBox="1"/>
                <p:nvPr/>
              </p:nvSpPr>
              <p:spPr>
                <a:xfrm>
                  <a:off x="0" y="-47625"/>
                  <a:ext cx="1123483" cy="66141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499"/>
                    </a:lnSpc>
                  </a:pPr>
                  <a:endParaRPr/>
                </a:p>
              </p:txBody>
            </p:sp>
          </p:grpSp>
          <p:sp>
            <p:nvSpPr>
              <p:cNvPr id="23" name="TextBox 23">
                <a:extLst>
                  <a:ext uri="{FF2B5EF4-FFF2-40B4-BE49-F238E27FC236}">
                    <a16:creationId xmlns:a16="http://schemas.microsoft.com/office/drawing/2014/main" id="{72C621EC-687E-267A-214A-4E037EB75F15}"/>
                  </a:ext>
                </a:extLst>
              </p:cNvPr>
              <p:cNvSpPr txBox="1"/>
              <p:nvPr/>
            </p:nvSpPr>
            <p:spPr>
              <a:xfrm>
                <a:off x="123879" y="148930"/>
                <a:ext cx="5439874" cy="307674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2499" b="1" dirty="0">
                    <a:solidFill>
                      <a:srgbClr val="000000"/>
                    </a:solidFill>
                    <a:latin typeface="Work Sans Bold"/>
                    <a:ea typeface="Work Sans Bold"/>
                    <a:cs typeface="Work Sans Bold"/>
                    <a:sym typeface="Work Sans Bold"/>
                  </a:rPr>
                  <a:t>Candidate progression: </a:t>
                </a:r>
                <a:r>
                  <a:rPr lang="en-US" sz="2499" dirty="0">
                    <a:solidFill>
                      <a:srgbClr val="000000"/>
                    </a:solidFill>
                    <a:latin typeface="Work Sans" pitchFamily="2" charset="0"/>
                    <a:ea typeface="Work Sans Bold"/>
                    <a:cs typeface="Work Sans Bold"/>
                    <a:sym typeface="Work Sans Bold"/>
                  </a:rPr>
                  <a:t>Advancing the candidate’s profile to the next level based on eligibility and process requirements.</a:t>
                </a:r>
              </a:p>
            </p:txBody>
          </p:sp>
        </p:grp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3C831D0A-98FD-705F-EDA0-E1BDD7F1B25E}"/>
                </a:ext>
              </a:extLst>
            </p:cNvPr>
            <p:cNvSpPr/>
            <p:nvPr/>
          </p:nvSpPr>
          <p:spPr>
            <a:xfrm>
              <a:off x="15280415" y="2550260"/>
              <a:ext cx="1367970" cy="1419591"/>
            </a:xfrm>
            <a:custGeom>
              <a:avLst/>
              <a:gdLst/>
              <a:ahLst/>
              <a:cxnLst/>
              <a:rect l="l" t="t" r="r" b="b"/>
              <a:pathLst>
                <a:path w="1367970" h="1419591">
                  <a:moveTo>
                    <a:pt x="0" y="0"/>
                  </a:moveTo>
                  <a:lnTo>
                    <a:pt x="1367970" y="0"/>
                  </a:lnTo>
                  <a:lnTo>
                    <a:pt x="1367970" y="1419591"/>
                  </a:lnTo>
                  <a:lnTo>
                    <a:pt x="0" y="1419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216D31B-FCF1-EBA3-0E86-FB524845AE5F}"/>
              </a:ext>
            </a:extLst>
          </p:cNvPr>
          <p:cNvGrpSpPr/>
          <p:nvPr/>
        </p:nvGrpSpPr>
        <p:grpSpPr>
          <a:xfrm>
            <a:off x="259489" y="2521685"/>
            <a:ext cx="4099356" cy="6877354"/>
            <a:chOff x="259489" y="2521685"/>
            <a:chExt cx="4099356" cy="6877354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0D3DC35-123E-9724-C6B5-7E27C8B620E6}"/>
                </a:ext>
              </a:extLst>
            </p:cNvPr>
            <p:cNvGrpSpPr/>
            <p:nvPr/>
          </p:nvGrpSpPr>
          <p:grpSpPr>
            <a:xfrm>
              <a:off x="259489" y="5583307"/>
              <a:ext cx="4099356" cy="1970009"/>
              <a:chOff x="0" y="0"/>
              <a:chExt cx="5465808" cy="2626679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278724C2-F53D-D2C8-68F6-F172FD22D74A}"/>
                  </a:ext>
                </a:extLst>
              </p:cNvPr>
              <p:cNvGrpSpPr/>
              <p:nvPr/>
            </p:nvGrpSpPr>
            <p:grpSpPr>
              <a:xfrm>
                <a:off x="0" y="0"/>
                <a:ext cx="5465808" cy="2626679"/>
                <a:chOff x="0" y="0"/>
                <a:chExt cx="1079666" cy="518850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7B0239D7-FBE8-36B1-E709-755E72A94EF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79666" cy="51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666" h="518850">
                      <a:moveTo>
                        <a:pt x="96317" y="0"/>
                      </a:moveTo>
                      <a:lnTo>
                        <a:pt x="983349" y="0"/>
                      </a:lnTo>
                      <a:cubicBezTo>
                        <a:pt x="1036543" y="0"/>
                        <a:pt x="1079666" y="43123"/>
                        <a:pt x="1079666" y="96317"/>
                      </a:cubicBezTo>
                      <a:lnTo>
                        <a:pt x="1079666" y="422533"/>
                      </a:lnTo>
                      <a:cubicBezTo>
                        <a:pt x="1079666" y="448078"/>
                        <a:pt x="1069518" y="472577"/>
                        <a:pt x="1051455" y="490639"/>
                      </a:cubicBezTo>
                      <a:cubicBezTo>
                        <a:pt x="1033392" y="508702"/>
                        <a:pt x="1008893" y="518850"/>
                        <a:pt x="983349" y="518850"/>
                      </a:cubicBezTo>
                      <a:lnTo>
                        <a:pt x="96317" y="518850"/>
                      </a:lnTo>
                      <a:cubicBezTo>
                        <a:pt x="70772" y="518850"/>
                        <a:pt x="46274" y="508702"/>
                        <a:pt x="28211" y="490639"/>
                      </a:cubicBezTo>
                      <a:cubicBezTo>
                        <a:pt x="10148" y="472577"/>
                        <a:pt x="0" y="448078"/>
                        <a:pt x="0" y="422533"/>
                      </a:cubicBezTo>
                      <a:lnTo>
                        <a:pt x="0" y="96317"/>
                      </a:lnTo>
                      <a:cubicBezTo>
                        <a:pt x="0" y="70772"/>
                        <a:pt x="10148" y="46274"/>
                        <a:pt x="28211" y="28211"/>
                      </a:cubicBezTo>
                      <a:cubicBezTo>
                        <a:pt x="46274" y="10148"/>
                        <a:pt x="70772" y="0"/>
                        <a:pt x="96317" y="0"/>
                      </a:cubicBezTo>
                      <a:close/>
                    </a:path>
                  </a:pathLst>
                </a:custGeom>
                <a:solidFill>
                  <a:srgbClr val="FFFFFB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" name="TextBox 6">
                  <a:extLst>
                    <a:ext uri="{FF2B5EF4-FFF2-40B4-BE49-F238E27FC236}">
                      <a16:creationId xmlns:a16="http://schemas.microsoft.com/office/drawing/2014/main" id="{05A34058-C9FB-54FA-5163-7D768CBC621D}"/>
                    </a:ext>
                  </a:extLst>
                </p:cNvPr>
                <p:cNvSpPr txBox="1"/>
                <p:nvPr/>
              </p:nvSpPr>
              <p:spPr>
                <a:xfrm>
                  <a:off x="0" y="-47625"/>
                  <a:ext cx="1079666" cy="56647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499"/>
                    </a:lnSpc>
                  </a:pPr>
                  <a:endParaRPr/>
                </a:p>
              </p:txBody>
            </p:sp>
          </p:grp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B17554AA-EC55-B40E-2759-92FBA13AEC99}"/>
                  </a:ext>
                </a:extLst>
              </p:cNvPr>
              <p:cNvSpPr txBox="1"/>
              <p:nvPr/>
            </p:nvSpPr>
            <p:spPr>
              <a:xfrm>
                <a:off x="111004" y="42136"/>
                <a:ext cx="5243797" cy="256395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2499" b="1" dirty="0">
                    <a:solidFill>
                      <a:srgbClr val="000000"/>
                    </a:solidFill>
                    <a:latin typeface="Work Sans Bold"/>
                    <a:ea typeface="Work Sans Bold"/>
                    <a:cs typeface="Work Sans Bold"/>
                    <a:sym typeface="Work Sans Bold"/>
                  </a:rPr>
                  <a:t>Queue Alignment: </a:t>
                </a:r>
                <a:r>
                  <a:rPr lang="en-US" sz="2499" dirty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Ensuring the agent reviews and proceeds with the queue assigned to them.</a:t>
                </a:r>
              </a:p>
            </p:txBody>
          </p:sp>
        </p:grp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AA4F2551-2BE3-1534-94C9-E9EF33269641}"/>
                </a:ext>
              </a:extLst>
            </p:cNvPr>
            <p:cNvSpPr/>
            <p:nvPr/>
          </p:nvSpPr>
          <p:spPr>
            <a:xfrm>
              <a:off x="1384402" y="7853463"/>
              <a:ext cx="1531526" cy="1545576"/>
            </a:xfrm>
            <a:custGeom>
              <a:avLst/>
              <a:gdLst/>
              <a:ahLst/>
              <a:cxnLst/>
              <a:rect l="l" t="t" r="r" b="b"/>
              <a:pathLst>
                <a:path w="1531526" h="1545576">
                  <a:moveTo>
                    <a:pt x="0" y="0"/>
                  </a:moveTo>
                  <a:lnTo>
                    <a:pt x="1531526" y="0"/>
                  </a:lnTo>
                  <a:lnTo>
                    <a:pt x="1531526" y="1545576"/>
                  </a:lnTo>
                  <a:lnTo>
                    <a:pt x="0" y="1545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E7D0E612-1D3E-C8B3-9D3A-DBB6A929684E}"/>
                </a:ext>
              </a:extLst>
            </p:cNvPr>
            <p:cNvSpPr/>
            <p:nvPr/>
          </p:nvSpPr>
          <p:spPr>
            <a:xfrm>
              <a:off x="444949" y="2521685"/>
              <a:ext cx="3728434" cy="2779378"/>
            </a:xfrm>
            <a:custGeom>
              <a:avLst/>
              <a:gdLst/>
              <a:ahLst/>
              <a:cxnLst/>
              <a:rect l="l" t="t" r="r" b="b"/>
              <a:pathLst>
                <a:path w="3728434" h="2779378">
                  <a:moveTo>
                    <a:pt x="0" y="0"/>
                  </a:moveTo>
                  <a:lnTo>
                    <a:pt x="3728435" y="0"/>
                  </a:lnTo>
                  <a:lnTo>
                    <a:pt x="3728435" y="2779378"/>
                  </a:lnTo>
                  <a:lnTo>
                    <a:pt x="0" y="2779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DEBBA51-BB56-2DA5-8211-1ED43F1FBCB6}"/>
              </a:ext>
            </a:extLst>
          </p:cNvPr>
          <p:cNvGrpSpPr/>
          <p:nvPr/>
        </p:nvGrpSpPr>
        <p:grpSpPr>
          <a:xfrm>
            <a:off x="9354907" y="2331185"/>
            <a:ext cx="4265725" cy="7523331"/>
            <a:chOff x="9354907" y="2331185"/>
            <a:chExt cx="4265725" cy="7523331"/>
          </a:xfrm>
        </p:grpSpPr>
        <p:grpSp>
          <p:nvGrpSpPr>
            <p:cNvPr id="14" name="Group 14">
              <a:extLst>
                <a:ext uri="{FF2B5EF4-FFF2-40B4-BE49-F238E27FC236}">
                  <a16:creationId xmlns:a16="http://schemas.microsoft.com/office/drawing/2014/main" id="{813C6692-EC11-5132-4498-83427089AEBD}"/>
                </a:ext>
              </a:extLst>
            </p:cNvPr>
            <p:cNvGrpSpPr/>
            <p:nvPr/>
          </p:nvGrpSpPr>
          <p:grpSpPr>
            <a:xfrm>
              <a:off x="9354907" y="5849901"/>
              <a:ext cx="4265725" cy="2330475"/>
              <a:chOff x="0" y="0"/>
              <a:chExt cx="5687633" cy="3107300"/>
            </a:xfrm>
          </p:grpSpPr>
          <p:grpSp>
            <p:nvGrpSpPr>
              <p:cNvPr id="15" name="Group 15">
                <a:extLst>
                  <a:ext uri="{FF2B5EF4-FFF2-40B4-BE49-F238E27FC236}">
                    <a16:creationId xmlns:a16="http://schemas.microsoft.com/office/drawing/2014/main" id="{AAF5D1DE-5084-60FC-503D-DA3FDCD6D77F}"/>
                  </a:ext>
                </a:extLst>
              </p:cNvPr>
              <p:cNvGrpSpPr/>
              <p:nvPr/>
            </p:nvGrpSpPr>
            <p:grpSpPr>
              <a:xfrm>
                <a:off x="0" y="0"/>
                <a:ext cx="5687633" cy="3107300"/>
                <a:chOff x="0" y="0"/>
                <a:chExt cx="1123483" cy="613788"/>
              </a:xfrm>
            </p:grpSpPr>
            <p:sp>
              <p:nvSpPr>
                <p:cNvPr id="16" name="Freeform 16">
                  <a:extLst>
                    <a:ext uri="{FF2B5EF4-FFF2-40B4-BE49-F238E27FC236}">
                      <a16:creationId xmlns:a16="http://schemas.microsoft.com/office/drawing/2014/main" id="{B5F51A0A-204E-3FAF-AA56-5AB7119E416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23483" cy="613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3483" h="613788">
                      <a:moveTo>
                        <a:pt x="92561" y="0"/>
                      </a:moveTo>
                      <a:lnTo>
                        <a:pt x="1030922" y="0"/>
                      </a:lnTo>
                      <a:cubicBezTo>
                        <a:pt x="1082042" y="0"/>
                        <a:pt x="1123483" y="41441"/>
                        <a:pt x="1123483" y="92561"/>
                      </a:cubicBezTo>
                      <a:lnTo>
                        <a:pt x="1123483" y="521227"/>
                      </a:lnTo>
                      <a:cubicBezTo>
                        <a:pt x="1123483" y="572347"/>
                        <a:pt x="1082042" y="613788"/>
                        <a:pt x="1030922" y="613788"/>
                      </a:cubicBezTo>
                      <a:lnTo>
                        <a:pt x="92561" y="613788"/>
                      </a:lnTo>
                      <a:cubicBezTo>
                        <a:pt x="41441" y="613788"/>
                        <a:pt x="0" y="572347"/>
                        <a:pt x="0" y="521227"/>
                      </a:cubicBezTo>
                      <a:lnTo>
                        <a:pt x="0" y="92561"/>
                      </a:lnTo>
                      <a:cubicBezTo>
                        <a:pt x="0" y="41441"/>
                        <a:pt x="41441" y="0"/>
                        <a:pt x="92561" y="0"/>
                      </a:cubicBezTo>
                      <a:close/>
                    </a:path>
                  </a:pathLst>
                </a:custGeom>
                <a:solidFill>
                  <a:srgbClr val="FFFFFB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TextBox 17">
                  <a:extLst>
                    <a:ext uri="{FF2B5EF4-FFF2-40B4-BE49-F238E27FC236}">
                      <a16:creationId xmlns:a16="http://schemas.microsoft.com/office/drawing/2014/main" id="{04D7A122-DA5B-17E7-DFE7-387492CF910A}"/>
                    </a:ext>
                  </a:extLst>
                </p:cNvPr>
                <p:cNvSpPr txBox="1"/>
                <p:nvPr/>
              </p:nvSpPr>
              <p:spPr>
                <a:xfrm>
                  <a:off x="0" y="-47625"/>
                  <a:ext cx="1123483" cy="66141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499"/>
                    </a:lnSpc>
                  </a:pPr>
                  <a:endParaRPr/>
                </a:p>
              </p:txBody>
            </p:sp>
          </p:grp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BB9495BA-E4EA-FB4A-16E0-44993E38156B}"/>
                  </a:ext>
                </a:extLst>
              </p:cNvPr>
              <p:cNvSpPr txBox="1"/>
              <p:nvPr/>
            </p:nvSpPr>
            <p:spPr>
              <a:xfrm>
                <a:off x="313883" y="431748"/>
                <a:ext cx="4996514" cy="55510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499"/>
                  </a:lnSpc>
                  <a:spcBef>
                    <a:spcPct val="0"/>
                  </a:spcBef>
                </a:pPr>
                <a:endParaRPr lang="en-US" sz="2499" dirty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35C41B5-0668-91CD-2AD1-79662F77ACDC}"/>
                </a:ext>
              </a:extLst>
            </p:cNvPr>
            <p:cNvSpPr/>
            <p:nvPr/>
          </p:nvSpPr>
          <p:spPr>
            <a:xfrm>
              <a:off x="10802707" y="8370876"/>
              <a:ext cx="1459362" cy="1483640"/>
            </a:xfrm>
            <a:custGeom>
              <a:avLst/>
              <a:gdLst/>
              <a:ahLst/>
              <a:cxnLst/>
              <a:rect l="l" t="t" r="r" b="b"/>
              <a:pathLst>
                <a:path w="1459362" h="1483640">
                  <a:moveTo>
                    <a:pt x="0" y="0"/>
                  </a:moveTo>
                  <a:lnTo>
                    <a:pt x="1459362" y="0"/>
                  </a:lnTo>
                  <a:lnTo>
                    <a:pt x="1459362" y="1483640"/>
                  </a:lnTo>
                  <a:lnTo>
                    <a:pt x="0" y="1483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3E12509B-A6F4-2E8B-F560-9A8C7730D2C2}"/>
                </a:ext>
              </a:extLst>
            </p:cNvPr>
            <p:cNvSpPr/>
            <p:nvPr/>
          </p:nvSpPr>
          <p:spPr>
            <a:xfrm>
              <a:off x="9613605" y="2331185"/>
              <a:ext cx="3837566" cy="3328217"/>
            </a:xfrm>
            <a:custGeom>
              <a:avLst/>
              <a:gdLst/>
              <a:ahLst/>
              <a:cxnLst/>
              <a:rect l="l" t="t" r="r" b="b"/>
              <a:pathLst>
                <a:path w="3837566" h="3328217">
                  <a:moveTo>
                    <a:pt x="0" y="0"/>
                  </a:moveTo>
                  <a:lnTo>
                    <a:pt x="3837566" y="0"/>
                  </a:lnTo>
                  <a:lnTo>
                    <a:pt x="3837566" y="3328216"/>
                  </a:lnTo>
                  <a:lnTo>
                    <a:pt x="0" y="3328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7A98DC1E-2885-77C7-D4E3-597F8E0694E2}"/>
              </a:ext>
            </a:extLst>
          </p:cNvPr>
          <p:cNvSpPr txBox="1"/>
          <p:nvPr/>
        </p:nvSpPr>
        <p:spPr>
          <a:xfrm>
            <a:off x="1384402" y="-105110"/>
            <a:ext cx="15519195" cy="2049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18"/>
              </a:lnSpc>
              <a:spcBef>
                <a:spcPct val="0"/>
              </a:spcBef>
            </a:pPr>
            <a:r>
              <a:rPr lang="en-US" sz="12798" b="1" dirty="0">
                <a:solidFill>
                  <a:srgbClr val="FFFFFB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RPO JOURNEY</a:t>
            </a:r>
          </a:p>
        </p:txBody>
      </p:sp>
      <p:sp>
        <p:nvSpPr>
          <p:cNvPr id="35" name="TextBox 23">
            <a:extLst>
              <a:ext uri="{FF2B5EF4-FFF2-40B4-BE49-F238E27FC236}">
                <a16:creationId xmlns:a16="http://schemas.microsoft.com/office/drawing/2014/main" id="{54F51946-42B8-FCEE-0957-3FAA6014B33D}"/>
              </a:ext>
            </a:extLst>
          </p:cNvPr>
          <p:cNvSpPr txBox="1"/>
          <p:nvPr/>
        </p:nvSpPr>
        <p:spPr>
          <a:xfrm>
            <a:off x="9354907" y="6135612"/>
            <a:ext cx="4265725" cy="1769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Validation: </a:t>
            </a:r>
            <a:r>
              <a:rPr lang="en-US" sz="2499" dirty="0">
                <a:solidFill>
                  <a:srgbClr val="000000"/>
                </a:solidFill>
                <a:latin typeface="Work Sans" pitchFamily="2" charset="0"/>
                <a:ea typeface="Work Sans Bold"/>
                <a:cs typeface="Work Sans Bold"/>
                <a:sym typeface="Work Sans Bold"/>
              </a:rPr>
              <a:t>Check if the candidate portfolio </a:t>
            </a:r>
            <a:r>
              <a:rPr lang="en-US" sz="1500" dirty="0">
                <a:solidFill>
                  <a:srgbClr val="000000"/>
                </a:solidFill>
                <a:latin typeface="Work Sans" pitchFamily="2" charset="0"/>
                <a:ea typeface="Work Sans Bold"/>
                <a:cs typeface="Work Sans Bold"/>
                <a:sym typeface="Work Sans Bold"/>
              </a:rPr>
              <a:t>(qualification, visa, scores, etc.) </a:t>
            </a:r>
            <a:r>
              <a:rPr lang="en-US" sz="2499" dirty="0">
                <a:solidFill>
                  <a:srgbClr val="000000"/>
                </a:solidFill>
                <a:latin typeface="Work Sans" pitchFamily="2" charset="0"/>
                <a:ea typeface="Work Sans Bold"/>
                <a:cs typeface="Work Sans Bold"/>
                <a:sym typeface="Work Sans Bold"/>
              </a:rPr>
              <a:t>matches the job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28132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5E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822885"/>
            <a:ext cx="18288000" cy="2464115"/>
            <a:chOff x="0" y="0"/>
            <a:chExt cx="4816593" cy="648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48985"/>
            </a:xfrm>
            <a:custGeom>
              <a:avLst/>
              <a:gdLst/>
              <a:ahLst/>
              <a:cxnLst/>
              <a:rect l="l" t="t" r="r" b="b"/>
              <a:pathLst>
                <a:path w="4816592" h="648985">
                  <a:moveTo>
                    <a:pt x="0" y="0"/>
                  </a:moveTo>
                  <a:lnTo>
                    <a:pt x="4816592" y="0"/>
                  </a:lnTo>
                  <a:lnTo>
                    <a:pt x="4816592" y="648985"/>
                  </a:lnTo>
                  <a:lnTo>
                    <a:pt x="0" y="648985"/>
                  </a:lnTo>
                  <a:close/>
                </a:path>
              </a:pathLst>
            </a:custGeom>
            <a:solidFill>
              <a:srgbClr val="EDE5D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706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753318" y="1675929"/>
            <a:ext cx="8781365" cy="6146955"/>
          </a:xfrm>
          <a:custGeom>
            <a:avLst/>
            <a:gdLst/>
            <a:ahLst/>
            <a:cxnLst/>
            <a:rect l="l" t="t" r="r" b="b"/>
            <a:pathLst>
              <a:path w="8781365" h="6146955">
                <a:moveTo>
                  <a:pt x="0" y="0"/>
                </a:moveTo>
                <a:lnTo>
                  <a:pt x="8781364" y="0"/>
                </a:lnTo>
                <a:lnTo>
                  <a:pt x="8781364" y="6146956"/>
                </a:lnTo>
                <a:lnTo>
                  <a:pt x="0" y="61469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856683" y="2211903"/>
            <a:ext cx="5725492" cy="5610982"/>
          </a:xfrm>
          <a:custGeom>
            <a:avLst/>
            <a:gdLst/>
            <a:ahLst/>
            <a:cxnLst/>
            <a:rect l="l" t="t" r="r" b="b"/>
            <a:pathLst>
              <a:path w="5725492" h="5610982">
                <a:moveTo>
                  <a:pt x="0" y="0"/>
                </a:moveTo>
                <a:lnTo>
                  <a:pt x="5725492" y="0"/>
                </a:lnTo>
                <a:lnTo>
                  <a:pt x="5725492" y="5610982"/>
                </a:lnTo>
                <a:lnTo>
                  <a:pt x="0" y="5610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1961659"/>
            <a:ext cx="5616120" cy="5861225"/>
          </a:xfrm>
          <a:custGeom>
            <a:avLst/>
            <a:gdLst/>
            <a:ahLst/>
            <a:cxnLst/>
            <a:rect l="l" t="t" r="r" b="b"/>
            <a:pathLst>
              <a:path w="5616120" h="5861225">
                <a:moveTo>
                  <a:pt x="0" y="0"/>
                </a:moveTo>
                <a:lnTo>
                  <a:pt x="5616120" y="0"/>
                </a:lnTo>
                <a:lnTo>
                  <a:pt x="5616120" y="5861226"/>
                </a:lnTo>
                <a:lnTo>
                  <a:pt x="0" y="5861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13918" y="8080848"/>
            <a:ext cx="17460164" cy="151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19"/>
              </a:lnSpc>
              <a:spcBef>
                <a:spcPct val="0"/>
              </a:spcBef>
            </a:pPr>
            <a:r>
              <a:rPr lang="en-US" sz="8799" b="1">
                <a:solidFill>
                  <a:srgbClr val="E65E07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AMAZON HIRING ECOSYSTEM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767116">
            <a:off x="14936737" y="-133292"/>
            <a:ext cx="3854383" cy="3016055"/>
          </a:xfrm>
          <a:custGeom>
            <a:avLst/>
            <a:gdLst/>
            <a:ahLst/>
            <a:cxnLst/>
            <a:rect l="l" t="t" r="r" b="b"/>
            <a:pathLst>
              <a:path w="3854383" h="3016055">
                <a:moveTo>
                  <a:pt x="0" y="0"/>
                </a:moveTo>
                <a:lnTo>
                  <a:pt x="3854383" y="0"/>
                </a:lnTo>
                <a:lnTo>
                  <a:pt x="3854383" y="3016055"/>
                </a:lnTo>
                <a:lnTo>
                  <a:pt x="0" y="3016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741756" y="2723926"/>
            <a:ext cx="1952772" cy="3004264"/>
          </a:xfrm>
          <a:custGeom>
            <a:avLst/>
            <a:gdLst/>
            <a:ahLst/>
            <a:cxnLst/>
            <a:rect l="l" t="t" r="r" b="b"/>
            <a:pathLst>
              <a:path w="1952772" h="3004264">
                <a:moveTo>
                  <a:pt x="0" y="0"/>
                </a:moveTo>
                <a:lnTo>
                  <a:pt x="1952771" y="0"/>
                </a:lnTo>
                <a:lnTo>
                  <a:pt x="1952771" y="3004264"/>
                </a:lnTo>
                <a:lnTo>
                  <a:pt x="0" y="3004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485944">
            <a:off x="13229871" y="7642222"/>
            <a:ext cx="5583125" cy="4368795"/>
          </a:xfrm>
          <a:custGeom>
            <a:avLst/>
            <a:gdLst/>
            <a:ahLst/>
            <a:cxnLst/>
            <a:rect l="l" t="t" r="r" b="b"/>
            <a:pathLst>
              <a:path w="5583125" h="4368795">
                <a:moveTo>
                  <a:pt x="0" y="0"/>
                </a:moveTo>
                <a:lnTo>
                  <a:pt x="5583125" y="0"/>
                </a:lnTo>
                <a:lnTo>
                  <a:pt x="5583125" y="4368795"/>
                </a:lnTo>
                <a:lnTo>
                  <a:pt x="0" y="43687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293478" y="9318295"/>
            <a:ext cx="1464695" cy="366174"/>
          </a:xfrm>
          <a:custGeom>
            <a:avLst/>
            <a:gdLst/>
            <a:ahLst/>
            <a:cxnLst/>
            <a:rect l="l" t="t" r="r" b="b"/>
            <a:pathLst>
              <a:path w="1464695" h="366174">
                <a:moveTo>
                  <a:pt x="0" y="0"/>
                </a:moveTo>
                <a:lnTo>
                  <a:pt x="1464695" y="0"/>
                </a:lnTo>
                <a:lnTo>
                  <a:pt x="1464695" y="366173"/>
                </a:lnTo>
                <a:lnTo>
                  <a:pt x="0" y="3661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828111" y="687352"/>
            <a:ext cx="1365394" cy="341348"/>
          </a:xfrm>
          <a:custGeom>
            <a:avLst/>
            <a:gdLst/>
            <a:ahLst/>
            <a:cxnLst/>
            <a:rect l="l" t="t" r="r" b="b"/>
            <a:pathLst>
              <a:path w="1365394" h="341348">
                <a:moveTo>
                  <a:pt x="0" y="0"/>
                </a:moveTo>
                <a:lnTo>
                  <a:pt x="1365394" y="0"/>
                </a:lnTo>
                <a:lnTo>
                  <a:pt x="1365394" y="341348"/>
                </a:lnTo>
                <a:lnTo>
                  <a:pt x="0" y="3413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647879" y="1598679"/>
            <a:ext cx="7571463" cy="7089642"/>
          </a:xfrm>
          <a:custGeom>
            <a:avLst/>
            <a:gdLst/>
            <a:ahLst/>
            <a:cxnLst/>
            <a:rect l="l" t="t" r="r" b="b"/>
            <a:pathLst>
              <a:path w="7571463" h="7089642">
                <a:moveTo>
                  <a:pt x="0" y="0"/>
                </a:moveTo>
                <a:lnTo>
                  <a:pt x="7571463" y="0"/>
                </a:lnTo>
                <a:lnTo>
                  <a:pt x="7571463" y="7089642"/>
                </a:lnTo>
                <a:lnTo>
                  <a:pt x="0" y="70896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04628" y="2183287"/>
            <a:ext cx="10143251" cy="5818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 b="1" dirty="0">
                <a:solidFill>
                  <a:srgbClr val="1A2526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HOW DOES AMAZON HIRE THE BEST CANDIDATES?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4BB0E1-1772-F8C4-0975-60C3D75B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B66F041-2082-C127-9569-0AB2CE8CD605}"/>
              </a:ext>
            </a:extLst>
          </p:cNvPr>
          <p:cNvGrpSpPr/>
          <p:nvPr/>
        </p:nvGrpSpPr>
        <p:grpSpPr>
          <a:xfrm>
            <a:off x="0" y="38100"/>
            <a:ext cx="20574000" cy="10287000"/>
            <a:chOff x="0" y="0"/>
            <a:chExt cx="27432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034063F-6BBC-6831-FEA5-D15DA2E54E26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F59D707-65BF-64D0-4F21-3A0089020CD3}"/>
                </a:ext>
              </a:extLst>
            </p:cNvPr>
            <p:cNvSpPr/>
            <p:nvPr/>
          </p:nvSpPr>
          <p:spPr>
            <a:xfrm>
              <a:off x="1371600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281CC3D-8B10-2D11-3022-0705FD0A026D}"/>
              </a:ext>
            </a:extLst>
          </p:cNvPr>
          <p:cNvGrpSpPr/>
          <p:nvPr/>
        </p:nvGrpSpPr>
        <p:grpSpPr>
          <a:xfrm>
            <a:off x="242284" y="289533"/>
            <a:ext cx="17830102" cy="9691390"/>
            <a:chOff x="0" y="0"/>
            <a:chExt cx="4695994" cy="255246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C09FACF-C316-4124-648E-421DFE026A38}"/>
                </a:ext>
              </a:extLst>
            </p:cNvPr>
            <p:cNvSpPr/>
            <p:nvPr/>
          </p:nvSpPr>
          <p:spPr>
            <a:xfrm>
              <a:off x="0" y="0"/>
              <a:ext cx="4695994" cy="2552465"/>
            </a:xfrm>
            <a:custGeom>
              <a:avLst/>
              <a:gdLst/>
              <a:ahLst/>
              <a:cxnLst/>
              <a:rect l="l" t="t" r="r" b="b"/>
              <a:pathLst>
                <a:path w="4695994" h="2552465">
                  <a:moveTo>
                    <a:pt x="22144" y="0"/>
                  </a:moveTo>
                  <a:lnTo>
                    <a:pt x="4673850" y="0"/>
                  </a:lnTo>
                  <a:cubicBezTo>
                    <a:pt x="4686079" y="0"/>
                    <a:pt x="4695994" y="9914"/>
                    <a:pt x="4695994" y="22144"/>
                  </a:cubicBezTo>
                  <a:lnTo>
                    <a:pt x="4695994" y="2530321"/>
                  </a:lnTo>
                  <a:cubicBezTo>
                    <a:pt x="4695994" y="2536194"/>
                    <a:pt x="4693661" y="2541826"/>
                    <a:pt x="4689508" y="2545979"/>
                  </a:cubicBezTo>
                  <a:cubicBezTo>
                    <a:pt x="4685355" y="2550132"/>
                    <a:pt x="4679722" y="2552465"/>
                    <a:pt x="4673850" y="2552465"/>
                  </a:cubicBezTo>
                  <a:lnTo>
                    <a:pt x="22144" y="2552465"/>
                  </a:lnTo>
                  <a:cubicBezTo>
                    <a:pt x="9914" y="2552465"/>
                    <a:pt x="0" y="2542551"/>
                    <a:pt x="0" y="2530321"/>
                  </a:cubicBezTo>
                  <a:lnTo>
                    <a:pt x="0" y="22144"/>
                  </a:lnTo>
                  <a:cubicBezTo>
                    <a:pt x="0" y="16271"/>
                    <a:pt x="2333" y="10639"/>
                    <a:pt x="6486" y="6486"/>
                  </a:cubicBezTo>
                  <a:cubicBezTo>
                    <a:pt x="10639" y="2333"/>
                    <a:pt x="16271" y="0"/>
                    <a:pt x="22144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D2466D0-CAC2-E575-279C-B133E1C95BA9}"/>
                </a:ext>
              </a:extLst>
            </p:cNvPr>
            <p:cNvSpPr txBox="1"/>
            <p:nvPr/>
          </p:nvSpPr>
          <p:spPr>
            <a:xfrm>
              <a:off x="0" y="-19050"/>
              <a:ext cx="4695994" cy="2571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20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0988A7C9-FAD9-CCB4-6B6F-0088201ABA6A}"/>
              </a:ext>
            </a:extLst>
          </p:cNvPr>
          <p:cNvSpPr/>
          <p:nvPr/>
        </p:nvSpPr>
        <p:spPr>
          <a:xfrm>
            <a:off x="14897188" y="8265601"/>
            <a:ext cx="3148528" cy="1893576"/>
          </a:xfrm>
          <a:custGeom>
            <a:avLst/>
            <a:gdLst/>
            <a:ahLst/>
            <a:cxnLst/>
            <a:rect l="l" t="t" r="r" b="b"/>
            <a:pathLst>
              <a:path w="3381589" h="2150634">
                <a:moveTo>
                  <a:pt x="3381589" y="0"/>
                </a:moveTo>
                <a:lnTo>
                  <a:pt x="0" y="0"/>
                </a:lnTo>
                <a:lnTo>
                  <a:pt x="0" y="2150634"/>
                </a:lnTo>
                <a:lnTo>
                  <a:pt x="3381589" y="2150634"/>
                </a:lnTo>
                <a:lnTo>
                  <a:pt x="33815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072F64E8-F615-D690-B05C-EE1B7CE0655E}"/>
              </a:ext>
            </a:extLst>
          </p:cNvPr>
          <p:cNvSpPr txBox="1"/>
          <p:nvPr/>
        </p:nvSpPr>
        <p:spPr>
          <a:xfrm>
            <a:off x="4350603" y="1028700"/>
            <a:ext cx="9586794" cy="804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 b="1" dirty="0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The “Bar Raiser” Philosophy</a:t>
            </a:r>
          </a:p>
        </p:txBody>
      </p:sp>
      <p:sp>
        <p:nvSpPr>
          <p:cNvPr id="26" name="TextBox 16">
            <a:extLst>
              <a:ext uri="{FF2B5EF4-FFF2-40B4-BE49-F238E27FC236}">
                <a16:creationId xmlns:a16="http://schemas.microsoft.com/office/drawing/2014/main" id="{6137C7BD-AABA-B69C-8644-9E11FFC958EE}"/>
              </a:ext>
            </a:extLst>
          </p:cNvPr>
          <p:cNvSpPr txBox="1"/>
          <p:nvPr/>
        </p:nvSpPr>
        <p:spPr>
          <a:xfrm>
            <a:off x="1422211" y="2350985"/>
            <a:ext cx="15873875" cy="1245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721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The Mission: </a:t>
            </a:r>
          </a:p>
          <a:p>
            <a:pPr algn="just">
              <a:lnSpc>
                <a:spcPts val="5040"/>
              </a:lnSpc>
            </a:pPr>
            <a:r>
              <a:rPr lang="en-US" sz="3000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Amazon doesn't just hire to fill a gap; they hire to raise the bar.</a:t>
            </a:r>
          </a:p>
        </p:txBody>
      </p:sp>
      <p:sp>
        <p:nvSpPr>
          <p:cNvPr id="27" name="TextBox 17">
            <a:extLst>
              <a:ext uri="{FF2B5EF4-FFF2-40B4-BE49-F238E27FC236}">
                <a16:creationId xmlns:a16="http://schemas.microsoft.com/office/drawing/2014/main" id="{A65B0B21-E8D6-5A72-E0F9-C98C1878E500}"/>
              </a:ext>
            </a:extLst>
          </p:cNvPr>
          <p:cNvSpPr txBox="1"/>
          <p:nvPr/>
        </p:nvSpPr>
        <p:spPr>
          <a:xfrm>
            <a:off x="1391546" y="4063365"/>
            <a:ext cx="15283430" cy="111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FF721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The Rule: </a:t>
            </a:r>
          </a:p>
          <a:p>
            <a:pPr marL="0" lvl="0" indent="0" algn="just">
              <a:lnSpc>
                <a:spcPts val="5040"/>
              </a:lnSpc>
            </a:pPr>
            <a:r>
              <a:rPr lang="en-US" sz="3000" u="none" strike="noStrike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 new hire should be better than 50% of the current employees in that role.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8AA88C2-A87E-2F6E-DC6A-8C9CD7E77E95}"/>
              </a:ext>
            </a:extLst>
          </p:cNvPr>
          <p:cNvGrpSpPr/>
          <p:nvPr/>
        </p:nvGrpSpPr>
        <p:grpSpPr>
          <a:xfrm>
            <a:off x="1156992" y="5753100"/>
            <a:ext cx="16000685" cy="2411724"/>
            <a:chOff x="1295400" y="5524500"/>
            <a:chExt cx="16000685" cy="2411724"/>
          </a:xfrm>
        </p:grpSpPr>
        <p:grpSp>
          <p:nvGrpSpPr>
            <p:cNvPr id="28" name="Group 12">
              <a:extLst>
                <a:ext uri="{FF2B5EF4-FFF2-40B4-BE49-F238E27FC236}">
                  <a16:creationId xmlns:a16="http://schemas.microsoft.com/office/drawing/2014/main" id="{33D00628-4336-53E8-803E-2545760950EA}"/>
                </a:ext>
              </a:extLst>
            </p:cNvPr>
            <p:cNvGrpSpPr/>
            <p:nvPr/>
          </p:nvGrpSpPr>
          <p:grpSpPr>
            <a:xfrm>
              <a:off x="1295400" y="5524500"/>
              <a:ext cx="15869228" cy="2411724"/>
              <a:chOff x="0" y="0"/>
              <a:chExt cx="3187040" cy="739771"/>
            </a:xfrm>
          </p:grpSpPr>
          <p:sp>
            <p:nvSpPr>
              <p:cNvPr id="29" name="Freeform 13">
                <a:extLst>
                  <a:ext uri="{FF2B5EF4-FFF2-40B4-BE49-F238E27FC236}">
                    <a16:creationId xmlns:a16="http://schemas.microsoft.com/office/drawing/2014/main" id="{E5585FAB-A399-883C-22A1-80B76353A467}"/>
                  </a:ext>
                </a:extLst>
              </p:cNvPr>
              <p:cNvSpPr/>
              <p:nvPr/>
            </p:nvSpPr>
            <p:spPr>
              <a:xfrm>
                <a:off x="0" y="0"/>
                <a:ext cx="3187040" cy="739771"/>
              </a:xfrm>
              <a:custGeom>
                <a:avLst/>
                <a:gdLst/>
                <a:ahLst/>
                <a:cxnLst/>
                <a:rect l="l" t="t" r="r" b="b"/>
                <a:pathLst>
                  <a:path w="3187040" h="739771">
                    <a:moveTo>
                      <a:pt x="3107622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660353"/>
                    </a:lnTo>
                    <a:cubicBezTo>
                      <a:pt x="43699" y="660353"/>
                      <a:pt x="79418" y="695692"/>
                      <a:pt x="79418" y="739771"/>
                    </a:cubicBezTo>
                    <a:lnTo>
                      <a:pt x="3107622" y="739771"/>
                    </a:lnTo>
                    <a:cubicBezTo>
                      <a:pt x="3107622" y="696072"/>
                      <a:pt x="3142961" y="660353"/>
                      <a:pt x="3187040" y="660353"/>
                    </a:cubicBezTo>
                    <a:lnTo>
                      <a:pt x="3187040" y="79418"/>
                    </a:lnTo>
                    <a:cubicBezTo>
                      <a:pt x="3143341" y="79418"/>
                      <a:pt x="3107622" y="44079"/>
                      <a:pt x="3107622" y="0"/>
                    </a:cubicBezTo>
                    <a:close/>
                  </a:path>
                </a:pathLst>
              </a:custGeom>
              <a:solidFill>
                <a:srgbClr val="FFD78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14">
                <a:extLst>
                  <a:ext uri="{FF2B5EF4-FFF2-40B4-BE49-F238E27FC236}">
                    <a16:creationId xmlns:a16="http://schemas.microsoft.com/office/drawing/2014/main" id="{0102D6CB-0B64-638C-62B9-FC4F0998A9F9}"/>
                  </a:ext>
                </a:extLst>
              </p:cNvPr>
              <p:cNvSpPr txBox="1"/>
              <p:nvPr/>
            </p:nvSpPr>
            <p:spPr>
              <a:xfrm>
                <a:off x="38100" y="28575"/>
                <a:ext cx="3110840" cy="6730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40"/>
                  </a:lnSpc>
                </a:pPr>
                <a:endParaRPr/>
              </a:p>
            </p:txBody>
          </p:sp>
        </p:grpSp>
        <p:sp>
          <p:nvSpPr>
            <p:cNvPr id="31" name="TextBox 18">
              <a:extLst>
                <a:ext uri="{FF2B5EF4-FFF2-40B4-BE49-F238E27FC236}">
                  <a16:creationId xmlns:a16="http://schemas.microsoft.com/office/drawing/2014/main" id="{BCD7A4B5-BB45-66E0-50F7-6D7593974736}"/>
                </a:ext>
              </a:extLst>
            </p:cNvPr>
            <p:cNvSpPr txBox="1"/>
            <p:nvPr/>
          </p:nvSpPr>
          <p:spPr>
            <a:xfrm>
              <a:off x="1617622" y="5799905"/>
              <a:ext cx="15678463" cy="175317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650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Example:</a:t>
              </a:r>
            </a:p>
            <a:p>
              <a:pPr algn="l">
                <a:lnSpc>
                  <a:spcPts val="4650"/>
                </a:lnSpc>
              </a:pPr>
              <a:r>
                <a:rPr lang="en-US" sz="3000" dirty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Like a Professional Sports Team; you don't just need a player; you need someone who makes the whole team more competitive than they were yesterday.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2985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5E0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920858-2D37-E350-D849-785C829F5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0">
            <a:extLst>
              <a:ext uri="{FF2B5EF4-FFF2-40B4-BE49-F238E27FC236}">
                <a16:creationId xmlns:a16="http://schemas.microsoft.com/office/drawing/2014/main" id="{D5A49ACA-246A-A7AA-EBC5-511E38B8BCDE}"/>
              </a:ext>
            </a:extLst>
          </p:cNvPr>
          <p:cNvSpPr txBox="1"/>
          <p:nvPr/>
        </p:nvSpPr>
        <p:spPr>
          <a:xfrm>
            <a:off x="1595309" y="8624"/>
            <a:ext cx="15519195" cy="1978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18"/>
              </a:lnSpc>
              <a:spcBef>
                <a:spcPct val="0"/>
              </a:spcBef>
            </a:pPr>
            <a:r>
              <a:rPr lang="en-US" sz="10000" b="1" dirty="0">
                <a:solidFill>
                  <a:srgbClr val="FFFFFB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STAR Interview Method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D038133-0588-9606-7EAE-0B747E59E940}"/>
              </a:ext>
            </a:extLst>
          </p:cNvPr>
          <p:cNvGrpSpPr/>
          <p:nvPr/>
        </p:nvGrpSpPr>
        <p:grpSpPr>
          <a:xfrm>
            <a:off x="259489" y="2240091"/>
            <a:ext cx="4099356" cy="7158948"/>
            <a:chOff x="259489" y="2240091"/>
            <a:chExt cx="4099356" cy="7158948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841FC58-AAB4-B749-7B95-6E5538BC452C}"/>
                </a:ext>
              </a:extLst>
            </p:cNvPr>
            <p:cNvGrpSpPr/>
            <p:nvPr/>
          </p:nvGrpSpPr>
          <p:grpSpPr>
            <a:xfrm>
              <a:off x="259489" y="5583307"/>
              <a:ext cx="4099356" cy="3815732"/>
              <a:chOff x="259489" y="5583307"/>
              <a:chExt cx="4099356" cy="3815732"/>
            </a:xfrm>
          </p:grpSpPr>
          <p:grpSp>
            <p:nvGrpSpPr>
              <p:cNvPr id="3" name="Group 3">
                <a:extLst>
                  <a:ext uri="{FF2B5EF4-FFF2-40B4-BE49-F238E27FC236}">
                    <a16:creationId xmlns:a16="http://schemas.microsoft.com/office/drawing/2014/main" id="{9202F3B9-9218-831B-7127-1CF5C871B6BA}"/>
                  </a:ext>
                </a:extLst>
              </p:cNvPr>
              <p:cNvGrpSpPr/>
              <p:nvPr/>
            </p:nvGrpSpPr>
            <p:grpSpPr>
              <a:xfrm>
                <a:off x="259489" y="5583307"/>
                <a:ext cx="4099356" cy="1970009"/>
                <a:chOff x="0" y="0"/>
                <a:chExt cx="5465808" cy="2626679"/>
              </a:xfrm>
            </p:grpSpPr>
            <p:grpSp>
              <p:nvGrpSpPr>
                <p:cNvPr id="4" name="Group 4">
                  <a:extLst>
                    <a:ext uri="{FF2B5EF4-FFF2-40B4-BE49-F238E27FC236}">
                      <a16:creationId xmlns:a16="http://schemas.microsoft.com/office/drawing/2014/main" id="{0F4CD848-C07E-8172-713B-BE8BC4A977A6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5465808" cy="2626679"/>
                  <a:chOff x="0" y="0"/>
                  <a:chExt cx="1079666" cy="518850"/>
                </a:xfrm>
              </p:grpSpPr>
              <p:sp>
                <p:nvSpPr>
                  <p:cNvPr id="5" name="Freeform 5">
                    <a:extLst>
                      <a:ext uri="{FF2B5EF4-FFF2-40B4-BE49-F238E27FC236}">
                        <a16:creationId xmlns:a16="http://schemas.microsoft.com/office/drawing/2014/main" id="{4D4122C6-D3A7-BC93-42D7-2B272E2E87D4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079666" cy="518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9666" h="518850">
                        <a:moveTo>
                          <a:pt x="96317" y="0"/>
                        </a:moveTo>
                        <a:lnTo>
                          <a:pt x="983349" y="0"/>
                        </a:lnTo>
                        <a:cubicBezTo>
                          <a:pt x="1036543" y="0"/>
                          <a:pt x="1079666" y="43123"/>
                          <a:pt x="1079666" y="96317"/>
                        </a:cubicBezTo>
                        <a:lnTo>
                          <a:pt x="1079666" y="422533"/>
                        </a:lnTo>
                        <a:cubicBezTo>
                          <a:pt x="1079666" y="448078"/>
                          <a:pt x="1069518" y="472577"/>
                          <a:pt x="1051455" y="490639"/>
                        </a:cubicBezTo>
                        <a:cubicBezTo>
                          <a:pt x="1033392" y="508702"/>
                          <a:pt x="1008893" y="518850"/>
                          <a:pt x="983349" y="518850"/>
                        </a:cubicBezTo>
                        <a:lnTo>
                          <a:pt x="96317" y="518850"/>
                        </a:lnTo>
                        <a:cubicBezTo>
                          <a:pt x="70772" y="518850"/>
                          <a:pt x="46274" y="508702"/>
                          <a:pt x="28211" y="490639"/>
                        </a:cubicBezTo>
                        <a:cubicBezTo>
                          <a:pt x="10148" y="472577"/>
                          <a:pt x="0" y="448078"/>
                          <a:pt x="0" y="422533"/>
                        </a:cubicBezTo>
                        <a:lnTo>
                          <a:pt x="0" y="96317"/>
                        </a:lnTo>
                        <a:cubicBezTo>
                          <a:pt x="0" y="70772"/>
                          <a:pt x="10148" y="46274"/>
                          <a:pt x="28211" y="28211"/>
                        </a:cubicBezTo>
                        <a:cubicBezTo>
                          <a:pt x="46274" y="10148"/>
                          <a:pt x="70772" y="0"/>
                          <a:pt x="96317" y="0"/>
                        </a:cubicBezTo>
                        <a:close/>
                      </a:path>
                    </a:pathLst>
                  </a:custGeom>
                  <a:solidFill>
                    <a:srgbClr val="FFFFFB"/>
                  </a:solidFill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" name="TextBox 6">
                    <a:extLst>
                      <a:ext uri="{FF2B5EF4-FFF2-40B4-BE49-F238E27FC236}">
                        <a16:creationId xmlns:a16="http://schemas.microsoft.com/office/drawing/2014/main" id="{B146ED3E-3E79-5755-63E7-D99CD26627D5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1079666" cy="566475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3499"/>
                      </a:lnSpc>
                    </a:pPr>
                    <a:endParaRPr/>
                  </a:p>
                </p:txBody>
              </p:sp>
            </p:grpSp>
            <p:sp>
              <p:nvSpPr>
                <p:cNvPr id="7" name="TextBox 7">
                  <a:extLst>
                    <a:ext uri="{FF2B5EF4-FFF2-40B4-BE49-F238E27FC236}">
                      <a16:creationId xmlns:a16="http://schemas.microsoft.com/office/drawing/2014/main" id="{B347AE6C-5E19-061C-F9D3-3FCDB343CA41}"/>
                    </a:ext>
                  </a:extLst>
                </p:cNvPr>
                <p:cNvSpPr txBox="1"/>
                <p:nvPr/>
              </p:nvSpPr>
              <p:spPr>
                <a:xfrm>
                  <a:off x="234647" y="284089"/>
                  <a:ext cx="4996515" cy="1974302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4759"/>
                    </a:lnSpc>
                  </a:pPr>
                  <a:r>
                    <a:rPr lang="en-US" sz="3399" b="1" dirty="0">
                      <a:solidFill>
                        <a:srgbClr val="FF7210"/>
                      </a:solidFill>
                      <a:latin typeface="Work Sans Bold"/>
                      <a:ea typeface="Work Sans Bold"/>
                      <a:cs typeface="Work Sans Bold"/>
                      <a:sym typeface="Work Sans Bold"/>
                    </a:rPr>
                    <a:t>S</a:t>
                  </a:r>
                  <a:r>
                    <a:rPr lang="en-US" sz="3399" b="1" dirty="0">
                      <a:solidFill>
                        <a:srgbClr val="000000"/>
                      </a:solidFill>
                      <a:latin typeface="Work Sans Bold"/>
                      <a:ea typeface="Work Sans Bold"/>
                      <a:cs typeface="Work Sans Bold"/>
                      <a:sym typeface="Work Sans Bold"/>
                    </a:rPr>
                    <a:t>ituation</a:t>
                  </a:r>
                </a:p>
                <a:p>
                  <a:pPr algn="ctr">
                    <a:lnSpc>
                      <a:spcPts val="3499"/>
                    </a:lnSpc>
                    <a:spcBef>
                      <a:spcPct val="0"/>
                    </a:spcBef>
                  </a:pPr>
                  <a:r>
                    <a:rPr lang="en-US" sz="2499" dirty="0">
                      <a:solidFill>
                        <a:srgbClr val="000000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 Describe the situation or challenge you faced</a:t>
                  </a:r>
                </a:p>
              </p:txBody>
            </p:sp>
          </p:grpSp>
          <p:sp>
            <p:nvSpPr>
              <p:cNvPr id="24" name="Freeform 24">
                <a:extLst>
                  <a:ext uri="{FF2B5EF4-FFF2-40B4-BE49-F238E27FC236}">
                    <a16:creationId xmlns:a16="http://schemas.microsoft.com/office/drawing/2014/main" id="{867A51BA-618B-EA07-ABD7-446B2440AC85}"/>
                  </a:ext>
                </a:extLst>
              </p:cNvPr>
              <p:cNvSpPr/>
              <p:nvPr/>
            </p:nvSpPr>
            <p:spPr>
              <a:xfrm>
                <a:off x="1384402" y="7853463"/>
                <a:ext cx="1531526" cy="1545576"/>
              </a:xfrm>
              <a:custGeom>
                <a:avLst/>
                <a:gdLst/>
                <a:ahLst/>
                <a:cxnLst/>
                <a:rect l="l" t="t" r="r" b="b"/>
                <a:pathLst>
                  <a:path w="1531526" h="1545576">
                    <a:moveTo>
                      <a:pt x="0" y="0"/>
                    </a:moveTo>
                    <a:lnTo>
                      <a:pt x="1531526" y="0"/>
                    </a:lnTo>
                    <a:lnTo>
                      <a:pt x="1531526" y="1545576"/>
                    </a:lnTo>
                    <a:lnTo>
                      <a:pt x="0" y="154557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581D216E-81D3-F318-32AD-1BC370A22B6D}"/>
                </a:ext>
              </a:extLst>
            </p:cNvPr>
            <p:cNvSpPr/>
            <p:nvPr/>
          </p:nvSpPr>
          <p:spPr>
            <a:xfrm>
              <a:off x="838759" y="2240091"/>
              <a:ext cx="3145539" cy="3061062"/>
            </a:xfrm>
            <a:custGeom>
              <a:avLst/>
              <a:gdLst/>
              <a:ahLst/>
              <a:cxnLst/>
              <a:rect l="l" t="t" r="r" b="b"/>
              <a:pathLst>
                <a:path w="3145539" h="3061062">
                  <a:moveTo>
                    <a:pt x="0" y="0"/>
                  </a:moveTo>
                  <a:lnTo>
                    <a:pt x="3145539" y="0"/>
                  </a:lnTo>
                  <a:lnTo>
                    <a:pt x="3145539" y="3061061"/>
                  </a:lnTo>
                  <a:lnTo>
                    <a:pt x="0" y="3061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37BFF77-EA52-8C08-7096-92B618D2CEFA}"/>
              </a:ext>
            </a:extLst>
          </p:cNvPr>
          <p:cNvGrpSpPr/>
          <p:nvPr/>
        </p:nvGrpSpPr>
        <p:grpSpPr>
          <a:xfrm>
            <a:off x="4807876" y="3032566"/>
            <a:ext cx="4099356" cy="6406918"/>
            <a:chOff x="4807876" y="3032566"/>
            <a:chExt cx="4099356" cy="640691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C7AEC5A-4C77-0758-F102-3D99A6D23E2F}"/>
                </a:ext>
              </a:extLst>
            </p:cNvPr>
            <p:cNvGrpSpPr/>
            <p:nvPr/>
          </p:nvGrpSpPr>
          <p:grpSpPr>
            <a:xfrm>
              <a:off x="4807876" y="3032566"/>
              <a:ext cx="4099356" cy="6406918"/>
              <a:chOff x="4807876" y="3032566"/>
              <a:chExt cx="4099356" cy="6406918"/>
            </a:xfrm>
          </p:grpSpPr>
          <p:grpSp>
            <p:nvGrpSpPr>
              <p:cNvPr id="8" name="Group 8">
                <a:extLst>
                  <a:ext uri="{FF2B5EF4-FFF2-40B4-BE49-F238E27FC236}">
                    <a16:creationId xmlns:a16="http://schemas.microsoft.com/office/drawing/2014/main" id="{160C8159-EFEB-02E0-1F45-583DC2824742}"/>
                  </a:ext>
                </a:extLst>
              </p:cNvPr>
              <p:cNvGrpSpPr/>
              <p:nvPr/>
            </p:nvGrpSpPr>
            <p:grpSpPr>
              <a:xfrm>
                <a:off x="4807876" y="7469475"/>
                <a:ext cx="4099356" cy="1970009"/>
                <a:chOff x="0" y="0"/>
                <a:chExt cx="5465808" cy="2626679"/>
              </a:xfrm>
            </p:grpSpPr>
            <p:grpSp>
              <p:nvGrpSpPr>
                <p:cNvPr id="9" name="Group 9">
                  <a:extLst>
                    <a:ext uri="{FF2B5EF4-FFF2-40B4-BE49-F238E27FC236}">
                      <a16:creationId xmlns:a16="http://schemas.microsoft.com/office/drawing/2014/main" id="{1016EB52-C406-A801-60F3-5D1A30158E08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5465808" cy="2626679"/>
                  <a:chOff x="0" y="0"/>
                  <a:chExt cx="1079666" cy="518850"/>
                </a:xfrm>
              </p:grpSpPr>
              <p:sp>
                <p:nvSpPr>
                  <p:cNvPr id="10" name="Freeform 10">
                    <a:extLst>
                      <a:ext uri="{FF2B5EF4-FFF2-40B4-BE49-F238E27FC236}">
                        <a16:creationId xmlns:a16="http://schemas.microsoft.com/office/drawing/2014/main" id="{27458C88-735A-B68D-C687-BB6F84D5ED3A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079666" cy="518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9666" h="518850">
                        <a:moveTo>
                          <a:pt x="96317" y="0"/>
                        </a:moveTo>
                        <a:lnTo>
                          <a:pt x="983349" y="0"/>
                        </a:lnTo>
                        <a:cubicBezTo>
                          <a:pt x="1036543" y="0"/>
                          <a:pt x="1079666" y="43123"/>
                          <a:pt x="1079666" y="96317"/>
                        </a:cubicBezTo>
                        <a:lnTo>
                          <a:pt x="1079666" y="422533"/>
                        </a:lnTo>
                        <a:cubicBezTo>
                          <a:pt x="1079666" y="448078"/>
                          <a:pt x="1069518" y="472577"/>
                          <a:pt x="1051455" y="490639"/>
                        </a:cubicBezTo>
                        <a:cubicBezTo>
                          <a:pt x="1033392" y="508702"/>
                          <a:pt x="1008893" y="518850"/>
                          <a:pt x="983349" y="518850"/>
                        </a:cubicBezTo>
                        <a:lnTo>
                          <a:pt x="96317" y="518850"/>
                        </a:lnTo>
                        <a:cubicBezTo>
                          <a:pt x="70772" y="518850"/>
                          <a:pt x="46274" y="508702"/>
                          <a:pt x="28211" y="490639"/>
                        </a:cubicBezTo>
                        <a:cubicBezTo>
                          <a:pt x="10148" y="472577"/>
                          <a:pt x="0" y="448078"/>
                          <a:pt x="0" y="422533"/>
                        </a:cubicBezTo>
                        <a:lnTo>
                          <a:pt x="0" y="96317"/>
                        </a:lnTo>
                        <a:cubicBezTo>
                          <a:pt x="0" y="70772"/>
                          <a:pt x="10148" y="46274"/>
                          <a:pt x="28211" y="28211"/>
                        </a:cubicBezTo>
                        <a:cubicBezTo>
                          <a:pt x="46274" y="10148"/>
                          <a:pt x="70772" y="0"/>
                          <a:pt x="96317" y="0"/>
                        </a:cubicBezTo>
                        <a:close/>
                      </a:path>
                    </a:pathLst>
                  </a:custGeom>
                  <a:solidFill>
                    <a:srgbClr val="FFFFFB"/>
                  </a:solidFill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" name="TextBox 11">
                    <a:extLst>
                      <a:ext uri="{FF2B5EF4-FFF2-40B4-BE49-F238E27FC236}">
                        <a16:creationId xmlns:a16="http://schemas.microsoft.com/office/drawing/2014/main" id="{107F6C52-8089-BF85-8CC4-1C308A492ECC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1079666" cy="566475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3499"/>
                      </a:lnSpc>
                    </a:pPr>
                    <a:endParaRPr/>
                  </a:p>
                </p:txBody>
              </p:sp>
            </p:grpSp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52F8785C-E043-B640-1F40-A7F2D892843F}"/>
                    </a:ext>
                  </a:extLst>
                </p:cNvPr>
                <p:cNvSpPr txBox="1"/>
                <p:nvPr/>
              </p:nvSpPr>
              <p:spPr>
                <a:xfrm>
                  <a:off x="234647" y="353100"/>
                  <a:ext cx="4996515" cy="1974302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4759"/>
                    </a:lnSpc>
                  </a:pPr>
                  <a:r>
                    <a:rPr lang="en-US" sz="3399" b="1" dirty="0">
                      <a:solidFill>
                        <a:srgbClr val="FF7210"/>
                      </a:solidFill>
                      <a:latin typeface="Work Sans Bold"/>
                      <a:ea typeface="Work Sans Bold"/>
                      <a:cs typeface="Work Sans Bold"/>
                      <a:sym typeface="Work Sans Bold"/>
                    </a:rPr>
                    <a:t>T</a:t>
                  </a:r>
                  <a:r>
                    <a:rPr lang="en-US" sz="3399" b="1" dirty="0">
                      <a:solidFill>
                        <a:srgbClr val="000000"/>
                      </a:solidFill>
                      <a:latin typeface="Work Sans Bold"/>
                      <a:ea typeface="Work Sans Bold"/>
                      <a:cs typeface="Work Sans Bold"/>
                      <a:sym typeface="Work Sans Bold"/>
                    </a:rPr>
                    <a:t>ask</a:t>
                  </a:r>
                </a:p>
                <a:p>
                  <a:pPr algn="ctr">
                    <a:lnSpc>
                      <a:spcPts val="3499"/>
                    </a:lnSpc>
                    <a:spcBef>
                      <a:spcPct val="0"/>
                    </a:spcBef>
                  </a:pPr>
                  <a:r>
                    <a:rPr lang="en-US" sz="2499" dirty="0">
                      <a:solidFill>
                        <a:srgbClr val="000000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 Explain the task and your responsibility</a:t>
                  </a:r>
                </a:p>
              </p:txBody>
            </p:sp>
          </p:grpSp>
          <p:sp>
            <p:nvSpPr>
              <p:cNvPr id="25" name="Freeform 25">
                <a:extLst>
                  <a:ext uri="{FF2B5EF4-FFF2-40B4-BE49-F238E27FC236}">
                    <a16:creationId xmlns:a16="http://schemas.microsoft.com/office/drawing/2014/main" id="{B35167F1-801C-42AB-93CB-A76B102D0457}"/>
                  </a:ext>
                </a:extLst>
              </p:cNvPr>
              <p:cNvSpPr/>
              <p:nvPr/>
            </p:nvSpPr>
            <p:spPr>
              <a:xfrm>
                <a:off x="6139725" y="3032566"/>
                <a:ext cx="1435657" cy="1454164"/>
              </a:xfrm>
              <a:custGeom>
                <a:avLst/>
                <a:gdLst/>
                <a:ahLst/>
                <a:cxnLst/>
                <a:rect l="l" t="t" r="r" b="b"/>
                <a:pathLst>
                  <a:path w="1435657" h="1454164">
                    <a:moveTo>
                      <a:pt x="0" y="0"/>
                    </a:moveTo>
                    <a:lnTo>
                      <a:pt x="1435657" y="0"/>
                    </a:lnTo>
                    <a:lnTo>
                      <a:pt x="1435657" y="1454165"/>
                    </a:lnTo>
                    <a:lnTo>
                      <a:pt x="0" y="145416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9DEAFE93-2914-24A0-AFEA-2F74119D21DB}"/>
                </a:ext>
              </a:extLst>
            </p:cNvPr>
            <p:cNvSpPr/>
            <p:nvPr/>
          </p:nvSpPr>
          <p:spPr>
            <a:xfrm>
              <a:off x="5593686" y="4595625"/>
              <a:ext cx="2414248" cy="2736081"/>
            </a:xfrm>
            <a:custGeom>
              <a:avLst/>
              <a:gdLst/>
              <a:ahLst/>
              <a:cxnLst/>
              <a:rect l="l" t="t" r="r" b="b"/>
              <a:pathLst>
                <a:path w="2641374" h="3206524">
                  <a:moveTo>
                    <a:pt x="0" y="0"/>
                  </a:moveTo>
                  <a:lnTo>
                    <a:pt x="2641374" y="0"/>
                  </a:lnTo>
                  <a:lnTo>
                    <a:pt x="2641374" y="3206525"/>
                  </a:lnTo>
                  <a:lnTo>
                    <a:pt x="0" y="3206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5D951F8-3CAD-246D-AA4E-D4DCCF0ED98B}"/>
              </a:ext>
            </a:extLst>
          </p:cNvPr>
          <p:cNvGrpSpPr/>
          <p:nvPr/>
        </p:nvGrpSpPr>
        <p:grpSpPr>
          <a:xfrm>
            <a:off x="9354907" y="2321556"/>
            <a:ext cx="4265725" cy="7532960"/>
            <a:chOff x="9354907" y="2321556"/>
            <a:chExt cx="4265725" cy="753296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B08F80B-AF75-0D45-130D-DF3F685C753C}"/>
                </a:ext>
              </a:extLst>
            </p:cNvPr>
            <p:cNvGrpSpPr/>
            <p:nvPr/>
          </p:nvGrpSpPr>
          <p:grpSpPr>
            <a:xfrm>
              <a:off x="9354907" y="5849901"/>
              <a:ext cx="4265725" cy="4004615"/>
              <a:chOff x="9354907" y="5849901"/>
              <a:chExt cx="4265725" cy="4004615"/>
            </a:xfrm>
          </p:grpSpPr>
          <p:grpSp>
            <p:nvGrpSpPr>
              <p:cNvPr id="14" name="Group 14">
                <a:extLst>
                  <a:ext uri="{FF2B5EF4-FFF2-40B4-BE49-F238E27FC236}">
                    <a16:creationId xmlns:a16="http://schemas.microsoft.com/office/drawing/2014/main" id="{8746ECAE-ED96-6449-88C6-2DD8F8132A0D}"/>
                  </a:ext>
                </a:extLst>
              </p:cNvPr>
              <p:cNvGrpSpPr/>
              <p:nvPr/>
            </p:nvGrpSpPr>
            <p:grpSpPr>
              <a:xfrm>
                <a:off x="9354907" y="5849901"/>
                <a:ext cx="4265725" cy="2330475"/>
                <a:chOff x="0" y="0"/>
                <a:chExt cx="5687633" cy="3107300"/>
              </a:xfrm>
            </p:grpSpPr>
            <p:grpSp>
              <p:nvGrpSpPr>
                <p:cNvPr id="15" name="Group 15">
                  <a:extLst>
                    <a:ext uri="{FF2B5EF4-FFF2-40B4-BE49-F238E27FC236}">
                      <a16:creationId xmlns:a16="http://schemas.microsoft.com/office/drawing/2014/main" id="{5F70F994-9ED4-92F3-E381-89439AE5989D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5687633" cy="3107300"/>
                  <a:chOff x="0" y="0"/>
                  <a:chExt cx="1123483" cy="613788"/>
                </a:xfrm>
              </p:grpSpPr>
              <p:sp>
                <p:nvSpPr>
                  <p:cNvPr id="16" name="Freeform 16">
                    <a:extLst>
                      <a:ext uri="{FF2B5EF4-FFF2-40B4-BE49-F238E27FC236}">
                        <a16:creationId xmlns:a16="http://schemas.microsoft.com/office/drawing/2014/main" id="{16649A89-FF30-300E-A8F3-5FC66D97CBB0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23483" cy="6137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3483" h="613788">
                        <a:moveTo>
                          <a:pt x="92561" y="0"/>
                        </a:moveTo>
                        <a:lnTo>
                          <a:pt x="1030922" y="0"/>
                        </a:lnTo>
                        <a:cubicBezTo>
                          <a:pt x="1082042" y="0"/>
                          <a:pt x="1123483" y="41441"/>
                          <a:pt x="1123483" y="92561"/>
                        </a:cubicBezTo>
                        <a:lnTo>
                          <a:pt x="1123483" y="521227"/>
                        </a:lnTo>
                        <a:cubicBezTo>
                          <a:pt x="1123483" y="572347"/>
                          <a:pt x="1082042" y="613788"/>
                          <a:pt x="1030922" y="613788"/>
                        </a:cubicBezTo>
                        <a:lnTo>
                          <a:pt x="92561" y="613788"/>
                        </a:lnTo>
                        <a:cubicBezTo>
                          <a:pt x="41441" y="613788"/>
                          <a:pt x="0" y="572347"/>
                          <a:pt x="0" y="521227"/>
                        </a:cubicBezTo>
                        <a:lnTo>
                          <a:pt x="0" y="92561"/>
                        </a:lnTo>
                        <a:cubicBezTo>
                          <a:pt x="0" y="41441"/>
                          <a:pt x="41441" y="0"/>
                          <a:pt x="92561" y="0"/>
                        </a:cubicBezTo>
                        <a:close/>
                      </a:path>
                    </a:pathLst>
                  </a:custGeom>
                  <a:solidFill>
                    <a:srgbClr val="FFFFFB"/>
                  </a:solidFill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" name="TextBox 17">
                    <a:extLst>
                      <a:ext uri="{FF2B5EF4-FFF2-40B4-BE49-F238E27FC236}">
                        <a16:creationId xmlns:a16="http://schemas.microsoft.com/office/drawing/2014/main" id="{C4A76756-EF55-5340-3056-4441C614D075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1123483" cy="661413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3499"/>
                      </a:lnSpc>
                    </a:pPr>
                    <a:endParaRPr/>
                  </a:p>
                </p:txBody>
              </p:sp>
            </p:grpSp>
            <p:sp>
              <p:nvSpPr>
                <p:cNvPr id="18" name="TextBox 18">
                  <a:extLst>
                    <a:ext uri="{FF2B5EF4-FFF2-40B4-BE49-F238E27FC236}">
                      <a16:creationId xmlns:a16="http://schemas.microsoft.com/office/drawing/2014/main" id="{55C650AD-FFFA-6CC6-B29E-3911AE62AF60}"/>
                    </a:ext>
                  </a:extLst>
                </p:cNvPr>
                <p:cNvSpPr txBox="1"/>
                <p:nvPr/>
              </p:nvSpPr>
              <p:spPr>
                <a:xfrm>
                  <a:off x="313883" y="480532"/>
                  <a:ext cx="4996514" cy="1974301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4759"/>
                    </a:lnSpc>
                  </a:pPr>
                  <a:r>
                    <a:rPr lang="en-US" sz="3399" b="1" dirty="0">
                      <a:solidFill>
                        <a:srgbClr val="FF7210"/>
                      </a:solidFill>
                      <a:latin typeface="Work Sans Bold"/>
                      <a:ea typeface="Work Sans Bold"/>
                      <a:cs typeface="Work Sans Bold"/>
                      <a:sym typeface="Work Sans Bold"/>
                    </a:rPr>
                    <a:t>A</a:t>
                  </a:r>
                  <a:r>
                    <a:rPr lang="en-US" sz="3399" b="1" dirty="0">
                      <a:solidFill>
                        <a:srgbClr val="000000"/>
                      </a:solidFill>
                      <a:latin typeface="Work Sans Bold"/>
                      <a:ea typeface="Work Sans Bold"/>
                      <a:cs typeface="Work Sans Bold"/>
                      <a:sym typeface="Work Sans Bold"/>
                    </a:rPr>
                    <a:t>ction</a:t>
                  </a:r>
                </a:p>
                <a:p>
                  <a:pPr algn="ctr">
                    <a:lnSpc>
                      <a:spcPts val="3499"/>
                    </a:lnSpc>
                    <a:spcBef>
                      <a:spcPct val="0"/>
                    </a:spcBef>
                  </a:pPr>
                  <a:r>
                    <a:rPr lang="en-US" sz="2499" dirty="0">
                      <a:solidFill>
                        <a:srgbClr val="000000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 Describe how you accomplished the task</a:t>
                  </a:r>
                </a:p>
              </p:txBody>
            </p:sp>
          </p:grpSp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007ABC49-95EC-20B3-35F3-6E59F01B0084}"/>
                  </a:ext>
                </a:extLst>
              </p:cNvPr>
              <p:cNvSpPr/>
              <p:nvPr/>
            </p:nvSpPr>
            <p:spPr>
              <a:xfrm>
                <a:off x="10802707" y="8370876"/>
                <a:ext cx="1459362" cy="1483640"/>
              </a:xfrm>
              <a:custGeom>
                <a:avLst/>
                <a:gdLst/>
                <a:ahLst/>
                <a:cxnLst/>
                <a:rect l="l" t="t" r="r" b="b"/>
                <a:pathLst>
                  <a:path w="1459362" h="1483640">
                    <a:moveTo>
                      <a:pt x="0" y="0"/>
                    </a:moveTo>
                    <a:lnTo>
                      <a:pt x="1459362" y="0"/>
                    </a:lnTo>
                    <a:lnTo>
                      <a:pt x="1459362" y="1483640"/>
                    </a:lnTo>
                    <a:lnTo>
                      <a:pt x="0" y="14836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104A2202-2300-F239-8A39-419E04912D87}"/>
                </a:ext>
              </a:extLst>
            </p:cNvPr>
            <p:cNvSpPr/>
            <p:nvPr/>
          </p:nvSpPr>
          <p:spPr>
            <a:xfrm>
              <a:off x="9762198" y="2321556"/>
              <a:ext cx="3331400" cy="3374346"/>
            </a:xfrm>
            <a:custGeom>
              <a:avLst/>
              <a:gdLst/>
              <a:ahLst/>
              <a:cxnLst/>
              <a:rect l="l" t="t" r="r" b="b"/>
              <a:pathLst>
                <a:path w="3331400" h="3374346">
                  <a:moveTo>
                    <a:pt x="0" y="0"/>
                  </a:moveTo>
                  <a:lnTo>
                    <a:pt x="3331400" y="0"/>
                  </a:lnTo>
                  <a:lnTo>
                    <a:pt x="3331400" y="3374346"/>
                  </a:lnTo>
                  <a:lnTo>
                    <a:pt x="0" y="3374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F135365-CDF7-286C-2D18-30D2C755C2AA}"/>
              </a:ext>
            </a:extLst>
          </p:cNvPr>
          <p:cNvGrpSpPr/>
          <p:nvPr/>
        </p:nvGrpSpPr>
        <p:grpSpPr>
          <a:xfrm>
            <a:off x="13831538" y="2550260"/>
            <a:ext cx="4265725" cy="7360603"/>
            <a:chOff x="13831538" y="2550260"/>
            <a:chExt cx="4265725" cy="736060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E72D241-DE48-E69C-A8C7-BD9CB5468217}"/>
                </a:ext>
              </a:extLst>
            </p:cNvPr>
            <p:cNvGrpSpPr/>
            <p:nvPr/>
          </p:nvGrpSpPr>
          <p:grpSpPr>
            <a:xfrm>
              <a:off x="13831538" y="2550260"/>
              <a:ext cx="4265725" cy="7360603"/>
              <a:chOff x="13831538" y="2550260"/>
              <a:chExt cx="4265725" cy="7360603"/>
            </a:xfrm>
          </p:grpSpPr>
          <p:grpSp>
            <p:nvGrpSpPr>
              <p:cNvPr id="19" name="Group 19">
                <a:extLst>
                  <a:ext uri="{FF2B5EF4-FFF2-40B4-BE49-F238E27FC236}">
                    <a16:creationId xmlns:a16="http://schemas.microsoft.com/office/drawing/2014/main" id="{FD9A9E16-AB1C-B2C8-5A05-A8D4DA163CF4}"/>
                  </a:ext>
                </a:extLst>
              </p:cNvPr>
              <p:cNvGrpSpPr/>
              <p:nvPr/>
            </p:nvGrpSpPr>
            <p:grpSpPr>
              <a:xfrm>
                <a:off x="13831538" y="7580388"/>
                <a:ext cx="4265725" cy="2330475"/>
                <a:chOff x="0" y="0"/>
                <a:chExt cx="5687633" cy="3107300"/>
              </a:xfrm>
            </p:grpSpPr>
            <p:grpSp>
              <p:nvGrpSpPr>
                <p:cNvPr id="20" name="Group 20">
                  <a:extLst>
                    <a:ext uri="{FF2B5EF4-FFF2-40B4-BE49-F238E27FC236}">
                      <a16:creationId xmlns:a16="http://schemas.microsoft.com/office/drawing/2014/main" id="{9C3AF828-AC93-1AC9-5F8F-9F1CDC02ECF8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5687633" cy="3107300"/>
                  <a:chOff x="0" y="0"/>
                  <a:chExt cx="1123483" cy="613788"/>
                </a:xfrm>
              </p:grpSpPr>
              <p:sp>
                <p:nvSpPr>
                  <p:cNvPr id="21" name="Freeform 21">
                    <a:extLst>
                      <a:ext uri="{FF2B5EF4-FFF2-40B4-BE49-F238E27FC236}">
                        <a16:creationId xmlns:a16="http://schemas.microsoft.com/office/drawing/2014/main" id="{3757442C-4F9F-8CBB-8747-82D6F4867101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23483" cy="6137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3483" h="613788">
                        <a:moveTo>
                          <a:pt x="92561" y="0"/>
                        </a:moveTo>
                        <a:lnTo>
                          <a:pt x="1030922" y="0"/>
                        </a:lnTo>
                        <a:cubicBezTo>
                          <a:pt x="1082042" y="0"/>
                          <a:pt x="1123483" y="41441"/>
                          <a:pt x="1123483" y="92561"/>
                        </a:cubicBezTo>
                        <a:lnTo>
                          <a:pt x="1123483" y="521227"/>
                        </a:lnTo>
                        <a:cubicBezTo>
                          <a:pt x="1123483" y="572347"/>
                          <a:pt x="1082042" y="613788"/>
                          <a:pt x="1030922" y="613788"/>
                        </a:cubicBezTo>
                        <a:lnTo>
                          <a:pt x="92561" y="613788"/>
                        </a:lnTo>
                        <a:cubicBezTo>
                          <a:pt x="41441" y="613788"/>
                          <a:pt x="0" y="572347"/>
                          <a:pt x="0" y="521227"/>
                        </a:cubicBezTo>
                        <a:lnTo>
                          <a:pt x="0" y="92561"/>
                        </a:lnTo>
                        <a:cubicBezTo>
                          <a:pt x="0" y="41441"/>
                          <a:pt x="41441" y="0"/>
                          <a:pt x="92561" y="0"/>
                        </a:cubicBezTo>
                        <a:close/>
                      </a:path>
                    </a:pathLst>
                  </a:custGeom>
                  <a:solidFill>
                    <a:srgbClr val="FFFFFB"/>
                  </a:solidFill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" name="TextBox 22">
                    <a:extLst>
                      <a:ext uri="{FF2B5EF4-FFF2-40B4-BE49-F238E27FC236}">
                        <a16:creationId xmlns:a16="http://schemas.microsoft.com/office/drawing/2014/main" id="{7427E10A-91B3-C78D-892C-3983B77C0027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1123483" cy="661413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3499"/>
                      </a:lnSpc>
                    </a:pPr>
                    <a:endParaRPr/>
                  </a:p>
                </p:txBody>
              </p:sp>
            </p:grpSp>
            <p:sp>
              <p:nvSpPr>
                <p:cNvPr id="23" name="TextBox 23">
                  <a:extLst>
                    <a:ext uri="{FF2B5EF4-FFF2-40B4-BE49-F238E27FC236}">
                      <a16:creationId xmlns:a16="http://schemas.microsoft.com/office/drawing/2014/main" id="{956C6271-2CAD-EAD1-88B5-D64705333929}"/>
                    </a:ext>
                  </a:extLst>
                </p:cNvPr>
                <p:cNvSpPr txBox="1"/>
                <p:nvPr/>
              </p:nvSpPr>
              <p:spPr>
                <a:xfrm>
                  <a:off x="313883" y="306816"/>
                  <a:ext cx="4996514" cy="2572756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4759"/>
                    </a:lnSpc>
                  </a:pPr>
                  <a:r>
                    <a:rPr lang="en-US" sz="3399" b="1" dirty="0">
                      <a:solidFill>
                        <a:srgbClr val="FF7210"/>
                      </a:solidFill>
                      <a:latin typeface="Work Sans Bold"/>
                      <a:ea typeface="Work Sans Bold"/>
                      <a:cs typeface="Work Sans Bold"/>
                      <a:sym typeface="Work Sans Bold"/>
                    </a:rPr>
                    <a:t>R</a:t>
                  </a:r>
                  <a:r>
                    <a:rPr lang="en-US" sz="3399" b="1" dirty="0">
                      <a:solidFill>
                        <a:srgbClr val="000000"/>
                      </a:solidFill>
                      <a:latin typeface="Work Sans Bold"/>
                      <a:ea typeface="Work Sans Bold"/>
                      <a:cs typeface="Work Sans Bold"/>
                      <a:sym typeface="Work Sans Bold"/>
                    </a:rPr>
                    <a:t>esult</a:t>
                  </a:r>
                </a:p>
                <a:p>
                  <a:pPr algn="ctr">
                    <a:lnSpc>
                      <a:spcPts val="3499"/>
                    </a:lnSpc>
                    <a:spcBef>
                      <a:spcPct val="0"/>
                    </a:spcBef>
                  </a:pPr>
                  <a:r>
                    <a:rPr lang="en-US" sz="2499" dirty="0">
                      <a:solidFill>
                        <a:srgbClr val="000000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 Share the outcome and impact of your actions</a:t>
                  </a:r>
                </a:p>
              </p:txBody>
            </p:sp>
          </p:grpSp>
          <p:sp>
            <p:nvSpPr>
              <p:cNvPr id="27" name="Freeform 27">
                <a:extLst>
                  <a:ext uri="{FF2B5EF4-FFF2-40B4-BE49-F238E27FC236}">
                    <a16:creationId xmlns:a16="http://schemas.microsoft.com/office/drawing/2014/main" id="{07257D92-3EC0-4442-7A2F-83C7D527C978}"/>
                  </a:ext>
                </a:extLst>
              </p:cNvPr>
              <p:cNvSpPr/>
              <p:nvPr/>
            </p:nvSpPr>
            <p:spPr>
              <a:xfrm>
                <a:off x="15280415" y="2550260"/>
                <a:ext cx="1367970" cy="1419591"/>
              </a:xfrm>
              <a:custGeom>
                <a:avLst/>
                <a:gdLst/>
                <a:ahLst/>
                <a:cxnLst/>
                <a:rect l="l" t="t" r="r" b="b"/>
                <a:pathLst>
                  <a:path w="1367970" h="1419591">
                    <a:moveTo>
                      <a:pt x="0" y="0"/>
                    </a:moveTo>
                    <a:lnTo>
                      <a:pt x="1367970" y="0"/>
                    </a:lnTo>
                    <a:lnTo>
                      <a:pt x="1367970" y="1419591"/>
                    </a:lnTo>
                    <a:lnTo>
                      <a:pt x="0" y="141959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4C80A22A-F54C-72A6-31E1-4D37319574E8}"/>
                </a:ext>
              </a:extLst>
            </p:cNvPr>
            <p:cNvSpPr/>
            <p:nvPr/>
          </p:nvSpPr>
          <p:spPr>
            <a:xfrm>
              <a:off x="14204254" y="4293662"/>
              <a:ext cx="3520291" cy="3021888"/>
            </a:xfrm>
            <a:custGeom>
              <a:avLst/>
              <a:gdLst/>
              <a:ahLst/>
              <a:cxnLst/>
              <a:rect l="l" t="t" r="r" b="b"/>
              <a:pathLst>
                <a:path w="3885386" h="3200145">
                  <a:moveTo>
                    <a:pt x="0" y="0"/>
                  </a:moveTo>
                  <a:lnTo>
                    <a:pt x="3885386" y="0"/>
                  </a:lnTo>
                  <a:lnTo>
                    <a:pt x="3885386" y="3200145"/>
                  </a:lnTo>
                  <a:lnTo>
                    <a:pt x="0" y="3200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33757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8E9CB0-6EB1-DE10-4E65-9BB85E568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BDA5933-9919-4882-7BE1-E6792624DEB8}"/>
              </a:ext>
            </a:extLst>
          </p:cNvPr>
          <p:cNvGrpSpPr/>
          <p:nvPr/>
        </p:nvGrpSpPr>
        <p:grpSpPr>
          <a:xfrm>
            <a:off x="0" y="38100"/>
            <a:ext cx="20574000" cy="10287000"/>
            <a:chOff x="0" y="0"/>
            <a:chExt cx="27432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806032B-92F4-0D3A-83B9-E45B3FEF3A29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381CD7E-3AEF-9901-8E96-810B2A6C0AA0}"/>
                </a:ext>
              </a:extLst>
            </p:cNvPr>
            <p:cNvSpPr/>
            <p:nvPr/>
          </p:nvSpPr>
          <p:spPr>
            <a:xfrm>
              <a:off x="1371600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093512B-FFB6-E054-EE7A-25DE27C3A492}"/>
              </a:ext>
            </a:extLst>
          </p:cNvPr>
          <p:cNvGrpSpPr/>
          <p:nvPr/>
        </p:nvGrpSpPr>
        <p:grpSpPr>
          <a:xfrm>
            <a:off x="242284" y="289533"/>
            <a:ext cx="17830102" cy="9691390"/>
            <a:chOff x="0" y="0"/>
            <a:chExt cx="4695994" cy="255246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C357B3D-952B-5022-4F45-05CE276AD079}"/>
                </a:ext>
              </a:extLst>
            </p:cNvPr>
            <p:cNvSpPr/>
            <p:nvPr/>
          </p:nvSpPr>
          <p:spPr>
            <a:xfrm>
              <a:off x="0" y="0"/>
              <a:ext cx="4695994" cy="2552465"/>
            </a:xfrm>
            <a:custGeom>
              <a:avLst/>
              <a:gdLst/>
              <a:ahLst/>
              <a:cxnLst/>
              <a:rect l="l" t="t" r="r" b="b"/>
              <a:pathLst>
                <a:path w="4695994" h="2552465">
                  <a:moveTo>
                    <a:pt x="22144" y="0"/>
                  </a:moveTo>
                  <a:lnTo>
                    <a:pt x="4673850" y="0"/>
                  </a:lnTo>
                  <a:cubicBezTo>
                    <a:pt x="4686079" y="0"/>
                    <a:pt x="4695994" y="9914"/>
                    <a:pt x="4695994" y="22144"/>
                  </a:cubicBezTo>
                  <a:lnTo>
                    <a:pt x="4695994" y="2530321"/>
                  </a:lnTo>
                  <a:cubicBezTo>
                    <a:pt x="4695994" y="2536194"/>
                    <a:pt x="4693661" y="2541826"/>
                    <a:pt x="4689508" y="2545979"/>
                  </a:cubicBezTo>
                  <a:cubicBezTo>
                    <a:pt x="4685355" y="2550132"/>
                    <a:pt x="4679722" y="2552465"/>
                    <a:pt x="4673850" y="2552465"/>
                  </a:cubicBezTo>
                  <a:lnTo>
                    <a:pt x="22144" y="2552465"/>
                  </a:lnTo>
                  <a:cubicBezTo>
                    <a:pt x="9914" y="2552465"/>
                    <a:pt x="0" y="2542551"/>
                    <a:pt x="0" y="2530321"/>
                  </a:cubicBezTo>
                  <a:lnTo>
                    <a:pt x="0" y="22144"/>
                  </a:lnTo>
                  <a:cubicBezTo>
                    <a:pt x="0" y="16271"/>
                    <a:pt x="2333" y="10639"/>
                    <a:pt x="6486" y="6486"/>
                  </a:cubicBezTo>
                  <a:cubicBezTo>
                    <a:pt x="10639" y="2333"/>
                    <a:pt x="16271" y="0"/>
                    <a:pt x="22144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C555877-C734-86B8-DD54-0B9F8F731F67}"/>
                </a:ext>
              </a:extLst>
            </p:cNvPr>
            <p:cNvSpPr txBox="1"/>
            <p:nvPr/>
          </p:nvSpPr>
          <p:spPr>
            <a:xfrm>
              <a:off x="0" y="-19050"/>
              <a:ext cx="4695994" cy="2571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20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9B887573-359E-D6F9-80FF-1BF66F1ADF1F}"/>
              </a:ext>
            </a:extLst>
          </p:cNvPr>
          <p:cNvSpPr/>
          <p:nvPr/>
        </p:nvSpPr>
        <p:spPr>
          <a:xfrm>
            <a:off x="14870016" y="8366712"/>
            <a:ext cx="3155134" cy="1786300"/>
          </a:xfrm>
          <a:custGeom>
            <a:avLst/>
            <a:gdLst/>
            <a:ahLst/>
            <a:cxnLst/>
            <a:rect l="l" t="t" r="r" b="b"/>
            <a:pathLst>
              <a:path w="3381589" h="2150634">
                <a:moveTo>
                  <a:pt x="3381589" y="0"/>
                </a:moveTo>
                <a:lnTo>
                  <a:pt x="0" y="0"/>
                </a:lnTo>
                <a:lnTo>
                  <a:pt x="0" y="2150634"/>
                </a:lnTo>
                <a:lnTo>
                  <a:pt x="3381589" y="2150634"/>
                </a:lnTo>
                <a:lnTo>
                  <a:pt x="33815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23">
            <a:extLst>
              <a:ext uri="{FF2B5EF4-FFF2-40B4-BE49-F238E27FC236}">
                <a16:creationId xmlns:a16="http://schemas.microsoft.com/office/drawing/2014/main" id="{714EDC21-D4A3-332B-7661-E5C68F4B53F5}"/>
              </a:ext>
            </a:extLst>
          </p:cNvPr>
          <p:cNvSpPr txBox="1"/>
          <p:nvPr/>
        </p:nvSpPr>
        <p:spPr>
          <a:xfrm>
            <a:off x="595268" y="573783"/>
            <a:ext cx="2864666" cy="736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r>
              <a:rPr lang="en-US" sz="4399" b="1" u="none" strike="noStrike" dirty="0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Example:</a:t>
            </a:r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E4F444E0-1ADB-F51C-91B7-CB5CB5592E8C}"/>
              </a:ext>
            </a:extLst>
          </p:cNvPr>
          <p:cNvSpPr/>
          <p:nvPr/>
        </p:nvSpPr>
        <p:spPr>
          <a:xfrm>
            <a:off x="3155458" y="838681"/>
            <a:ext cx="11856266" cy="8685837"/>
          </a:xfrm>
          <a:custGeom>
            <a:avLst/>
            <a:gdLst/>
            <a:ahLst/>
            <a:cxnLst/>
            <a:rect l="l" t="t" r="r" b="b"/>
            <a:pathLst>
              <a:path w="13075750" h="10117361">
                <a:moveTo>
                  <a:pt x="0" y="0"/>
                </a:moveTo>
                <a:lnTo>
                  <a:pt x="13075750" y="0"/>
                </a:lnTo>
                <a:lnTo>
                  <a:pt x="13075750" y="10117361"/>
                </a:lnTo>
                <a:lnTo>
                  <a:pt x="0" y="10117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74" t="-5399" r="-3068" b="-496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9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8434CD-0575-D68E-FA5A-66AA645A9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62242DC-F23C-348D-4ACB-5833B1E296DD}"/>
              </a:ext>
            </a:extLst>
          </p:cNvPr>
          <p:cNvGrpSpPr/>
          <p:nvPr/>
        </p:nvGrpSpPr>
        <p:grpSpPr>
          <a:xfrm>
            <a:off x="0" y="38100"/>
            <a:ext cx="20574000" cy="10287000"/>
            <a:chOff x="0" y="0"/>
            <a:chExt cx="27432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D919EC4-30E3-FBA6-D2F7-5239F7B8AB6C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9C71DF3-34F6-9735-BC11-0A41B778E76A}"/>
                </a:ext>
              </a:extLst>
            </p:cNvPr>
            <p:cNvSpPr/>
            <p:nvPr/>
          </p:nvSpPr>
          <p:spPr>
            <a:xfrm>
              <a:off x="1371600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4DDE22E-1282-46CC-1D5A-59753D9E08AE}"/>
              </a:ext>
            </a:extLst>
          </p:cNvPr>
          <p:cNvGrpSpPr/>
          <p:nvPr/>
        </p:nvGrpSpPr>
        <p:grpSpPr>
          <a:xfrm>
            <a:off x="242284" y="289533"/>
            <a:ext cx="17830102" cy="9691390"/>
            <a:chOff x="0" y="0"/>
            <a:chExt cx="4695994" cy="255246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BE884B1-9B52-CFF6-D7C0-CAACB3B6FE1C}"/>
                </a:ext>
              </a:extLst>
            </p:cNvPr>
            <p:cNvSpPr/>
            <p:nvPr/>
          </p:nvSpPr>
          <p:spPr>
            <a:xfrm>
              <a:off x="0" y="0"/>
              <a:ext cx="4695994" cy="2552465"/>
            </a:xfrm>
            <a:custGeom>
              <a:avLst/>
              <a:gdLst/>
              <a:ahLst/>
              <a:cxnLst/>
              <a:rect l="l" t="t" r="r" b="b"/>
              <a:pathLst>
                <a:path w="4695994" h="2552465">
                  <a:moveTo>
                    <a:pt x="22144" y="0"/>
                  </a:moveTo>
                  <a:lnTo>
                    <a:pt x="4673850" y="0"/>
                  </a:lnTo>
                  <a:cubicBezTo>
                    <a:pt x="4686079" y="0"/>
                    <a:pt x="4695994" y="9914"/>
                    <a:pt x="4695994" y="22144"/>
                  </a:cubicBezTo>
                  <a:lnTo>
                    <a:pt x="4695994" y="2530321"/>
                  </a:lnTo>
                  <a:cubicBezTo>
                    <a:pt x="4695994" y="2536194"/>
                    <a:pt x="4693661" y="2541826"/>
                    <a:pt x="4689508" y="2545979"/>
                  </a:cubicBezTo>
                  <a:cubicBezTo>
                    <a:pt x="4685355" y="2550132"/>
                    <a:pt x="4679722" y="2552465"/>
                    <a:pt x="4673850" y="2552465"/>
                  </a:cubicBezTo>
                  <a:lnTo>
                    <a:pt x="22144" y="2552465"/>
                  </a:lnTo>
                  <a:cubicBezTo>
                    <a:pt x="9914" y="2552465"/>
                    <a:pt x="0" y="2542551"/>
                    <a:pt x="0" y="2530321"/>
                  </a:cubicBezTo>
                  <a:lnTo>
                    <a:pt x="0" y="22144"/>
                  </a:lnTo>
                  <a:cubicBezTo>
                    <a:pt x="0" y="16271"/>
                    <a:pt x="2333" y="10639"/>
                    <a:pt x="6486" y="6486"/>
                  </a:cubicBezTo>
                  <a:cubicBezTo>
                    <a:pt x="10639" y="2333"/>
                    <a:pt x="16271" y="0"/>
                    <a:pt x="22144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829C0B-C943-97B3-6929-7A3A165C376B}"/>
                </a:ext>
              </a:extLst>
            </p:cNvPr>
            <p:cNvSpPr txBox="1"/>
            <p:nvPr/>
          </p:nvSpPr>
          <p:spPr>
            <a:xfrm>
              <a:off x="0" y="-19050"/>
              <a:ext cx="4695994" cy="2571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20"/>
                </a:lnSpc>
              </a:pPr>
              <a:endParaRPr/>
            </a:p>
          </p:txBody>
        </p:sp>
      </p:grpSp>
      <p:sp>
        <p:nvSpPr>
          <p:cNvPr id="10" name="TextBox 23">
            <a:extLst>
              <a:ext uri="{FF2B5EF4-FFF2-40B4-BE49-F238E27FC236}">
                <a16:creationId xmlns:a16="http://schemas.microsoft.com/office/drawing/2014/main" id="{002637AF-3279-3815-8A3A-EAC5B01FCE3B}"/>
              </a:ext>
            </a:extLst>
          </p:cNvPr>
          <p:cNvSpPr txBox="1"/>
          <p:nvPr/>
        </p:nvSpPr>
        <p:spPr>
          <a:xfrm>
            <a:off x="4114800" y="357188"/>
            <a:ext cx="9798866" cy="736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r>
              <a:rPr lang="en-US" sz="4399" b="1" u="none" strike="noStrike" dirty="0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Amazon’s 16 Leadership Principles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0708E6-37CA-E00D-FFC2-6B6EB6BC1D25}"/>
              </a:ext>
            </a:extLst>
          </p:cNvPr>
          <p:cNvSpPr txBox="1"/>
          <p:nvPr/>
        </p:nvSpPr>
        <p:spPr>
          <a:xfrm>
            <a:off x="779034" y="1085160"/>
            <a:ext cx="16470397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Work Sans"/>
                <a:sym typeface="Work Sans Bold"/>
              </a:rPr>
              <a:t>These 16 principles are the "DNA" of Amazon. Every interview question is designed to test your alignment with specific principles.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445C86F-6F3E-B95D-1BAA-98113A2E77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975" y="1536823"/>
            <a:ext cx="12864049" cy="826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78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206371"/>
            <a:ext cx="16230600" cy="587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3143" lvl="1" indent="-496571" algn="l">
              <a:lnSpc>
                <a:spcPts val="7866"/>
              </a:lnSpc>
              <a:buFont typeface="Arial"/>
              <a:buChar char="•"/>
            </a:pPr>
            <a:r>
              <a:rPr lang="en-US" sz="4600" b="1" dirty="0">
                <a:solidFill>
                  <a:srgbClr val="1A25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Seamless Experience:</a:t>
            </a:r>
            <a:r>
              <a:rPr lang="en-US" sz="4600" dirty="0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 You are part of the Amazon family from Day 1.</a:t>
            </a:r>
          </a:p>
          <a:p>
            <a:pPr marL="993143" lvl="1" indent="-496571" algn="l">
              <a:lnSpc>
                <a:spcPts val="7866"/>
              </a:lnSpc>
              <a:buFont typeface="Arial"/>
              <a:buChar char="•"/>
            </a:pPr>
            <a:r>
              <a:rPr lang="en-US" sz="4600" b="1" dirty="0">
                <a:solidFill>
                  <a:srgbClr val="1A25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Unified Standards:</a:t>
            </a:r>
            <a:r>
              <a:rPr lang="en-US" sz="4600" dirty="0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 RPO partners follow the exact same "Bar Raising" standards as Amazon.</a:t>
            </a:r>
          </a:p>
          <a:p>
            <a:pPr marL="993143" lvl="1" indent="-496571" algn="l">
              <a:lnSpc>
                <a:spcPts val="7866"/>
              </a:lnSpc>
              <a:buFont typeface="Arial"/>
              <a:buChar char="•"/>
            </a:pPr>
            <a:r>
              <a:rPr lang="en-US" sz="4600" b="1" dirty="0">
                <a:solidFill>
                  <a:srgbClr val="1A25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Professionalism:</a:t>
            </a:r>
            <a:r>
              <a:rPr lang="en-US" sz="4600" dirty="0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 Your RPO recruiter is your dedicated guide through the complex hiring maze.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0" y="1542125"/>
            <a:ext cx="18288000" cy="0"/>
          </a:xfrm>
          <a:prstGeom prst="line">
            <a:avLst/>
          </a:prstGeom>
          <a:ln w="38100" cap="flat">
            <a:solidFill>
              <a:srgbClr val="1A25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0" y="9451382"/>
            <a:ext cx="18288000" cy="0"/>
          </a:xfrm>
          <a:prstGeom prst="line">
            <a:avLst/>
          </a:prstGeom>
          <a:ln w="38100" cap="flat">
            <a:solidFill>
              <a:srgbClr val="1A25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838200" y="376993"/>
            <a:ext cx="17259300" cy="11092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1A2526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THE COMPLETE AMAZON EXPERIENCE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76617"/>
            <a:ext cx="18288000" cy="4966883"/>
            <a:chOff x="0" y="0"/>
            <a:chExt cx="4816593" cy="1308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308150"/>
            </a:xfrm>
            <a:custGeom>
              <a:avLst/>
              <a:gdLst/>
              <a:ahLst/>
              <a:cxnLst/>
              <a:rect l="l" t="t" r="r" b="b"/>
              <a:pathLst>
                <a:path w="4816592" h="1308150">
                  <a:moveTo>
                    <a:pt x="0" y="0"/>
                  </a:moveTo>
                  <a:lnTo>
                    <a:pt x="4816592" y="0"/>
                  </a:lnTo>
                  <a:lnTo>
                    <a:pt x="4816592" y="1308150"/>
                  </a:lnTo>
                  <a:lnTo>
                    <a:pt x="0" y="1308150"/>
                  </a:lnTo>
                  <a:close/>
                </a:path>
              </a:pathLst>
            </a:custGeom>
            <a:solidFill>
              <a:srgbClr val="E65E0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1365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092166"/>
            <a:ext cx="18288000" cy="194834"/>
            <a:chOff x="0" y="0"/>
            <a:chExt cx="4816593" cy="513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1314"/>
            </a:xfrm>
            <a:custGeom>
              <a:avLst/>
              <a:gdLst/>
              <a:ahLst/>
              <a:cxnLst/>
              <a:rect l="l" t="t" r="r" b="b"/>
              <a:pathLst>
                <a:path w="4816592" h="51314">
                  <a:moveTo>
                    <a:pt x="0" y="0"/>
                  </a:moveTo>
                  <a:lnTo>
                    <a:pt x="4816592" y="0"/>
                  </a:lnTo>
                  <a:lnTo>
                    <a:pt x="4816592" y="51314"/>
                  </a:lnTo>
                  <a:lnTo>
                    <a:pt x="0" y="51314"/>
                  </a:lnTo>
                  <a:close/>
                </a:path>
              </a:pathLst>
            </a:custGeom>
            <a:solidFill>
              <a:srgbClr val="E65E0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816593" cy="108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0" y="9806388"/>
            <a:ext cx="18288000" cy="0"/>
          </a:xfrm>
          <a:prstGeom prst="line">
            <a:avLst/>
          </a:prstGeom>
          <a:ln w="38100" cap="flat">
            <a:solidFill>
              <a:srgbClr val="1A25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622132" y="535526"/>
            <a:ext cx="8395280" cy="5037168"/>
          </a:xfrm>
          <a:custGeom>
            <a:avLst/>
            <a:gdLst/>
            <a:ahLst/>
            <a:cxnLst/>
            <a:rect l="l" t="t" r="r" b="b"/>
            <a:pathLst>
              <a:path w="8395280" h="5037168">
                <a:moveTo>
                  <a:pt x="0" y="0"/>
                </a:moveTo>
                <a:lnTo>
                  <a:pt x="8395280" y="0"/>
                </a:lnTo>
                <a:lnTo>
                  <a:pt x="8395280" y="5037168"/>
                </a:lnTo>
                <a:lnTo>
                  <a:pt x="0" y="50371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363049" y="6348851"/>
            <a:ext cx="15561902" cy="1295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9999" b="1">
                <a:solidFill>
                  <a:srgbClr val="1A2526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THANK YOU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22132" y="7752838"/>
            <a:ext cx="9043736" cy="756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78"/>
              </a:lnSpc>
            </a:pPr>
            <a:r>
              <a:rPr lang="en-US" sz="5811">
                <a:solidFill>
                  <a:srgbClr val="1A2526"/>
                </a:solidFill>
                <a:latin typeface="Stinger Fit"/>
                <a:ea typeface="Stinger Fit"/>
                <a:cs typeface="Stinger Fit"/>
                <a:sym typeface="Stinger Fit"/>
              </a:rPr>
              <a:t>FOR YOUR ATTENTION!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453</Words>
  <Application>Microsoft Office PowerPoint</Application>
  <PresentationFormat>Custom</PresentationFormat>
  <Paragraphs>52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Work Sans Bold</vt:lpstr>
      <vt:lpstr>Poppins</vt:lpstr>
      <vt:lpstr>Stinger Fit Bold</vt:lpstr>
      <vt:lpstr>Poppins Bold</vt:lpstr>
      <vt:lpstr>Calibri</vt:lpstr>
      <vt:lpstr>Work Sans</vt:lpstr>
      <vt:lpstr>Arial</vt:lpstr>
      <vt:lpstr>Stinger 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and Cream Illustration Marketing Plan Presentation</dc:title>
  <dc:creator>Anupama Chatti</dc:creator>
  <cp:lastModifiedBy>Anoop Krishnan</cp:lastModifiedBy>
  <cp:revision>10</cp:revision>
  <dcterms:created xsi:type="dcterms:W3CDTF">2006-08-16T00:00:00Z</dcterms:created>
  <dcterms:modified xsi:type="dcterms:W3CDTF">2026-05-07T09:06:32Z</dcterms:modified>
  <dc:identifier>DAHHl5Hx8ag</dc:identifier>
</cp:coreProperties>
</file>